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Lst>
  <p:notesMasterIdLst>
    <p:notesMasterId r:id="rId4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notesMaster" Target="notesMasters/notesMaster1.xml"/><Relationship Id="rId45" Type="http://schemas.openxmlformats.org/officeDocument/2006/relationships/presProps" Target="presProps.xml"/><Relationship Id="rId46" Type="http://schemas.openxmlformats.org/officeDocument/2006/relationships/viewProps" Target="viewProps.xml"/><Relationship Id="rId47" Type="http://schemas.openxmlformats.org/officeDocument/2006/relationships/theme" Target="theme/theme1.xml"/><Relationship Id="rId4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配信コンテンツの企画工程にAIを組み込む際の構成について、取りうる選択肢と検討ポイントを整理した資料です。特定の案を推奨するものではありません。</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本資料は結論を示すものではなく、選択肢と検討ポイントを並べることを目的としています。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展開の単位は、仕組み（アプリ・フロー・プロンプト）とデータを分けて考える。①国別に独立、②共通の仕組み＋国別データ、③完全に統合の3つの型がある。他国の事例を参考にするためには全データを統合する必要はなく、各国の配信結果から良かったものを選んで登録する好事例ライブラリを共通で持てばよい。言語の違いは、必要に応じてAIに翻訳させて参照する。配信データに個人情報は含まれないため、国をまたいだ共有の制約は小さ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業務プロセスごとに、各パターンでAIが担う範囲を示した。Step1（A1）とA2は起案工程の支援、Step2（A3・H1・B1）は情報収集の自動化と起案工程の支援、Step3（A4〜A7・B2・B3）はテーマ選定からクリエイティブ制作指示までを自動で下書きし、人はレビュー・承認に集中する。C1はAirtable内の情報だけで項目を自動生成する。同じStepのパターン同士では業務上のカバー範囲は同じで、違いは管理基盤と集約先にあ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出典: Microsoft Learn『Agent Builder in Microsoft 365 Copilot』『Add knowledge sources to your declarative agent』。Agent BuilderはM365 Copilotに含まれる簡易エージェント作成機能。アクション・ワークフロー・ALMは持たないため、それらが必要になった時点でCopilot Studioへ移行する。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code appからCopilot Studioのエージェントを呼ぶには、Copilot Studioコネクタの「Execute Agent and wait」（ExecuteCopilotAsyncV2）を使う。呼べるのは公開済みのCopilot Studioエージェントで、Agent Builderで作ったエージェントは呼べない。公式手順では会話IDを引き継ぐ指定がないため、修正時はアプリ側で下書きとやり取りをまとめて送る設計にする。出典：Microsoft Learn『How to: Connect to Copilot Studio（code apps）』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画面は検討用のイメージ。配信カードには確定した情報だけを表示する。各工程（テーマ選定・商品選定・コピー・制作指示）は、カードから前面に開くレイヤーで行う。レイヤーではAIの推奨と理由の確認、全候補からのドラッグでの入れ替え、プレビュー、チャットでの修正を行い、確定するとカードに反映する。途中の内容は下書きとして保存し、あとで再開でき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出典: Airtable Help Center『Using Airtable AI in fields』『Airtable AI billing』。Field Agentsはレコードの追加・更新をきっかけに自動実行できる。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試作アプリでも、PythonでSQLを発行しPandasで加工したデータをGeminiに渡していた。AIがSQLを都度発行していたわけではないため、BigQueryをリアルタイムに参照できるかは構成選択の重要論点ではない。さらに、AIに渡す最終形（候補商品をまとめたJSONなど）までBigQueryのSQLで作れば、Pandasの層も不要で、スケジュールクエリだけで前処理が完結する。PythonやM365側の処理が必要になるのは、BigQuery外のデータ（SharePointの商品マスタ・ポリシー）と結合する場合や、SQLでは読みにくい複雑なロジックがある場合に限られる。M365側では、加工済みデータをナレッジ検索に任せず、Power Automateで取得してプロンプトの入力として直接渡すのが確実。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出典: Airtable Help『Run a script action』/ Airtable Community（スクリプトの30秒制限）/ Microsoft Learn『Call Microsoft Copilot Studio agents from Power Automate』/ Microsoft Learn『Airtable (Independent Publisher) [DEPRECATED]』/ Copilot Studio『Event triggers overview』/ Hookdeck『Guide to Airtable Webhooks』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出典: Microsoft Learn『OAuth authentication for HTTP request triggers』/ Power Automate HTTP trigger URL migration（logic.azure.com → api.powerplatform.com、2025年11月30日）/ Microsoft Learn『Data loss prevention policies』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出典: Microsoft Learn『Power Apps Code Apps: Features and Requirements』（2026-09-23更新）/ Microsoft Power Platform Blog『Generally available: host and run code apps in Power Apps』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出典: https://docs.cloud.google.com/gemini/enterprise/docs / https://docs.cloud.google.com/gemini/enterprise/docs/connectors/ms-sharepoint / https://cloud.google.com/products/gemini-enterprise-agent-platform / https://cloud.google.com/blog/products/data-analytics/conversational-analytics-in-bigquery-now-ga / https://www.gosearch.ai/faqs/gemini-enterprise-pricing/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image" Target="../media/image-1-8.png"/><Relationship Id="rId9" Type="http://schemas.openxmlformats.org/officeDocument/2006/relationships/image" Target="../media/image-1-9.png"/><Relationship Id="rId10" Type="http://schemas.openxmlformats.org/officeDocument/2006/relationships/image" Target="../media/image-1-10.png"/><Relationship Id="rId11" Type="http://schemas.openxmlformats.org/officeDocument/2006/relationships/image" Target="../media/image-1-11.png"/><Relationship Id="rId12" Type="http://schemas.openxmlformats.org/officeDocument/2006/relationships/slideLayout" Target="../slideLayouts/slideLayout1.xml"/><Relationship Id="rId1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image" Target="../media/image-3-9.png"/><Relationship Id="rId10" Type="http://schemas.openxmlformats.org/officeDocument/2006/relationships/image" Target="../media/image-3-10.png"/><Relationship Id="rId11" Type="http://schemas.openxmlformats.org/officeDocument/2006/relationships/image" Target="../media/image-3-11.png"/><Relationship Id="rId12" Type="http://schemas.openxmlformats.org/officeDocument/2006/relationships/image" Target="../media/image-3-12.png"/><Relationship Id="rId13" Type="http://schemas.openxmlformats.org/officeDocument/2006/relationships/image" Target="../media/image-3-13.png"/><Relationship Id="rId14" Type="http://schemas.openxmlformats.org/officeDocument/2006/relationships/slideLayout" Target="../slideLayouts/slideLayout1.xml"/><Relationship Id="rId1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image" Target="../media/image-5-9.png"/><Relationship Id="rId10" Type="http://schemas.openxmlformats.org/officeDocument/2006/relationships/image" Target="../media/image-5-10.png"/><Relationship Id="rId11" Type="http://schemas.openxmlformats.org/officeDocument/2006/relationships/image" Target="../media/image-5-11.png"/><Relationship Id="rId12" Type="http://schemas.openxmlformats.org/officeDocument/2006/relationships/image" Target="../media/image-5-12.png"/><Relationship Id="rId13" Type="http://schemas.openxmlformats.org/officeDocument/2006/relationships/image" Target="../media/image-5-13.png"/><Relationship Id="rId14" Type="http://schemas.openxmlformats.org/officeDocument/2006/relationships/image" Target="../media/image-5-14.png"/><Relationship Id="rId15" Type="http://schemas.openxmlformats.org/officeDocument/2006/relationships/image" Target="../media/image-5-15.png"/><Relationship Id="rId16" Type="http://schemas.openxmlformats.org/officeDocument/2006/relationships/image" Target="../media/image-5-16.png"/><Relationship Id="rId17" Type="http://schemas.openxmlformats.org/officeDocument/2006/relationships/image" Target="../media/image-5-17.png"/><Relationship Id="rId18" Type="http://schemas.openxmlformats.org/officeDocument/2006/relationships/image" Target="../media/image-5-18.png"/><Relationship Id="rId19" Type="http://schemas.openxmlformats.org/officeDocument/2006/relationships/slideLayout" Target="../slideLayouts/slideLayout1.xml"/><Relationship Id="rId20"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image" Target="../media/image-6-9.png"/><Relationship Id="rId10" Type="http://schemas.openxmlformats.org/officeDocument/2006/relationships/image" Target="../media/image-6-10.png"/><Relationship Id="rId11" Type="http://schemas.openxmlformats.org/officeDocument/2006/relationships/image" Target="../media/image-6-11.png"/><Relationship Id="rId12" Type="http://schemas.openxmlformats.org/officeDocument/2006/relationships/slideLayout" Target="../slideLayouts/slideLayout1.xml"/><Relationship Id="rId1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slideLayout" Target="../slideLayouts/slideLayout1.xml"/><Relationship Id="rId9"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1.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image" Target="../media/image-9-9.png"/><Relationship Id="rId10" Type="http://schemas.openxmlformats.org/officeDocument/2006/relationships/image" Target="../media/image-9-10.png"/><Relationship Id="rId11" Type="http://schemas.openxmlformats.org/officeDocument/2006/relationships/image" Target="../media/image-9-11.png"/><Relationship Id="rId12" Type="http://schemas.openxmlformats.org/officeDocument/2006/relationships/image" Target="../media/image-9-12.png"/><Relationship Id="rId13" Type="http://schemas.openxmlformats.org/officeDocument/2006/relationships/image" Target="../media/image-9-13.png"/><Relationship Id="rId14" Type="http://schemas.openxmlformats.org/officeDocument/2006/relationships/image" Target="../media/image-9-14.png"/><Relationship Id="rId15" Type="http://schemas.openxmlformats.org/officeDocument/2006/relationships/image" Target="../media/image-9-15.png"/><Relationship Id="rId16" Type="http://schemas.openxmlformats.org/officeDocument/2006/relationships/image" Target="../media/image-9-16.png"/><Relationship Id="rId17" Type="http://schemas.openxmlformats.org/officeDocument/2006/relationships/image" Target="../media/image-9-17.png"/><Relationship Id="rId18" Type="http://schemas.openxmlformats.org/officeDocument/2006/relationships/image" Target="../media/image-9-18.png"/><Relationship Id="rId19" Type="http://schemas.openxmlformats.org/officeDocument/2006/relationships/image" Target="../media/image-9-19.png"/><Relationship Id="rId20" Type="http://schemas.openxmlformats.org/officeDocument/2006/relationships/image" Target="../media/image-9-20.png"/><Relationship Id="rId21" Type="http://schemas.openxmlformats.org/officeDocument/2006/relationships/slideLayout" Target="../slideLayouts/slideLayout1.xml"/><Relationship Id="rId2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image" Target="../media/image-10-8.png"/><Relationship Id="rId9" Type="http://schemas.openxmlformats.org/officeDocument/2006/relationships/image" Target="../media/image-10-9.png"/><Relationship Id="rId10" Type="http://schemas.openxmlformats.org/officeDocument/2006/relationships/image" Target="../media/image-10-10.png"/><Relationship Id="rId11" Type="http://schemas.openxmlformats.org/officeDocument/2006/relationships/image" Target="../media/image-10-11.png"/><Relationship Id="rId12" Type="http://schemas.openxmlformats.org/officeDocument/2006/relationships/image" Target="../media/image-10-12.png"/><Relationship Id="rId13" Type="http://schemas.openxmlformats.org/officeDocument/2006/relationships/image" Target="../media/image-10-13.png"/><Relationship Id="rId14" Type="http://schemas.openxmlformats.org/officeDocument/2006/relationships/image" Target="../media/image-10-14.png"/><Relationship Id="rId15" Type="http://schemas.openxmlformats.org/officeDocument/2006/relationships/image" Target="../media/image-10-15.png"/><Relationship Id="rId16" Type="http://schemas.openxmlformats.org/officeDocument/2006/relationships/image" Target="../media/image-10-16.png"/><Relationship Id="rId17" Type="http://schemas.openxmlformats.org/officeDocument/2006/relationships/image" Target="../media/image-10-17.png"/><Relationship Id="rId18" Type="http://schemas.openxmlformats.org/officeDocument/2006/relationships/image" Target="../media/image-10-18.png"/><Relationship Id="rId19" Type="http://schemas.openxmlformats.org/officeDocument/2006/relationships/image" Target="../media/image-10-19.png"/><Relationship Id="rId20" Type="http://schemas.openxmlformats.org/officeDocument/2006/relationships/image" Target="../media/image-10-20.png"/><Relationship Id="rId21" Type="http://schemas.openxmlformats.org/officeDocument/2006/relationships/image" Target="../media/image-10-21.png"/><Relationship Id="rId22" Type="http://schemas.openxmlformats.org/officeDocument/2006/relationships/image" Target="../media/image-10-22.png"/><Relationship Id="rId23" Type="http://schemas.openxmlformats.org/officeDocument/2006/relationships/image" Target="../media/image-10-23.png"/><Relationship Id="rId24" Type="http://schemas.openxmlformats.org/officeDocument/2006/relationships/image" Target="../media/image-10-24.png"/><Relationship Id="rId25" Type="http://schemas.openxmlformats.org/officeDocument/2006/relationships/image" Target="../media/image-10-25.png"/><Relationship Id="rId26" Type="http://schemas.openxmlformats.org/officeDocument/2006/relationships/image" Target="../media/image-10-26.png"/><Relationship Id="rId27" Type="http://schemas.openxmlformats.org/officeDocument/2006/relationships/image" Target="../media/image-10-27.png"/><Relationship Id="rId28" Type="http://schemas.openxmlformats.org/officeDocument/2006/relationships/image" Target="../media/image-10-28.png"/><Relationship Id="rId29" Type="http://schemas.openxmlformats.org/officeDocument/2006/relationships/image" Target="../media/image-10-29.png"/><Relationship Id="rId30" Type="http://schemas.openxmlformats.org/officeDocument/2006/relationships/image" Target="../media/image-10-30.png"/><Relationship Id="rId31" Type="http://schemas.openxmlformats.org/officeDocument/2006/relationships/image" Target="../media/image-10-31.png"/><Relationship Id="rId32" Type="http://schemas.openxmlformats.org/officeDocument/2006/relationships/image" Target="../media/image-10-32.png"/><Relationship Id="rId33" Type="http://schemas.openxmlformats.org/officeDocument/2006/relationships/image" Target="../media/image-10-33.png"/><Relationship Id="rId34" Type="http://schemas.openxmlformats.org/officeDocument/2006/relationships/image" Target="../media/image-10-34.png"/><Relationship Id="rId35" Type="http://schemas.openxmlformats.org/officeDocument/2006/relationships/slideLayout" Target="../slideLayouts/slideLayout1.xml"/><Relationship Id="rId3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image" Target="../media/image-15-7.png"/><Relationship Id="rId8" Type="http://schemas.openxmlformats.org/officeDocument/2006/relationships/image" Target="../media/image-15-8.png"/><Relationship Id="rId9" Type="http://schemas.openxmlformats.org/officeDocument/2006/relationships/image" Target="../media/image-15-9.png"/><Relationship Id="rId10" Type="http://schemas.openxmlformats.org/officeDocument/2006/relationships/image" Target="../media/image-15-10.png"/><Relationship Id="rId11" Type="http://schemas.openxmlformats.org/officeDocument/2006/relationships/image" Target="../media/image-15-11.png"/><Relationship Id="rId12" Type="http://schemas.openxmlformats.org/officeDocument/2006/relationships/image" Target="../media/image-15-12.png"/><Relationship Id="rId13" Type="http://schemas.openxmlformats.org/officeDocument/2006/relationships/image" Target="../media/image-15-13.png"/><Relationship Id="rId14" Type="http://schemas.openxmlformats.org/officeDocument/2006/relationships/image" Target="../media/image-15-14.png"/><Relationship Id="rId15" Type="http://schemas.openxmlformats.org/officeDocument/2006/relationships/image" Target="../media/image-15-15.png"/><Relationship Id="rId16" Type="http://schemas.openxmlformats.org/officeDocument/2006/relationships/image" Target="../media/image-15-16.png"/><Relationship Id="rId17" Type="http://schemas.openxmlformats.org/officeDocument/2006/relationships/image" Target="../media/image-15-17.png"/><Relationship Id="rId18" Type="http://schemas.openxmlformats.org/officeDocument/2006/relationships/image" Target="../media/image-15-18.png"/><Relationship Id="rId19" Type="http://schemas.openxmlformats.org/officeDocument/2006/relationships/image" Target="../media/image-15-19.png"/><Relationship Id="rId20" Type="http://schemas.openxmlformats.org/officeDocument/2006/relationships/image" Target="../media/image-15-20.png"/><Relationship Id="rId21" Type="http://schemas.openxmlformats.org/officeDocument/2006/relationships/image" Target="../media/image-15-21.png"/><Relationship Id="rId22" Type="http://schemas.openxmlformats.org/officeDocument/2006/relationships/image" Target="../media/image-15-22.png"/><Relationship Id="rId23" Type="http://schemas.openxmlformats.org/officeDocument/2006/relationships/image" Target="../media/image-15-23.png"/><Relationship Id="rId24" Type="http://schemas.openxmlformats.org/officeDocument/2006/relationships/slideLayout" Target="../slideLayouts/slideLayout1.xml"/><Relationship Id="rId2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image" Target="../media/image-16-7.png"/><Relationship Id="rId8" Type="http://schemas.openxmlformats.org/officeDocument/2006/relationships/image" Target="../media/image-16-8.png"/><Relationship Id="rId9" Type="http://schemas.openxmlformats.org/officeDocument/2006/relationships/image" Target="../media/image-16-9.png"/><Relationship Id="rId10" Type="http://schemas.openxmlformats.org/officeDocument/2006/relationships/image" Target="../media/image-16-10.png"/><Relationship Id="rId11" Type="http://schemas.openxmlformats.org/officeDocument/2006/relationships/slideLayout" Target="../slideLayouts/slideLayout1.xml"/><Relationship Id="rId1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image" Target="../media/image-17-6.png"/><Relationship Id="rId7" Type="http://schemas.openxmlformats.org/officeDocument/2006/relationships/slideLayout" Target="../slideLayouts/slideLayout1.xml"/><Relationship Id="rId8"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image" Target="../media/image-18-6.png"/><Relationship Id="rId7" Type="http://schemas.openxmlformats.org/officeDocument/2006/relationships/image" Target="../media/image-18-7.png"/><Relationship Id="rId8" Type="http://schemas.openxmlformats.org/officeDocument/2006/relationships/image" Target="../media/image-18-8.png"/><Relationship Id="rId9" Type="http://schemas.openxmlformats.org/officeDocument/2006/relationships/image" Target="../media/image-18-9.png"/><Relationship Id="rId10" Type="http://schemas.openxmlformats.org/officeDocument/2006/relationships/image" Target="../media/image-18-10.png"/><Relationship Id="rId11" Type="http://schemas.openxmlformats.org/officeDocument/2006/relationships/slideLayout" Target="../slideLayouts/slideLayout1.xml"/><Relationship Id="rId1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image" Target="../media/image-19-6.png"/><Relationship Id="rId7" Type="http://schemas.openxmlformats.org/officeDocument/2006/relationships/image" Target="../media/image-19-7.png"/><Relationship Id="rId8" Type="http://schemas.openxmlformats.org/officeDocument/2006/relationships/image" Target="../media/image-19-8.png"/><Relationship Id="rId9" Type="http://schemas.openxmlformats.org/officeDocument/2006/relationships/image" Target="../media/image-19-9.png"/><Relationship Id="rId10" Type="http://schemas.openxmlformats.org/officeDocument/2006/relationships/image" Target="../media/image-19-10.png"/><Relationship Id="rId11" Type="http://schemas.openxmlformats.org/officeDocument/2006/relationships/slideLayout" Target="../slideLayouts/slideLayout1.xml"/><Relationship Id="rId1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image" Target="../media/image-20-6.png"/><Relationship Id="rId7" Type="http://schemas.openxmlformats.org/officeDocument/2006/relationships/image" Target="../media/image-20-7.png"/><Relationship Id="rId8" Type="http://schemas.openxmlformats.org/officeDocument/2006/relationships/image" Target="../media/image-20-8.png"/><Relationship Id="rId9" Type="http://schemas.openxmlformats.org/officeDocument/2006/relationships/image" Target="../media/image-20-9.png"/><Relationship Id="rId10" Type="http://schemas.openxmlformats.org/officeDocument/2006/relationships/image" Target="../media/image-20-10.png"/><Relationship Id="rId11" Type="http://schemas.openxmlformats.org/officeDocument/2006/relationships/image" Target="../media/image-20-11.png"/><Relationship Id="rId12" Type="http://schemas.openxmlformats.org/officeDocument/2006/relationships/image" Target="../media/image-20-12.png"/><Relationship Id="rId13" Type="http://schemas.openxmlformats.org/officeDocument/2006/relationships/slideLayout" Target="../slideLayouts/slideLayout1.xml"/><Relationship Id="rId1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image" Target="../media/image-21-6.png"/><Relationship Id="rId7" Type="http://schemas.openxmlformats.org/officeDocument/2006/relationships/image" Target="../media/image-21-7.png"/><Relationship Id="rId8" Type="http://schemas.openxmlformats.org/officeDocument/2006/relationships/image" Target="../media/image-21-8.png"/><Relationship Id="rId9" Type="http://schemas.openxmlformats.org/officeDocument/2006/relationships/image" Target="../media/image-21-9.png"/><Relationship Id="rId10" Type="http://schemas.openxmlformats.org/officeDocument/2006/relationships/image" Target="../media/image-21-10.png"/><Relationship Id="rId11" Type="http://schemas.openxmlformats.org/officeDocument/2006/relationships/slideLayout" Target="../slideLayouts/slideLayout1.xml"/><Relationship Id="rId1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5.png"/><Relationship Id="rId6" Type="http://schemas.openxmlformats.org/officeDocument/2006/relationships/image" Target="../media/image-22-6.png"/><Relationship Id="rId7" Type="http://schemas.openxmlformats.org/officeDocument/2006/relationships/image" Target="../media/image-22-7.png"/><Relationship Id="rId8" Type="http://schemas.openxmlformats.org/officeDocument/2006/relationships/image" Target="../media/image-22-8.png"/><Relationship Id="rId9" Type="http://schemas.openxmlformats.org/officeDocument/2006/relationships/image" Target="../media/image-22-9.png"/><Relationship Id="rId10" Type="http://schemas.openxmlformats.org/officeDocument/2006/relationships/image" Target="../media/image-22-10.png"/><Relationship Id="rId11" Type="http://schemas.openxmlformats.org/officeDocument/2006/relationships/slideLayout" Target="../slideLayouts/slideLayout1.xml"/><Relationship Id="rId1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image" Target="../media/image-23-6.png"/><Relationship Id="rId7" Type="http://schemas.openxmlformats.org/officeDocument/2006/relationships/image" Target="../media/image-23-7.png"/><Relationship Id="rId8" Type="http://schemas.openxmlformats.org/officeDocument/2006/relationships/image" Target="../media/image-23-8.png"/><Relationship Id="rId9" Type="http://schemas.openxmlformats.org/officeDocument/2006/relationships/image" Target="../media/image-23-9.png"/><Relationship Id="rId10" Type="http://schemas.openxmlformats.org/officeDocument/2006/relationships/image" Target="../media/image-23-10.png"/><Relationship Id="rId11" Type="http://schemas.openxmlformats.org/officeDocument/2006/relationships/slideLayout" Target="../slideLayouts/slideLayout1.xml"/><Relationship Id="rId1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image" Target="../media/image-24-5.png"/><Relationship Id="rId6" Type="http://schemas.openxmlformats.org/officeDocument/2006/relationships/image" Target="../media/image-24-6.png"/><Relationship Id="rId7" Type="http://schemas.openxmlformats.org/officeDocument/2006/relationships/image" Target="../media/image-24-7.png"/><Relationship Id="rId8" Type="http://schemas.openxmlformats.org/officeDocument/2006/relationships/image" Target="../media/image-24-8.png"/><Relationship Id="rId9" Type="http://schemas.openxmlformats.org/officeDocument/2006/relationships/slideLayout" Target="../slideLayouts/slideLayout1.xml"/><Relationship Id="rId10"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slideLayout" Target="../slideLayouts/slideLayout1.xml"/><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image" Target="../media/image-27-4.png"/><Relationship Id="rId5" Type="http://schemas.openxmlformats.org/officeDocument/2006/relationships/image" Target="../media/image-27-5.png"/><Relationship Id="rId6" Type="http://schemas.openxmlformats.org/officeDocument/2006/relationships/image" Target="../media/image-27-6.png"/><Relationship Id="rId7" Type="http://schemas.openxmlformats.org/officeDocument/2006/relationships/image" Target="../media/image-27-7.png"/><Relationship Id="rId8" Type="http://schemas.openxmlformats.org/officeDocument/2006/relationships/image" Target="../media/image-27-8.png"/><Relationship Id="rId9" Type="http://schemas.openxmlformats.org/officeDocument/2006/relationships/image" Target="../media/image-27-9.png"/><Relationship Id="rId10" Type="http://schemas.openxmlformats.org/officeDocument/2006/relationships/slideLayout" Target="../slideLayouts/slideLayout1.xml"/><Relationship Id="rId11"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image" Target="../media/image-28-4.png"/><Relationship Id="rId5" Type="http://schemas.openxmlformats.org/officeDocument/2006/relationships/image" Target="../media/image-28-5.png"/><Relationship Id="rId6" Type="http://schemas.openxmlformats.org/officeDocument/2006/relationships/image" Target="../media/image-28-6.png"/><Relationship Id="rId7" Type="http://schemas.openxmlformats.org/officeDocument/2006/relationships/image" Target="../media/image-28-7.png"/><Relationship Id="rId8" Type="http://schemas.openxmlformats.org/officeDocument/2006/relationships/image" Target="../media/image-28-8.png"/><Relationship Id="rId9" Type="http://schemas.openxmlformats.org/officeDocument/2006/relationships/image" Target="../media/image-28-9.png"/><Relationship Id="rId10" Type="http://schemas.openxmlformats.org/officeDocument/2006/relationships/image" Target="../media/image-28-10.png"/><Relationship Id="rId11" Type="http://schemas.openxmlformats.org/officeDocument/2006/relationships/slideLayout" Target="../slideLayouts/slideLayout1.xml"/><Relationship Id="rId1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image" Target="../media/image-29-3.png"/><Relationship Id="rId4" Type="http://schemas.openxmlformats.org/officeDocument/2006/relationships/image" Target="../media/image-29-4.png"/><Relationship Id="rId5" Type="http://schemas.openxmlformats.org/officeDocument/2006/relationships/image" Target="../media/image-29-5.png"/><Relationship Id="rId6" Type="http://schemas.openxmlformats.org/officeDocument/2006/relationships/image" Target="../media/image-29-6.png"/><Relationship Id="rId7" Type="http://schemas.openxmlformats.org/officeDocument/2006/relationships/image" Target="../media/image-29-7.png"/><Relationship Id="rId8" Type="http://schemas.openxmlformats.org/officeDocument/2006/relationships/image" Target="../media/image-29-8.png"/><Relationship Id="rId9" Type="http://schemas.openxmlformats.org/officeDocument/2006/relationships/image" Target="../media/image-29-9.png"/><Relationship Id="rId10" Type="http://schemas.openxmlformats.org/officeDocument/2006/relationships/slideLayout" Target="../slideLayouts/slideLayout1.xml"/><Relationship Id="rId11"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image" Target="../media/image-30-3.png"/><Relationship Id="rId4" Type="http://schemas.openxmlformats.org/officeDocument/2006/relationships/image" Target="../media/image-30-4.png"/><Relationship Id="rId5" Type="http://schemas.openxmlformats.org/officeDocument/2006/relationships/image" Target="../media/image-30-5.png"/><Relationship Id="rId6" Type="http://schemas.openxmlformats.org/officeDocument/2006/relationships/image" Target="../media/image-30-6.png"/><Relationship Id="rId7" Type="http://schemas.openxmlformats.org/officeDocument/2006/relationships/image" Target="../media/image-30-7.png"/><Relationship Id="rId8" Type="http://schemas.openxmlformats.org/officeDocument/2006/relationships/image" Target="../media/image-30-8.png"/><Relationship Id="rId9" Type="http://schemas.openxmlformats.org/officeDocument/2006/relationships/image" Target="../media/image-30-9.png"/><Relationship Id="rId10" Type="http://schemas.openxmlformats.org/officeDocument/2006/relationships/image" Target="../media/image-30-10.png"/><Relationship Id="rId11" Type="http://schemas.openxmlformats.org/officeDocument/2006/relationships/slideLayout" Target="../slideLayouts/slideLayout1.xml"/><Relationship Id="rId1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image" Target="../media/image-31-3.png"/><Relationship Id="rId4" Type="http://schemas.openxmlformats.org/officeDocument/2006/relationships/image" Target="../media/image-31-4.png"/><Relationship Id="rId5" Type="http://schemas.openxmlformats.org/officeDocument/2006/relationships/image" Target="../media/image-31-5.png"/><Relationship Id="rId6" Type="http://schemas.openxmlformats.org/officeDocument/2006/relationships/image" Target="../media/image-31-6.png"/><Relationship Id="rId7" Type="http://schemas.openxmlformats.org/officeDocument/2006/relationships/image" Target="../media/image-31-7.png"/><Relationship Id="rId8" Type="http://schemas.openxmlformats.org/officeDocument/2006/relationships/image" Target="../media/image-31-8.png"/><Relationship Id="rId9" Type="http://schemas.openxmlformats.org/officeDocument/2006/relationships/image" Target="../media/image-31-9.png"/><Relationship Id="rId10" Type="http://schemas.openxmlformats.org/officeDocument/2006/relationships/image" Target="../media/image-31-10.png"/><Relationship Id="rId11" Type="http://schemas.openxmlformats.org/officeDocument/2006/relationships/slideLayout" Target="../slideLayouts/slideLayout1.xml"/><Relationship Id="rId1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image" Target="../media/image-32-3.png"/><Relationship Id="rId4" Type="http://schemas.openxmlformats.org/officeDocument/2006/relationships/image" Target="../media/image-32-4.png"/><Relationship Id="rId5" Type="http://schemas.openxmlformats.org/officeDocument/2006/relationships/image" Target="../media/image-32-5.png"/><Relationship Id="rId6" Type="http://schemas.openxmlformats.org/officeDocument/2006/relationships/image" Target="../media/image-32-6.png"/><Relationship Id="rId7" Type="http://schemas.openxmlformats.org/officeDocument/2006/relationships/image" Target="../media/image-32-7.png"/><Relationship Id="rId8" Type="http://schemas.openxmlformats.org/officeDocument/2006/relationships/image" Target="../media/image-32-8.png"/><Relationship Id="rId9" Type="http://schemas.openxmlformats.org/officeDocument/2006/relationships/image" Target="../media/image-32-9.png"/><Relationship Id="rId10" Type="http://schemas.openxmlformats.org/officeDocument/2006/relationships/image" Target="../media/image-32-10.png"/><Relationship Id="rId11" Type="http://schemas.openxmlformats.org/officeDocument/2006/relationships/slideLayout" Target="../slideLayouts/slideLayout1.xml"/><Relationship Id="rId1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image" Target="../media/image-33-3.png"/><Relationship Id="rId4" Type="http://schemas.openxmlformats.org/officeDocument/2006/relationships/image" Target="../media/image-33-4.png"/><Relationship Id="rId5" Type="http://schemas.openxmlformats.org/officeDocument/2006/relationships/image" Target="../media/image-33-5.png"/><Relationship Id="rId6" Type="http://schemas.openxmlformats.org/officeDocument/2006/relationships/image" Target="../media/image-33-6.png"/><Relationship Id="rId7" Type="http://schemas.openxmlformats.org/officeDocument/2006/relationships/image" Target="../media/image-33-7.png"/><Relationship Id="rId8" Type="http://schemas.openxmlformats.org/officeDocument/2006/relationships/image" Target="../media/image-33-8.png"/><Relationship Id="rId9" Type="http://schemas.openxmlformats.org/officeDocument/2006/relationships/image" Target="../media/image-33-9.png"/><Relationship Id="rId10" Type="http://schemas.openxmlformats.org/officeDocument/2006/relationships/image" Target="../media/image-33-10.png"/><Relationship Id="rId11" Type="http://schemas.openxmlformats.org/officeDocument/2006/relationships/slideLayout" Target="../slideLayouts/slideLayout1.xml"/><Relationship Id="rId1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image" Target="../media/image-34-3.png"/><Relationship Id="rId4" Type="http://schemas.openxmlformats.org/officeDocument/2006/relationships/image" Target="../media/image-34-4.png"/><Relationship Id="rId5" Type="http://schemas.openxmlformats.org/officeDocument/2006/relationships/image" Target="../media/image-34-5.png"/><Relationship Id="rId6" Type="http://schemas.openxmlformats.org/officeDocument/2006/relationships/image" Target="../media/image-34-6.png"/><Relationship Id="rId7" Type="http://schemas.openxmlformats.org/officeDocument/2006/relationships/image" Target="../media/image-34-7.png"/><Relationship Id="rId8" Type="http://schemas.openxmlformats.org/officeDocument/2006/relationships/slideLayout" Target="../slideLayouts/slideLayout1.xml"/><Relationship Id="rId9"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png"/><Relationship Id="rId3" Type="http://schemas.openxmlformats.org/officeDocument/2006/relationships/image" Target="../media/image-35-3.png"/><Relationship Id="rId4" Type="http://schemas.openxmlformats.org/officeDocument/2006/relationships/image" Target="../media/image-35-4.png"/><Relationship Id="rId5" Type="http://schemas.openxmlformats.org/officeDocument/2006/relationships/image" Target="../media/image-35-5.png"/><Relationship Id="rId6" Type="http://schemas.openxmlformats.org/officeDocument/2006/relationships/image" Target="../media/image-35-6.png"/><Relationship Id="rId7" Type="http://schemas.openxmlformats.org/officeDocument/2006/relationships/image" Target="../media/image-35-7.png"/><Relationship Id="rId8" Type="http://schemas.openxmlformats.org/officeDocument/2006/relationships/image" Target="../media/image-35-8.png"/><Relationship Id="rId9" Type="http://schemas.openxmlformats.org/officeDocument/2006/relationships/image" Target="../media/image-35-9.png"/><Relationship Id="rId10" Type="http://schemas.openxmlformats.org/officeDocument/2006/relationships/image" Target="../media/image-35-10.png"/><Relationship Id="rId11" Type="http://schemas.openxmlformats.org/officeDocument/2006/relationships/image" Target="../media/image-35-11.png"/><Relationship Id="rId12" Type="http://schemas.openxmlformats.org/officeDocument/2006/relationships/image" Target="../media/image-35-12.png"/><Relationship Id="rId13" Type="http://schemas.openxmlformats.org/officeDocument/2006/relationships/image" Target="../media/image-35-13.png"/><Relationship Id="rId14" Type="http://schemas.openxmlformats.org/officeDocument/2006/relationships/image" Target="../media/image-35-14.png"/><Relationship Id="rId15" Type="http://schemas.openxmlformats.org/officeDocument/2006/relationships/image" Target="../media/image-35-15.png"/><Relationship Id="rId16" Type="http://schemas.openxmlformats.org/officeDocument/2006/relationships/image" Target="../media/image-35-16.png"/><Relationship Id="rId17" Type="http://schemas.openxmlformats.org/officeDocument/2006/relationships/image" Target="../media/image-35-17.png"/><Relationship Id="rId18" Type="http://schemas.openxmlformats.org/officeDocument/2006/relationships/image" Target="../media/image-35-18.png"/><Relationship Id="rId19" Type="http://schemas.openxmlformats.org/officeDocument/2006/relationships/image" Target="../media/image-35-19.png"/><Relationship Id="rId20" Type="http://schemas.openxmlformats.org/officeDocument/2006/relationships/image" Target="../media/image-35-20.png"/><Relationship Id="rId21" Type="http://schemas.openxmlformats.org/officeDocument/2006/relationships/image" Target="../media/image-35-21.png"/><Relationship Id="rId22" Type="http://schemas.openxmlformats.org/officeDocument/2006/relationships/image" Target="../media/image-35-22.png"/><Relationship Id="rId23" Type="http://schemas.openxmlformats.org/officeDocument/2006/relationships/image" Target="../media/image-35-23.png"/><Relationship Id="rId24" Type="http://schemas.openxmlformats.org/officeDocument/2006/relationships/image" Target="../media/image-35-24.png"/><Relationship Id="rId25" Type="http://schemas.openxmlformats.org/officeDocument/2006/relationships/image" Target="../media/image-35-25.png"/><Relationship Id="rId26" Type="http://schemas.openxmlformats.org/officeDocument/2006/relationships/image" Target="../media/image-35-26.png"/><Relationship Id="rId27" Type="http://schemas.openxmlformats.org/officeDocument/2006/relationships/slideLayout" Target="../slideLayouts/slideLayout1.xml"/><Relationship Id="rId28"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png"/><Relationship Id="rId3" Type="http://schemas.openxmlformats.org/officeDocument/2006/relationships/image" Target="../media/image-36-3.png"/><Relationship Id="rId4" Type="http://schemas.openxmlformats.org/officeDocument/2006/relationships/slideLayout" Target="../slideLayouts/slideLayout1.xml"/><Relationship Id="rId5"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image" Target="../media/image-37-2.png"/><Relationship Id="rId3" Type="http://schemas.openxmlformats.org/officeDocument/2006/relationships/image" Target="../media/image-37-3.png"/><Relationship Id="rId4" Type="http://schemas.openxmlformats.org/officeDocument/2006/relationships/image" Target="../media/image-37-4.png"/><Relationship Id="rId5" Type="http://schemas.openxmlformats.org/officeDocument/2006/relationships/image" Target="../media/image-37-5.png"/><Relationship Id="rId6" Type="http://schemas.openxmlformats.org/officeDocument/2006/relationships/image" Target="../media/image-37-6.png"/><Relationship Id="rId7" Type="http://schemas.openxmlformats.org/officeDocument/2006/relationships/image" Target="../media/image-37-7.png"/><Relationship Id="rId8" Type="http://schemas.openxmlformats.org/officeDocument/2006/relationships/image" Target="../media/image-37-8.png"/><Relationship Id="rId9" Type="http://schemas.openxmlformats.org/officeDocument/2006/relationships/slideLayout" Target="../slideLayouts/slideLayout1.xml"/><Relationship Id="rId10"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2.png"/><Relationship Id="rId3" Type="http://schemas.openxmlformats.org/officeDocument/2006/relationships/image" Target="../media/image-38-3.png"/><Relationship Id="rId4" Type="http://schemas.openxmlformats.org/officeDocument/2006/relationships/image" Target="../media/image-38-4.png"/><Relationship Id="rId5" Type="http://schemas.openxmlformats.org/officeDocument/2006/relationships/image" Target="../media/image-38-5.png"/><Relationship Id="rId6" Type="http://schemas.openxmlformats.org/officeDocument/2006/relationships/image" Target="../media/image-38-6.png"/><Relationship Id="rId7" Type="http://schemas.openxmlformats.org/officeDocument/2006/relationships/image" Target="../media/image-38-7.png"/><Relationship Id="rId8" Type="http://schemas.openxmlformats.org/officeDocument/2006/relationships/image" Target="../media/image-38-8.png"/><Relationship Id="rId9" Type="http://schemas.openxmlformats.org/officeDocument/2006/relationships/image" Target="../media/image-38-9.png"/><Relationship Id="rId10" Type="http://schemas.openxmlformats.org/officeDocument/2006/relationships/image" Target="../media/image-38-10.png"/><Relationship Id="rId11" Type="http://schemas.openxmlformats.org/officeDocument/2006/relationships/slideLayout" Target="../slideLayouts/slideLayout1.xml"/><Relationship Id="rId1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image" Target="../media/image-39-2.png"/><Relationship Id="rId3" Type="http://schemas.openxmlformats.org/officeDocument/2006/relationships/image" Target="../media/image-39-3.png"/><Relationship Id="rId4" Type="http://schemas.openxmlformats.org/officeDocument/2006/relationships/image" Target="../media/image-39-4.png"/><Relationship Id="rId5" Type="http://schemas.openxmlformats.org/officeDocument/2006/relationships/image" Target="../media/image-39-5.png"/><Relationship Id="rId6" Type="http://schemas.openxmlformats.org/officeDocument/2006/relationships/image" Target="../media/image-39-6.png"/><Relationship Id="rId7" Type="http://schemas.openxmlformats.org/officeDocument/2006/relationships/slideLayout" Target="../slideLayouts/slideLayout1.xml"/><Relationship Id="rId8"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image" Target="../media/image-41-2.png"/><Relationship Id="rId3" Type="http://schemas.openxmlformats.org/officeDocument/2006/relationships/image" Target="../media/image-41-3.png"/><Relationship Id="rId4" Type="http://schemas.openxmlformats.org/officeDocument/2006/relationships/image" Target="../media/image-41-4.png"/><Relationship Id="rId5" Type="http://schemas.openxmlformats.org/officeDocument/2006/relationships/slideLayout" Target="../slideLayouts/slideLayout1.xml"/><Relationship Id="rId6"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image" Target="../media/image-42-2.png"/><Relationship Id="rId3" Type="http://schemas.openxmlformats.org/officeDocument/2006/relationships/image" Target="../media/image-42-3.png"/><Relationship Id="rId4" Type="http://schemas.openxmlformats.org/officeDocument/2006/relationships/image" Target="../media/image-42-4.png"/><Relationship Id="rId5" Type="http://schemas.openxmlformats.org/officeDocument/2006/relationships/image" Target="../media/image-42-5.png"/><Relationship Id="rId6" Type="http://schemas.openxmlformats.org/officeDocument/2006/relationships/image" Target="../media/image-42-6.png"/><Relationship Id="rId7" Type="http://schemas.openxmlformats.org/officeDocument/2006/relationships/image" Target="../media/image-42-7.png"/><Relationship Id="rId8" Type="http://schemas.openxmlformats.org/officeDocument/2006/relationships/image" Target="../media/image-42-8.png"/><Relationship Id="rId9" Type="http://schemas.openxmlformats.org/officeDocument/2006/relationships/image" Target="../media/image-42-9.png"/><Relationship Id="rId10" Type="http://schemas.openxmlformats.org/officeDocument/2006/relationships/image" Target="../media/image-42-10.png"/><Relationship Id="rId11" Type="http://schemas.openxmlformats.org/officeDocument/2006/relationships/image" Target="../media/image-42-11.png"/><Relationship Id="rId12" Type="http://schemas.openxmlformats.org/officeDocument/2006/relationships/image" Target="../media/image-42-12.png"/><Relationship Id="rId13" Type="http://schemas.openxmlformats.org/officeDocument/2006/relationships/image" Target="../media/image-42-13.png"/><Relationship Id="rId14" Type="http://schemas.openxmlformats.org/officeDocument/2006/relationships/image" Target="../media/image-42-14.png"/><Relationship Id="rId15" Type="http://schemas.openxmlformats.org/officeDocument/2006/relationships/image" Target="../media/image-42-15.png"/><Relationship Id="rId16" Type="http://schemas.openxmlformats.org/officeDocument/2006/relationships/slideLayout" Target="../slideLayouts/slideLayout1.xml"/><Relationship Id="rId17" Type="http://schemas.openxmlformats.org/officeDocument/2006/relationships/notesSlide" Target="../notesSlides/notesSlide4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49"/>
        </a:solidFill>
      </p:bgPr>
    </p:bg>
    <p:spTree>
      <p:nvGrpSpPr>
        <p:cNvPr id="1" name=""/>
        <p:cNvGrpSpPr/>
        <p:nvPr/>
      </p:nvGrpSpPr>
      <p:grpSpPr>
        <a:xfrm>
          <a:off x="0" y="0"/>
          <a:ext cx="0" cy="0"/>
          <a:chOff x="0" y="0"/>
          <a:chExt cx="0" cy="0"/>
        </a:xfrm>
      </p:grpSpPr>
      <p:sp>
        <p:nvSpPr>
          <p:cNvPr id="2" name="Text 0"/>
          <p:cNvSpPr txBox="1"/>
          <p:nvPr/>
        </p:nvSpPr>
        <p:spPr>
          <a:xfrm>
            <a:off x="822960" y="1463040"/>
            <a:ext cx="10515600" cy="548640"/>
          </a:xfrm>
          <a:prstGeom prst="rect">
            <a:avLst/>
          </a:prstGeom>
          <a:noFill/>
          <a:ln/>
        </p:spPr>
        <p:txBody>
          <a:bodyPr wrap="square" lIns="0" tIns="0" rIns="0" bIns="0" rtlCol="0" anchor="t"/>
          <a:lstStyle/>
          <a:p>
            <a:pPr indent="0" marL="0">
              <a:buNone/>
            </a:pPr>
            <a:r>
              <a:rPr lang="en-US" sz="2400" dirty="0">
                <a:solidFill>
                  <a:srgbClr val="8FD3CF"/>
                </a:solidFill>
                <a:latin typeface="Meiryo UI" pitchFamily="34" charset="0"/>
                <a:ea typeface="Meiryo UI" pitchFamily="34" charset="-122"/>
                <a:cs typeface="Meiryo UI" pitchFamily="34" charset="-120"/>
              </a:rPr>
              <a:t>メール・アプリプッシュ配信コンテンツ制作への</a:t>
            </a:r>
            <a:endParaRPr lang="en-US" sz="2400" dirty="0"/>
          </a:p>
        </p:txBody>
      </p:sp>
      <p:sp>
        <p:nvSpPr>
          <p:cNvPr id="3" name="Text 1"/>
          <p:cNvSpPr txBox="1"/>
          <p:nvPr/>
        </p:nvSpPr>
        <p:spPr>
          <a:xfrm>
            <a:off x="822960" y="2011680"/>
            <a:ext cx="10789920" cy="914400"/>
          </a:xfrm>
          <a:prstGeom prst="rect">
            <a:avLst/>
          </a:prstGeom>
          <a:noFill/>
          <a:ln/>
        </p:spPr>
        <p:txBody>
          <a:bodyPr wrap="square" lIns="0" tIns="0" rIns="0" bIns="0" rtlCol="0" anchor="t"/>
          <a:lstStyle/>
          <a:p>
            <a:pPr indent="0" marL="0">
              <a:buNone/>
            </a:pPr>
            <a:r>
              <a:rPr lang="en-US" sz="4000" b="1" dirty="0">
                <a:solidFill>
                  <a:srgbClr val="FFFFFF"/>
                </a:solidFill>
                <a:latin typeface="Meiryo UI" pitchFamily="34" charset="0"/>
                <a:ea typeface="Meiryo UI" pitchFamily="34" charset="-122"/>
                <a:cs typeface="Meiryo UI" pitchFamily="34" charset="-120"/>
              </a:rPr>
              <a:t>AI活用 構成の選択肢と検討ポイント</a:t>
            </a:r>
            <a:endParaRPr lang="en-US" sz="4000" dirty="0"/>
          </a:p>
        </p:txBody>
      </p:sp>
      <p:sp>
        <p:nvSpPr>
          <p:cNvPr id="4" name="Text 2"/>
          <p:cNvSpPr txBox="1"/>
          <p:nvPr/>
        </p:nvSpPr>
        <p:spPr>
          <a:xfrm>
            <a:off x="822960" y="3017520"/>
            <a:ext cx="10515600" cy="457200"/>
          </a:xfrm>
          <a:prstGeom prst="rect">
            <a:avLst/>
          </a:prstGeom>
          <a:noFill/>
          <a:ln/>
        </p:spPr>
        <p:txBody>
          <a:bodyPr wrap="square" lIns="0" tIns="0" rIns="0" bIns="0" rtlCol="0" anchor="t"/>
          <a:lstStyle/>
          <a:p>
            <a:pPr indent="0" marL="0">
              <a:buNone/>
            </a:pPr>
            <a:r>
              <a:rPr lang="en-US" sz="1600" dirty="0">
                <a:solidFill>
                  <a:srgbClr val="FFFFFF"/>
                </a:solidFill>
                <a:latin typeface="Meiryo UI" pitchFamily="34" charset="0"/>
                <a:ea typeface="Meiryo UI" pitchFamily="34" charset="-122"/>
                <a:cs typeface="Meiryo UI" pitchFamily="34" charset="-120"/>
              </a:rPr>
              <a:t>M365・GCP・ハイブリッドの各構成パターンと、選択にあたっての判断要件の整理</a:t>
            </a:r>
            <a:endParaRPr lang="en-US" sz="1600" dirty="0"/>
          </a:p>
        </p:txBody>
      </p:sp>
      <p:sp>
        <p:nvSpPr>
          <p:cNvPr id="5" name="Shape 3"/>
          <p:cNvSpPr/>
          <p:nvPr/>
        </p:nvSpPr>
        <p:spPr>
          <a:xfrm>
            <a:off x="822960" y="4114800"/>
            <a:ext cx="548640" cy="548640"/>
          </a:xfrm>
          <a:prstGeom prst="ellipse">
            <a:avLst/>
          </a:prstGeom>
          <a:solidFill>
            <a:srgbClr val="FFFFFF"/>
          </a:solidFill>
          <a:ln/>
        </p:spPr>
      </p:sp>
      <p:pic>
        <p:nvPicPr>
          <p:cNvPr id="6" name="Image 0" descr="preencoded.png">    </p:cNvPr>
          <p:cNvPicPr>
            <a:picLocks noChangeAspect="1"/>
          </p:cNvPicPr>
          <p:nvPr/>
        </p:nvPicPr>
        <p:blipFill>
          <a:blip r:embed="rId1"/>
          <a:stretch>
            <a:fillRect/>
          </a:stretch>
        </p:blipFill>
        <p:spPr>
          <a:xfrm>
            <a:off x="932688" y="4224528"/>
            <a:ext cx="329184" cy="329184"/>
          </a:xfrm>
          <a:prstGeom prst="rect">
            <a:avLst/>
          </a:prstGeom>
        </p:spPr>
      </p:pic>
      <p:sp>
        <p:nvSpPr>
          <p:cNvPr id="7" name="Shape 4"/>
          <p:cNvSpPr/>
          <p:nvPr/>
        </p:nvSpPr>
        <p:spPr>
          <a:xfrm>
            <a:off x="1536192" y="4114800"/>
            <a:ext cx="548640" cy="548640"/>
          </a:xfrm>
          <a:prstGeom prst="ellipse">
            <a:avLst/>
          </a:prstGeom>
          <a:solidFill>
            <a:srgbClr val="FFFFFF"/>
          </a:solidFill>
          <a:ln/>
        </p:spPr>
      </p:sp>
      <p:pic>
        <p:nvPicPr>
          <p:cNvPr id="8" name="Image 1" descr="preencoded.png">    </p:cNvPr>
          <p:cNvPicPr>
            <a:picLocks noChangeAspect="1"/>
          </p:cNvPicPr>
          <p:nvPr/>
        </p:nvPicPr>
        <p:blipFill>
          <a:blip r:embed="rId2"/>
          <a:stretch>
            <a:fillRect/>
          </a:stretch>
        </p:blipFill>
        <p:spPr>
          <a:xfrm>
            <a:off x="1645920" y="4224528"/>
            <a:ext cx="329184" cy="329184"/>
          </a:xfrm>
          <a:prstGeom prst="rect">
            <a:avLst/>
          </a:prstGeom>
        </p:spPr>
      </p:pic>
      <p:sp>
        <p:nvSpPr>
          <p:cNvPr id="9" name="Shape 5"/>
          <p:cNvSpPr/>
          <p:nvPr/>
        </p:nvSpPr>
        <p:spPr>
          <a:xfrm>
            <a:off x="2249424" y="4114800"/>
            <a:ext cx="548640" cy="548640"/>
          </a:xfrm>
          <a:prstGeom prst="ellipse">
            <a:avLst/>
          </a:prstGeom>
          <a:solidFill>
            <a:srgbClr val="FFFFFF"/>
          </a:solidFill>
          <a:ln/>
        </p:spPr>
      </p:sp>
      <p:pic>
        <p:nvPicPr>
          <p:cNvPr id="10" name="Image 2" descr="preencoded.png">    </p:cNvPr>
          <p:cNvPicPr>
            <a:picLocks noChangeAspect="1"/>
          </p:cNvPicPr>
          <p:nvPr/>
        </p:nvPicPr>
        <p:blipFill>
          <a:blip r:embed="rId3"/>
          <a:stretch>
            <a:fillRect/>
          </a:stretch>
        </p:blipFill>
        <p:spPr>
          <a:xfrm>
            <a:off x="2359152" y="4224528"/>
            <a:ext cx="329184" cy="329184"/>
          </a:xfrm>
          <a:prstGeom prst="rect">
            <a:avLst/>
          </a:prstGeom>
        </p:spPr>
      </p:pic>
      <p:sp>
        <p:nvSpPr>
          <p:cNvPr id="11" name="Shape 6"/>
          <p:cNvSpPr/>
          <p:nvPr/>
        </p:nvSpPr>
        <p:spPr>
          <a:xfrm>
            <a:off x="2962656" y="4114800"/>
            <a:ext cx="548640" cy="548640"/>
          </a:xfrm>
          <a:prstGeom prst="ellipse">
            <a:avLst/>
          </a:prstGeom>
          <a:solidFill>
            <a:srgbClr val="FFFFFF"/>
          </a:solidFill>
          <a:ln/>
        </p:spPr>
      </p:sp>
      <p:pic>
        <p:nvPicPr>
          <p:cNvPr id="12" name="Image 3" descr="preencoded.png">    </p:cNvPr>
          <p:cNvPicPr>
            <a:picLocks noChangeAspect="1"/>
          </p:cNvPicPr>
          <p:nvPr/>
        </p:nvPicPr>
        <p:blipFill>
          <a:blip r:embed="rId4"/>
          <a:stretch>
            <a:fillRect/>
          </a:stretch>
        </p:blipFill>
        <p:spPr>
          <a:xfrm>
            <a:off x="3072384" y="4224528"/>
            <a:ext cx="329184" cy="329184"/>
          </a:xfrm>
          <a:prstGeom prst="rect">
            <a:avLst/>
          </a:prstGeom>
        </p:spPr>
      </p:pic>
      <p:sp>
        <p:nvSpPr>
          <p:cNvPr id="13" name="Shape 7"/>
          <p:cNvSpPr/>
          <p:nvPr/>
        </p:nvSpPr>
        <p:spPr>
          <a:xfrm>
            <a:off x="3675888" y="4114800"/>
            <a:ext cx="548640" cy="548640"/>
          </a:xfrm>
          <a:prstGeom prst="ellipse">
            <a:avLst/>
          </a:prstGeom>
          <a:solidFill>
            <a:srgbClr val="FFFFFF"/>
          </a:solidFill>
          <a:ln/>
        </p:spPr>
      </p:sp>
      <p:pic>
        <p:nvPicPr>
          <p:cNvPr id="14" name="Image 4" descr="preencoded.png">    </p:cNvPr>
          <p:cNvPicPr>
            <a:picLocks noChangeAspect="1"/>
          </p:cNvPicPr>
          <p:nvPr/>
        </p:nvPicPr>
        <p:blipFill>
          <a:blip r:embed="rId5"/>
          <a:stretch>
            <a:fillRect/>
          </a:stretch>
        </p:blipFill>
        <p:spPr>
          <a:xfrm>
            <a:off x="3785616" y="4224528"/>
            <a:ext cx="329184" cy="329184"/>
          </a:xfrm>
          <a:prstGeom prst="rect">
            <a:avLst/>
          </a:prstGeom>
        </p:spPr>
      </p:pic>
      <p:sp>
        <p:nvSpPr>
          <p:cNvPr id="15" name="Shape 8"/>
          <p:cNvSpPr/>
          <p:nvPr/>
        </p:nvSpPr>
        <p:spPr>
          <a:xfrm>
            <a:off x="4389120" y="4114800"/>
            <a:ext cx="548640" cy="548640"/>
          </a:xfrm>
          <a:prstGeom prst="ellipse">
            <a:avLst/>
          </a:prstGeom>
          <a:solidFill>
            <a:srgbClr val="FFFFFF"/>
          </a:solidFill>
          <a:ln/>
        </p:spPr>
      </p:sp>
      <p:pic>
        <p:nvPicPr>
          <p:cNvPr id="16" name="Image 5" descr="preencoded.png">    </p:cNvPr>
          <p:cNvPicPr>
            <a:picLocks noChangeAspect="1"/>
          </p:cNvPicPr>
          <p:nvPr/>
        </p:nvPicPr>
        <p:blipFill>
          <a:blip r:embed="rId6"/>
          <a:stretch>
            <a:fillRect/>
          </a:stretch>
        </p:blipFill>
        <p:spPr>
          <a:xfrm>
            <a:off x="4498848" y="4224528"/>
            <a:ext cx="329184" cy="329184"/>
          </a:xfrm>
          <a:prstGeom prst="rect">
            <a:avLst/>
          </a:prstGeom>
        </p:spPr>
      </p:pic>
      <p:sp>
        <p:nvSpPr>
          <p:cNvPr id="17" name="Shape 9"/>
          <p:cNvSpPr/>
          <p:nvPr/>
        </p:nvSpPr>
        <p:spPr>
          <a:xfrm>
            <a:off x="5102352" y="4114800"/>
            <a:ext cx="548640" cy="548640"/>
          </a:xfrm>
          <a:prstGeom prst="ellipse">
            <a:avLst/>
          </a:prstGeom>
          <a:solidFill>
            <a:srgbClr val="FFFFFF"/>
          </a:solidFill>
          <a:ln/>
        </p:spPr>
      </p:sp>
      <p:pic>
        <p:nvPicPr>
          <p:cNvPr id="18" name="Image 6" descr="preencoded.png">    </p:cNvPr>
          <p:cNvPicPr>
            <a:picLocks noChangeAspect="1"/>
          </p:cNvPicPr>
          <p:nvPr/>
        </p:nvPicPr>
        <p:blipFill>
          <a:blip r:embed="rId7"/>
          <a:stretch>
            <a:fillRect/>
          </a:stretch>
        </p:blipFill>
        <p:spPr>
          <a:xfrm>
            <a:off x="5212080" y="4224528"/>
            <a:ext cx="329184" cy="329184"/>
          </a:xfrm>
          <a:prstGeom prst="rect">
            <a:avLst/>
          </a:prstGeom>
        </p:spPr>
      </p:pic>
      <p:sp>
        <p:nvSpPr>
          <p:cNvPr id="19" name="Shape 10"/>
          <p:cNvSpPr/>
          <p:nvPr/>
        </p:nvSpPr>
        <p:spPr>
          <a:xfrm>
            <a:off x="5815584" y="4114800"/>
            <a:ext cx="548640" cy="548640"/>
          </a:xfrm>
          <a:prstGeom prst="ellipse">
            <a:avLst/>
          </a:prstGeom>
          <a:solidFill>
            <a:srgbClr val="FFFFFF"/>
          </a:solidFill>
          <a:ln/>
        </p:spPr>
      </p:sp>
      <p:pic>
        <p:nvPicPr>
          <p:cNvPr id="20" name="Image 7" descr="preencoded.png">    </p:cNvPr>
          <p:cNvPicPr>
            <a:picLocks noChangeAspect="1"/>
          </p:cNvPicPr>
          <p:nvPr/>
        </p:nvPicPr>
        <p:blipFill>
          <a:blip r:embed="rId8"/>
          <a:stretch>
            <a:fillRect/>
          </a:stretch>
        </p:blipFill>
        <p:spPr>
          <a:xfrm>
            <a:off x="5925312" y="4224528"/>
            <a:ext cx="329184" cy="329184"/>
          </a:xfrm>
          <a:prstGeom prst="rect">
            <a:avLst/>
          </a:prstGeom>
        </p:spPr>
      </p:pic>
      <p:sp>
        <p:nvSpPr>
          <p:cNvPr id="21" name="Shape 11"/>
          <p:cNvSpPr/>
          <p:nvPr/>
        </p:nvSpPr>
        <p:spPr>
          <a:xfrm>
            <a:off x="6528816" y="4114800"/>
            <a:ext cx="548640" cy="548640"/>
          </a:xfrm>
          <a:prstGeom prst="ellipse">
            <a:avLst/>
          </a:prstGeom>
          <a:solidFill>
            <a:srgbClr val="FFFFFF"/>
          </a:solidFill>
          <a:ln/>
        </p:spPr>
      </p:sp>
      <p:pic>
        <p:nvPicPr>
          <p:cNvPr id="22" name="Image 8" descr="preencoded.png">    </p:cNvPr>
          <p:cNvPicPr>
            <a:picLocks noChangeAspect="1"/>
          </p:cNvPicPr>
          <p:nvPr/>
        </p:nvPicPr>
        <p:blipFill>
          <a:blip r:embed="rId9"/>
          <a:stretch>
            <a:fillRect/>
          </a:stretch>
        </p:blipFill>
        <p:spPr>
          <a:xfrm>
            <a:off x="6638544" y="4224528"/>
            <a:ext cx="329184" cy="329184"/>
          </a:xfrm>
          <a:prstGeom prst="rect">
            <a:avLst/>
          </a:prstGeom>
        </p:spPr>
      </p:pic>
      <p:sp>
        <p:nvSpPr>
          <p:cNvPr id="23" name="Shape 12"/>
          <p:cNvSpPr/>
          <p:nvPr/>
        </p:nvSpPr>
        <p:spPr>
          <a:xfrm>
            <a:off x="7242048" y="4114800"/>
            <a:ext cx="548640" cy="548640"/>
          </a:xfrm>
          <a:prstGeom prst="ellipse">
            <a:avLst/>
          </a:prstGeom>
          <a:solidFill>
            <a:srgbClr val="FFFFFF"/>
          </a:solidFill>
          <a:ln/>
        </p:spPr>
      </p:sp>
      <p:pic>
        <p:nvPicPr>
          <p:cNvPr id="24" name="Image 9" descr="preencoded.png">    </p:cNvPr>
          <p:cNvPicPr>
            <a:picLocks noChangeAspect="1"/>
          </p:cNvPicPr>
          <p:nvPr/>
        </p:nvPicPr>
        <p:blipFill>
          <a:blip r:embed="rId10"/>
          <a:stretch>
            <a:fillRect/>
          </a:stretch>
        </p:blipFill>
        <p:spPr>
          <a:xfrm>
            <a:off x="7351776" y="4224528"/>
            <a:ext cx="329184" cy="329184"/>
          </a:xfrm>
          <a:prstGeom prst="rect">
            <a:avLst/>
          </a:prstGeom>
        </p:spPr>
      </p:pic>
      <p:sp>
        <p:nvSpPr>
          <p:cNvPr id="25" name="Shape 13"/>
          <p:cNvSpPr/>
          <p:nvPr/>
        </p:nvSpPr>
        <p:spPr>
          <a:xfrm>
            <a:off x="7955280" y="4114800"/>
            <a:ext cx="548640" cy="548640"/>
          </a:xfrm>
          <a:prstGeom prst="ellipse">
            <a:avLst/>
          </a:prstGeom>
          <a:solidFill>
            <a:srgbClr val="FFFFFF"/>
          </a:solidFill>
          <a:ln/>
        </p:spPr>
      </p:sp>
      <p:pic>
        <p:nvPicPr>
          <p:cNvPr id="26" name="Image 10" descr="preencoded.png">    </p:cNvPr>
          <p:cNvPicPr>
            <a:picLocks noChangeAspect="1"/>
          </p:cNvPicPr>
          <p:nvPr/>
        </p:nvPicPr>
        <p:blipFill>
          <a:blip r:embed="rId11"/>
          <a:stretch>
            <a:fillRect/>
          </a:stretch>
        </p:blipFill>
        <p:spPr>
          <a:xfrm>
            <a:off x="8065008" y="4224528"/>
            <a:ext cx="329184" cy="329184"/>
          </a:xfrm>
          <a:prstGeom prst="rect">
            <a:avLst/>
          </a:prstGeom>
        </p:spPr>
      </p:pic>
      <p:sp>
        <p:nvSpPr>
          <p:cNvPr id="27" name="Text 14"/>
          <p:cNvSpPr txBox="1"/>
          <p:nvPr/>
        </p:nvSpPr>
        <p:spPr>
          <a:xfrm>
            <a:off x="822960" y="5852160"/>
            <a:ext cx="7315200" cy="365760"/>
          </a:xfrm>
          <a:prstGeom prst="rect">
            <a:avLst/>
          </a:prstGeom>
          <a:noFill/>
          <a:ln/>
        </p:spPr>
        <p:txBody>
          <a:bodyPr wrap="square" lIns="0" tIns="0" rIns="0" bIns="0" rtlCol="0" anchor="t"/>
          <a:lstStyle/>
          <a:p>
            <a:pPr indent="0" marL="0">
              <a:buNone/>
            </a:pPr>
            <a:r>
              <a:rPr lang="en-US" sz="1200" dirty="0">
                <a:solidFill>
                  <a:srgbClr val="8FD3CF"/>
                </a:solidFill>
                <a:latin typeface="Meiryo UI" pitchFamily="34" charset="0"/>
                <a:ea typeface="Meiryo UI" pitchFamily="34" charset="-122"/>
                <a:cs typeface="Meiryo UI" pitchFamily="34" charset="-120"/>
              </a:rPr>
              <a:t>2026年9月｜検討資料</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548640"/>
          </a:xfrm>
          <a:prstGeom prst="rect">
            <a:avLst/>
          </a:prstGeom>
          <a:noFill/>
          <a:ln/>
        </p:spPr>
        <p:txBody>
          <a:bodyPr wrap="square" lIns="0" tIns="0" rIns="0" bIns="0" rtlCol="0" anchor="ctr"/>
          <a:lstStyle/>
          <a:p>
            <a:pPr indent="0" marL="0">
              <a:buNone/>
            </a:pPr>
            <a:r>
              <a:rPr lang="en-US" sz="2600" b="1" dirty="0">
                <a:solidFill>
                  <a:srgbClr val="1B2A49"/>
                </a:solidFill>
                <a:latin typeface="Meiryo UI" pitchFamily="34" charset="0"/>
                <a:ea typeface="Meiryo UI" pitchFamily="34" charset="-122"/>
                <a:cs typeface="Meiryo UI" pitchFamily="34" charset="-120"/>
              </a:rPr>
              <a:t>本資料について</a:t>
            </a:r>
            <a:endParaRPr lang="en-US" sz="2600" dirty="0"/>
          </a:p>
        </p:txBody>
      </p:sp>
      <p:sp>
        <p:nvSpPr>
          <p:cNvPr id="3" name="Text 1"/>
          <p:cNvSpPr txBox="1"/>
          <p:nvPr/>
        </p:nvSpPr>
        <p:spPr>
          <a:xfrm>
            <a:off x="548640" y="896112"/>
            <a:ext cx="11064240" cy="365760"/>
          </a:xfrm>
          <a:prstGeom prst="rect">
            <a:avLst/>
          </a:prstGeom>
          <a:noFill/>
          <a:ln/>
        </p:spPr>
        <p:txBody>
          <a:bodyPr wrap="square" lIns="0" tIns="0" rIns="0" bIns="0" rtlCol="0" anchor="ctr"/>
          <a:lstStyle/>
          <a:p>
            <a:pPr indent="0" marL="0">
              <a:buNone/>
            </a:pPr>
            <a:r>
              <a:rPr lang="en-US" sz="1400" dirty="0">
                <a:solidFill>
                  <a:srgbClr val="6B7280"/>
                </a:solidFill>
                <a:latin typeface="Meiryo UI" pitchFamily="34" charset="0"/>
                <a:ea typeface="Meiryo UI" pitchFamily="34" charset="-122"/>
                <a:cs typeface="Meiryo UI" pitchFamily="34" charset="-120"/>
              </a:rPr>
              <a:t>特定の構成を推すものではなく、取りうる選択肢と検討ポイントを並べて整理する</a:t>
            </a:r>
            <a:endParaRPr lang="en-US" sz="1400" dirty="0"/>
          </a:p>
        </p:txBody>
      </p:sp>
      <p:sp>
        <p:nvSpPr>
          <p:cNvPr id="4" name="Text 2"/>
          <p:cNvSpPr txBox="1"/>
          <p:nvPr/>
        </p:nvSpPr>
        <p:spPr>
          <a:xfrm>
            <a:off x="11247120" y="6446520"/>
            <a:ext cx="457200" cy="27432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2</a:t>
            </a:r>
            <a:endParaRPr lang="en-US" sz="900" dirty="0"/>
          </a:p>
        </p:txBody>
      </p:sp>
      <p:sp>
        <p:nvSpPr>
          <p:cNvPr id="5" name="Shape 3"/>
          <p:cNvSpPr/>
          <p:nvPr/>
        </p:nvSpPr>
        <p:spPr>
          <a:xfrm>
            <a:off x="548640" y="1463040"/>
            <a:ext cx="5486400" cy="1828800"/>
          </a:xfrm>
          <a:prstGeom prst="roundRect">
            <a:avLst>
              <a:gd name="adj" fmla="val 3000"/>
            </a:avLst>
          </a:prstGeom>
          <a:solidFill>
            <a:srgbClr val="D9F2F1"/>
          </a:solidFill>
          <a:ln/>
        </p:spPr>
      </p:sp>
      <p:sp>
        <p:nvSpPr>
          <p:cNvPr id="6" name="Shape 4"/>
          <p:cNvSpPr/>
          <p:nvPr/>
        </p:nvSpPr>
        <p:spPr>
          <a:xfrm>
            <a:off x="731520" y="1627632"/>
            <a:ext cx="457200" cy="457200"/>
          </a:xfrm>
          <a:prstGeom prst="ellipse">
            <a:avLst/>
          </a:prstGeom>
          <a:solidFill>
            <a:srgbClr val="FFFFFF"/>
          </a:solidFill>
          <a:ln/>
        </p:spPr>
      </p:sp>
      <p:pic>
        <p:nvPicPr>
          <p:cNvPr id="7" name="Image 0" descr="preencoded.png">    </p:cNvPr>
          <p:cNvPicPr>
            <a:picLocks noChangeAspect="1"/>
          </p:cNvPicPr>
          <p:nvPr/>
        </p:nvPicPr>
        <p:blipFill>
          <a:blip r:embed="rId1"/>
          <a:stretch>
            <a:fillRect/>
          </a:stretch>
        </p:blipFill>
        <p:spPr>
          <a:xfrm>
            <a:off x="822960" y="1719072"/>
            <a:ext cx="274320" cy="274320"/>
          </a:xfrm>
          <a:prstGeom prst="rect">
            <a:avLst/>
          </a:prstGeom>
        </p:spPr>
      </p:pic>
      <p:sp>
        <p:nvSpPr>
          <p:cNvPr id="8" name="Text 5"/>
          <p:cNvSpPr txBox="1"/>
          <p:nvPr/>
        </p:nvSpPr>
        <p:spPr>
          <a:xfrm>
            <a:off x="1280160" y="1627632"/>
            <a:ext cx="3657600" cy="457200"/>
          </a:xfrm>
          <a:prstGeom prst="rect">
            <a:avLst/>
          </a:prstGeom>
          <a:noFill/>
          <a:ln/>
        </p:spPr>
        <p:txBody>
          <a:bodyPr wrap="square" lIns="508" tIns="508" rIns="508" bIns="508" rtlCol="0" anchor="ctr"/>
          <a:lstStyle/>
          <a:p>
            <a:pPr indent="0" marL="0">
              <a:buNone/>
            </a:pPr>
            <a:r>
              <a:rPr lang="en-US" sz="1500" b="1" dirty="0">
                <a:solidFill>
                  <a:srgbClr val="1B2A49"/>
                </a:solidFill>
                <a:latin typeface="Meiryo UI" pitchFamily="34" charset="0"/>
                <a:ea typeface="Meiryo UI" pitchFamily="34" charset="-122"/>
                <a:cs typeface="Meiryo UI" pitchFamily="34" charset="-120"/>
              </a:rPr>
              <a:t>目的</a:t>
            </a:r>
            <a:endParaRPr lang="en-US" sz="1500" dirty="0"/>
          </a:p>
        </p:txBody>
      </p:sp>
      <p:sp>
        <p:nvSpPr>
          <p:cNvPr id="9" name="Text 6"/>
          <p:cNvSpPr txBox="1"/>
          <p:nvPr/>
        </p:nvSpPr>
        <p:spPr>
          <a:xfrm>
            <a:off x="731520" y="2194560"/>
            <a:ext cx="5120640" cy="1005840"/>
          </a:xfrm>
          <a:prstGeom prst="rect">
            <a:avLst/>
          </a:prstGeom>
          <a:noFill/>
          <a:ln/>
        </p:spPr>
        <p:txBody>
          <a:bodyPr wrap="square" lIns="508" tIns="508" rIns="508" bIns="508" rtlCol="0" anchor="t"/>
          <a:lstStyle/>
          <a:p>
            <a:pPr indent="0" marL="0">
              <a:buNone/>
            </a:pPr>
            <a:r>
              <a:rPr lang="en-US" sz="1250" dirty="0">
                <a:solidFill>
                  <a:srgbClr val="2B2B2B"/>
                </a:solidFill>
                <a:latin typeface="Meiryo UI" pitchFamily="34" charset="0"/>
                <a:ea typeface="Meiryo UI" pitchFamily="34" charset="-122"/>
                <a:cs typeface="Meiryo UI" pitchFamily="34" charset="-120"/>
              </a:rPr>
              <a:t>配信の企画工程（商品選定・コピー制作・制作指示）にAIを組み込む際に、どのような構成の選択肢があり、それぞれ何が必要で、選ぶときに何を確認すべきかを整理する。</a:t>
            </a:r>
            <a:endParaRPr lang="en-US" sz="1250" dirty="0"/>
          </a:p>
        </p:txBody>
      </p:sp>
      <p:sp>
        <p:nvSpPr>
          <p:cNvPr id="10" name="Shape 7"/>
          <p:cNvSpPr/>
          <p:nvPr/>
        </p:nvSpPr>
        <p:spPr>
          <a:xfrm>
            <a:off x="548640" y="3474720"/>
            <a:ext cx="5486400" cy="2834640"/>
          </a:xfrm>
          <a:prstGeom prst="roundRect">
            <a:avLst>
              <a:gd name="adj" fmla="val 1935"/>
            </a:avLst>
          </a:prstGeom>
          <a:solidFill>
            <a:srgbClr val="F3F5F8"/>
          </a:solidFill>
          <a:ln/>
        </p:spPr>
      </p:sp>
      <p:sp>
        <p:nvSpPr>
          <p:cNvPr id="11" name="Text 8"/>
          <p:cNvSpPr txBox="1"/>
          <p:nvPr/>
        </p:nvSpPr>
        <p:spPr>
          <a:xfrm>
            <a:off x="731520" y="3584448"/>
            <a:ext cx="4572000" cy="365760"/>
          </a:xfrm>
          <a:prstGeom prst="rect">
            <a:avLst/>
          </a:prstGeom>
          <a:noFill/>
          <a:ln/>
        </p:spPr>
        <p:txBody>
          <a:bodyPr wrap="square" lIns="508" tIns="508" rIns="508" bIns="508" rtlCol="0" anchor="ctr"/>
          <a:lstStyle/>
          <a:p>
            <a:pPr indent="0" marL="0">
              <a:buNone/>
            </a:pPr>
            <a:r>
              <a:rPr lang="en-US" sz="1400" b="1" dirty="0">
                <a:solidFill>
                  <a:srgbClr val="1B2A49"/>
                </a:solidFill>
                <a:latin typeface="Meiryo UI" pitchFamily="34" charset="0"/>
                <a:ea typeface="Meiryo UI" pitchFamily="34" charset="-122"/>
                <a:cs typeface="Meiryo UI" pitchFamily="34" charset="-120"/>
              </a:rPr>
              <a:t>本資料の読み方</a:t>
            </a:r>
            <a:endParaRPr lang="en-US" sz="1400" dirty="0"/>
          </a:p>
        </p:txBody>
      </p:sp>
      <p:sp>
        <p:nvSpPr>
          <p:cNvPr id="12" name="Shape 9"/>
          <p:cNvSpPr/>
          <p:nvPr/>
        </p:nvSpPr>
        <p:spPr>
          <a:xfrm>
            <a:off x="731520" y="4114800"/>
            <a:ext cx="457200" cy="457200"/>
          </a:xfrm>
          <a:prstGeom prst="ellipse">
            <a:avLst/>
          </a:prstGeom>
          <a:solidFill>
            <a:srgbClr val="FFFFFF"/>
          </a:solidFill>
          <a:ln/>
        </p:spPr>
      </p:sp>
      <p:pic>
        <p:nvPicPr>
          <p:cNvPr id="13" name="Image 1" descr="preencoded.png">    </p:cNvPr>
          <p:cNvPicPr>
            <a:picLocks noChangeAspect="1"/>
          </p:cNvPicPr>
          <p:nvPr/>
        </p:nvPicPr>
        <p:blipFill>
          <a:blip r:embed="rId2"/>
          <a:stretch>
            <a:fillRect/>
          </a:stretch>
        </p:blipFill>
        <p:spPr>
          <a:xfrm>
            <a:off x="822960" y="4206240"/>
            <a:ext cx="274320" cy="274320"/>
          </a:xfrm>
          <a:prstGeom prst="rect">
            <a:avLst/>
          </a:prstGeom>
        </p:spPr>
      </p:pic>
      <p:sp>
        <p:nvSpPr>
          <p:cNvPr id="14" name="Text 10"/>
          <p:cNvSpPr txBox="1"/>
          <p:nvPr/>
        </p:nvSpPr>
        <p:spPr>
          <a:xfrm>
            <a:off x="1325880" y="4114800"/>
            <a:ext cx="4572000" cy="457200"/>
          </a:xfrm>
          <a:prstGeom prst="rect">
            <a:avLst/>
          </a:prstGeom>
          <a:noFill/>
          <a:ln/>
        </p:spPr>
        <p:txBody>
          <a:bodyPr wrap="square" lIns="0" tIns="0" rIns="0" bIns="0" rtlCol="0" anchor="ctr"/>
          <a:lstStyle/>
          <a:p>
            <a:pPr indent="0" marL="0">
              <a:buNone/>
            </a:pPr>
            <a:r>
              <a:rPr lang="en-US" sz="1200" dirty="0">
                <a:solidFill>
                  <a:srgbClr val="2B2B2B"/>
                </a:solidFill>
                <a:latin typeface="Meiryo UI" pitchFamily="34" charset="0"/>
                <a:ea typeface="Meiryo UI" pitchFamily="34" charset="-122"/>
                <a:cs typeface="Meiryo UI" pitchFamily="34" charset="-120"/>
              </a:rPr>
              <a:t>4つの軸（集約先・管理基盤・自動化の範囲・展開の単位）で選択肢を整理</a:t>
            </a:r>
            <a:endParaRPr lang="en-US" sz="1200" dirty="0"/>
          </a:p>
        </p:txBody>
      </p:sp>
      <p:sp>
        <p:nvSpPr>
          <p:cNvPr id="15" name="Shape 11"/>
          <p:cNvSpPr/>
          <p:nvPr/>
        </p:nvSpPr>
        <p:spPr>
          <a:xfrm>
            <a:off x="731520" y="4800600"/>
            <a:ext cx="457200" cy="457200"/>
          </a:xfrm>
          <a:prstGeom prst="ellipse">
            <a:avLst/>
          </a:prstGeom>
          <a:solidFill>
            <a:srgbClr val="FFFFFF"/>
          </a:solidFill>
          <a:ln/>
        </p:spPr>
      </p:sp>
      <p:pic>
        <p:nvPicPr>
          <p:cNvPr id="16" name="Image 2" descr="preencoded.png">    </p:cNvPr>
          <p:cNvPicPr>
            <a:picLocks noChangeAspect="1"/>
          </p:cNvPicPr>
          <p:nvPr/>
        </p:nvPicPr>
        <p:blipFill>
          <a:blip r:embed="rId3"/>
          <a:stretch>
            <a:fillRect/>
          </a:stretch>
        </p:blipFill>
        <p:spPr>
          <a:xfrm>
            <a:off x="822960" y="4892040"/>
            <a:ext cx="274320" cy="274320"/>
          </a:xfrm>
          <a:prstGeom prst="rect">
            <a:avLst/>
          </a:prstGeom>
        </p:spPr>
      </p:pic>
      <p:sp>
        <p:nvSpPr>
          <p:cNvPr id="17" name="Text 12"/>
          <p:cNvSpPr txBox="1"/>
          <p:nvPr/>
        </p:nvSpPr>
        <p:spPr>
          <a:xfrm>
            <a:off x="1325880" y="4800600"/>
            <a:ext cx="4572000" cy="457200"/>
          </a:xfrm>
          <a:prstGeom prst="rect">
            <a:avLst/>
          </a:prstGeom>
          <a:noFill/>
          <a:ln/>
        </p:spPr>
        <p:txBody>
          <a:bodyPr wrap="square" lIns="0" tIns="0" rIns="0" bIns="0" rtlCol="0" anchor="ctr"/>
          <a:lstStyle/>
          <a:p>
            <a:pPr indent="0" marL="0">
              <a:buNone/>
            </a:pPr>
            <a:r>
              <a:rPr lang="en-US" sz="1200" dirty="0">
                <a:solidFill>
                  <a:srgbClr val="2B2B2B"/>
                </a:solidFill>
                <a:latin typeface="Meiryo UI" pitchFamily="34" charset="0"/>
                <a:ea typeface="Meiryo UI" pitchFamily="34" charset="-122"/>
                <a:cs typeface="Meiryo UI" pitchFamily="34" charset="-120"/>
              </a:rPr>
              <a:t>各パターンは構成図・必要な機能・特徴・留意点・検討ポイントで説明</a:t>
            </a:r>
            <a:endParaRPr lang="en-US" sz="1200" dirty="0"/>
          </a:p>
        </p:txBody>
      </p:sp>
      <p:sp>
        <p:nvSpPr>
          <p:cNvPr id="18" name="Shape 13"/>
          <p:cNvSpPr/>
          <p:nvPr/>
        </p:nvSpPr>
        <p:spPr>
          <a:xfrm>
            <a:off x="731520" y="5486400"/>
            <a:ext cx="457200" cy="457200"/>
          </a:xfrm>
          <a:prstGeom prst="ellipse">
            <a:avLst/>
          </a:prstGeom>
          <a:solidFill>
            <a:srgbClr val="FFFFFF"/>
          </a:solidFill>
          <a:ln/>
        </p:spPr>
      </p:sp>
      <p:pic>
        <p:nvPicPr>
          <p:cNvPr id="19" name="Image 3" descr="preencoded.png">    </p:cNvPr>
          <p:cNvPicPr>
            <a:picLocks noChangeAspect="1"/>
          </p:cNvPicPr>
          <p:nvPr/>
        </p:nvPicPr>
        <p:blipFill>
          <a:blip r:embed="rId4"/>
          <a:stretch>
            <a:fillRect/>
          </a:stretch>
        </p:blipFill>
        <p:spPr>
          <a:xfrm>
            <a:off x="822960" y="5577840"/>
            <a:ext cx="274320" cy="274320"/>
          </a:xfrm>
          <a:prstGeom prst="rect">
            <a:avLst/>
          </a:prstGeom>
        </p:spPr>
      </p:pic>
      <p:sp>
        <p:nvSpPr>
          <p:cNvPr id="20" name="Text 14"/>
          <p:cNvSpPr txBox="1"/>
          <p:nvPr/>
        </p:nvSpPr>
        <p:spPr>
          <a:xfrm>
            <a:off x="1325880" y="5486400"/>
            <a:ext cx="4572000" cy="457200"/>
          </a:xfrm>
          <a:prstGeom prst="rect">
            <a:avLst/>
          </a:prstGeom>
          <a:noFill/>
          <a:ln/>
        </p:spPr>
        <p:txBody>
          <a:bodyPr wrap="square" lIns="0" tIns="0" rIns="0" bIns="0" rtlCol="0" anchor="ctr"/>
          <a:lstStyle/>
          <a:p>
            <a:pPr indent="0" marL="0">
              <a:buNone/>
            </a:pPr>
            <a:r>
              <a:rPr lang="en-US" sz="1200" dirty="0">
                <a:solidFill>
                  <a:srgbClr val="2B2B2B"/>
                </a:solidFill>
                <a:latin typeface="Meiryo UI" pitchFamily="34" charset="0"/>
                <a:ea typeface="Meiryo UI" pitchFamily="34" charset="-122"/>
                <a:cs typeface="Meiryo UI" pitchFamily="34" charset="-120"/>
              </a:rPr>
              <a:t>最後に、判断に必要な要件と検証の候補をまとめる</a:t>
            </a:r>
            <a:endParaRPr lang="en-US" sz="1200" dirty="0"/>
          </a:p>
        </p:txBody>
      </p:sp>
      <p:sp>
        <p:nvSpPr>
          <p:cNvPr id="21" name="Text 15"/>
          <p:cNvSpPr txBox="1"/>
          <p:nvPr/>
        </p:nvSpPr>
        <p:spPr>
          <a:xfrm>
            <a:off x="6400800" y="1463040"/>
            <a:ext cx="4572000" cy="365760"/>
          </a:xfrm>
          <a:prstGeom prst="rect">
            <a:avLst/>
          </a:prstGeom>
          <a:noFill/>
          <a:ln/>
        </p:spPr>
        <p:txBody>
          <a:bodyPr wrap="square" lIns="508" tIns="508" rIns="508" bIns="508" rtlCol="0" anchor="ctr"/>
          <a:lstStyle/>
          <a:p>
            <a:pPr indent="0" marL="0">
              <a:buNone/>
            </a:pPr>
            <a:r>
              <a:rPr lang="en-US" sz="1400" b="1" dirty="0">
                <a:solidFill>
                  <a:srgbClr val="1B2A49"/>
                </a:solidFill>
                <a:latin typeface="Meiryo UI" pitchFamily="34" charset="0"/>
                <a:ea typeface="Meiryo UI" pitchFamily="34" charset="-122"/>
                <a:cs typeface="Meiryo UI" pitchFamily="34" charset="-120"/>
              </a:rPr>
              <a:t>目次</a:t>
            </a:r>
            <a:endParaRPr lang="en-US" sz="1400" dirty="0"/>
          </a:p>
        </p:txBody>
      </p:sp>
      <p:sp>
        <p:nvSpPr>
          <p:cNvPr id="22" name="Shape 16"/>
          <p:cNvSpPr/>
          <p:nvPr/>
        </p:nvSpPr>
        <p:spPr>
          <a:xfrm>
            <a:off x="6400800" y="1920240"/>
            <a:ext cx="384048" cy="384048"/>
          </a:xfrm>
          <a:prstGeom prst="ellipse">
            <a:avLst/>
          </a:prstGeom>
          <a:solidFill>
            <a:srgbClr val="0E9F9A"/>
          </a:solidFill>
          <a:ln/>
        </p:spPr>
      </p:sp>
      <p:sp>
        <p:nvSpPr>
          <p:cNvPr id="23" name="Text 17"/>
          <p:cNvSpPr txBox="1"/>
          <p:nvPr/>
        </p:nvSpPr>
        <p:spPr>
          <a:xfrm>
            <a:off x="6400800" y="1920240"/>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1</a:t>
            </a:r>
            <a:endParaRPr lang="en-US" sz="1100" dirty="0"/>
          </a:p>
        </p:txBody>
      </p:sp>
      <p:sp>
        <p:nvSpPr>
          <p:cNvPr id="24" name="Text 18"/>
          <p:cNvSpPr txBox="1"/>
          <p:nvPr/>
        </p:nvSpPr>
        <p:spPr>
          <a:xfrm>
            <a:off x="6949440" y="1920240"/>
            <a:ext cx="4663440" cy="384048"/>
          </a:xfrm>
          <a:prstGeom prst="rect">
            <a:avLst/>
          </a:prstGeom>
          <a:noFill/>
          <a:ln/>
        </p:spPr>
        <p:txBody>
          <a:bodyPr wrap="square" lIns="508" tIns="508" rIns="508" bIns="508" rtlCol="0" anchor="ctr"/>
          <a:lstStyle/>
          <a:p>
            <a:pPr indent="0" marL="0">
              <a:buNone/>
            </a:pPr>
            <a:r>
              <a:rPr lang="en-US" sz="1300" dirty="0">
                <a:solidFill>
                  <a:srgbClr val="2B2B2B"/>
                </a:solidFill>
                <a:latin typeface="Meiryo UI" pitchFamily="34" charset="0"/>
                <a:ea typeface="Meiryo UI" pitchFamily="34" charset="-122"/>
                <a:cs typeface="Meiryo UI" pitchFamily="34" charset="-120"/>
              </a:rPr>
              <a:t>現状と検討の枠組み（現状・4つの工程・4つの軸）</a:t>
            </a:r>
            <a:endParaRPr lang="en-US" sz="1300" dirty="0"/>
          </a:p>
        </p:txBody>
      </p:sp>
      <p:sp>
        <p:nvSpPr>
          <p:cNvPr id="25" name="Shape 19"/>
          <p:cNvSpPr/>
          <p:nvPr/>
        </p:nvSpPr>
        <p:spPr>
          <a:xfrm>
            <a:off x="6400800" y="2523744"/>
            <a:ext cx="384048" cy="384048"/>
          </a:xfrm>
          <a:prstGeom prst="ellipse">
            <a:avLst/>
          </a:prstGeom>
          <a:solidFill>
            <a:srgbClr val="0E9F9A"/>
          </a:solidFill>
          <a:ln/>
        </p:spPr>
      </p:sp>
      <p:sp>
        <p:nvSpPr>
          <p:cNvPr id="26" name="Text 20"/>
          <p:cNvSpPr txBox="1"/>
          <p:nvPr/>
        </p:nvSpPr>
        <p:spPr>
          <a:xfrm>
            <a:off x="6400800" y="2523744"/>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2</a:t>
            </a:r>
            <a:endParaRPr lang="en-US" sz="1100" dirty="0"/>
          </a:p>
        </p:txBody>
      </p:sp>
      <p:sp>
        <p:nvSpPr>
          <p:cNvPr id="27" name="Text 21"/>
          <p:cNvSpPr txBox="1"/>
          <p:nvPr/>
        </p:nvSpPr>
        <p:spPr>
          <a:xfrm>
            <a:off x="6949440" y="2523744"/>
            <a:ext cx="4663440" cy="384048"/>
          </a:xfrm>
          <a:prstGeom prst="rect">
            <a:avLst/>
          </a:prstGeom>
          <a:noFill/>
          <a:ln/>
        </p:spPr>
        <p:txBody>
          <a:bodyPr wrap="square" lIns="508" tIns="508" rIns="508" bIns="508" rtlCol="0" anchor="ctr"/>
          <a:lstStyle/>
          <a:p>
            <a:pPr indent="0" marL="0">
              <a:buNone/>
            </a:pPr>
            <a:r>
              <a:rPr lang="en-US" sz="1300" dirty="0">
                <a:solidFill>
                  <a:srgbClr val="2B2B2B"/>
                </a:solidFill>
                <a:latin typeface="Meiryo UI" pitchFamily="34" charset="0"/>
                <a:ea typeface="Meiryo UI" pitchFamily="34" charset="-122"/>
                <a:cs typeface="Meiryo UI" pitchFamily="34" charset="-120"/>
              </a:rPr>
              <a:t>構成パターンの全体像と比較（12案・コスト構造）</a:t>
            </a:r>
            <a:endParaRPr lang="en-US" sz="1300" dirty="0"/>
          </a:p>
        </p:txBody>
      </p:sp>
      <p:sp>
        <p:nvSpPr>
          <p:cNvPr id="28" name="Shape 22"/>
          <p:cNvSpPr/>
          <p:nvPr/>
        </p:nvSpPr>
        <p:spPr>
          <a:xfrm>
            <a:off x="6400800" y="3127248"/>
            <a:ext cx="384048" cy="384048"/>
          </a:xfrm>
          <a:prstGeom prst="ellipse">
            <a:avLst/>
          </a:prstGeom>
          <a:solidFill>
            <a:srgbClr val="0E9F9A"/>
          </a:solidFill>
          <a:ln/>
        </p:spPr>
      </p:sp>
      <p:sp>
        <p:nvSpPr>
          <p:cNvPr id="29" name="Text 23"/>
          <p:cNvSpPr txBox="1"/>
          <p:nvPr/>
        </p:nvSpPr>
        <p:spPr>
          <a:xfrm>
            <a:off x="6400800" y="3127248"/>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3</a:t>
            </a:r>
            <a:endParaRPr lang="en-US" sz="1100" dirty="0"/>
          </a:p>
        </p:txBody>
      </p:sp>
      <p:sp>
        <p:nvSpPr>
          <p:cNvPr id="30" name="Text 24"/>
          <p:cNvSpPr txBox="1"/>
          <p:nvPr/>
        </p:nvSpPr>
        <p:spPr>
          <a:xfrm>
            <a:off x="6949440" y="3127248"/>
            <a:ext cx="4663440" cy="384048"/>
          </a:xfrm>
          <a:prstGeom prst="rect">
            <a:avLst/>
          </a:prstGeom>
          <a:noFill/>
          <a:ln/>
        </p:spPr>
        <p:txBody>
          <a:bodyPr wrap="square" lIns="508" tIns="508" rIns="508" bIns="508" rtlCol="0" anchor="ctr"/>
          <a:lstStyle/>
          <a:p>
            <a:pPr indent="0" marL="0">
              <a:buNone/>
            </a:pPr>
            <a:r>
              <a:rPr lang="en-US" sz="1300" dirty="0">
                <a:solidFill>
                  <a:srgbClr val="2B2B2B"/>
                </a:solidFill>
                <a:latin typeface="Meiryo UI" pitchFamily="34" charset="0"/>
                <a:ea typeface="Meiryo UI" pitchFamily="34" charset="-122"/>
                <a:cs typeface="Meiryo UI" pitchFamily="34" charset="-120"/>
              </a:rPr>
              <a:t>共通要素（データ・ナレッジ・運用）</a:t>
            </a:r>
            <a:endParaRPr lang="en-US" sz="1300" dirty="0"/>
          </a:p>
        </p:txBody>
      </p:sp>
      <p:sp>
        <p:nvSpPr>
          <p:cNvPr id="31" name="Shape 25"/>
          <p:cNvSpPr/>
          <p:nvPr/>
        </p:nvSpPr>
        <p:spPr>
          <a:xfrm>
            <a:off x="6400800" y="3730752"/>
            <a:ext cx="384048" cy="384048"/>
          </a:xfrm>
          <a:prstGeom prst="ellipse">
            <a:avLst/>
          </a:prstGeom>
          <a:solidFill>
            <a:srgbClr val="0E9F9A"/>
          </a:solidFill>
          <a:ln/>
        </p:spPr>
      </p:sp>
      <p:sp>
        <p:nvSpPr>
          <p:cNvPr id="32" name="Text 26"/>
          <p:cNvSpPr txBox="1"/>
          <p:nvPr/>
        </p:nvSpPr>
        <p:spPr>
          <a:xfrm>
            <a:off x="6400800" y="3730752"/>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4</a:t>
            </a:r>
            <a:endParaRPr lang="en-US" sz="1100" dirty="0"/>
          </a:p>
        </p:txBody>
      </p:sp>
      <p:sp>
        <p:nvSpPr>
          <p:cNvPr id="33" name="Text 27"/>
          <p:cNvSpPr txBox="1"/>
          <p:nvPr/>
        </p:nvSpPr>
        <p:spPr>
          <a:xfrm>
            <a:off x="6949440" y="3730752"/>
            <a:ext cx="4663440" cy="384048"/>
          </a:xfrm>
          <a:prstGeom prst="rect">
            <a:avLst/>
          </a:prstGeom>
          <a:noFill/>
          <a:ln/>
        </p:spPr>
        <p:txBody>
          <a:bodyPr wrap="square" lIns="508" tIns="508" rIns="508" bIns="508" rtlCol="0" anchor="ctr"/>
          <a:lstStyle/>
          <a:p>
            <a:pPr indent="0" marL="0">
              <a:buNone/>
            </a:pPr>
            <a:r>
              <a:rPr lang="en-US" sz="1300" dirty="0">
                <a:solidFill>
                  <a:srgbClr val="2B2B2B"/>
                </a:solidFill>
                <a:latin typeface="Meiryo UI" pitchFamily="34" charset="0"/>
                <a:ea typeface="Meiryo UI" pitchFamily="34" charset="-122"/>
                <a:cs typeface="Meiryo UI" pitchFamily="34" charset="-120"/>
              </a:rPr>
              <a:t>各パターンの詳細（A1〜A7、H1、B1〜B3、C1）</a:t>
            </a:r>
            <a:endParaRPr lang="en-US" sz="1300" dirty="0"/>
          </a:p>
        </p:txBody>
      </p:sp>
      <p:sp>
        <p:nvSpPr>
          <p:cNvPr id="34" name="Shape 28"/>
          <p:cNvSpPr/>
          <p:nvPr/>
        </p:nvSpPr>
        <p:spPr>
          <a:xfrm>
            <a:off x="6400800" y="4334256"/>
            <a:ext cx="384048" cy="384048"/>
          </a:xfrm>
          <a:prstGeom prst="ellipse">
            <a:avLst/>
          </a:prstGeom>
          <a:solidFill>
            <a:srgbClr val="0E9F9A"/>
          </a:solidFill>
          <a:ln/>
        </p:spPr>
      </p:sp>
      <p:sp>
        <p:nvSpPr>
          <p:cNvPr id="35" name="Text 29"/>
          <p:cNvSpPr txBox="1"/>
          <p:nvPr/>
        </p:nvSpPr>
        <p:spPr>
          <a:xfrm>
            <a:off x="6400800" y="4334256"/>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5</a:t>
            </a:r>
            <a:endParaRPr lang="en-US" sz="1100" dirty="0"/>
          </a:p>
        </p:txBody>
      </p:sp>
      <p:sp>
        <p:nvSpPr>
          <p:cNvPr id="36" name="Text 30"/>
          <p:cNvSpPr txBox="1"/>
          <p:nvPr/>
        </p:nvSpPr>
        <p:spPr>
          <a:xfrm>
            <a:off x="6949440" y="4334256"/>
            <a:ext cx="4663440" cy="384048"/>
          </a:xfrm>
          <a:prstGeom prst="rect">
            <a:avLst/>
          </a:prstGeom>
          <a:noFill/>
          <a:ln/>
        </p:spPr>
        <p:txBody>
          <a:bodyPr wrap="square" lIns="508" tIns="508" rIns="508" bIns="508" rtlCol="0" anchor="ctr"/>
          <a:lstStyle/>
          <a:p>
            <a:pPr indent="0" marL="0">
              <a:buNone/>
            </a:pPr>
            <a:r>
              <a:rPr lang="en-US" sz="1300" dirty="0">
                <a:solidFill>
                  <a:srgbClr val="2B2B2B"/>
                </a:solidFill>
                <a:latin typeface="Meiryo UI" pitchFamily="34" charset="0"/>
                <a:ea typeface="Meiryo UI" pitchFamily="34" charset="-122"/>
                <a:cs typeface="Meiryo UI" pitchFamily="34" charset="-120"/>
              </a:rPr>
              <a:t>個別論点（リアルタイムSQL、Airtable連携、code apps、Gemini）</a:t>
            </a:r>
            <a:endParaRPr lang="en-US" sz="1300" dirty="0"/>
          </a:p>
        </p:txBody>
      </p:sp>
      <p:sp>
        <p:nvSpPr>
          <p:cNvPr id="37" name="Shape 31"/>
          <p:cNvSpPr/>
          <p:nvPr/>
        </p:nvSpPr>
        <p:spPr>
          <a:xfrm>
            <a:off x="6400800" y="4937760"/>
            <a:ext cx="384048" cy="384048"/>
          </a:xfrm>
          <a:prstGeom prst="ellipse">
            <a:avLst/>
          </a:prstGeom>
          <a:solidFill>
            <a:srgbClr val="0E9F9A"/>
          </a:solidFill>
          <a:ln/>
        </p:spPr>
      </p:sp>
      <p:sp>
        <p:nvSpPr>
          <p:cNvPr id="38" name="Text 32"/>
          <p:cNvSpPr txBox="1"/>
          <p:nvPr/>
        </p:nvSpPr>
        <p:spPr>
          <a:xfrm>
            <a:off x="6400800" y="4937760"/>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6</a:t>
            </a:r>
            <a:endParaRPr lang="en-US" sz="1100" dirty="0"/>
          </a:p>
        </p:txBody>
      </p:sp>
      <p:sp>
        <p:nvSpPr>
          <p:cNvPr id="39" name="Text 33"/>
          <p:cNvSpPr txBox="1"/>
          <p:nvPr/>
        </p:nvSpPr>
        <p:spPr>
          <a:xfrm>
            <a:off x="6949440" y="4937760"/>
            <a:ext cx="4663440" cy="384048"/>
          </a:xfrm>
          <a:prstGeom prst="rect">
            <a:avLst/>
          </a:prstGeom>
          <a:noFill/>
          <a:ln/>
        </p:spPr>
        <p:txBody>
          <a:bodyPr wrap="square" lIns="508" tIns="508" rIns="508" bIns="508" rtlCol="0" anchor="ctr"/>
          <a:lstStyle/>
          <a:p>
            <a:pPr indent="0" marL="0">
              <a:buNone/>
            </a:pPr>
            <a:r>
              <a:rPr lang="en-US" sz="1300" dirty="0">
                <a:solidFill>
                  <a:srgbClr val="2B2B2B"/>
                </a:solidFill>
                <a:latin typeface="Meiryo UI" pitchFamily="34" charset="0"/>
                <a:ea typeface="Meiryo UI" pitchFamily="34" charset="-122"/>
                <a:cs typeface="Meiryo UI" pitchFamily="34" charset="-120"/>
              </a:rPr>
              <a:t>判断材料（要件・検証候補・進め方の例）</a:t>
            </a:r>
            <a:endParaRPr lang="en-US" sz="1300" dirty="0"/>
          </a:p>
        </p:txBody>
      </p:sp>
      <p:sp>
        <p:nvSpPr>
          <p:cNvPr id="40" name="Shape 34"/>
          <p:cNvSpPr/>
          <p:nvPr/>
        </p:nvSpPr>
        <p:spPr>
          <a:xfrm>
            <a:off x="6400800" y="5541264"/>
            <a:ext cx="384048" cy="384048"/>
          </a:xfrm>
          <a:prstGeom prst="ellipse">
            <a:avLst/>
          </a:prstGeom>
          <a:solidFill>
            <a:srgbClr val="0E9F9A"/>
          </a:solidFill>
          <a:ln/>
        </p:spPr>
      </p:sp>
      <p:sp>
        <p:nvSpPr>
          <p:cNvPr id="41" name="Text 35"/>
          <p:cNvSpPr txBox="1"/>
          <p:nvPr/>
        </p:nvSpPr>
        <p:spPr>
          <a:xfrm>
            <a:off x="6400800" y="5541264"/>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7</a:t>
            </a:r>
            <a:endParaRPr lang="en-US" sz="1100" dirty="0"/>
          </a:p>
        </p:txBody>
      </p:sp>
      <p:sp>
        <p:nvSpPr>
          <p:cNvPr id="42" name="Text 36"/>
          <p:cNvSpPr txBox="1"/>
          <p:nvPr/>
        </p:nvSpPr>
        <p:spPr>
          <a:xfrm>
            <a:off x="6949440" y="5541264"/>
            <a:ext cx="4663440" cy="384048"/>
          </a:xfrm>
          <a:prstGeom prst="rect">
            <a:avLst/>
          </a:prstGeom>
          <a:noFill/>
          <a:ln/>
        </p:spPr>
        <p:txBody>
          <a:bodyPr wrap="square" lIns="508" tIns="508" rIns="508" bIns="508" rtlCol="0" anchor="ctr"/>
          <a:lstStyle/>
          <a:p>
            <a:pPr indent="0" marL="0">
              <a:buNone/>
            </a:pPr>
            <a:r>
              <a:rPr lang="en-US" sz="1300" dirty="0">
                <a:solidFill>
                  <a:srgbClr val="2B2B2B"/>
                </a:solidFill>
                <a:latin typeface="Meiryo UI" pitchFamily="34" charset="0"/>
                <a:ea typeface="Meiryo UI" pitchFamily="34" charset="-122"/>
                <a:cs typeface="Meiryo UI" pitchFamily="34" charset="-120"/>
              </a:rPr>
              <a:t>付録（用語集）</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548640"/>
          </a:xfrm>
          <a:prstGeom prst="rect">
            <a:avLst/>
          </a:prstGeom>
          <a:noFill/>
          <a:ln/>
        </p:spPr>
        <p:txBody>
          <a:bodyPr wrap="square" lIns="0" tIns="0" rIns="0" bIns="0" rtlCol="0" anchor="ctr"/>
          <a:lstStyle/>
          <a:p>
            <a:pPr indent="0" marL="0">
              <a:buNone/>
            </a:pPr>
            <a:r>
              <a:rPr lang="en-US" sz="2600" b="1" dirty="0">
                <a:solidFill>
                  <a:srgbClr val="1B2A49"/>
                </a:solidFill>
                <a:latin typeface="Meiryo UI" pitchFamily="34" charset="0"/>
                <a:ea typeface="Meiryo UI" pitchFamily="34" charset="-122"/>
                <a:cs typeface="Meiryo UI" pitchFamily="34" charset="-120"/>
              </a:rPr>
              <a:t>現状の業務フローと課題</a:t>
            </a:r>
            <a:endParaRPr lang="en-US" sz="2600" dirty="0"/>
          </a:p>
        </p:txBody>
      </p:sp>
      <p:sp>
        <p:nvSpPr>
          <p:cNvPr id="3" name="Text 1"/>
          <p:cNvSpPr txBox="1"/>
          <p:nvPr/>
        </p:nvSpPr>
        <p:spPr>
          <a:xfrm>
            <a:off x="548640" y="896112"/>
            <a:ext cx="11064240" cy="365760"/>
          </a:xfrm>
          <a:prstGeom prst="rect">
            <a:avLst/>
          </a:prstGeom>
          <a:noFill/>
          <a:ln/>
        </p:spPr>
        <p:txBody>
          <a:bodyPr wrap="square" lIns="0" tIns="0" rIns="0" bIns="0" rtlCol="0" anchor="ctr"/>
          <a:lstStyle/>
          <a:p>
            <a:pPr indent="0" marL="0">
              <a:buNone/>
            </a:pPr>
            <a:r>
              <a:rPr lang="en-US" sz="1400" dirty="0">
                <a:solidFill>
                  <a:srgbClr val="6B7280"/>
                </a:solidFill>
                <a:latin typeface="Meiryo UI" pitchFamily="34" charset="0"/>
                <a:ea typeface="Meiryo UI" pitchFamily="34" charset="-122"/>
                <a:cs typeface="Meiryo UI" pitchFamily="34" charset="-120"/>
              </a:rPr>
              <a:t>SharePointの資料と、別途提供される売上・在庫資料をもとに、マーケターがほぼ毎日、手作業で企画に落とし込んでいる</a:t>
            </a:r>
            <a:endParaRPr lang="en-US" sz="1400" dirty="0"/>
          </a:p>
        </p:txBody>
      </p:sp>
      <p:sp>
        <p:nvSpPr>
          <p:cNvPr id="4" name="Text 2"/>
          <p:cNvSpPr txBox="1"/>
          <p:nvPr/>
        </p:nvSpPr>
        <p:spPr>
          <a:xfrm>
            <a:off x="7498080" y="91440"/>
            <a:ext cx="4114800" cy="22860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1. 現状と検討の枠組み</a:t>
            </a:r>
            <a:endParaRPr lang="en-US" sz="900" dirty="0"/>
          </a:p>
        </p:txBody>
      </p:sp>
      <p:sp>
        <p:nvSpPr>
          <p:cNvPr id="5" name="Text 3"/>
          <p:cNvSpPr txBox="1"/>
          <p:nvPr/>
        </p:nvSpPr>
        <p:spPr>
          <a:xfrm>
            <a:off x="11247120" y="6446520"/>
            <a:ext cx="457200" cy="27432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3</a:t>
            </a:r>
            <a:endParaRPr lang="en-US" sz="900" dirty="0"/>
          </a:p>
        </p:txBody>
      </p:sp>
      <p:sp>
        <p:nvSpPr>
          <p:cNvPr id="6" name="Shape 4"/>
          <p:cNvSpPr/>
          <p:nvPr/>
        </p:nvSpPr>
        <p:spPr>
          <a:xfrm>
            <a:off x="548640" y="1463040"/>
            <a:ext cx="2926080" cy="475488"/>
          </a:xfrm>
          <a:prstGeom prst="roundRect">
            <a:avLst>
              <a:gd name="adj" fmla="val 15385"/>
            </a:avLst>
          </a:prstGeom>
          <a:solidFill>
            <a:srgbClr val="E3EAF5"/>
          </a:solidFill>
          <a:ln/>
        </p:spPr>
      </p:sp>
      <p:pic>
        <p:nvPicPr>
          <p:cNvPr id="7" name="Image 0" descr="preencoded.png">    </p:cNvPr>
          <p:cNvPicPr>
            <a:picLocks noChangeAspect="1"/>
          </p:cNvPicPr>
          <p:nvPr/>
        </p:nvPicPr>
        <p:blipFill>
          <a:blip r:embed="rId1"/>
          <a:stretch>
            <a:fillRect/>
          </a:stretch>
        </p:blipFill>
        <p:spPr>
          <a:xfrm>
            <a:off x="658368" y="1545336"/>
            <a:ext cx="310896" cy="310896"/>
          </a:xfrm>
          <a:prstGeom prst="rect">
            <a:avLst/>
          </a:prstGeom>
        </p:spPr>
      </p:pic>
      <p:sp>
        <p:nvSpPr>
          <p:cNvPr id="8" name="Text 5"/>
          <p:cNvSpPr txBox="1"/>
          <p:nvPr/>
        </p:nvSpPr>
        <p:spPr>
          <a:xfrm>
            <a:off x="1060704" y="1463040"/>
            <a:ext cx="2368296" cy="475488"/>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マーケティングポリシー</a:t>
            </a:r>
            <a:endParaRPr lang="en-US" sz="1050" dirty="0"/>
          </a:p>
          <a:p>
            <a:pPr algn="l" indent="0" marL="0">
              <a:buNone/>
            </a:pPr>
            <a:r>
              <a:rPr lang="en-US" sz="850" dirty="0">
                <a:solidFill>
                  <a:srgbClr val="6B7280"/>
                </a:solidFill>
                <a:latin typeface="Meiryo UI" pitchFamily="34" charset="0"/>
                <a:ea typeface="Meiryo UI" pitchFamily="34" charset="-122"/>
                <a:cs typeface="Meiryo UI" pitchFamily="34" charset="-120"/>
              </a:rPr>
              <a:t>SharePoint（Excel）</a:t>
            </a:r>
            <a:endParaRPr lang="en-US" sz="1050" dirty="0"/>
          </a:p>
        </p:txBody>
      </p:sp>
      <p:sp>
        <p:nvSpPr>
          <p:cNvPr id="9" name="Shape 6"/>
          <p:cNvSpPr/>
          <p:nvPr/>
        </p:nvSpPr>
        <p:spPr>
          <a:xfrm>
            <a:off x="3520440" y="1700784"/>
            <a:ext cx="548640" cy="996696"/>
          </a:xfrm>
          <a:prstGeom prst="line">
            <a:avLst/>
          </a:prstGeom>
          <a:noFill/>
          <a:ln w="22225">
            <a:solidFill>
              <a:srgbClr val="9AA5B4"/>
            </a:solidFill>
            <a:prstDash val="solid"/>
            <a:tailEnd type="triangle"/>
          </a:ln>
        </p:spPr>
      </p:sp>
      <p:sp>
        <p:nvSpPr>
          <p:cNvPr id="10" name="Shape 7"/>
          <p:cNvSpPr/>
          <p:nvPr/>
        </p:nvSpPr>
        <p:spPr>
          <a:xfrm>
            <a:off x="548640" y="2011680"/>
            <a:ext cx="2926080" cy="475488"/>
          </a:xfrm>
          <a:prstGeom prst="roundRect">
            <a:avLst>
              <a:gd name="adj" fmla="val 15385"/>
            </a:avLst>
          </a:prstGeom>
          <a:solidFill>
            <a:srgbClr val="E3EAF5"/>
          </a:solidFill>
          <a:ln/>
        </p:spPr>
      </p:sp>
      <p:pic>
        <p:nvPicPr>
          <p:cNvPr id="11" name="Image 1" descr="preencoded.png">    </p:cNvPr>
          <p:cNvPicPr>
            <a:picLocks noChangeAspect="1"/>
          </p:cNvPicPr>
          <p:nvPr/>
        </p:nvPicPr>
        <p:blipFill>
          <a:blip r:embed="rId2"/>
          <a:stretch>
            <a:fillRect/>
          </a:stretch>
        </p:blipFill>
        <p:spPr>
          <a:xfrm>
            <a:off x="658368" y="2093976"/>
            <a:ext cx="310896" cy="310896"/>
          </a:xfrm>
          <a:prstGeom prst="rect">
            <a:avLst/>
          </a:prstGeom>
        </p:spPr>
      </p:pic>
      <p:sp>
        <p:nvSpPr>
          <p:cNvPr id="12" name="Text 8"/>
          <p:cNvSpPr txBox="1"/>
          <p:nvPr/>
        </p:nvSpPr>
        <p:spPr>
          <a:xfrm>
            <a:off x="1060704" y="2011680"/>
            <a:ext cx="2368296" cy="475488"/>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商品マスタ</a:t>
            </a:r>
            <a:endParaRPr lang="en-US" sz="1050" dirty="0"/>
          </a:p>
          <a:p>
            <a:pPr algn="l" indent="0" marL="0">
              <a:buNone/>
            </a:pPr>
            <a:r>
              <a:rPr lang="en-US" sz="850" dirty="0">
                <a:solidFill>
                  <a:srgbClr val="6B7280"/>
                </a:solidFill>
                <a:latin typeface="Meiryo UI" pitchFamily="34" charset="0"/>
                <a:ea typeface="Meiryo UI" pitchFamily="34" charset="-122"/>
                <a:cs typeface="Meiryo UI" pitchFamily="34" charset="-120"/>
              </a:rPr>
              <a:t>SharePoint（社内資料）※Airtableにも取込あり</a:t>
            </a:r>
            <a:endParaRPr lang="en-US" sz="1050" dirty="0"/>
          </a:p>
        </p:txBody>
      </p:sp>
      <p:sp>
        <p:nvSpPr>
          <p:cNvPr id="13" name="Shape 9"/>
          <p:cNvSpPr/>
          <p:nvPr/>
        </p:nvSpPr>
        <p:spPr>
          <a:xfrm>
            <a:off x="3520440" y="2249424"/>
            <a:ext cx="548640" cy="448056"/>
          </a:xfrm>
          <a:prstGeom prst="line">
            <a:avLst/>
          </a:prstGeom>
          <a:noFill/>
          <a:ln w="22225">
            <a:solidFill>
              <a:srgbClr val="9AA5B4"/>
            </a:solidFill>
            <a:prstDash val="solid"/>
            <a:tailEnd type="triangle"/>
          </a:ln>
        </p:spPr>
      </p:sp>
      <p:sp>
        <p:nvSpPr>
          <p:cNvPr id="14" name="Shape 10"/>
          <p:cNvSpPr/>
          <p:nvPr/>
        </p:nvSpPr>
        <p:spPr>
          <a:xfrm>
            <a:off x="548640" y="2560320"/>
            <a:ext cx="2926080" cy="475488"/>
          </a:xfrm>
          <a:prstGeom prst="roundRect">
            <a:avLst>
              <a:gd name="adj" fmla="val 15385"/>
            </a:avLst>
          </a:prstGeom>
          <a:solidFill>
            <a:srgbClr val="E3EAF5"/>
          </a:solidFill>
          <a:ln/>
        </p:spPr>
      </p:sp>
      <p:pic>
        <p:nvPicPr>
          <p:cNvPr id="15" name="Image 2" descr="preencoded.png">    </p:cNvPr>
          <p:cNvPicPr>
            <a:picLocks noChangeAspect="1"/>
          </p:cNvPicPr>
          <p:nvPr/>
        </p:nvPicPr>
        <p:blipFill>
          <a:blip r:embed="rId3"/>
          <a:stretch>
            <a:fillRect/>
          </a:stretch>
        </p:blipFill>
        <p:spPr>
          <a:xfrm>
            <a:off x="658368" y="2642616"/>
            <a:ext cx="310896" cy="310896"/>
          </a:xfrm>
          <a:prstGeom prst="rect">
            <a:avLst/>
          </a:prstGeom>
        </p:spPr>
      </p:pic>
      <p:sp>
        <p:nvSpPr>
          <p:cNvPr id="16" name="Text 11"/>
          <p:cNvSpPr txBox="1"/>
          <p:nvPr/>
        </p:nvSpPr>
        <p:spPr>
          <a:xfrm>
            <a:off x="1060704" y="2560320"/>
            <a:ext cx="2368296" cy="475488"/>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売上・在庫資料</a:t>
            </a:r>
            <a:endParaRPr lang="en-US" sz="1050" dirty="0"/>
          </a:p>
          <a:p>
            <a:pPr algn="l" indent="0" marL="0">
              <a:buNone/>
            </a:pPr>
            <a:r>
              <a:rPr lang="en-US" sz="850" dirty="0">
                <a:solidFill>
                  <a:srgbClr val="6B7280"/>
                </a:solidFill>
                <a:latin typeface="Meiryo UI" pitchFamily="34" charset="0"/>
                <a:ea typeface="Meiryo UI" pitchFamily="34" charset="-122"/>
                <a:cs typeface="Meiryo UI" pitchFamily="34" charset="-120"/>
              </a:rPr>
              <a:t>別途提供されるレポート</a:t>
            </a:r>
            <a:endParaRPr lang="en-US" sz="1050" dirty="0"/>
          </a:p>
        </p:txBody>
      </p:sp>
      <p:sp>
        <p:nvSpPr>
          <p:cNvPr id="17" name="Shape 12"/>
          <p:cNvSpPr/>
          <p:nvPr/>
        </p:nvSpPr>
        <p:spPr>
          <a:xfrm flipV="1">
            <a:off x="3520440" y="2697480"/>
            <a:ext cx="548640" cy="100584"/>
          </a:xfrm>
          <a:prstGeom prst="line">
            <a:avLst/>
          </a:prstGeom>
          <a:noFill/>
          <a:ln w="22225">
            <a:solidFill>
              <a:srgbClr val="9AA5B4"/>
            </a:solidFill>
            <a:prstDash val="solid"/>
            <a:tailEnd type="triangle"/>
          </a:ln>
        </p:spPr>
      </p:sp>
      <p:sp>
        <p:nvSpPr>
          <p:cNvPr id="18" name="Shape 13"/>
          <p:cNvSpPr/>
          <p:nvPr/>
        </p:nvSpPr>
        <p:spPr>
          <a:xfrm>
            <a:off x="548640" y="3108960"/>
            <a:ext cx="2926080" cy="475488"/>
          </a:xfrm>
          <a:prstGeom prst="roundRect">
            <a:avLst>
              <a:gd name="adj" fmla="val 15385"/>
            </a:avLst>
          </a:prstGeom>
          <a:solidFill>
            <a:srgbClr val="E3EAF5"/>
          </a:solidFill>
          <a:ln/>
        </p:spPr>
      </p:sp>
      <p:pic>
        <p:nvPicPr>
          <p:cNvPr id="19" name="Image 3" descr="preencoded.png">    </p:cNvPr>
          <p:cNvPicPr>
            <a:picLocks noChangeAspect="1"/>
          </p:cNvPicPr>
          <p:nvPr/>
        </p:nvPicPr>
        <p:blipFill>
          <a:blip r:embed="rId4"/>
          <a:stretch>
            <a:fillRect/>
          </a:stretch>
        </p:blipFill>
        <p:spPr>
          <a:xfrm>
            <a:off x="658368" y="3191256"/>
            <a:ext cx="310896" cy="310896"/>
          </a:xfrm>
          <a:prstGeom prst="rect">
            <a:avLst/>
          </a:prstGeom>
        </p:spPr>
      </p:pic>
      <p:sp>
        <p:nvSpPr>
          <p:cNvPr id="20" name="Text 14"/>
          <p:cNvSpPr txBox="1"/>
          <p:nvPr/>
        </p:nvSpPr>
        <p:spPr>
          <a:xfrm>
            <a:off x="1060704" y="3108960"/>
            <a:ext cx="2368296" cy="475488"/>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各種マーケ資料</a:t>
            </a:r>
            <a:endParaRPr lang="en-US" sz="1050" dirty="0"/>
          </a:p>
          <a:p>
            <a:pPr algn="l" indent="0" marL="0">
              <a:buNone/>
            </a:pPr>
            <a:r>
              <a:rPr lang="en-US" sz="850" dirty="0">
                <a:solidFill>
                  <a:srgbClr val="6B7280"/>
                </a:solidFill>
                <a:latin typeface="Meiryo UI" pitchFamily="34" charset="0"/>
                <a:ea typeface="Meiryo UI" pitchFamily="34" charset="-122"/>
                <a:cs typeface="Meiryo UI" pitchFamily="34" charset="-120"/>
              </a:rPr>
              <a:t>SharePoint</a:t>
            </a:r>
            <a:endParaRPr lang="en-US" sz="1050" dirty="0"/>
          </a:p>
        </p:txBody>
      </p:sp>
      <p:sp>
        <p:nvSpPr>
          <p:cNvPr id="21" name="Shape 15"/>
          <p:cNvSpPr/>
          <p:nvPr/>
        </p:nvSpPr>
        <p:spPr>
          <a:xfrm flipV="1">
            <a:off x="3520440" y="2697480"/>
            <a:ext cx="548640" cy="649224"/>
          </a:xfrm>
          <a:prstGeom prst="line">
            <a:avLst/>
          </a:prstGeom>
          <a:noFill/>
          <a:ln w="22225">
            <a:solidFill>
              <a:srgbClr val="9AA5B4"/>
            </a:solidFill>
            <a:prstDash val="solid"/>
            <a:tailEnd type="triangle"/>
          </a:ln>
        </p:spPr>
      </p:sp>
      <p:sp>
        <p:nvSpPr>
          <p:cNvPr id="22" name="Shape 16"/>
          <p:cNvSpPr/>
          <p:nvPr/>
        </p:nvSpPr>
        <p:spPr>
          <a:xfrm>
            <a:off x="548640" y="3657600"/>
            <a:ext cx="2926080" cy="548640"/>
          </a:xfrm>
          <a:prstGeom prst="roundRect">
            <a:avLst>
              <a:gd name="adj" fmla="val 13333"/>
            </a:avLst>
          </a:prstGeom>
          <a:solidFill>
            <a:srgbClr val="FFFFFF"/>
          </a:solidFill>
          <a:ln w="12700">
            <a:solidFill>
              <a:srgbClr val="9AA5B4"/>
            </a:solidFill>
            <a:prstDash val="dash"/>
          </a:ln>
        </p:spPr>
      </p:sp>
      <p:pic>
        <p:nvPicPr>
          <p:cNvPr id="23" name="Image 4" descr="preencoded.png">    </p:cNvPr>
          <p:cNvPicPr>
            <a:picLocks noChangeAspect="1"/>
          </p:cNvPicPr>
          <p:nvPr/>
        </p:nvPicPr>
        <p:blipFill>
          <a:blip r:embed="rId5">
            <a:alphaModFix amt="60000"/>
          </a:blip>
          <a:stretch>
            <a:fillRect/>
          </a:stretch>
        </p:blipFill>
        <p:spPr>
          <a:xfrm>
            <a:off x="658368" y="3776472"/>
            <a:ext cx="310896" cy="310896"/>
          </a:xfrm>
          <a:prstGeom prst="rect">
            <a:avLst/>
          </a:prstGeom>
        </p:spPr>
      </p:pic>
      <p:sp>
        <p:nvSpPr>
          <p:cNvPr id="24" name="Text 17"/>
          <p:cNvSpPr txBox="1"/>
          <p:nvPr/>
        </p:nvSpPr>
        <p:spPr>
          <a:xfrm>
            <a:off x="1051560" y="3657600"/>
            <a:ext cx="2395728" cy="548640"/>
          </a:xfrm>
          <a:prstGeom prst="rect">
            <a:avLst/>
          </a:prstGeom>
          <a:noFill/>
          <a:ln/>
        </p:spPr>
        <p:txBody>
          <a:bodyPr wrap="square" lIns="0" tIns="0" rIns="0" bIns="0" rtlCol="0" anchor="ctr"/>
          <a:lstStyle/>
          <a:p>
            <a:pPr indent="0" marL="0">
              <a:buNone/>
            </a:pPr>
            <a:r>
              <a:rPr lang="en-US" sz="950" b="1" dirty="0">
                <a:solidFill>
                  <a:srgbClr val="6B7280"/>
                </a:solidFill>
                <a:latin typeface="Meiryo UI" pitchFamily="34" charset="0"/>
                <a:ea typeface="Meiryo UI" pitchFamily="34" charset="-122"/>
                <a:cs typeface="Meiryo UI" pitchFamily="34" charset="-120"/>
              </a:rPr>
              <a:t>BigQuery（企画では直接参照していない）</a:t>
            </a:r>
            <a:endParaRPr lang="en-US" sz="950" dirty="0"/>
          </a:p>
          <a:p>
            <a:pPr indent="0" marL="0">
              <a:buNone/>
            </a:pPr>
            <a:r>
              <a:rPr lang="en-US" sz="800" dirty="0">
                <a:solidFill>
                  <a:srgbClr val="6B7280"/>
                </a:solidFill>
                <a:latin typeface="Meiryo UI" pitchFamily="34" charset="0"/>
                <a:ea typeface="Meiryo UI" pitchFamily="34" charset="-122"/>
                <a:cs typeface="Meiryo UI" pitchFamily="34" charset="-120"/>
              </a:rPr>
              <a:t>直近の売上・在庫、カテゴリ・タグ、レビュー、天気予報など</a:t>
            </a:r>
            <a:endParaRPr lang="en-US" sz="950" dirty="0"/>
          </a:p>
        </p:txBody>
      </p:sp>
      <p:sp>
        <p:nvSpPr>
          <p:cNvPr id="25" name="Shape 18"/>
          <p:cNvSpPr/>
          <p:nvPr/>
        </p:nvSpPr>
        <p:spPr>
          <a:xfrm>
            <a:off x="4114800" y="1463040"/>
            <a:ext cx="3749040" cy="2560320"/>
          </a:xfrm>
          <a:prstGeom prst="roundRect">
            <a:avLst>
              <a:gd name="adj" fmla="val 2143"/>
            </a:avLst>
          </a:prstGeom>
          <a:solidFill>
            <a:srgbClr val="FDEBD3"/>
          </a:solidFill>
          <a:ln/>
        </p:spPr>
      </p:sp>
      <p:sp>
        <p:nvSpPr>
          <p:cNvPr id="26" name="Shape 19"/>
          <p:cNvSpPr/>
          <p:nvPr/>
        </p:nvSpPr>
        <p:spPr>
          <a:xfrm>
            <a:off x="4251960" y="1554480"/>
            <a:ext cx="420624" cy="420624"/>
          </a:xfrm>
          <a:prstGeom prst="ellipse">
            <a:avLst/>
          </a:prstGeom>
          <a:solidFill>
            <a:srgbClr val="FFFFFF"/>
          </a:solidFill>
          <a:ln/>
        </p:spPr>
      </p:sp>
      <p:pic>
        <p:nvPicPr>
          <p:cNvPr id="27" name="Image 5" descr="preencoded.png">    </p:cNvPr>
          <p:cNvPicPr>
            <a:picLocks noChangeAspect="1"/>
          </p:cNvPicPr>
          <p:nvPr/>
        </p:nvPicPr>
        <p:blipFill>
          <a:blip r:embed="rId6"/>
          <a:stretch>
            <a:fillRect/>
          </a:stretch>
        </p:blipFill>
        <p:spPr>
          <a:xfrm>
            <a:off x="4336085" y="1638605"/>
            <a:ext cx="252374" cy="252374"/>
          </a:xfrm>
          <a:prstGeom prst="rect">
            <a:avLst/>
          </a:prstGeom>
        </p:spPr>
      </p:pic>
      <p:sp>
        <p:nvSpPr>
          <p:cNvPr id="28" name="Text 20"/>
          <p:cNvSpPr txBox="1"/>
          <p:nvPr/>
        </p:nvSpPr>
        <p:spPr>
          <a:xfrm>
            <a:off x="4754880" y="1554480"/>
            <a:ext cx="3017520" cy="420624"/>
          </a:xfrm>
          <a:prstGeom prst="rect">
            <a:avLst/>
          </a:prstGeom>
          <a:noFill/>
          <a:ln/>
        </p:spPr>
        <p:txBody>
          <a:bodyPr wrap="square" lIns="508" tIns="508" rIns="508" bIns="508" rtlCol="0" anchor="ctr"/>
          <a:lstStyle/>
          <a:p>
            <a:pPr indent="0" marL="0">
              <a:buNone/>
            </a:pPr>
            <a:r>
              <a:rPr lang="en-US" sz="1200" b="1" dirty="0">
                <a:solidFill>
                  <a:srgbClr val="1B2A49"/>
                </a:solidFill>
                <a:latin typeface="Meiryo UI" pitchFamily="34" charset="0"/>
                <a:ea typeface="Meiryo UI" pitchFamily="34" charset="-122"/>
                <a:cs typeface="Meiryo UI" pitchFamily="34" charset="-120"/>
              </a:rPr>
              <a:t>マーケターが判断</a:t>
            </a:r>
            <a:endParaRPr lang="en-US" sz="1200" dirty="0"/>
          </a:p>
        </p:txBody>
      </p:sp>
      <p:sp>
        <p:nvSpPr>
          <p:cNvPr id="29" name="Shape 21"/>
          <p:cNvSpPr/>
          <p:nvPr/>
        </p:nvSpPr>
        <p:spPr>
          <a:xfrm>
            <a:off x="4343400" y="2084832"/>
            <a:ext cx="3291840" cy="374904"/>
          </a:xfrm>
          <a:prstGeom prst="roundRect">
            <a:avLst>
              <a:gd name="adj" fmla="val 19512"/>
            </a:avLst>
          </a:prstGeom>
          <a:solidFill>
            <a:srgbClr val="FFFFFF"/>
          </a:solidFill>
          <a:ln w="12700">
            <a:solidFill>
              <a:srgbClr val="D5DBE3"/>
            </a:solidFill>
            <a:prstDash val="solid"/>
          </a:ln>
        </p:spPr>
      </p:sp>
      <p:pic>
        <p:nvPicPr>
          <p:cNvPr id="30" name="Image 6" descr="preencoded.png">    </p:cNvPr>
          <p:cNvPicPr>
            <a:picLocks noChangeAspect="1"/>
          </p:cNvPicPr>
          <p:nvPr/>
        </p:nvPicPr>
        <p:blipFill>
          <a:blip r:embed="rId7"/>
          <a:stretch>
            <a:fillRect/>
          </a:stretch>
        </p:blipFill>
        <p:spPr>
          <a:xfrm>
            <a:off x="4453128" y="2144268"/>
            <a:ext cx="256032" cy="256032"/>
          </a:xfrm>
          <a:prstGeom prst="rect">
            <a:avLst/>
          </a:prstGeom>
        </p:spPr>
      </p:pic>
      <p:sp>
        <p:nvSpPr>
          <p:cNvPr id="31" name="Text 22"/>
          <p:cNvSpPr txBox="1"/>
          <p:nvPr/>
        </p:nvSpPr>
        <p:spPr>
          <a:xfrm>
            <a:off x="4800600" y="2084832"/>
            <a:ext cx="2788920" cy="374904"/>
          </a:xfrm>
          <a:prstGeom prst="rect">
            <a:avLst/>
          </a:prstGeom>
          <a:noFill/>
          <a:ln/>
        </p:spPr>
        <p:txBody>
          <a:bodyPr wrap="square" lIns="0" tIns="0" rIns="0" bIns="0" rtlCol="0" anchor="ctr"/>
          <a:lstStyle/>
          <a:p>
            <a:pPr algn="l" indent="0" marL="0">
              <a:buNone/>
            </a:pPr>
            <a:r>
              <a:rPr lang="en-US" sz="1200" b="1" dirty="0">
                <a:solidFill>
                  <a:srgbClr val="1B2A49"/>
                </a:solidFill>
                <a:latin typeface="Meiryo UI" pitchFamily="34" charset="0"/>
                <a:ea typeface="Meiryo UI" pitchFamily="34" charset="-122"/>
                <a:cs typeface="Meiryo UI" pitchFamily="34" charset="-120"/>
              </a:rPr>
              <a:t>テーマ選定</a:t>
            </a:r>
            <a:endParaRPr lang="en-US" sz="1200" dirty="0"/>
          </a:p>
        </p:txBody>
      </p:sp>
      <p:sp>
        <p:nvSpPr>
          <p:cNvPr id="32" name="Shape 23"/>
          <p:cNvSpPr/>
          <p:nvPr/>
        </p:nvSpPr>
        <p:spPr>
          <a:xfrm>
            <a:off x="4343400" y="2514600"/>
            <a:ext cx="3291840" cy="374904"/>
          </a:xfrm>
          <a:prstGeom prst="roundRect">
            <a:avLst>
              <a:gd name="adj" fmla="val 19512"/>
            </a:avLst>
          </a:prstGeom>
          <a:solidFill>
            <a:srgbClr val="FFFFFF"/>
          </a:solidFill>
          <a:ln w="12700">
            <a:solidFill>
              <a:srgbClr val="D5DBE3"/>
            </a:solidFill>
            <a:prstDash val="solid"/>
          </a:ln>
        </p:spPr>
      </p:sp>
      <p:pic>
        <p:nvPicPr>
          <p:cNvPr id="33" name="Image 7" descr="preencoded.png">    </p:cNvPr>
          <p:cNvPicPr>
            <a:picLocks noChangeAspect="1"/>
          </p:cNvPicPr>
          <p:nvPr/>
        </p:nvPicPr>
        <p:blipFill>
          <a:blip r:embed="rId8"/>
          <a:stretch>
            <a:fillRect/>
          </a:stretch>
        </p:blipFill>
        <p:spPr>
          <a:xfrm>
            <a:off x="4453128" y="2574036"/>
            <a:ext cx="256032" cy="256032"/>
          </a:xfrm>
          <a:prstGeom prst="rect">
            <a:avLst/>
          </a:prstGeom>
        </p:spPr>
      </p:pic>
      <p:sp>
        <p:nvSpPr>
          <p:cNvPr id="34" name="Text 24"/>
          <p:cNvSpPr txBox="1"/>
          <p:nvPr/>
        </p:nvSpPr>
        <p:spPr>
          <a:xfrm>
            <a:off x="4800600" y="2514600"/>
            <a:ext cx="2788920" cy="374904"/>
          </a:xfrm>
          <a:prstGeom prst="rect">
            <a:avLst/>
          </a:prstGeom>
          <a:noFill/>
          <a:ln/>
        </p:spPr>
        <p:txBody>
          <a:bodyPr wrap="square" lIns="0" tIns="0" rIns="0" bIns="0" rtlCol="0" anchor="ctr"/>
          <a:lstStyle/>
          <a:p>
            <a:pPr algn="l" indent="0" marL="0">
              <a:buNone/>
            </a:pPr>
            <a:r>
              <a:rPr lang="en-US" sz="1200" b="1" dirty="0">
                <a:solidFill>
                  <a:srgbClr val="1B2A49"/>
                </a:solidFill>
                <a:latin typeface="Meiryo UI" pitchFamily="34" charset="0"/>
                <a:ea typeface="Meiryo UI" pitchFamily="34" charset="-122"/>
                <a:cs typeface="Meiryo UI" pitchFamily="34" charset="-120"/>
              </a:rPr>
              <a:t>商品選定</a:t>
            </a:r>
            <a:endParaRPr lang="en-US" sz="1200" dirty="0"/>
          </a:p>
        </p:txBody>
      </p:sp>
      <p:sp>
        <p:nvSpPr>
          <p:cNvPr id="35" name="Shape 25"/>
          <p:cNvSpPr/>
          <p:nvPr/>
        </p:nvSpPr>
        <p:spPr>
          <a:xfrm>
            <a:off x="4343400" y="2944368"/>
            <a:ext cx="3291840" cy="374904"/>
          </a:xfrm>
          <a:prstGeom prst="roundRect">
            <a:avLst>
              <a:gd name="adj" fmla="val 19512"/>
            </a:avLst>
          </a:prstGeom>
          <a:solidFill>
            <a:srgbClr val="FFFFFF"/>
          </a:solidFill>
          <a:ln w="12700">
            <a:solidFill>
              <a:srgbClr val="D5DBE3"/>
            </a:solidFill>
            <a:prstDash val="solid"/>
          </a:ln>
        </p:spPr>
      </p:sp>
      <p:pic>
        <p:nvPicPr>
          <p:cNvPr id="36" name="Image 8" descr="preencoded.png">    </p:cNvPr>
          <p:cNvPicPr>
            <a:picLocks noChangeAspect="1"/>
          </p:cNvPicPr>
          <p:nvPr/>
        </p:nvPicPr>
        <p:blipFill>
          <a:blip r:embed="rId9"/>
          <a:stretch>
            <a:fillRect/>
          </a:stretch>
        </p:blipFill>
        <p:spPr>
          <a:xfrm>
            <a:off x="4453128" y="3003804"/>
            <a:ext cx="256032" cy="256032"/>
          </a:xfrm>
          <a:prstGeom prst="rect">
            <a:avLst/>
          </a:prstGeom>
        </p:spPr>
      </p:pic>
      <p:sp>
        <p:nvSpPr>
          <p:cNvPr id="37" name="Text 26"/>
          <p:cNvSpPr txBox="1"/>
          <p:nvPr/>
        </p:nvSpPr>
        <p:spPr>
          <a:xfrm>
            <a:off x="4800600" y="2944368"/>
            <a:ext cx="2788920" cy="374904"/>
          </a:xfrm>
          <a:prstGeom prst="rect">
            <a:avLst/>
          </a:prstGeom>
          <a:noFill/>
          <a:ln/>
        </p:spPr>
        <p:txBody>
          <a:bodyPr wrap="square" lIns="0" tIns="0" rIns="0" bIns="0" rtlCol="0" anchor="ctr"/>
          <a:lstStyle/>
          <a:p>
            <a:pPr algn="l" indent="0" marL="0">
              <a:buNone/>
            </a:pPr>
            <a:r>
              <a:rPr lang="en-US" sz="1200" b="1" dirty="0">
                <a:solidFill>
                  <a:srgbClr val="1B2A49"/>
                </a:solidFill>
                <a:latin typeface="Meiryo UI" pitchFamily="34" charset="0"/>
                <a:ea typeface="Meiryo UI" pitchFamily="34" charset="-122"/>
                <a:cs typeface="Meiryo UI" pitchFamily="34" charset="-120"/>
              </a:rPr>
              <a:t>コピー制作</a:t>
            </a:r>
            <a:endParaRPr lang="en-US" sz="1200" dirty="0"/>
          </a:p>
        </p:txBody>
      </p:sp>
      <p:sp>
        <p:nvSpPr>
          <p:cNvPr id="38" name="Shape 27"/>
          <p:cNvSpPr/>
          <p:nvPr/>
        </p:nvSpPr>
        <p:spPr>
          <a:xfrm>
            <a:off x="4343400" y="3374136"/>
            <a:ext cx="3291840" cy="374904"/>
          </a:xfrm>
          <a:prstGeom prst="roundRect">
            <a:avLst>
              <a:gd name="adj" fmla="val 19512"/>
            </a:avLst>
          </a:prstGeom>
          <a:solidFill>
            <a:srgbClr val="FFFFFF"/>
          </a:solidFill>
          <a:ln w="12700">
            <a:solidFill>
              <a:srgbClr val="D5DBE3"/>
            </a:solidFill>
            <a:prstDash val="solid"/>
          </a:ln>
        </p:spPr>
      </p:sp>
      <p:pic>
        <p:nvPicPr>
          <p:cNvPr id="39" name="Image 9" descr="preencoded.png">    </p:cNvPr>
          <p:cNvPicPr>
            <a:picLocks noChangeAspect="1"/>
          </p:cNvPicPr>
          <p:nvPr/>
        </p:nvPicPr>
        <p:blipFill>
          <a:blip r:embed="rId10"/>
          <a:stretch>
            <a:fillRect/>
          </a:stretch>
        </p:blipFill>
        <p:spPr>
          <a:xfrm>
            <a:off x="4453128" y="3433572"/>
            <a:ext cx="256032" cy="256032"/>
          </a:xfrm>
          <a:prstGeom prst="rect">
            <a:avLst/>
          </a:prstGeom>
        </p:spPr>
      </p:pic>
      <p:sp>
        <p:nvSpPr>
          <p:cNvPr id="40" name="Text 28"/>
          <p:cNvSpPr txBox="1"/>
          <p:nvPr/>
        </p:nvSpPr>
        <p:spPr>
          <a:xfrm>
            <a:off x="4800600" y="3374136"/>
            <a:ext cx="2788920" cy="374904"/>
          </a:xfrm>
          <a:prstGeom prst="rect">
            <a:avLst/>
          </a:prstGeom>
          <a:noFill/>
          <a:ln/>
        </p:spPr>
        <p:txBody>
          <a:bodyPr wrap="square" lIns="0" tIns="0" rIns="0" bIns="0" rtlCol="0" anchor="ctr"/>
          <a:lstStyle/>
          <a:p>
            <a:pPr algn="l" indent="0" marL="0">
              <a:buNone/>
            </a:pPr>
            <a:r>
              <a:rPr lang="en-US" sz="1200" b="1" dirty="0">
                <a:solidFill>
                  <a:srgbClr val="1B2A49"/>
                </a:solidFill>
                <a:latin typeface="Meiryo UI" pitchFamily="34" charset="0"/>
                <a:ea typeface="Meiryo UI" pitchFamily="34" charset="-122"/>
                <a:cs typeface="Meiryo UI" pitchFamily="34" charset="-120"/>
              </a:rPr>
              <a:t>クリエイティブ制作指示</a:t>
            </a:r>
            <a:endParaRPr lang="en-US" sz="1200" dirty="0"/>
          </a:p>
        </p:txBody>
      </p:sp>
      <p:sp>
        <p:nvSpPr>
          <p:cNvPr id="41" name="Text 29"/>
          <p:cNvSpPr txBox="1"/>
          <p:nvPr/>
        </p:nvSpPr>
        <p:spPr>
          <a:xfrm>
            <a:off x="4206240" y="3785616"/>
            <a:ext cx="3566160" cy="256032"/>
          </a:xfrm>
          <a:prstGeom prst="rect">
            <a:avLst/>
          </a:prstGeom>
          <a:noFill/>
          <a:ln/>
        </p:spPr>
        <p:txBody>
          <a:bodyPr wrap="square" lIns="508" tIns="508" rIns="508" bIns="508" rtlCol="0" anchor="t"/>
          <a:lstStyle/>
          <a:p>
            <a:pPr algn="ctr" indent="0" marL="0">
              <a:buNone/>
            </a:pPr>
            <a:r>
              <a:rPr lang="en-US" sz="1000" b="1" dirty="0">
                <a:solidFill>
                  <a:srgbClr val="E8912D"/>
                </a:solidFill>
                <a:latin typeface="Meiryo UI" pitchFamily="34" charset="0"/>
                <a:ea typeface="Meiryo UI" pitchFamily="34" charset="-122"/>
                <a:cs typeface="Meiryo UI" pitchFamily="34" charset="-120"/>
              </a:rPr>
              <a:t>▲ ばらつきが生じやすい工程</a:t>
            </a:r>
            <a:endParaRPr lang="en-US" sz="1000" dirty="0"/>
          </a:p>
        </p:txBody>
      </p:sp>
      <p:sp>
        <p:nvSpPr>
          <p:cNvPr id="42" name="Shape 30"/>
          <p:cNvSpPr/>
          <p:nvPr/>
        </p:nvSpPr>
        <p:spPr>
          <a:xfrm>
            <a:off x="7909560" y="2743200"/>
            <a:ext cx="548640" cy="0"/>
          </a:xfrm>
          <a:prstGeom prst="line">
            <a:avLst/>
          </a:prstGeom>
          <a:noFill/>
          <a:ln w="22225">
            <a:solidFill>
              <a:srgbClr val="9AA5B4"/>
            </a:solidFill>
            <a:prstDash val="solid"/>
            <a:tailEnd type="triangle"/>
          </a:ln>
        </p:spPr>
      </p:sp>
      <p:sp>
        <p:nvSpPr>
          <p:cNvPr id="43" name="Shape 31"/>
          <p:cNvSpPr/>
          <p:nvPr/>
        </p:nvSpPr>
        <p:spPr>
          <a:xfrm>
            <a:off x="8503920" y="1874520"/>
            <a:ext cx="3108960" cy="1737360"/>
          </a:xfrm>
          <a:prstGeom prst="roundRect">
            <a:avLst>
              <a:gd name="adj" fmla="val 4211"/>
            </a:avLst>
          </a:prstGeom>
          <a:solidFill>
            <a:srgbClr val="E3EAF5"/>
          </a:solidFill>
          <a:ln/>
        </p:spPr>
      </p:sp>
      <p:pic>
        <p:nvPicPr>
          <p:cNvPr id="44" name="Image 10" descr="preencoded.png">    </p:cNvPr>
          <p:cNvPicPr>
            <a:picLocks noChangeAspect="1"/>
          </p:cNvPicPr>
          <p:nvPr/>
        </p:nvPicPr>
        <p:blipFill>
          <a:blip r:embed="rId11"/>
          <a:stretch>
            <a:fillRect/>
          </a:stretch>
        </p:blipFill>
        <p:spPr>
          <a:xfrm>
            <a:off x="8686800" y="2057400"/>
            <a:ext cx="411480" cy="411480"/>
          </a:xfrm>
          <a:prstGeom prst="rect">
            <a:avLst/>
          </a:prstGeom>
        </p:spPr>
      </p:pic>
      <p:sp>
        <p:nvSpPr>
          <p:cNvPr id="45" name="Text 32"/>
          <p:cNvSpPr txBox="1"/>
          <p:nvPr/>
        </p:nvSpPr>
        <p:spPr>
          <a:xfrm>
            <a:off x="9189720" y="2057400"/>
            <a:ext cx="2377440" cy="411480"/>
          </a:xfrm>
          <a:prstGeom prst="rect">
            <a:avLst/>
          </a:prstGeom>
          <a:noFill/>
          <a:ln/>
        </p:spPr>
        <p:txBody>
          <a:bodyPr wrap="square" lIns="508" tIns="508" rIns="508" bIns="508"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Airtable 配信カード</a:t>
            </a:r>
            <a:endParaRPr lang="en-US" sz="1300" dirty="0"/>
          </a:p>
        </p:txBody>
      </p:sp>
      <p:sp>
        <p:nvSpPr>
          <p:cNvPr id="46" name="Text 33"/>
          <p:cNvSpPr txBox="1"/>
          <p:nvPr/>
        </p:nvSpPr>
        <p:spPr>
          <a:xfrm>
            <a:off x="8686800" y="2560320"/>
            <a:ext cx="2834640" cy="914400"/>
          </a:xfrm>
          <a:prstGeom prst="rect">
            <a:avLst/>
          </a:prstGeom>
          <a:noFill/>
          <a:ln/>
        </p:spPr>
        <p:txBody>
          <a:bodyPr wrap="square" lIns="508" tIns="508" rIns="508" bIns="508" rtlCol="0" anchor="t"/>
          <a:lstStyle/>
          <a:p>
            <a:pPr indent="0" marL="0">
              <a:buNone/>
            </a:pPr>
            <a:r>
              <a:rPr lang="en-US" sz="1050" dirty="0">
                <a:solidFill>
                  <a:srgbClr val="6B7280"/>
                </a:solidFill>
                <a:latin typeface="Meiryo UI" pitchFamily="34" charset="0"/>
                <a:ea typeface="Meiryo UI" pitchFamily="34" charset="-122"/>
                <a:cs typeface="Meiryo UI" pitchFamily="34" charset="-120"/>
              </a:rPr>
              <a:t>配信日時／配信内容／掲載商品／メール・商品コピー／制作部署への指示</a:t>
            </a:r>
            <a:endParaRPr lang="en-US" sz="1050" dirty="0"/>
          </a:p>
        </p:txBody>
      </p:sp>
      <p:sp>
        <p:nvSpPr>
          <p:cNvPr id="47" name="Shape 34"/>
          <p:cNvSpPr/>
          <p:nvPr/>
        </p:nvSpPr>
        <p:spPr>
          <a:xfrm>
            <a:off x="548640" y="4343400"/>
            <a:ext cx="5440680" cy="1965960"/>
          </a:xfrm>
          <a:prstGeom prst="roundRect">
            <a:avLst>
              <a:gd name="adj" fmla="val 2791"/>
            </a:avLst>
          </a:prstGeom>
          <a:solidFill>
            <a:srgbClr val="FBE3E3"/>
          </a:solidFill>
          <a:ln/>
        </p:spPr>
      </p:sp>
      <p:sp>
        <p:nvSpPr>
          <p:cNvPr id="48" name="Shape 35"/>
          <p:cNvSpPr/>
          <p:nvPr/>
        </p:nvSpPr>
        <p:spPr>
          <a:xfrm>
            <a:off x="685800" y="4462272"/>
            <a:ext cx="384048" cy="384048"/>
          </a:xfrm>
          <a:prstGeom prst="ellipse">
            <a:avLst/>
          </a:prstGeom>
          <a:solidFill>
            <a:srgbClr val="FFFFFF"/>
          </a:solidFill>
          <a:ln/>
        </p:spPr>
      </p:sp>
      <p:pic>
        <p:nvPicPr>
          <p:cNvPr id="49" name="Image 11" descr="preencoded.png">    </p:cNvPr>
          <p:cNvPicPr>
            <a:picLocks noChangeAspect="1"/>
          </p:cNvPicPr>
          <p:nvPr/>
        </p:nvPicPr>
        <p:blipFill>
          <a:blip r:embed="rId12"/>
          <a:stretch>
            <a:fillRect/>
          </a:stretch>
        </p:blipFill>
        <p:spPr>
          <a:xfrm>
            <a:off x="762610" y="4539082"/>
            <a:ext cx="230429" cy="230429"/>
          </a:xfrm>
          <a:prstGeom prst="rect">
            <a:avLst/>
          </a:prstGeom>
        </p:spPr>
      </p:pic>
      <p:sp>
        <p:nvSpPr>
          <p:cNvPr id="50" name="Text 36"/>
          <p:cNvSpPr txBox="1"/>
          <p:nvPr/>
        </p:nvSpPr>
        <p:spPr>
          <a:xfrm>
            <a:off x="1143000" y="4462272"/>
            <a:ext cx="4754880" cy="384048"/>
          </a:xfrm>
          <a:prstGeom prst="rect">
            <a:avLst/>
          </a:prstGeom>
          <a:noFill/>
          <a:ln/>
        </p:spPr>
        <p:txBody>
          <a:bodyPr wrap="square" lIns="0" tIns="0" rIns="0" bIns="0"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課題1：参照できる情報の制約</a:t>
            </a:r>
            <a:endParaRPr lang="en-US" sz="1300" dirty="0"/>
          </a:p>
        </p:txBody>
      </p:sp>
      <p:sp>
        <p:nvSpPr>
          <p:cNvPr id="51" name="Text 37"/>
          <p:cNvSpPr txBox="1"/>
          <p:nvPr/>
        </p:nvSpPr>
        <p:spPr>
          <a:xfrm>
            <a:off x="731520" y="4946904"/>
            <a:ext cx="5120640" cy="1271016"/>
          </a:xfrm>
          <a:prstGeom prst="rect">
            <a:avLst/>
          </a:prstGeom>
          <a:noFill/>
          <a:ln/>
        </p:spPr>
        <p:txBody>
          <a:bodyPr wrap="square" lIns="254" tIns="254" rIns="254" bIns="254" rtlCol="0" anchor="t"/>
          <a:lstStyle/>
          <a:p>
            <a:pPr marL="152400" indent="-152400">
              <a:spcAft>
                <a:spcPts val="600"/>
              </a:spcAft>
              <a:buSzPct val="100000"/>
              <a:buChar char="•"/>
            </a:pPr>
            <a:r>
              <a:rPr lang="en-US" sz="1250" dirty="0">
                <a:solidFill>
                  <a:srgbClr val="2B2B2B"/>
                </a:solidFill>
                <a:latin typeface="Meiryo UI" pitchFamily="34" charset="0"/>
                <a:ea typeface="Meiryo UI" pitchFamily="34" charset="-122"/>
                <a:cs typeface="Meiryo UI" pitchFamily="34" charset="-120"/>
              </a:rPr>
              <a:t>人が一度に確認できる資料・データの量には限りがある</a:t>
            </a:r>
            <a:endParaRPr lang="en-US" sz="1250" dirty="0"/>
          </a:p>
          <a:p>
            <a:pPr marL="152400" indent="-152400">
              <a:spcAft>
                <a:spcPts val="600"/>
              </a:spcAft>
              <a:buSzPct val="100000"/>
              <a:buChar char="•"/>
            </a:pPr>
            <a:r>
              <a:rPr lang="en-US" sz="1250" dirty="0">
                <a:solidFill>
                  <a:srgbClr val="2B2B2B"/>
                </a:solidFill>
                <a:latin typeface="Meiryo UI" pitchFamily="34" charset="0"/>
                <a:ea typeface="Meiryo UI" pitchFamily="34" charset="-122"/>
                <a:cs typeface="Meiryo UI" pitchFamily="34" charset="-120"/>
              </a:rPr>
              <a:t>直近の売上・在庫や、カテゴリ・タグ・レビュー・天気予報などは参照しにくい</a:t>
            </a:r>
            <a:endParaRPr lang="en-US" sz="1250" dirty="0"/>
          </a:p>
          <a:p>
            <a:pPr marL="152400" indent="-152400">
              <a:spcAft>
                <a:spcPts val="600"/>
              </a:spcAft>
              <a:buSzPct val="100000"/>
              <a:buChar char="•"/>
            </a:pPr>
            <a:r>
              <a:rPr lang="en-US" sz="1250" dirty="0">
                <a:solidFill>
                  <a:srgbClr val="2B2B2B"/>
                </a:solidFill>
                <a:latin typeface="Meiryo UI" pitchFamily="34" charset="0"/>
                <a:ea typeface="Meiryo UI" pitchFamily="34" charset="-122"/>
                <a:cs typeface="Meiryo UI" pitchFamily="34" charset="-120"/>
              </a:rPr>
              <a:t>判断に使う情報が担当者によって異なる</a:t>
            </a:r>
            <a:endParaRPr lang="en-US" sz="1250" dirty="0"/>
          </a:p>
        </p:txBody>
      </p:sp>
      <p:sp>
        <p:nvSpPr>
          <p:cNvPr id="52" name="Shape 38"/>
          <p:cNvSpPr/>
          <p:nvPr/>
        </p:nvSpPr>
        <p:spPr>
          <a:xfrm>
            <a:off x="6172200" y="4343400"/>
            <a:ext cx="5440680" cy="1965960"/>
          </a:xfrm>
          <a:prstGeom prst="roundRect">
            <a:avLst>
              <a:gd name="adj" fmla="val 2791"/>
            </a:avLst>
          </a:prstGeom>
          <a:solidFill>
            <a:srgbClr val="FBE3E3"/>
          </a:solidFill>
          <a:ln/>
        </p:spPr>
      </p:sp>
      <p:sp>
        <p:nvSpPr>
          <p:cNvPr id="53" name="Shape 39"/>
          <p:cNvSpPr/>
          <p:nvPr/>
        </p:nvSpPr>
        <p:spPr>
          <a:xfrm>
            <a:off x="6309360" y="4462272"/>
            <a:ext cx="384048" cy="384048"/>
          </a:xfrm>
          <a:prstGeom prst="ellipse">
            <a:avLst/>
          </a:prstGeom>
          <a:solidFill>
            <a:srgbClr val="FFFFFF"/>
          </a:solidFill>
          <a:ln/>
        </p:spPr>
      </p:sp>
      <p:pic>
        <p:nvPicPr>
          <p:cNvPr id="54" name="Image 12" descr="preencoded.png">    </p:cNvPr>
          <p:cNvPicPr>
            <a:picLocks noChangeAspect="1"/>
          </p:cNvPicPr>
          <p:nvPr/>
        </p:nvPicPr>
        <p:blipFill>
          <a:blip r:embed="rId13"/>
          <a:stretch>
            <a:fillRect/>
          </a:stretch>
        </p:blipFill>
        <p:spPr>
          <a:xfrm>
            <a:off x="6386170" y="4539082"/>
            <a:ext cx="230429" cy="230429"/>
          </a:xfrm>
          <a:prstGeom prst="rect">
            <a:avLst/>
          </a:prstGeom>
        </p:spPr>
      </p:pic>
      <p:sp>
        <p:nvSpPr>
          <p:cNvPr id="55" name="Text 40"/>
          <p:cNvSpPr txBox="1"/>
          <p:nvPr/>
        </p:nvSpPr>
        <p:spPr>
          <a:xfrm>
            <a:off x="6766560" y="4462272"/>
            <a:ext cx="4754880" cy="384048"/>
          </a:xfrm>
          <a:prstGeom prst="rect">
            <a:avLst/>
          </a:prstGeom>
          <a:noFill/>
          <a:ln/>
        </p:spPr>
        <p:txBody>
          <a:bodyPr wrap="square" lIns="0" tIns="0" rIns="0" bIns="0"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課題2：品質のばらつき（属人化）</a:t>
            </a:r>
            <a:endParaRPr lang="en-US" sz="1300" dirty="0"/>
          </a:p>
        </p:txBody>
      </p:sp>
      <p:sp>
        <p:nvSpPr>
          <p:cNvPr id="56" name="Text 41"/>
          <p:cNvSpPr txBox="1"/>
          <p:nvPr/>
        </p:nvSpPr>
        <p:spPr>
          <a:xfrm>
            <a:off x="6355080" y="4946904"/>
            <a:ext cx="5120640" cy="1271016"/>
          </a:xfrm>
          <a:prstGeom prst="rect">
            <a:avLst/>
          </a:prstGeom>
          <a:noFill/>
          <a:ln/>
        </p:spPr>
        <p:txBody>
          <a:bodyPr wrap="square" lIns="254" tIns="254" rIns="254" bIns="254" rtlCol="0" anchor="t"/>
          <a:lstStyle/>
          <a:p>
            <a:pPr marL="152400" indent="-152400">
              <a:spcAft>
                <a:spcPts val="600"/>
              </a:spcAft>
              <a:buSzPct val="100000"/>
              <a:buChar char="•"/>
            </a:pPr>
            <a:r>
              <a:rPr lang="en-US" sz="1250" dirty="0">
                <a:solidFill>
                  <a:srgbClr val="2B2B2B"/>
                </a:solidFill>
                <a:latin typeface="Meiryo UI" pitchFamily="34" charset="0"/>
                <a:ea typeface="Meiryo UI" pitchFamily="34" charset="-122"/>
                <a:cs typeface="Meiryo UI" pitchFamily="34" charset="-120"/>
              </a:rPr>
              <a:t>「良い選定・良いコピー・良い指示」の基準が暗黙知になっている</a:t>
            </a:r>
            <a:endParaRPr lang="en-US" sz="1250" dirty="0"/>
          </a:p>
          <a:p>
            <a:pPr marL="152400" indent="-152400">
              <a:spcAft>
                <a:spcPts val="600"/>
              </a:spcAft>
              <a:buSzPct val="100000"/>
              <a:buChar char="•"/>
            </a:pPr>
            <a:r>
              <a:rPr lang="en-US" sz="1250" dirty="0">
                <a:solidFill>
                  <a:srgbClr val="2B2B2B"/>
                </a:solidFill>
                <a:latin typeface="Meiryo UI" pitchFamily="34" charset="0"/>
                <a:ea typeface="Meiryo UI" pitchFamily="34" charset="-122"/>
                <a:cs typeface="Meiryo UI" pitchFamily="34" charset="-120"/>
              </a:rPr>
              <a:t>担当者・国によって、指示の粒度や表現の質に差が出る</a:t>
            </a:r>
            <a:endParaRPr lang="en-US" sz="1250" dirty="0"/>
          </a:p>
          <a:p>
            <a:pPr marL="152400" indent="-152400">
              <a:spcAft>
                <a:spcPts val="600"/>
              </a:spcAft>
              <a:buSzPct val="100000"/>
              <a:buChar char="•"/>
            </a:pPr>
            <a:r>
              <a:rPr lang="en-US" sz="1250" dirty="0">
                <a:solidFill>
                  <a:srgbClr val="2B2B2B"/>
                </a:solidFill>
                <a:latin typeface="Meiryo UI" pitchFamily="34" charset="0"/>
                <a:ea typeface="Meiryo UI" pitchFamily="34" charset="-122"/>
                <a:cs typeface="Meiryo UI" pitchFamily="34" charset="-120"/>
              </a:rPr>
              <a:t>ノウハウが共有・蓄積されにくい</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548640"/>
          </a:xfrm>
          <a:prstGeom prst="rect">
            <a:avLst/>
          </a:prstGeom>
          <a:noFill/>
          <a:ln/>
        </p:spPr>
        <p:txBody>
          <a:bodyPr wrap="square" lIns="0" tIns="0" rIns="0" bIns="0" rtlCol="0" anchor="ctr"/>
          <a:lstStyle/>
          <a:p>
            <a:pPr indent="0" marL="0">
              <a:buNone/>
            </a:pPr>
            <a:r>
              <a:rPr lang="en-US" sz="2600" b="1" dirty="0">
                <a:solidFill>
                  <a:srgbClr val="1B2A49"/>
                </a:solidFill>
                <a:latin typeface="Meiryo UI" pitchFamily="34" charset="0"/>
                <a:ea typeface="Meiryo UI" pitchFamily="34" charset="-122"/>
                <a:cs typeface="Meiryo UI" pitchFamily="34" charset="-120"/>
              </a:rPr>
              <a:t>AIを組み込む4つの工程と、任せ方の考え方</a:t>
            </a:r>
            <a:endParaRPr lang="en-US" sz="2600" dirty="0"/>
          </a:p>
        </p:txBody>
      </p:sp>
      <p:sp>
        <p:nvSpPr>
          <p:cNvPr id="3" name="Text 1"/>
          <p:cNvSpPr txBox="1"/>
          <p:nvPr/>
        </p:nvSpPr>
        <p:spPr>
          <a:xfrm>
            <a:off x="548640" y="896112"/>
            <a:ext cx="11064240" cy="365760"/>
          </a:xfrm>
          <a:prstGeom prst="rect">
            <a:avLst/>
          </a:prstGeom>
          <a:noFill/>
          <a:ln/>
        </p:spPr>
        <p:txBody>
          <a:bodyPr wrap="square" lIns="0" tIns="0" rIns="0" bIns="0" rtlCol="0" anchor="ctr"/>
          <a:lstStyle/>
          <a:p>
            <a:pPr indent="0" marL="0">
              <a:buNone/>
            </a:pPr>
            <a:r>
              <a:rPr lang="en-US" sz="1400" dirty="0">
                <a:solidFill>
                  <a:srgbClr val="6B7280"/>
                </a:solidFill>
                <a:latin typeface="Meiryo UI" pitchFamily="34" charset="0"/>
                <a:ea typeface="Meiryo UI" pitchFamily="34" charset="-122"/>
                <a:cs typeface="Meiryo UI" pitchFamily="34" charset="-120"/>
              </a:rPr>
              <a:t>工程ごとに、AIに任せやすい部分と人が判断すべき部分が異なる</a:t>
            </a:r>
            <a:endParaRPr lang="en-US" sz="1400" dirty="0"/>
          </a:p>
        </p:txBody>
      </p:sp>
      <p:sp>
        <p:nvSpPr>
          <p:cNvPr id="4" name="Text 2"/>
          <p:cNvSpPr txBox="1"/>
          <p:nvPr/>
        </p:nvSpPr>
        <p:spPr>
          <a:xfrm>
            <a:off x="7498080" y="91440"/>
            <a:ext cx="4114800" cy="22860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1. 現状と検討の枠組み</a:t>
            </a:r>
            <a:endParaRPr lang="en-US" sz="900" dirty="0"/>
          </a:p>
        </p:txBody>
      </p:sp>
      <p:sp>
        <p:nvSpPr>
          <p:cNvPr id="5" name="Text 3"/>
          <p:cNvSpPr txBox="1"/>
          <p:nvPr/>
        </p:nvSpPr>
        <p:spPr>
          <a:xfrm>
            <a:off x="11247120" y="6446520"/>
            <a:ext cx="457200" cy="27432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4</a:t>
            </a:r>
            <a:endParaRPr lang="en-US" sz="900" dirty="0"/>
          </a:p>
        </p:txBody>
      </p:sp>
      <p:sp>
        <p:nvSpPr>
          <p:cNvPr id="6" name="Shape 4"/>
          <p:cNvSpPr/>
          <p:nvPr/>
        </p:nvSpPr>
        <p:spPr>
          <a:xfrm>
            <a:off x="548640" y="1417320"/>
            <a:ext cx="2651760" cy="4892040"/>
          </a:xfrm>
          <a:prstGeom prst="roundRect">
            <a:avLst>
              <a:gd name="adj" fmla="val 1724"/>
            </a:avLst>
          </a:prstGeom>
          <a:solidFill>
            <a:srgbClr val="F3F5F8"/>
          </a:solidFill>
          <a:ln/>
        </p:spPr>
      </p:sp>
      <p:sp>
        <p:nvSpPr>
          <p:cNvPr id="7" name="Shape 5"/>
          <p:cNvSpPr/>
          <p:nvPr/>
        </p:nvSpPr>
        <p:spPr>
          <a:xfrm>
            <a:off x="685800" y="1554480"/>
            <a:ext cx="512064" cy="512064"/>
          </a:xfrm>
          <a:prstGeom prst="ellipse">
            <a:avLst/>
          </a:prstGeom>
          <a:solidFill>
            <a:srgbClr val="FFFFFF"/>
          </a:solidFill>
          <a:ln/>
        </p:spPr>
      </p:sp>
      <p:pic>
        <p:nvPicPr>
          <p:cNvPr id="8" name="Image 0" descr="preencoded.png">    </p:cNvPr>
          <p:cNvPicPr>
            <a:picLocks noChangeAspect="1"/>
          </p:cNvPicPr>
          <p:nvPr/>
        </p:nvPicPr>
        <p:blipFill>
          <a:blip r:embed="rId1"/>
          <a:stretch>
            <a:fillRect/>
          </a:stretch>
        </p:blipFill>
        <p:spPr>
          <a:xfrm>
            <a:off x="788213" y="1656893"/>
            <a:ext cx="307238" cy="307238"/>
          </a:xfrm>
          <a:prstGeom prst="rect">
            <a:avLst/>
          </a:prstGeom>
        </p:spPr>
      </p:pic>
      <p:sp>
        <p:nvSpPr>
          <p:cNvPr id="9" name="Text 6"/>
          <p:cNvSpPr txBox="1"/>
          <p:nvPr/>
        </p:nvSpPr>
        <p:spPr>
          <a:xfrm>
            <a:off x="1280160" y="1554480"/>
            <a:ext cx="1828800" cy="512064"/>
          </a:xfrm>
          <a:prstGeom prst="rect">
            <a:avLst/>
          </a:prstGeom>
          <a:noFill/>
          <a:ln/>
        </p:spPr>
        <p:txBody>
          <a:bodyPr wrap="square" lIns="508" tIns="508" rIns="508" bIns="508" rtlCol="0" anchor="ctr"/>
          <a:lstStyle/>
          <a:p>
            <a:pPr indent="0" marL="0">
              <a:buNone/>
            </a:pPr>
            <a:r>
              <a:rPr lang="en-US" sz="1400" b="1" dirty="0">
                <a:solidFill>
                  <a:srgbClr val="1B2A49"/>
                </a:solidFill>
                <a:latin typeface="Meiryo UI" pitchFamily="34" charset="0"/>
                <a:ea typeface="Meiryo UI" pitchFamily="34" charset="-122"/>
                <a:cs typeface="Meiryo UI" pitchFamily="34" charset="-120"/>
              </a:rPr>
              <a:t>テーマ選定</a:t>
            </a:r>
            <a:endParaRPr lang="en-US" sz="1400" dirty="0"/>
          </a:p>
        </p:txBody>
      </p:sp>
      <p:sp>
        <p:nvSpPr>
          <p:cNvPr id="10" name="Text 7"/>
          <p:cNvSpPr txBox="1"/>
          <p:nvPr/>
        </p:nvSpPr>
        <p:spPr>
          <a:xfrm>
            <a:off x="713232" y="2212848"/>
            <a:ext cx="2377440" cy="256032"/>
          </a:xfrm>
          <a:prstGeom prst="rect">
            <a:avLst/>
          </a:prstGeom>
          <a:noFill/>
          <a:ln/>
        </p:spPr>
        <p:txBody>
          <a:bodyPr wrap="square" lIns="508" tIns="508" rIns="508" bIns="508" rtlCol="0" anchor="t"/>
          <a:lstStyle/>
          <a:p>
            <a:pPr indent="0" marL="0">
              <a:buNone/>
            </a:pPr>
            <a:r>
              <a:rPr lang="en-US" sz="1050" b="1" dirty="0">
                <a:solidFill>
                  <a:srgbClr val="0E9F9A"/>
                </a:solidFill>
                <a:latin typeface="Meiryo UI" pitchFamily="34" charset="0"/>
                <a:ea typeface="Meiryo UI" pitchFamily="34" charset="-122"/>
                <a:cs typeface="Meiryo UI" pitchFamily="34" charset="-120"/>
              </a:rPr>
              <a:t>AIの役割（例）</a:t>
            </a:r>
            <a:endParaRPr lang="en-US" sz="1050" dirty="0"/>
          </a:p>
        </p:txBody>
      </p:sp>
      <p:sp>
        <p:nvSpPr>
          <p:cNvPr id="11" name="Text 8"/>
          <p:cNvSpPr txBox="1"/>
          <p:nvPr/>
        </p:nvSpPr>
        <p:spPr>
          <a:xfrm>
            <a:off x="713232" y="2487168"/>
            <a:ext cx="2377440" cy="1417320"/>
          </a:xfrm>
          <a:prstGeom prst="rect">
            <a:avLst/>
          </a:prstGeom>
          <a:noFill/>
          <a:ln/>
        </p:spPr>
        <p:txBody>
          <a:bodyPr wrap="square" lIns="254" tIns="254" rIns="254" bIns="254" rtlCol="0" anchor="t"/>
          <a:lstStyle/>
          <a:p>
            <a:pPr marL="152400" indent="-152400">
              <a:spcAft>
                <a:spcPts val="300"/>
              </a:spcAft>
              <a:buSzPct val="100000"/>
              <a:buChar char="•"/>
            </a:pPr>
            <a:r>
              <a:rPr lang="en-US" sz="1050" dirty="0">
                <a:solidFill>
                  <a:srgbClr val="000000"/>
                </a:solidFill>
                <a:latin typeface="Meiryo UI" pitchFamily="34" charset="0"/>
                <a:ea typeface="Meiryo UI" pitchFamily="34" charset="-122"/>
                <a:cs typeface="Meiryo UI" pitchFamily="34" charset="-120"/>
              </a:rPr>
              <a:t>配信日の施策・各部署の販促テーマ・季節・天気などから候補テーマを出す</a:t>
            </a:r>
            <a:endParaRPr lang="en-US" sz="1050" dirty="0"/>
          </a:p>
          <a:p>
            <a:pPr marL="152400" indent="-152400">
              <a:spcAft>
                <a:spcPts val="300"/>
              </a:spcAft>
              <a:buSzPct val="100000"/>
              <a:buChar char="•"/>
            </a:pPr>
            <a:r>
              <a:rPr lang="en-US" sz="1050" dirty="0">
                <a:solidFill>
                  <a:srgbClr val="000000"/>
                </a:solidFill>
                <a:latin typeface="Meiryo UI" pitchFamily="34" charset="0"/>
                <a:ea typeface="Meiryo UI" pitchFamily="34" charset="-122"/>
                <a:cs typeface="Meiryo UI" pitchFamily="34" charset="-120"/>
              </a:rPr>
              <a:t>過去に反応が良かったテーマを参考にする</a:t>
            </a:r>
            <a:endParaRPr lang="en-US" sz="1050" dirty="0"/>
          </a:p>
        </p:txBody>
      </p:sp>
      <p:sp>
        <p:nvSpPr>
          <p:cNvPr id="12" name="Shape 9"/>
          <p:cNvSpPr/>
          <p:nvPr/>
        </p:nvSpPr>
        <p:spPr>
          <a:xfrm>
            <a:off x="713232" y="3977640"/>
            <a:ext cx="2322576" cy="420624"/>
          </a:xfrm>
          <a:prstGeom prst="roundRect">
            <a:avLst>
              <a:gd name="adj" fmla="val 17391"/>
            </a:avLst>
          </a:prstGeom>
          <a:solidFill>
            <a:srgbClr val="FDEBD3"/>
          </a:solidFill>
          <a:ln/>
        </p:spPr>
      </p:sp>
      <p:sp>
        <p:nvSpPr>
          <p:cNvPr id="13" name="Text 10"/>
          <p:cNvSpPr txBox="1"/>
          <p:nvPr/>
        </p:nvSpPr>
        <p:spPr>
          <a:xfrm>
            <a:off x="713232" y="3977640"/>
            <a:ext cx="2322576" cy="420624"/>
          </a:xfrm>
          <a:prstGeom prst="rect">
            <a:avLst/>
          </a:prstGeom>
          <a:noFill/>
          <a:ln/>
        </p:spPr>
        <p:txBody>
          <a:bodyPr wrap="square" lIns="0" tIns="0" rIns="0" bIns="0" rtlCol="0" anchor="ctr"/>
          <a:lstStyle/>
          <a:p>
            <a:pPr algn="ctr" indent="0" marL="0">
              <a:buNone/>
            </a:pPr>
            <a:r>
              <a:rPr lang="en-US" sz="1050" b="1" dirty="0">
                <a:solidFill>
                  <a:srgbClr val="E8912D"/>
                </a:solidFill>
                <a:latin typeface="Meiryo UI" pitchFamily="34" charset="0"/>
                <a:ea typeface="Meiryo UI" pitchFamily="34" charset="-122"/>
                <a:cs typeface="Meiryo UI" pitchFamily="34" charset="-120"/>
              </a:rPr>
              <a:t>人の役割：</a:t>
            </a:r>
            <a:pPr algn="ctr" indent="0" marL="0">
              <a:buNone/>
            </a:pPr>
            <a:r>
              <a:rPr lang="en-US" sz="1050" b="1" dirty="0">
                <a:solidFill>
                  <a:srgbClr val="000000"/>
                </a:solidFill>
                <a:latin typeface="Meiryo UI" pitchFamily="34" charset="0"/>
                <a:ea typeface="Meiryo UI" pitchFamily="34" charset="-122"/>
                <a:cs typeface="Meiryo UI" pitchFamily="34" charset="-120"/>
              </a:rPr>
              <a:t>テーマの決定</a:t>
            </a:r>
            <a:endParaRPr lang="en-US" sz="1050" dirty="0"/>
          </a:p>
        </p:txBody>
      </p:sp>
      <p:sp>
        <p:nvSpPr>
          <p:cNvPr id="14" name="Text 11"/>
          <p:cNvSpPr txBox="1"/>
          <p:nvPr/>
        </p:nvSpPr>
        <p:spPr>
          <a:xfrm>
            <a:off x="713232" y="4526280"/>
            <a:ext cx="2377440" cy="256032"/>
          </a:xfrm>
          <a:prstGeom prst="rect">
            <a:avLst/>
          </a:prstGeom>
          <a:noFill/>
          <a:ln/>
        </p:spPr>
        <p:txBody>
          <a:bodyPr wrap="square" lIns="508" tIns="508" rIns="508" bIns="508" rtlCol="0" anchor="t"/>
          <a:lstStyle/>
          <a:p>
            <a:pPr indent="0" marL="0">
              <a:buNone/>
            </a:pPr>
            <a:r>
              <a:rPr lang="en-US" sz="1050" b="1" dirty="0">
                <a:solidFill>
                  <a:srgbClr val="1B2A49"/>
                </a:solidFill>
                <a:latin typeface="Meiryo UI" pitchFamily="34" charset="0"/>
                <a:ea typeface="Meiryo UI" pitchFamily="34" charset="-122"/>
                <a:cs typeface="Meiryo UI" pitchFamily="34" charset="-120"/>
              </a:rPr>
              <a:t>検討ポイント</a:t>
            </a:r>
            <a:endParaRPr lang="en-US" sz="1050" dirty="0"/>
          </a:p>
        </p:txBody>
      </p:sp>
      <p:sp>
        <p:nvSpPr>
          <p:cNvPr id="15" name="Text 12"/>
          <p:cNvSpPr txBox="1"/>
          <p:nvPr/>
        </p:nvSpPr>
        <p:spPr>
          <a:xfrm>
            <a:off x="713232" y="4800600"/>
            <a:ext cx="2377440" cy="1417320"/>
          </a:xfrm>
          <a:prstGeom prst="rect">
            <a:avLst/>
          </a:prstGeom>
          <a:noFill/>
          <a:ln/>
        </p:spPr>
        <p:txBody>
          <a:bodyPr wrap="square" lIns="254" tIns="254" rIns="254" bIns="254" rtlCol="0" anchor="t"/>
          <a:lstStyle/>
          <a:p>
            <a:pPr marL="152400" indent="-152400">
              <a:spcAft>
                <a:spcPts val="300"/>
              </a:spcAft>
              <a:buSzPct val="100000"/>
              <a:buChar char="•"/>
            </a:pPr>
            <a:r>
              <a:rPr lang="en-US" sz="1050" dirty="0">
                <a:solidFill>
                  <a:srgbClr val="000000"/>
                </a:solidFill>
                <a:latin typeface="Meiryo UI" pitchFamily="34" charset="0"/>
                <a:ea typeface="Meiryo UI" pitchFamily="34" charset="-122"/>
                <a:cs typeface="Meiryo UI" pitchFamily="34" charset="-120"/>
              </a:rPr>
              <a:t>ポリシーとの整合の取り方</a:t>
            </a:r>
            <a:endParaRPr lang="en-US" sz="1050" dirty="0"/>
          </a:p>
          <a:p>
            <a:pPr marL="152400" indent="-152400">
              <a:spcAft>
                <a:spcPts val="300"/>
              </a:spcAft>
              <a:buSzPct val="100000"/>
              <a:buChar char="•"/>
            </a:pPr>
            <a:r>
              <a:rPr lang="en-US" sz="1050" dirty="0">
                <a:solidFill>
                  <a:srgbClr val="000000"/>
                </a:solidFill>
                <a:latin typeface="Meiryo UI" pitchFamily="34" charset="0"/>
                <a:ea typeface="Meiryo UI" pitchFamily="34" charset="-122"/>
                <a:cs typeface="Meiryo UI" pitchFamily="34" charset="-120"/>
              </a:rPr>
              <a:t>商品選定と同時に行うか、先に決めるか</a:t>
            </a:r>
            <a:endParaRPr lang="en-US" sz="1050" dirty="0"/>
          </a:p>
          <a:p>
            <a:pPr marL="152400" indent="-152400">
              <a:spcAft>
                <a:spcPts val="300"/>
              </a:spcAft>
              <a:buSzPct val="100000"/>
              <a:buChar char="•"/>
            </a:pPr>
            <a:r>
              <a:rPr lang="en-US" sz="1050" dirty="0">
                <a:solidFill>
                  <a:srgbClr val="000000"/>
                </a:solidFill>
                <a:latin typeface="Meiryo UI" pitchFamily="34" charset="0"/>
                <a:ea typeface="Meiryo UI" pitchFamily="34" charset="-122"/>
                <a:cs typeface="Meiryo UI" pitchFamily="34" charset="-120"/>
              </a:rPr>
              <a:t>候補をいくつ出すか</a:t>
            </a:r>
            <a:endParaRPr lang="en-US" sz="1050" dirty="0"/>
          </a:p>
        </p:txBody>
      </p:sp>
      <p:sp>
        <p:nvSpPr>
          <p:cNvPr id="16" name="Shape 13"/>
          <p:cNvSpPr/>
          <p:nvPr/>
        </p:nvSpPr>
        <p:spPr>
          <a:xfrm>
            <a:off x="3355848" y="1417320"/>
            <a:ext cx="2651760" cy="4892040"/>
          </a:xfrm>
          <a:prstGeom prst="roundRect">
            <a:avLst>
              <a:gd name="adj" fmla="val 1724"/>
            </a:avLst>
          </a:prstGeom>
          <a:solidFill>
            <a:srgbClr val="F3F5F8"/>
          </a:solidFill>
          <a:ln/>
        </p:spPr>
      </p:sp>
      <p:sp>
        <p:nvSpPr>
          <p:cNvPr id="17" name="Shape 14"/>
          <p:cNvSpPr/>
          <p:nvPr/>
        </p:nvSpPr>
        <p:spPr>
          <a:xfrm>
            <a:off x="3493008" y="1554480"/>
            <a:ext cx="512064" cy="512064"/>
          </a:xfrm>
          <a:prstGeom prst="ellipse">
            <a:avLst/>
          </a:prstGeom>
          <a:solidFill>
            <a:srgbClr val="FFFFFF"/>
          </a:solidFill>
          <a:ln/>
        </p:spPr>
      </p:sp>
      <p:pic>
        <p:nvPicPr>
          <p:cNvPr id="18" name="Image 1" descr="preencoded.png">    </p:cNvPr>
          <p:cNvPicPr>
            <a:picLocks noChangeAspect="1"/>
          </p:cNvPicPr>
          <p:nvPr/>
        </p:nvPicPr>
        <p:blipFill>
          <a:blip r:embed="rId2"/>
          <a:stretch>
            <a:fillRect/>
          </a:stretch>
        </p:blipFill>
        <p:spPr>
          <a:xfrm>
            <a:off x="3595421" y="1656893"/>
            <a:ext cx="307238" cy="307238"/>
          </a:xfrm>
          <a:prstGeom prst="rect">
            <a:avLst/>
          </a:prstGeom>
        </p:spPr>
      </p:pic>
      <p:sp>
        <p:nvSpPr>
          <p:cNvPr id="19" name="Text 15"/>
          <p:cNvSpPr txBox="1"/>
          <p:nvPr/>
        </p:nvSpPr>
        <p:spPr>
          <a:xfrm>
            <a:off x="4087368" y="1554480"/>
            <a:ext cx="1828800" cy="512064"/>
          </a:xfrm>
          <a:prstGeom prst="rect">
            <a:avLst/>
          </a:prstGeom>
          <a:noFill/>
          <a:ln/>
        </p:spPr>
        <p:txBody>
          <a:bodyPr wrap="square" lIns="508" tIns="508" rIns="508" bIns="508" rtlCol="0" anchor="ctr"/>
          <a:lstStyle/>
          <a:p>
            <a:pPr indent="0" marL="0">
              <a:buNone/>
            </a:pPr>
            <a:r>
              <a:rPr lang="en-US" sz="1400" b="1" dirty="0">
                <a:solidFill>
                  <a:srgbClr val="1B2A49"/>
                </a:solidFill>
                <a:latin typeface="Meiryo UI" pitchFamily="34" charset="0"/>
                <a:ea typeface="Meiryo UI" pitchFamily="34" charset="-122"/>
                <a:cs typeface="Meiryo UI" pitchFamily="34" charset="-120"/>
              </a:rPr>
              <a:t>商品選定</a:t>
            </a:r>
            <a:endParaRPr lang="en-US" sz="1400" dirty="0"/>
          </a:p>
        </p:txBody>
      </p:sp>
      <p:sp>
        <p:nvSpPr>
          <p:cNvPr id="20" name="Text 16"/>
          <p:cNvSpPr txBox="1"/>
          <p:nvPr/>
        </p:nvSpPr>
        <p:spPr>
          <a:xfrm>
            <a:off x="3520440" y="2212848"/>
            <a:ext cx="2377440" cy="256032"/>
          </a:xfrm>
          <a:prstGeom prst="rect">
            <a:avLst/>
          </a:prstGeom>
          <a:noFill/>
          <a:ln/>
        </p:spPr>
        <p:txBody>
          <a:bodyPr wrap="square" lIns="508" tIns="508" rIns="508" bIns="508" rtlCol="0" anchor="t"/>
          <a:lstStyle/>
          <a:p>
            <a:pPr indent="0" marL="0">
              <a:buNone/>
            </a:pPr>
            <a:r>
              <a:rPr lang="en-US" sz="1050" b="1" dirty="0">
                <a:solidFill>
                  <a:srgbClr val="0E9F9A"/>
                </a:solidFill>
                <a:latin typeface="Meiryo UI" pitchFamily="34" charset="0"/>
                <a:ea typeface="Meiryo UI" pitchFamily="34" charset="-122"/>
                <a:cs typeface="Meiryo UI" pitchFamily="34" charset="-120"/>
              </a:rPr>
              <a:t>AIの役割（例）</a:t>
            </a:r>
            <a:endParaRPr lang="en-US" sz="1050" dirty="0"/>
          </a:p>
        </p:txBody>
      </p:sp>
      <p:sp>
        <p:nvSpPr>
          <p:cNvPr id="21" name="Text 17"/>
          <p:cNvSpPr txBox="1"/>
          <p:nvPr/>
        </p:nvSpPr>
        <p:spPr>
          <a:xfrm>
            <a:off x="3520440" y="2487168"/>
            <a:ext cx="2377440" cy="1417320"/>
          </a:xfrm>
          <a:prstGeom prst="rect">
            <a:avLst/>
          </a:prstGeom>
          <a:noFill/>
          <a:ln/>
        </p:spPr>
        <p:txBody>
          <a:bodyPr wrap="square" lIns="254" tIns="254" rIns="254" bIns="254" rtlCol="0" anchor="t"/>
          <a:lstStyle/>
          <a:p>
            <a:pPr marL="152400" indent="-152400">
              <a:spcAft>
                <a:spcPts val="300"/>
              </a:spcAft>
              <a:buSzPct val="100000"/>
              <a:buChar char="•"/>
            </a:pPr>
            <a:r>
              <a:rPr lang="en-US" sz="1050" dirty="0">
                <a:solidFill>
                  <a:srgbClr val="000000"/>
                </a:solidFill>
                <a:latin typeface="Meiryo UI" pitchFamily="34" charset="0"/>
                <a:ea typeface="Meiryo UI" pitchFamily="34" charset="-122"/>
                <a:cs typeface="Meiryo UI" pitchFamily="34" charset="-120"/>
              </a:rPr>
              <a:t>在庫・売上・粗利・ポリシー適合度などでスコアを付ける</a:t>
            </a:r>
            <a:endParaRPr lang="en-US" sz="1050" dirty="0"/>
          </a:p>
          <a:p>
            <a:pPr marL="152400" indent="-152400">
              <a:spcAft>
                <a:spcPts val="300"/>
              </a:spcAft>
              <a:buSzPct val="100000"/>
              <a:buChar char="•"/>
            </a:pPr>
            <a:r>
              <a:rPr lang="en-US" sz="1050" dirty="0">
                <a:solidFill>
                  <a:srgbClr val="000000"/>
                </a:solidFill>
                <a:latin typeface="Meiryo UI" pitchFamily="34" charset="0"/>
                <a:ea typeface="Meiryo UI" pitchFamily="34" charset="-122"/>
                <a:cs typeface="Meiryo UI" pitchFamily="34" charset="-120"/>
              </a:rPr>
              <a:t>候補の組み合わせを提案し、理由を説明する</a:t>
            </a:r>
            <a:endParaRPr lang="en-US" sz="1050" dirty="0"/>
          </a:p>
        </p:txBody>
      </p:sp>
      <p:sp>
        <p:nvSpPr>
          <p:cNvPr id="22" name="Shape 18"/>
          <p:cNvSpPr/>
          <p:nvPr/>
        </p:nvSpPr>
        <p:spPr>
          <a:xfrm>
            <a:off x="3520440" y="3977640"/>
            <a:ext cx="2322576" cy="420624"/>
          </a:xfrm>
          <a:prstGeom prst="roundRect">
            <a:avLst>
              <a:gd name="adj" fmla="val 17391"/>
            </a:avLst>
          </a:prstGeom>
          <a:solidFill>
            <a:srgbClr val="FDEBD3"/>
          </a:solidFill>
          <a:ln/>
        </p:spPr>
      </p:sp>
      <p:sp>
        <p:nvSpPr>
          <p:cNvPr id="23" name="Text 19"/>
          <p:cNvSpPr txBox="1"/>
          <p:nvPr/>
        </p:nvSpPr>
        <p:spPr>
          <a:xfrm>
            <a:off x="3520440" y="3977640"/>
            <a:ext cx="2322576" cy="420624"/>
          </a:xfrm>
          <a:prstGeom prst="rect">
            <a:avLst/>
          </a:prstGeom>
          <a:noFill/>
          <a:ln/>
        </p:spPr>
        <p:txBody>
          <a:bodyPr wrap="square" lIns="0" tIns="0" rIns="0" bIns="0" rtlCol="0" anchor="ctr"/>
          <a:lstStyle/>
          <a:p>
            <a:pPr algn="ctr" indent="0" marL="0">
              <a:buNone/>
            </a:pPr>
            <a:r>
              <a:rPr lang="en-US" sz="1050" b="1" dirty="0">
                <a:solidFill>
                  <a:srgbClr val="E8912D"/>
                </a:solidFill>
                <a:latin typeface="Meiryo UI" pitchFamily="34" charset="0"/>
                <a:ea typeface="Meiryo UI" pitchFamily="34" charset="-122"/>
                <a:cs typeface="Meiryo UI" pitchFamily="34" charset="-120"/>
              </a:rPr>
              <a:t>人の役割：</a:t>
            </a:r>
            <a:pPr algn="ctr" indent="0" marL="0">
              <a:buNone/>
            </a:pPr>
            <a:r>
              <a:rPr lang="en-US" sz="1050" b="1" dirty="0">
                <a:solidFill>
                  <a:srgbClr val="000000"/>
                </a:solidFill>
                <a:latin typeface="Meiryo UI" pitchFamily="34" charset="0"/>
                <a:ea typeface="Meiryo UI" pitchFamily="34" charset="-122"/>
                <a:cs typeface="Meiryo UI" pitchFamily="34" charset="-120"/>
              </a:rPr>
              <a:t>最終的な選定</a:t>
            </a:r>
            <a:endParaRPr lang="en-US" sz="1050" dirty="0"/>
          </a:p>
        </p:txBody>
      </p:sp>
      <p:sp>
        <p:nvSpPr>
          <p:cNvPr id="24" name="Text 20"/>
          <p:cNvSpPr txBox="1"/>
          <p:nvPr/>
        </p:nvSpPr>
        <p:spPr>
          <a:xfrm>
            <a:off x="3520440" y="4526280"/>
            <a:ext cx="2377440" cy="256032"/>
          </a:xfrm>
          <a:prstGeom prst="rect">
            <a:avLst/>
          </a:prstGeom>
          <a:noFill/>
          <a:ln/>
        </p:spPr>
        <p:txBody>
          <a:bodyPr wrap="square" lIns="508" tIns="508" rIns="508" bIns="508" rtlCol="0" anchor="t"/>
          <a:lstStyle/>
          <a:p>
            <a:pPr indent="0" marL="0">
              <a:buNone/>
            </a:pPr>
            <a:r>
              <a:rPr lang="en-US" sz="1050" b="1" dirty="0">
                <a:solidFill>
                  <a:srgbClr val="1B2A49"/>
                </a:solidFill>
                <a:latin typeface="Meiryo UI" pitchFamily="34" charset="0"/>
                <a:ea typeface="Meiryo UI" pitchFamily="34" charset="-122"/>
                <a:cs typeface="Meiryo UI" pitchFamily="34" charset="-120"/>
              </a:rPr>
              <a:t>検討ポイント</a:t>
            </a:r>
            <a:endParaRPr lang="en-US" sz="1050" dirty="0"/>
          </a:p>
        </p:txBody>
      </p:sp>
      <p:sp>
        <p:nvSpPr>
          <p:cNvPr id="25" name="Text 21"/>
          <p:cNvSpPr txBox="1"/>
          <p:nvPr/>
        </p:nvSpPr>
        <p:spPr>
          <a:xfrm>
            <a:off x="3520440" y="4800600"/>
            <a:ext cx="2377440" cy="1417320"/>
          </a:xfrm>
          <a:prstGeom prst="rect">
            <a:avLst/>
          </a:prstGeom>
          <a:noFill/>
          <a:ln/>
        </p:spPr>
        <p:txBody>
          <a:bodyPr wrap="square" lIns="254" tIns="254" rIns="254" bIns="254" rtlCol="0" anchor="t"/>
          <a:lstStyle/>
          <a:p>
            <a:pPr marL="152400" indent="-152400">
              <a:spcAft>
                <a:spcPts val="300"/>
              </a:spcAft>
              <a:buSzPct val="100000"/>
              <a:buChar char="•"/>
            </a:pPr>
            <a:r>
              <a:rPr lang="en-US" sz="1050" dirty="0">
                <a:solidFill>
                  <a:srgbClr val="000000"/>
                </a:solidFill>
                <a:latin typeface="Meiryo UI" pitchFamily="34" charset="0"/>
                <a:ea typeface="Meiryo UI" pitchFamily="34" charset="-122"/>
                <a:cs typeface="Meiryo UI" pitchFamily="34" charset="-120"/>
              </a:rPr>
              <a:t>スコアで絞るか、AIに直接選ばせるか</a:t>
            </a:r>
            <a:endParaRPr lang="en-US" sz="1050" dirty="0"/>
          </a:p>
          <a:p>
            <a:pPr marL="152400" indent="-152400">
              <a:spcAft>
                <a:spcPts val="300"/>
              </a:spcAft>
              <a:buSzPct val="100000"/>
              <a:buChar char="•"/>
            </a:pPr>
            <a:r>
              <a:rPr lang="en-US" sz="1050" dirty="0">
                <a:solidFill>
                  <a:srgbClr val="000000"/>
                </a:solidFill>
                <a:latin typeface="Meiryo UI" pitchFamily="34" charset="0"/>
                <a:ea typeface="Meiryo UI" pitchFamily="34" charset="-122"/>
                <a:cs typeface="Meiryo UI" pitchFamily="34" charset="-120"/>
              </a:rPr>
              <a:t>結果の再現性・説明のしやすさ</a:t>
            </a:r>
            <a:endParaRPr lang="en-US" sz="1050" dirty="0"/>
          </a:p>
          <a:p>
            <a:pPr marL="152400" indent="-152400">
              <a:spcAft>
                <a:spcPts val="300"/>
              </a:spcAft>
              <a:buSzPct val="100000"/>
              <a:buChar char="•"/>
            </a:pPr>
            <a:r>
              <a:rPr lang="en-US" sz="1050" dirty="0">
                <a:solidFill>
                  <a:srgbClr val="000000"/>
                </a:solidFill>
                <a:latin typeface="Meiryo UI" pitchFamily="34" charset="0"/>
                <a:ea typeface="Meiryo UI" pitchFamily="34" charset="-122"/>
                <a:cs typeface="Meiryo UI" pitchFamily="34" charset="-120"/>
              </a:rPr>
              <a:t>スコア設計の手間</a:t>
            </a:r>
            <a:endParaRPr lang="en-US" sz="1050" dirty="0"/>
          </a:p>
        </p:txBody>
      </p:sp>
      <p:sp>
        <p:nvSpPr>
          <p:cNvPr id="26" name="Shape 22"/>
          <p:cNvSpPr/>
          <p:nvPr/>
        </p:nvSpPr>
        <p:spPr>
          <a:xfrm>
            <a:off x="6163056" y="1417320"/>
            <a:ext cx="2651760" cy="4892040"/>
          </a:xfrm>
          <a:prstGeom prst="roundRect">
            <a:avLst>
              <a:gd name="adj" fmla="val 1724"/>
            </a:avLst>
          </a:prstGeom>
          <a:solidFill>
            <a:srgbClr val="F3F5F8"/>
          </a:solidFill>
          <a:ln/>
        </p:spPr>
      </p:sp>
      <p:sp>
        <p:nvSpPr>
          <p:cNvPr id="27" name="Shape 23"/>
          <p:cNvSpPr/>
          <p:nvPr/>
        </p:nvSpPr>
        <p:spPr>
          <a:xfrm>
            <a:off x="6300216" y="1554480"/>
            <a:ext cx="512064" cy="512064"/>
          </a:xfrm>
          <a:prstGeom prst="ellipse">
            <a:avLst/>
          </a:prstGeom>
          <a:solidFill>
            <a:srgbClr val="FFFFFF"/>
          </a:solidFill>
          <a:ln/>
        </p:spPr>
      </p:sp>
      <p:pic>
        <p:nvPicPr>
          <p:cNvPr id="28" name="Image 2" descr="preencoded.png">    </p:cNvPr>
          <p:cNvPicPr>
            <a:picLocks noChangeAspect="1"/>
          </p:cNvPicPr>
          <p:nvPr/>
        </p:nvPicPr>
        <p:blipFill>
          <a:blip r:embed="rId3"/>
          <a:stretch>
            <a:fillRect/>
          </a:stretch>
        </p:blipFill>
        <p:spPr>
          <a:xfrm>
            <a:off x="6402629" y="1656893"/>
            <a:ext cx="307238" cy="307238"/>
          </a:xfrm>
          <a:prstGeom prst="rect">
            <a:avLst/>
          </a:prstGeom>
        </p:spPr>
      </p:pic>
      <p:sp>
        <p:nvSpPr>
          <p:cNvPr id="29" name="Text 24"/>
          <p:cNvSpPr txBox="1"/>
          <p:nvPr/>
        </p:nvSpPr>
        <p:spPr>
          <a:xfrm>
            <a:off x="6894576" y="1554480"/>
            <a:ext cx="1828800" cy="512064"/>
          </a:xfrm>
          <a:prstGeom prst="rect">
            <a:avLst/>
          </a:prstGeom>
          <a:noFill/>
          <a:ln/>
        </p:spPr>
        <p:txBody>
          <a:bodyPr wrap="square" lIns="508" tIns="508" rIns="508" bIns="508" rtlCol="0" anchor="ctr"/>
          <a:lstStyle/>
          <a:p>
            <a:pPr indent="0" marL="0">
              <a:buNone/>
            </a:pPr>
            <a:r>
              <a:rPr lang="en-US" sz="1400" b="1" dirty="0">
                <a:solidFill>
                  <a:srgbClr val="1B2A49"/>
                </a:solidFill>
                <a:latin typeface="Meiryo UI" pitchFamily="34" charset="0"/>
                <a:ea typeface="Meiryo UI" pitchFamily="34" charset="-122"/>
                <a:cs typeface="Meiryo UI" pitchFamily="34" charset="-120"/>
              </a:rPr>
              <a:t>コピー制作</a:t>
            </a:r>
            <a:endParaRPr lang="en-US" sz="1400" dirty="0"/>
          </a:p>
        </p:txBody>
      </p:sp>
      <p:sp>
        <p:nvSpPr>
          <p:cNvPr id="30" name="Text 25"/>
          <p:cNvSpPr txBox="1"/>
          <p:nvPr/>
        </p:nvSpPr>
        <p:spPr>
          <a:xfrm>
            <a:off x="6327648" y="2212848"/>
            <a:ext cx="2377440" cy="256032"/>
          </a:xfrm>
          <a:prstGeom prst="rect">
            <a:avLst/>
          </a:prstGeom>
          <a:noFill/>
          <a:ln/>
        </p:spPr>
        <p:txBody>
          <a:bodyPr wrap="square" lIns="508" tIns="508" rIns="508" bIns="508" rtlCol="0" anchor="t"/>
          <a:lstStyle/>
          <a:p>
            <a:pPr indent="0" marL="0">
              <a:buNone/>
            </a:pPr>
            <a:r>
              <a:rPr lang="en-US" sz="1050" b="1" dirty="0">
                <a:solidFill>
                  <a:srgbClr val="0E9F9A"/>
                </a:solidFill>
                <a:latin typeface="Meiryo UI" pitchFamily="34" charset="0"/>
                <a:ea typeface="Meiryo UI" pitchFamily="34" charset="-122"/>
                <a:cs typeface="Meiryo UI" pitchFamily="34" charset="-120"/>
              </a:rPr>
              <a:t>AIの役割（例）</a:t>
            </a:r>
            <a:endParaRPr lang="en-US" sz="1050" dirty="0"/>
          </a:p>
        </p:txBody>
      </p:sp>
      <p:sp>
        <p:nvSpPr>
          <p:cNvPr id="31" name="Text 26"/>
          <p:cNvSpPr txBox="1"/>
          <p:nvPr/>
        </p:nvSpPr>
        <p:spPr>
          <a:xfrm>
            <a:off x="6327648" y="2487168"/>
            <a:ext cx="2377440" cy="1417320"/>
          </a:xfrm>
          <a:prstGeom prst="rect">
            <a:avLst/>
          </a:prstGeom>
          <a:noFill/>
          <a:ln/>
        </p:spPr>
        <p:txBody>
          <a:bodyPr wrap="square" lIns="254" tIns="254" rIns="254" bIns="254" rtlCol="0" anchor="t"/>
          <a:lstStyle/>
          <a:p>
            <a:pPr marL="152400" indent="-152400">
              <a:spcAft>
                <a:spcPts val="300"/>
              </a:spcAft>
              <a:buSzPct val="100000"/>
              <a:buChar char="•"/>
            </a:pPr>
            <a:r>
              <a:rPr lang="en-US" sz="1050" dirty="0">
                <a:solidFill>
                  <a:srgbClr val="000000"/>
                </a:solidFill>
                <a:latin typeface="Meiryo UI" pitchFamily="34" charset="0"/>
                <a:ea typeface="Meiryo UI" pitchFamily="34" charset="-122"/>
                <a:cs typeface="Meiryo UI" pitchFamily="34" charset="-120"/>
              </a:rPr>
              <a:t>トーン＆マナー・NG表現・法規制をルールとして与える</a:t>
            </a:r>
            <a:endParaRPr lang="en-US" sz="1050" dirty="0"/>
          </a:p>
          <a:p>
            <a:pPr marL="152400" indent="-152400">
              <a:spcAft>
                <a:spcPts val="300"/>
              </a:spcAft>
              <a:buSzPct val="100000"/>
              <a:buChar char="•"/>
            </a:pPr>
            <a:r>
              <a:rPr lang="en-US" sz="1050" dirty="0">
                <a:solidFill>
                  <a:srgbClr val="000000"/>
                </a:solidFill>
                <a:latin typeface="Meiryo UI" pitchFamily="34" charset="0"/>
                <a:ea typeface="Meiryo UI" pitchFamily="34" charset="-122"/>
                <a:cs typeface="Meiryo UI" pitchFamily="34" charset="-120"/>
              </a:rPr>
              <a:t>過去の好成績コピーを参考例として、複数案を作る</a:t>
            </a:r>
            <a:endParaRPr lang="en-US" sz="1050" dirty="0"/>
          </a:p>
        </p:txBody>
      </p:sp>
      <p:sp>
        <p:nvSpPr>
          <p:cNvPr id="32" name="Shape 27"/>
          <p:cNvSpPr/>
          <p:nvPr/>
        </p:nvSpPr>
        <p:spPr>
          <a:xfrm>
            <a:off x="6327648" y="3977640"/>
            <a:ext cx="2322576" cy="420624"/>
          </a:xfrm>
          <a:prstGeom prst="roundRect">
            <a:avLst>
              <a:gd name="adj" fmla="val 17391"/>
            </a:avLst>
          </a:prstGeom>
          <a:solidFill>
            <a:srgbClr val="FDEBD3"/>
          </a:solidFill>
          <a:ln/>
        </p:spPr>
      </p:sp>
      <p:sp>
        <p:nvSpPr>
          <p:cNvPr id="33" name="Text 28"/>
          <p:cNvSpPr txBox="1"/>
          <p:nvPr/>
        </p:nvSpPr>
        <p:spPr>
          <a:xfrm>
            <a:off x="6327648" y="3977640"/>
            <a:ext cx="2322576" cy="420624"/>
          </a:xfrm>
          <a:prstGeom prst="rect">
            <a:avLst/>
          </a:prstGeom>
          <a:noFill/>
          <a:ln/>
        </p:spPr>
        <p:txBody>
          <a:bodyPr wrap="square" lIns="0" tIns="0" rIns="0" bIns="0" rtlCol="0" anchor="ctr"/>
          <a:lstStyle/>
          <a:p>
            <a:pPr algn="ctr" indent="0" marL="0">
              <a:buNone/>
            </a:pPr>
            <a:r>
              <a:rPr lang="en-US" sz="1050" b="1" dirty="0">
                <a:solidFill>
                  <a:srgbClr val="E8912D"/>
                </a:solidFill>
                <a:latin typeface="Meiryo UI" pitchFamily="34" charset="0"/>
                <a:ea typeface="Meiryo UI" pitchFamily="34" charset="-122"/>
                <a:cs typeface="Meiryo UI" pitchFamily="34" charset="-120"/>
              </a:rPr>
              <a:t>人の役割：</a:t>
            </a:r>
            <a:pPr algn="ctr" indent="0" marL="0">
              <a:buNone/>
            </a:pPr>
            <a:r>
              <a:rPr lang="en-US" sz="1050" b="1" dirty="0">
                <a:solidFill>
                  <a:srgbClr val="000000"/>
                </a:solidFill>
                <a:latin typeface="Meiryo UI" pitchFamily="34" charset="0"/>
                <a:ea typeface="Meiryo UI" pitchFamily="34" charset="-122"/>
                <a:cs typeface="Meiryo UI" pitchFamily="34" charset="-120"/>
              </a:rPr>
              <a:t>案の選択・微修正</a:t>
            </a:r>
            <a:endParaRPr lang="en-US" sz="1050" dirty="0"/>
          </a:p>
        </p:txBody>
      </p:sp>
      <p:sp>
        <p:nvSpPr>
          <p:cNvPr id="34" name="Text 29"/>
          <p:cNvSpPr txBox="1"/>
          <p:nvPr/>
        </p:nvSpPr>
        <p:spPr>
          <a:xfrm>
            <a:off x="6327648" y="4526280"/>
            <a:ext cx="2377440" cy="256032"/>
          </a:xfrm>
          <a:prstGeom prst="rect">
            <a:avLst/>
          </a:prstGeom>
          <a:noFill/>
          <a:ln/>
        </p:spPr>
        <p:txBody>
          <a:bodyPr wrap="square" lIns="508" tIns="508" rIns="508" bIns="508" rtlCol="0" anchor="t"/>
          <a:lstStyle/>
          <a:p>
            <a:pPr indent="0" marL="0">
              <a:buNone/>
            </a:pPr>
            <a:r>
              <a:rPr lang="en-US" sz="1050" b="1" dirty="0">
                <a:solidFill>
                  <a:srgbClr val="1B2A49"/>
                </a:solidFill>
                <a:latin typeface="Meiryo UI" pitchFamily="34" charset="0"/>
                <a:ea typeface="Meiryo UI" pitchFamily="34" charset="-122"/>
                <a:cs typeface="Meiryo UI" pitchFamily="34" charset="-120"/>
              </a:rPr>
              <a:t>検討ポイント</a:t>
            </a:r>
            <a:endParaRPr lang="en-US" sz="1050" dirty="0"/>
          </a:p>
        </p:txBody>
      </p:sp>
      <p:sp>
        <p:nvSpPr>
          <p:cNvPr id="35" name="Text 30"/>
          <p:cNvSpPr txBox="1"/>
          <p:nvPr/>
        </p:nvSpPr>
        <p:spPr>
          <a:xfrm>
            <a:off x="6327648" y="4800600"/>
            <a:ext cx="2377440" cy="1417320"/>
          </a:xfrm>
          <a:prstGeom prst="rect">
            <a:avLst/>
          </a:prstGeom>
          <a:noFill/>
          <a:ln/>
        </p:spPr>
        <p:txBody>
          <a:bodyPr wrap="square" lIns="254" tIns="254" rIns="254" bIns="254" rtlCol="0" anchor="t"/>
          <a:lstStyle/>
          <a:p>
            <a:pPr marL="152400" indent="-152400">
              <a:spcAft>
                <a:spcPts val="300"/>
              </a:spcAft>
              <a:buSzPct val="100000"/>
              <a:buChar char="•"/>
            </a:pPr>
            <a:r>
              <a:rPr lang="en-US" sz="1050" dirty="0">
                <a:solidFill>
                  <a:srgbClr val="000000"/>
                </a:solidFill>
                <a:latin typeface="Meiryo UI" pitchFamily="34" charset="0"/>
                <a:ea typeface="Meiryo UI" pitchFamily="34" charset="-122"/>
                <a:cs typeface="Meiryo UI" pitchFamily="34" charset="-120"/>
              </a:rPr>
              <a:t>表現規制を確実に守らせる方法</a:t>
            </a:r>
            <a:endParaRPr lang="en-US" sz="1050" dirty="0"/>
          </a:p>
          <a:p>
            <a:pPr marL="152400" indent="-152400">
              <a:spcAft>
                <a:spcPts val="300"/>
              </a:spcAft>
              <a:buSzPct val="100000"/>
              <a:buChar char="•"/>
            </a:pPr>
            <a:r>
              <a:rPr lang="en-US" sz="1050" dirty="0">
                <a:solidFill>
                  <a:srgbClr val="000000"/>
                </a:solidFill>
                <a:latin typeface="Meiryo UI" pitchFamily="34" charset="0"/>
                <a:ea typeface="Meiryo UI" pitchFamily="34" charset="-122"/>
                <a:cs typeface="Meiryo UI" pitchFamily="34" charset="-120"/>
              </a:rPr>
              <a:t>国・言語ごとの対応</a:t>
            </a:r>
            <a:endParaRPr lang="en-US" sz="1050" dirty="0"/>
          </a:p>
          <a:p>
            <a:pPr marL="152400" indent="-152400">
              <a:spcAft>
                <a:spcPts val="300"/>
              </a:spcAft>
              <a:buSzPct val="100000"/>
              <a:buChar char="•"/>
            </a:pPr>
            <a:r>
              <a:rPr lang="en-US" sz="1050" dirty="0">
                <a:solidFill>
                  <a:srgbClr val="000000"/>
                </a:solidFill>
                <a:latin typeface="Meiryo UI" pitchFamily="34" charset="0"/>
                <a:ea typeface="Meiryo UI" pitchFamily="34" charset="-122"/>
                <a:cs typeface="Meiryo UI" pitchFamily="34" charset="-120"/>
              </a:rPr>
              <a:t>コピーを依頼するか自作するかの切り分け</a:t>
            </a:r>
            <a:endParaRPr lang="en-US" sz="1050" dirty="0"/>
          </a:p>
        </p:txBody>
      </p:sp>
      <p:sp>
        <p:nvSpPr>
          <p:cNvPr id="36" name="Shape 31"/>
          <p:cNvSpPr/>
          <p:nvPr/>
        </p:nvSpPr>
        <p:spPr>
          <a:xfrm>
            <a:off x="8970264" y="1417320"/>
            <a:ext cx="2651760" cy="4892040"/>
          </a:xfrm>
          <a:prstGeom prst="roundRect">
            <a:avLst>
              <a:gd name="adj" fmla="val 1724"/>
            </a:avLst>
          </a:prstGeom>
          <a:solidFill>
            <a:srgbClr val="F3F5F8"/>
          </a:solidFill>
          <a:ln/>
        </p:spPr>
      </p:sp>
      <p:sp>
        <p:nvSpPr>
          <p:cNvPr id="37" name="Shape 32"/>
          <p:cNvSpPr/>
          <p:nvPr/>
        </p:nvSpPr>
        <p:spPr>
          <a:xfrm>
            <a:off x="9107424" y="1554480"/>
            <a:ext cx="512064" cy="512064"/>
          </a:xfrm>
          <a:prstGeom prst="ellipse">
            <a:avLst/>
          </a:prstGeom>
          <a:solidFill>
            <a:srgbClr val="FFFFFF"/>
          </a:solidFill>
          <a:ln/>
        </p:spPr>
      </p:sp>
      <p:pic>
        <p:nvPicPr>
          <p:cNvPr id="38" name="Image 3" descr="preencoded.png">    </p:cNvPr>
          <p:cNvPicPr>
            <a:picLocks noChangeAspect="1"/>
          </p:cNvPicPr>
          <p:nvPr/>
        </p:nvPicPr>
        <p:blipFill>
          <a:blip r:embed="rId4"/>
          <a:stretch>
            <a:fillRect/>
          </a:stretch>
        </p:blipFill>
        <p:spPr>
          <a:xfrm>
            <a:off x="9209837" y="1656893"/>
            <a:ext cx="307238" cy="307238"/>
          </a:xfrm>
          <a:prstGeom prst="rect">
            <a:avLst/>
          </a:prstGeom>
        </p:spPr>
      </p:pic>
      <p:sp>
        <p:nvSpPr>
          <p:cNvPr id="39" name="Text 33"/>
          <p:cNvSpPr txBox="1"/>
          <p:nvPr/>
        </p:nvSpPr>
        <p:spPr>
          <a:xfrm>
            <a:off x="9701784" y="1554480"/>
            <a:ext cx="1828800" cy="512064"/>
          </a:xfrm>
          <a:prstGeom prst="rect">
            <a:avLst/>
          </a:prstGeom>
          <a:noFill/>
          <a:ln/>
        </p:spPr>
        <p:txBody>
          <a:bodyPr wrap="square" lIns="508" tIns="508" rIns="508" bIns="508" rtlCol="0" anchor="ctr"/>
          <a:lstStyle/>
          <a:p>
            <a:pPr indent="0" marL="0">
              <a:buNone/>
            </a:pPr>
            <a:r>
              <a:rPr lang="en-US" sz="1400" b="1" dirty="0">
                <a:solidFill>
                  <a:srgbClr val="1B2A49"/>
                </a:solidFill>
                <a:latin typeface="Meiryo UI" pitchFamily="34" charset="0"/>
                <a:ea typeface="Meiryo UI" pitchFamily="34" charset="-122"/>
                <a:cs typeface="Meiryo UI" pitchFamily="34" charset="-120"/>
              </a:rPr>
              <a:t>クリエイティブ制作指示</a:t>
            </a:r>
            <a:endParaRPr lang="en-US" sz="1400" dirty="0"/>
          </a:p>
        </p:txBody>
      </p:sp>
      <p:sp>
        <p:nvSpPr>
          <p:cNvPr id="40" name="Text 34"/>
          <p:cNvSpPr txBox="1"/>
          <p:nvPr/>
        </p:nvSpPr>
        <p:spPr>
          <a:xfrm>
            <a:off x="9134856" y="2212848"/>
            <a:ext cx="2377440" cy="256032"/>
          </a:xfrm>
          <a:prstGeom prst="rect">
            <a:avLst/>
          </a:prstGeom>
          <a:noFill/>
          <a:ln/>
        </p:spPr>
        <p:txBody>
          <a:bodyPr wrap="square" lIns="508" tIns="508" rIns="508" bIns="508" rtlCol="0" anchor="t"/>
          <a:lstStyle/>
          <a:p>
            <a:pPr indent="0" marL="0">
              <a:buNone/>
            </a:pPr>
            <a:r>
              <a:rPr lang="en-US" sz="1050" b="1" dirty="0">
                <a:solidFill>
                  <a:srgbClr val="0E9F9A"/>
                </a:solidFill>
                <a:latin typeface="Meiryo UI" pitchFamily="34" charset="0"/>
                <a:ea typeface="Meiryo UI" pitchFamily="34" charset="-122"/>
                <a:cs typeface="Meiryo UI" pitchFamily="34" charset="-120"/>
              </a:rPr>
              <a:t>AIの役割（例）</a:t>
            </a:r>
            <a:endParaRPr lang="en-US" sz="1050" dirty="0"/>
          </a:p>
        </p:txBody>
      </p:sp>
      <p:sp>
        <p:nvSpPr>
          <p:cNvPr id="41" name="Text 35"/>
          <p:cNvSpPr txBox="1"/>
          <p:nvPr/>
        </p:nvSpPr>
        <p:spPr>
          <a:xfrm>
            <a:off x="9134856" y="2487168"/>
            <a:ext cx="2377440" cy="1417320"/>
          </a:xfrm>
          <a:prstGeom prst="rect">
            <a:avLst/>
          </a:prstGeom>
          <a:noFill/>
          <a:ln/>
        </p:spPr>
        <p:txBody>
          <a:bodyPr wrap="square" lIns="254" tIns="254" rIns="254" bIns="254" rtlCol="0" anchor="t"/>
          <a:lstStyle/>
          <a:p>
            <a:pPr marL="152400" indent="-152400">
              <a:spcAft>
                <a:spcPts val="300"/>
              </a:spcAft>
              <a:buSzPct val="100000"/>
              <a:buChar char="•"/>
            </a:pPr>
            <a:r>
              <a:rPr lang="en-US" sz="1050" dirty="0">
                <a:solidFill>
                  <a:srgbClr val="000000"/>
                </a:solidFill>
                <a:latin typeface="Meiryo UI" pitchFamily="34" charset="0"/>
                <a:ea typeface="Meiryo UI" pitchFamily="34" charset="-122"/>
                <a:cs typeface="Meiryo UI" pitchFamily="34" charset="-120"/>
              </a:rPr>
              <a:t>指示書の項目（目的・構成・トーン・素材）を固定する</a:t>
            </a:r>
            <a:endParaRPr lang="en-US" sz="1050" dirty="0"/>
          </a:p>
          <a:p>
            <a:pPr marL="152400" indent="-152400">
              <a:spcAft>
                <a:spcPts val="300"/>
              </a:spcAft>
              <a:buSzPct val="100000"/>
              <a:buChar char="•"/>
            </a:pPr>
            <a:r>
              <a:rPr lang="en-US" sz="1050" dirty="0">
                <a:solidFill>
                  <a:srgbClr val="000000"/>
                </a:solidFill>
                <a:latin typeface="Meiryo UI" pitchFamily="34" charset="0"/>
                <a:ea typeface="Meiryo UI" pitchFamily="34" charset="-122"/>
                <a:cs typeface="Meiryo UI" pitchFamily="34" charset="-120"/>
              </a:rPr>
              <a:t>テンプレートに沿って内容を記入する</a:t>
            </a:r>
            <a:endParaRPr lang="en-US" sz="1050" dirty="0"/>
          </a:p>
        </p:txBody>
      </p:sp>
      <p:sp>
        <p:nvSpPr>
          <p:cNvPr id="42" name="Shape 36"/>
          <p:cNvSpPr/>
          <p:nvPr/>
        </p:nvSpPr>
        <p:spPr>
          <a:xfrm>
            <a:off x="9134856" y="3977640"/>
            <a:ext cx="2322576" cy="420624"/>
          </a:xfrm>
          <a:prstGeom prst="roundRect">
            <a:avLst>
              <a:gd name="adj" fmla="val 17391"/>
            </a:avLst>
          </a:prstGeom>
          <a:solidFill>
            <a:srgbClr val="FDEBD3"/>
          </a:solidFill>
          <a:ln/>
        </p:spPr>
      </p:sp>
      <p:sp>
        <p:nvSpPr>
          <p:cNvPr id="43" name="Text 37"/>
          <p:cNvSpPr txBox="1"/>
          <p:nvPr/>
        </p:nvSpPr>
        <p:spPr>
          <a:xfrm>
            <a:off x="9134856" y="3977640"/>
            <a:ext cx="2322576" cy="420624"/>
          </a:xfrm>
          <a:prstGeom prst="rect">
            <a:avLst/>
          </a:prstGeom>
          <a:noFill/>
          <a:ln/>
        </p:spPr>
        <p:txBody>
          <a:bodyPr wrap="square" lIns="0" tIns="0" rIns="0" bIns="0" rtlCol="0" anchor="ctr"/>
          <a:lstStyle/>
          <a:p>
            <a:pPr algn="ctr" indent="0" marL="0">
              <a:buNone/>
            </a:pPr>
            <a:r>
              <a:rPr lang="en-US" sz="1050" b="1" dirty="0">
                <a:solidFill>
                  <a:srgbClr val="E8912D"/>
                </a:solidFill>
                <a:latin typeface="Meiryo UI" pitchFamily="34" charset="0"/>
                <a:ea typeface="Meiryo UI" pitchFamily="34" charset="-122"/>
                <a:cs typeface="Meiryo UI" pitchFamily="34" charset="-120"/>
              </a:rPr>
              <a:t>人の役割：</a:t>
            </a:r>
            <a:pPr algn="ctr" indent="0" marL="0">
              <a:buNone/>
            </a:pPr>
            <a:r>
              <a:rPr lang="en-US" sz="1050" b="1" dirty="0">
                <a:solidFill>
                  <a:srgbClr val="000000"/>
                </a:solidFill>
                <a:latin typeface="Meiryo UI" pitchFamily="34" charset="0"/>
                <a:ea typeface="Meiryo UI" pitchFamily="34" charset="-122"/>
                <a:cs typeface="Meiryo UI" pitchFamily="34" charset="-120"/>
              </a:rPr>
              <a:t>内容の確認</a:t>
            </a:r>
            <a:endParaRPr lang="en-US" sz="1050" dirty="0"/>
          </a:p>
        </p:txBody>
      </p:sp>
      <p:sp>
        <p:nvSpPr>
          <p:cNvPr id="44" name="Text 38"/>
          <p:cNvSpPr txBox="1"/>
          <p:nvPr/>
        </p:nvSpPr>
        <p:spPr>
          <a:xfrm>
            <a:off x="9134856" y="4526280"/>
            <a:ext cx="2377440" cy="256032"/>
          </a:xfrm>
          <a:prstGeom prst="rect">
            <a:avLst/>
          </a:prstGeom>
          <a:noFill/>
          <a:ln/>
        </p:spPr>
        <p:txBody>
          <a:bodyPr wrap="square" lIns="508" tIns="508" rIns="508" bIns="508" rtlCol="0" anchor="t"/>
          <a:lstStyle/>
          <a:p>
            <a:pPr indent="0" marL="0">
              <a:buNone/>
            </a:pPr>
            <a:r>
              <a:rPr lang="en-US" sz="1050" b="1" dirty="0">
                <a:solidFill>
                  <a:srgbClr val="1B2A49"/>
                </a:solidFill>
                <a:latin typeface="Meiryo UI" pitchFamily="34" charset="0"/>
                <a:ea typeface="Meiryo UI" pitchFamily="34" charset="-122"/>
                <a:cs typeface="Meiryo UI" pitchFamily="34" charset="-120"/>
              </a:rPr>
              <a:t>検討ポイント</a:t>
            </a:r>
            <a:endParaRPr lang="en-US" sz="1050" dirty="0"/>
          </a:p>
        </p:txBody>
      </p:sp>
      <p:sp>
        <p:nvSpPr>
          <p:cNvPr id="45" name="Text 39"/>
          <p:cNvSpPr txBox="1"/>
          <p:nvPr/>
        </p:nvSpPr>
        <p:spPr>
          <a:xfrm>
            <a:off x="9134856" y="4800600"/>
            <a:ext cx="2377440" cy="1417320"/>
          </a:xfrm>
          <a:prstGeom prst="rect">
            <a:avLst/>
          </a:prstGeom>
          <a:noFill/>
          <a:ln/>
        </p:spPr>
        <p:txBody>
          <a:bodyPr wrap="square" lIns="254" tIns="254" rIns="254" bIns="254" rtlCol="0" anchor="t"/>
          <a:lstStyle/>
          <a:p>
            <a:pPr marL="152400" indent="-152400">
              <a:spcAft>
                <a:spcPts val="300"/>
              </a:spcAft>
              <a:buSzPct val="100000"/>
              <a:buChar char="•"/>
            </a:pPr>
            <a:r>
              <a:rPr lang="en-US" sz="1050" dirty="0">
                <a:solidFill>
                  <a:srgbClr val="000000"/>
                </a:solidFill>
                <a:latin typeface="Meiryo UI" pitchFamily="34" charset="0"/>
                <a:ea typeface="Meiryo UI" pitchFamily="34" charset="-122"/>
                <a:cs typeface="Meiryo UI" pitchFamily="34" charset="-120"/>
              </a:rPr>
              <a:t>制作部署が必要とする粒度</a:t>
            </a:r>
            <a:endParaRPr lang="en-US" sz="1050" dirty="0"/>
          </a:p>
          <a:p>
            <a:pPr marL="152400" indent="-152400">
              <a:spcAft>
                <a:spcPts val="300"/>
              </a:spcAft>
              <a:buSzPct val="100000"/>
              <a:buChar char="•"/>
            </a:pPr>
            <a:r>
              <a:rPr lang="en-US" sz="1050" dirty="0">
                <a:solidFill>
                  <a:srgbClr val="000000"/>
                </a:solidFill>
                <a:latin typeface="Meiryo UI" pitchFamily="34" charset="0"/>
                <a:ea typeface="Meiryo UI" pitchFamily="34" charset="-122"/>
                <a:cs typeface="Meiryo UI" pitchFamily="34" charset="-120"/>
              </a:rPr>
              <a:t>テンプレートをどこまで固定するか</a:t>
            </a:r>
            <a:endParaRPr lang="en-US" sz="1050" dirty="0"/>
          </a:p>
          <a:p>
            <a:pPr marL="152400" indent="-152400">
              <a:spcAft>
                <a:spcPts val="300"/>
              </a:spcAft>
              <a:buSzPct val="100000"/>
              <a:buChar char="•"/>
            </a:pPr>
            <a:r>
              <a:rPr lang="en-US" sz="1050" dirty="0">
                <a:solidFill>
                  <a:srgbClr val="000000"/>
                </a:solidFill>
                <a:latin typeface="Meiryo UI" pitchFamily="34" charset="0"/>
                <a:ea typeface="Meiryo UI" pitchFamily="34" charset="-122"/>
                <a:cs typeface="Meiryo UI" pitchFamily="34" charset="-120"/>
              </a:rPr>
              <a:t>手戻りをどれだけ減らせるか</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548640"/>
          </a:xfrm>
          <a:prstGeom prst="rect">
            <a:avLst/>
          </a:prstGeom>
          <a:noFill/>
          <a:ln/>
        </p:spPr>
        <p:txBody>
          <a:bodyPr wrap="square" lIns="0" tIns="0" rIns="0" bIns="0" rtlCol="0" anchor="ctr"/>
          <a:lstStyle/>
          <a:p>
            <a:pPr indent="0" marL="0">
              <a:buNone/>
            </a:pPr>
            <a:r>
              <a:rPr lang="en-US" sz="2600" b="1" dirty="0">
                <a:solidFill>
                  <a:srgbClr val="1B2A49"/>
                </a:solidFill>
                <a:latin typeface="Meiryo UI" pitchFamily="34" charset="0"/>
                <a:ea typeface="Meiryo UI" pitchFamily="34" charset="-122"/>
                <a:cs typeface="Meiryo UI" pitchFamily="34" charset="-120"/>
              </a:rPr>
              <a:t>検討の4つの軸</a:t>
            </a:r>
            <a:endParaRPr lang="en-US" sz="2600" dirty="0"/>
          </a:p>
        </p:txBody>
      </p:sp>
      <p:sp>
        <p:nvSpPr>
          <p:cNvPr id="3" name="Text 1"/>
          <p:cNvSpPr txBox="1"/>
          <p:nvPr/>
        </p:nvSpPr>
        <p:spPr>
          <a:xfrm>
            <a:off x="548640" y="896112"/>
            <a:ext cx="11064240" cy="365760"/>
          </a:xfrm>
          <a:prstGeom prst="rect">
            <a:avLst/>
          </a:prstGeom>
          <a:noFill/>
          <a:ln/>
        </p:spPr>
        <p:txBody>
          <a:bodyPr wrap="square" lIns="0" tIns="0" rIns="0" bIns="0" rtlCol="0" anchor="ctr"/>
          <a:lstStyle/>
          <a:p>
            <a:pPr indent="0" marL="0">
              <a:buNone/>
            </a:pPr>
            <a:r>
              <a:rPr lang="en-US" sz="1400" dirty="0">
                <a:solidFill>
                  <a:srgbClr val="6B7280"/>
                </a:solidFill>
                <a:latin typeface="Meiryo UI" pitchFamily="34" charset="0"/>
                <a:ea typeface="Meiryo UI" pitchFamily="34" charset="-122"/>
                <a:cs typeface="Meiryo UI" pitchFamily="34" charset="-120"/>
              </a:rPr>
              <a:t>軸1〜3の組み合わせで構成パターンが決まり、軸4（展開の単位）はどのパターンとも組み合わせられる</a:t>
            </a:r>
            <a:endParaRPr lang="en-US" sz="1400" dirty="0"/>
          </a:p>
        </p:txBody>
      </p:sp>
      <p:sp>
        <p:nvSpPr>
          <p:cNvPr id="4" name="Text 2"/>
          <p:cNvSpPr txBox="1"/>
          <p:nvPr/>
        </p:nvSpPr>
        <p:spPr>
          <a:xfrm>
            <a:off x="7498080" y="91440"/>
            <a:ext cx="4114800" cy="22860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1. 現状と検討の枠組み</a:t>
            </a:r>
            <a:endParaRPr lang="en-US" sz="900" dirty="0"/>
          </a:p>
        </p:txBody>
      </p:sp>
      <p:sp>
        <p:nvSpPr>
          <p:cNvPr id="5" name="Text 3"/>
          <p:cNvSpPr txBox="1"/>
          <p:nvPr/>
        </p:nvSpPr>
        <p:spPr>
          <a:xfrm>
            <a:off x="11247120" y="6446520"/>
            <a:ext cx="457200" cy="27432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5</a:t>
            </a:r>
            <a:endParaRPr lang="en-US" sz="900" dirty="0"/>
          </a:p>
        </p:txBody>
      </p:sp>
      <p:sp>
        <p:nvSpPr>
          <p:cNvPr id="6" name="Shape 4"/>
          <p:cNvSpPr/>
          <p:nvPr/>
        </p:nvSpPr>
        <p:spPr>
          <a:xfrm>
            <a:off x="548640" y="1463040"/>
            <a:ext cx="2651760" cy="4846320"/>
          </a:xfrm>
          <a:prstGeom prst="roundRect">
            <a:avLst>
              <a:gd name="adj" fmla="val 1724"/>
            </a:avLst>
          </a:prstGeom>
          <a:solidFill>
            <a:srgbClr val="F3F5F8"/>
          </a:solidFill>
          <a:ln/>
        </p:spPr>
      </p:sp>
      <p:sp>
        <p:nvSpPr>
          <p:cNvPr id="7" name="Shape 5"/>
          <p:cNvSpPr/>
          <p:nvPr/>
        </p:nvSpPr>
        <p:spPr>
          <a:xfrm>
            <a:off x="731520" y="1645920"/>
            <a:ext cx="685800" cy="310896"/>
          </a:xfrm>
          <a:prstGeom prst="roundRect">
            <a:avLst>
              <a:gd name="adj" fmla="val 50000"/>
            </a:avLst>
          </a:prstGeom>
          <a:solidFill>
            <a:srgbClr val="1B2A49"/>
          </a:solidFill>
          <a:ln/>
        </p:spPr>
      </p:sp>
      <p:sp>
        <p:nvSpPr>
          <p:cNvPr id="8" name="Text 6"/>
          <p:cNvSpPr txBox="1"/>
          <p:nvPr/>
        </p:nvSpPr>
        <p:spPr>
          <a:xfrm>
            <a:off x="731520" y="1645920"/>
            <a:ext cx="685800" cy="310896"/>
          </a:xfrm>
          <a:prstGeom prst="rect">
            <a:avLst/>
          </a:prstGeom>
          <a:noFill/>
          <a:ln/>
        </p:spPr>
        <p:txBody>
          <a:bodyPr wrap="square" lIns="762" tIns="762" rIns="762" bIns="762" rtlCol="0" anchor="ctr"/>
          <a:lstStyle/>
          <a:p>
            <a:pPr algn="ctr" indent="0" marL="0">
              <a:buNone/>
            </a:pPr>
            <a:r>
              <a:rPr lang="en-US" sz="1050" b="1" dirty="0">
                <a:solidFill>
                  <a:srgbClr val="FFFFFF"/>
                </a:solidFill>
                <a:latin typeface="Meiryo UI" pitchFamily="34" charset="0"/>
                <a:ea typeface="Meiryo UI" pitchFamily="34" charset="-122"/>
                <a:cs typeface="Meiryo UI" pitchFamily="34" charset="-120"/>
              </a:rPr>
              <a:t>軸1</a:t>
            </a:r>
            <a:endParaRPr lang="en-US" sz="1050" dirty="0"/>
          </a:p>
        </p:txBody>
      </p:sp>
      <p:pic>
        <p:nvPicPr>
          <p:cNvPr id="9" name="Image 0" descr="preencoded.png">    </p:cNvPr>
          <p:cNvPicPr>
            <a:picLocks noChangeAspect="1"/>
          </p:cNvPicPr>
          <p:nvPr/>
        </p:nvPicPr>
        <p:blipFill>
          <a:blip r:embed="rId1"/>
          <a:stretch>
            <a:fillRect/>
          </a:stretch>
        </p:blipFill>
        <p:spPr>
          <a:xfrm>
            <a:off x="2606040" y="1572768"/>
            <a:ext cx="402336" cy="402336"/>
          </a:xfrm>
          <a:prstGeom prst="rect">
            <a:avLst/>
          </a:prstGeom>
        </p:spPr>
      </p:pic>
      <p:sp>
        <p:nvSpPr>
          <p:cNvPr id="10" name="Text 7"/>
          <p:cNvSpPr txBox="1"/>
          <p:nvPr/>
        </p:nvSpPr>
        <p:spPr>
          <a:xfrm>
            <a:off x="731520" y="2103120"/>
            <a:ext cx="2377440" cy="457200"/>
          </a:xfrm>
          <a:prstGeom prst="rect">
            <a:avLst/>
          </a:prstGeom>
          <a:noFill/>
          <a:ln/>
        </p:spPr>
        <p:txBody>
          <a:bodyPr wrap="square" lIns="508" tIns="508" rIns="508" bIns="508" rtlCol="0" anchor="ctr"/>
          <a:lstStyle/>
          <a:p>
            <a:pPr indent="0" marL="0">
              <a:buNone/>
            </a:pPr>
            <a:r>
              <a:rPr lang="en-US" sz="1500" b="1" dirty="0">
                <a:solidFill>
                  <a:srgbClr val="1B2A49"/>
                </a:solidFill>
                <a:latin typeface="Meiryo UI" pitchFamily="34" charset="0"/>
                <a:ea typeface="Meiryo UI" pitchFamily="34" charset="-122"/>
                <a:cs typeface="Meiryo UI" pitchFamily="34" charset="-120"/>
              </a:rPr>
              <a:t>データとAIの集約先</a:t>
            </a:r>
            <a:endParaRPr lang="en-US" sz="1500" dirty="0"/>
          </a:p>
        </p:txBody>
      </p:sp>
      <p:sp>
        <p:nvSpPr>
          <p:cNvPr id="11" name="Text 8"/>
          <p:cNvSpPr txBox="1"/>
          <p:nvPr/>
        </p:nvSpPr>
        <p:spPr>
          <a:xfrm>
            <a:off x="731520" y="2606040"/>
            <a:ext cx="2377440" cy="594360"/>
          </a:xfrm>
          <a:prstGeom prst="rect">
            <a:avLst/>
          </a:prstGeom>
          <a:noFill/>
          <a:ln/>
        </p:spPr>
        <p:txBody>
          <a:bodyPr wrap="square" lIns="508" tIns="508" rIns="508" bIns="508" rtlCol="0" anchor="t"/>
          <a:lstStyle/>
          <a:p>
            <a:pPr indent="0" marL="0">
              <a:buNone/>
            </a:pPr>
            <a:r>
              <a:rPr lang="en-US" sz="1050" dirty="0">
                <a:solidFill>
                  <a:srgbClr val="6B7280"/>
                </a:solidFill>
                <a:latin typeface="Meiryo UI" pitchFamily="34" charset="0"/>
                <a:ea typeface="Meiryo UI" pitchFamily="34" charset="-122"/>
                <a:cs typeface="Meiryo UI" pitchFamily="34" charset="-120"/>
              </a:rPr>
              <a:t>資料・数値データ・AIを、どちらのクラウドに寄せるか</a:t>
            </a:r>
            <a:endParaRPr lang="en-US" sz="1050" dirty="0"/>
          </a:p>
        </p:txBody>
      </p:sp>
      <p:sp>
        <p:nvSpPr>
          <p:cNvPr id="12" name="Shape 9"/>
          <p:cNvSpPr/>
          <p:nvPr/>
        </p:nvSpPr>
        <p:spPr>
          <a:xfrm>
            <a:off x="731520" y="3337560"/>
            <a:ext cx="2286000" cy="585216"/>
          </a:xfrm>
          <a:prstGeom prst="roundRect">
            <a:avLst>
              <a:gd name="adj" fmla="val 12500"/>
            </a:avLst>
          </a:prstGeom>
          <a:solidFill>
            <a:srgbClr val="FFFFFF"/>
          </a:solidFill>
          <a:ln w="12700">
            <a:solidFill>
              <a:srgbClr val="D5DBE3"/>
            </a:solidFill>
            <a:prstDash val="solid"/>
          </a:ln>
        </p:spPr>
      </p:sp>
      <p:pic>
        <p:nvPicPr>
          <p:cNvPr id="13" name="Image 1" descr="preencoded.png">    </p:cNvPr>
          <p:cNvPicPr>
            <a:picLocks noChangeAspect="1"/>
          </p:cNvPicPr>
          <p:nvPr/>
        </p:nvPicPr>
        <p:blipFill>
          <a:blip r:embed="rId2"/>
          <a:stretch>
            <a:fillRect/>
          </a:stretch>
        </p:blipFill>
        <p:spPr>
          <a:xfrm>
            <a:off x="841248" y="3483864"/>
            <a:ext cx="292608" cy="292608"/>
          </a:xfrm>
          <a:prstGeom prst="rect">
            <a:avLst/>
          </a:prstGeom>
        </p:spPr>
      </p:pic>
      <p:sp>
        <p:nvSpPr>
          <p:cNvPr id="14" name="Text 10"/>
          <p:cNvSpPr txBox="1"/>
          <p:nvPr/>
        </p:nvSpPr>
        <p:spPr>
          <a:xfrm>
            <a:off x="1225296" y="3337560"/>
            <a:ext cx="1746504" cy="585216"/>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M365に寄せる</a:t>
            </a:r>
            <a:endParaRPr lang="en-US" sz="1050" dirty="0"/>
          </a:p>
        </p:txBody>
      </p:sp>
      <p:sp>
        <p:nvSpPr>
          <p:cNvPr id="15" name="Shape 11"/>
          <p:cNvSpPr/>
          <p:nvPr/>
        </p:nvSpPr>
        <p:spPr>
          <a:xfrm>
            <a:off x="731520" y="4050792"/>
            <a:ext cx="2286000" cy="585216"/>
          </a:xfrm>
          <a:prstGeom prst="roundRect">
            <a:avLst>
              <a:gd name="adj" fmla="val 12500"/>
            </a:avLst>
          </a:prstGeom>
          <a:solidFill>
            <a:srgbClr val="FFFFFF"/>
          </a:solidFill>
          <a:ln w="12700">
            <a:solidFill>
              <a:srgbClr val="D5DBE3"/>
            </a:solidFill>
            <a:prstDash val="solid"/>
          </a:ln>
        </p:spPr>
      </p:sp>
      <p:pic>
        <p:nvPicPr>
          <p:cNvPr id="16" name="Image 2" descr="preencoded.png">    </p:cNvPr>
          <p:cNvPicPr>
            <a:picLocks noChangeAspect="1"/>
          </p:cNvPicPr>
          <p:nvPr/>
        </p:nvPicPr>
        <p:blipFill>
          <a:blip r:embed="rId3"/>
          <a:stretch>
            <a:fillRect/>
          </a:stretch>
        </p:blipFill>
        <p:spPr>
          <a:xfrm>
            <a:off x="841248" y="4197096"/>
            <a:ext cx="292608" cy="292608"/>
          </a:xfrm>
          <a:prstGeom prst="rect">
            <a:avLst/>
          </a:prstGeom>
        </p:spPr>
      </p:pic>
      <p:sp>
        <p:nvSpPr>
          <p:cNvPr id="17" name="Text 12"/>
          <p:cNvSpPr txBox="1"/>
          <p:nvPr/>
        </p:nvSpPr>
        <p:spPr>
          <a:xfrm>
            <a:off x="1225296" y="4050792"/>
            <a:ext cx="1746504" cy="585216"/>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ハイブリッド</a:t>
            </a:r>
            <a:endParaRPr lang="en-US" sz="1050" dirty="0"/>
          </a:p>
        </p:txBody>
      </p:sp>
      <p:sp>
        <p:nvSpPr>
          <p:cNvPr id="18" name="Shape 13"/>
          <p:cNvSpPr/>
          <p:nvPr/>
        </p:nvSpPr>
        <p:spPr>
          <a:xfrm>
            <a:off x="731520" y="4764024"/>
            <a:ext cx="2286000" cy="585216"/>
          </a:xfrm>
          <a:prstGeom prst="roundRect">
            <a:avLst>
              <a:gd name="adj" fmla="val 12500"/>
            </a:avLst>
          </a:prstGeom>
          <a:solidFill>
            <a:srgbClr val="FFFFFF"/>
          </a:solidFill>
          <a:ln w="12700">
            <a:solidFill>
              <a:srgbClr val="D5DBE3"/>
            </a:solidFill>
            <a:prstDash val="solid"/>
          </a:ln>
        </p:spPr>
      </p:sp>
      <p:pic>
        <p:nvPicPr>
          <p:cNvPr id="19" name="Image 3" descr="preencoded.png">    </p:cNvPr>
          <p:cNvPicPr>
            <a:picLocks noChangeAspect="1"/>
          </p:cNvPicPr>
          <p:nvPr/>
        </p:nvPicPr>
        <p:blipFill>
          <a:blip r:embed="rId4"/>
          <a:stretch>
            <a:fillRect/>
          </a:stretch>
        </p:blipFill>
        <p:spPr>
          <a:xfrm>
            <a:off x="841248" y="4910328"/>
            <a:ext cx="292608" cy="292608"/>
          </a:xfrm>
          <a:prstGeom prst="rect">
            <a:avLst/>
          </a:prstGeom>
        </p:spPr>
      </p:pic>
      <p:sp>
        <p:nvSpPr>
          <p:cNvPr id="20" name="Text 14"/>
          <p:cNvSpPr txBox="1"/>
          <p:nvPr/>
        </p:nvSpPr>
        <p:spPr>
          <a:xfrm>
            <a:off x="1225296" y="4764024"/>
            <a:ext cx="1746504" cy="585216"/>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GCPに寄せる</a:t>
            </a:r>
            <a:endParaRPr lang="en-US" sz="1050" dirty="0"/>
          </a:p>
        </p:txBody>
      </p:sp>
      <p:sp>
        <p:nvSpPr>
          <p:cNvPr id="21" name="Shape 15"/>
          <p:cNvSpPr/>
          <p:nvPr/>
        </p:nvSpPr>
        <p:spPr>
          <a:xfrm>
            <a:off x="3355848" y="1463040"/>
            <a:ext cx="2651760" cy="4846320"/>
          </a:xfrm>
          <a:prstGeom prst="roundRect">
            <a:avLst>
              <a:gd name="adj" fmla="val 1724"/>
            </a:avLst>
          </a:prstGeom>
          <a:solidFill>
            <a:srgbClr val="F3F5F8"/>
          </a:solidFill>
          <a:ln/>
        </p:spPr>
      </p:sp>
      <p:sp>
        <p:nvSpPr>
          <p:cNvPr id="22" name="Shape 16"/>
          <p:cNvSpPr/>
          <p:nvPr/>
        </p:nvSpPr>
        <p:spPr>
          <a:xfrm>
            <a:off x="3538728" y="1645920"/>
            <a:ext cx="685800" cy="310896"/>
          </a:xfrm>
          <a:prstGeom prst="roundRect">
            <a:avLst>
              <a:gd name="adj" fmla="val 50000"/>
            </a:avLst>
          </a:prstGeom>
          <a:solidFill>
            <a:srgbClr val="1B2A49"/>
          </a:solidFill>
          <a:ln/>
        </p:spPr>
      </p:sp>
      <p:sp>
        <p:nvSpPr>
          <p:cNvPr id="23" name="Text 17"/>
          <p:cNvSpPr txBox="1"/>
          <p:nvPr/>
        </p:nvSpPr>
        <p:spPr>
          <a:xfrm>
            <a:off x="3538728" y="1645920"/>
            <a:ext cx="685800" cy="310896"/>
          </a:xfrm>
          <a:prstGeom prst="rect">
            <a:avLst/>
          </a:prstGeom>
          <a:noFill/>
          <a:ln/>
        </p:spPr>
        <p:txBody>
          <a:bodyPr wrap="square" lIns="762" tIns="762" rIns="762" bIns="762" rtlCol="0" anchor="ctr"/>
          <a:lstStyle/>
          <a:p>
            <a:pPr algn="ctr" indent="0" marL="0">
              <a:buNone/>
            </a:pPr>
            <a:r>
              <a:rPr lang="en-US" sz="1050" b="1" dirty="0">
                <a:solidFill>
                  <a:srgbClr val="FFFFFF"/>
                </a:solidFill>
                <a:latin typeface="Meiryo UI" pitchFamily="34" charset="0"/>
                <a:ea typeface="Meiryo UI" pitchFamily="34" charset="-122"/>
                <a:cs typeface="Meiryo UI" pitchFamily="34" charset="-120"/>
              </a:rPr>
              <a:t>軸2</a:t>
            </a:r>
            <a:endParaRPr lang="en-US" sz="1050" dirty="0"/>
          </a:p>
        </p:txBody>
      </p:sp>
      <p:pic>
        <p:nvPicPr>
          <p:cNvPr id="24" name="Image 4" descr="preencoded.png">    </p:cNvPr>
          <p:cNvPicPr>
            <a:picLocks noChangeAspect="1"/>
          </p:cNvPicPr>
          <p:nvPr/>
        </p:nvPicPr>
        <p:blipFill>
          <a:blip r:embed="rId5"/>
          <a:stretch>
            <a:fillRect/>
          </a:stretch>
        </p:blipFill>
        <p:spPr>
          <a:xfrm>
            <a:off x="5413248" y="1572768"/>
            <a:ext cx="402336" cy="402336"/>
          </a:xfrm>
          <a:prstGeom prst="rect">
            <a:avLst/>
          </a:prstGeom>
        </p:spPr>
      </p:pic>
      <p:sp>
        <p:nvSpPr>
          <p:cNvPr id="25" name="Text 18"/>
          <p:cNvSpPr txBox="1"/>
          <p:nvPr/>
        </p:nvSpPr>
        <p:spPr>
          <a:xfrm>
            <a:off x="3538728" y="2103120"/>
            <a:ext cx="2377440" cy="457200"/>
          </a:xfrm>
          <a:prstGeom prst="rect">
            <a:avLst/>
          </a:prstGeom>
          <a:noFill/>
          <a:ln/>
        </p:spPr>
        <p:txBody>
          <a:bodyPr wrap="square" lIns="508" tIns="508" rIns="508" bIns="508" rtlCol="0" anchor="ctr"/>
          <a:lstStyle/>
          <a:p>
            <a:pPr indent="0" marL="0">
              <a:buNone/>
            </a:pPr>
            <a:r>
              <a:rPr lang="en-US" sz="1500" b="1" dirty="0">
                <a:solidFill>
                  <a:srgbClr val="1B2A49"/>
                </a:solidFill>
                <a:latin typeface="Meiryo UI" pitchFamily="34" charset="0"/>
                <a:ea typeface="Meiryo UI" pitchFamily="34" charset="-122"/>
                <a:cs typeface="Meiryo UI" pitchFamily="34" charset="-120"/>
              </a:rPr>
              <a:t>配信管理の基盤</a:t>
            </a:r>
            <a:endParaRPr lang="en-US" sz="1500" dirty="0"/>
          </a:p>
        </p:txBody>
      </p:sp>
      <p:sp>
        <p:nvSpPr>
          <p:cNvPr id="26" name="Text 19"/>
          <p:cNvSpPr txBox="1"/>
          <p:nvPr/>
        </p:nvSpPr>
        <p:spPr>
          <a:xfrm>
            <a:off x="3538728" y="2606040"/>
            <a:ext cx="2377440" cy="594360"/>
          </a:xfrm>
          <a:prstGeom prst="rect">
            <a:avLst/>
          </a:prstGeom>
          <a:noFill/>
          <a:ln/>
        </p:spPr>
        <p:txBody>
          <a:bodyPr wrap="square" lIns="508" tIns="508" rIns="508" bIns="508" rtlCol="0" anchor="t"/>
          <a:lstStyle/>
          <a:p>
            <a:pPr indent="0" marL="0">
              <a:buNone/>
            </a:pPr>
            <a:r>
              <a:rPr lang="en-US" sz="1050" dirty="0">
                <a:solidFill>
                  <a:srgbClr val="6B7280"/>
                </a:solidFill>
                <a:latin typeface="Meiryo UI" pitchFamily="34" charset="0"/>
                <a:ea typeface="Meiryo UI" pitchFamily="34" charset="-122"/>
                <a:cs typeface="Meiryo UI" pitchFamily="34" charset="-120"/>
              </a:rPr>
              <a:t>配信カレンダー・カードを、どこで管理するか</a:t>
            </a:r>
            <a:endParaRPr lang="en-US" sz="1050" dirty="0"/>
          </a:p>
        </p:txBody>
      </p:sp>
      <p:sp>
        <p:nvSpPr>
          <p:cNvPr id="27" name="Shape 20"/>
          <p:cNvSpPr/>
          <p:nvPr/>
        </p:nvSpPr>
        <p:spPr>
          <a:xfrm>
            <a:off x="3538728" y="3337560"/>
            <a:ext cx="2286000" cy="585216"/>
          </a:xfrm>
          <a:prstGeom prst="roundRect">
            <a:avLst>
              <a:gd name="adj" fmla="val 12500"/>
            </a:avLst>
          </a:prstGeom>
          <a:solidFill>
            <a:srgbClr val="FFFFFF"/>
          </a:solidFill>
          <a:ln w="12700">
            <a:solidFill>
              <a:srgbClr val="D5DBE3"/>
            </a:solidFill>
            <a:prstDash val="solid"/>
          </a:ln>
        </p:spPr>
      </p:sp>
      <p:pic>
        <p:nvPicPr>
          <p:cNvPr id="28" name="Image 5" descr="preencoded.png">    </p:cNvPr>
          <p:cNvPicPr>
            <a:picLocks noChangeAspect="1"/>
          </p:cNvPicPr>
          <p:nvPr/>
        </p:nvPicPr>
        <p:blipFill>
          <a:blip r:embed="rId6"/>
          <a:stretch>
            <a:fillRect/>
          </a:stretch>
        </p:blipFill>
        <p:spPr>
          <a:xfrm>
            <a:off x="3648456" y="3483864"/>
            <a:ext cx="292608" cy="292608"/>
          </a:xfrm>
          <a:prstGeom prst="rect">
            <a:avLst/>
          </a:prstGeom>
        </p:spPr>
      </p:pic>
      <p:sp>
        <p:nvSpPr>
          <p:cNvPr id="29" name="Text 21"/>
          <p:cNvSpPr txBox="1"/>
          <p:nvPr/>
        </p:nvSpPr>
        <p:spPr>
          <a:xfrm>
            <a:off x="4032504" y="3337560"/>
            <a:ext cx="1746504" cy="585216"/>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Airtableを継続</a:t>
            </a:r>
            <a:endParaRPr lang="en-US" sz="1050" dirty="0"/>
          </a:p>
        </p:txBody>
      </p:sp>
      <p:sp>
        <p:nvSpPr>
          <p:cNvPr id="30" name="Shape 22"/>
          <p:cNvSpPr/>
          <p:nvPr/>
        </p:nvSpPr>
        <p:spPr>
          <a:xfrm>
            <a:off x="3538728" y="4050792"/>
            <a:ext cx="2286000" cy="585216"/>
          </a:xfrm>
          <a:prstGeom prst="roundRect">
            <a:avLst>
              <a:gd name="adj" fmla="val 12500"/>
            </a:avLst>
          </a:prstGeom>
          <a:solidFill>
            <a:srgbClr val="FFFFFF"/>
          </a:solidFill>
          <a:ln w="12700">
            <a:solidFill>
              <a:srgbClr val="D5DBE3"/>
            </a:solidFill>
            <a:prstDash val="solid"/>
          </a:ln>
        </p:spPr>
      </p:sp>
      <p:pic>
        <p:nvPicPr>
          <p:cNvPr id="31" name="Image 6" descr="preencoded.png">    </p:cNvPr>
          <p:cNvPicPr>
            <a:picLocks noChangeAspect="1"/>
          </p:cNvPicPr>
          <p:nvPr/>
        </p:nvPicPr>
        <p:blipFill>
          <a:blip r:embed="rId7"/>
          <a:stretch>
            <a:fillRect/>
          </a:stretch>
        </p:blipFill>
        <p:spPr>
          <a:xfrm>
            <a:off x="3648456" y="4197096"/>
            <a:ext cx="292608" cy="292608"/>
          </a:xfrm>
          <a:prstGeom prst="rect">
            <a:avLst/>
          </a:prstGeom>
        </p:spPr>
      </p:pic>
      <p:sp>
        <p:nvSpPr>
          <p:cNvPr id="32" name="Text 23"/>
          <p:cNvSpPr txBox="1"/>
          <p:nvPr/>
        </p:nvSpPr>
        <p:spPr>
          <a:xfrm>
            <a:off x="4032504" y="4050792"/>
            <a:ext cx="1746504" cy="585216"/>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Microsoft Listsに移行</a:t>
            </a:r>
            <a:endParaRPr lang="en-US" sz="1050" dirty="0"/>
          </a:p>
        </p:txBody>
      </p:sp>
      <p:sp>
        <p:nvSpPr>
          <p:cNvPr id="33" name="Shape 24"/>
          <p:cNvSpPr/>
          <p:nvPr/>
        </p:nvSpPr>
        <p:spPr>
          <a:xfrm>
            <a:off x="3538728" y="4764024"/>
            <a:ext cx="2286000" cy="585216"/>
          </a:xfrm>
          <a:prstGeom prst="roundRect">
            <a:avLst>
              <a:gd name="adj" fmla="val 12500"/>
            </a:avLst>
          </a:prstGeom>
          <a:solidFill>
            <a:srgbClr val="FFFFFF"/>
          </a:solidFill>
          <a:ln w="12700">
            <a:solidFill>
              <a:srgbClr val="D5DBE3"/>
            </a:solidFill>
            <a:prstDash val="solid"/>
          </a:ln>
        </p:spPr>
      </p:sp>
      <p:pic>
        <p:nvPicPr>
          <p:cNvPr id="34" name="Image 7" descr="preencoded.png">    </p:cNvPr>
          <p:cNvPicPr>
            <a:picLocks noChangeAspect="1"/>
          </p:cNvPicPr>
          <p:nvPr/>
        </p:nvPicPr>
        <p:blipFill>
          <a:blip r:embed="rId8"/>
          <a:stretch>
            <a:fillRect/>
          </a:stretch>
        </p:blipFill>
        <p:spPr>
          <a:xfrm>
            <a:off x="3648456" y="4910328"/>
            <a:ext cx="292608" cy="292608"/>
          </a:xfrm>
          <a:prstGeom prst="rect">
            <a:avLst/>
          </a:prstGeom>
        </p:spPr>
      </p:pic>
      <p:sp>
        <p:nvSpPr>
          <p:cNvPr id="35" name="Text 25"/>
          <p:cNvSpPr txBox="1"/>
          <p:nvPr/>
        </p:nvSpPr>
        <p:spPr>
          <a:xfrm>
            <a:off x="4032504" y="4764024"/>
            <a:ext cx="1746504" cy="585216"/>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Power Apps／code apps</a:t>
            </a:r>
            <a:endParaRPr lang="en-US" sz="1050" dirty="0"/>
          </a:p>
        </p:txBody>
      </p:sp>
      <p:sp>
        <p:nvSpPr>
          <p:cNvPr id="36" name="Shape 26"/>
          <p:cNvSpPr/>
          <p:nvPr/>
        </p:nvSpPr>
        <p:spPr>
          <a:xfrm>
            <a:off x="3538728" y="5477256"/>
            <a:ext cx="2286000" cy="585216"/>
          </a:xfrm>
          <a:prstGeom prst="roundRect">
            <a:avLst>
              <a:gd name="adj" fmla="val 12500"/>
            </a:avLst>
          </a:prstGeom>
          <a:solidFill>
            <a:srgbClr val="FFFFFF"/>
          </a:solidFill>
          <a:ln w="12700">
            <a:solidFill>
              <a:srgbClr val="D5DBE3"/>
            </a:solidFill>
            <a:prstDash val="solid"/>
          </a:ln>
        </p:spPr>
      </p:sp>
      <p:pic>
        <p:nvPicPr>
          <p:cNvPr id="37" name="Image 8" descr="preencoded.png">    </p:cNvPr>
          <p:cNvPicPr>
            <a:picLocks noChangeAspect="1"/>
          </p:cNvPicPr>
          <p:nvPr/>
        </p:nvPicPr>
        <p:blipFill>
          <a:blip r:embed="rId9"/>
          <a:stretch>
            <a:fillRect/>
          </a:stretch>
        </p:blipFill>
        <p:spPr>
          <a:xfrm>
            <a:off x="3648456" y="5623560"/>
            <a:ext cx="292608" cy="292608"/>
          </a:xfrm>
          <a:prstGeom prst="rect">
            <a:avLst/>
          </a:prstGeom>
        </p:spPr>
      </p:pic>
      <p:sp>
        <p:nvSpPr>
          <p:cNvPr id="38" name="Text 27"/>
          <p:cNvSpPr txBox="1"/>
          <p:nvPr/>
        </p:nvSpPr>
        <p:spPr>
          <a:xfrm>
            <a:off x="4032504" y="5477256"/>
            <a:ext cx="1746504" cy="585216"/>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スクラッチ開発</a:t>
            </a:r>
            <a:endParaRPr lang="en-US" sz="1050" dirty="0"/>
          </a:p>
        </p:txBody>
      </p:sp>
      <p:sp>
        <p:nvSpPr>
          <p:cNvPr id="39" name="Shape 28"/>
          <p:cNvSpPr/>
          <p:nvPr/>
        </p:nvSpPr>
        <p:spPr>
          <a:xfrm>
            <a:off x="6163056" y="1463040"/>
            <a:ext cx="2651760" cy="4846320"/>
          </a:xfrm>
          <a:prstGeom prst="roundRect">
            <a:avLst>
              <a:gd name="adj" fmla="val 1724"/>
            </a:avLst>
          </a:prstGeom>
          <a:solidFill>
            <a:srgbClr val="F3F5F8"/>
          </a:solidFill>
          <a:ln/>
        </p:spPr>
      </p:sp>
      <p:sp>
        <p:nvSpPr>
          <p:cNvPr id="40" name="Shape 29"/>
          <p:cNvSpPr/>
          <p:nvPr/>
        </p:nvSpPr>
        <p:spPr>
          <a:xfrm>
            <a:off x="6345936" y="1645920"/>
            <a:ext cx="685800" cy="310896"/>
          </a:xfrm>
          <a:prstGeom prst="roundRect">
            <a:avLst>
              <a:gd name="adj" fmla="val 50000"/>
            </a:avLst>
          </a:prstGeom>
          <a:solidFill>
            <a:srgbClr val="1B2A49"/>
          </a:solidFill>
          <a:ln/>
        </p:spPr>
      </p:sp>
      <p:sp>
        <p:nvSpPr>
          <p:cNvPr id="41" name="Text 30"/>
          <p:cNvSpPr txBox="1"/>
          <p:nvPr/>
        </p:nvSpPr>
        <p:spPr>
          <a:xfrm>
            <a:off x="6345936" y="1645920"/>
            <a:ext cx="685800" cy="310896"/>
          </a:xfrm>
          <a:prstGeom prst="rect">
            <a:avLst/>
          </a:prstGeom>
          <a:noFill/>
          <a:ln/>
        </p:spPr>
        <p:txBody>
          <a:bodyPr wrap="square" lIns="762" tIns="762" rIns="762" bIns="762" rtlCol="0" anchor="ctr"/>
          <a:lstStyle/>
          <a:p>
            <a:pPr algn="ctr" indent="0" marL="0">
              <a:buNone/>
            </a:pPr>
            <a:r>
              <a:rPr lang="en-US" sz="1050" b="1" dirty="0">
                <a:solidFill>
                  <a:srgbClr val="FFFFFF"/>
                </a:solidFill>
                <a:latin typeface="Meiryo UI" pitchFamily="34" charset="0"/>
                <a:ea typeface="Meiryo UI" pitchFamily="34" charset="-122"/>
                <a:cs typeface="Meiryo UI" pitchFamily="34" charset="-120"/>
              </a:rPr>
              <a:t>軸3</a:t>
            </a:r>
            <a:endParaRPr lang="en-US" sz="1050" dirty="0"/>
          </a:p>
        </p:txBody>
      </p:sp>
      <p:pic>
        <p:nvPicPr>
          <p:cNvPr id="42" name="Image 9" descr="preencoded.png">    </p:cNvPr>
          <p:cNvPicPr>
            <a:picLocks noChangeAspect="1"/>
          </p:cNvPicPr>
          <p:nvPr/>
        </p:nvPicPr>
        <p:blipFill>
          <a:blip r:embed="rId10"/>
          <a:stretch>
            <a:fillRect/>
          </a:stretch>
        </p:blipFill>
        <p:spPr>
          <a:xfrm>
            <a:off x="8220456" y="1572768"/>
            <a:ext cx="402336" cy="402336"/>
          </a:xfrm>
          <a:prstGeom prst="rect">
            <a:avLst/>
          </a:prstGeom>
        </p:spPr>
      </p:pic>
      <p:sp>
        <p:nvSpPr>
          <p:cNvPr id="43" name="Text 31"/>
          <p:cNvSpPr txBox="1"/>
          <p:nvPr/>
        </p:nvSpPr>
        <p:spPr>
          <a:xfrm>
            <a:off x="6345936" y="2103120"/>
            <a:ext cx="2377440" cy="457200"/>
          </a:xfrm>
          <a:prstGeom prst="rect">
            <a:avLst/>
          </a:prstGeom>
          <a:noFill/>
          <a:ln/>
        </p:spPr>
        <p:txBody>
          <a:bodyPr wrap="square" lIns="508" tIns="508" rIns="508" bIns="508" rtlCol="0" anchor="ctr"/>
          <a:lstStyle/>
          <a:p>
            <a:pPr indent="0" marL="0">
              <a:buNone/>
            </a:pPr>
            <a:r>
              <a:rPr lang="en-US" sz="1500" b="1" dirty="0">
                <a:solidFill>
                  <a:srgbClr val="1B2A49"/>
                </a:solidFill>
                <a:latin typeface="Meiryo UI" pitchFamily="34" charset="0"/>
                <a:ea typeface="Meiryo UI" pitchFamily="34" charset="-122"/>
                <a:cs typeface="Meiryo UI" pitchFamily="34" charset="-120"/>
              </a:rPr>
              <a:t>自動化の範囲</a:t>
            </a:r>
            <a:endParaRPr lang="en-US" sz="1500" dirty="0"/>
          </a:p>
        </p:txBody>
      </p:sp>
      <p:sp>
        <p:nvSpPr>
          <p:cNvPr id="44" name="Text 32"/>
          <p:cNvSpPr txBox="1"/>
          <p:nvPr/>
        </p:nvSpPr>
        <p:spPr>
          <a:xfrm>
            <a:off x="6345936" y="2606040"/>
            <a:ext cx="2377440" cy="594360"/>
          </a:xfrm>
          <a:prstGeom prst="rect">
            <a:avLst/>
          </a:prstGeom>
          <a:noFill/>
          <a:ln/>
        </p:spPr>
        <p:txBody>
          <a:bodyPr wrap="square" lIns="508" tIns="508" rIns="508" bIns="508" rtlCol="0" anchor="t"/>
          <a:lstStyle/>
          <a:p>
            <a:pPr indent="0" marL="0">
              <a:buNone/>
            </a:pPr>
            <a:r>
              <a:rPr lang="en-US" sz="1050" dirty="0">
                <a:solidFill>
                  <a:srgbClr val="6B7280"/>
                </a:solidFill>
                <a:latin typeface="Meiryo UI" pitchFamily="34" charset="0"/>
                <a:ea typeface="Meiryo UI" pitchFamily="34" charset="-122"/>
                <a:cs typeface="Meiryo UI" pitchFamily="34" charset="-120"/>
              </a:rPr>
              <a:t>AIにどこまで任せるか（段階的に広げることもできる）</a:t>
            </a:r>
            <a:endParaRPr lang="en-US" sz="1050" dirty="0"/>
          </a:p>
        </p:txBody>
      </p:sp>
      <p:sp>
        <p:nvSpPr>
          <p:cNvPr id="45" name="Shape 33"/>
          <p:cNvSpPr/>
          <p:nvPr/>
        </p:nvSpPr>
        <p:spPr>
          <a:xfrm>
            <a:off x="6345936" y="3337560"/>
            <a:ext cx="2286000" cy="585216"/>
          </a:xfrm>
          <a:prstGeom prst="roundRect">
            <a:avLst>
              <a:gd name="adj" fmla="val 12500"/>
            </a:avLst>
          </a:prstGeom>
          <a:solidFill>
            <a:srgbClr val="FFFFFF"/>
          </a:solidFill>
          <a:ln w="12700">
            <a:solidFill>
              <a:srgbClr val="D5DBE3"/>
            </a:solidFill>
            <a:prstDash val="solid"/>
          </a:ln>
        </p:spPr>
      </p:sp>
      <p:pic>
        <p:nvPicPr>
          <p:cNvPr id="46" name="Image 10" descr="preencoded.png">    </p:cNvPr>
          <p:cNvPicPr>
            <a:picLocks noChangeAspect="1"/>
          </p:cNvPicPr>
          <p:nvPr/>
        </p:nvPicPr>
        <p:blipFill>
          <a:blip r:embed="rId11"/>
          <a:stretch>
            <a:fillRect/>
          </a:stretch>
        </p:blipFill>
        <p:spPr>
          <a:xfrm>
            <a:off x="6455664" y="3483864"/>
            <a:ext cx="292608" cy="292608"/>
          </a:xfrm>
          <a:prstGeom prst="rect">
            <a:avLst/>
          </a:prstGeom>
        </p:spPr>
      </p:pic>
      <p:sp>
        <p:nvSpPr>
          <p:cNvPr id="47" name="Text 34"/>
          <p:cNvSpPr txBox="1"/>
          <p:nvPr/>
        </p:nvSpPr>
        <p:spPr>
          <a:xfrm>
            <a:off x="6839712" y="3337560"/>
            <a:ext cx="1746504" cy="585216"/>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Step1 手動アシスト</a:t>
            </a:r>
            <a:endParaRPr lang="en-US" sz="1050" dirty="0"/>
          </a:p>
        </p:txBody>
      </p:sp>
      <p:sp>
        <p:nvSpPr>
          <p:cNvPr id="48" name="Shape 35"/>
          <p:cNvSpPr/>
          <p:nvPr/>
        </p:nvSpPr>
        <p:spPr>
          <a:xfrm>
            <a:off x="6345936" y="4050792"/>
            <a:ext cx="2286000" cy="585216"/>
          </a:xfrm>
          <a:prstGeom prst="roundRect">
            <a:avLst>
              <a:gd name="adj" fmla="val 12500"/>
            </a:avLst>
          </a:prstGeom>
          <a:solidFill>
            <a:srgbClr val="FFFFFF"/>
          </a:solidFill>
          <a:ln w="12700">
            <a:solidFill>
              <a:srgbClr val="D5DBE3"/>
            </a:solidFill>
            <a:prstDash val="solid"/>
          </a:ln>
        </p:spPr>
      </p:sp>
      <p:pic>
        <p:nvPicPr>
          <p:cNvPr id="49" name="Image 11" descr="preencoded.png">    </p:cNvPr>
          <p:cNvPicPr>
            <a:picLocks noChangeAspect="1"/>
          </p:cNvPicPr>
          <p:nvPr/>
        </p:nvPicPr>
        <p:blipFill>
          <a:blip r:embed="rId12"/>
          <a:stretch>
            <a:fillRect/>
          </a:stretch>
        </p:blipFill>
        <p:spPr>
          <a:xfrm>
            <a:off x="6455664" y="4197096"/>
            <a:ext cx="292608" cy="292608"/>
          </a:xfrm>
          <a:prstGeom prst="rect">
            <a:avLst/>
          </a:prstGeom>
        </p:spPr>
      </p:pic>
      <p:sp>
        <p:nvSpPr>
          <p:cNvPr id="50" name="Text 36"/>
          <p:cNvSpPr txBox="1"/>
          <p:nvPr/>
        </p:nvSpPr>
        <p:spPr>
          <a:xfrm>
            <a:off x="6839712" y="4050792"/>
            <a:ext cx="1746504" cy="585216"/>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Step2 対話型エージェント</a:t>
            </a:r>
            <a:endParaRPr lang="en-US" sz="1050" dirty="0"/>
          </a:p>
        </p:txBody>
      </p:sp>
      <p:sp>
        <p:nvSpPr>
          <p:cNvPr id="51" name="Shape 37"/>
          <p:cNvSpPr/>
          <p:nvPr/>
        </p:nvSpPr>
        <p:spPr>
          <a:xfrm>
            <a:off x="6345936" y="4764024"/>
            <a:ext cx="2286000" cy="585216"/>
          </a:xfrm>
          <a:prstGeom prst="roundRect">
            <a:avLst>
              <a:gd name="adj" fmla="val 12500"/>
            </a:avLst>
          </a:prstGeom>
          <a:solidFill>
            <a:srgbClr val="FFFFFF"/>
          </a:solidFill>
          <a:ln w="12700">
            <a:solidFill>
              <a:srgbClr val="D5DBE3"/>
            </a:solidFill>
            <a:prstDash val="solid"/>
          </a:ln>
        </p:spPr>
      </p:sp>
      <p:pic>
        <p:nvPicPr>
          <p:cNvPr id="52" name="Image 12" descr="preencoded.png">    </p:cNvPr>
          <p:cNvPicPr>
            <a:picLocks noChangeAspect="1"/>
          </p:cNvPicPr>
          <p:nvPr/>
        </p:nvPicPr>
        <p:blipFill>
          <a:blip r:embed="rId13"/>
          <a:stretch>
            <a:fillRect/>
          </a:stretch>
        </p:blipFill>
        <p:spPr>
          <a:xfrm>
            <a:off x="6455664" y="4910328"/>
            <a:ext cx="292608" cy="292608"/>
          </a:xfrm>
          <a:prstGeom prst="rect">
            <a:avLst/>
          </a:prstGeom>
        </p:spPr>
      </p:pic>
      <p:sp>
        <p:nvSpPr>
          <p:cNvPr id="53" name="Text 38"/>
          <p:cNvSpPr txBox="1"/>
          <p:nvPr/>
        </p:nvSpPr>
        <p:spPr>
          <a:xfrm>
            <a:off x="6839712" y="4764024"/>
            <a:ext cx="1746504" cy="585216"/>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Step3 自動起案</a:t>
            </a:r>
            <a:endParaRPr lang="en-US" sz="1050" dirty="0"/>
          </a:p>
        </p:txBody>
      </p:sp>
      <p:sp>
        <p:nvSpPr>
          <p:cNvPr id="54" name="Shape 39"/>
          <p:cNvSpPr/>
          <p:nvPr/>
        </p:nvSpPr>
        <p:spPr>
          <a:xfrm>
            <a:off x="6345936" y="5477256"/>
            <a:ext cx="2286000" cy="585216"/>
          </a:xfrm>
          <a:prstGeom prst="roundRect">
            <a:avLst>
              <a:gd name="adj" fmla="val 12500"/>
            </a:avLst>
          </a:prstGeom>
          <a:solidFill>
            <a:srgbClr val="FFFFFF"/>
          </a:solidFill>
          <a:ln w="12700">
            <a:solidFill>
              <a:srgbClr val="D5DBE3"/>
            </a:solidFill>
            <a:prstDash val="solid"/>
          </a:ln>
        </p:spPr>
      </p:sp>
      <p:pic>
        <p:nvPicPr>
          <p:cNvPr id="55" name="Image 13" descr="preencoded.png">    </p:cNvPr>
          <p:cNvPicPr>
            <a:picLocks noChangeAspect="1"/>
          </p:cNvPicPr>
          <p:nvPr/>
        </p:nvPicPr>
        <p:blipFill>
          <a:blip r:embed="rId14"/>
          <a:stretch>
            <a:fillRect/>
          </a:stretch>
        </p:blipFill>
        <p:spPr>
          <a:xfrm>
            <a:off x="6455664" y="5623560"/>
            <a:ext cx="292608" cy="292608"/>
          </a:xfrm>
          <a:prstGeom prst="rect">
            <a:avLst/>
          </a:prstGeom>
        </p:spPr>
      </p:pic>
      <p:sp>
        <p:nvSpPr>
          <p:cNvPr id="56" name="Text 40"/>
          <p:cNvSpPr txBox="1"/>
          <p:nvPr/>
        </p:nvSpPr>
        <p:spPr>
          <a:xfrm>
            <a:off x="6839712" y="5477256"/>
            <a:ext cx="1746504" cy="585216"/>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Step4 継続的な最適化</a:t>
            </a:r>
            <a:endParaRPr lang="en-US" sz="1050" dirty="0"/>
          </a:p>
        </p:txBody>
      </p:sp>
      <p:sp>
        <p:nvSpPr>
          <p:cNvPr id="57" name="Shape 41"/>
          <p:cNvSpPr/>
          <p:nvPr/>
        </p:nvSpPr>
        <p:spPr>
          <a:xfrm>
            <a:off x="8970264" y="1463040"/>
            <a:ext cx="2651760" cy="4846320"/>
          </a:xfrm>
          <a:prstGeom prst="roundRect">
            <a:avLst>
              <a:gd name="adj" fmla="val 1724"/>
            </a:avLst>
          </a:prstGeom>
          <a:solidFill>
            <a:srgbClr val="D9F2F1"/>
          </a:solidFill>
          <a:ln/>
        </p:spPr>
      </p:sp>
      <p:sp>
        <p:nvSpPr>
          <p:cNvPr id="58" name="Shape 42"/>
          <p:cNvSpPr/>
          <p:nvPr/>
        </p:nvSpPr>
        <p:spPr>
          <a:xfrm>
            <a:off x="9153144" y="1645920"/>
            <a:ext cx="685800" cy="310896"/>
          </a:xfrm>
          <a:prstGeom prst="roundRect">
            <a:avLst>
              <a:gd name="adj" fmla="val 50000"/>
            </a:avLst>
          </a:prstGeom>
          <a:solidFill>
            <a:srgbClr val="1B2A49"/>
          </a:solidFill>
          <a:ln/>
        </p:spPr>
      </p:sp>
      <p:sp>
        <p:nvSpPr>
          <p:cNvPr id="59" name="Text 43"/>
          <p:cNvSpPr txBox="1"/>
          <p:nvPr/>
        </p:nvSpPr>
        <p:spPr>
          <a:xfrm>
            <a:off x="9153144" y="1645920"/>
            <a:ext cx="685800" cy="310896"/>
          </a:xfrm>
          <a:prstGeom prst="rect">
            <a:avLst/>
          </a:prstGeom>
          <a:noFill/>
          <a:ln/>
        </p:spPr>
        <p:txBody>
          <a:bodyPr wrap="square" lIns="762" tIns="762" rIns="762" bIns="762" rtlCol="0" anchor="ctr"/>
          <a:lstStyle/>
          <a:p>
            <a:pPr algn="ctr" indent="0" marL="0">
              <a:buNone/>
            </a:pPr>
            <a:r>
              <a:rPr lang="en-US" sz="1050" b="1" dirty="0">
                <a:solidFill>
                  <a:srgbClr val="FFFFFF"/>
                </a:solidFill>
                <a:latin typeface="Meiryo UI" pitchFamily="34" charset="0"/>
                <a:ea typeface="Meiryo UI" pitchFamily="34" charset="-122"/>
                <a:cs typeface="Meiryo UI" pitchFamily="34" charset="-120"/>
              </a:rPr>
              <a:t>軸4</a:t>
            </a:r>
            <a:endParaRPr lang="en-US" sz="1050" dirty="0"/>
          </a:p>
        </p:txBody>
      </p:sp>
      <p:pic>
        <p:nvPicPr>
          <p:cNvPr id="60" name="Image 14" descr="preencoded.png">    </p:cNvPr>
          <p:cNvPicPr>
            <a:picLocks noChangeAspect="1"/>
          </p:cNvPicPr>
          <p:nvPr/>
        </p:nvPicPr>
        <p:blipFill>
          <a:blip r:embed="rId15"/>
          <a:stretch>
            <a:fillRect/>
          </a:stretch>
        </p:blipFill>
        <p:spPr>
          <a:xfrm>
            <a:off x="11027664" y="1572768"/>
            <a:ext cx="402336" cy="402336"/>
          </a:xfrm>
          <a:prstGeom prst="rect">
            <a:avLst/>
          </a:prstGeom>
        </p:spPr>
      </p:pic>
      <p:sp>
        <p:nvSpPr>
          <p:cNvPr id="61" name="Text 44"/>
          <p:cNvSpPr txBox="1"/>
          <p:nvPr/>
        </p:nvSpPr>
        <p:spPr>
          <a:xfrm>
            <a:off x="9153144" y="2103120"/>
            <a:ext cx="2377440" cy="457200"/>
          </a:xfrm>
          <a:prstGeom prst="rect">
            <a:avLst/>
          </a:prstGeom>
          <a:noFill/>
          <a:ln/>
        </p:spPr>
        <p:txBody>
          <a:bodyPr wrap="square" lIns="508" tIns="508" rIns="508" bIns="508" rtlCol="0" anchor="ctr"/>
          <a:lstStyle/>
          <a:p>
            <a:pPr indent="0" marL="0">
              <a:buNone/>
            </a:pPr>
            <a:r>
              <a:rPr lang="en-US" sz="1500" b="1" dirty="0">
                <a:solidFill>
                  <a:srgbClr val="1B2A49"/>
                </a:solidFill>
                <a:latin typeface="Meiryo UI" pitchFamily="34" charset="0"/>
                <a:ea typeface="Meiryo UI" pitchFamily="34" charset="-122"/>
                <a:cs typeface="Meiryo UI" pitchFamily="34" charset="-120"/>
              </a:rPr>
              <a:t>展開の単位</a:t>
            </a:r>
            <a:endParaRPr lang="en-US" sz="1500" dirty="0"/>
          </a:p>
        </p:txBody>
      </p:sp>
      <p:sp>
        <p:nvSpPr>
          <p:cNvPr id="62" name="Text 45"/>
          <p:cNvSpPr txBox="1"/>
          <p:nvPr/>
        </p:nvSpPr>
        <p:spPr>
          <a:xfrm>
            <a:off x="9153144" y="2606040"/>
            <a:ext cx="2377440" cy="594360"/>
          </a:xfrm>
          <a:prstGeom prst="rect">
            <a:avLst/>
          </a:prstGeom>
          <a:noFill/>
          <a:ln/>
        </p:spPr>
        <p:txBody>
          <a:bodyPr wrap="square" lIns="508" tIns="508" rIns="508" bIns="508" rtlCol="0" anchor="t"/>
          <a:lstStyle/>
          <a:p>
            <a:pPr indent="0" marL="0">
              <a:buNone/>
            </a:pPr>
            <a:r>
              <a:rPr lang="en-US" sz="1050" dirty="0">
                <a:solidFill>
                  <a:srgbClr val="6B7280"/>
                </a:solidFill>
                <a:latin typeface="Meiryo UI" pitchFamily="34" charset="0"/>
                <a:ea typeface="Meiryo UI" pitchFamily="34" charset="-122"/>
                <a:cs typeface="Meiryo UI" pitchFamily="34" charset="-120"/>
              </a:rPr>
              <a:t>国ごとに作るか、共通の仕組みにするか</a:t>
            </a:r>
            <a:endParaRPr lang="en-US" sz="1050" dirty="0"/>
          </a:p>
        </p:txBody>
      </p:sp>
      <p:sp>
        <p:nvSpPr>
          <p:cNvPr id="63" name="Shape 46"/>
          <p:cNvSpPr/>
          <p:nvPr/>
        </p:nvSpPr>
        <p:spPr>
          <a:xfrm>
            <a:off x="9153144" y="3337560"/>
            <a:ext cx="2286000" cy="585216"/>
          </a:xfrm>
          <a:prstGeom prst="roundRect">
            <a:avLst>
              <a:gd name="adj" fmla="val 12500"/>
            </a:avLst>
          </a:prstGeom>
          <a:solidFill>
            <a:srgbClr val="FFFFFF"/>
          </a:solidFill>
          <a:ln w="12700">
            <a:solidFill>
              <a:srgbClr val="D5DBE3"/>
            </a:solidFill>
            <a:prstDash val="solid"/>
          </a:ln>
        </p:spPr>
      </p:sp>
      <p:pic>
        <p:nvPicPr>
          <p:cNvPr id="64" name="Image 15" descr="preencoded.png">    </p:cNvPr>
          <p:cNvPicPr>
            <a:picLocks noChangeAspect="1"/>
          </p:cNvPicPr>
          <p:nvPr/>
        </p:nvPicPr>
        <p:blipFill>
          <a:blip r:embed="rId16"/>
          <a:stretch>
            <a:fillRect/>
          </a:stretch>
        </p:blipFill>
        <p:spPr>
          <a:xfrm>
            <a:off x="9262872" y="3483864"/>
            <a:ext cx="292608" cy="292608"/>
          </a:xfrm>
          <a:prstGeom prst="rect">
            <a:avLst/>
          </a:prstGeom>
        </p:spPr>
      </p:pic>
      <p:sp>
        <p:nvSpPr>
          <p:cNvPr id="65" name="Text 47"/>
          <p:cNvSpPr txBox="1"/>
          <p:nvPr/>
        </p:nvSpPr>
        <p:spPr>
          <a:xfrm>
            <a:off x="9646920" y="3337560"/>
            <a:ext cx="1746504" cy="585216"/>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国別に独立</a:t>
            </a:r>
            <a:endParaRPr lang="en-US" sz="1050" dirty="0"/>
          </a:p>
        </p:txBody>
      </p:sp>
      <p:sp>
        <p:nvSpPr>
          <p:cNvPr id="66" name="Shape 48"/>
          <p:cNvSpPr/>
          <p:nvPr/>
        </p:nvSpPr>
        <p:spPr>
          <a:xfrm>
            <a:off x="9153144" y="4050792"/>
            <a:ext cx="2286000" cy="585216"/>
          </a:xfrm>
          <a:prstGeom prst="roundRect">
            <a:avLst>
              <a:gd name="adj" fmla="val 12500"/>
            </a:avLst>
          </a:prstGeom>
          <a:solidFill>
            <a:srgbClr val="FFFFFF"/>
          </a:solidFill>
          <a:ln w="12700">
            <a:solidFill>
              <a:srgbClr val="D5DBE3"/>
            </a:solidFill>
            <a:prstDash val="solid"/>
          </a:ln>
        </p:spPr>
      </p:sp>
      <p:pic>
        <p:nvPicPr>
          <p:cNvPr id="67" name="Image 16" descr="preencoded.png">    </p:cNvPr>
          <p:cNvPicPr>
            <a:picLocks noChangeAspect="1"/>
          </p:cNvPicPr>
          <p:nvPr/>
        </p:nvPicPr>
        <p:blipFill>
          <a:blip r:embed="rId17"/>
          <a:stretch>
            <a:fillRect/>
          </a:stretch>
        </p:blipFill>
        <p:spPr>
          <a:xfrm>
            <a:off x="9262872" y="4197096"/>
            <a:ext cx="292608" cy="292608"/>
          </a:xfrm>
          <a:prstGeom prst="rect">
            <a:avLst/>
          </a:prstGeom>
        </p:spPr>
      </p:pic>
      <p:sp>
        <p:nvSpPr>
          <p:cNvPr id="68" name="Text 49"/>
          <p:cNvSpPr txBox="1"/>
          <p:nvPr/>
        </p:nvSpPr>
        <p:spPr>
          <a:xfrm>
            <a:off x="9646920" y="4050792"/>
            <a:ext cx="1746504" cy="585216"/>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共通の仕組み＋国別データ</a:t>
            </a:r>
            <a:endParaRPr lang="en-US" sz="1050" dirty="0"/>
          </a:p>
        </p:txBody>
      </p:sp>
      <p:sp>
        <p:nvSpPr>
          <p:cNvPr id="69" name="Shape 50"/>
          <p:cNvSpPr/>
          <p:nvPr/>
        </p:nvSpPr>
        <p:spPr>
          <a:xfrm>
            <a:off x="9153144" y="4764024"/>
            <a:ext cx="2286000" cy="585216"/>
          </a:xfrm>
          <a:prstGeom prst="roundRect">
            <a:avLst>
              <a:gd name="adj" fmla="val 12500"/>
            </a:avLst>
          </a:prstGeom>
          <a:solidFill>
            <a:srgbClr val="FFFFFF"/>
          </a:solidFill>
          <a:ln w="12700">
            <a:solidFill>
              <a:srgbClr val="D5DBE3"/>
            </a:solidFill>
            <a:prstDash val="solid"/>
          </a:ln>
        </p:spPr>
      </p:sp>
      <p:pic>
        <p:nvPicPr>
          <p:cNvPr id="70" name="Image 17" descr="preencoded.png">    </p:cNvPr>
          <p:cNvPicPr>
            <a:picLocks noChangeAspect="1"/>
          </p:cNvPicPr>
          <p:nvPr/>
        </p:nvPicPr>
        <p:blipFill>
          <a:blip r:embed="rId18"/>
          <a:stretch>
            <a:fillRect/>
          </a:stretch>
        </p:blipFill>
        <p:spPr>
          <a:xfrm>
            <a:off x="9262872" y="4910328"/>
            <a:ext cx="292608" cy="292608"/>
          </a:xfrm>
          <a:prstGeom prst="rect">
            <a:avLst/>
          </a:prstGeom>
        </p:spPr>
      </p:pic>
      <p:sp>
        <p:nvSpPr>
          <p:cNvPr id="71" name="Text 51"/>
          <p:cNvSpPr txBox="1"/>
          <p:nvPr/>
        </p:nvSpPr>
        <p:spPr>
          <a:xfrm>
            <a:off x="9646920" y="4764024"/>
            <a:ext cx="1746504" cy="585216"/>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完全に統合</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548640"/>
          </a:xfrm>
          <a:prstGeom prst="rect">
            <a:avLst/>
          </a:prstGeom>
          <a:noFill/>
          <a:ln/>
        </p:spPr>
        <p:txBody>
          <a:bodyPr wrap="square" lIns="0" tIns="0" rIns="0" bIns="0" rtlCol="0" anchor="ctr"/>
          <a:lstStyle/>
          <a:p>
            <a:pPr indent="0" marL="0">
              <a:buNone/>
            </a:pPr>
            <a:r>
              <a:rPr lang="en-US" sz="2600" b="1" dirty="0">
                <a:solidFill>
                  <a:srgbClr val="1B2A49"/>
                </a:solidFill>
                <a:latin typeface="Meiryo UI" pitchFamily="34" charset="0"/>
                <a:ea typeface="Meiryo UI" pitchFamily="34" charset="-122"/>
                <a:cs typeface="Meiryo UI" pitchFamily="34" charset="-120"/>
              </a:rPr>
              <a:t>軸1：データとAIの集約先</a:t>
            </a:r>
            <a:endParaRPr lang="en-US" sz="2600" dirty="0"/>
          </a:p>
        </p:txBody>
      </p:sp>
      <p:sp>
        <p:nvSpPr>
          <p:cNvPr id="3" name="Text 1"/>
          <p:cNvSpPr txBox="1"/>
          <p:nvPr/>
        </p:nvSpPr>
        <p:spPr>
          <a:xfrm>
            <a:off x="548640" y="896112"/>
            <a:ext cx="11064240" cy="365760"/>
          </a:xfrm>
          <a:prstGeom prst="rect">
            <a:avLst/>
          </a:prstGeom>
          <a:noFill/>
          <a:ln/>
        </p:spPr>
        <p:txBody>
          <a:bodyPr wrap="square" lIns="0" tIns="0" rIns="0" bIns="0" rtlCol="0" anchor="ctr"/>
          <a:lstStyle/>
          <a:p>
            <a:pPr indent="0" marL="0">
              <a:buNone/>
            </a:pPr>
            <a:r>
              <a:rPr lang="en-US" sz="1400" dirty="0">
                <a:solidFill>
                  <a:srgbClr val="6B7280"/>
                </a:solidFill>
                <a:latin typeface="Meiryo UI" pitchFamily="34" charset="0"/>
                <a:ea typeface="Meiryo UI" pitchFamily="34" charset="-122"/>
                <a:cs typeface="Meiryo UI" pitchFamily="34" charset="-120"/>
              </a:rPr>
              <a:t>資料（M365）と数値データ（GCP）のどちらを動かすかで、構成の性格が大きく変わる</a:t>
            </a:r>
            <a:endParaRPr lang="en-US" sz="1400" dirty="0"/>
          </a:p>
        </p:txBody>
      </p:sp>
      <p:sp>
        <p:nvSpPr>
          <p:cNvPr id="4" name="Text 2"/>
          <p:cNvSpPr txBox="1"/>
          <p:nvPr/>
        </p:nvSpPr>
        <p:spPr>
          <a:xfrm>
            <a:off x="7498080" y="91440"/>
            <a:ext cx="4114800" cy="22860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1. 現状と検討の枠組み</a:t>
            </a:r>
            <a:endParaRPr lang="en-US" sz="900" dirty="0"/>
          </a:p>
        </p:txBody>
      </p:sp>
      <p:sp>
        <p:nvSpPr>
          <p:cNvPr id="5" name="Text 3"/>
          <p:cNvSpPr txBox="1"/>
          <p:nvPr/>
        </p:nvSpPr>
        <p:spPr>
          <a:xfrm>
            <a:off x="11247120" y="6446520"/>
            <a:ext cx="457200" cy="27432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6</a:t>
            </a:r>
            <a:endParaRPr lang="en-US" sz="900" dirty="0"/>
          </a:p>
        </p:txBody>
      </p:sp>
      <p:sp>
        <p:nvSpPr>
          <p:cNvPr id="6" name="Shape 4"/>
          <p:cNvSpPr/>
          <p:nvPr/>
        </p:nvSpPr>
        <p:spPr>
          <a:xfrm>
            <a:off x="548640" y="1417320"/>
            <a:ext cx="5440680" cy="3840480"/>
          </a:xfrm>
          <a:prstGeom prst="roundRect">
            <a:avLst>
              <a:gd name="adj" fmla="val 1429"/>
            </a:avLst>
          </a:prstGeom>
          <a:solidFill>
            <a:srgbClr val="E5F0FA"/>
          </a:solidFill>
          <a:ln/>
        </p:spPr>
      </p:sp>
      <p:sp>
        <p:nvSpPr>
          <p:cNvPr id="7" name="Shape 5"/>
          <p:cNvSpPr/>
          <p:nvPr/>
        </p:nvSpPr>
        <p:spPr>
          <a:xfrm>
            <a:off x="731520" y="1527048"/>
            <a:ext cx="457200" cy="457200"/>
          </a:xfrm>
          <a:prstGeom prst="ellipse">
            <a:avLst/>
          </a:prstGeom>
          <a:solidFill>
            <a:srgbClr val="FFFFFF"/>
          </a:solidFill>
          <a:ln/>
        </p:spPr>
      </p:sp>
      <p:pic>
        <p:nvPicPr>
          <p:cNvPr id="8" name="Image 0" descr="preencoded.png">    </p:cNvPr>
          <p:cNvPicPr>
            <a:picLocks noChangeAspect="1"/>
          </p:cNvPicPr>
          <p:nvPr/>
        </p:nvPicPr>
        <p:blipFill>
          <a:blip r:embed="rId1"/>
          <a:stretch>
            <a:fillRect/>
          </a:stretch>
        </p:blipFill>
        <p:spPr>
          <a:xfrm>
            <a:off x="822960" y="1618488"/>
            <a:ext cx="274320" cy="274320"/>
          </a:xfrm>
          <a:prstGeom prst="rect">
            <a:avLst/>
          </a:prstGeom>
        </p:spPr>
      </p:pic>
      <p:sp>
        <p:nvSpPr>
          <p:cNvPr id="9" name="Text 6"/>
          <p:cNvSpPr txBox="1"/>
          <p:nvPr/>
        </p:nvSpPr>
        <p:spPr>
          <a:xfrm>
            <a:off x="1280160" y="1527048"/>
            <a:ext cx="3657600" cy="457200"/>
          </a:xfrm>
          <a:prstGeom prst="rect">
            <a:avLst/>
          </a:prstGeom>
          <a:noFill/>
          <a:ln/>
        </p:spPr>
        <p:txBody>
          <a:bodyPr wrap="square" lIns="508" tIns="508" rIns="508" bIns="508" rtlCol="0" anchor="ctr"/>
          <a:lstStyle/>
          <a:p>
            <a:pPr indent="0" marL="0">
              <a:buNone/>
            </a:pPr>
            <a:r>
              <a:rPr lang="en-US" sz="1700" b="1" dirty="0">
                <a:solidFill>
                  <a:srgbClr val="0F6CBD"/>
                </a:solidFill>
                <a:latin typeface="Meiryo UI" pitchFamily="34" charset="0"/>
                <a:ea typeface="Meiryo UI" pitchFamily="34" charset="-122"/>
                <a:cs typeface="Meiryo UI" pitchFamily="34" charset="-120"/>
              </a:rPr>
              <a:t>M365に寄せる</a:t>
            </a:r>
            <a:endParaRPr lang="en-US" sz="1700" dirty="0"/>
          </a:p>
        </p:txBody>
      </p:sp>
      <p:sp>
        <p:nvSpPr>
          <p:cNvPr id="10" name="Shape 7"/>
          <p:cNvSpPr/>
          <p:nvPr/>
        </p:nvSpPr>
        <p:spPr>
          <a:xfrm>
            <a:off x="868680" y="2194560"/>
            <a:ext cx="658368" cy="658368"/>
          </a:xfrm>
          <a:prstGeom prst="roundRect">
            <a:avLst>
              <a:gd name="adj" fmla="val 16667"/>
            </a:avLst>
          </a:prstGeom>
          <a:solidFill>
            <a:srgbClr val="FFFFFF"/>
          </a:solidFill>
          <a:ln w="12700">
            <a:solidFill>
              <a:srgbClr val="D5DBE3"/>
            </a:solidFill>
            <a:prstDash val="solid"/>
          </a:ln>
          <a:effectLst>
            <a:outerShdw sx="100000" sy="100000" kx="0" ky="0" algn="bl" rotWithShape="0" blurRad="50800" dist="19050" dir="5400000">
              <a:srgbClr val="000000">
                <a:alpha val="12000"/>
              </a:srgbClr>
            </a:outerShdw>
          </a:effectLst>
        </p:spPr>
      </p:sp>
      <p:pic>
        <p:nvPicPr>
          <p:cNvPr id="11" name="Image 1" descr="preencoded.png">    </p:cNvPr>
          <p:cNvPicPr>
            <a:picLocks noChangeAspect="1"/>
          </p:cNvPicPr>
          <p:nvPr/>
        </p:nvPicPr>
        <p:blipFill>
          <a:blip r:embed="rId2"/>
          <a:stretch>
            <a:fillRect/>
          </a:stretch>
        </p:blipFill>
        <p:spPr>
          <a:xfrm>
            <a:off x="1000354" y="2326234"/>
            <a:ext cx="395021" cy="395021"/>
          </a:xfrm>
          <a:prstGeom prst="rect">
            <a:avLst/>
          </a:prstGeom>
        </p:spPr>
      </p:pic>
      <p:sp>
        <p:nvSpPr>
          <p:cNvPr id="12" name="Text 8"/>
          <p:cNvSpPr txBox="1"/>
          <p:nvPr/>
        </p:nvSpPr>
        <p:spPr>
          <a:xfrm>
            <a:off x="457200" y="2889504"/>
            <a:ext cx="1481328" cy="384048"/>
          </a:xfrm>
          <a:prstGeom prst="rect">
            <a:avLst/>
          </a:prstGeom>
          <a:noFill/>
          <a:ln/>
        </p:spPr>
        <p:txBody>
          <a:bodyPr wrap="square" lIns="0" tIns="0" rIns="0" bIns="0" rtlCol="0" anchor="t"/>
          <a:lstStyle/>
          <a:p>
            <a:pPr algn="ctr" indent="0" marL="0">
              <a:buNone/>
            </a:pPr>
            <a:r>
              <a:rPr lang="en-US" sz="900" dirty="0">
                <a:solidFill>
                  <a:srgbClr val="2B2B2B"/>
                </a:solidFill>
                <a:latin typeface="Meiryo UI" pitchFamily="34" charset="0"/>
                <a:ea typeface="Meiryo UI" pitchFamily="34" charset="-122"/>
                <a:cs typeface="Meiryo UI" pitchFamily="34" charset="-120"/>
              </a:rPr>
              <a:t>BigQuery</a:t>
            </a:r>
            <a:endParaRPr lang="en-US" sz="900" dirty="0"/>
          </a:p>
        </p:txBody>
      </p:sp>
      <p:sp>
        <p:nvSpPr>
          <p:cNvPr id="13" name="Shape 9"/>
          <p:cNvSpPr/>
          <p:nvPr/>
        </p:nvSpPr>
        <p:spPr>
          <a:xfrm>
            <a:off x="1572768" y="2523744"/>
            <a:ext cx="347472" cy="0"/>
          </a:xfrm>
          <a:prstGeom prst="line">
            <a:avLst/>
          </a:prstGeom>
          <a:noFill/>
          <a:ln w="22225">
            <a:solidFill>
              <a:srgbClr val="9AA5B4"/>
            </a:solidFill>
            <a:prstDash val="solid"/>
            <a:tailEnd type="triangle"/>
          </a:ln>
        </p:spPr>
      </p:sp>
      <p:sp>
        <p:nvSpPr>
          <p:cNvPr id="14" name="Shape 10"/>
          <p:cNvSpPr/>
          <p:nvPr/>
        </p:nvSpPr>
        <p:spPr>
          <a:xfrm>
            <a:off x="1965960" y="2194560"/>
            <a:ext cx="658368" cy="658368"/>
          </a:xfrm>
          <a:prstGeom prst="roundRect">
            <a:avLst>
              <a:gd name="adj" fmla="val 16667"/>
            </a:avLst>
          </a:prstGeom>
          <a:solidFill>
            <a:srgbClr val="FFFFFF"/>
          </a:solidFill>
          <a:ln w="12700">
            <a:solidFill>
              <a:srgbClr val="D5DBE3"/>
            </a:solidFill>
            <a:prstDash val="solid"/>
          </a:ln>
          <a:effectLst>
            <a:outerShdw sx="100000" sy="100000" kx="0" ky="0" algn="bl" rotWithShape="0" blurRad="50800" dist="19050" dir="5400000">
              <a:srgbClr val="000000">
                <a:alpha val="12000"/>
              </a:srgbClr>
            </a:outerShdw>
          </a:effectLst>
        </p:spPr>
      </p:sp>
      <p:pic>
        <p:nvPicPr>
          <p:cNvPr id="15" name="Image 2" descr="preencoded.png">    </p:cNvPr>
          <p:cNvPicPr>
            <a:picLocks noChangeAspect="1"/>
          </p:cNvPicPr>
          <p:nvPr/>
        </p:nvPicPr>
        <p:blipFill>
          <a:blip r:embed="rId3"/>
          <a:stretch>
            <a:fillRect/>
          </a:stretch>
        </p:blipFill>
        <p:spPr>
          <a:xfrm>
            <a:off x="2097634" y="2326234"/>
            <a:ext cx="395021" cy="395021"/>
          </a:xfrm>
          <a:prstGeom prst="rect">
            <a:avLst/>
          </a:prstGeom>
        </p:spPr>
      </p:pic>
      <p:sp>
        <p:nvSpPr>
          <p:cNvPr id="16" name="Text 11"/>
          <p:cNvSpPr txBox="1"/>
          <p:nvPr/>
        </p:nvSpPr>
        <p:spPr>
          <a:xfrm>
            <a:off x="1554480" y="2889504"/>
            <a:ext cx="1481328" cy="384048"/>
          </a:xfrm>
          <a:prstGeom prst="rect">
            <a:avLst/>
          </a:prstGeom>
          <a:noFill/>
          <a:ln/>
        </p:spPr>
        <p:txBody>
          <a:bodyPr wrap="square" lIns="0" tIns="0" rIns="0" bIns="0" rtlCol="0" anchor="t"/>
          <a:lstStyle/>
          <a:p>
            <a:pPr algn="ctr" indent="0" marL="0">
              <a:buNone/>
            </a:pPr>
            <a:r>
              <a:rPr lang="en-US" sz="900" dirty="0">
                <a:solidFill>
                  <a:srgbClr val="2B2B2B"/>
                </a:solidFill>
                <a:latin typeface="Meiryo UI" pitchFamily="34" charset="0"/>
                <a:ea typeface="Meiryo UI" pitchFamily="34" charset="-122"/>
                <a:cs typeface="Meiryo UI" pitchFamily="34" charset="-120"/>
              </a:rPr>
              <a:t>GCS</a:t>
            </a:r>
            <a:endParaRPr lang="en-US" sz="900" dirty="0"/>
          </a:p>
        </p:txBody>
      </p:sp>
      <p:sp>
        <p:nvSpPr>
          <p:cNvPr id="17" name="Shape 12"/>
          <p:cNvSpPr/>
          <p:nvPr/>
        </p:nvSpPr>
        <p:spPr>
          <a:xfrm>
            <a:off x="2670048" y="2523744"/>
            <a:ext cx="484632" cy="0"/>
          </a:xfrm>
          <a:prstGeom prst="line">
            <a:avLst/>
          </a:prstGeom>
          <a:noFill/>
          <a:ln w="31750">
            <a:solidFill>
              <a:srgbClr val="0F6CBD"/>
            </a:solidFill>
            <a:prstDash val="solid"/>
            <a:tailEnd type="triangle"/>
          </a:ln>
        </p:spPr>
      </p:sp>
      <p:sp>
        <p:nvSpPr>
          <p:cNvPr id="18" name="Text 13"/>
          <p:cNvSpPr txBox="1"/>
          <p:nvPr/>
        </p:nvSpPr>
        <p:spPr>
          <a:xfrm>
            <a:off x="2304288" y="2249424"/>
            <a:ext cx="1216152" cy="237744"/>
          </a:xfrm>
          <a:prstGeom prst="rect">
            <a:avLst/>
          </a:prstGeom>
          <a:noFill/>
          <a:ln/>
        </p:spPr>
        <p:txBody>
          <a:bodyPr wrap="square" lIns="0" tIns="0" rIns="0" bIns="0" rtlCol="0" anchor="ctr"/>
          <a:lstStyle/>
          <a:p>
            <a:pPr algn="ctr" indent="0" marL="0">
              <a:buNone/>
            </a:pPr>
            <a:r>
              <a:rPr lang="en-US" sz="850" dirty="0">
                <a:solidFill>
                  <a:srgbClr val="6B7280"/>
                </a:solidFill>
                <a:latin typeface="Meiryo UI" pitchFamily="34" charset="0"/>
                <a:ea typeface="Meiryo UI" pitchFamily="34" charset="-122"/>
                <a:cs typeface="Meiryo UI" pitchFamily="34" charset="-120"/>
              </a:rPr>
              <a:t>定期転送</a:t>
            </a:r>
            <a:endParaRPr lang="en-US" sz="850" dirty="0"/>
          </a:p>
        </p:txBody>
      </p:sp>
      <p:sp>
        <p:nvSpPr>
          <p:cNvPr id="19" name="Shape 14"/>
          <p:cNvSpPr/>
          <p:nvPr/>
        </p:nvSpPr>
        <p:spPr>
          <a:xfrm>
            <a:off x="3200400" y="2194560"/>
            <a:ext cx="658368" cy="658368"/>
          </a:xfrm>
          <a:prstGeom prst="roundRect">
            <a:avLst>
              <a:gd name="adj" fmla="val 16667"/>
            </a:avLst>
          </a:prstGeom>
          <a:solidFill>
            <a:srgbClr val="FFFFFF"/>
          </a:solidFill>
          <a:ln w="12700">
            <a:solidFill>
              <a:srgbClr val="D5DBE3"/>
            </a:solidFill>
            <a:prstDash val="solid"/>
          </a:ln>
          <a:effectLst>
            <a:outerShdw sx="100000" sy="100000" kx="0" ky="0" algn="bl" rotWithShape="0" blurRad="50800" dist="19050" dir="5400000">
              <a:srgbClr val="000000">
                <a:alpha val="12000"/>
              </a:srgbClr>
            </a:outerShdw>
          </a:effectLst>
        </p:spPr>
      </p:sp>
      <p:pic>
        <p:nvPicPr>
          <p:cNvPr id="20" name="Image 3" descr="preencoded.png">    </p:cNvPr>
          <p:cNvPicPr>
            <a:picLocks noChangeAspect="1"/>
          </p:cNvPicPr>
          <p:nvPr/>
        </p:nvPicPr>
        <p:blipFill>
          <a:blip r:embed="rId4"/>
          <a:stretch>
            <a:fillRect/>
          </a:stretch>
        </p:blipFill>
        <p:spPr>
          <a:xfrm>
            <a:off x="3332074" y="2326234"/>
            <a:ext cx="395021" cy="395021"/>
          </a:xfrm>
          <a:prstGeom prst="rect">
            <a:avLst/>
          </a:prstGeom>
        </p:spPr>
      </p:pic>
      <p:sp>
        <p:nvSpPr>
          <p:cNvPr id="21" name="Text 15"/>
          <p:cNvSpPr txBox="1"/>
          <p:nvPr/>
        </p:nvSpPr>
        <p:spPr>
          <a:xfrm>
            <a:off x="2788920" y="2889504"/>
            <a:ext cx="1481328" cy="384048"/>
          </a:xfrm>
          <a:prstGeom prst="rect">
            <a:avLst/>
          </a:prstGeom>
          <a:noFill/>
          <a:ln/>
        </p:spPr>
        <p:txBody>
          <a:bodyPr wrap="square" lIns="0" tIns="0" rIns="0" bIns="0" rtlCol="0" anchor="t"/>
          <a:lstStyle/>
          <a:p>
            <a:pPr algn="ctr" indent="0" marL="0">
              <a:buNone/>
            </a:pPr>
            <a:r>
              <a:rPr lang="en-US" sz="900" dirty="0">
                <a:solidFill>
                  <a:srgbClr val="2B2B2B"/>
                </a:solidFill>
                <a:latin typeface="Meiryo UI" pitchFamily="34" charset="0"/>
                <a:ea typeface="Meiryo UI" pitchFamily="34" charset="-122"/>
                <a:cs typeface="Meiryo UI" pitchFamily="34" charset="-120"/>
              </a:rPr>
              <a:t>Dataverse／</a:t>
            </a:r>
            <a:endParaRPr lang="en-US" sz="900" dirty="0"/>
          </a:p>
          <a:p>
            <a:pPr algn="ctr" indent="0" marL="0">
              <a:buNone/>
            </a:pPr>
            <a:r>
              <a:rPr lang="en-US" sz="900" dirty="0">
                <a:solidFill>
                  <a:srgbClr val="2B2B2B"/>
                </a:solidFill>
                <a:latin typeface="Meiryo UI" pitchFamily="34" charset="0"/>
                <a:ea typeface="Meiryo UI" pitchFamily="34" charset="-122"/>
                <a:cs typeface="Meiryo UI" pitchFamily="34" charset="-120"/>
              </a:rPr>
              <a:t>SharePoint</a:t>
            </a:r>
            <a:endParaRPr lang="en-US" sz="900" dirty="0"/>
          </a:p>
        </p:txBody>
      </p:sp>
      <p:sp>
        <p:nvSpPr>
          <p:cNvPr id="22" name="Shape 16"/>
          <p:cNvSpPr/>
          <p:nvPr/>
        </p:nvSpPr>
        <p:spPr>
          <a:xfrm>
            <a:off x="3904488" y="2523744"/>
            <a:ext cx="347472" cy="0"/>
          </a:xfrm>
          <a:prstGeom prst="line">
            <a:avLst/>
          </a:prstGeom>
          <a:noFill/>
          <a:ln w="22225">
            <a:solidFill>
              <a:srgbClr val="9AA5B4"/>
            </a:solidFill>
            <a:prstDash val="solid"/>
            <a:tailEnd type="triangle"/>
          </a:ln>
        </p:spPr>
      </p:sp>
      <p:sp>
        <p:nvSpPr>
          <p:cNvPr id="23" name="Shape 17"/>
          <p:cNvSpPr/>
          <p:nvPr/>
        </p:nvSpPr>
        <p:spPr>
          <a:xfrm>
            <a:off x="4297680" y="2194560"/>
            <a:ext cx="658368" cy="658368"/>
          </a:xfrm>
          <a:prstGeom prst="roundRect">
            <a:avLst>
              <a:gd name="adj" fmla="val 16667"/>
            </a:avLst>
          </a:prstGeom>
          <a:solidFill>
            <a:srgbClr val="FFFFFF"/>
          </a:solidFill>
          <a:ln w="12700">
            <a:solidFill>
              <a:srgbClr val="D5DBE3"/>
            </a:solidFill>
            <a:prstDash val="solid"/>
          </a:ln>
          <a:effectLst>
            <a:outerShdw sx="100000" sy="100000" kx="0" ky="0" algn="bl" rotWithShape="0" blurRad="50800" dist="19050" dir="5400000">
              <a:srgbClr val="000000">
                <a:alpha val="12000"/>
              </a:srgbClr>
            </a:outerShdw>
          </a:effectLst>
        </p:spPr>
      </p:sp>
      <p:pic>
        <p:nvPicPr>
          <p:cNvPr id="24" name="Image 4" descr="preencoded.png">    </p:cNvPr>
          <p:cNvPicPr>
            <a:picLocks noChangeAspect="1"/>
          </p:cNvPicPr>
          <p:nvPr/>
        </p:nvPicPr>
        <p:blipFill>
          <a:blip r:embed="rId5"/>
          <a:stretch>
            <a:fillRect/>
          </a:stretch>
        </p:blipFill>
        <p:spPr>
          <a:xfrm>
            <a:off x="4429354" y="2326234"/>
            <a:ext cx="395021" cy="395021"/>
          </a:xfrm>
          <a:prstGeom prst="rect">
            <a:avLst/>
          </a:prstGeom>
        </p:spPr>
      </p:pic>
      <p:sp>
        <p:nvSpPr>
          <p:cNvPr id="25" name="Text 18"/>
          <p:cNvSpPr txBox="1"/>
          <p:nvPr/>
        </p:nvSpPr>
        <p:spPr>
          <a:xfrm>
            <a:off x="3886200" y="2889504"/>
            <a:ext cx="1481328" cy="384048"/>
          </a:xfrm>
          <a:prstGeom prst="rect">
            <a:avLst/>
          </a:prstGeom>
          <a:noFill/>
          <a:ln/>
        </p:spPr>
        <p:txBody>
          <a:bodyPr wrap="square" lIns="0" tIns="0" rIns="0" bIns="0" rtlCol="0" anchor="t"/>
          <a:lstStyle/>
          <a:p>
            <a:pPr algn="ctr" indent="0" marL="0">
              <a:buNone/>
            </a:pPr>
            <a:r>
              <a:rPr lang="en-US" sz="900" dirty="0">
                <a:solidFill>
                  <a:srgbClr val="2B2B2B"/>
                </a:solidFill>
                <a:latin typeface="Meiryo UI" pitchFamily="34" charset="0"/>
                <a:ea typeface="Meiryo UI" pitchFamily="34" charset="-122"/>
                <a:cs typeface="Meiryo UI" pitchFamily="34" charset="-120"/>
              </a:rPr>
              <a:t>Copilot／</a:t>
            </a:r>
            <a:endParaRPr lang="en-US" sz="900" dirty="0"/>
          </a:p>
          <a:p>
            <a:pPr algn="ctr" indent="0" marL="0">
              <a:buNone/>
            </a:pPr>
            <a:r>
              <a:rPr lang="en-US" sz="900" dirty="0">
                <a:solidFill>
                  <a:srgbClr val="2B2B2B"/>
                </a:solidFill>
                <a:latin typeface="Meiryo UI" pitchFamily="34" charset="0"/>
                <a:ea typeface="Meiryo UI" pitchFamily="34" charset="-122"/>
                <a:cs typeface="Meiryo UI" pitchFamily="34" charset="-120"/>
              </a:rPr>
              <a:t>Copilot Studio</a:t>
            </a:r>
            <a:endParaRPr lang="en-US" sz="900" dirty="0"/>
          </a:p>
        </p:txBody>
      </p:sp>
      <p:sp>
        <p:nvSpPr>
          <p:cNvPr id="26" name="Text 19"/>
          <p:cNvSpPr txBox="1"/>
          <p:nvPr/>
        </p:nvSpPr>
        <p:spPr>
          <a:xfrm>
            <a:off x="777240" y="3291840"/>
            <a:ext cx="5029200" cy="1920240"/>
          </a:xfrm>
          <a:prstGeom prst="rect">
            <a:avLst/>
          </a:prstGeom>
          <a:noFill/>
          <a:ln/>
        </p:spPr>
        <p:txBody>
          <a:bodyPr wrap="square" lIns="254" tIns="254" rIns="254" bIns="254" rtlCol="0" anchor="t"/>
          <a:lstStyle/>
          <a:p>
            <a:pPr indent="0" marL="0">
              <a:spcAft>
                <a:spcPts val="200"/>
              </a:spcAft>
              <a:buNone/>
            </a:pPr>
            <a:r>
              <a:rPr lang="en-US" sz="1200" b="1" dirty="0">
                <a:solidFill>
                  <a:srgbClr val="0E9F9A"/>
                </a:solidFill>
                <a:latin typeface="Meiryo UI" pitchFamily="34" charset="0"/>
                <a:ea typeface="Meiryo UI" pitchFamily="34" charset="-122"/>
                <a:cs typeface="Meiryo UI" pitchFamily="34" charset="-120"/>
              </a:rPr>
              <a:t>特徴</a:t>
            </a:r>
            <a:endParaRPr lang="en-US" sz="1200" dirty="0"/>
          </a:p>
          <a:p>
            <a:pPr marL="152400" indent="-152400">
              <a:spcAft>
                <a:spcPts val="200"/>
              </a:spcAft>
              <a:buSzPct val="100000"/>
              <a:buChar char="•"/>
            </a:pPr>
            <a:r>
              <a:rPr lang="en-US" sz="1200" dirty="0">
                <a:solidFill>
                  <a:srgbClr val="000000"/>
                </a:solidFill>
                <a:latin typeface="Meiryo UI" pitchFamily="34" charset="0"/>
                <a:ea typeface="Meiryo UI" pitchFamily="34" charset="-122"/>
                <a:cs typeface="Meiryo UI" pitchFamily="34" charset="-120"/>
              </a:rPr>
              <a:t>社内資料を社外クラウドに出さずに済む</a:t>
            </a:r>
            <a:endParaRPr lang="en-US" sz="1200" dirty="0"/>
          </a:p>
          <a:p>
            <a:pPr marL="152400" indent="-152400">
              <a:spcAft>
                <a:spcPts val="200"/>
              </a:spcAft>
              <a:buSzPct val="100000"/>
              <a:buChar char="•"/>
            </a:pPr>
            <a:r>
              <a:rPr lang="en-US" sz="1200" dirty="0">
                <a:solidFill>
                  <a:srgbClr val="000000"/>
                </a:solidFill>
                <a:latin typeface="Meiryo UI" pitchFamily="34" charset="0"/>
                <a:ea typeface="Meiryo UI" pitchFamily="34" charset="-122"/>
                <a:cs typeface="Meiryo UI" pitchFamily="34" charset="-120"/>
              </a:rPr>
              <a:t>既存のCopilot・Power Platform・Teamsをそのまま活用できる</a:t>
            </a:r>
            <a:endParaRPr lang="en-US" sz="1200" dirty="0"/>
          </a:p>
          <a:p>
            <a:pPr indent="0" marL="0">
              <a:spcAft>
                <a:spcPts val="200"/>
              </a:spcAft>
              <a:buNone/>
            </a:pPr>
            <a:r>
              <a:rPr lang="en-US" sz="1200" b="1" dirty="0">
                <a:solidFill>
                  <a:srgbClr val="D64545"/>
                </a:solidFill>
                <a:latin typeface="Meiryo UI" pitchFamily="34" charset="0"/>
                <a:ea typeface="Meiryo UI" pitchFamily="34" charset="-122"/>
                <a:cs typeface="Meiryo UI" pitchFamily="34" charset="-120"/>
              </a:rPr>
              <a:t>留意点</a:t>
            </a:r>
            <a:endParaRPr lang="en-US" sz="1200" dirty="0"/>
          </a:p>
          <a:p>
            <a:pPr marL="152400" indent="-152400">
              <a:spcAft>
                <a:spcPts val="200"/>
              </a:spcAft>
              <a:buSzPct val="100000"/>
              <a:buChar char="•"/>
            </a:pPr>
            <a:r>
              <a:rPr lang="en-US" sz="1200" dirty="0">
                <a:solidFill>
                  <a:srgbClr val="000000"/>
                </a:solidFill>
                <a:latin typeface="Meiryo UI" pitchFamily="34" charset="0"/>
                <a:ea typeface="Meiryo UI" pitchFamily="34" charset="-122"/>
                <a:cs typeface="Meiryo UI" pitchFamily="34" charset="-120"/>
              </a:rPr>
              <a:t>加工済みの数値データを転送する仕組みが必要</a:t>
            </a:r>
            <a:endParaRPr lang="en-US" sz="1200" dirty="0"/>
          </a:p>
          <a:p>
            <a:pPr marL="152400" indent="-152400">
              <a:spcAft>
                <a:spcPts val="200"/>
              </a:spcAft>
              <a:buSzPct val="100000"/>
              <a:buChar char="•"/>
            </a:pPr>
            <a:r>
              <a:rPr lang="en-US" sz="1200" dirty="0">
                <a:solidFill>
                  <a:srgbClr val="000000"/>
                </a:solidFill>
                <a:latin typeface="Meiryo UI" pitchFamily="34" charset="0"/>
                <a:ea typeface="Meiryo UI" pitchFamily="34" charset="-122"/>
                <a:cs typeface="Meiryo UI" pitchFamily="34" charset="-120"/>
              </a:rPr>
              <a:t>加工済みデータは検索に任せず、プロンプトに直接渡すのが確実</a:t>
            </a:r>
            <a:endParaRPr lang="en-US" sz="1200" dirty="0"/>
          </a:p>
        </p:txBody>
      </p:sp>
      <p:sp>
        <p:nvSpPr>
          <p:cNvPr id="27" name="Shape 20"/>
          <p:cNvSpPr/>
          <p:nvPr/>
        </p:nvSpPr>
        <p:spPr>
          <a:xfrm>
            <a:off x="6172200" y="1417320"/>
            <a:ext cx="5440680" cy="3840480"/>
          </a:xfrm>
          <a:prstGeom prst="roundRect">
            <a:avLst>
              <a:gd name="adj" fmla="val 1429"/>
            </a:avLst>
          </a:prstGeom>
          <a:solidFill>
            <a:srgbClr val="E8F0FE"/>
          </a:solidFill>
          <a:ln/>
        </p:spPr>
      </p:sp>
      <p:sp>
        <p:nvSpPr>
          <p:cNvPr id="28" name="Shape 21"/>
          <p:cNvSpPr/>
          <p:nvPr/>
        </p:nvSpPr>
        <p:spPr>
          <a:xfrm>
            <a:off x="6355080" y="1527048"/>
            <a:ext cx="457200" cy="457200"/>
          </a:xfrm>
          <a:prstGeom prst="ellipse">
            <a:avLst/>
          </a:prstGeom>
          <a:solidFill>
            <a:srgbClr val="FFFFFF"/>
          </a:solidFill>
          <a:ln/>
        </p:spPr>
      </p:sp>
      <p:pic>
        <p:nvPicPr>
          <p:cNvPr id="29" name="Image 5" descr="preencoded.png">    </p:cNvPr>
          <p:cNvPicPr>
            <a:picLocks noChangeAspect="1"/>
          </p:cNvPicPr>
          <p:nvPr/>
        </p:nvPicPr>
        <p:blipFill>
          <a:blip r:embed="rId6"/>
          <a:stretch>
            <a:fillRect/>
          </a:stretch>
        </p:blipFill>
        <p:spPr>
          <a:xfrm>
            <a:off x="6446520" y="1618488"/>
            <a:ext cx="274320" cy="274320"/>
          </a:xfrm>
          <a:prstGeom prst="rect">
            <a:avLst/>
          </a:prstGeom>
        </p:spPr>
      </p:pic>
      <p:sp>
        <p:nvSpPr>
          <p:cNvPr id="30" name="Text 22"/>
          <p:cNvSpPr txBox="1"/>
          <p:nvPr/>
        </p:nvSpPr>
        <p:spPr>
          <a:xfrm>
            <a:off x="6903720" y="1527048"/>
            <a:ext cx="3657600" cy="457200"/>
          </a:xfrm>
          <a:prstGeom prst="rect">
            <a:avLst/>
          </a:prstGeom>
          <a:noFill/>
          <a:ln/>
        </p:spPr>
        <p:txBody>
          <a:bodyPr wrap="square" lIns="508" tIns="508" rIns="508" bIns="508" rtlCol="0" anchor="ctr"/>
          <a:lstStyle/>
          <a:p>
            <a:pPr indent="0" marL="0">
              <a:buNone/>
            </a:pPr>
            <a:r>
              <a:rPr lang="en-US" sz="1700" b="1" dirty="0">
                <a:solidFill>
                  <a:srgbClr val="4285F4"/>
                </a:solidFill>
                <a:latin typeface="Meiryo UI" pitchFamily="34" charset="0"/>
                <a:ea typeface="Meiryo UI" pitchFamily="34" charset="-122"/>
                <a:cs typeface="Meiryo UI" pitchFamily="34" charset="-120"/>
              </a:rPr>
              <a:t>GCPに寄せる</a:t>
            </a:r>
            <a:endParaRPr lang="en-US" sz="1700" dirty="0"/>
          </a:p>
        </p:txBody>
      </p:sp>
      <p:sp>
        <p:nvSpPr>
          <p:cNvPr id="31" name="Shape 23"/>
          <p:cNvSpPr/>
          <p:nvPr/>
        </p:nvSpPr>
        <p:spPr>
          <a:xfrm>
            <a:off x="6492240" y="2194560"/>
            <a:ext cx="658368" cy="658368"/>
          </a:xfrm>
          <a:prstGeom prst="roundRect">
            <a:avLst>
              <a:gd name="adj" fmla="val 16667"/>
            </a:avLst>
          </a:prstGeom>
          <a:solidFill>
            <a:srgbClr val="FFFFFF"/>
          </a:solidFill>
          <a:ln w="12700">
            <a:solidFill>
              <a:srgbClr val="D5DBE3"/>
            </a:solidFill>
            <a:prstDash val="solid"/>
          </a:ln>
          <a:effectLst>
            <a:outerShdw sx="100000" sy="100000" kx="0" ky="0" algn="bl" rotWithShape="0" blurRad="50800" dist="19050" dir="5400000">
              <a:srgbClr val="000000">
                <a:alpha val="12000"/>
              </a:srgbClr>
            </a:outerShdw>
          </a:effectLst>
        </p:spPr>
      </p:sp>
      <p:pic>
        <p:nvPicPr>
          <p:cNvPr id="32" name="Image 6" descr="preencoded.png">    </p:cNvPr>
          <p:cNvPicPr>
            <a:picLocks noChangeAspect="1"/>
          </p:cNvPicPr>
          <p:nvPr/>
        </p:nvPicPr>
        <p:blipFill>
          <a:blip r:embed="rId7"/>
          <a:stretch>
            <a:fillRect/>
          </a:stretch>
        </p:blipFill>
        <p:spPr>
          <a:xfrm>
            <a:off x="6623914" y="2326234"/>
            <a:ext cx="395021" cy="395021"/>
          </a:xfrm>
          <a:prstGeom prst="rect">
            <a:avLst/>
          </a:prstGeom>
        </p:spPr>
      </p:pic>
      <p:sp>
        <p:nvSpPr>
          <p:cNvPr id="33" name="Text 24"/>
          <p:cNvSpPr txBox="1"/>
          <p:nvPr/>
        </p:nvSpPr>
        <p:spPr>
          <a:xfrm>
            <a:off x="6080760" y="2889504"/>
            <a:ext cx="1481328" cy="384048"/>
          </a:xfrm>
          <a:prstGeom prst="rect">
            <a:avLst/>
          </a:prstGeom>
          <a:noFill/>
          <a:ln/>
        </p:spPr>
        <p:txBody>
          <a:bodyPr wrap="square" lIns="0" tIns="0" rIns="0" bIns="0" rtlCol="0" anchor="t"/>
          <a:lstStyle/>
          <a:p>
            <a:pPr algn="ctr" indent="0" marL="0">
              <a:buNone/>
            </a:pPr>
            <a:r>
              <a:rPr lang="en-US" sz="900" dirty="0">
                <a:solidFill>
                  <a:srgbClr val="2B2B2B"/>
                </a:solidFill>
                <a:latin typeface="Meiryo UI" pitchFamily="34" charset="0"/>
                <a:ea typeface="Meiryo UI" pitchFamily="34" charset="-122"/>
                <a:cs typeface="Meiryo UI" pitchFamily="34" charset="-120"/>
              </a:rPr>
              <a:t>SharePoint</a:t>
            </a:r>
            <a:endParaRPr lang="en-US" sz="900" dirty="0"/>
          </a:p>
        </p:txBody>
      </p:sp>
      <p:sp>
        <p:nvSpPr>
          <p:cNvPr id="34" name="Shape 25"/>
          <p:cNvSpPr/>
          <p:nvPr/>
        </p:nvSpPr>
        <p:spPr>
          <a:xfrm>
            <a:off x="7196328" y="2523744"/>
            <a:ext cx="484632" cy="0"/>
          </a:xfrm>
          <a:prstGeom prst="line">
            <a:avLst/>
          </a:prstGeom>
          <a:noFill/>
          <a:ln w="31750">
            <a:solidFill>
              <a:srgbClr val="4285F4"/>
            </a:solidFill>
            <a:prstDash val="solid"/>
            <a:tailEnd type="triangle"/>
          </a:ln>
        </p:spPr>
      </p:sp>
      <p:sp>
        <p:nvSpPr>
          <p:cNvPr id="35" name="Text 26"/>
          <p:cNvSpPr txBox="1"/>
          <p:nvPr/>
        </p:nvSpPr>
        <p:spPr>
          <a:xfrm>
            <a:off x="6830568" y="2249424"/>
            <a:ext cx="1216152" cy="237744"/>
          </a:xfrm>
          <a:prstGeom prst="rect">
            <a:avLst/>
          </a:prstGeom>
          <a:noFill/>
          <a:ln/>
        </p:spPr>
        <p:txBody>
          <a:bodyPr wrap="square" lIns="0" tIns="0" rIns="0" bIns="0" rtlCol="0" anchor="ctr"/>
          <a:lstStyle/>
          <a:p>
            <a:pPr algn="ctr" indent="0" marL="0">
              <a:buNone/>
            </a:pPr>
            <a:r>
              <a:rPr lang="en-US" sz="850" dirty="0">
                <a:solidFill>
                  <a:srgbClr val="6B7280"/>
                </a:solidFill>
                <a:latin typeface="Meiryo UI" pitchFamily="34" charset="0"/>
                <a:ea typeface="Meiryo UI" pitchFamily="34" charset="-122"/>
                <a:cs typeface="Meiryo UI" pitchFamily="34" charset="-120"/>
              </a:rPr>
              <a:t>同期</a:t>
            </a:r>
            <a:endParaRPr lang="en-US" sz="850" dirty="0"/>
          </a:p>
        </p:txBody>
      </p:sp>
      <p:sp>
        <p:nvSpPr>
          <p:cNvPr id="36" name="Shape 27"/>
          <p:cNvSpPr/>
          <p:nvPr/>
        </p:nvSpPr>
        <p:spPr>
          <a:xfrm>
            <a:off x="7726680" y="2194560"/>
            <a:ext cx="658368" cy="658368"/>
          </a:xfrm>
          <a:prstGeom prst="roundRect">
            <a:avLst>
              <a:gd name="adj" fmla="val 16667"/>
            </a:avLst>
          </a:prstGeom>
          <a:solidFill>
            <a:srgbClr val="FFFFFF"/>
          </a:solidFill>
          <a:ln w="12700">
            <a:solidFill>
              <a:srgbClr val="D5DBE3"/>
            </a:solidFill>
            <a:prstDash val="solid"/>
          </a:ln>
          <a:effectLst>
            <a:outerShdw sx="100000" sy="100000" kx="0" ky="0" algn="bl" rotWithShape="0" blurRad="50800" dist="19050" dir="5400000">
              <a:srgbClr val="000000">
                <a:alpha val="12000"/>
              </a:srgbClr>
            </a:outerShdw>
          </a:effectLst>
        </p:spPr>
      </p:sp>
      <p:pic>
        <p:nvPicPr>
          <p:cNvPr id="37" name="Image 7" descr="preencoded.png">    </p:cNvPr>
          <p:cNvPicPr>
            <a:picLocks noChangeAspect="1"/>
          </p:cNvPicPr>
          <p:nvPr/>
        </p:nvPicPr>
        <p:blipFill>
          <a:blip r:embed="rId8"/>
          <a:stretch>
            <a:fillRect/>
          </a:stretch>
        </p:blipFill>
        <p:spPr>
          <a:xfrm>
            <a:off x="7858354" y="2326234"/>
            <a:ext cx="395021" cy="395021"/>
          </a:xfrm>
          <a:prstGeom prst="rect">
            <a:avLst/>
          </a:prstGeom>
        </p:spPr>
      </p:pic>
      <p:sp>
        <p:nvSpPr>
          <p:cNvPr id="38" name="Text 28"/>
          <p:cNvSpPr txBox="1"/>
          <p:nvPr/>
        </p:nvSpPr>
        <p:spPr>
          <a:xfrm>
            <a:off x="7315200" y="2889504"/>
            <a:ext cx="1481328" cy="384048"/>
          </a:xfrm>
          <a:prstGeom prst="rect">
            <a:avLst/>
          </a:prstGeom>
          <a:noFill/>
          <a:ln/>
        </p:spPr>
        <p:txBody>
          <a:bodyPr wrap="square" lIns="0" tIns="0" rIns="0" bIns="0" rtlCol="0" anchor="t"/>
          <a:lstStyle/>
          <a:p>
            <a:pPr algn="ctr" indent="0" marL="0">
              <a:buNone/>
            </a:pPr>
            <a:r>
              <a:rPr lang="en-US" sz="900" dirty="0">
                <a:solidFill>
                  <a:srgbClr val="2B2B2B"/>
                </a:solidFill>
                <a:latin typeface="Meiryo UI" pitchFamily="34" charset="0"/>
                <a:ea typeface="Meiryo UI" pitchFamily="34" charset="-122"/>
                <a:cs typeface="Meiryo UI" pitchFamily="34" charset="-120"/>
              </a:rPr>
              <a:t>Agent Platform</a:t>
            </a:r>
            <a:endParaRPr lang="en-US" sz="900" dirty="0"/>
          </a:p>
          <a:p>
            <a:pPr algn="ctr" indent="0" marL="0">
              <a:buNone/>
            </a:pPr>
            <a:r>
              <a:rPr lang="en-US" sz="900" dirty="0">
                <a:solidFill>
                  <a:srgbClr val="2B2B2B"/>
                </a:solidFill>
                <a:latin typeface="Meiryo UI" pitchFamily="34" charset="0"/>
                <a:ea typeface="Meiryo UI" pitchFamily="34" charset="-122"/>
                <a:cs typeface="Meiryo UI" pitchFamily="34" charset="-120"/>
              </a:rPr>
              <a:t>（検索）</a:t>
            </a:r>
            <a:endParaRPr lang="en-US" sz="900" dirty="0"/>
          </a:p>
        </p:txBody>
      </p:sp>
      <p:sp>
        <p:nvSpPr>
          <p:cNvPr id="39" name="Shape 29"/>
          <p:cNvSpPr/>
          <p:nvPr/>
        </p:nvSpPr>
        <p:spPr>
          <a:xfrm>
            <a:off x="8430768" y="2523744"/>
            <a:ext cx="347472" cy="0"/>
          </a:xfrm>
          <a:prstGeom prst="line">
            <a:avLst/>
          </a:prstGeom>
          <a:noFill/>
          <a:ln w="22225">
            <a:solidFill>
              <a:srgbClr val="9AA5B4"/>
            </a:solidFill>
            <a:prstDash val="solid"/>
            <a:tailEnd type="triangle"/>
          </a:ln>
        </p:spPr>
      </p:sp>
      <p:sp>
        <p:nvSpPr>
          <p:cNvPr id="40" name="Shape 30"/>
          <p:cNvSpPr/>
          <p:nvPr/>
        </p:nvSpPr>
        <p:spPr>
          <a:xfrm>
            <a:off x="8823960" y="2194560"/>
            <a:ext cx="658368" cy="658368"/>
          </a:xfrm>
          <a:prstGeom prst="roundRect">
            <a:avLst>
              <a:gd name="adj" fmla="val 16667"/>
            </a:avLst>
          </a:prstGeom>
          <a:solidFill>
            <a:srgbClr val="FFFFFF"/>
          </a:solidFill>
          <a:ln w="12700">
            <a:solidFill>
              <a:srgbClr val="D5DBE3"/>
            </a:solidFill>
            <a:prstDash val="solid"/>
          </a:ln>
          <a:effectLst>
            <a:outerShdw sx="100000" sy="100000" kx="0" ky="0" algn="bl" rotWithShape="0" blurRad="50800" dist="19050" dir="5400000">
              <a:srgbClr val="000000">
                <a:alpha val="12000"/>
              </a:srgbClr>
            </a:outerShdw>
          </a:effectLst>
        </p:spPr>
      </p:sp>
      <p:pic>
        <p:nvPicPr>
          <p:cNvPr id="41" name="Image 8" descr="preencoded.png">    </p:cNvPr>
          <p:cNvPicPr>
            <a:picLocks noChangeAspect="1"/>
          </p:cNvPicPr>
          <p:nvPr/>
        </p:nvPicPr>
        <p:blipFill>
          <a:blip r:embed="rId9"/>
          <a:stretch>
            <a:fillRect/>
          </a:stretch>
        </p:blipFill>
        <p:spPr>
          <a:xfrm>
            <a:off x="8955634" y="2326234"/>
            <a:ext cx="395021" cy="395021"/>
          </a:xfrm>
          <a:prstGeom prst="rect">
            <a:avLst/>
          </a:prstGeom>
        </p:spPr>
      </p:pic>
      <p:sp>
        <p:nvSpPr>
          <p:cNvPr id="42" name="Text 31"/>
          <p:cNvSpPr txBox="1"/>
          <p:nvPr/>
        </p:nvSpPr>
        <p:spPr>
          <a:xfrm>
            <a:off x="8412480" y="2889504"/>
            <a:ext cx="1481328" cy="384048"/>
          </a:xfrm>
          <a:prstGeom prst="rect">
            <a:avLst/>
          </a:prstGeom>
          <a:noFill/>
          <a:ln/>
        </p:spPr>
        <p:txBody>
          <a:bodyPr wrap="square" lIns="0" tIns="0" rIns="0" bIns="0" rtlCol="0" anchor="t"/>
          <a:lstStyle/>
          <a:p>
            <a:pPr algn="ctr" indent="0" marL="0">
              <a:buNone/>
            </a:pPr>
            <a:r>
              <a:rPr lang="en-US" sz="900" dirty="0">
                <a:solidFill>
                  <a:srgbClr val="2B2B2B"/>
                </a:solidFill>
                <a:latin typeface="Meiryo UI" pitchFamily="34" charset="0"/>
                <a:ea typeface="Meiryo UI" pitchFamily="34" charset="-122"/>
                <a:cs typeface="Meiryo UI" pitchFamily="34" charset="-120"/>
              </a:rPr>
              <a:t>Gemini</a:t>
            </a:r>
            <a:endParaRPr lang="en-US" sz="900" dirty="0"/>
          </a:p>
        </p:txBody>
      </p:sp>
      <p:sp>
        <p:nvSpPr>
          <p:cNvPr id="43" name="Shape 32"/>
          <p:cNvSpPr/>
          <p:nvPr/>
        </p:nvSpPr>
        <p:spPr>
          <a:xfrm flipH="1">
            <a:off x="9528048" y="2523744"/>
            <a:ext cx="502920" cy="0"/>
          </a:xfrm>
          <a:prstGeom prst="line">
            <a:avLst/>
          </a:prstGeom>
          <a:noFill/>
          <a:ln w="22225">
            <a:solidFill>
              <a:srgbClr val="9AA5B4"/>
            </a:solidFill>
            <a:prstDash val="solid"/>
            <a:tailEnd type="triangle"/>
          </a:ln>
        </p:spPr>
      </p:sp>
      <p:sp>
        <p:nvSpPr>
          <p:cNvPr id="44" name="Shape 33"/>
          <p:cNvSpPr/>
          <p:nvPr/>
        </p:nvSpPr>
        <p:spPr>
          <a:xfrm>
            <a:off x="10076688" y="2194560"/>
            <a:ext cx="658368" cy="658368"/>
          </a:xfrm>
          <a:prstGeom prst="roundRect">
            <a:avLst>
              <a:gd name="adj" fmla="val 16667"/>
            </a:avLst>
          </a:prstGeom>
          <a:solidFill>
            <a:srgbClr val="FFFFFF"/>
          </a:solidFill>
          <a:ln w="12700">
            <a:solidFill>
              <a:srgbClr val="D5DBE3"/>
            </a:solidFill>
            <a:prstDash val="solid"/>
          </a:ln>
          <a:effectLst>
            <a:outerShdw sx="100000" sy="100000" kx="0" ky="0" algn="bl" rotWithShape="0" blurRad="50800" dist="19050" dir="5400000">
              <a:srgbClr val="000000">
                <a:alpha val="12000"/>
              </a:srgbClr>
            </a:outerShdw>
          </a:effectLst>
        </p:spPr>
      </p:sp>
      <p:pic>
        <p:nvPicPr>
          <p:cNvPr id="45" name="Image 9" descr="preencoded.png">    </p:cNvPr>
          <p:cNvPicPr>
            <a:picLocks noChangeAspect="1"/>
          </p:cNvPicPr>
          <p:nvPr/>
        </p:nvPicPr>
        <p:blipFill>
          <a:blip r:embed="rId10"/>
          <a:stretch>
            <a:fillRect/>
          </a:stretch>
        </p:blipFill>
        <p:spPr>
          <a:xfrm>
            <a:off x="10208362" y="2326234"/>
            <a:ext cx="395021" cy="395021"/>
          </a:xfrm>
          <a:prstGeom prst="rect">
            <a:avLst/>
          </a:prstGeom>
        </p:spPr>
      </p:pic>
      <p:sp>
        <p:nvSpPr>
          <p:cNvPr id="46" name="Text 34"/>
          <p:cNvSpPr txBox="1"/>
          <p:nvPr/>
        </p:nvSpPr>
        <p:spPr>
          <a:xfrm>
            <a:off x="9665208" y="2889504"/>
            <a:ext cx="1481328" cy="384048"/>
          </a:xfrm>
          <a:prstGeom prst="rect">
            <a:avLst/>
          </a:prstGeom>
          <a:noFill/>
          <a:ln/>
        </p:spPr>
        <p:txBody>
          <a:bodyPr wrap="square" lIns="0" tIns="0" rIns="0" bIns="0" rtlCol="0" anchor="t"/>
          <a:lstStyle/>
          <a:p>
            <a:pPr algn="ctr" indent="0" marL="0">
              <a:buNone/>
            </a:pPr>
            <a:r>
              <a:rPr lang="en-US" sz="900" dirty="0">
                <a:solidFill>
                  <a:srgbClr val="2B2B2B"/>
                </a:solidFill>
                <a:latin typeface="Meiryo UI" pitchFamily="34" charset="0"/>
                <a:ea typeface="Meiryo UI" pitchFamily="34" charset="-122"/>
                <a:cs typeface="Meiryo UI" pitchFamily="34" charset="-120"/>
              </a:rPr>
              <a:t>BigQuery</a:t>
            </a:r>
            <a:endParaRPr lang="en-US" sz="900" dirty="0"/>
          </a:p>
          <a:p>
            <a:pPr algn="ctr" indent="0" marL="0">
              <a:buNone/>
            </a:pPr>
            <a:r>
              <a:rPr lang="en-US" sz="900" dirty="0">
                <a:solidFill>
                  <a:srgbClr val="2B2B2B"/>
                </a:solidFill>
                <a:latin typeface="Meiryo UI" pitchFamily="34" charset="0"/>
                <a:ea typeface="Meiryo UI" pitchFamily="34" charset="-122"/>
                <a:cs typeface="Meiryo UI" pitchFamily="34" charset="-120"/>
              </a:rPr>
              <a:t>（直接参照）</a:t>
            </a:r>
            <a:endParaRPr lang="en-US" sz="900" dirty="0"/>
          </a:p>
        </p:txBody>
      </p:sp>
      <p:sp>
        <p:nvSpPr>
          <p:cNvPr id="47" name="Text 35"/>
          <p:cNvSpPr txBox="1"/>
          <p:nvPr/>
        </p:nvSpPr>
        <p:spPr>
          <a:xfrm>
            <a:off x="6400800" y="3291840"/>
            <a:ext cx="5029200" cy="1920240"/>
          </a:xfrm>
          <a:prstGeom prst="rect">
            <a:avLst/>
          </a:prstGeom>
          <a:noFill/>
          <a:ln/>
        </p:spPr>
        <p:txBody>
          <a:bodyPr wrap="square" lIns="254" tIns="254" rIns="254" bIns="254" rtlCol="0" anchor="t"/>
          <a:lstStyle/>
          <a:p>
            <a:pPr indent="0" marL="0">
              <a:spcAft>
                <a:spcPts val="200"/>
              </a:spcAft>
              <a:buNone/>
            </a:pPr>
            <a:r>
              <a:rPr lang="en-US" sz="1200" b="1" dirty="0">
                <a:solidFill>
                  <a:srgbClr val="0E9F9A"/>
                </a:solidFill>
                <a:latin typeface="Meiryo UI" pitchFamily="34" charset="0"/>
                <a:ea typeface="Meiryo UI" pitchFamily="34" charset="-122"/>
                <a:cs typeface="Meiryo UI" pitchFamily="34" charset="-120"/>
              </a:rPr>
              <a:t>特徴</a:t>
            </a:r>
            <a:endParaRPr lang="en-US" sz="1200" dirty="0"/>
          </a:p>
          <a:p>
            <a:pPr marL="152400" indent="-152400">
              <a:spcAft>
                <a:spcPts val="200"/>
              </a:spcAft>
              <a:buSzPct val="100000"/>
              <a:buChar char="•"/>
            </a:pPr>
            <a:r>
              <a:rPr lang="en-US" sz="1200" dirty="0">
                <a:solidFill>
                  <a:srgbClr val="000000"/>
                </a:solidFill>
                <a:latin typeface="Meiryo UI" pitchFamily="34" charset="0"/>
                <a:ea typeface="Meiryo UI" pitchFamily="34" charset="-122"/>
                <a:cs typeface="Meiryo UI" pitchFamily="34" charset="-120"/>
              </a:rPr>
              <a:t>BigQueryと同じ環境で前処理と推論を完結できる</a:t>
            </a:r>
            <a:endParaRPr lang="en-US" sz="1200" dirty="0"/>
          </a:p>
          <a:p>
            <a:pPr marL="152400" indent="-152400">
              <a:spcAft>
                <a:spcPts val="200"/>
              </a:spcAft>
              <a:buSzPct val="100000"/>
              <a:buChar char="•"/>
            </a:pPr>
            <a:r>
              <a:rPr lang="en-US" sz="1200" dirty="0">
                <a:solidFill>
                  <a:srgbClr val="000000"/>
                </a:solidFill>
                <a:latin typeface="Meiryo UI" pitchFamily="34" charset="0"/>
                <a:ea typeface="Meiryo UI" pitchFamily="34" charset="-122"/>
                <a:cs typeface="Meiryo UI" pitchFamily="34" charset="-120"/>
              </a:rPr>
              <a:t>IT部門が運用するGCP基盤と技術を活用できる</a:t>
            </a:r>
            <a:endParaRPr lang="en-US" sz="1200" dirty="0"/>
          </a:p>
          <a:p>
            <a:pPr indent="0" marL="0">
              <a:spcAft>
                <a:spcPts val="200"/>
              </a:spcAft>
              <a:buNone/>
            </a:pPr>
            <a:r>
              <a:rPr lang="en-US" sz="1200" b="1" dirty="0">
                <a:solidFill>
                  <a:srgbClr val="D64545"/>
                </a:solidFill>
                <a:latin typeface="Meiryo UI" pitchFamily="34" charset="0"/>
                <a:ea typeface="Meiryo UI" pitchFamily="34" charset="-122"/>
                <a:cs typeface="Meiryo UI" pitchFamily="34" charset="-120"/>
              </a:rPr>
              <a:t>留意点</a:t>
            </a:r>
            <a:endParaRPr lang="en-US" sz="1200" dirty="0"/>
          </a:p>
          <a:p>
            <a:pPr marL="152400" indent="-152400">
              <a:spcAft>
                <a:spcPts val="200"/>
              </a:spcAft>
              <a:buSzPct val="100000"/>
              <a:buChar char="•"/>
            </a:pPr>
            <a:r>
              <a:rPr lang="en-US" sz="1200" dirty="0">
                <a:solidFill>
                  <a:srgbClr val="000000"/>
                </a:solidFill>
                <a:latin typeface="Meiryo UI" pitchFamily="34" charset="0"/>
                <a:ea typeface="Meiryo UI" pitchFamily="34" charset="-122"/>
                <a:cs typeface="Meiryo UI" pitchFamily="34" charset="-120"/>
              </a:rPr>
              <a:t>社内資料のGCP取り込みは可（確認済み）。同期・権限の設計は必要</a:t>
            </a:r>
            <a:endParaRPr lang="en-US" sz="1200" dirty="0"/>
          </a:p>
          <a:p>
            <a:pPr marL="152400" indent="-152400">
              <a:spcAft>
                <a:spcPts val="200"/>
              </a:spcAft>
              <a:buSzPct val="100000"/>
              <a:buChar char="•"/>
            </a:pPr>
            <a:r>
              <a:rPr lang="en-US" sz="1200" dirty="0">
                <a:solidFill>
                  <a:srgbClr val="000000"/>
                </a:solidFill>
                <a:latin typeface="Meiryo UI" pitchFamily="34" charset="0"/>
                <a:ea typeface="Meiryo UI" pitchFamily="34" charset="-122"/>
                <a:cs typeface="Meiryo UI" pitchFamily="34" charset="-120"/>
              </a:rPr>
              <a:t>利用画面がM365の外になり、Copilotと役割が重複する</a:t>
            </a:r>
            <a:endParaRPr lang="en-US" sz="1200" dirty="0"/>
          </a:p>
        </p:txBody>
      </p:sp>
      <p:sp>
        <p:nvSpPr>
          <p:cNvPr id="48" name="Shape 36"/>
          <p:cNvSpPr/>
          <p:nvPr/>
        </p:nvSpPr>
        <p:spPr>
          <a:xfrm>
            <a:off x="548640" y="5394960"/>
            <a:ext cx="11064240" cy="914400"/>
          </a:xfrm>
          <a:prstGeom prst="roundRect">
            <a:avLst>
              <a:gd name="adj" fmla="val 6000"/>
            </a:avLst>
          </a:prstGeom>
          <a:solidFill>
            <a:srgbClr val="EEEAF8"/>
          </a:solidFill>
          <a:ln/>
        </p:spPr>
      </p:sp>
      <p:sp>
        <p:nvSpPr>
          <p:cNvPr id="49" name="Shape 37"/>
          <p:cNvSpPr/>
          <p:nvPr/>
        </p:nvSpPr>
        <p:spPr>
          <a:xfrm>
            <a:off x="731520" y="5605272"/>
            <a:ext cx="502920" cy="502920"/>
          </a:xfrm>
          <a:prstGeom prst="ellipse">
            <a:avLst/>
          </a:prstGeom>
          <a:solidFill>
            <a:srgbClr val="FFFFFF"/>
          </a:solidFill>
          <a:ln/>
        </p:spPr>
      </p:sp>
      <p:pic>
        <p:nvPicPr>
          <p:cNvPr id="50" name="Image 10" descr="preencoded.png">    </p:cNvPr>
          <p:cNvPicPr>
            <a:picLocks noChangeAspect="1"/>
          </p:cNvPicPr>
          <p:nvPr/>
        </p:nvPicPr>
        <p:blipFill>
          <a:blip r:embed="rId11"/>
          <a:stretch>
            <a:fillRect/>
          </a:stretch>
        </p:blipFill>
        <p:spPr>
          <a:xfrm>
            <a:off x="832104" y="5705856"/>
            <a:ext cx="301752" cy="301752"/>
          </a:xfrm>
          <a:prstGeom prst="rect">
            <a:avLst/>
          </a:prstGeom>
        </p:spPr>
      </p:pic>
      <p:sp>
        <p:nvSpPr>
          <p:cNvPr id="51" name="Text 38"/>
          <p:cNvSpPr txBox="1"/>
          <p:nvPr/>
        </p:nvSpPr>
        <p:spPr>
          <a:xfrm>
            <a:off x="1371600" y="5394960"/>
            <a:ext cx="10058400" cy="914400"/>
          </a:xfrm>
          <a:prstGeom prst="rect">
            <a:avLst/>
          </a:prstGeom>
          <a:noFill/>
          <a:ln/>
        </p:spPr>
        <p:txBody>
          <a:bodyPr wrap="square" lIns="0" tIns="0" rIns="0" bIns="0" rtlCol="0" anchor="ctr"/>
          <a:lstStyle/>
          <a:p>
            <a:pPr indent="0" marL="0">
              <a:buNone/>
            </a:pPr>
            <a:r>
              <a:rPr lang="en-US" sz="1200" b="1" dirty="0">
                <a:solidFill>
                  <a:srgbClr val="6B4FBB"/>
                </a:solidFill>
                <a:latin typeface="Meiryo UI" pitchFamily="34" charset="0"/>
                <a:ea typeface="Meiryo UI" pitchFamily="34" charset="-122"/>
                <a:cs typeface="Meiryo UI" pitchFamily="34" charset="-120"/>
              </a:rPr>
              <a:t>ハイブリッド：</a:t>
            </a:r>
            <a:pPr indent="0" marL="0">
              <a:buNone/>
            </a:pPr>
            <a:r>
              <a:rPr lang="en-US" sz="1200" dirty="0">
                <a:solidFill>
                  <a:srgbClr val="000000"/>
                </a:solidFill>
                <a:latin typeface="Meiryo UI" pitchFamily="34" charset="0"/>
                <a:ea typeface="Meiryo UI" pitchFamily="34" charset="-122"/>
                <a:cs typeface="Meiryo UI" pitchFamily="34" charset="-120"/>
              </a:rPr>
              <a:t>資料はM365、数値はGCPに置いたまま、Copilot StudioなどからAPI（Cloud Run）を呼び、必要な結果だけを受け渡す。両方の特徴を活かせる一方、2つの環境にまたがる設計・運用と役割分担が必要。</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548640"/>
          </a:xfrm>
          <a:prstGeom prst="rect">
            <a:avLst/>
          </a:prstGeom>
          <a:noFill/>
          <a:ln/>
        </p:spPr>
        <p:txBody>
          <a:bodyPr wrap="square" lIns="0" tIns="0" rIns="0" bIns="0" rtlCol="0" anchor="ctr"/>
          <a:lstStyle/>
          <a:p>
            <a:pPr indent="0" marL="0">
              <a:buNone/>
            </a:pPr>
            <a:r>
              <a:rPr lang="en-US" sz="2600" b="1" dirty="0">
                <a:solidFill>
                  <a:srgbClr val="1B2A49"/>
                </a:solidFill>
                <a:latin typeface="Meiryo UI" pitchFamily="34" charset="0"/>
                <a:ea typeface="Meiryo UI" pitchFamily="34" charset="-122"/>
                <a:cs typeface="Meiryo UI" pitchFamily="34" charset="-120"/>
              </a:rPr>
              <a:t>軸2：配信管理の基盤</a:t>
            </a:r>
            <a:endParaRPr lang="en-US" sz="2600" dirty="0"/>
          </a:p>
        </p:txBody>
      </p:sp>
      <p:sp>
        <p:nvSpPr>
          <p:cNvPr id="3" name="Text 1"/>
          <p:cNvSpPr txBox="1"/>
          <p:nvPr/>
        </p:nvSpPr>
        <p:spPr>
          <a:xfrm>
            <a:off x="548640" y="896112"/>
            <a:ext cx="11064240" cy="365760"/>
          </a:xfrm>
          <a:prstGeom prst="rect">
            <a:avLst/>
          </a:prstGeom>
          <a:noFill/>
          <a:ln/>
        </p:spPr>
        <p:txBody>
          <a:bodyPr wrap="square" lIns="0" tIns="0" rIns="0" bIns="0" rtlCol="0" anchor="ctr"/>
          <a:lstStyle/>
          <a:p>
            <a:pPr indent="0" marL="0">
              <a:buNone/>
            </a:pPr>
            <a:r>
              <a:rPr lang="en-US" sz="1400" dirty="0">
                <a:solidFill>
                  <a:srgbClr val="6B7280"/>
                </a:solidFill>
                <a:latin typeface="Meiryo UI" pitchFamily="34" charset="0"/>
                <a:ea typeface="Meiryo UI" pitchFamily="34" charset="-122"/>
                <a:cs typeface="Meiryo UI" pitchFamily="34" charset="-120"/>
              </a:rPr>
              <a:t>現行のAirtableを使い続けるか、M365またはGCP上に移すか。カレンダー表示の作りやすさも論点になる</a:t>
            </a:r>
            <a:endParaRPr lang="en-US" sz="1400" dirty="0"/>
          </a:p>
        </p:txBody>
      </p:sp>
      <p:sp>
        <p:nvSpPr>
          <p:cNvPr id="4" name="Text 2"/>
          <p:cNvSpPr txBox="1"/>
          <p:nvPr/>
        </p:nvSpPr>
        <p:spPr>
          <a:xfrm>
            <a:off x="7498080" y="91440"/>
            <a:ext cx="4114800" cy="22860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1. 現状と検討の枠組み</a:t>
            </a:r>
            <a:endParaRPr lang="en-US" sz="900" dirty="0"/>
          </a:p>
        </p:txBody>
      </p:sp>
      <p:sp>
        <p:nvSpPr>
          <p:cNvPr id="5" name="Text 3"/>
          <p:cNvSpPr txBox="1"/>
          <p:nvPr/>
        </p:nvSpPr>
        <p:spPr>
          <a:xfrm>
            <a:off x="11247120" y="6446520"/>
            <a:ext cx="457200" cy="27432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7</a:t>
            </a:r>
            <a:endParaRPr lang="en-US" sz="900" dirty="0"/>
          </a:p>
        </p:txBody>
      </p:sp>
      <p:sp>
        <p:nvSpPr>
          <p:cNvPr id="6" name="Shape 4"/>
          <p:cNvSpPr/>
          <p:nvPr/>
        </p:nvSpPr>
        <p:spPr>
          <a:xfrm>
            <a:off x="548640" y="1417320"/>
            <a:ext cx="2103120" cy="4937760"/>
          </a:xfrm>
          <a:prstGeom prst="roundRect">
            <a:avLst>
              <a:gd name="adj" fmla="val 2174"/>
            </a:avLst>
          </a:prstGeom>
          <a:solidFill>
            <a:srgbClr val="F3F5F8"/>
          </a:solidFill>
          <a:ln/>
        </p:spPr>
      </p:sp>
      <p:sp>
        <p:nvSpPr>
          <p:cNvPr id="7" name="Shape 5"/>
          <p:cNvSpPr/>
          <p:nvPr/>
        </p:nvSpPr>
        <p:spPr>
          <a:xfrm>
            <a:off x="713232" y="1572768"/>
            <a:ext cx="566928" cy="566928"/>
          </a:xfrm>
          <a:prstGeom prst="roundRect">
            <a:avLst>
              <a:gd name="adj" fmla="val 19355"/>
            </a:avLst>
          </a:prstGeom>
          <a:solidFill>
            <a:srgbClr val="FFFFFF"/>
          </a:solidFill>
          <a:ln w="12700">
            <a:solidFill>
              <a:srgbClr val="D5DBE3"/>
            </a:solidFill>
            <a:prstDash val="solid"/>
          </a:ln>
          <a:effectLst>
            <a:outerShdw sx="100000" sy="100000" kx="0" ky="0" algn="bl" rotWithShape="0" blurRad="50800" dist="19050" dir="5400000">
              <a:srgbClr val="000000">
                <a:alpha val="12000"/>
              </a:srgbClr>
            </a:outerShdw>
          </a:effectLst>
        </p:spPr>
      </p:sp>
      <p:pic>
        <p:nvPicPr>
          <p:cNvPr id="8" name="Image 0" descr="preencoded.png">    </p:cNvPr>
          <p:cNvPicPr>
            <a:picLocks noChangeAspect="1"/>
          </p:cNvPicPr>
          <p:nvPr/>
        </p:nvPicPr>
        <p:blipFill>
          <a:blip r:embed="rId1"/>
          <a:stretch>
            <a:fillRect/>
          </a:stretch>
        </p:blipFill>
        <p:spPr>
          <a:xfrm>
            <a:off x="822960" y="1682496"/>
            <a:ext cx="347472" cy="347472"/>
          </a:xfrm>
          <a:prstGeom prst="rect">
            <a:avLst/>
          </a:prstGeom>
        </p:spPr>
      </p:pic>
      <p:sp>
        <p:nvSpPr>
          <p:cNvPr id="9" name="Text 6"/>
          <p:cNvSpPr txBox="1"/>
          <p:nvPr/>
        </p:nvSpPr>
        <p:spPr>
          <a:xfrm>
            <a:off x="685800" y="2240280"/>
            <a:ext cx="1874520" cy="566928"/>
          </a:xfrm>
          <a:prstGeom prst="rect">
            <a:avLst/>
          </a:prstGeom>
          <a:noFill/>
          <a:ln/>
        </p:spPr>
        <p:txBody>
          <a:bodyPr wrap="square" lIns="508" tIns="508" rIns="508" bIns="508"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Airtableを継続</a:t>
            </a:r>
            <a:endParaRPr lang="en-US" sz="1300" dirty="0"/>
          </a:p>
        </p:txBody>
      </p:sp>
      <p:sp>
        <p:nvSpPr>
          <p:cNvPr id="10" name="Text 7"/>
          <p:cNvSpPr txBox="1"/>
          <p:nvPr/>
        </p:nvSpPr>
        <p:spPr>
          <a:xfrm>
            <a:off x="658368" y="2852928"/>
            <a:ext cx="1920240" cy="2240280"/>
          </a:xfrm>
          <a:prstGeom prst="rect">
            <a:avLst/>
          </a:prstGeom>
          <a:noFill/>
          <a:ln/>
        </p:spPr>
        <p:txBody>
          <a:bodyPr wrap="square" lIns="254" tIns="254" rIns="254" bIns="254" rtlCol="0" anchor="t"/>
          <a:lstStyle/>
          <a:p>
            <a:pPr indent="0" marL="0">
              <a:spcAft>
                <a:spcPts val="300"/>
              </a:spcAft>
              <a:buNone/>
            </a:pPr>
            <a:r>
              <a:rPr lang="en-US" sz="1050" b="1" dirty="0">
                <a:solidFill>
                  <a:srgbClr val="0E9F9A"/>
                </a:solidFill>
                <a:latin typeface="Meiryo UI" pitchFamily="34" charset="0"/>
                <a:ea typeface="Meiryo UI" pitchFamily="34" charset="-122"/>
                <a:cs typeface="Meiryo UI" pitchFamily="34" charset="-120"/>
              </a:rPr>
              <a:t>特徴</a:t>
            </a:r>
            <a:endParaRPr lang="en-US" sz="1050" dirty="0"/>
          </a:p>
          <a:p>
            <a:pPr marL="127000" indent="-127000">
              <a:spcAft>
                <a:spcPts val="300"/>
              </a:spcAft>
              <a:buSzPct val="100000"/>
              <a:buChar char="•"/>
            </a:pPr>
            <a:r>
              <a:rPr lang="en-US" sz="1050" dirty="0">
                <a:solidFill>
                  <a:srgbClr val="000000"/>
                </a:solidFill>
                <a:latin typeface="Meiryo UI" pitchFamily="34" charset="0"/>
                <a:ea typeface="Meiryo UI" pitchFamily="34" charset="-122"/>
                <a:cs typeface="Meiryo UI" pitchFamily="34" charset="-120"/>
              </a:rPr>
              <a:t>現行の業務・操作感を維持できる</a:t>
            </a:r>
            <a:endParaRPr lang="en-US" sz="1050" dirty="0"/>
          </a:p>
          <a:p>
            <a:pPr marL="127000" indent="-127000">
              <a:spcAft>
                <a:spcPts val="300"/>
              </a:spcAft>
              <a:buSzPct val="100000"/>
              <a:buChar char="•"/>
            </a:pPr>
            <a:r>
              <a:rPr lang="en-US" sz="1050" dirty="0">
                <a:solidFill>
                  <a:srgbClr val="000000"/>
                </a:solidFill>
                <a:latin typeface="Meiryo UI" pitchFamily="34" charset="0"/>
                <a:ea typeface="Meiryo UI" pitchFamily="34" charset="-122"/>
                <a:cs typeface="Meiryo UI" pitchFamily="34" charset="-120"/>
              </a:rPr>
              <a:t>APIとWebhookで外部と連携しやすい</a:t>
            </a:r>
            <a:endParaRPr lang="en-US" sz="1050" dirty="0"/>
          </a:p>
          <a:p>
            <a:pPr indent="0" marL="0">
              <a:spcAft>
                <a:spcPts val="300"/>
              </a:spcAft>
              <a:buNone/>
            </a:pPr>
            <a:r>
              <a:rPr lang="en-US" sz="1050" b="1" dirty="0">
                <a:solidFill>
                  <a:srgbClr val="D64545"/>
                </a:solidFill>
                <a:latin typeface="Meiryo UI" pitchFamily="34" charset="0"/>
                <a:ea typeface="Meiryo UI" pitchFamily="34" charset="-122"/>
                <a:cs typeface="Meiryo UI" pitchFamily="34" charset="-120"/>
              </a:rPr>
              <a:t>留意点</a:t>
            </a:r>
            <a:endParaRPr lang="en-US" sz="1050" dirty="0"/>
          </a:p>
          <a:p>
            <a:pPr marL="127000" indent="-127000">
              <a:spcAft>
                <a:spcPts val="300"/>
              </a:spcAft>
              <a:buSzPct val="100000"/>
              <a:buChar char="•"/>
            </a:pPr>
            <a:r>
              <a:rPr lang="en-US" sz="1050" dirty="0">
                <a:solidFill>
                  <a:srgbClr val="000000"/>
                </a:solidFill>
                <a:latin typeface="Meiryo UI" pitchFamily="34" charset="0"/>
                <a:ea typeface="Meiryo UI" pitchFamily="34" charset="-122"/>
                <a:cs typeface="Meiryo UI" pitchFamily="34" charset="-120"/>
              </a:rPr>
              <a:t>M365・GCPのどちらから見ても外部サービス</a:t>
            </a:r>
            <a:endParaRPr lang="en-US" sz="1050" dirty="0"/>
          </a:p>
          <a:p>
            <a:pPr marL="127000" indent="-127000">
              <a:spcAft>
                <a:spcPts val="300"/>
              </a:spcAft>
              <a:buSzPct val="100000"/>
              <a:buChar char="•"/>
            </a:pPr>
            <a:r>
              <a:rPr lang="en-US" sz="1050" dirty="0">
                <a:solidFill>
                  <a:srgbClr val="000000"/>
                </a:solidFill>
                <a:latin typeface="Meiryo UI" pitchFamily="34" charset="0"/>
                <a:ea typeface="Meiryo UI" pitchFamily="34" charset="-122"/>
                <a:cs typeface="Meiryo UI" pitchFamily="34" charset="-120"/>
              </a:rPr>
              <a:t>連携の保守と権限管理が別になる</a:t>
            </a:r>
            <a:endParaRPr lang="en-US" sz="1050" dirty="0"/>
          </a:p>
        </p:txBody>
      </p:sp>
      <p:sp>
        <p:nvSpPr>
          <p:cNvPr id="11" name="Shape 8"/>
          <p:cNvSpPr/>
          <p:nvPr/>
        </p:nvSpPr>
        <p:spPr>
          <a:xfrm>
            <a:off x="658368" y="5138928"/>
            <a:ext cx="1883664" cy="1097280"/>
          </a:xfrm>
          <a:prstGeom prst="roundRect">
            <a:avLst>
              <a:gd name="adj" fmla="val 5000"/>
            </a:avLst>
          </a:prstGeom>
          <a:solidFill>
            <a:srgbClr val="FFFFFF"/>
          </a:solidFill>
          <a:ln/>
        </p:spPr>
      </p:sp>
      <p:sp>
        <p:nvSpPr>
          <p:cNvPr id="12" name="Text 9"/>
          <p:cNvSpPr txBox="1"/>
          <p:nvPr/>
        </p:nvSpPr>
        <p:spPr>
          <a:xfrm>
            <a:off x="713232" y="5175504"/>
            <a:ext cx="1792224" cy="1024128"/>
          </a:xfrm>
          <a:prstGeom prst="rect">
            <a:avLst/>
          </a:prstGeom>
          <a:noFill/>
          <a:ln/>
        </p:spPr>
        <p:txBody>
          <a:bodyPr wrap="square" lIns="0" tIns="0" rIns="0" bIns="0" rtlCol="0" anchor="ctr"/>
          <a:lstStyle/>
          <a:p>
            <a:pPr indent="0" marL="0">
              <a:spcAft>
                <a:spcPts val="200"/>
              </a:spcAft>
              <a:buNone/>
            </a:pPr>
            <a:r>
              <a:rPr lang="en-US" sz="850" dirty="0">
                <a:solidFill>
                  <a:srgbClr val="6B7280"/>
                </a:solidFill>
                <a:latin typeface="Meiryo UI" pitchFamily="34" charset="0"/>
                <a:ea typeface="Meiryo UI" pitchFamily="34" charset="-122"/>
                <a:cs typeface="Meiryo UI" pitchFamily="34" charset="-120"/>
              </a:rPr>
              <a:t>カレンダー：</a:t>
            </a:r>
            <a:pPr indent="0" marL="0">
              <a:spcAft>
                <a:spcPts val="200"/>
              </a:spcAft>
              <a:buNone/>
            </a:pPr>
            <a:r>
              <a:rPr lang="en-US" sz="900" b="1" dirty="0">
                <a:solidFill>
                  <a:srgbClr val="1B2A49"/>
                </a:solidFill>
                <a:latin typeface="Meiryo UI" pitchFamily="34" charset="0"/>
                <a:ea typeface="Meiryo UI" pitchFamily="34" charset="-122"/>
                <a:cs typeface="Meiryo UI" pitchFamily="34" charset="-120"/>
              </a:rPr>
              <a:t>標準で可（現行）</a:t>
            </a:r>
            <a:endParaRPr lang="en-US" sz="850" dirty="0"/>
          </a:p>
          <a:p>
            <a:pPr indent="0" marL="0">
              <a:spcAft>
                <a:spcPts val="200"/>
              </a:spcAft>
              <a:buNone/>
            </a:pPr>
            <a:r>
              <a:rPr lang="en-US" sz="850" dirty="0">
                <a:solidFill>
                  <a:srgbClr val="6B7280"/>
                </a:solidFill>
                <a:latin typeface="Meiryo UI" pitchFamily="34" charset="0"/>
                <a:ea typeface="Meiryo UI" pitchFamily="34" charset="-122"/>
                <a:cs typeface="Meiryo UI" pitchFamily="34" charset="-120"/>
              </a:rPr>
              <a:t>追加ライセンス：</a:t>
            </a:r>
            <a:pPr indent="0" marL="0">
              <a:spcAft>
                <a:spcPts val="200"/>
              </a:spcAft>
              <a:buNone/>
            </a:pPr>
            <a:r>
              <a:rPr lang="en-US" sz="900" b="1" dirty="0">
                <a:solidFill>
                  <a:srgbClr val="1B2A49"/>
                </a:solidFill>
                <a:latin typeface="Meiryo UI" pitchFamily="34" charset="0"/>
                <a:ea typeface="Meiryo UI" pitchFamily="34" charset="-122"/>
                <a:cs typeface="Meiryo UI" pitchFamily="34" charset="-120"/>
              </a:rPr>
              <a:t>不要（現行契約）</a:t>
            </a:r>
            <a:endParaRPr lang="en-US" sz="850" dirty="0"/>
          </a:p>
          <a:p>
            <a:pPr indent="0" marL="0">
              <a:spcAft>
                <a:spcPts val="200"/>
              </a:spcAft>
              <a:buNone/>
            </a:pPr>
            <a:r>
              <a:rPr lang="en-US" sz="850" dirty="0">
                <a:solidFill>
                  <a:srgbClr val="6B7280"/>
                </a:solidFill>
                <a:latin typeface="Meiryo UI" pitchFamily="34" charset="0"/>
                <a:ea typeface="Meiryo UI" pitchFamily="34" charset="-122"/>
                <a:cs typeface="Meiryo UI" pitchFamily="34" charset="-120"/>
              </a:rPr>
              <a:t>集約先：</a:t>
            </a:r>
            <a:pPr indent="0" marL="0">
              <a:spcAft>
                <a:spcPts val="200"/>
              </a:spcAft>
              <a:buNone/>
            </a:pPr>
            <a:r>
              <a:rPr lang="en-US" sz="900" b="1" dirty="0">
                <a:solidFill>
                  <a:srgbClr val="1B2A49"/>
                </a:solidFill>
                <a:latin typeface="Meiryo UI" pitchFamily="34" charset="0"/>
                <a:ea typeface="Meiryo UI" pitchFamily="34" charset="-122"/>
                <a:cs typeface="Meiryo UI" pitchFamily="34" charset="-120"/>
              </a:rPr>
              <a:t>M365／ハイブリッド／GCP</a:t>
            </a:r>
            <a:endParaRPr lang="en-US" sz="850" dirty="0"/>
          </a:p>
        </p:txBody>
      </p:sp>
      <p:sp>
        <p:nvSpPr>
          <p:cNvPr id="13" name="Shape 10"/>
          <p:cNvSpPr/>
          <p:nvPr/>
        </p:nvSpPr>
        <p:spPr>
          <a:xfrm>
            <a:off x="2788920" y="1417320"/>
            <a:ext cx="2103120" cy="4937760"/>
          </a:xfrm>
          <a:prstGeom prst="roundRect">
            <a:avLst>
              <a:gd name="adj" fmla="val 2174"/>
            </a:avLst>
          </a:prstGeom>
          <a:solidFill>
            <a:srgbClr val="D9F2F1"/>
          </a:solidFill>
          <a:ln/>
        </p:spPr>
      </p:sp>
      <p:sp>
        <p:nvSpPr>
          <p:cNvPr id="14" name="Shape 11"/>
          <p:cNvSpPr/>
          <p:nvPr/>
        </p:nvSpPr>
        <p:spPr>
          <a:xfrm>
            <a:off x="2953512" y="1572768"/>
            <a:ext cx="566928" cy="566928"/>
          </a:xfrm>
          <a:prstGeom prst="roundRect">
            <a:avLst>
              <a:gd name="adj" fmla="val 19355"/>
            </a:avLst>
          </a:prstGeom>
          <a:solidFill>
            <a:srgbClr val="FFFFFF"/>
          </a:solidFill>
          <a:ln w="12700">
            <a:solidFill>
              <a:srgbClr val="D5DBE3"/>
            </a:solidFill>
            <a:prstDash val="solid"/>
          </a:ln>
          <a:effectLst>
            <a:outerShdw sx="100000" sy="100000" kx="0" ky="0" algn="bl" rotWithShape="0" blurRad="50800" dist="19050" dir="5400000">
              <a:srgbClr val="000000">
                <a:alpha val="12000"/>
              </a:srgbClr>
            </a:outerShdw>
          </a:effectLst>
        </p:spPr>
      </p:sp>
      <p:pic>
        <p:nvPicPr>
          <p:cNvPr id="15" name="Image 1" descr="preencoded.png">    </p:cNvPr>
          <p:cNvPicPr>
            <a:picLocks noChangeAspect="1"/>
          </p:cNvPicPr>
          <p:nvPr/>
        </p:nvPicPr>
        <p:blipFill>
          <a:blip r:embed="rId2"/>
          <a:stretch>
            <a:fillRect/>
          </a:stretch>
        </p:blipFill>
        <p:spPr>
          <a:xfrm>
            <a:off x="3063240" y="1682496"/>
            <a:ext cx="347472" cy="347472"/>
          </a:xfrm>
          <a:prstGeom prst="rect">
            <a:avLst/>
          </a:prstGeom>
        </p:spPr>
      </p:pic>
      <p:sp>
        <p:nvSpPr>
          <p:cNvPr id="16" name="Text 12"/>
          <p:cNvSpPr txBox="1"/>
          <p:nvPr/>
        </p:nvSpPr>
        <p:spPr>
          <a:xfrm>
            <a:off x="2926080" y="2240280"/>
            <a:ext cx="1874520" cy="566928"/>
          </a:xfrm>
          <a:prstGeom prst="rect">
            <a:avLst/>
          </a:prstGeom>
          <a:noFill/>
          <a:ln/>
        </p:spPr>
        <p:txBody>
          <a:bodyPr wrap="square" lIns="508" tIns="508" rIns="508" bIns="508"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Microsoft Lists</a:t>
            </a:r>
            <a:endParaRPr lang="en-US" sz="1300" dirty="0"/>
          </a:p>
        </p:txBody>
      </p:sp>
      <p:sp>
        <p:nvSpPr>
          <p:cNvPr id="17" name="Text 13"/>
          <p:cNvSpPr txBox="1"/>
          <p:nvPr/>
        </p:nvSpPr>
        <p:spPr>
          <a:xfrm>
            <a:off x="2898648" y="2852928"/>
            <a:ext cx="1920240" cy="2240280"/>
          </a:xfrm>
          <a:prstGeom prst="rect">
            <a:avLst/>
          </a:prstGeom>
          <a:noFill/>
          <a:ln/>
        </p:spPr>
        <p:txBody>
          <a:bodyPr wrap="square" lIns="254" tIns="254" rIns="254" bIns="254" rtlCol="0" anchor="t"/>
          <a:lstStyle/>
          <a:p>
            <a:pPr indent="0" marL="0">
              <a:spcAft>
                <a:spcPts val="300"/>
              </a:spcAft>
              <a:buNone/>
            </a:pPr>
            <a:r>
              <a:rPr lang="en-US" sz="1050" b="1" dirty="0">
                <a:solidFill>
                  <a:srgbClr val="0E9F9A"/>
                </a:solidFill>
                <a:latin typeface="Meiryo UI" pitchFamily="34" charset="0"/>
                <a:ea typeface="Meiryo UI" pitchFamily="34" charset="-122"/>
                <a:cs typeface="Meiryo UI" pitchFamily="34" charset="-120"/>
              </a:rPr>
              <a:t>特徴</a:t>
            </a:r>
            <a:endParaRPr lang="en-US" sz="1050" dirty="0"/>
          </a:p>
          <a:p>
            <a:pPr marL="127000" indent="-127000">
              <a:spcAft>
                <a:spcPts val="300"/>
              </a:spcAft>
              <a:buSzPct val="100000"/>
              <a:buChar char="•"/>
            </a:pPr>
            <a:r>
              <a:rPr lang="en-US" sz="1050" dirty="0">
                <a:solidFill>
                  <a:srgbClr val="000000"/>
                </a:solidFill>
                <a:latin typeface="Meiryo UI" pitchFamily="34" charset="0"/>
                <a:ea typeface="Meiryo UI" pitchFamily="34" charset="-122"/>
                <a:cs typeface="Meiryo UI" pitchFamily="34" charset="-120"/>
              </a:rPr>
              <a:t>カレンダー・ボード・グリッド表示が標準で使える（ドラッグで日付変更も可）</a:t>
            </a:r>
            <a:endParaRPr lang="en-US" sz="1050" dirty="0"/>
          </a:p>
          <a:p>
            <a:pPr marL="127000" indent="-127000">
              <a:spcAft>
                <a:spcPts val="300"/>
              </a:spcAft>
              <a:buSzPct val="100000"/>
              <a:buChar char="•"/>
            </a:pPr>
            <a:r>
              <a:rPr lang="en-US" sz="1050" dirty="0">
                <a:solidFill>
                  <a:srgbClr val="000000"/>
                </a:solidFill>
                <a:latin typeface="Meiryo UI" pitchFamily="34" charset="0"/>
                <a:ea typeface="Meiryo UI" pitchFamily="34" charset="-122"/>
                <a:cs typeface="Meiryo UI" pitchFamily="34" charset="-120"/>
              </a:rPr>
              <a:t>Teamsのタブ、Power Automate標準コネクタと連携</a:t>
            </a:r>
            <a:endParaRPr lang="en-US" sz="1050" dirty="0"/>
          </a:p>
          <a:p>
            <a:pPr indent="0" marL="0">
              <a:spcAft>
                <a:spcPts val="300"/>
              </a:spcAft>
              <a:buNone/>
            </a:pPr>
            <a:r>
              <a:rPr lang="en-US" sz="1050" b="1" dirty="0">
                <a:solidFill>
                  <a:srgbClr val="D64545"/>
                </a:solidFill>
                <a:latin typeface="Meiryo UI" pitchFamily="34" charset="0"/>
                <a:ea typeface="Meiryo UI" pitchFamily="34" charset="-122"/>
                <a:cs typeface="Meiryo UI" pitchFamily="34" charset="-120"/>
              </a:rPr>
              <a:t>留意点</a:t>
            </a:r>
            <a:endParaRPr lang="en-US" sz="1050" dirty="0"/>
          </a:p>
          <a:p>
            <a:pPr marL="127000" indent="-127000">
              <a:spcAft>
                <a:spcPts val="300"/>
              </a:spcAft>
              <a:buSzPct val="100000"/>
              <a:buChar char="•"/>
            </a:pPr>
            <a:r>
              <a:rPr lang="en-US" sz="1050" dirty="0">
                <a:solidFill>
                  <a:srgbClr val="000000"/>
                </a:solidFill>
                <a:latin typeface="Meiryo UI" pitchFamily="34" charset="0"/>
                <a:ea typeface="Meiryo UI" pitchFamily="34" charset="-122"/>
                <a:cs typeface="Meiryo UI" pitchFamily="34" charset="-120"/>
              </a:rPr>
              <a:t>ビューのしきい値5,000件（インデックス設計が必要）</a:t>
            </a:r>
            <a:endParaRPr lang="en-US" sz="1050" dirty="0"/>
          </a:p>
          <a:p>
            <a:pPr marL="127000" indent="-127000">
              <a:spcAft>
                <a:spcPts val="300"/>
              </a:spcAft>
              <a:buSzPct val="100000"/>
              <a:buChar char="•"/>
            </a:pPr>
            <a:r>
              <a:rPr lang="en-US" sz="1050" dirty="0">
                <a:solidFill>
                  <a:srgbClr val="000000"/>
                </a:solidFill>
                <a:latin typeface="Meiryo UI" pitchFamily="34" charset="0"/>
                <a:ea typeface="Meiryo UI" pitchFamily="34" charset="-122"/>
                <a:cs typeface="Meiryo UI" pitchFamily="34" charset="-120"/>
              </a:rPr>
              <a:t>リレーション・集計はAirtableより弱い</a:t>
            </a:r>
            <a:endParaRPr lang="en-US" sz="1050" dirty="0"/>
          </a:p>
        </p:txBody>
      </p:sp>
      <p:sp>
        <p:nvSpPr>
          <p:cNvPr id="18" name="Shape 14"/>
          <p:cNvSpPr/>
          <p:nvPr/>
        </p:nvSpPr>
        <p:spPr>
          <a:xfrm>
            <a:off x="2898648" y="5138928"/>
            <a:ext cx="1883664" cy="1097280"/>
          </a:xfrm>
          <a:prstGeom prst="roundRect">
            <a:avLst>
              <a:gd name="adj" fmla="val 5000"/>
            </a:avLst>
          </a:prstGeom>
          <a:solidFill>
            <a:srgbClr val="FFFFFF"/>
          </a:solidFill>
          <a:ln/>
        </p:spPr>
      </p:sp>
      <p:sp>
        <p:nvSpPr>
          <p:cNvPr id="19" name="Text 15"/>
          <p:cNvSpPr txBox="1"/>
          <p:nvPr/>
        </p:nvSpPr>
        <p:spPr>
          <a:xfrm>
            <a:off x="2953512" y="5175504"/>
            <a:ext cx="1792224" cy="1024128"/>
          </a:xfrm>
          <a:prstGeom prst="rect">
            <a:avLst/>
          </a:prstGeom>
          <a:noFill/>
          <a:ln/>
        </p:spPr>
        <p:txBody>
          <a:bodyPr wrap="square" lIns="0" tIns="0" rIns="0" bIns="0" rtlCol="0" anchor="ctr"/>
          <a:lstStyle/>
          <a:p>
            <a:pPr indent="0" marL="0">
              <a:spcAft>
                <a:spcPts val="200"/>
              </a:spcAft>
              <a:buNone/>
            </a:pPr>
            <a:r>
              <a:rPr lang="en-US" sz="850" dirty="0">
                <a:solidFill>
                  <a:srgbClr val="6B7280"/>
                </a:solidFill>
                <a:latin typeface="Meiryo UI" pitchFamily="34" charset="0"/>
                <a:ea typeface="Meiryo UI" pitchFamily="34" charset="-122"/>
                <a:cs typeface="Meiryo UI" pitchFamily="34" charset="-120"/>
              </a:rPr>
              <a:t>カレンダー：</a:t>
            </a:r>
            <a:pPr indent="0" marL="0">
              <a:spcAft>
                <a:spcPts val="200"/>
              </a:spcAft>
              <a:buNone/>
            </a:pPr>
            <a:r>
              <a:rPr lang="en-US" sz="900" b="1" dirty="0">
                <a:solidFill>
                  <a:srgbClr val="1B2A49"/>
                </a:solidFill>
                <a:latin typeface="Meiryo UI" pitchFamily="34" charset="0"/>
                <a:ea typeface="Meiryo UI" pitchFamily="34" charset="-122"/>
                <a:cs typeface="Meiryo UI" pitchFamily="34" charset="-120"/>
              </a:rPr>
              <a:t>標準で可</a:t>
            </a:r>
            <a:endParaRPr lang="en-US" sz="850" dirty="0"/>
          </a:p>
          <a:p>
            <a:pPr indent="0" marL="0">
              <a:spcAft>
                <a:spcPts val="200"/>
              </a:spcAft>
              <a:buNone/>
            </a:pPr>
            <a:r>
              <a:rPr lang="en-US" sz="850" dirty="0">
                <a:solidFill>
                  <a:srgbClr val="6B7280"/>
                </a:solidFill>
                <a:latin typeface="Meiryo UI" pitchFamily="34" charset="0"/>
                <a:ea typeface="Meiryo UI" pitchFamily="34" charset="-122"/>
                <a:cs typeface="Meiryo UI" pitchFamily="34" charset="-120"/>
              </a:rPr>
              <a:t>追加ライセンス：</a:t>
            </a:r>
            <a:pPr indent="0" marL="0">
              <a:spcAft>
                <a:spcPts val="200"/>
              </a:spcAft>
              <a:buNone/>
            </a:pPr>
            <a:r>
              <a:rPr lang="en-US" sz="900" b="1" dirty="0">
                <a:solidFill>
                  <a:srgbClr val="1B2A49"/>
                </a:solidFill>
                <a:latin typeface="Meiryo UI" pitchFamily="34" charset="0"/>
                <a:ea typeface="Meiryo UI" pitchFamily="34" charset="-122"/>
                <a:cs typeface="Meiryo UI" pitchFamily="34" charset="-120"/>
              </a:rPr>
              <a:t>不要（M365標準）</a:t>
            </a:r>
            <a:endParaRPr lang="en-US" sz="850" dirty="0"/>
          </a:p>
          <a:p>
            <a:pPr indent="0" marL="0">
              <a:spcAft>
                <a:spcPts val="200"/>
              </a:spcAft>
              <a:buNone/>
            </a:pPr>
            <a:r>
              <a:rPr lang="en-US" sz="850" dirty="0">
                <a:solidFill>
                  <a:srgbClr val="6B7280"/>
                </a:solidFill>
                <a:latin typeface="Meiryo UI" pitchFamily="34" charset="0"/>
                <a:ea typeface="Meiryo UI" pitchFamily="34" charset="-122"/>
                <a:cs typeface="Meiryo UI" pitchFamily="34" charset="-120"/>
              </a:rPr>
              <a:t>集約先：</a:t>
            </a:r>
            <a:pPr indent="0" marL="0">
              <a:spcAft>
                <a:spcPts val="200"/>
              </a:spcAft>
              <a:buNone/>
            </a:pPr>
            <a:r>
              <a:rPr lang="en-US" sz="900" b="1" dirty="0">
                <a:solidFill>
                  <a:srgbClr val="1B2A49"/>
                </a:solidFill>
                <a:latin typeface="Meiryo UI" pitchFamily="34" charset="0"/>
                <a:ea typeface="Meiryo UI" pitchFamily="34" charset="-122"/>
                <a:cs typeface="Meiryo UI" pitchFamily="34" charset="-120"/>
              </a:rPr>
              <a:t>M365／ハイブリッド（Gemini Ent.からも操作可）</a:t>
            </a:r>
            <a:endParaRPr lang="en-US" sz="850" dirty="0"/>
          </a:p>
        </p:txBody>
      </p:sp>
      <p:sp>
        <p:nvSpPr>
          <p:cNvPr id="20" name="Shape 16"/>
          <p:cNvSpPr/>
          <p:nvPr/>
        </p:nvSpPr>
        <p:spPr>
          <a:xfrm>
            <a:off x="5029200" y="1417320"/>
            <a:ext cx="2103120" cy="4937760"/>
          </a:xfrm>
          <a:prstGeom prst="roundRect">
            <a:avLst>
              <a:gd name="adj" fmla="val 2174"/>
            </a:avLst>
          </a:prstGeom>
          <a:solidFill>
            <a:srgbClr val="F3F5F8"/>
          </a:solidFill>
          <a:ln/>
        </p:spPr>
      </p:sp>
      <p:sp>
        <p:nvSpPr>
          <p:cNvPr id="21" name="Shape 17"/>
          <p:cNvSpPr/>
          <p:nvPr/>
        </p:nvSpPr>
        <p:spPr>
          <a:xfrm>
            <a:off x="5193792" y="1572768"/>
            <a:ext cx="566928" cy="566928"/>
          </a:xfrm>
          <a:prstGeom prst="roundRect">
            <a:avLst>
              <a:gd name="adj" fmla="val 19355"/>
            </a:avLst>
          </a:prstGeom>
          <a:solidFill>
            <a:srgbClr val="FFFFFF"/>
          </a:solidFill>
          <a:ln w="12700">
            <a:solidFill>
              <a:srgbClr val="D5DBE3"/>
            </a:solidFill>
            <a:prstDash val="solid"/>
          </a:ln>
          <a:effectLst>
            <a:outerShdw sx="100000" sy="100000" kx="0" ky="0" algn="bl" rotWithShape="0" blurRad="50800" dist="19050" dir="5400000">
              <a:srgbClr val="000000">
                <a:alpha val="12000"/>
              </a:srgbClr>
            </a:outerShdw>
          </a:effectLst>
        </p:spPr>
      </p:sp>
      <p:pic>
        <p:nvPicPr>
          <p:cNvPr id="22" name="Image 2" descr="preencoded.png">    </p:cNvPr>
          <p:cNvPicPr>
            <a:picLocks noChangeAspect="1"/>
          </p:cNvPicPr>
          <p:nvPr/>
        </p:nvPicPr>
        <p:blipFill>
          <a:blip r:embed="rId3"/>
          <a:stretch>
            <a:fillRect/>
          </a:stretch>
        </p:blipFill>
        <p:spPr>
          <a:xfrm>
            <a:off x="5303520" y="1682496"/>
            <a:ext cx="347472" cy="347472"/>
          </a:xfrm>
          <a:prstGeom prst="rect">
            <a:avLst/>
          </a:prstGeom>
        </p:spPr>
      </p:pic>
      <p:sp>
        <p:nvSpPr>
          <p:cNvPr id="23" name="Text 18"/>
          <p:cNvSpPr txBox="1"/>
          <p:nvPr/>
        </p:nvSpPr>
        <p:spPr>
          <a:xfrm>
            <a:off x="5166360" y="2240280"/>
            <a:ext cx="1874520" cy="566928"/>
          </a:xfrm>
          <a:prstGeom prst="rect">
            <a:avLst/>
          </a:prstGeom>
          <a:noFill/>
          <a:ln/>
        </p:spPr>
        <p:txBody>
          <a:bodyPr wrap="square" lIns="508" tIns="508" rIns="508" bIns="508"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Power Apps（キャンバス／モデル駆動）</a:t>
            </a:r>
            <a:endParaRPr lang="en-US" sz="1300" dirty="0"/>
          </a:p>
        </p:txBody>
      </p:sp>
      <p:sp>
        <p:nvSpPr>
          <p:cNvPr id="24" name="Text 19"/>
          <p:cNvSpPr txBox="1"/>
          <p:nvPr/>
        </p:nvSpPr>
        <p:spPr>
          <a:xfrm>
            <a:off x="5138928" y="2852928"/>
            <a:ext cx="1920240" cy="2240280"/>
          </a:xfrm>
          <a:prstGeom prst="rect">
            <a:avLst/>
          </a:prstGeom>
          <a:noFill/>
          <a:ln/>
        </p:spPr>
        <p:txBody>
          <a:bodyPr wrap="square" lIns="254" tIns="254" rIns="254" bIns="254" rtlCol="0" anchor="t"/>
          <a:lstStyle/>
          <a:p>
            <a:pPr indent="0" marL="0">
              <a:spcAft>
                <a:spcPts val="300"/>
              </a:spcAft>
              <a:buNone/>
            </a:pPr>
            <a:r>
              <a:rPr lang="en-US" sz="1050" b="1" dirty="0">
                <a:solidFill>
                  <a:srgbClr val="0E9F9A"/>
                </a:solidFill>
                <a:latin typeface="Meiryo UI" pitchFamily="34" charset="0"/>
                <a:ea typeface="Meiryo UI" pitchFamily="34" charset="-122"/>
                <a:cs typeface="Meiryo UI" pitchFamily="34" charset="-120"/>
              </a:rPr>
              <a:t>特徴</a:t>
            </a:r>
            <a:endParaRPr lang="en-US" sz="1050" dirty="0"/>
          </a:p>
          <a:p>
            <a:pPr marL="127000" indent="-127000">
              <a:spcAft>
                <a:spcPts val="300"/>
              </a:spcAft>
              <a:buSzPct val="100000"/>
              <a:buChar char="•"/>
            </a:pPr>
            <a:r>
              <a:rPr lang="en-US" sz="1050" dirty="0">
                <a:solidFill>
                  <a:srgbClr val="000000"/>
                </a:solidFill>
                <a:latin typeface="Meiryo UI" pitchFamily="34" charset="0"/>
                <a:ea typeface="Meiryo UI" pitchFamily="34" charset="-122"/>
                <a:cs typeface="Meiryo UI" pitchFamily="34" charset="-120"/>
              </a:rPr>
              <a:t>Dataverse・Copilot Studioと一体で運用</a:t>
            </a:r>
            <a:endParaRPr lang="en-US" sz="1050" dirty="0"/>
          </a:p>
          <a:p>
            <a:pPr marL="127000" indent="-127000">
              <a:spcAft>
                <a:spcPts val="300"/>
              </a:spcAft>
              <a:buSzPct val="100000"/>
              <a:buChar char="•"/>
            </a:pPr>
            <a:r>
              <a:rPr lang="en-US" sz="1050" dirty="0">
                <a:solidFill>
                  <a:srgbClr val="000000"/>
                </a:solidFill>
                <a:latin typeface="Meiryo UI" pitchFamily="34" charset="0"/>
                <a:ea typeface="Meiryo UI" pitchFamily="34" charset="-122"/>
                <a:cs typeface="Meiryo UI" pitchFamily="34" charset="-120"/>
              </a:rPr>
              <a:t>ローコードで入力画面・承認を作れる</a:t>
            </a:r>
            <a:endParaRPr lang="en-US" sz="1050" dirty="0"/>
          </a:p>
          <a:p>
            <a:pPr indent="0" marL="0">
              <a:spcAft>
                <a:spcPts val="300"/>
              </a:spcAft>
              <a:buNone/>
            </a:pPr>
            <a:r>
              <a:rPr lang="en-US" sz="1050" b="1" dirty="0">
                <a:solidFill>
                  <a:srgbClr val="D64545"/>
                </a:solidFill>
                <a:latin typeface="Meiryo UI" pitchFamily="34" charset="0"/>
                <a:ea typeface="Meiryo UI" pitchFamily="34" charset="-122"/>
                <a:cs typeface="Meiryo UI" pitchFamily="34" charset="-120"/>
              </a:rPr>
              <a:t>留意点</a:t>
            </a:r>
            <a:endParaRPr lang="en-US" sz="1050" dirty="0"/>
          </a:p>
          <a:p>
            <a:pPr marL="127000" indent="-127000">
              <a:spcAft>
                <a:spcPts val="300"/>
              </a:spcAft>
              <a:buSzPct val="100000"/>
              <a:buChar char="•"/>
            </a:pPr>
            <a:r>
              <a:rPr lang="en-US" sz="1050" dirty="0">
                <a:solidFill>
                  <a:srgbClr val="000000"/>
                </a:solidFill>
                <a:latin typeface="Meiryo UI" pitchFamily="34" charset="0"/>
                <a:ea typeface="Meiryo UI" pitchFamily="34" charset="-122"/>
                <a:cs typeface="Meiryo UI" pitchFamily="34" charset="-120"/>
              </a:rPr>
              <a:t>カレンダー画面の作り込みに手間がかかる</a:t>
            </a:r>
            <a:endParaRPr lang="en-US" sz="1050" dirty="0"/>
          </a:p>
          <a:p>
            <a:pPr marL="127000" indent="-127000">
              <a:spcAft>
                <a:spcPts val="300"/>
              </a:spcAft>
              <a:buSzPct val="100000"/>
              <a:buChar char="•"/>
            </a:pPr>
            <a:r>
              <a:rPr lang="en-US" sz="1050" dirty="0">
                <a:solidFill>
                  <a:srgbClr val="000000"/>
                </a:solidFill>
                <a:latin typeface="Meiryo UI" pitchFamily="34" charset="0"/>
                <a:ea typeface="Meiryo UI" pitchFamily="34" charset="-122"/>
                <a:cs typeface="Meiryo UI" pitchFamily="34" charset="-120"/>
              </a:rPr>
              <a:t>表現力に限界がある</a:t>
            </a:r>
            <a:endParaRPr lang="en-US" sz="1050" dirty="0"/>
          </a:p>
        </p:txBody>
      </p:sp>
      <p:sp>
        <p:nvSpPr>
          <p:cNvPr id="25" name="Shape 20"/>
          <p:cNvSpPr/>
          <p:nvPr/>
        </p:nvSpPr>
        <p:spPr>
          <a:xfrm>
            <a:off x="5138928" y="5138928"/>
            <a:ext cx="1883664" cy="1097280"/>
          </a:xfrm>
          <a:prstGeom prst="roundRect">
            <a:avLst>
              <a:gd name="adj" fmla="val 5000"/>
            </a:avLst>
          </a:prstGeom>
          <a:solidFill>
            <a:srgbClr val="FFFFFF"/>
          </a:solidFill>
          <a:ln/>
        </p:spPr>
      </p:sp>
      <p:sp>
        <p:nvSpPr>
          <p:cNvPr id="26" name="Text 21"/>
          <p:cNvSpPr txBox="1"/>
          <p:nvPr/>
        </p:nvSpPr>
        <p:spPr>
          <a:xfrm>
            <a:off x="5193792" y="5175504"/>
            <a:ext cx="1792224" cy="1024128"/>
          </a:xfrm>
          <a:prstGeom prst="rect">
            <a:avLst/>
          </a:prstGeom>
          <a:noFill/>
          <a:ln/>
        </p:spPr>
        <p:txBody>
          <a:bodyPr wrap="square" lIns="0" tIns="0" rIns="0" bIns="0" rtlCol="0" anchor="ctr"/>
          <a:lstStyle/>
          <a:p>
            <a:pPr indent="0" marL="0">
              <a:spcAft>
                <a:spcPts val="200"/>
              </a:spcAft>
              <a:buNone/>
            </a:pPr>
            <a:r>
              <a:rPr lang="en-US" sz="850" dirty="0">
                <a:solidFill>
                  <a:srgbClr val="6B7280"/>
                </a:solidFill>
                <a:latin typeface="Meiryo UI" pitchFamily="34" charset="0"/>
                <a:ea typeface="Meiryo UI" pitchFamily="34" charset="-122"/>
                <a:cs typeface="Meiryo UI" pitchFamily="34" charset="-120"/>
              </a:rPr>
              <a:t>カレンダー：</a:t>
            </a:r>
            <a:pPr indent="0" marL="0">
              <a:spcAft>
                <a:spcPts val="200"/>
              </a:spcAft>
              <a:buNone/>
            </a:pPr>
            <a:r>
              <a:rPr lang="en-US" sz="900" b="1" dirty="0">
                <a:solidFill>
                  <a:srgbClr val="1B2A49"/>
                </a:solidFill>
                <a:latin typeface="Meiryo UI" pitchFamily="34" charset="0"/>
                <a:ea typeface="Meiryo UI" pitchFamily="34" charset="-122"/>
                <a:cs typeface="Meiryo UI" pitchFamily="34" charset="-120"/>
              </a:rPr>
              <a:t>作り込みが必要</a:t>
            </a:r>
            <a:endParaRPr lang="en-US" sz="850" dirty="0"/>
          </a:p>
          <a:p>
            <a:pPr indent="0" marL="0">
              <a:spcAft>
                <a:spcPts val="200"/>
              </a:spcAft>
              <a:buNone/>
            </a:pPr>
            <a:r>
              <a:rPr lang="en-US" sz="850" dirty="0">
                <a:solidFill>
                  <a:srgbClr val="6B7280"/>
                </a:solidFill>
                <a:latin typeface="Meiryo UI" pitchFamily="34" charset="0"/>
                <a:ea typeface="Meiryo UI" pitchFamily="34" charset="-122"/>
                <a:cs typeface="Meiryo UI" pitchFamily="34" charset="-120"/>
              </a:rPr>
              <a:t>追加ライセンス：</a:t>
            </a:r>
            <a:pPr indent="0" marL="0">
              <a:spcAft>
                <a:spcPts val="200"/>
              </a:spcAft>
              <a:buNone/>
            </a:pPr>
            <a:r>
              <a:rPr lang="en-US" sz="900" b="1" dirty="0">
                <a:solidFill>
                  <a:srgbClr val="1B2A49"/>
                </a:solidFill>
                <a:latin typeface="Meiryo UI" pitchFamily="34" charset="0"/>
                <a:ea typeface="Meiryo UI" pitchFamily="34" charset="-122"/>
                <a:cs typeface="Meiryo UI" pitchFamily="34" charset="-120"/>
              </a:rPr>
              <a:t>Premium（Dataverse利用時）</a:t>
            </a:r>
            <a:endParaRPr lang="en-US" sz="850" dirty="0"/>
          </a:p>
          <a:p>
            <a:pPr indent="0" marL="0">
              <a:spcAft>
                <a:spcPts val="200"/>
              </a:spcAft>
              <a:buNone/>
            </a:pPr>
            <a:r>
              <a:rPr lang="en-US" sz="850" dirty="0">
                <a:solidFill>
                  <a:srgbClr val="6B7280"/>
                </a:solidFill>
                <a:latin typeface="Meiryo UI" pitchFamily="34" charset="0"/>
                <a:ea typeface="Meiryo UI" pitchFamily="34" charset="-122"/>
                <a:cs typeface="Meiryo UI" pitchFamily="34" charset="-120"/>
              </a:rPr>
              <a:t>集約先：</a:t>
            </a:r>
            <a:pPr indent="0" marL="0">
              <a:spcAft>
                <a:spcPts val="200"/>
              </a:spcAft>
              <a:buNone/>
            </a:pPr>
            <a:r>
              <a:rPr lang="en-US" sz="900" b="1" dirty="0">
                <a:solidFill>
                  <a:srgbClr val="1B2A49"/>
                </a:solidFill>
                <a:latin typeface="Meiryo UI" pitchFamily="34" charset="0"/>
                <a:ea typeface="Meiryo UI" pitchFamily="34" charset="-122"/>
                <a:cs typeface="Meiryo UI" pitchFamily="34" charset="-120"/>
              </a:rPr>
              <a:t>M365</a:t>
            </a:r>
            <a:endParaRPr lang="en-US" sz="850" dirty="0"/>
          </a:p>
        </p:txBody>
      </p:sp>
      <p:sp>
        <p:nvSpPr>
          <p:cNvPr id="27" name="Shape 22"/>
          <p:cNvSpPr/>
          <p:nvPr/>
        </p:nvSpPr>
        <p:spPr>
          <a:xfrm>
            <a:off x="7269480" y="1417320"/>
            <a:ext cx="2103120" cy="4937760"/>
          </a:xfrm>
          <a:prstGeom prst="roundRect">
            <a:avLst>
              <a:gd name="adj" fmla="val 2174"/>
            </a:avLst>
          </a:prstGeom>
          <a:solidFill>
            <a:srgbClr val="D9F2F1"/>
          </a:solidFill>
          <a:ln/>
        </p:spPr>
      </p:sp>
      <p:sp>
        <p:nvSpPr>
          <p:cNvPr id="28" name="Shape 23"/>
          <p:cNvSpPr/>
          <p:nvPr/>
        </p:nvSpPr>
        <p:spPr>
          <a:xfrm>
            <a:off x="7434072" y="1572768"/>
            <a:ext cx="566928" cy="566928"/>
          </a:xfrm>
          <a:prstGeom prst="roundRect">
            <a:avLst>
              <a:gd name="adj" fmla="val 19355"/>
            </a:avLst>
          </a:prstGeom>
          <a:solidFill>
            <a:srgbClr val="FFFFFF"/>
          </a:solidFill>
          <a:ln w="12700">
            <a:solidFill>
              <a:srgbClr val="D5DBE3"/>
            </a:solidFill>
            <a:prstDash val="solid"/>
          </a:ln>
          <a:effectLst>
            <a:outerShdw sx="100000" sy="100000" kx="0" ky="0" algn="bl" rotWithShape="0" blurRad="50800" dist="19050" dir="5400000">
              <a:srgbClr val="000000">
                <a:alpha val="12000"/>
              </a:srgbClr>
            </a:outerShdw>
          </a:effectLst>
        </p:spPr>
      </p:sp>
      <p:pic>
        <p:nvPicPr>
          <p:cNvPr id="29" name="Image 3" descr="preencoded.png">    </p:cNvPr>
          <p:cNvPicPr>
            <a:picLocks noChangeAspect="1"/>
          </p:cNvPicPr>
          <p:nvPr/>
        </p:nvPicPr>
        <p:blipFill>
          <a:blip r:embed="rId4"/>
          <a:stretch>
            <a:fillRect/>
          </a:stretch>
        </p:blipFill>
        <p:spPr>
          <a:xfrm>
            <a:off x="7543800" y="1682496"/>
            <a:ext cx="347472" cy="347472"/>
          </a:xfrm>
          <a:prstGeom prst="rect">
            <a:avLst/>
          </a:prstGeom>
        </p:spPr>
      </p:pic>
      <p:sp>
        <p:nvSpPr>
          <p:cNvPr id="30" name="Shape 24"/>
          <p:cNvSpPr/>
          <p:nvPr/>
        </p:nvSpPr>
        <p:spPr>
          <a:xfrm>
            <a:off x="8092440" y="1572768"/>
            <a:ext cx="566928" cy="566928"/>
          </a:xfrm>
          <a:prstGeom prst="roundRect">
            <a:avLst>
              <a:gd name="adj" fmla="val 19355"/>
            </a:avLst>
          </a:prstGeom>
          <a:solidFill>
            <a:srgbClr val="FFFFFF"/>
          </a:solidFill>
          <a:ln w="12700">
            <a:solidFill>
              <a:srgbClr val="D5DBE3"/>
            </a:solidFill>
            <a:prstDash val="solid"/>
          </a:ln>
          <a:effectLst>
            <a:outerShdw sx="100000" sy="100000" kx="0" ky="0" algn="bl" rotWithShape="0" blurRad="50800" dist="19050" dir="5400000">
              <a:srgbClr val="000000">
                <a:alpha val="12000"/>
              </a:srgbClr>
            </a:outerShdw>
          </a:effectLst>
        </p:spPr>
      </p:sp>
      <p:pic>
        <p:nvPicPr>
          <p:cNvPr id="31" name="Image 4" descr="preencoded.png">    </p:cNvPr>
          <p:cNvPicPr>
            <a:picLocks noChangeAspect="1"/>
          </p:cNvPicPr>
          <p:nvPr/>
        </p:nvPicPr>
        <p:blipFill>
          <a:blip r:embed="rId5"/>
          <a:stretch>
            <a:fillRect/>
          </a:stretch>
        </p:blipFill>
        <p:spPr>
          <a:xfrm>
            <a:off x="8202168" y="1682496"/>
            <a:ext cx="347472" cy="347472"/>
          </a:xfrm>
          <a:prstGeom prst="rect">
            <a:avLst/>
          </a:prstGeom>
        </p:spPr>
      </p:pic>
      <p:sp>
        <p:nvSpPr>
          <p:cNvPr id="32" name="Text 25"/>
          <p:cNvSpPr txBox="1"/>
          <p:nvPr/>
        </p:nvSpPr>
        <p:spPr>
          <a:xfrm>
            <a:off x="7406640" y="2240280"/>
            <a:ext cx="1874520" cy="566928"/>
          </a:xfrm>
          <a:prstGeom prst="rect">
            <a:avLst/>
          </a:prstGeom>
          <a:noFill/>
          <a:ln/>
        </p:spPr>
        <p:txBody>
          <a:bodyPr wrap="square" lIns="508" tIns="508" rIns="508" bIns="508"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Power Apps code apps（TypeScript）</a:t>
            </a:r>
            <a:endParaRPr lang="en-US" sz="1300" dirty="0"/>
          </a:p>
        </p:txBody>
      </p:sp>
      <p:sp>
        <p:nvSpPr>
          <p:cNvPr id="33" name="Text 26"/>
          <p:cNvSpPr txBox="1"/>
          <p:nvPr/>
        </p:nvSpPr>
        <p:spPr>
          <a:xfrm>
            <a:off x="7379208" y="2852928"/>
            <a:ext cx="1920240" cy="2240280"/>
          </a:xfrm>
          <a:prstGeom prst="rect">
            <a:avLst/>
          </a:prstGeom>
          <a:noFill/>
          <a:ln/>
        </p:spPr>
        <p:txBody>
          <a:bodyPr wrap="square" lIns="254" tIns="254" rIns="254" bIns="254" rtlCol="0" anchor="t"/>
          <a:lstStyle/>
          <a:p>
            <a:pPr indent="0" marL="0">
              <a:spcAft>
                <a:spcPts val="300"/>
              </a:spcAft>
              <a:buNone/>
            </a:pPr>
            <a:r>
              <a:rPr lang="en-US" sz="1050" b="1" dirty="0">
                <a:solidFill>
                  <a:srgbClr val="0E9F9A"/>
                </a:solidFill>
                <a:latin typeface="Meiryo UI" pitchFamily="34" charset="0"/>
                <a:ea typeface="Meiryo UI" pitchFamily="34" charset="-122"/>
                <a:cs typeface="Meiryo UI" pitchFamily="34" charset="-120"/>
              </a:rPr>
              <a:t>特徴</a:t>
            </a:r>
            <a:endParaRPr lang="en-US" sz="1050" dirty="0"/>
          </a:p>
          <a:p>
            <a:pPr marL="127000" indent="-127000">
              <a:spcAft>
                <a:spcPts val="300"/>
              </a:spcAft>
              <a:buSzPct val="100000"/>
              <a:buChar char="•"/>
            </a:pPr>
            <a:r>
              <a:rPr lang="en-US" sz="1050" dirty="0">
                <a:solidFill>
                  <a:srgbClr val="000000"/>
                </a:solidFill>
                <a:latin typeface="Meiryo UI" pitchFamily="34" charset="0"/>
                <a:ea typeface="Meiryo UI" pitchFamily="34" charset="-122"/>
                <a:cs typeface="Meiryo UI" pitchFamily="34" charset="-120"/>
              </a:rPr>
              <a:t>React・TypeScriptで画面を自由に作れる（2026年2月GA）</a:t>
            </a:r>
            <a:endParaRPr lang="en-US" sz="1050" dirty="0"/>
          </a:p>
          <a:p>
            <a:pPr marL="127000" indent="-127000">
              <a:spcAft>
                <a:spcPts val="300"/>
              </a:spcAft>
              <a:buSzPct val="100000"/>
              <a:buChar char="•"/>
            </a:pPr>
            <a:r>
              <a:rPr lang="en-US" sz="1050" dirty="0">
                <a:solidFill>
                  <a:srgbClr val="000000"/>
                </a:solidFill>
                <a:latin typeface="Meiryo UI" pitchFamily="34" charset="0"/>
                <a:ea typeface="Meiryo UI" pitchFamily="34" charset="-122"/>
                <a:cs typeface="Meiryo UI" pitchFamily="34" charset="-120"/>
              </a:rPr>
              <a:t>認証・ホスティング・DLPはPower Platformが担う</a:t>
            </a:r>
            <a:endParaRPr lang="en-US" sz="1050" dirty="0"/>
          </a:p>
          <a:p>
            <a:pPr indent="0" marL="0">
              <a:spcAft>
                <a:spcPts val="300"/>
              </a:spcAft>
              <a:buNone/>
            </a:pPr>
            <a:r>
              <a:rPr lang="en-US" sz="1050" b="1" dirty="0">
                <a:solidFill>
                  <a:srgbClr val="D64545"/>
                </a:solidFill>
                <a:latin typeface="Meiryo UI" pitchFamily="34" charset="0"/>
                <a:ea typeface="Meiryo UI" pitchFamily="34" charset="-122"/>
                <a:cs typeface="Meiryo UI" pitchFamily="34" charset="-120"/>
              </a:rPr>
              <a:t>留意点</a:t>
            </a:r>
            <a:endParaRPr lang="en-US" sz="1050" dirty="0"/>
          </a:p>
          <a:p>
            <a:pPr marL="127000" indent="-127000">
              <a:spcAft>
                <a:spcPts val="300"/>
              </a:spcAft>
              <a:buSzPct val="100000"/>
              <a:buChar char="•"/>
            </a:pPr>
            <a:r>
              <a:rPr lang="en-US" sz="1050" dirty="0">
                <a:solidFill>
                  <a:srgbClr val="000000"/>
                </a:solidFill>
                <a:latin typeface="Meiryo UI" pitchFamily="34" charset="0"/>
                <a:ea typeface="Meiryo UI" pitchFamily="34" charset="-122"/>
                <a:cs typeface="Meiryo UI" pitchFamily="34" charset="-120"/>
              </a:rPr>
              <a:t>利用者全員にPower Apps Premiumが必要</a:t>
            </a:r>
            <a:endParaRPr lang="en-US" sz="1050" dirty="0"/>
          </a:p>
          <a:p>
            <a:pPr marL="127000" indent="-127000">
              <a:spcAft>
                <a:spcPts val="300"/>
              </a:spcAft>
              <a:buSzPct val="100000"/>
              <a:buChar char="•"/>
            </a:pPr>
            <a:r>
              <a:rPr lang="en-US" sz="1050" dirty="0">
                <a:solidFill>
                  <a:srgbClr val="000000"/>
                </a:solidFill>
                <a:latin typeface="Meiryo UI" pitchFamily="34" charset="0"/>
                <a:ea typeface="Meiryo UI" pitchFamily="34" charset="-122"/>
                <a:cs typeface="Meiryo UI" pitchFamily="34" charset="-120"/>
              </a:rPr>
              <a:t>コードの開発・保守が必要</a:t>
            </a:r>
            <a:endParaRPr lang="en-US" sz="1050" dirty="0"/>
          </a:p>
        </p:txBody>
      </p:sp>
      <p:sp>
        <p:nvSpPr>
          <p:cNvPr id="34" name="Shape 27"/>
          <p:cNvSpPr/>
          <p:nvPr/>
        </p:nvSpPr>
        <p:spPr>
          <a:xfrm>
            <a:off x="7379208" y="5138928"/>
            <a:ext cx="1883664" cy="1097280"/>
          </a:xfrm>
          <a:prstGeom prst="roundRect">
            <a:avLst>
              <a:gd name="adj" fmla="val 5000"/>
            </a:avLst>
          </a:prstGeom>
          <a:solidFill>
            <a:srgbClr val="FFFFFF"/>
          </a:solidFill>
          <a:ln/>
        </p:spPr>
      </p:sp>
      <p:sp>
        <p:nvSpPr>
          <p:cNvPr id="35" name="Text 28"/>
          <p:cNvSpPr txBox="1"/>
          <p:nvPr/>
        </p:nvSpPr>
        <p:spPr>
          <a:xfrm>
            <a:off x="7434072" y="5175504"/>
            <a:ext cx="1792224" cy="1024128"/>
          </a:xfrm>
          <a:prstGeom prst="rect">
            <a:avLst/>
          </a:prstGeom>
          <a:noFill/>
          <a:ln/>
        </p:spPr>
        <p:txBody>
          <a:bodyPr wrap="square" lIns="0" tIns="0" rIns="0" bIns="0" rtlCol="0" anchor="ctr"/>
          <a:lstStyle/>
          <a:p>
            <a:pPr indent="0" marL="0">
              <a:spcAft>
                <a:spcPts val="200"/>
              </a:spcAft>
              <a:buNone/>
            </a:pPr>
            <a:r>
              <a:rPr lang="en-US" sz="850" dirty="0">
                <a:solidFill>
                  <a:srgbClr val="6B7280"/>
                </a:solidFill>
                <a:latin typeface="Meiryo UI" pitchFamily="34" charset="0"/>
                <a:ea typeface="Meiryo UI" pitchFamily="34" charset="-122"/>
                <a:cs typeface="Meiryo UI" pitchFamily="34" charset="-120"/>
              </a:rPr>
              <a:t>カレンダー：</a:t>
            </a:r>
            <a:pPr indent="0" marL="0">
              <a:spcAft>
                <a:spcPts val="200"/>
              </a:spcAft>
              <a:buNone/>
            </a:pPr>
            <a:r>
              <a:rPr lang="en-US" sz="900" b="1" dirty="0">
                <a:solidFill>
                  <a:srgbClr val="1B2A49"/>
                </a:solidFill>
                <a:latin typeface="Meiryo UI" pitchFamily="34" charset="0"/>
                <a:ea typeface="Meiryo UI" pitchFamily="34" charset="-122"/>
                <a:cs typeface="Meiryo UI" pitchFamily="34" charset="-120"/>
              </a:rPr>
              <a:t>TSで自由に作れる</a:t>
            </a:r>
            <a:endParaRPr lang="en-US" sz="850" dirty="0"/>
          </a:p>
          <a:p>
            <a:pPr indent="0" marL="0">
              <a:spcAft>
                <a:spcPts val="200"/>
              </a:spcAft>
              <a:buNone/>
            </a:pPr>
            <a:r>
              <a:rPr lang="en-US" sz="850" dirty="0">
                <a:solidFill>
                  <a:srgbClr val="6B7280"/>
                </a:solidFill>
                <a:latin typeface="Meiryo UI" pitchFamily="34" charset="0"/>
                <a:ea typeface="Meiryo UI" pitchFamily="34" charset="-122"/>
                <a:cs typeface="Meiryo UI" pitchFamily="34" charset="-120"/>
              </a:rPr>
              <a:t>追加ライセンス：</a:t>
            </a:r>
            <a:pPr indent="0" marL="0">
              <a:spcAft>
                <a:spcPts val="200"/>
              </a:spcAft>
              <a:buNone/>
            </a:pPr>
            <a:r>
              <a:rPr lang="en-US" sz="900" b="1" dirty="0">
                <a:solidFill>
                  <a:srgbClr val="1B2A49"/>
                </a:solidFill>
                <a:latin typeface="Meiryo UI" pitchFamily="34" charset="0"/>
                <a:ea typeface="Meiryo UI" pitchFamily="34" charset="-122"/>
                <a:cs typeface="Meiryo UI" pitchFamily="34" charset="-120"/>
              </a:rPr>
              <a:t>Premium（全利用者）</a:t>
            </a:r>
            <a:endParaRPr lang="en-US" sz="850" dirty="0"/>
          </a:p>
          <a:p>
            <a:pPr indent="0" marL="0">
              <a:spcAft>
                <a:spcPts val="200"/>
              </a:spcAft>
              <a:buNone/>
            </a:pPr>
            <a:r>
              <a:rPr lang="en-US" sz="850" dirty="0">
                <a:solidFill>
                  <a:srgbClr val="6B7280"/>
                </a:solidFill>
                <a:latin typeface="Meiryo UI" pitchFamily="34" charset="0"/>
                <a:ea typeface="Meiryo UI" pitchFamily="34" charset="-122"/>
                <a:cs typeface="Meiryo UI" pitchFamily="34" charset="-120"/>
              </a:rPr>
              <a:t>集約先：</a:t>
            </a:r>
            <a:pPr indent="0" marL="0">
              <a:spcAft>
                <a:spcPts val="200"/>
              </a:spcAft>
              <a:buNone/>
            </a:pPr>
            <a:r>
              <a:rPr lang="en-US" sz="900" b="1" dirty="0">
                <a:solidFill>
                  <a:srgbClr val="1B2A49"/>
                </a:solidFill>
                <a:latin typeface="Meiryo UI" pitchFamily="34" charset="0"/>
                <a:ea typeface="Meiryo UI" pitchFamily="34" charset="-122"/>
                <a:cs typeface="Meiryo UI" pitchFamily="34" charset="-120"/>
              </a:rPr>
              <a:t>M365／ハイブリッド</a:t>
            </a:r>
            <a:endParaRPr lang="en-US" sz="850" dirty="0"/>
          </a:p>
        </p:txBody>
      </p:sp>
      <p:sp>
        <p:nvSpPr>
          <p:cNvPr id="36" name="Shape 29"/>
          <p:cNvSpPr/>
          <p:nvPr/>
        </p:nvSpPr>
        <p:spPr>
          <a:xfrm>
            <a:off x="9509760" y="1417320"/>
            <a:ext cx="2103120" cy="4937760"/>
          </a:xfrm>
          <a:prstGeom prst="roundRect">
            <a:avLst>
              <a:gd name="adj" fmla="val 2174"/>
            </a:avLst>
          </a:prstGeom>
          <a:solidFill>
            <a:srgbClr val="F3F5F8"/>
          </a:solidFill>
          <a:ln/>
        </p:spPr>
      </p:sp>
      <p:sp>
        <p:nvSpPr>
          <p:cNvPr id="37" name="Shape 30"/>
          <p:cNvSpPr/>
          <p:nvPr/>
        </p:nvSpPr>
        <p:spPr>
          <a:xfrm>
            <a:off x="9674352" y="1572768"/>
            <a:ext cx="566928" cy="566928"/>
          </a:xfrm>
          <a:prstGeom prst="roundRect">
            <a:avLst>
              <a:gd name="adj" fmla="val 19355"/>
            </a:avLst>
          </a:prstGeom>
          <a:solidFill>
            <a:srgbClr val="FFFFFF"/>
          </a:solidFill>
          <a:ln w="12700">
            <a:solidFill>
              <a:srgbClr val="D5DBE3"/>
            </a:solidFill>
            <a:prstDash val="solid"/>
          </a:ln>
          <a:effectLst>
            <a:outerShdw sx="100000" sy="100000" kx="0" ky="0" algn="bl" rotWithShape="0" blurRad="50800" dist="19050" dir="5400000">
              <a:srgbClr val="000000">
                <a:alpha val="12000"/>
              </a:srgbClr>
            </a:outerShdw>
          </a:effectLst>
        </p:spPr>
      </p:sp>
      <p:pic>
        <p:nvPicPr>
          <p:cNvPr id="38" name="Image 5" descr="preencoded.png">    </p:cNvPr>
          <p:cNvPicPr>
            <a:picLocks noChangeAspect="1"/>
          </p:cNvPicPr>
          <p:nvPr/>
        </p:nvPicPr>
        <p:blipFill>
          <a:blip r:embed="rId6"/>
          <a:stretch>
            <a:fillRect/>
          </a:stretch>
        </p:blipFill>
        <p:spPr>
          <a:xfrm>
            <a:off x="9784080" y="1682496"/>
            <a:ext cx="347472" cy="347472"/>
          </a:xfrm>
          <a:prstGeom prst="rect">
            <a:avLst/>
          </a:prstGeom>
        </p:spPr>
      </p:pic>
      <p:sp>
        <p:nvSpPr>
          <p:cNvPr id="39" name="Shape 31"/>
          <p:cNvSpPr/>
          <p:nvPr/>
        </p:nvSpPr>
        <p:spPr>
          <a:xfrm>
            <a:off x="10332720" y="1572768"/>
            <a:ext cx="566928" cy="566928"/>
          </a:xfrm>
          <a:prstGeom prst="roundRect">
            <a:avLst>
              <a:gd name="adj" fmla="val 19355"/>
            </a:avLst>
          </a:prstGeom>
          <a:solidFill>
            <a:srgbClr val="FFFFFF"/>
          </a:solidFill>
          <a:ln w="12700">
            <a:solidFill>
              <a:srgbClr val="D5DBE3"/>
            </a:solidFill>
            <a:prstDash val="solid"/>
          </a:ln>
          <a:effectLst>
            <a:outerShdw sx="100000" sy="100000" kx="0" ky="0" algn="bl" rotWithShape="0" blurRad="50800" dist="19050" dir="5400000">
              <a:srgbClr val="000000">
                <a:alpha val="12000"/>
              </a:srgbClr>
            </a:outerShdw>
          </a:effectLst>
        </p:spPr>
      </p:sp>
      <p:pic>
        <p:nvPicPr>
          <p:cNvPr id="40" name="Image 6" descr="preencoded.png">    </p:cNvPr>
          <p:cNvPicPr>
            <a:picLocks noChangeAspect="1"/>
          </p:cNvPicPr>
          <p:nvPr/>
        </p:nvPicPr>
        <p:blipFill>
          <a:blip r:embed="rId7"/>
          <a:stretch>
            <a:fillRect/>
          </a:stretch>
        </p:blipFill>
        <p:spPr>
          <a:xfrm>
            <a:off x="10442448" y="1682496"/>
            <a:ext cx="347472" cy="347472"/>
          </a:xfrm>
          <a:prstGeom prst="rect">
            <a:avLst/>
          </a:prstGeom>
        </p:spPr>
      </p:pic>
      <p:sp>
        <p:nvSpPr>
          <p:cNvPr id="41" name="Text 32"/>
          <p:cNvSpPr txBox="1"/>
          <p:nvPr/>
        </p:nvSpPr>
        <p:spPr>
          <a:xfrm>
            <a:off x="9646920" y="2240280"/>
            <a:ext cx="1874520" cy="566928"/>
          </a:xfrm>
          <a:prstGeom prst="rect">
            <a:avLst/>
          </a:prstGeom>
          <a:noFill/>
          <a:ln/>
        </p:spPr>
        <p:txBody>
          <a:bodyPr wrap="square" lIns="508" tIns="508" rIns="508" bIns="508"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スクラッチ開発（Cloud Run）</a:t>
            </a:r>
            <a:endParaRPr lang="en-US" sz="1300" dirty="0"/>
          </a:p>
        </p:txBody>
      </p:sp>
      <p:sp>
        <p:nvSpPr>
          <p:cNvPr id="42" name="Text 33"/>
          <p:cNvSpPr txBox="1"/>
          <p:nvPr/>
        </p:nvSpPr>
        <p:spPr>
          <a:xfrm>
            <a:off x="9619488" y="2852928"/>
            <a:ext cx="1920240" cy="2240280"/>
          </a:xfrm>
          <a:prstGeom prst="rect">
            <a:avLst/>
          </a:prstGeom>
          <a:noFill/>
          <a:ln/>
        </p:spPr>
        <p:txBody>
          <a:bodyPr wrap="square" lIns="254" tIns="254" rIns="254" bIns="254" rtlCol="0" anchor="t"/>
          <a:lstStyle/>
          <a:p>
            <a:pPr indent="0" marL="0">
              <a:spcAft>
                <a:spcPts val="300"/>
              </a:spcAft>
              <a:buNone/>
            </a:pPr>
            <a:r>
              <a:rPr lang="en-US" sz="1050" b="1" dirty="0">
                <a:solidFill>
                  <a:srgbClr val="0E9F9A"/>
                </a:solidFill>
                <a:latin typeface="Meiryo UI" pitchFamily="34" charset="0"/>
                <a:ea typeface="Meiryo UI" pitchFamily="34" charset="-122"/>
                <a:cs typeface="Meiryo UI" pitchFamily="34" charset="-120"/>
              </a:rPr>
              <a:t>特徴</a:t>
            </a:r>
            <a:endParaRPr lang="en-US" sz="1050" dirty="0"/>
          </a:p>
          <a:p>
            <a:pPr marL="127000" indent="-127000">
              <a:spcAft>
                <a:spcPts val="300"/>
              </a:spcAft>
              <a:buSzPct val="100000"/>
              <a:buChar char="•"/>
            </a:pPr>
            <a:r>
              <a:rPr lang="en-US" sz="1050" dirty="0">
                <a:solidFill>
                  <a:srgbClr val="000000"/>
                </a:solidFill>
                <a:latin typeface="Meiryo UI" pitchFamily="34" charset="0"/>
                <a:ea typeface="Meiryo UI" pitchFamily="34" charset="-122"/>
                <a:cs typeface="Meiryo UI" pitchFamily="34" charset="-120"/>
              </a:rPr>
              <a:t>画面・機能を自由に設計できる</a:t>
            </a:r>
            <a:endParaRPr lang="en-US" sz="1050" dirty="0"/>
          </a:p>
          <a:p>
            <a:pPr marL="127000" indent="-127000">
              <a:spcAft>
                <a:spcPts val="300"/>
              </a:spcAft>
              <a:buSzPct val="100000"/>
              <a:buChar char="•"/>
            </a:pPr>
            <a:r>
              <a:rPr lang="en-US" sz="1050" dirty="0">
                <a:solidFill>
                  <a:srgbClr val="000000"/>
                </a:solidFill>
                <a:latin typeface="Meiryo UI" pitchFamily="34" charset="0"/>
                <a:ea typeface="Meiryo UI" pitchFamily="34" charset="-122"/>
                <a:cs typeface="Meiryo UI" pitchFamily="34" charset="-120"/>
              </a:rPr>
              <a:t>BigQuery・Geminiと直接統合できる</a:t>
            </a:r>
            <a:endParaRPr lang="en-US" sz="1050" dirty="0"/>
          </a:p>
          <a:p>
            <a:pPr indent="0" marL="0">
              <a:spcAft>
                <a:spcPts val="300"/>
              </a:spcAft>
              <a:buNone/>
            </a:pPr>
            <a:r>
              <a:rPr lang="en-US" sz="1050" b="1" dirty="0">
                <a:solidFill>
                  <a:srgbClr val="D64545"/>
                </a:solidFill>
                <a:latin typeface="Meiryo UI" pitchFamily="34" charset="0"/>
                <a:ea typeface="Meiryo UI" pitchFamily="34" charset="-122"/>
                <a:cs typeface="Meiryo UI" pitchFamily="34" charset="-120"/>
              </a:rPr>
              <a:t>留意点</a:t>
            </a:r>
            <a:endParaRPr lang="en-US" sz="1050" dirty="0"/>
          </a:p>
          <a:p>
            <a:pPr marL="127000" indent="-127000">
              <a:spcAft>
                <a:spcPts val="300"/>
              </a:spcAft>
              <a:buSzPct val="100000"/>
              <a:buChar char="•"/>
            </a:pPr>
            <a:r>
              <a:rPr lang="en-US" sz="1050" dirty="0">
                <a:solidFill>
                  <a:srgbClr val="000000"/>
                </a:solidFill>
                <a:latin typeface="Meiryo UI" pitchFamily="34" charset="0"/>
                <a:ea typeface="Meiryo UI" pitchFamily="34" charset="-122"/>
                <a:cs typeface="Meiryo UI" pitchFamily="34" charset="-120"/>
              </a:rPr>
              <a:t>認証（SSO）・運用基盤を自前で用意</a:t>
            </a:r>
            <a:endParaRPr lang="en-US" sz="1050" dirty="0"/>
          </a:p>
          <a:p>
            <a:pPr marL="127000" indent="-127000">
              <a:spcAft>
                <a:spcPts val="300"/>
              </a:spcAft>
              <a:buSzPct val="100000"/>
              <a:buChar char="•"/>
            </a:pPr>
            <a:r>
              <a:rPr lang="en-US" sz="1050" dirty="0">
                <a:solidFill>
                  <a:srgbClr val="000000"/>
                </a:solidFill>
                <a:latin typeface="Meiryo UI" pitchFamily="34" charset="0"/>
                <a:ea typeface="Meiryo UI" pitchFamily="34" charset="-122"/>
                <a:cs typeface="Meiryo UI" pitchFamily="34" charset="-120"/>
              </a:rPr>
              <a:t>期間・コストが大きい</a:t>
            </a:r>
            <a:endParaRPr lang="en-US" sz="1050" dirty="0"/>
          </a:p>
        </p:txBody>
      </p:sp>
      <p:sp>
        <p:nvSpPr>
          <p:cNvPr id="43" name="Shape 34"/>
          <p:cNvSpPr/>
          <p:nvPr/>
        </p:nvSpPr>
        <p:spPr>
          <a:xfrm>
            <a:off x="9619488" y="5138928"/>
            <a:ext cx="1883664" cy="1097280"/>
          </a:xfrm>
          <a:prstGeom prst="roundRect">
            <a:avLst>
              <a:gd name="adj" fmla="val 5000"/>
            </a:avLst>
          </a:prstGeom>
          <a:solidFill>
            <a:srgbClr val="FFFFFF"/>
          </a:solidFill>
          <a:ln/>
        </p:spPr>
      </p:sp>
      <p:sp>
        <p:nvSpPr>
          <p:cNvPr id="44" name="Text 35"/>
          <p:cNvSpPr txBox="1"/>
          <p:nvPr/>
        </p:nvSpPr>
        <p:spPr>
          <a:xfrm>
            <a:off x="9674352" y="5175504"/>
            <a:ext cx="1792224" cy="1024128"/>
          </a:xfrm>
          <a:prstGeom prst="rect">
            <a:avLst/>
          </a:prstGeom>
          <a:noFill/>
          <a:ln/>
        </p:spPr>
        <p:txBody>
          <a:bodyPr wrap="square" lIns="0" tIns="0" rIns="0" bIns="0" rtlCol="0" anchor="ctr"/>
          <a:lstStyle/>
          <a:p>
            <a:pPr indent="0" marL="0">
              <a:spcAft>
                <a:spcPts val="200"/>
              </a:spcAft>
              <a:buNone/>
            </a:pPr>
            <a:r>
              <a:rPr lang="en-US" sz="850" dirty="0">
                <a:solidFill>
                  <a:srgbClr val="6B7280"/>
                </a:solidFill>
                <a:latin typeface="Meiryo UI" pitchFamily="34" charset="0"/>
                <a:ea typeface="Meiryo UI" pitchFamily="34" charset="-122"/>
                <a:cs typeface="Meiryo UI" pitchFamily="34" charset="-120"/>
              </a:rPr>
              <a:t>カレンダー：</a:t>
            </a:r>
            <a:pPr indent="0" marL="0">
              <a:spcAft>
                <a:spcPts val="200"/>
              </a:spcAft>
              <a:buNone/>
            </a:pPr>
            <a:r>
              <a:rPr lang="en-US" sz="900" b="1" dirty="0">
                <a:solidFill>
                  <a:srgbClr val="1B2A49"/>
                </a:solidFill>
                <a:latin typeface="Meiryo UI" pitchFamily="34" charset="0"/>
                <a:ea typeface="Meiryo UI" pitchFamily="34" charset="-122"/>
                <a:cs typeface="Meiryo UI" pitchFamily="34" charset="-120"/>
              </a:rPr>
              <a:t>TSで自由に作れる</a:t>
            </a:r>
            <a:endParaRPr lang="en-US" sz="850" dirty="0"/>
          </a:p>
          <a:p>
            <a:pPr indent="0" marL="0">
              <a:spcAft>
                <a:spcPts val="200"/>
              </a:spcAft>
              <a:buNone/>
            </a:pPr>
            <a:r>
              <a:rPr lang="en-US" sz="850" dirty="0">
                <a:solidFill>
                  <a:srgbClr val="6B7280"/>
                </a:solidFill>
                <a:latin typeface="Meiryo UI" pitchFamily="34" charset="0"/>
                <a:ea typeface="Meiryo UI" pitchFamily="34" charset="-122"/>
                <a:cs typeface="Meiryo UI" pitchFamily="34" charset="-120"/>
              </a:rPr>
              <a:t>追加ライセンス：</a:t>
            </a:r>
            <a:pPr indent="0" marL="0">
              <a:spcAft>
                <a:spcPts val="200"/>
              </a:spcAft>
              <a:buNone/>
            </a:pPr>
            <a:r>
              <a:rPr lang="en-US" sz="900" b="1" dirty="0">
                <a:solidFill>
                  <a:srgbClr val="1B2A49"/>
                </a:solidFill>
                <a:latin typeface="Meiryo UI" pitchFamily="34" charset="0"/>
                <a:ea typeface="Meiryo UI" pitchFamily="34" charset="-122"/>
                <a:cs typeface="Meiryo UI" pitchFamily="34" charset="-120"/>
              </a:rPr>
              <a:t>不要（GCP利用料）</a:t>
            </a:r>
            <a:endParaRPr lang="en-US" sz="850" dirty="0"/>
          </a:p>
          <a:p>
            <a:pPr indent="0" marL="0">
              <a:spcAft>
                <a:spcPts val="200"/>
              </a:spcAft>
              <a:buNone/>
            </a:pPr>
            <a:r>
              <a:rPr lang="en-US" sz="850" dirty="0">
                <a:solidFill>
                  <a:srgbClr val="6B7280"/>
                </a:solidFill>
                <a:latin typeface="Meiryo UI" pitchFamily="34" charset="0"/>
                <a:ea typeface="Meiryo UI" pitchFamily="34" charset="-122"/>
                <a:cs typeface="Meiryo UI" pitchFamily="34" charset="-120"/>
              </a:rPr>
              <a:t>集約先：</a:t>
            </a:r>
            <a:pPr indent="0" marL="0">
              <a:spcAft>
                <a:spcPts val="200"/>
              </a:spcAft>
              <a:buNone/>
            </a:pPr>
            <a:r>
              <a:rPr lang="en-US" sz="900" b="1" dirty="0">
                <a:solidFill>
                  <a:srgbClr val="1B2A49"/>
                </a:solidFill>
                <a:latin typeface="Meiryo UI" pitchFamily="34" charset="0"/>
                <a:ea typeface="Meiryo UI" pitchFamily="34" charset="-122"/>
                <a:cs typeface="Meiryo UI" pitchFamily="34" charset="-120"/>
              </a:rPr>
              <a:t>GCP／ハイブリッド</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548640"/>
          </a:xfrm>
          <a:prstGeom prst="rect">
            <a:avLst/>
          </a:prstGeom>
          <a:noFill/>
          <a:ln/>
        </p:spPr>
        <p:txBody>
          <a:bodyPr wrap="square" lIns="0" tIns="0" rIns="0" bIns="0" rtlCol="0" anchor="ctr"/>
          <a:lstStyle/>
          <a:p>
            <a:pPr indent="0" marL="0">
              <a:buNone/>
            </a:pPr>
            <a:r>
              <a:rPr lang="en-US" sz="2600" b="1" dirty="0">
                <a:solidFill>
                  <a:srgbClr val="1B2A49"/>
                </a:solidFill>
                <a:latin typeface="Meiryo UI" pitchFamily="34" charset="0"/>
                <a:ea typeface="Meiryo UI" pitchFamily="34" charset="-122"/>
                <a:cs typeface="Meiryo UI" pitchFamily="34" charset="-120"/>
              </a:rPr>
              <a:t>軸3：自動化の範囲（段階）</a:t>
            </a:r>
            <a:endParaRPr lang="en-US" sz="2600" dirty="0"/>
          </a:p>
        </p:txBody>
      </p:sp>
      <p:sp>
        <p:nvSpPr>
          <p:cNvPr id="3" name="Text 1"/>
          <p:cNvSpPr txBox="1"/>
          <p:nvPr/>
        </p:nvSpPr>
        <p:spPr>
          <a:xfrm>
            <a:off x="548640" y="896112"/>
            <a:ext cx="11064240" cy="365760"/>
          </a:xfrm>
          <a:prstGeom prst="rect">
            <a:avLst/>
          </a:prstGeom>
          <a:noFill/>
          <a:ln/>
        </p:spPr>
        <p:txBody>
          <a:bodyPr wrap="square" lIns="0" tIns="0" rIns="0" bIns="0" rtlCol="0" anchor="ctr"/>
          <a:lstStyle/>
          <a:p>
            <a:pPr indent="0" marL="0">
              <a:buNone/>
            </a:pPr>
            <a:r>
              <a:rPr lang="en-US" sz="1400" dirty="0">
                <a:solidFill>
                  <a:srgbClr val="6B7280"/>
                </a:solidFill>
                <a:latin typeface="Meiryo UI" pitchFamily="34" charset="0"/>
                <a:ea typeface="Meiryo UI" pitchFamily="34" charset="-122"/>
                <a:cs typeface="Meiryo UI" pitchFamily="34" charset="-120"/>
              </a:rPr>
              <a:t>段階的に広げることも、途中の段階から始めることもできる。各段階で作る部品は次の段階でも使える</a:t>
            </a:r>
            <a:endParaRPr lang="en-US" sz="1400" dirty="0"/>
          </a:p>
        </p:txBody>
      </p:sp>
      <p:sp>
        <p:nvSpPr>
          <p:cNvPr id="4" name="Text 2"/>
          <p:cNvSpPr txBox="1"/>
          <p:nvPr/>
        </p:nvSpPr>
        <p:spPr>
          <a:xfrm>
            <a:off x="7498080" y="91440"/>
            <a:ext cx="4114800" cy="22860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1. 現状と検討の枠組み</a:t>
            </a:r>
            <a:endParaRPr lang="en-US" sz="900" dirty="0"/>
          </a:p>
        </p:txBody>
      </p:sp>
      <p:sp>
        <p:nvSpPr>
          <p:cNvPr id="5" name="Text 3"/>
          <p:cNvSpPr txBox="1"/>
          <p:nvPr/>
        </p:nvSpPr>
        <p:spPr>
          <a:xfrm>
            <a:off x="11247120" y="6446520"/>
            <a:ext cx="457200" cy="27432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8</a:t>
            </a:r>
            <a:endParaRPr lang="en-US" sz="900" dirty="0"/>
          </a:p>
        </p:txBody>
      </p:sp>
      <p:sp>
        <p:nvSpPr>
          <p:cNvPr id="6" name="Shape 4"/>
          <p:cNvSpPr/>
          <p:nvPr/>
        </p:nvSpPr>
        <p:spPr>
          <a:xfrm>
            <a:off x="548640" y="3657600"/>
            <a:ext cx="2157984" cy="2331720"/>
          </a:xfrm>
          <a:prstGeom prst="rect">
            <a:avLst/>
          </a:prstGeom>
          <a:solidFill>
            <a:srgbClr val="D9F2F1"/>
          </a:solidFill>
          <a:ln/>
        </p:spPr>
      </p:sp>
      <p:sp>
        <p:nvSpPr>
          <p:cNvPr id="7" name="Shape 5"/>
          <p:cNvSpPr/>
          <p:nvPr/>
        </p:nvSpPr>
        <p:spPr>
          <a:xfrm>
            <a:off x="685800" y="3794760"/>
            <a:ext cx="457200" cy="457200"/>
          </a:xfrm>
          <a:prstGeom prst="ellipse">
            <a:avLst/>
          </a:prstGeom>
          <a:solidFill>
            <a:srgbClr val="FFFFFF"/>
          </a:solidFill>
          <a:ln/>
        </p:spPr>
      </p:sp>
      <p:pic>
        <p:nvPicPr>
          <p:cNvPr id="8" name="Image 0" descr="preencoded.png">    </p:cNvPr>
          <p:cNvPicPr>
            <a:picLocks noChangeAspect="1"/>
          </p:cNvPicPr>
          <p:nvPr/>
        </p:nvPicPr>
        <p:blipFill>
          <a:blip r:embed="rId1"/>
          <a:stretch>
            <a:fillRect/>
          </a:stretch>
        </p:blipFill>
        <p:spPr>
          <a:xfrm>
            <a:off x="777240" y="3886200"/>
            <a:ext cx="274320" cy="274320"/>
          </a:xfrm>
          <a:prstGeom prst="rect">
            <a:avLst/>
          </a:prstGeom>
        </p:spPr>
      </p:pic>
      <p:sp>
        <p:nvSpPr>
          <p:cNvPr id="9" name="Text 6"/>
          <p:cNvSpPr txBox="1"/>
          <p:nvPr/>
        </p:nvSpPr>
        <p:spPr>
          <a:xfrm>
            <a:off x="658368" y="4343400"/>
            <a:ext cx="1956816" cy="1554480"/>
          </a:xfrm>
          <a:prstGeom prst="rect">
            <a:avLst/>
          </a:prstGeom>
          <a:noFill/>
          <a:ln/>
        </p:spPr>
        <p:txBody>
          <a:bodyPr wrap="square" lIns="254" tIns="254" rIns="254" bIns="254" rtlCol="0" anchor="t"/>
          <a:lstStyle/>
          <a:p>
            <a:pPr indent="0" marL="0">
              <a:buNone/>
            </a:pPr>
            <a:r>
              <a:rPr lang="en-US" sz="1000" b="1" dirty="0">
                <a:solidFill>
                  <a:srgbClr val="6B7280"/>
                </a:solidFill>
                <a:latin typeface="Meiryo UI" pitchFamily="34" charset="0"/>
                <a:ea typeface="Meiryo UI" pitchFamily="34" charset="-122"/>
                <a:cs typeface="Meiryo UI" pitchFamily="34" charset="-120"/>
              </a:rPr>
              <a:t>STEP 0</a:t>
            </a:r>
            <a:endParaRPr lang="en-US" sz="1000" dirty="0"/>
          </a:p>
          <a:p>
            <a:pPr indent="0" marL="0">
              <a:buNone/>
            </a:pPr>
            <a:r>
              <a:rPr lang="en-US" sz="1500" b="1" dirty="0">
                <a:solidFill>
                  <a:srgbClr val="1B2A49"/>
                </a:solidFill>
                <a:latin typeface="Meiryo UI" pitchFamily="34" charset="0"/>
                <a:ea typeface="Meiryo UI" pitchFamily="34" charset="-122"/>
                <a:cs typeface="Meiryo UI" pitchFamily="34" charset="-120"/>
              </a:rPr>
              <a:t>基準の整備</a:t>
            </a:r>
            <a:endParaRPr lang="en-US" sz="1000" dirty="0"/>
          </a:p>
          <a:p>
            <a:pPr indent="0" marL="0">
              <a:buNone/>
            </a:pPr>
            <a:r>
              <a:rPr lang="en-US" sz="1000" dirty="0">
                <a:solidFill>
                  <a:srgbClr val="6B7280"/>
                </a:solidFill>
                <a:latin typeface="Meiryo UI" pitchFamily="34" charset="0"/>
                <a:ea typeface="Meiryo UI" pitchFamily="34" charset="-122"/>
                <a:cs typeface="Meiryo UI" pitchFamily="34" charset="-120"/>
              </a:rPr>
              <a:t>パターン：共通</a:t>
            </a:r>
            <a:endParaRPr lang="en-US" sz="1000" dirty="0"/>
          </a:p>
          <a:p>
            <a:pPr indent="0" marL="0">
              <a:buNone/>
            </a:pPr>
            <a:r>
              <a:rPr lang="en-US" sz="500" dirty="0">
                <a:solidFill>
                  <a:srgbClr val="000000"/>
                </a:solidFill>
                <a:latin typeface="Meiryo UI" pitchFamily="34" charset="0"/>
                <a:ea typeface="Meiryo UI" pitchFamily="34" charset="-122"/>
                <a:cs typeface="Meiryo UI" pitchFamily="34" charset="-120"/>
              </a:rPr>
              <a:t> </a:t>
            </a:r>
            <a:endParaRPr lang="en-US" sz="1000" dirty="0"/>
          </a:p>
          <a:p>
            <a:pPr indent="0" marL="0">
              <a:buNone/>
            </a:pPr>
            <a:r>
              <a:rPr lang="en-US" sz="1100" b="1" dirty="0">
                <a:solidFill>
                  <a:srgbClr val="1B2A49"/>
                </a:solidFill>
                <a:latin typeface="Meiryo UI" pitchFamily="34" charset="0"/>
                <a:ea typeface="Meiryo UI" pitchFamily="34" charset="-122"/>
                <a:cs typeface="Meiryo UI" pitchFamily="34" charset="-120"/>
              </a:rPr>
              <a:t>人：</a:t>
            </a:r>
            <a:pPr indent="0" marL="0">
              <a:buNone/>
            </a:pPr>
            <a:r>
              <a:rPr lang="en-US" sz="1100" dirty="0">
                <a:solidFill>
                  <a:srgbClr val="1B2A49"/>
                </a:solidFill>
                <a:latin typeface="Meiryo UI" pitchFamily="34" charset="0"/>
                <a:ea typeface="Meiryo UI" pitchFamily="34" charset="-122"/>
                <a:cs typeface="Meiryo UI" pitchFamily="34" charset="-120"/>
              </a:rPr>
              <a:t>ガイドラインのMD化、評価基準・テンプレートの作成</a:t>
            </a:r>
            <a:endParaRPr lang="en-US" sz="1000" dirty="0"/>
          </a:p>
          <a:p>
            <a:pPr indent="0" marL="0">
              <a:buNone/>
            </a:pPr>
            <a:r>
              <a:rPr lang="en-US" sz="1100" b="1" dirty="0">
                <a:solidFill>
                  <a:srgbClr val="1B2A49"/>
                </a:solidFill>
                <a:latin typeface="Meiryo UI" pitchFamily="34" charset="0"/>
                <a:ea typeface="Meiryo UI" pitchFamily="34" charset="-122"/>
                <a:cs typeface="Meiryo UI" pitchFamily="34" charset="-120"/>
              </a:rPr>
              <a:t>AI：</a:t>
            </a:r>
            <a:pPr indent="0" marL="0">
              <a:buNone/>
            </a:pPr>
            <a:r>
              <a:rPr lang="en-US" sz="1100" dirty="0">
                <a:solidFill>
                  <a:srgbClr val="1B2A49"/>
                </a:solidFill>
                <a:latin typeface="Meiryo UI" pitchFamily="34" charset="0"/>
                <a:ea typeface="Meiryo UI" pitchFamily="34" charset="-122"/>
                <a:cs typeface="Meiryo UI" pitchFamily="34" charset="-120"/>
              </a:rPr>
              <a:t>—</a:t>
            </a:r>
            <a:endParaRPr lang="en-US" sz="1000" dirty="0"/>
          </a:p>
        </p:txBody>
      </p:sp>
      <p:sp>
        <p:nvSpPr>
          <p:cNvPr id="10" name="Shape 7"/>
          <p:cNvSpPr/>
          <p:nvPr/>
        </p:nvSpPr>
        <p:spPr>
          <a:xfrm>
            <a:off x="2779776" y="3200400"/>
            <a:ext cx="2157984" cy="2788920"/>
          </a:xfrm>
          <a:prstGeom prst="rect">
            <a:avLst/>
          </a:prstGeom>
          <a:solidFill>
            <a:srgbClr val="BCE9E7"/>
          </a:solidFill>
          <a:ln/>
        </p:spPr>
      </p:sp>
      <p:sp>
        <p:nvSpPr>
          <p:cNvPr id="11" name="Shape 8"/>
          <p:cNvSpPr/>
          <p:nvPr/>
        </p:nvSpPr>
        <p:spPr>
          <a:xfrm>
            <a:off x="2916936" y="3337560"/>
            <a:ext cx="457200" cy="457200"/>
          </a:xfrm>
          <a:prstGeom prst="ellipse">
            <a:avLst/>
          </a:prstGeom>
          <a:solidFill>
            <a:srgbClr val="FFFFFF"/>
          </a:solidFill>
          <a:ln/>
        </p:spPr>
      </p:sp>
      <p:pic>
        <p:nvPicPr>
          <p:cNvPr id="12" name="Image 1" descr="preencoded.png">    </p:cNvPr>
          <p:cNvPicPr>
            <a:picLocks noChangeAspect="1"/>
          </p:cNvPicPr>
          <p:nvPr/>
        </p:nvPicPr>
        <p:blipFill>
          <a:blip r:embed="rId2"/>
          <a:stretch>
            <a:fillRect/>
          </a:stretch>
        </p:blipFill>
        <p:spPr>
          <a:xfrm>
            <a:off x="3008376" y="3429000"/>
            <a:ext cx="274320" cy="274320"/>
          </a:xfrm>
          <a:prstGeom prst="rect">
            <a:avLst/>
          </a:prstGeom>
        </p:spPr>
      </p:pic>
      <p:sp>
        <p:nvSpPr>
          <p:cNvPr id="13" name="Text 9"/>
          <p:cNvSpPr txBox="1"/>
          <p:nvPr/>
        </p:nvSpPr>
        <p:spPr>
          <a:xfrm>
            <a:off x="2889504" y="3886200"/>
            <a:ext cx="1956816" cy="2011680"/>
          </a:xfrm>
          <a:prstGeom prst="rect">
            <a:avLst/>
          </a:prstGeom>
          <a:noFill/>
          <a:ln/>
        </p:spPr>
        <p:txBody>
          <a:bodyPr wrap="square" lIns="254" tIns="254" rIns="254" bIns="254" rtlCol="0" anchor="t"/>
          <a:lstStyle/>
          <a:p>
            <a:pPr indent="0" marL="0">
              <a:buNone/>
            </a:pPr>
            <a:r>
              <a:rPr lang="en-US" sz="1000" b="1" dirty="0">
                <a:solidFill>
                  <a:srgbClr val="6B7280"/>
                </a:solidFill>
                <a:latin typeface="Meiryo UI" pitchFamily="34" charset="0"/>
                <a:ea typeface="Meiryo UI" pitchFamily="34" charset="-122"/>
                <a:cs typeface="Meiryo UI" pitchFamily="34" charset="-120"/>
              </a:rPr>
              <a:t>STEP 1</a:t>
            </a:r>
            <a:endParaRPr lang="en-US" sz="1000" dirty="0"/>
          </a:p>
          <a:p>
            <a:pPr indent="0" marL="0">
              <a:buNone/>
            </a:pPr>
            <a:r>
              <a:rPr lang="en-US" sz="1500" b="1" dirty="0">
                <a:solidFill>
                  <a:srgbClr val="1B2A49"/>
                </a:solidFill>
                <a:latin typeface="Meiryo UI" pitchFamily="34" charset="0"/>
                <a:ea typeface="Meiryo UI" pitchFamily="34" charset="-122"/>
                <a:cs typeface="Meiryo UI" pitchFamily="34" charset="-120"/>
              </a:rPr>
              <a:t>手動アシスト</a:t>
            </a:r>
            <a:endParaRPr lang="en-US" sz="1000" dirty="0"/>
          </a:p>
          <a:p>
            <a:pPr indent="0" marL="0">
              <a:buNone/>
            </a:pPr>
            <a:r>
              <a:rPr lang="en-US" sz="1000" dirty="0">
                <a:solidFill>
                  <a:srgbClr val="6B7280"/>
                </a:solidFill>
                <a:latin typeface="Meiryo UI" pitchFamily="34" charset="0"/>
                <a:ea typeface="Meiryo UI" pitchFamily="34" charset="-122"/>
                <a:cs typeface="Meiryo UI" pitchFamily="34" charset="-120"/>
              </a:rPr>
              <a:t>パターン：A1／A2</a:t>
            </a:r>
            <a:endParaRPr lang="en-US" sz="1000" dirty="0"/>
          </a:p>
          <a:p>
            <a:pPr indent="0" marL="0">
              <a:buNone/>
            </a:pPr>
            <a:r>
              <a:rPr lang="en-US" sz="500" dirty="0">
                <a:solidFill>
                  <a:srgbClr val="000000"/>
                </a:solidFill>
                <a:latin typeface="Meiryo UI" pitchFamily="34" charset="0"/>
                <a:ea typeface="Meiryo UI" pitchFamily="34" charset="-122"/>
                <a:cs typeface="Meiryo UI" pitchFamily="34" charset="-120"/>
              </a:rPr>
              <a:t> </a:t>
            </a:r>
            <a:endParaRPr lang="en-US" sz="1000" dirty="0"/>
          </a:p>
          <a:p>
            <a:pPr indent="0" marL="0">
              <a:buNone/>
            </a:pPr>
            <a:r>
              <a:rPr lang="en-US" sz="1100" b="1" dirty="0">
                <a:solidFill>
                  <a:srgbClr val="1B2A49"/>
                </a:solidFill>
                <a:latin typeface="Meiryo UI" pitchFamily="34" charset="0"/>
                <a:ea typeface="Meiryo UI" pitchFamily="34" charset="-122"/>
                <a:cs typeface="Meiryo UI" pitchFamily="34" charset="-120"/>
              </a:rPr>
              <a:t>人：</a:t>
            </a:r>
            <a:pPr indent="0" marL="0">
              <a:buNone/>
            </a:pPr>
            <a:r>
              <a:rPr lang="en-US" sz="1100" dirty="0">
                <a:solidFill>
                  <a:srgbClr val="1B2A49"/>
                </a:solidFill>
                <a:latin typeface="Meiryo UI" pitchFamily="34" charset="0"/>
                <a:ea typeface="Meiryo UI" pitchFamily="34" charset="-122"/>
                <a:cs typeface="Meiryo UI" pitchFamily="34" charset="-120"/>
              </a:rPr>
              <a:t>データを集めて添付し、案を選ぶ</a:t>
            </a:r>
            <a:endParaRPr lang="en-US" sz="1000" dirty="0"/>
          </a:p>
          <a:p>
            <a:pPr indent="0" marL="0">
              <a:buNone/>
            </a:pPr>
            <a:r>
              <a:rPr lang="en-US" sz="1100" b="1" dirty="0">
                <a:solidFill>
                  <a:srgbClr val="1B2A49"/>
                </a:solidFill>
                <a:latin typeface="Meiryo UI" pitchFamily="34" charset="0"/>
                <a:ea typeface="Meiryo UI" pitchFamily="34" charset="-122"/>
                <a:cs typeface="Meiryo UI" pitchFamily="34" charset="-120"/>
              </a:rPr>
              <a:t>AI：</a:t>
            </a:r>
            <a:pPr indent="0" marL="0">
              <a:buNone/>
            </a:pPr>
            <a:r>
              <a:rPr lang="en-US" sz="1100" dirty="0">
                <a:solidFill>
                  <a:srgbClr val="1B2A49"/>
                </a:solidFill>
                <a:latin typeface="Meiryo UI" pitchFamily="34" charset="0"/>
                <a:ea typeface="Meiryo UI" pitchFamily="34" charset="-122"/>
                <a:cs typeface="Meiryo UI" pitchFamily="34" charset="-120"/>
              </a:rPr>
              <a:t>コピー・指示の案を出す</a:t>
            </a:r>
            <a:endParaRPr lang="en-US" sz="1000" dirty="0"/>
          </a:p>
        </p:txBody>
      </p:sp>
      <p:sp>
        <p:nvSpPr>
          <p:cNvPr id="14" name="Shape 10"/>
          <p:cNvSpPr/>
          <p:nvPr/>
        </p:nvSpPr>
        <p:spPr>
          <a:xfrm>
            <a:off x="5010912" y="2743200"/>
            <a:ext cx="2157984" cy="3246120"/>
          </a:xfrm>
          <a:prstGeom prst="rect">
            <a:avLst/>
          </a:prstGeom>
          <a:solidFill>
            <a:srgbClr val="8FD3CF"/>
          </a:solidFill>
          <a:ln/>
        </p:spPr>
      </p:sp>
      <p:sp>
        <p:nvSpPr>
          <p:cNvPr id="15" name="Shape 11"/>
          <p:cNvSpPr/>
          <p:nvPr/>
        </p:nvSpPr>
        <p:spPr>
          <a:xfrm>
            <a:off x="5148072" y="2880360"/>
            <a:ext cx="457200" cy="457200"/>
          </a:xfrm>
          <a:prstGeom prst="ellipse">
            <a:avLst/>
          </a:prstGeom>
          <a:solidFill>
            <a:srgbClr val="FFFFFF"/>
          </a:solidFill>
          <a:ln/>
        </p:spPr>
      </p:sp>
      <p:pic>
        <p:nvPicPr>
          <p:cNvPr id="16" name="Image 2" descr="preencoded.png">    </p:cNvPr>
          <p:cNvPicPr>
            <a:picLocks noChangeAspect="1"/>
          </p:cNvPicPr>
          <p:nvPr/>
        </p:nvPicPr>
        <p:blipFill>
          <a:blip r:embed="rId3"/>
          <a:stretch>
            <a:fillRect/>
          </a:stretch>
        </p:blipFill>
        <p:spPr>
          <a:xfrm>
            <a:off x="5239512" y="2971800"/>
            <a:ext cx="274320" cy="274320"/>
          </a:xfrm>
          <a:prstGeom prst="rect">
            <a:avLst/>
          </a:prstGeom>
        </p:spPr>
      </p:pic>
      <p:sp>
        <p:nvSpPr>
          <p:cNvPr id="17" name="Text 12"/>
          <p:cNvSpPr txBox="1"/>
          <p:nvPr/>
        </p:nvSpPr>
        <p:spPr>
          <a:xfrm>
            <a:off x="5120640" y="3429000"/>
            <a:ext cx="1956816" cy="2468880"/>
          </a:xfrm>
          <a:prstGeom prst="rect">
            <a:avLst/>
          </a:prstGeom>
          <a:noFill/>
          <a:ln/>
        </p:spPr>
        <p:txBody>
          <a:bodyPr wrap="square" lIns="254" tIns="254" rIns="254" bIns="254" rtlCol="0" anchor="t"/>
          <a:lstStyle/>
          <a:p>
            <a:pPr indent="0" marL="0">
              <a:buNone/>
            </a:pPr>
            <a:r>
              <a:rPr lang="en-US" sz="1000" b="1" dirty="0">
                <a:solidFill>
                  <a:srgbClr val="6B7280"/>
                </a:solidFill>
                <a:latin typeface="Meiryo UI" pitchFamily="34" charset="0"/>
                <a:ea typeface="Meiryo UI" pitchFamily="34" charset="-122"/>
                <a:cs typeface="Meiryo UI" pitchFamily="34" charset="-120"/>
              </a:rPr>
              <a:t>STEP 2</a:t>
            </a:r>
            <a:endParaRPr lang="en-US" sz="1000" dirty="0"/>
          </a:p>
          <a:p>
            <a:pPr indent="0" marL="0">
              <a:buNone/>
            </a:pPr>
            <a:r>
              <a:rPr lang="en-US" sz="1500" b="1" dirty="0">
                <a:solidFill>
                  <a:srgbClr val="1B2A49"/>
                </a:solidFill>
                <a:latin typeface="Meiryo UI" pitchFamily="34" charset="0"/>
                <a:ea typeface="Meiryo UI" pitchFamily="34" charset="-122"/>
                <a:cs typeface="Meiryo UI" pitchFamily="34" charset="-120"/>
              </a:rPr>
              <a:t>対話型エージェント</a:t>
            </a:r>
            <a:endParaRPr lang="en-US" sz="1000" dirty="0"/>
          </a:p>
          <a:p>
            <a:pPr indent="0" marL="0">
              <a:buNone/>
            </a:pPr>
            <a:r>
              <a:rPr lang="en-US" sz="1000" dirty="0">
                <a:solidFill>
                  <a:srgbClr val="6B7280"/>
                </a:solidFill>
                <a:latin typeface="Meiryo UI" pitchFamily="34" charset="0"/>
                <a:ea typeface="Meiryo UI" pitchFamily="34" charset="-122"/>
                <a:cs typeface="Meiryo UI" pitchFamily="34" charset="-120"/>
              </a:rPr>
              <a:t>パターン：A2／A3／A5／H1／B1／C1</a:t>
            </a:r>
            <a:endParaRPr lang="en-US" sz="1000" dirty="0"/>
          </a:p>
          <a:p>
            <a:pPr indent="0" marL="0">
              <a:buNone/>
            </a:pPr>
            <a:r>
              <a:rPr lang="en-US" sz="500" dirty="0">
                <a:solidFill>
                  <a:srgbClr val="000000"/>
                </a:solidFill>
                <a:latin typeface="Meiryo UI" pitchFamily="34" charset="0"/>
                <a:ea typeface="Meiryo UI" pitchFamily="34" charset="-122"/>
                <a:cs typeface="Meiryo UI" pitchFamily="34" charset="-120"/>
              </a:rPr>
              <a:t> </a:t>
            </a:r>
            <a:endParaRPr lang="en-US" sz="1000" dirty="0"/>
          </a:p>
          <a:p>
            <a:pPr indent="0" marL="0">
              <a:buNone/>
            </a:pPr>
            <a:r>
              <a:rPr lang="en-US" sz="1100" b="1" dirty="0">
                <a:solidFill>
                  <a:srgbClr val="1B2A49"/>
                </a:solidFill>
                <a:latin typeface="Meiryo UI" pitchFamily="34" charset="0"/>
                <a:ea typeface="Meiryo UI" pitchFamily="34" charset="-122"/>
                <a:cs typeface="Meiryo UI" pitchFamily="34" charset="-120"/>
              </a:rPr>
              <a:t>人：</a:t>
            </a:r>
            <a:pPr indent="0" marL="0">
              <a:buNone/>
            </a:pPr>
            <a:r>
              <a:rPr lang="en-US" sz="1100" dirty="0">
                <a:solidFill>
                  <a:srgbClr val="1B2A49"/>
                </a:solidFill>
                <a:latin typeface="Meiryo UI" pitchFamily="34" charset="0"/>
                <a:ea typeface="Meiryo UI" pitchFamily="34" charset="-122"/>
                <a:cs typeface="Meiryo UI" pitchFamily="34" charset="-120"/>
              </a:rPr>
              <a:t>対話で依頼し、案を選ぶ</a:t>
            </a:r>
            <a:endParaRPr lang="en-US" sz="1000" dirty="0"/>
          </a:p>
          <a:p>
            <a:pPr indent="0" marL="0">
              <a:buNone/>
            </a:pPr>
            <a:r>
              <a:rPr lang="en-US" sz="1100" b="1" dirty="0">
                <a:solidFill>
                  <a:srgbClr val="1B2A49"/>
                </a:solidFill>
                <a:latin typeface="Meiryo UI" pitchFamily="34" charset="0"/>
                <a:ea typeface="Meiryo UI" pitchFamily="34" charset="-122"/>
                <a:cs typeface="Meiryo UI" pitchFamily="34" charset="-120"/>
              </a:rPr>
              <a:t>AI：</a:t>
            </a:r>
            <a:pPr indent="0" marL="0">
              <a:buNone/>
            </a:pPr>
            <a:r>
              <a:rPr lang="en-US" sz="1100" dirty="0">
                <a:solidFill>
                  <a:srgbClr val="1B2A49"/>
                </a:solidFill>
                <a:latin typeface="Meiryo UI" pitchFamily="34" charset="0"/>
                <a:ea typeface="Meiryo UI" pitchFamily="34" charset="-122"/>
                <a:cs typeface="Meiryo UI" pitchFamily="34" charset="-120"/>
              </a:rPr>
              <a:t>最新のデータを参照して提案する</a:t>
            </a:r>
            <a:endParaRPr lang="en-US" sz="1000" dirty="0"/>
          </a:p>
        </p:txBody>
      </p:sp>
      <p:sp>
        <p:nvSpPr>
          <p:cNvPr id="18" name="Shape 13"/>
          <p:cNvSpPr/>
          <p:nvPr/>
        </p:nvSpPr>
        <p:spPr>
          <a:xfrm>
            <a:off x="7242048" y="2286000"/>
            <a:ext cx="2157984" cy="3703320"/>
          </a:xfrm>
          <a:prstGeom prst="rect">
            <a:avLst/>
          </a:prstGeom>
          <a:solidFill>
            <a:srgbClr val="0E9F9A"/>
          </a:solidFill>
          <a:ln/>
        </p:spPr>
      </p:sp>
      <p:sp>
        <p:nvSpPr>
          <p:cNvPr id="19" name="Shape 14"/>
          <p:cNvSpPr/>
          <p:nvPr/>
        </p:nvSpPr>
        <p:spPr>
          <a:xfrm>
            <a:off x="7379208" y="2423160"/>
            <a:ext cx="457200" cy="457200"/>
          </a:xfrm>
          <a:prstGeom prst="ellipse">
            <a:avLst/>
          </a:prstGeom>
          <a:solidFill>
            <a:srgbClr val="FFFFFF"/>
          </a:solidFill>
          <a:ln/>
        </p:spPr>
      </p:sp>
      <p:pic>
        <p:nvPicPr>
          <p:cNvPr id="20" name="Image 3" descr="preencoded.png">    </p:cNvPr>
          <p:cNvPicPr>
            <a:picLocks noChangeAspect="1"/>
          </p:cNvPicPr>
          <p:nvPr/>
        </p:nvPicPr>
        <p:blipFill>
          <a:blip r:embed="rId4"/>
          <a:stretch>
            <a:fillRect/>
          </a:stretch>
        </p:blipFill>
        <p:spPr>
          <a:xfrm>
            <a:off x="7470648" y="2514600"/>
            <a:ext cx="274320" cy="274320"/>
          </a:xfrm>
          <a:prstGeom prst="rect">
            <a:avLst/>
          </a:prstGeom>
        </p:spPr>
      </p:pic>
      <p:sp>
        <p:nvSpPr>
          <p:cNvPr id="21" name="Text 15"/>
          <p:cNvSpPr txBox="1"/>
          <p:nvPr/>
        </p:nvSpPr>
        <p:spPr>
          <a:xfrm>
            <a:off x="7351776" y="2971800"/>
            <a:ext cx="1956816" cy="2926080"/>
          </a:xfrm>
          <a:prstGeom prst="rect">
            <a:avLst/>
          </a:prstGeom>
          <a:noFill/>
          <a:ln/>
        </p:spPr>
        <p:txBody>
          <a:bodyPr wrap="square" lIns="254" tIns="254" rIns="254" bIns="254" rtlCol="0" anchor="t"/>
          <a:lstStyle/>
          <a:p>
            <a:pPr indent="0" marL="0">
              <a:buNone/>
            </a:pPr>
            <a:r>
              <a:rPr lang="en-US" sz="1000" b="1" dirty="0">
                <a:solidFill>
                  <a:srgbClr val="E6F2F2"/>
                </a:solidFill>
                <a:latin typeface="Meiryo UI" pitchFamily="34" charset="0"/>
                <a:ea typeface="Meiryo UI" pitchFamily="34" charset="-122"/>
                <a:cs typeface="Meiryo UI" pitchFamily="34" charset="-120"/>
              </a:rPr>
              <a:t>STEP 3</a:t>
            </a:r>
            <a:endParaRPr lang="en-US" sz="1000" dirty="0"/>
          </a:p>
          <a:p>
            <a:pPr indent="0" marL="0">
              <a:buNone/>
            </a:pPr>
            <a:r>
              <a:rPr lang="en-US" sz="1500" b="1" dirty="0">
                <a:solidFill>
                  <a:srgbClr val="FFFFFF"/>
                </a:solidFill>
                <a:latin typeface="Meiryo UI" pitchFamily="34" charset="0"/>
                <a:ea typeface="Meiryo UI" pitchFamily="34" charset="-122"/>
                <a:cs typeface="Meiryo UI" pitchFamily="34" charset="-120"/>
              </a:rPr>
              <a:t>自動起案</a:t>
            </a:r>
            <a:endParaRPr lang="en-US" sz="1000" dirty="0"/>
          </a:p>
          <a:p>
            <a:pPr indent="0" marL="0">
              <a:buNone/>
            </a:pPr>
            <a:r>
              <a:rPr lang="en-US" sz="1000" dirty="0">
                <a:solidFill>
                  <a:srgbClr val="E6F2F2"/>
                </a:solidFill>
                <a:latin typeface="Meiryo UI" pitchFamily="34" charset="0"/>
                <a:ea typeface="Meiryo UI" pitchFamily="34" charset="-122"/>
                <a:cs typeface="Meiryo UI" pitchFamily="34" charset="-120"/>
              </a:rPr>
              <a:t>パターン：A4〜A7／H1／B2／B3／C1</a:t>
            </a:r>
            <a:endParaRPr lang="en-US" sz="1000" dirty="0"/>
          </a:p>
          <a:p>
            <a:pPr indent="0" marL="0">
              <a:buNone/>
            </a:pPr>
            <a:r>
              <a:rPr lang="en-US" sz="500" dirty="0">
                <a:solidFill>
                  <a:srgbClr val="000000"/>
                </a:solidFill>
                <a:latin typeface="Meiryo UI" pitchFamily="34" charset="0"/>
                <a:ea typeface="Meiryo UI" pitchFamily="34" charset="-122"/>
                <a:cs typeface="Meiryo UI" pitchFamily="34" charset="-120"/>
              </a:rPr>
              <a:t> </a:t>
            </a:r>
            <a:endParaRPr lang="en-US" sz="1000" dirty="0"/>
          </a:p>
          <a:p>
            <a:pPr indent="0" marL="0">
              <a:buNone/>
            </a:pPr>
            <a:r>
              <a:rPr lang="en-US" sz="1100" b="1" dirty="0">
                <a:solidFill>
                  <a:srgbClr val="FFFFFF"/>
                </a:solidFill>
                <a:latin typeface="Meiryo UI" pitchFamily="34" charset="0"/>
                <a:ea typeface="Meiryo UI" pitchFamily="34" charset="-122"/>
                <a:cs typeface="Meiryo UI" pitchFamily="34" charset="-120"/>
              </a:rPr>
              <a:t>人：</a:t>
            </a:r>
            <a:pPr indent="0" marL="0">
              <a:buNone/>
            </a:pPr>
            <a:r>
              <a:rPr lang="en-US" sz="1100" dirty="0">
                <a:solidFill>
                  <a:srgbClr val="FFFFFF"/>
                </a:solidFill>
                <a:latin typeface="Meiryo UI" pitchFamily="34" charset="0"/>
                <a:ea typeface="Meiryo UI" pitchFamily="34" charset="-122"/>
                <a:cs typeface="Meiryo UI" pitchFamily="34" charset="-120"/>
              </a:rPr>
              <a:t>レビュー・承認</a:t>
            </a:r>
            <a:endParaRPr lang="en-US" sz="1000" dirty="0"/>
          </a:p>
          <a:p>
            <a:pPr indent="0" marL="0">
              <a:buNone/>
            </a:pPr>
            <a:r>
              <a:rPr lang="en-US" sz="1100" b="1" dirty="0">
                <a:solidFill>
                  <a:srgbClr val="FFFFFF"/>
                </a:solidFill>
                <a:latin typeface="Meiryo UI" pitchFamily="34" charset="0"/>
                <a:ea typeface="Meiryo UI" pitchFamily="34" charset="-122"/>
                <a:cs typeface="Meiryo UI" pitchFamily="34" charset="-120"/>
              </a:rPr>
              <a:t>AI：</a:t>
            </a:r>
            <a:pPr indent="0" marL="0">
              <a:buNone/>
            </a:pPr>
            <a:r>
              <a:rPr lang="en-US" sz="1100" dirty="0">
                <a:solidFill>
                  <a:srgbClr val="FFFFFF"/>
                </a:solidFill>
                <a:latin typeface="Meiryo UI" pitchFamily="34" charset="0"/>
                <a:ea typeface="Meiryo UI" pitchFamily="34" charset="-122"/>
                <a:cs typeface="Meiryo UI" pitchFamily="34" charset="-120"/>
              </a:rPr>
              <a:t>全カードの下書きを自動で作る</a:t>
            </a:r>
            <a:endParaRPr lang="en-US" sz="1000" dirty="0"/>
          </a:p>
        </p:txBody>
      </p:sp>
      <p:sp>
        <p:nvSpPr>
          <p:cNvPr id="22" name="Shape 16"/>
          <p:cNvSpPr/>
          <p:nvPr/>
        </p:nvSpPr>
        <p:spPr>
          <a:xfrm>
            <a:off x="9473184" y="1828800"/>
            <a:ext cx="2157984" cy="4160520"/>
          </a:xfrm>
          <a:prstGeom prst="rect">
            <a:avLst/>
          </a:prstGeom>
          <a:solidFill>
            <a:srgbClr val="1B2A49"/>
          </a:solidFill>
          <a:ln/>
        </p:spPr>
      </p:sp>
      <p:sp>
        <p:nvSpPr>
          <p:cNvPr id="23" name="Shape 17"/>
          <p:cNvSpPr/>
          <p:nvPr/>
        </p:nvSpPr>
        <p:spPr>
          <a:xfrm>
            <a:off x="9610344" y="1965960"/>
            <a:ext cx="457200" cy="457200"/>
          </a:xfrm>
          <a:prstGeom prst="ellipse">
            <a:avLst/>
          </a:prstGeom>
          <a:solidFill>
            <a:srgbClr val="FFFFFF"/>
          </a:solidFill>
          <a:ln/>
        </p:spPr>
      </p:sp>
      <p:pic>
        <p:nvPicPr>
          <p:cNvPr id="24" name="Image 4" descr="preencoded.png">    </p:cNvPr>
          <p:cNvPicPr>
            <a:picLocks noChangeAspect="1"/>
          </p:cNvPicPr>
          <p:nvPr/>
        </p:nvPicPr>
        <p:blipFill>
          <a:blip r:embed="rId5"/>
          <a:stretch>
            <a:fillRect/>
          </a:stretch>
        </p:blipFill>
        <p:spPr>
          <a:xfrm>
            <a:off x="9701784" y="2057400"/>
            <a:ext cx="274320" cy="274320"/>
          </a:xfrm>
          <a:prstGeom prst="rect">
            <a:avLst/>
          </a:prstGeom>
        </p:spPr>
      </p:pic>
      <p:sp>
        <p:nvSpPr>
          <p:cNvPr id="25" name="Text 18"/>
          <p:cNvSpPr txBox="1"/>
          <p:nvPr/>
        </p:nvSpPr>
        <p:spPr>
          <a:xfrm>
            <a:off x="9582912" y="2514600"/>
            <a:ext cx="1956816" cy="3383280"/>
          </a:xfrm>
          <a:prstGeom prst="rect">
            <a:avLst/>
          </a:prstGeom>
          <a:noFill/>
          <a:ln/>
        </p:spPr>
        <p:txBody>
          <a:bodyPr wrap="square" lIns="254" tIns="254" rIns="254" bIns="254" rtlCol="0" anchor="t"/>
          <a:lstStyle/>
          <a:p>
            <a:pPr indent="0" marL="0">
              <a:buNone/>
            </a:pPr>
            <a:r>
              <a:rPr lang="en-US" sz="1000" b="1" dirty="0">
                <a:solidFill>
                  <a:srgbClr val="E6F2F2"/>
                </a:solidFill>
                <a:latin typeface="Meiryo UI" pitchFamily="34" charset="0"/>
                <a:ea typeface="Meiryo UI" pitchFamily="34" charset="-122"/>
                <a:cs typeface="Meiryo UI" pitchFamily="34" charset="-120"/>
              </a:rPr>
              <a:t>STEP 4</a:t>
            </a:r>
            <a:endParaRPr lang="en-US" sz="1000" dirty="0"/>
          </a:p>
          <a:p>
            <a:pPr indent="0" marL="0">
              <a:buNone/>
            </a:pPr>
            <a:r>
              <a:rPr lang="en-US" sz="1500" b="1" dirty="0">
                <a:solidFill>
                  <a:srgbClr val="FFFFFF"/>
                </a:solidFill>
                <a:latin typeface="Meiryo UI" pitchFamily="34" charset="0"/>
                <a:ea typeface="Meiryo UI" pitchFamily="34" charset="-122"/>
                <a:cs typeface="Meiryo UI" pitchFamily="34" charset="-120"/>
              </a:rPr>
              <a:t>継続的な最適化</a:t>
            </a:r>
            <a:endParaRPr lang="en-US" sz="1000" dirty="0"/>
          </a:p>
          <a:p>
            <a:pPr indent="0" marL="0">
              <a:buNone/>
            </a:pPr>
            <a:r>
              <a:rPr lang="en-US" sz="1000" dirty="0">
                <a:solidFill>
                  <a:srgbClr val="E6F2F2"/>
                </a:solidFill>
                <a:latin typeface="Meiryo UI" pitchFamily="34" charset="0"/>
                <a:ea typeface="Meiryo UI" pitchFamily="34" charset="-122"/>
                <a:cs typeface="Meiryo UI" pitchFamily="34" charset="-120"/>
              </a:rPr>
              <a:t>パターン：Step3の発展</a:t>
            </a:r>
            <a:endParaRPr lang="en-US" sz="1000" dirty="0"/>
          </a:p>
          <a:p>
            <a:pPr indent="0" marL="0">
              <a:buNone/>
            </a:pPr>
            <a:r>
              <a:rPr lang="en-US" sz="500" dirty="0">
                <a:solidFill>
                  <a:srgbClr val="000000"/>
                </a:solidFill>
                <a:latin typeface="Meiryo UI" pitchFamily="34" charset="0"/>
                <a:ea typeface="Meiryo UI" pitchFamily="34" charset="-122"/>
                <a:cs typeface="Meiryo UI" pitchFamily="34" charset="-120"/>
              </a:rPr>
              <a:t> </a:t>
            </a:r>
            <a:endParaRPr lang="en-US" sz="1000" dirty="0"/>
          </a:p>
          <a:p>
            <a:pPr indent="0" marL="0">
              <a:buNone/>
            </a:pPr>
            <a:r>
              <a:rPr lang="en-US" sz="1100" b="1" dirty="0">
                <a:solidFill>
                  <a:srgbClr val="FFFFFF"/>
                </a:solidFill>
                <a:latin typeface="Meiryo UI" pitchFamily="34" charset="0"/>
                <a:ea typeface="Meiryo UI" pitchFamily="34" charset="-122"/>
                <a:cs typeface="Meiryo UI" pitchFamily="34" charset="-120"/>
              </a:rPr>
              <a:t>人：</a:t>
            </a:r>
            <a:pPr indent="0" marL="0">
              <a:buNone/>
            </a:pPr>
            <a:r>
              <a:rPr lang="en-US" sz="1100" dirty="0">
                <a:solidFill>
                  <a:srgbClr val="FFFFFF"/>
                </a:solidFill>
                <a:latin typeface="Meiryo UI" pitchFamily="34" charset="0"/>
                <a:ea typeface="Meiryo UI" pitchFamily="34" charset="-122"/>
                <a:cs typeface="Meiryo UI" pitchFamily="34" charset="-120"/>
              </a:rPr>
              <a:t>戦略策定・例外判断</a:t>
            </a:r>
            <a:endParaRPr lang="en-US" sz="1000" dirty="0"/>
          </a:p>
          <a:p>
            <a:pPr indent="0" marL="0">
              <a:buNone/>
            </a:pPr>
            <a:r>
              <a:rPr lang="en-US" sz="1100" b="1" dirty="0">
                <a:solidFill>
                  <a:srgbClr val="FFFFFF"/>
                </a:solidFill>
                <a:latin typeface="Meiryo UI" pitchFamily="34" charset="0"/>
                <a:ea typeface="Meiryo UI" pitchFamily="34" charset="-122"/>
                <a:cs typeface="Meiryo UI" pitchFamily="34" charset="-120"/>
              </a:rPr>
              <a:t>AI：</a:t>
            </a:r>
            <a:pPr indent="0" marL="0">
              <a:buNone/>
            </a:pPr>
            <a:r>
              <a:rPr lang="en-US" sz="1100" dirty="0">
                <a:solidFill>
                  <a:srgbClr val="FFFFFF"/>
                </a:solidFill>
                <a:latin typeface="Meiryo UI" pitchFamily="34" charset="0"/>
                <a:ea typeface="Meiryo UI" pitchFamily="34" charset="-122"/>
                <a:cs typeface="Meiryo UI" pitchFamily="34" charset="-120"/>
              </a:rPr>
              <a:t>配信実績から選定・コピーを改善</a:t>
            </a:r>
            <a:endParaRPr lang="en-US" sz="1000" dirty="0"/>
          </a:p>
        </p:txBody>
      </p:sp>
      <p:sp>
        <p:nvSpPr>
          <p:cNvPr id="26" name="Shape 19"/>
          <p:cNvSpPr/>
          <p:nvPr/>
        </p:nvSpPr>
        <p:spPr>
          <a:xfrm>
            <a:off x="548640" y="6263640"/>
            <a:ext cx="11064240" cy="0"/>
          </a:xfrm>
          <a:prstGeom prst="line">
            <a:avLst/>
          </a:prstGeom>
          <a:noFill/>
          <a:ln w="25400">
            <a:solidFill>
              <a:srgbClr val="1B2A49"/>
            </a:solidFill>
            <a:prstDash val="solid"/>
            <a:tailEnd type="triangle"/>
          </a:ln>
        </p:spPr>
      </p:sp>
      <p:sp>
        <p:nvSpPr>
          <p:cNvPr id="27" name="Text 20"/>
          <p:cNvSpPr txBox="1"/>
          <p:nvPr/>
        </p:nvSpPr>
        <p:spPr>
          <a:xfrm>
            <a:off x="8412480" y="6309360"/>
            <a:ext cx="3200400" cy="320040"/>
          </a:xfrm>
          <a:prstGeom prst="rect">
            <a:avLst/>
          </a:prstGeom>
          <a:noFill/>
          <a:ln/>
        </p:spPr>
        <p:txBody>
          <a:bodyPr wrap="square" lIns="508" tIns="508" rIns="508" bIns="508" rtlCol="0" anchor="t"/>
          <a:lstStyle/>
          <a:p>
            <a:pPr algn="r" indent="0" marL="0">
              <a:buNone/>
            </a:pPr>
            <a:r>
              <a:rPr lang="en-US" sz="1100" b="1" dirty="0">
                <a:solidFill>
                  <a:srgbClr val="1B2A49"/>
                </a:solidFill>
                <a:latin typeface="Meiryo UI" pitchFamily="34" charset="0"/>
                <a:ea typeface="Meiryo UI" pitchFamily="34" charset="-122"/>
                <a:cs typeface="Meiryo UI" pitchFamily="34" charset="-120"/>
              </a:rPr>
              <a:t>自動化の範囲・難易度</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548640"/>
          </a:xfrm>
          <a:prstGeom prst="rect">
            <a:avLst/>
          </a:prstGeom>
          <a:noFill/>
          <a:ln/>
        </p:spPr>
        <p:txBody>
          <a:bodyPr wrap="square" lIns="0" tIns="0" rIns="0" bIns="0" rtlCol="0" anchor="ctr"/>
          <a:lstStyle/>
          <a:p>
            <a:pPr indent="0" marL="0">
              <a:buNone/>
            </a:pPr>
            <a:r>
              <a:rPr lang="en-US" sz="2600" b="1" dirty="0">
                <a:solidFill>
                  <a:srgbClr val="1B2A49"/>
                </a:solidFill>
                <a:latin typeface="Meiryo UI" pitchFamily="34" charset="0"/>
                <a:ea typeface="Meiryo UI" pitchFamily="34" charset="-122"/>
                <a:cs typeface="Meiryo UI" pitchFamily="34" charset="-120"/>
              </a:rPr>
              <a:t>軸4：展開の単位（国別か共通か）</a:t>
            </a:r>
            <a:endParaRPr lang="en-US" sz="2600" dirty="0"/>
          </a:p>
        </p:txBody>
      </p:sp>
      <p:sp>
        <p:nvSpPr>
          <p:cNvPr id="3" name="Text 1"/>
          <p:cNvSpPr txBox="1"/>
          <p:nvPr/>
        </p:nvSpPr>
        <p:spPr>
          <a:xfrm>
            <a:off x="548640" y="896112"/>
            <a:ext cx="11064240" cy="365760"/>
          </a:xfrm>
          <a:prstGeom prst="rect">
            <a:avLst/>
          </a:prstGeom>
          <a:noFill/>
          <a:ln/>
        </p:spPr>
        <p:txBody>
          <a:bodyPr wrap="square" lIns="0" tIns="0" rIns="0" bIns="0" rtlCol="0" anchor="ctr"/>
          <a:lstStyle/>
          <a:p>
            <a:pPr indent="0" marL="0">
              <a:buNone/>
            </a:pPr>
            <a:r>
              <a:rPr lang="en-US" sz="1400" dirty="0">
                <a:solidFill>
                  <a:srgbClr val="6B7280"/>
                </a:solidFill>
                <a:latin typeface="Meiryo UI" pitchFamily="34" charset="0"/>
                <a:ea typeface="Meiryo UI" pitchFamily="34" charset="-122"/>
                <a:cs typeface="Meiryo UI" pitchFamily="34" charset="-120"/>
              </a:rPr>
              <a:t>「仕組み」と「データ」を分けて考える。どのパターンとも組み合わせられる独立した軸</a:t>
            </a:r>
            <a:endParaRPr lang="en-US" sz="1400" dirty="0"/>
          </a:p>
        </p:txBody>
      </p:sp>
      <p:sp>
        <p:nvSpPr>
          <p:cNvPr id="4" name="Text 2"/>
          <p:cNvSpPr txBox="1"/>
          <p:nvPr/>
        </p:nvSpPr>
        <p:spPr>
          <a:xfrm>
            <a:off x="7498080" y="91440"/>
            <a:ext cx="4114800" cy="22860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1. 現状と検討の枠組み</a:t>
            </a:r>
            <a:endParaRPr lang="en-US" sz="900" dirty="0"/>
          </a:p>
        </p:txBody>
      </p:sp>
      <p:sp>
        <p:nvSpPr>
          <p:cNvPr id="5" name="Text 3"/>
          <p:cNvSpPr txBox="1"/>
          <p:nvPr/>
        </p:nvSpPr>
        <p:spPr>
          <a:xfrm>
            <a:off x="11247120" y="6446520"/>
            <a:ext cx="457200" cy="27432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9</a:t>
            </a:r>
            <a:endParaRPr lang="en-US" sz="900" dirty="0"/>
          </a:p>
        </p:txBody>
      </p:sp>
      <p:sp>
        <p:nvSpPr>
          <p:cNvPr id="6" name="Shape 4"/>
          <p:cNvSpPr/>
          <p:nvPr/>
        </p:nvSpPr>
        <p:spPr>
          <a:xfrm>
            <a:off x="548640" y="1371600"/>
            <a:ext cx="3566160" cy="2606040"/>
          </a:xfrm>
          <a:prstGeom prst="roundRect">
            <a:avLst>
              <a:gd name="adj" fmla="val 2105"/>
            </a:avLst>
          </a:prstGeom>
          <a:solidFill>
            <a:srgbClr val="F3F5F8"/>
          </a:solidFill>
          <a:ln/>
        </p:spPr>
      </p:sp>
      <p:sp>
        <p:nvSpPr>
          <p:cNvPr id="7" name="Shape 5"/>
          <p:cNvSpPr/>
          <p:nvPr/>
        </p:nvSpPr>
        <p:spPr>
          <a:xfrm>
            <a:off x="685800" y="1490472"/>
            <a:ext cx="384048" cy="384048"/>
          </a:xfrm>
          <a:prstGeom prst="ellipse">
            <a:avLst/>
          </a:prstGeom>
          <a:solidFill>
            <a:srgbClr val="1B2A49"/>
          </a:solidFill>
          <a:ln/>
        </p:spPr>
      </p:sp>
      <p:sp>
        <p:nvSpPr>
          <p:cNvPr id="8" name="Text 6"/>
          <p:cNvSpPr txBox="1"/>
          <p:nvPr/>
        </p:nvSpPr>
        <p:spPr>
          <a:xfrm>
            <a:off x="685800" y="1490472"/>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①</a:t>
            </a:r>
            <a:endParaRPr lang="en-US" sz="1100" dirty="0"/>
          </a:p>
        </p:txBody>
      </p:sp>
      <p:sp>
        <p:nvSpPr>
          <p:cNvPr id="9" name="Text 7"/>
          <p:cNvSpPr txBox="1"/>
          <p:nvPr/>
        </p:nvSpPr>
        <p:spPr>
          <a:xfrm>
            <a:off x="1143000" y="1481328"/>
            <a:ext cx="2880360" cy="402336"/>
          </a:xfrm>
          <a:prstGeom prst="rect">
            <a:avLst/>
          </a:prstGeom>
          <a:noFill/>
          <a:ln/>
        </p:spPr>
        <p:txBody>
          <a:bodyPr wrap="square" lIns="508" tIns="508" rIns="508" bIns="508" rtlCol="0" anchor="ctr"/>
          <a:lstStyle/>
          <a:p>
            <a:pPr indent="0" marL="0">
              <a:buNone/>
            </a:pPr>
            <a:r>
              <a:rPr lang="en-US" sz="1350" b="1" dirty="0">
                <a:solidFill>
                  <a:srgbClr val="1B2A49"/>
                </a:solidFill>
                <a:latin typeface="Meiryo UI" pitchFamily="34" charset="0"/>
                <a:ea typeface="Meiryo UI" pitchFamily="34" charset="-122"/>
                <a:cs typeface="Meiryo UI" pitchFamily="34" charset="-120"/>
              </a:rPr>
              <a:t>国別に独立</a:t>
            </a:r>
            <a:endParaRPr lang="en-US" sz="1350" dirty="0"/>
          </a:p>
        </p:txBody>
      </p:sp>
      <p:sp>
        <p:nvSpPr>
          <p:cNvPr id="10" name="Shape 8"/>
          <p:cNvSpPr/>
          <p:nvPr/>
        </p:nvSpPr>
        <p:spPr>
          <a:xfrm>
            <a:off x="822960" y="2011680"/>
            <a:ext cx="914400" cy="566928"/>
          </a:xfrm>
          <a:prstGeom prst="roundRect">
            <a:avLst>
              <a:gd name="adj" fmla="val 9677"/>
            </a:avLst>
          </a:prstGeom>
          <a:solidFill>
            <a:srgbClr val="FFFFFF"/>
          </a:solidFill>
          <a:ln w="12700">
            <a:solidFill>
              <a:srgbClr val="D5DBE3"/>
            </a:solidFill>
            <a:prstDash val="solid"/>
          </a:ln>
        </p:spPr>
      </p:sp>
      <p:pic>
        <p:nvPicPr>
          <p:cNvPr id="11" name="Image 0" descr="preencoded.png">    </p:cNvPr>
          <p:cNvPicPr>
            <a:picLocks noChangeAspect="1"/>
          </p:cNvPicPr>
          <p:nvPr/>
        </p:nvPicPr>
        <p:blipFill>
          <a:blip r:embed="rId1"/>
          <a:stretch>
            <a:fillRect/>
          </a:stretch>
        </p:blipFill>
        <p:spPr>
          <a:xfrm>
            <a:off x="914400" y="2084832"/>
            <a:ext cx="182880" cy="182880"/>
          </a:xfrm>
          <a:prstGeom prst="rect">
            <a:avLst/>
          </a:prstGeom>
        </p:spPr>
      </p:pic>
      <p:pic>
        <p:nvPicPr>
          <p:cNvPr id="12" name="Image 1" descr="preencoded.png">    </p:cNvPr>
          <p:cNvPicPr>
            <a:picLocks noChangeAspect="1"/>
          </p:cNvPicPr>
          <p:nvPr/>
        </p:nvPicPr>
        <p:blipFill>
          <a:blip r:embed="rId2"/>
          <a:stretch>
            <a:fillRect/>
          </a:stretch>
        </p:blipFill>
        <p:spPr>
          <a:xfrm>
            <a:off x="914400" y="2322576"/>
            <a:ext cx="182880" cy="182880"/>
          </a:xfrm>
          <a:prstGeom prst="rect">
            <a:avLst/>
          </a:prstGeom>
        </p:spPr>
      </p:pic>
      <p:sp>
        <p:nvSpPr>
          <p:cNvPr id="13" name="Text 9"/>
          <p:cNvSpPr txBox="1"/>
          <p:nvPr/>
        </p:nvSpPr>
        <p:spPr>
          <a:xfrm>
            <a:off x="1143000" y="2011680"/>
            <a:ext cx="548640" cy="566928"/>
          </a:xfrm>
          <a:prstGeom prst="rect">
            <a:avLst/>
          </a:prstGeom>
          <a:noFill/>
          <a:ln/>
        </p:spPr>
        <p:txBody>
          <a:bodyPr wrap="square" lIns="0" tIns="0" rIns="0" bIns="0" rtlCol="0" anchor="ctr"/>
          <a:lstStyle/>
          <a:p>
            <a:pPr indent="0" marL="0">
              <a:buNone/>
            </a:pPr>
            <a:r>
              <a:rPr lang="en-US" sz="900" b="1" dirty="0">
                <a:solidFill>
                  <a:srgbClr val="1B2A49"/>
                </a:solidFill>
                <a:latin typeface="Meiryo UI" pitchFamily="34" charset="0"/>
                <a:ea typeface="Meiryo UI" pitchFamily="34" charset="-122"/>
                <a:cs typeface="Meiryo UI" pitchFamily="34" charset="-120"/>
              </a:rPr>
              <a:t>国A</a:t>
            </a:r>
            <a:endParaRPr lang="en-US" sz="900" dirty="0"/>
          </a:p>
        </p:txBody>
      </p:sp>
      <p:sp>
        <p:nvSpPr>
          <p:cNvPr id="14" name="Shape 10"/>
          <p:cNvSpPr/>
          <p:nvPr/>
        </p:nvSpPr>
        <p:spPr>
          <a:xfrm>
            <a:off x="1847088" y="2011680"/>
            <a:ext cx="914400" cy="566928"/>
          </a:xfrm>
          <a:prstGeom prst="roundRect">
            <a:avLst>
              <a:gd name="adj" fmla="val 9677"/>
            </a:avLst>
          </a:prstGeom>
          <a:solidFill>
            <a:srgbClr val="FFFFFF"/>
          </a:solidFill>
          <a:ln w="12700">
            <a:solidFill>
              <a:srgbClr val="D5DBE3"/>
            </a:solidFill>
            <a:prstDash val="solid"/>
          </a:ln>
        </p:spPr>
      </p:sp>
      <p:pic>
        <p:nvPicPr>
          <p:cNvPr id="15" name="Image 2" descr="preencoded.png">    </p:cNvPr>
          <p:cNvPicPr>
            <a:picLocks noChangeAspect="1"/>
          </p:cNvPicPr>
          <p:nvPr/>
        </p:nvPicPr>
        <p:blipFill>
          <a:blip r:embed="rId3"/>
          <a:stretch>
            <a:fillRect/>
          </a:stretch>
        </p:blipFill>
        <p:spPr>
          <a:xfrm>
            <a:off x="1938528" y="2084832"/>
            <a:ext cx="182880" cy="182880"/>
          </a:xfrm>
          <a:prstGeom prst="rect">
            <a:avLst/>
          </a:prstGeom>
        </p:spPr>
      </p:pic>
      <p:pic>
        <p:nvPicPr>
          <p:cNvPr id="16" name="Image 3" descr="preencoded.png">    </p:cNvPr>
          <p:cNvPicPr>
            <a:picLocks noChangeAspect="1"/>
          </p:cNvPicPr>
          <p:nvPr/>
        </p:nvPicPr>
        <p:blipFill>
          <a:blip r:embed="rId4"/>
          <a:stretch>
            <a:fillRect/>
          </a:stretch>
        </p:blipFill>
        <p:spPr>
          <a:xfrm>
            <a:off x="1938528" y="2322576"/>
            <a:ext cx="182880" cy="182880"/>
          </a:xfrm>
          <a:prstGeom prst="rect">
            <a:avLst/>
          </a:prstGeom>
        </p:spPr>
      </p:pic>
      <p:sp>
        <p:nvSpPr>
          <p:cNvPr id="17" name="Text 11"/>
          <p:cNvSpPr txBox="1"/>
          <p:nvPr/>
        </p:nvSpPr>
        <p:spPr>
          <a:xfrm>
            <a:off x="2167128" y="2011680"/>
            <a:ext cx="548640" cy="566928"/>
          </a:xfrm>
          <a:prstGeom prst="rect">
            <a:avLst/>
          </a:prstGeom>
          <a:noFill/>
          <a:ln/>
        </p:spPr>
        <p:txBody>
          <a:bodyPr wrap="square" lIns="0" tIns="0" rIns="0" bIns="0" rtlCol="0" anchor="ctr"/>
          <a:lstStyle/>
          <a:p>
            <a:pPr indent="0" marL="0">
              <a:buNone/>
            </a:pPr>
            <a:r>
              <a:rPr lang="en-US" sz="900" b="1" dirty="0">
                <a:solidFill>
                  <a:srgbClr val="1B2A49"/>
                </a:solidFill>
                <a:latin typeface="Meiryo UI" pitchFamily="34" charset="0"/>
                <a:ea typeface="Meiryo UI" pitchFamily="34" charset="-122"/>
                <a:cs typeface="Meiryo UI" pitchFamily="34" charset="-120"/>
              </a:rPr>
              <a:t>国B</a:t>
            </a:r>
            <a:endParaRPr lang="en-US" sz="900" dirty="0"/>
          </a:p>
        </p:txBody>
      </p:sp>
      <p:sp>
        <p:nvSpPr>
          <p:cNvPr id="18" name="Shape 12"/>
          <p:cNvSpPr/>
          <p:nvPr/>
        </p:nvSpPr>
        <p:spPr>
          <a:xfrm>
            <a:off x="2871216" y="2011680"/>
            <a:ext cx="914400" cy="566928"/>
          </a:xfrm>
          <a:prstGeom prst="roundRect">
            <a:avLst>
              <a:gd name="adj" fmla="val 9677"/>
            </a:avLst>
          </a:prstGeom>
          <a:solidFill>
            <a:srgbClr val="FFFFFF"/>
          </a:solidFill>
          <a:ln w="12700">
            <a:solidFill>
              <a:srgbClr val="D5DBE3"/>
            </a:solidFill>
            <a:prstDash val="solid"/>
          </a:ln>
        </p:spPr>
      </p:sp>
      <p:pic>
        <p:nvPicPr>
          <p:cNvPr id="19" name="Image 4" descr="preencoded.png">    </p:cNvPr>
          <p:cNvPicPr>
            <a:picLocks noChangeAspect="1"/>
          </p:cNvPicPr>
          <p:nvPr/>
        </p:nvPicPr>
        <p:blipFill>
          <a:blip r:embed="rId5"/>
          <a:stretch>
            <a:fillRect/>
          </a:stretch>
        </p:blipFill>
        <p:spPr>
          <a:xfrm>
            <a:off x="2962656" y="2084832"/>
            <a:ext cx="182880" cy="182880"/>
          </a:xfrm>
          <a:prstGeom prst="rect">
            <a:avLst/>
          </a:prstGeom>
        </p:spPr>
      </p:pic>
      <p:pic>
        <p:nvPicPr>
          <p:cNvPr id="20" name="Image 5" descr="preencoded.png">    </p:cNvPr>
          <p:cNvPicPr>
            <a:picLocks noChangeAspect="1"/>
          </p:cNvPicPr>
          <p:nvPr/>
        </p:nvPicPr>
        <p:blipFill>
          <a:blip r:embed="rId6"/>
          <a:stretch>
            <a:fillRect/>
          </a:stretch>
        </p:blipFill>
        <p:spPr>
          <a:xfrm>
            <a:off x="2962656" y="2322576"/>
            <a:ext cx="182880" cy="182880"/>
          </a:xfrm>
          <a:prstGeom prst="rect">
            <a:avLst/>
          </a:prstGeom>
        </p:spPr>
      </p:pic>
      <p:sp>
        <p:nvSpPr>
          <p:cNvPr id="21" name="Text 13"/>
          <p:cNvSpPr txBox="1"/>
          <p:nvPr/>
        </p:nvSpPr>
        <p:spPr>
          <a:xfrm>
            <a:off x="3191256" y="2011680"/>
            <a:ext cx="548640" cy="566928"/>
          </a:xfrm>
          <a:prstGeom prst="rect">
            <a:avLst/>
          </a:prstGeom>
          <a:noFill/>
          <a:ln/>
        </p:spPr>
        <p:txBody>
          <a:bodyPr wrap="square" lIns="0" tIns="0" rIns="0" bIns="0" rtlCol="0" anchor="ctr"/>
          <a:lstStyle/>
          <a:p>
            <a:pPr indent="0" marL="0">
              <a:buNone/>
            </a:pPr>
            <a:r>
              <a:rPr lang="en-US" sz="900" b="1" dirty="0">
                <a:solidFill>
                  <a:srgbClr val="1B2A49"/>
                </a:solidFill>
                <a:latin typeface="Meiryo UI" pitchFamily="34" charset="0"/>
                <a:ea typeface="Meiryo UI" pitchFamily="34" charset="-122"/>
                <a:cs typeface="Meiryo UI" pitchFamily="34" charset="-120"/>
              </a:rPr>
              <a:t>国C</a:t>
            </a:r>
            <a:endParaRPr lang="en-US" sz="900" dirty="0"/>
          </a:p>
        </p:txBody>
      </p:sp>
      <p:sp>
        <p:nvSpPr>
          <p:cNvPr id="22" name="Text 14"/>
          <p:cNvSpPr txBox="1"/>
          <p:nvPr/>
        </p:nvSpPr>
        <p:spPr>
          <a:xfrm>
            <a:off x="731520" y="2651760"/>
            <a:ext cx="3246120" cy="292608"/>
          </a:xfrm>
          <a:prstGeom prst="rect">
            <a:avLst/>
          </a:prstGeom>
          <a:noFill/>
          <a:ln/>
        </p:spPr>
        <p:txBody>
          <a:bodyPr wrap="square" lIns="508" tIns="508" rIns="508" bIns="508" rtlCol="0" anchor="ctr"/>
          <a:lstStyle/>
          <a:p>
            <a:pPr indent="0" marL="0">
              <a:buNone/>
            </a:pPr>
            <a:r>
              <a:rPr lang="en-US" sz="950" dirty="0">
                <a:solidFill>
                  <a:srgbClr val="6B7280"/>
                </a:solidFill>
                <a:latin typeface="Meiryo UI" pitchFamily="34" charset="0"/>
                <a:ea typeface="Meiryo UI" pitchFamily="34" charset="-122"/>
                <a:cs typeface="Meiryo UI" pitchFamily="34" charset="-120"/>
              </a:rPr>
              <a:t>仕組みもデータも国ごとに作る</a:t>
            </a:r>
            <a:endParaRPr lang="en-US" sz="950" dirty="0"/>
          </a:p>
        </p:txBody>
      </p:sp>
      <p:sp>
        <p:nvSpPr>
          <p:cNvPr id="23" name="Text 15"/>
          <p:cNvSpPr txBox="1"/>
          <p:nvPr/>
        </p:nvSpPr>
        <p:spPr>
          <a:xfrm>
            <a:off x="731520" y="2971800"/>
            <a:ext cx="3246120" cy="960120"/>
          </a:xfrm>
          <a:prstGeom prst="rect">
            <a:avLst/>
          </a:prstGeom>
          <a:noFill/>
          <a:ln/>
        </p:spPr>
        <p:txBody>
          <a:bodyPr wrap="square" lIns="254" tIns="254" rIns="254" bIns="254" rtlCol="0" anchor="t"/>
          <a:lstStyle/>
          <a:p>
            <a:pPr marL="152400" indent="-152400">
              <a:spcAft>
                <a:spcPts val="200"/>
              </a:spcAft>
              <a:buSzPct val="100000"/>
              <a:buChar char="•"/>
            </a:pPr>
            <a:r>
              <a:rPr lang="en-US" sz="1000" dirty="0">
                <a:solidFill>
                  <a:srgbClr val="000000"/>
                </a:solidFill>
                <a:latin typeface="Meiryo UI" pitchFamily="34" charset="0"/>
                <a:ea typeface="Meiryo UI" pitchFamily="34" charset="-122"/>
                <a:cs typeface="Meiryo UI" pitchFamily="34" charset="-120"/>
              </a:rPr>
              <a:t>国の事情に合わせて自由に作れる</a:t>
            </a:r>
            <a:endParaRPr lang="en-US" sz="1000" dirty="0"/>
          </a:p>
          <a:p>
            <a:pPr marL="152400" indent="-152400">
              <a:spcAft>
                <a:spcPts val="200"/>
              </a:spcAft>
              <a:buSzPct val="100000"/>
              <a:buChar char="•"/>
            </a:pPr>
            <a:r>
              <a:rPr lang="en-US" sz="1000" dirty="0">
                <a:solidFill>
                  <a:srgbClr val="000000"/>
                </a:solidFill>
                <a:latin typeface="Meiryo UI" pitchFamily="34" charset="0"/>
                <a:ea typeface="Meiryo UI" pitchFamily="34" charset="-122"/>
                <a:cs typeface="Meiryo UI" pitchFamily="34" charset="-120"/>
              </a:rPr>
              <a:t>他国の事例は参照できない</a:t>
            </a:r>
            <a:endParaRPr lang="en-US" sz="1000" dirty="0"/>
          </a:p>
          <a:p>
            <a:pPr marL="152400" indent="-152400">
              <a:spcAft>
                <a:spcPts val="200"/>
              </a:spcAft>
              <a:buSzPct val="100000"/>
              <a:buChar char="•"/>
            </a:pPr>
            <a:r>
              <a:rPr lang="en-US" sz="1000" dirty="0">
                <a:solidFill>
                  <a:srgbClr val="000000"/>
                </a:solidFill>
                <a:latin typeface="Meiryo UI" pitchFamily="34" charset="0"/>
                <a:ea typeface="Meiryo UI" pitchFamily="34" charset="-122"/>
                <a:cs typeface="Meiryo UI" pitchFamily="34" charset="-120"/>
              </a:rPr>
              <a:t>作り方・品質が国ごとにばらつき、重複開発になる</a:t>
            </a:r>
            <a:endParaRPr lang="en-US" sz="1000" dirty="0"/>
          </a:p>
        </p:txBody>
      </p:sp>
      <p:sp>
        <p:nvSpPr>
          <p:cNvPr id="24" name="Shape 16"/>
          <p:cNvSpPr/>
          <p:nvPr/>
        </p:nvSpPr>
        <p:spPr>
          <a:xfrm>
            <a:off x="4297680" y="1371600"/>
            <a:ext cx="3566160" cy="2606040"/>
          </a:xfrm>
          <a:prstGeom prst="roundRect">
            <a:avLst>
              <a:gd name="adj" fmla="val 2105"/>
            </a:avLst>
          </a:prstGeom>
          <a:solidFill>
            <a:srgbClr val="F3F5F8"/>
          </a:solidFill>
          <a:ln/>
        </p:spPr>
      </p:sp>
      <p:sp>
        <p:nvSpPr>
          <p:cNvPr id="25" name="Shape 17"/>
          <p:cNvSpPr/>
          <p:nvPr/>
        </p:nvSpPr>
        <p:spPr>
          <a:xfrm>
            <a:off x="4434840" y="1490472"/>
            <a:ext cx="384048" cy="384048"/>
          </a:xfrm>
          <a:prstGeom prst="ellipse">
            <a:avLst/>
          </a:prstGeom>
          <a:solidFill>
            <a:srgbClr val="1B2A49"/>
          </a:solidFill>
          <a:ln/>
        </p:spPr>
      </p:sp>
      <p:sp>
        <p:nvSpPr>
          <p:cNvPr id="26" name="Text 18"/>
          <p:cNvSpPr txBox="1"/>
          <p:nvPr/>
        </p:nvSpPr>
        <p:spPr>
          <a:xfrm>
            <a:off x="4434840" y="1490472"/>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②</a:t>
            </a:r>
            <a:endParaRPr lang="en-US" sz="1100" dirty="0"/>
          </a:p>
        </p:txBody>
      </p:sp>
      <p:sp>
        <p:nvSpPr>
          <p:cNvPr id="27" name="Text 19"/>
          <p:cNvSpPr txBox="1"/>
          <p:nvPr/>
        </p:nvSpPr>
        <p:spPr>
          <a:xfrm>
            <a:off x="4892040" y="1481328"/>
            <a:ext cx="2880360" cy="402336"/>
          </a:xfrm>
          <a:prstGeom prst="rect">
            <a:avLst/>
          </a:prstGeom>
          <a:noFill/>
          <a:ln/>
        </p:spPr>
        <p:txBody>
          <a:bodyPr wrap="square" lIns="508" tIns="508" rIns="508" bIns="508" rtlCol="0" anchor="ctr"/>
          <a:lstStyle/>
          <a:p>
            <a:pPr indent="0" marL="0">
              <a:buNone/>
            </a:pPr>
            <a:r>
              <a:rPr lang="en-US" sz="1350" b="1" dirty="0">
                <a:solidFill>
                  <a:srgbClr val="1B2A49"/>
                </a:solidFill>
                <a:latin typeface="Meiryo UI" pitchFamily="34" charset="0"/>
                <a:ea typeface="Meiryo UI" pitchFamily="34" charset="-122"/>
                <a:cs typeface="Meiryo UI" pitchFamily="34" charset="-120"/>
              </a:rPr>
              <a:t>共通の仕組み＋国別データ</a:t>
            </a:r>
            <a:endParaRPr lang="en-US" sz="1350" dirty="0"/>
          </a:p>
        </p:txBody>
      </p:sp>
      <p:sp>
        <p:nvSpPr>
          <p:cNvPr id="28" name="Shape 20"/>
          <p:cNvSpPr/>
          <p:nvPr/>
        </p:nvSpPr>
        <p:spPr>
          <a:xfrm>
            <a:off x="4572000" y="2011680"/>
            <a:ext cx="2962656" cy="237744"/>
          </a:xfrm>
          <a:prstGeom prst="roundRect">
            <a:avLst>
              <a:gd name="adj" fmla="val 19231"/>
            </a:avLst>
          </a:prstGeom>
          <a:solidFill>
            <a:srgbClr val="0E9F9A"/>
          </a:solidFill>
          <a:ln/>
        </p:spPr>
      </p:sp>
      <p:sp>
        <p:nvSpPr>
          <p:cNvPr id="29" name="Text 21"/>
          <p:cNvSpPr txBox="1"/>
          <p:nvPr/>
        </p:nvSpPr>
        <p:spPr>
          <a:xfrm>
            <a:off x="4572000" y="2011680"/>
            <a:ext cx="2962656" cy="237744"/>
          </a:xfrm>
          <a:prstGeom prst="rect">
            <a:avLst/>
          </a:prstGeom>
          <a:noFill/>
          <a:ln/>
        </p:spPr>
        <p:txBody>
          <a:bodyPr wrap="square" lIns="762" tIns="762" rIns="762" bIns="762" rtlCol="0" anchor="ctr"/>
          <a:lstStyle/>
          <a:p>
            <a:pPr algn="ctr" indent="0" marL="0">
              <a:buNone/>
            </a:pPr>
            <a:r>
              <a:rPr lang="en-US" sz="850" b="1" dirty="0">
                <a:solidFill>
                  <a:srgbClr val="FFFFFF"/>
                </a:solidFill>
                <a:latin typeface="Meiryo UI" pitchFamily="34" charset="0"/>
                <a:ea typeface="Meiryo UI" pitchFamily="34" charset="-122"/>
                <a:cs typeface="Meiryo UI" pitchFamily="34" charset="-120"/>
              </a:rPr>
              <a:t>共通の仕組み（アプリ・フロー・プロンプト）</a:t>
            </a:r>
            <a:endParaRPr lang="en-US" sz="850" dirty="0"/>
          </a:p>
        </p:txBody>
      </p:sp>
      <p:sp>
        <p:nvSpPr>
          <p:cNvPr id="30" name="Shape 22"/>
          <p:cNvSpPr/>
          <p:nvPr/>
        </p:nvSpPr>
        <p:spPr>
          <a:xfrm>
            <a:off x="4572000" y="2322576"/>
            <a:ext cx="914400" cy="274320"/>
          </a:xfrm>
          <a:prstGeom prst="roundRect">
            <a:avLst>
              <a:gd name="adj" fmla="val 16667"/>
            </a:avLst>
          </a:prstGeom>
          <a:solidFill>
            <a:srgbClr val="FFFFFF"/>
          </a:solidFill>
          <a:ln w="12700">
            <a:solidFill>
              <a:srgbClr val="D5DBE3"/>
            </a:solidFill>
            <a:prstDash val="solid"/>
          </a:ln>
        </p:spPr>
      </p:sp>
      <p:pic>
        <p:nvPicPr>
          <p:cNvPr id="31" name="Image 6" descr="preencoded.png">    </p:cNvPr>
          <p:cNvPicPr>
            <a:picLocks noChangeAspect="1"/>
          </p:cNvPicPr>
          <p:nvPr/>
        </p:nvPicPr>
        <p:blipFill>
          <a:blip r:embed="rId7"/>
          <a:stretch>
            <a:fillRect/>
          </a:stretch>
        </p:blipFill>
        <p:spPr>
          <a:xfrm>
            <a:off x="4663440" y="2359152"/>
            <a:ext cx="182880" cy="182880"/>
          </a:xfrm>
          <a:prstGeom prst="rect">
            <a:avLst/>
          </a:prstGeom>
        </p:spPr>
      </p:pic>
      <p:sp>
        <p:nvSpPr>
          <p:cNvPr id="32" name="Text 23"/>
          <p:cNvSpPr txBox="1"/>
          <p:nvPr/>
        </p:nvSpPr>
        <p:spPr>
          <a:xfrm>
            <a:off x="4864608" y="2322576"/>
            <a:ext cx="621792" cy="274320"/>
          </a:xfrm>
          <a:prstGeom prst="rect">
            <a:avLst/>
          </a:prstGeom>
          <a:noFill/>
          <a:ln/>
        </p:spPr>
        <p:txBody>
          <a:bodyPr wrap="square" lIns="0" tIns="0" rIns="0" bIns="0" rtlCol="0" anchor="ctr"/>
          <a:lstStyle/>
          <a:p>
            <a:pPr indent="0" marL="0">
              <a:buNone/>
            </a:pPr>
            <a:r>
              <a:rPr lang="en-US" sz="800" dirty="0">
                <a:solidFill>
                  <a:srgbClr val="1B2A49"/>
                </a:solidFill>
                <a:latin typeface="Meiryo UI" pitchFamily="34" charset="0"/>
                <a:ea typeface="Meiryo UI" pitchFamily="34" charset="-122"/>
                <a:cs typeface="Meiryo UI" pitchFamily="34" charset="-120"/>
              </a:rPr>
              <a:t>国Aのデータ</a:t>
            </a:r>
            <a:endParaRPr lang="en-US" sz="800" dirty="0"/>
          </a:p>
        </p:txBody>
      </p:sp>
      <p:sp>
        <p:nvSpPr>
          <p:cNvPr id="33" name="Shape 24"/>
          <p:cNvSpPr/>
          <p:nvPr/>
        </p:nvSpPr>
        <p:spPr>
          <a:xfrm>
            <a:off x="5596128" y="2322576"/>
            <a:ext cx="914400" cy="274320"/>
          </a:xfrm>
          <a:prstGeom prst="roundRect">
            <a:avLst>
              <a:gd name="adj" fmla="val 16667"/>
            </a:avLst>
          </a:prstGeom>
          <a:solidFill>
            <a:srgbClr val="FFFFFF"/>
          </a:solidFill>
          <a:ln w="12700">
            <a:solidFill>
              <a:srgbClr val="D5DBE3"/>
            </a:solidFill>
            <a:prstDash val="solid"/>
          </a:ln>
        </p:spPr>
      </p:sp>
      <p:pic>
        <p:nvPicPr>
          <p:cNvPr id="34" name="Image 7" descr="preencoded.png">    </p:cNvPr>
          <p:cNvPicPr>
            <a:picLocks noChangeAspect="1"/>
          </p:cNvPicPr>
          <p:nvPr/>
        </p:nvPicPr>
        <p:blipFill>
          <a:blip r:embed="rId8"/>
          <a:stretch>
            <a:fillRect/>
          </a:stretch>
        </p:blipFill>
        <p:spPr>
          <a:xfrm>
            <a:off x="5687568" y="2359152"/>
            <a:ext cx="182880" cy="182880"/>
          </a:xfrm>
          <a:prstGeom prst="rect">
            <a:avLst/>
          </a:prstGeom>
        </p:spPr>
      </p:pic>
      <p:sp>
        <p:nvSpPr>
          <p:cNvPr id="35" name="Text 25"/>
          <p:cNvSpPr txBox="1"/>
          <p:nvPr/>
        </p:nvSpPr>
        <p:spPr>
          <a:xfrm>
            <a:off x="5888736" y="2322576"/>
            <a:ext cx="621792" cy="274320"/>
          </a:xfrm>
          <a:prstGeom prst="rect">
            <a:avLst/>
          </a:prstGeom>
          <a:noFill/>
          <a:ln/>
        </p:spPr>
        <p:txBody>
          <a:bodyPr wrap="square" lIns="0" tIns="0" rIns="0" bIns="0" rtlCol="0" anchor="ctr"/>
          <a:lstStyle/>
          <a:p>
            <a:pPr indent="0" marL="0">
              <a:buNone/>
            </a:pPr>
            <a:r>
              <a:rPr lang="en-US" sz="800" dirty="0">
                <a:solidFill>
                  <a:srgbClr val="1B2A49"/>
                </a:solidFill>
                <a:latin typeface="Meiryo UI" pitchFamily="34" charset="0"/>
                <a:ea typeface="Meiryo UI" pitchFamily="34" charset="-122"/>
                <a:cs typeface="Meiryo UI" pitchFamily="34" charset="-120"/>
              </a:rPr>
              <a:t>国Bのデータ</a:t>
            </a:r>
            <a:endParaRPr lang="en-US" sz="800" dirty="0"/>
          </a:p>
        </p:txBody>
      </p:sp>
      <p:sp>
        <p:nvSpPr>
          <p:cNvPr id="36" name="Shape 26"/>
          <p:cNvSpPr/>
          <p:nvPr/>
        </p:nvSpPr>
        <p:spPr>
          <a:xfrm>
            <a:off x="6620256" y="2322576"/>
            <a:ext cx="914400" cy="274320"/>
          </a:xfrm>
          <a:prstGeom prst="roundRect">
            <a:avLst>
              <a:gd name="adj" fmla="val 16667"/>
            </a:avLst>
          </a:prstGeom>
          <a:solidFill>
            <a:srgbClr val="FFFFFF"/>
          </a:solidFill>
          <a:ln w="12700">
            <a:solidFill>
              <a:srgbClr val="D5DBE3"/>
            </a:solidFill>
            <a:prstDash val="solid"/>
          </a:ln>
        </p:spPr>
      </p:sp>
      <p:pic>
        <p:nvPicPr>
          <p:cNvPr id="37" name="Image 8" descr="preencoded.png">    </p:cNvPr>
          <p:cNvPicPr>
            <a:picLocks noChangeAspect="1"/>
          </p:cNvPicPr>
          <p:nvPr/>
        </p:nvPicPr>
        <p:blipFill>
          <a:blip r:embed="rId9"/>
          <a:stretch>
            <a:fillRect/>
          </a:stretch>
        </p:blipFill>
        <p:spPr>
          <a:xfrm>
            <a:off x="6711696" y="2359152"/>
            <a:ext cx="182880" cy="182880"/>
          </a:xfrm>
          <a:prstGeom prst="rect">
            <a:avLst/>
          </a:prstGeom>
        </p:spPr>
      </p:pic>
      <p:sp>
        <p:nvSpPr>
          <p:cNvPr id="38" name="Text 27"/>
          <p:cNvSpPr txBox="1"/>
          <p:nvPr/>
        </p:nvSpPr>
        <p:spPr>
          <a:xfrm>
            <a:off x="6912864" y="2322576"/>
            <a:ext cx="621792" cy="274320"/>
          </a:xfrm>
          <a:prstGeom prst="rect">
            <a:avLst/>
          </a:prstGeom>
          <a:noFill/>
          <a:ln/>
        </p:spPr>
        <p:txBody>
          <a:bodyPr wrap="square" lIns="0" tIns="0" rIns="0" bIns="0" rtlCol="0" anchor="ctr"/>
          <a:lstStyle/>
          <a:p>
            <a:pPr indent="0" marL="0">
              <a:buNone/>
            </a:pPr>
            <a:r>
              <a:rPr lang="en-US" sz="800" dirty="0">
                <a:solidFill>
                  <a:srgbClr val="1B2A49"/>
                </a:solidFill>
                <a:latin typeface="Meiryo UI" pitchFamily="34" charset="0"/>
                <a:ea typeface="Meiryo UI" pitchFamily="34" charset="-122"/>
                <a:cs typeface="Meiryo UI" pitchFamily="34" charset="-120"/>
              </a:rPr>
              <a:t>国Cのデータ</a:t>
            </a:r>
            <a:endParaRPr lang="en-US" sz="800" dirty="0"/>
          </a:p>
        </p:txBody>
      </p:sp>
      <p:sp>
        <p:nvSpPr>
          <p:cNvPr id="39" name="Text 28"/>
          <p:cNvSpPr txBox="1"/>
          <p:nvPr/>
        </p:nvSpPr>
        <p:spPr>
          <a:xfrm>
            <a:off x="4480560" y="2651760"/>
            <a:ext cx="3246120" cy="292608"/>
          </a:xfrm>
          <a:prstGeom prst="rect">
            <a:avLst/>
          </a:prstGeom>
          <a:noFill/>
          <a:ln/>
        </p:spPr>
        <p:txBody>
          <a:bodyPr wrap="square" lIns="508" tIns="508" rIns="508" bIns="508" rtlCol="0" anchor="ctr"/>
          <a:lstStyle/>
          <a:p>
            <a:pPr indent="0" marL="0">
              <a:buNone/>
            </a:pPr>
            <a:r>
              <a:rPr lang="en-US" sz="950" dirty="0">
                <a:solidFill>
                  <a:srgbClr val="6B7280"/>
                </a:solidFill>
                <a:latin typeface="Meiryo UI" pitchFamily="34" charset="0"/>
                <a:ea typeface="Meiryo UI" pitchFamily="34" charset="-122"/>
                <a:cs typeface="Meiryo UI" pitchFamily="34" charset="-120"/>
              </a:rPr>
              <a:t>1つの仕組みを各国に展開し、データは国ごとに置く</a:t>
            </a:r>
            <a:endParaRPr lang="en-US" sz="950" dirty="0"/>
          </a:p>
        </p:txBody>
      </p:sp>
      <p:sp>
        <p:nvSpPr>
          <p:cNvPr id="40" name="Text 29"/>
          <p:cNvSpPr txBox="1"/>
          <p:nvPr/>
        </p:nvSpPr>
        <p:spPr>
          <a:xfrm>
            <a:off x="4480560" y="2971800"/>
            <a:ext cx="3246120" cy="960120"/>
          </a:xfrm>
          <a:prstGeom prst="rect">
            <a:avLst/>
          </a:prstGeom>
          <a:noFill/>
          <a:ln/>
        </p:spPr>
        <p:txBody>
          <a:bodyPr wrap="square" lIns="254" tIns="254" rIns="254" bIns="254" rtlCol="0" anchor="t"/>
          <a:lstStyle/>
          <a:p>
            <a:pPr marL="152400" indent="-152400">
              <a:spcAft>
                <a:spcPts val="200"/>
              </a:spcAft>
              <a:buSzPct val="100000"/>
              <a:buChar char="•"/>
            </a:pPr>
            <a:r>
              <a:rPr lang="en-US" sz="1000" dirty="0">
                <a:solidFill>
                  <a:srgbClr val="000000"/>
                </a:solidFill>
                <a:latin typeface="Meiryo UI" pitchFamily="34" charset="0"/>
                <a:ea typeface="Meiryo UI" pitchFamily="34" charset="-122"/>
                <a:cs typeface="Meiryo UI" pitchFamily="34" charset="-120"/>
              </a:rPr>
              <a:t>仕組みとプロンプトの改善が全国に効く</a:t>
            </a:r>
            <a:endParaRPr lang="en-US" sz="1000" dirty="0"/>
          </a:p>
          <a:p>
            <a:pPr marL="152400" indent="-152400">
              <a:spcAft>
                <a:spcPts val="200"/>
              </a:spcAft>
              <a:buSzPct val="100000"/>
              <a:buChar char="•"/>
            </a:pPr>
            <a:r>
              <a:rPr lang="en-US" sz="1000" dirty="0">
                <a:solidFill>
                  <a:srgbClr val="000000"/>
                </a:solidFill>
                <a:latin typeface="Meiryo UI" pitchFamily="34" charset="0"/>
                <a:ea typeface="Meiryo UI" pitchFamily="34" charset="-122"/>
                <a:cs typeface="Meiryo UI" pitchFamily="34" charset="-120"/>
              </a:rPr>
              <a:t>他国の事例は共有すると決めたものだけ参照</a:t>
            </a:r>
            <a:endParaRPr lang="en-US" sz="1000" dirty="0"/>
          </a:p>
          <a:p>
            <a:pPr marL="152400" indent="-152400">
              <a:spcAft>
                <a:spcPts val="200"/>
              </a:spcAft>
              <a:buSzPct val="100000"/>
              <a:buChar char="•"/>
            </a:pPr>
            <a:r>
              <a:rPr lang="en-US" sz="1000" dirty="0">
                <a:solidFill>
                  <a:srgbClr val="000000"/>
                </a:solidFill>
                <a:latin typeface="Meiryo UI" pitchFamily="34" charset="0"/>
                <a:ea typeface="Meiryo UI" pitchFamily="34" charset="-122"/>
                <a:cs typeface="Meiryo UI" pitchFamily="34" charset="-120"/>
              </a:rPr>
              <a:t>国ごとの権限設計が必要</a:t>
            </a:r>
            <a:endParaRPr lang="en-US" sz="1000" dirty="0"/>
          </a:p>
        </p:txBody>
      </p:sp>
      <p:sp>
        <p:nvSpPr>
          <p:cNvPr id="41" name="Shape 30"/>
          <p:cNvSpPr/>
          <p:nvPr/>
        </p:nvSpPr>
        <p:spPr>
          <a:xfrm>
            <a:off x="8046720" y="1371600"/>
            <a:ext cx="3566160" cy="2606040"/>
          </a:xfrm>
          <a:prstGeom prst="roundRect">
            <a:avLst>
              <a:gd name="adj" fmla="val 2105"/>
            </a:avLst>
          </a:prstGeom>
          <a:solidFill>
            <a:srgbClr val="F3F5F8"/>
          </a:solidFill>
          <a:ln/>
        </p:spPr>
      </p:sp>
      <p:sp>
        <p:nvSpPr>
          <p:cNvPr id="42" name="Shape 31"/>
          <p:cNvSpPr/>
          <p:nvPr/>
        </p:nvSpPr>
        <p:spPr>
          <a:xfrm>
            <a:off x="8183880" y="1490472"/>
            <a:ext cx="384048" cy="384048"/>
          </a:xfrm>
          <a:prstGeom prst="ellipse">
            <a:avLst/>
          </a:prstGeom>
          <a:solidFill>
            <a:srgbClr val="1B2A49"/>
          </a:solidFill>
          <a:ln/>
        </p:spPr>
      </p:sp>
      <p:sp>
        <p:nvSpPr>
          <p:cNvPr id="43" name="Text 32"/>
          <p:cNvSpPr txBox="1"/>
          <p:nvPr/>
        </p:nvSpPr>
        <p:spPr>
          <a:xfrm>
            <a:off x="8183880" y="1490472"/>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③</a:t>
            </a:r>
            <a:endParaRPr lang="en-US" sz="1100" dirty="0"/>
          </a:p>
        </p:txBody>
      </p:sp>
      <p:sp>
        <p:nvSpPr>
          <p:cNvPr id="44" name="Text 33"/>
          <p:cNvSpPr txBox="1"/>
          <p:nvPr/>
        </p:nvSpPr>
        <p:spPr>
          <a:xfrm>
            <a:off x="8641080" y="1481328"/>
            <a:ext cx="2880360" cy="402336"/>
          </a:xfrm>
          <a:prstGeom prst="rect">
            <a:avLst/>
          </a:prstGeom>
          <a:noFill/>
          <a:ln/>
        </p:spPr>
        <p:txBody>
          <a:bodyPr wrap="square" lIns="508" tIns="508" rIns="508" bIns="508" rtlCol="0" anchor="ctr"/>
          <a:lstStyle/>
          <a:p>
            <a:pPr indent="0" marL="0">
              <a:buNone/>
            </a:pPr>
            <a:r>
              <a:rPr lang="en-US" sz="1350" b="1" dirty="0">
                <a:solidFill>
                  <a:srgbClr val="1B2A49"/>
                </a:solidFill>
                <a:latin typeface="Meiryo UI" pitchFamily="34" charset="0"/>
                <a:ea typeface="Meiryo UI" pitchFamily="34" charset="-122"/>
                <a:cs typeface="Meiryo UI" pitchFamily="34" charset="-120"/>
              </a:rPr>
              <a:t>完全に統合</a:t>
            </a:r>
            <a:endParaRPr lang="en-US" sz="1350" dirty="0"/>
          </a:p>
        </p:txBody>
      </p:sp>
      <p:sp>
        <p:nvSpPr>
          <p:cNvPr id="45" name="Shape 34"/>
          <p:cNvSpPr/>
          <p:nvPr/>
        </p:nvSpPr>
        <p:spPr>
          <a:xfrm>
            <a:off x="8321040" y="2011680"/>
            <a:ext cx="2962656" cy="566928"/>
          </a:xfrm>
          <a:prstGeom prst="roundRect">
            <a:avLst>
              <a:gd name="adj" fmla="val 9677"/>
            </a:avLst>
          </a:prstGeom>
          <a:solidFill>
            <a:srgbClr val="FFFFFF"/>
          </a:solidFill>
          <a:ln w="12700">
            <a:solidFill>
              <a:srgbClr val="D5DBE3"/>
            </a:solidFill>
            <a:prstDash val="solid"/>
          </a:ln>
        </p:spPr>
      </p:sp>
      <p:pic>
        <p:nvPicPr>
          <p:cNvPr id="46" name="Image 9" descr="preencoded.png">    </p:cNvPr>
          <p:cNvPicPr>
            <a:picLocks noChangeAspect="1"/>
          </p:cNvPicPr>
          <p:nvPr/>
        </p:nvPicPr>
        <p:blipFill>
          <a:blip r:embed="rId10"/>
          <a:stretch>
            <a:fillRect/>
          </a:stretch>
        </p:blipFill>
        <p:spPr>
          <a:xfrm>
            <a:off x="8430768" y="2130552"/>
            <a:ext cx="329184" cy="329184"/>
          </a:xfrm>
          <a:prstGeom prst="rect">
            <a:avLst/>
          </a:prstGeom>
        </p:spPr>
      </p:pic>
      <p:sp>
        <p:nvSpPr>
          <p:cNvPr id="47" name="Text 35"/>
          <p:cNvSpPr txBox="1"/>
          <p:nvPr/>
        </p:nvSpPr>
        <p:spPr>
          <a:xfrm>
            <a:off x="8823960" y="2011680"/>
            <a:ext cx="2468880" cy="566928"/>
          </a:xfrm>
          <a:prstGeom prst="rect">
            <a:avLst/>
          </a:prstGeom>
          <a:noFill/>
          <a:ln/>
        </p:spPr>
        <p:txBody>
          <a:bodyPr wrap="square" lIns="0" tIns="0" rIns="0" bIns="0" rtlCol="0" anchor="ctr"/>
          <a:lstStyle/>
          <a:p>
            <a:pPr indent="0" marL="0">
              <a:buNone/>
            </a:pPr>
            <a:r>
              <a:rPr lang="en-US" sz="950" b="1" dirty="0">
                <a:solidFill>
                  <a:srgbClr val="1B2A49"/>
                </a:solidFill>
                <a:latin typeface="Meiryo UI" pitchFamily="34" charset="0"/>
                <a:ea typeface="Meiryo UI" pitchFamily="34" charset="-122"/>
                <a:cs typeface="Meiryo UI" pitchFamily="34" charset="-120"/>
              </a:rPr>
              <a:t>1つの仕組み＋全世界のデータ</a:t>
            </a:r>
            <a:endParaRPr lang="en-US" sz="950" dirty="0"/>
          </a:p>
        </p:txBody>
      </p:sp>
      <p:sp>
        <p:nvSpPr>
          <p:cNvPr id="48" name="Text 36"/>
          <p:cNvSpPr txBox="1"/>
          <p:nvPr/>
        </p:nvSpPr>
        <p:spPr>
          <a:xfrm>
            <a:off x="8229600" y="2651760"/>
            <a:ext cx="3246120" cy="292608"/>
          </a:xfrm>
          <a:prstGeom prst="rect">
            <a:avLst/>
          </a:prstGeom>
          <a:noFill/>
          <a:ln/>
        </p:spPr>
        <p:txBody>
          <a:bodyPr wrap="square" lIns="508" tIns="508" rIns="508" bIns="508" rtlCol="0" anchor="ctr"/>
          <a:lstStyle/>
          <a:p>
            <a:pPr indent="0" marL="0">
              <a:buNone/>
            </a:pPr>
            <a:r>
              <a:rPr lang="en-US" sz="950" dirty="0">
                <a:solidFill>
                  <a:srgbClr val="6B7280"/>
                </a:solidFill>
                <a:latin typeface="Meiryo UI" pitchFamily="34" charset="0"/>
                <a:ea typeface="Meiryo UI" pitchFamily="34" charset="-122"/>
                <a:cs typeface="Meiryo UI" pitchFamily="34" charset="-120"/>
              </a:rPr>
              <a:t>全世界のデータを1つのシステムに集める</a:t>
            </a:r>
            <a:endParaRPr lang="en-US" sz="950" dirty="0"/>
          </a:p>
        </p:txBody>
      </p:sp>
      <p:sp>
        <p:nvSpPr>
          <p:cNvPr id="49" name="Text 37"/>
          <p:cNvSpPr txBox="1"/>
          <p:nvPr/>
        </p:nvSpPr>
        <p:spPr>
          <a:xfrm>
            <a:off x="8229600" y="2971800"/>
            <a:ext cx="3246120" cy="960120"/>
          </a:xfrm>
          <a:prstGeom prst="rect">
            <a:avLst/>
          </a:prstGeom>
          <a:noFill/>
          <a:ln/>
        </p:spPr>
        <p:txBody>
          <a:bodyPr wrap="square" lIns="254" tIns="254" rIns="254" bIns="254" rtlCol="0" anchor="t"/>
          <a:lstStyle/>
          <a:p>
            <a:pPr marL="152400" indent="-152400">
              <a:spcAft>
                <a:spcPts val="200"/>
              </a:spcAft>
              <a:buSzPct val="100000"/>
              <a:buChar char="•"/>
            </a:pPr>
            <a:r>
              <a:rPr lang="en-US" sz="1000" dirty="0">
                <a:solidFill>
                  <a:srgbClr val="000000"/>
                </a:solidFill>
                <a:latin typeface="Meiryo UI" pitchFamily="34" charset="0"/>
                <a:ea typeface="Meiryo UI" pitchFamily="34" charset="-122"/>
                <a:cs typeface="Meiryo UI" pitchFamily="34" charset="-120"/>
              </a:rPr>
              <a:t>すべての国の事例を参照できる</a:t>
            </a:r>
            <a:endParaRPr lang="en-US" sz="1000" dirty="0"/>
          </a:p>
          <a:p>
            <a:pPr marL="152400" indent="-152400">
              <a:spcAft>
                <a:spcPts val="200"/>
              </a:spcAft>
              <a:buSzPct val="100000"/>
              <a:buChar char="•"/>
            </a:pPr>
            <a:r>
              <a:rPr lang="en-US" sz="1000" dirty="0">
                <a:solidFill>
                  <a:srgbClr val="000000"/>
                </a:solidFill>
                <a:latin typeface="Meiryo UI" pitchFamily="34" charset="0"/>
                <a:ea typeface="Meiryo UI" pitchFamily="34" charset="-122"/>
                <a:cs typeface="Meiryo UI" pitchFamily="34" charset="-120"/>
              </a:rPr>
              <a:t>国ごとのポリシー・権限の差を1つで吸収する必要がある</a:t>
            </a:r>
            <a:endParaRPr lang="en-US" sz="1000" dirty="0"/>
          </a:p>
          <a:p>
            <a:pPr marL="152400" indent="-152400">
              <a:spcAft>
                <a:spcPts val="200"/>
              </a:spcAft>
              <a:buSzPct val="100000"/>
              <a:buChar char="•"/>
            </a:pPr>
            <a:r>
              <a:rPr lang="en-US" sz="1000" dirty="0">
                <a:solidFill>
                  <a:srgbClr val="000000"/>
                </a:solidFill>
                <a:latin typeface="Meiryo UI" pitchFamily="34" charset="0"/>
                <a:ea typeface="Meiryo UI" pitchFamily="34" charset="-122"/>
                <a:cs typeface="Meiryo UI" pitchFamily="34" charset="-120"/>
              </a:rPr>
              <a:t>参照範囲が広く、ノイズも増えやすい</a:t>
            </a:r>
            <a:endParaRPr lang="en-US" sz="1000" dirty="0"/>
          </a:p>
        </p:txBody>
      </p:sp>
      <p:sp>
        <p:nvSpPr>
          <p:cNvPr id="50" name="Shape 38"/>
          <p:cNvSpPr/>
          <p:nvPr/>
        </p:nvSpPr>
        <p:spPr>
          <a:xfrm>
            <a:off x="548640" y="4114800"/>
            <a:ext cx="6675120" cy="2212848"/>
          </a:xfrm>
          <a:prstGeom prst="roundRect">
            <a:avLst>
              <a:gd name="adj" fmla="val 2479"/>
            </a:avLst>
          </a:prstGeom>
          <a:solidFill>
            <a:srgbClr val="D9F2F1"/>
          </a:solidFill>
          <a:ln/>
        </p:spPr>
      </p:sp>
      <p:sp>
        <p:nvSpPr>
          <p:cNvPr id="51" name="Text 39"/>
          <p:cNvSpPr txBox="1"/>
          <p:nvPr/>
        </p:nvSpPr>
        <p:spPr>
          <a:xfrm>
            <a:off x="731520" y="4178808"/>
            <a:ext cx="6400800" cy="310896"/>
          </a:xfrm>
          <a:prstGeom prst="rect">
            <a:avLst/>
          </a:prstGeom>
          <a:noFill/>
          <a:ln/>
        </p:spPr>
        <p:txBody>
          <a:bodyPr wrap="square" lIns="508" tIns="508" rIns="508" bIns="508" rtlCol="0" anchor="ctr"/>
          <a:lstStyle/>
          <a:p>
            <a:pPr indent="0" marL="0">
              <a:buNone/>
            </a:pPr>
            <a:r>
              <a:rPr lang="en-US" sz="1200" b="1" dirty="0">
                <a:solidFill>
                  <a:srgbClr val="1B2A49"/>
                </a:solidFill>
                <a:latin typeface="Meiryo UI" pitchFamily="34" charset="0"/>
                <a:ea typeface="Meiryo UI" pitchFamily="34" charset="-122"/>
                <a:cs typeface="Meiryo UI" pitchFamily="34" charset="-120"/>
              </a:rPr>
              <a:t>他国の事例を参考にする方法：好事例の共有ライブラリ</a:t>
            </a:r>
            <a:endParaRPr lang="en-US" sz="1200" dirty="0"/>
          </a:p>
        </p:txBody>
      </p:sp>
      <p:sp>
        <p:nvSpPr>
          <p:cNvPr id="52" name="Shape 40"/>
          <p:cNvSpPr/>
          <p:nvPr/>
        </p:nvSpPr>
        <p:spPr>
          <a:xfrm>
            <a:off x="731520" y="4572000"/>
            <a:ext cx="1417320" cy="457200"/>
          </a:xfrm>
          <a:prstGeom prst="roundRect">
            <a:avLst>
              <a:gd name="adj" fmla="val 16000"/>
            </a:avLst>
          </a:prstGeom>
          <a:solidFill>
            <a:srgbClr val="FFFFFF"/>
          </a:solidFill>
          <a:ln w="12700">
            <a:solidFill>
              <a:srgbClr val="D5DBE3"/>
            </a:solidFill>
            <a:prstDash val="solid"/>
          </a:ln>
        </p:spPr>
      </p:sp>
      <p:pic>
        <p:nvPicPr>
          <p:cNvPr id="53" name="Image 10" descr="preencoded.png">    </p:cNvPr>
          <p:cNvPicPr>
            <a:picLocks noChangeAspect="1"/>
          </p:cNvPicPr>
          <p:nvPr/>
        </p:nvPicPr>
        <p:blipFill>
          <a:blip r:embed="rId11"/>
          <a:stretch>
            <a:fillRect/>
          </a:stretch>
        </p:blipFill>
        <p:spPr>
          <a:xfrm>
            <a:off x="841248" y="4681728"/>
            <a:ext cx="237744" cy="237744"/>
          </a:xfrm>
          <a:prstGeom prst="rect">
            <a:avLst/>
          </a:prstGeom>
        </p:spPr>
      </p:pic>
      <p:sp>
        <p:nvSpPr>
          <p:cNvPr id="54" name="Text 41"/>
          <p:cNvSpPr txBox="1"/>
          <p:nvPr/>
        </p:nvSpPr>
        <p:spPr>
          <a:xfrm>
            <a:off x="1170432" y="4572000"/>
            <a:ext cx="932688" cy="457200"/>
          </a:xfrm>
          <a:prstGeom prst="rect">
            <a:avLst/>
          </a:prstGeom>
          <a:noFill/>
          <a:ln/>
        </p:spPr>
        <p:txBody>
          <a:bodyPr wrap="square" lIns="0" tIns="0" rIns="0" bIns="0" rtlCol="0" anchor="ctr"/>
          <a:lstStyle/>
          <a:p>
            <a:pPr algn="l" indent="0" marL="0">
              <a:buNone/>
            </a:pPr>
            <a:r>
              <a:rPr lang="en-US" sz="900" b="1" dirty="0">
                <a:solidFill>
                  <a:srgbClr val="1B2A49"/>
                </a:solidFill>
                <a:latin typeface="Meiryo UI" pitchFamily="34" charset="0"/>
                <a:ea typeface="Meiryo UI" pitchFamily="34" charset="-122"/>
                <a:cs typeface="Meiryo UI" pitchFamily="34" charset="-120"/>
              </a:rPr>
              <a:t>国Aの配信結果</a:t>
            </a:r>
            <a:endParaRPr lang="en-US" sz="900" dirty="0"/>
          </a:p>
        </p:txBody>
      </p:sp>
      <p:sp>
        <p:nvSpPr>
          <p:cNvPr id="55" name="Shape 42"/>
          <p:cNvSpPr/>
          <p:nvPr/>
        </p:nvSpPr>
        <p:spPr>
          <a:xfrm>
            <a:off x="2194560" y="4800600"/>
            <a:ext cx="502920" cy="566928"/>
          </a:xfrm>
          <a:prstGeom prst="line">
            <a:avLst/>
          </a:prstGeom>
          <a:noFill/>
          <a:ln w="22225">
            <a:solidFill>
              <a:srgbClr val="9AA5B4"/>
            </a:solidFill>
            <a:prstDash val="solid"/>
            <a:tailEnd type="triangle"/>
          </a:ln>
        </p:spPr>
      </p:sp>
      <p:sp>
        <p:nvSpPr>
          <p:cNvPr id="56" name="Shape 43"/>
          <p:cNvSpPr/>
          <p:nvPr/>
        </p:nvSpPr>
        <p:spPr>
          <a:xfrm>
            <a:off x="731520" y="5138928"/>
            <a:ext cx="1417320" cy="457200"/>
          </a:xfrm>
          <a:prstGeom prst="roundRect">
            <a:avLst>
              <a:gd name="adj" fmla="val 16000"/>
            </a:avLst>
          </a:prstGeom>
          <a:solidFill>
            <a:srgbClr val="FFFFFF"/>
          </a:solidFill>
          <a:ln w="12700">
            <a:solidFill>
              <a:srgbClr val="D5DBE3"/>
            </a:solidFill>
            <a:prstDash val="solid"/>
          </a:ln>
        </p:spPr>
      </p:sp>
      <p:pic>
        <p:nvPicPr>
          <p:cNvPr id="57" name="Image 11" descr="preencoded.png">    </p:cNvPr>
          <p:cNvPicPr>
            <a:picLocks noChangeAspect="1"/>
          </p:cNvPicPr>
          <p:nvPr/>
        </p:nvPicPr>
        <p:blipFill>
          <a:blip r:embed="rId12"/>
          <a:stretch>
            <a:fillRect/>
          </a:stretch>
        </p:blipFill>
        <p:spPr>
          <a:xfrm>
            <a:off x="841248" y="5248656"/>
            <a:ext cx="237744" cy="237744"/>
          </a:xfrm>
          <a:prstGeom prst="rect">
            <a:avLst/>
          </a:prstGeom>
        </p:spPr>
      </p:pic>
      <p:sp>
        <p:nvSpPr>
          <p:cNvPr id="58" name="Text 44"/>
          <p:cNvSpPr txBox="1"/>
          <p:nvPr/>
        </p:nvSpPr>
        <p:spPr>
          <a:xfrm>
            <a:off x="1170432" y="5138928"/>
            <a:ext cx="932688" cy="457200"/>
          </a:xfrm>
          <a:prstGeom prst="rect">
            <a:avLst/>
          </a:prstGeom>
          <a:noFill/>
          <a:ln/>
        </p:spPr>
        <p:txBody>
          <a:bodyPr wrap="square" lIns="0" tIns="0" rIns="0" bIns="0" rtlCol="0" anchor="ctr"/>
          <a:lstStyle/>
          <a:p>
            <a:pPr algn="l" indent="0" marL="0">
              <a:buNone/>
            </a:pPr>
            <a:r>
              <a:rPr lang="en-US" sz="900" b="1" dirty="0">
                <a:solidFill>
                  <a:srgbClr val="1B2A49"/>
                </a:solidFill>
                <a:latin typeface="Meiryo UI" pitchFamily="34" charset="0"/>
                <a:ea typeface="Meiryo UI" pitchFamily="34" charset="-122"/>
                <a:cs typeface="Meiryo UI" pitchFamily="34" charset="-120"/>
              </a:rPr>
              <a:t>国Bの配信結果</a:t>
            </a:r>
            <a:endParaRPr lang="en-US" sz="900" dirty="0"/>
          </a:p>
        </p:txBody>
      </p:sp>
      <p:sp>
        <p:nvSpPr>
          <p:cNvPr id="59" name="Shape 45"/>
          <p:cNvSpPr/>
          <p:nvPr/>
        </p:nvSpPr>
        <p:spPr>
          <a:xfrm>
            <a:off x="2194560" y="5367528"/>
            <a:ext cx="502920" cy="0"/>
          </a:xfrm>
          <a:prstGeom prst="line">
            <a:avLst/>
          </a:prstGeom>
          <a:noFill/>
          <a:ln w="22225">
            <a:solidFill>
              <a:srgbClr val="9AA5B4"/>
            </a:solidFill>
            <a:prstDash val="solid"/>
            <a:tailEnd type="triangle"/>
          </a:ln>
        </p:spPr>
      </p:sp>
      <p:sp>
        <p:nvSpPr>
          <p:cNvPr id="60" name="Shape 46"/>
          <p:cNvSpPr/>
          <p:nvPr/>
        </p:nvSpPr>
        <p:spPr>
          <a:xfrm>
            <a:off x="731520" y="5705856"/>
            <a:ext cx="1417320" cy="457200"/>
          </a:xfrm>
          <a:prstGeom prst="roundRect">
            <a:avLst>
              <a:gd name="adj" fmla="val 16000"/>
            </a:avLst>
          </a:prstGeom>
          <a:solidFill>
            <a:srgbClr val="FFFFFF"/>
          </a:solidFill>
          <a:ln w="12700">
            <a:solidFill>
              <a:srgbClr val="D5DBE3"/>
            </a:solidFill>
            <a:prstDash val="solid"/>
          </a:ln>
        </p:spPr>
      </p:sp>
      <p:pic>
        <p:nvPicPr>
          <p:cNvPr id="61" name="Image 12" descr="preencoded.png">    </p:cNvPr>
          <p:cNvPicPr>
            <a:picLocks noChangeAspect="1"/>
          </p:cNvPicPr>
          <p:nvPr/>
        </p:nvPicPr>
        <p:blipFill>
          <a:blip r:embed="rId13"/>
          <a:stretch>
            <a:fillRect/>
          </a:stretch>
        </p:blipFill>
        <p:spPr>
          <a:xfrm>
            <a:off x="841248" y="5815584"/>
            <a:ext cx="237744" cy="237744"/>
          </a:xfrm>
          <a:prstGeom prst="rect">
            <a:avLst/>
          </a:prstGeom>
        </p:spPr>
      </p:pic>
      <p:sp>
        <p:nvSpPr>
          <p:cNvPr id="62" name="Text 47"/>
          <p:cNvSpPr txBox="1"/>
          <p:nvPr/>
        </p:nvSpPr>
        <p:spPr>
          <a:xfrm>
            <a:off x="1170432" y="5705856"/>
            <a:ext cx="932688" cy="457200"/>
          </a:xfrm>
          <a:prstGeom prst="rect">
            <a:avLst/>
          </a:prstGeom>
          <a:noFill/>
          <a:ln/>
        </p:spPr>
        <p:txBody>
          <a:bodyPr wrap="square" lIns="0" tIns="0" rIns="0" bIns="0" rtlCol="0" anchor="ctr"/>
          <a:lstStyle/>
          <a:p>
            <a:pPr algn="l" indent="0" marL="0">
              <a:buNone/>
            </a:pPr>
            <a:r>
              <a:rPr lang="en-US" sz="900" b="1" dirty="0">
                <a:solidFill>
                  <a:srgbClr val="1B2A49"/>
                </a:solidFill>
                <a:latin typeface="Meiryo UI" pitchFamily="34" charset="0"/>
                <a:ea typeface="Meiryo UI" pitchFamily="34" charset="-122"/>
                <a:cs typeface="Meiryo UI" pitchFamily="34" charset="-120"/>
              </a:rPr>
              <a:t>国Cの配信結果</a:t>
            </a:r>
            <a:endParaRPr lang="en-US" sz="900" dirty="0"/>
          </a:p>
        </p:txBody>
      </p:sp>
      <p:sp>
        <p:nvSpPr>
          <p:cNvPr id="63" name="Shape 48"/>
          <p:cNvSpPr/>
          <p:nvPr/>
        </p:nvSpPr>
        <p:spPr>
          <a:xfrm flipV="1">
            <a:off x="2194560" y="5367528"/>
            <a:ext cx="502920" cy="566928"/>
          </a:xfrm>
          <a:prstGeom prst="line">
            <a:avLst/>
          </a:prstGeom>
          <a:noFill/>
          <a:ln w="22225">
            <a:solidFill>
              <a:srgbClr val="9AA5B4"/>
            </a:solidFill>
            <a:prstDash val="solid"/>
            <a:tailEnd type="triangle"/>
          </a:ln>
        </p:spPr>
      </p:sp>
      <p:sp>
        <p:nvSpPr>
          <p:cNvPr id="64" name="Text 49"/>
          <p:cNvSpPr txBox="1"/>
          <p:nvPr/>
        </p:nvSpPr>
        <p:spPr>
          <a:xfrm>
            <a:off x="2103120" y="4480560"/>
            <a:ext cx="822960" cy="365760"/>
          </a:xfrm>
          <a:prstGeom prst="rect">
            <a:avLst/>
          </a:prstGeom>
          <a:noFill/>
          <a:ln/>
        </p:spPr>
        <p:txBody>
          <a:bodyPr wrap="square" lIns="0" tIns="0" rIns="0" bIns="0" rtlCol="0" anchor="t"/>
          <a:lstStyle/>
          <a:p>
            <a:pPr algn="ctr" indent="0" marL="0">
              <a:buNone/>
            </a:pPr>
            <a:r>
              <a:rPr lang="en-US" sz="750" b="1" dirty="0">
                <a:solidFill>
                  <a:srgbClr val="0E9F9A"/>
                </a:solidFill>
                <a:latin typeface="Meiryo UI" pitchFamily="34" charset="0"/>
                <a:ea typeface="Meiryo UI" pitchFamily="34" charset="-122"/>
                <a:cs typeface="Meiryo UI" pitchFamily="34" charset="-120"/>
              </a:rPr>
              <a:t>良かったものを</a:t>
            </a:r>
            <a:endParaRPr lang="en-US" sz="750" dirty="0"/>
          </a:p>
          <a:p>
            <a:pPr algn="ctr" indent="0" marL="0">
              <a:buNone/>
            </a:pPr>
            <a:r>
              <a:rPr lang="en-US" sz="750" b="1" dirty="0">
                <a:solidFill>
                  <a:srgbClr val="0E9F9A"/>
                </a:solidFill>
                <a:latin typeface="Meiryo UI" pitchFamily="34" charset="0"/>
                <a:ea typeface="Meiryo UI" pitchFamily="34" charset="-122"/>
                <a:cs typeface="Meiryo UI" pitchFamily="34" charset="-120"/>
              </a:rPr>
              <a:t>選んで登録</a:t>
            </a:r>
            <a:endParaRPr lang="en-US" sz="750" dirty="0"/>
          </a:p>
        </p:txBody>
      </p:sp>
      <p:sp>
        <p:nvSpPr>
          <p:cNvPr id="65" name="Shape 50"/>
          <p:cNvSpPr/>
          <p:nvPr/>
        </p:nvSpPr>
        <p:spPr>
          <a:xfrm>
            <a:off x="2743200" y="4892040"/>
            <a:ext cx="1737360" cy="960120"/>
          </a:xfrm>
          <a:prstGeom prst="roundRect">
            <a:avLst>
              <a:gd name="adj" fmla="val 7619"/>
            </a:avLst>
          </a:prstGeom>
          <a:solidFill>
            <a:srgbClr val="0E9F9A"/>
          </a:solidFill>
          <a:ln/>
        </p:spPr>
      </p:sp>
      <p:sp>
        <p:nvSpPr>
          <p:cNvPr id="66" name="Shape 51"/>
          <p:cNvSpPr/>
          <p:nvPr/>
        </p:nvSpPr>
        <p:spPr>
          <a:xfrm>
            <a:off x="2816352" y="5116068"/>
            <a:ext cx="512064" cy="512064"/>
          </a:xfrm>
          <a:prstGeom prst="ellipse">
            <a:avLst/>
          </a:prstGeom>
          <a:solidFill>
            <a:srgbClr val="FFFFFF"/>
          </a:solidFill>
          <a:ln/>
        </p:spPr>
      </p:sp>
      <p:pic>
        <p:nvPicPr>
          <p:cNvPr id="67" name="Image 13" descr="preencoded.png">    </p:cNvPr>
          <p:cNvPicPr>
            <a:picLocks noChangeAspect="1"/>
          </p:cNvPicPr>
          <p:nvPr/>
        </p:nvPicPr>
        <p:blipFill>
          <a:blip r:embed="rId14"/>
          <a:stretch>
            <a:fillRect/>
          </a:stretch>
        </p:blipFill>
        <p:spPr>
          <a:xfrm>
            <a:off x="2889504" y="5189220"/>
            <a:ext cx="365760" cy="365760"/>
          </a:xfrm>
          <a:prstGeom prst="rect">
            <a:avLst/>
          </a:prstGeom>
        </p:spPr>
      </p:pic>
      <p:sp>
        <p:nvSpPr>
          <p:cNvPr id="68" name="Text 52"/>
          <p:cNvSpPr txBox="1"/>
          <p:nvPr/>
        </p:nvSpPr>
        <p:spPr>
          <a:xfrm>
            <a:off x="3474720" y="4892040"/>
            <a:ext cx="960120" cy="960120"/>
          </a:xfrm>
          <a:prstGeom prst="rect">
            <a:avLst/>
          </a:prstGeom>
          <a:noFill/>
          <a:ln/>
        </p:spPr>
        <p:txBody>
          <a:bodyPr wrap="square" lIns="0" tIns="0" rIns="0" bIns="0" rtlCol="0" anchor="ctr"/>
          <a:lstStyle/>
          <a:p>
            <a:pPr algn="l" indent="0" marL="0">
              <a:buNone/>
            </a:pPr>
            <a:r>
              <a:rPr lang="en-US" sz="1000" b="1" dirty="0">
                <a:solidFill>
                  <a:srgbClr val="FFFFFF"/>
                </a:solidFill>
                <a:latin typeface="Meiryo UI" pitchFamily="34" charset="0"/>
                <a:ea typeface="Meiryo UI" pitchFamily="34" charset="-122"/>
                <a:cs typeface="Meiryo UI" pitchFamily="34" charset="-120"/>
              </a:rPr>
              <a:t>好事例ライブラリ</a:t>
            </a:r>
            <a:endParaRPr lang="en-US" sz="1000" dirty="0"/>
          </a:p>
          <a:p>
            <a:pPr algn="l" indent="0" marL="0">
              <a:buNone/>
            </a:pPr>
            <a:r>
              <a:rPr lang="en-US" sz="800" dirty="0">
                <a:solidFill>
                  <a:srgbClr val="E6F2F2"/>
                </a:solidFill>
                <a:latin typeface="Meiryo UI" pitchFamily="34" charset="0"/>
                <a:ea typeface="Meiryo UI" pitchFamily="34" charset="-122"/>
                <a:cs typeface="Meiryo UI" pitchFamily="34" charset="-120"/>
              </a:rPr>
              <a:t>テーマ・コピー・制作指示と反応</a:t>
            </a:r>
            <a:endParaRPr lang="en-US" sz="1000" dirty="0"/>
          </a:p>
        </p:txBody>
      </p:sp>
      <p:sp>
        <p:nvSpPr>
          <p:cNvPr id="69" name="Shape 53"/>
          <p:cNvSpPr/>
          <p:nvPr/>
        </p:nvSpPr>
        <p:spPr>
          <a:xfrm>
            <a:off x="4526280" y="5367528"/>
            <a:ext cx="365760" cy="0"/>
          </a:xfrm>
          <a:prstGeom prst="line">
            <a:avLst/>
          </a:prstGeom>
          <a:noFill/>
          <a:ln w="25400">
            <a:solidFill>
              <a:srgbClr val="1B2A49"/>
            </a:solidFill>
            <a:prstDash val="solid"/>
            <a:tailEnd type="triangle"/>
          </a:ln>
        </p:spPr>
      </p:sp>
      <p:sp>
        <p:nvSpPr>
          <p:cNvPr id="70" name="Shape 54"/>
          <p:cNvSpPr/>
          <p:nvPr/>
        </p:nvSpPr>
        <p:spPr>
          <a:xfrm>
            <a:off x="4937760" y="4572000"/>
            <a:ext cx="2148840" cy="731520"/>
          </a:xfrm>
          <a:prstGeom prst="roundRect">
            <a:avLst>
              <a:gd name="adj" fmla="val 10000"/>
            </a:avLst>
          </a:prstGeom>
          <a:solidFill>
            <a:srgbClr val="FFFFFF"/>
          </a:solidFill>
          <a:ln w="12700">
            <a:solidFill>
              <a:srgbClr val="D5DBE3"/>
            </a:solidFill>
            <a:prstDash val="solid"/>
          </a:ln>
        </p:spPr>
      </p:sp>
      <p:pic>
        <p:nvPicPr>
          <p:cNvPr id="71" name="Image 14" descr="preencoded.png">    </p:cNvPr>
          <p:cNvPicPr>
            <a:picLocks noChangeAspect="1"/>
          </p:cNvPicPr>
          <p:nvPr/>
        </p:nvPicPr>
        <p:blipFill>
          <a:blip r:embed="rId15"/>
          <a:stretch>
            <a:fillRect/>
          </a:stretch>
        </p:blipFill>
        <p:spPr>
          <a:xfrm>
            <a:off x="5047488" y="4754880"/>
            <a:ext cx="365760" cy="365760"/>
          </a:xfrm>
          <a:prstGeom prst="rect">
            <a:avLst/>
          </a:prstGeom>
        </p:spPr>
      </p:pic>
      <p:sp>
        <p:nvSpPr>
          <p:cNvPr id="72" name="Text 55"/>
          <p:cNvSpPr txBox="1"/>
          <p:nvPr/>
        </p:nvSpPr>
        <p:spPr>
          <a:xfrm>
            <a:off x="5504688" y="4572000"/>
            <a:ext cx="1536192" cy="731520"/>
          </a:xfrm>
          <a:prstGeom prst="rect">
            <a:avLst/>
          </a:prstGeom>
          <a:noFill/>
          <a:ln/>
        </p:spPr>
        <p:txBody>
          <a:bodyPr wrap="square" lIns="0" tIns="0" rIns="0" bIns="0" rtlCol="0" anchor="ctr"/>
          <a:lstStyle/>
          <a:p>
            <a:pPr algn="l" indent="0" marL="0">
              <a:buNone/>
            </a:pPr>
            <a:r>
              <a:rPr lang="en-US" sz="1000" b="1" dirty="0">
                <a:solidFill>
                  <a:srgbClr val="1B2A49"/>
                </a:solidFill>
                <a:latin typeface="Meiryo UI" pitchFamily="34" charset="0"/>
                <a:ea typeface="Meiryo UI" pitchFamily="34" charset="-122"/>
                <a:cs typeface="Meiryo UI" pitchFamily="34" charset="-120"/>
              </a:rPr>
              <a:t>各国のAI</a:t>
            </a:r>
            <a:endParaRPr lang="en-US" sz="1000" dirty="0"/>
          </a:p>
          <a:p>
            <a:pPr algn="l" indent="0" marL="0">
              <a:buNone/>
            </a:pPr>
            <a:r>
              <a:rPr lang="en-US" sz="800" dirty="0">
                <a:solidFill>
                  <a:srgbClr val="6B7280"/>
                </a:solidFill>
                <a:latin typeface="Meiryo UI" pitchFamily="34" charset="0"/>
                <a:ea typeface="Meiryo UI" pitchFamily="34" charset="-122"/>
                <a:cs typeface="Meiryo UI" pitchFamily="34" charset="-120"/>
              </a:rPr>
              <a:t>自国のデータ＋ライブラリを参照</a:t>
            </a:r>
            <a:endParaRPr lang="en-US" sz="1000" dirty="0"/>
          </a:p>
        </p:txBody>
      </p:sp>
      <p:sp>
        <p:nvSpPr>
          <p:cNvPr id="73" name="Shape 56"/>
          <p:cNvSpPr/>
          <p:nvPr/>
        </p:nvSpPr>
        <p:spPr>
          <a:xfrm>
            <a:off x="4937760" y="5440680"/>
            <a:ext cx="2148840" cy="731520"/>
          </a:xfrm>
          <a:prstGeom prst="roundRect">
            <a:avLst>
              <a:gd name="adj" fmla="val 10000"/>
            </a:avLst>
          </a:prstGeom>
          <a:solidFill>
            <a:srgbClr val="FFFFFF"/>
          </a:solidFill>
          <a:ln w="12700">
            <a:solidFill>
              <a:srgbClr val="D5DBE3"/>
            </a:solidFill>
            <a:prstDash val="solid"/>
          </a:ln>
        </p:spPr>
      </p:sp>
      <p:pic>
        <p:nvPicPr>
          <p:cNvPr id="74" name="Image 15" descr="preencoded.png">    </p:cNvPr>
          <p:cNvPicPr>
            <a:picLocks noChangeAspect="1"/>
          </p:cNvPicPr>
          <p:nvPr/>
        </p:nvPicPr>
        <p:blipFill>
          <a:blip r:embed="rId16"/>
          <a:stretch>
            <a:fillRect/>
          </a:stretch>
        </p:blipFill>
        <p:spPr>
          <a:xfrm>
            <a:off x="5047488" y="5623560"/>
            <a:ext cx="365760" cy="365760"/>
          </a:xfrm>
          <a:prstGeom prst="rect">
            <a:avLst/>
          </a:prstGeom>
        </p:spPr>
      </p:pic>
      <p:sp>
        <p:nvSpPr>
          <p:cNvPr id="75" name="Text 57"/>
          <p:cNvSpPr txBox="1"/>
          <p:nvPr/>
        </p:nvSpPr>
        <p:spPr>
          <a:xfrm>
            <a:off x="5504688" y="5440680"/>
            <a:ext cx="1536192" cy="731520"/>
          </a:xfrm>
          <a:prstGeom prst="rect">
            <a:avLst/>
          </a:prstGeom>
          <a:noFill/>
          <a:ln/>
        </p:spPr>
        <p:txBody>
          <a:bodyPr wrap="square" lIns="0" tIns="0" rIns="0" bIns="0" rtlCol="0" anchor="ctr"/>
          <a:lstStyle/>
          <a:p>
            <a:pPr algn="l" indent="0" marL="0">
              <a:buNone/>
            </a:pPr>
            <a:r>
              <a:rPr lang="en-US" sz="1000" b="1" dirty="0">
                <a:solidFill>
                  <a:srgbClr val="1B2A49"/>
                </a:solidFill>
                <a:latin typeface="Meiryo UI" pitchFamily="34" charset="0"/>
                <a:ea typeface="Meiryo UI" pitchFamily="34" charset="-122"/>
                <a:cs typeface="Meiryo UI" pitchFamily="34" charset="-120"/>
              </a:rPr>
              <a:t>言語</a:t>
            </a:r>
            <a:endParaRPr lang="en-US" sz="1000" dirty="0"/>
          </a:p>
          <a:p>
            <a:pPr algn="l" indent="0" marL="0">
              <a:buNone/>
            </a:pPr>
            <a:r>
              <a:rPr lang="en-US" sz="800" dirty="0">
                <a:solidFill>
                  <a:srgbClr val="6B7280"/>
                </a:solidFill>
                <a:latin typeface="Meiryo UI" pitchFamily="34" charset="0"/>
                <a:ea typeface="Meiryo UI" pitchFamily="34" charset="-122"/>
                <a:cs typeface="Meiryo UI" pitchFamily="34" charset="-120"/>
              </a:rPr>
              <a:t>必要に応じてAIが翻訳して参照</a:t>
            </a:r>
            <a:endParaRPr lang="en-US" sz="1000" dirty="0"/>
          </a:p>
        </p:txBody>
      </p:sp>
      <p:sp>
        <p:nvSpPr>
          <p:cNvPr id="76" name="Shape 58"/>
          <p:cNvSpPr/>
          <p:nvPr/>
        </p:nvSpPr>
        <p:spPr>
          <a:xfrm>
            <a:off x="7406640" y="4114800"/>
            <a:ext cx="4206240" cy="2212848"/>
          </a:xfrm>
          <a:prstGeom prst="roundRect">
            <a:avLst>
              <a:gd name="adj" fmla="val 2479"/>
            </a:avLst>
          </a:prstGeom>
          <a:solidFill>
            <a:srgbClr val="F3F5F8"/>
          </a:solidFill>
          <a:ln/>
        </p:spPr>
      </p:sp>
      <p:sp>
        <p:nvSpPr>
          <p:cNvPr id="77" name="Text 59"/>
          <p:cNvSpPr txBox="1"/>
          <p:nvPr/>
        </p:nvSpPr>
        <p:spPr>
          <a:xfrm>
            <a:off x="7589520" y="4178808"/>
            <a:ext cx="3840480" cy="310896"/>
          </a:xfrm>
          <a:prstGeom prst="rect">
            <a:avLst/>
          </a:prstGeom>
          <a:noFill/>
          <a:ln/>
        </p:spPr>
        <p:txBody>
          <a:bodyPr wrap="square" lIns="508" tIns="508" rIns="508" bIns="508" rtlCol="0" anchor="ctr"/>
          <a:lstStyle/>
          <a:p>
            <a:pPr indent="0" marL="0">
              <a:buNone/>
            </a:pPr>
            <a:r>
              <a:rPr lang="en-US" sz="1200" b="1" dirty="0">
                <a:solidFill>
                  <a:srgbClr val="1B2A49"/>
                </a:solidFill>
                <a:latin typeface="Meiryo UI" pitchFamily="34" charset="0"/>
                <a:ea typeface="Meiryo UI" pitchFamily="34" charset="-122"/>
                <a:cs typeface="Meiryo UI" pitchFamily="34" charset="-120"/>
              </a:rPr>
              <a:t>各基盤での実現方法</a:t>
            </a:r>
            <a:endParaRPr lang="en-US" sz="1200" dirty="0"/>
          </a:p>
        </p:txBody>
      </p:sp>
      <p:pic>
        <p:nvPicPr>
          <p:cNvPr id="78" name="Image 16" descr="preencoded.png">    </p:cNvPr>
          <p:cNvPicPr>
            <a:picLocks noChangeAspect="1"/>
          </p:cNvPicPr>
          <p:nvPr/>
        </p:nvPicPr>
        <p:blipFill>
          <a:blip r:embed="rId17"/>
          <a:stretch>
            <a:fillRect/>
          </a:stretch>
        </p:blipFill>
        <p:spPr>
          <a:xfrm>
            <a:off x="7589520" y="4590288"/>
            <a:ext cx="256032" cy="256032"/>
          </a:xfrm>
          <a:prstGeom prst="rect">
            <a:avLst/>
          </a:prstGeom>
        </p:spPr>
      </p:pic>
      <p:sp>
        <p:nvSpPr>
          <p:cNvPr id="79" name="Text 60"/>
          <p:cNvSpPr txBox="1"/>
          <p:nvPr/>
        </p:nvSpPr>
        <p:spPr>
          <a:xfrm>
            <a:off x="7936992" y="4553712"/>
            <a:ext cx="3611880" cy="347472"/>
          </a:xfrm>
          <a:prstGeom prst="rect">
            <a:avLst/>
          </a:prstGeom>
          <a:noFill/>
          <a:ln/>
        </p:spPr>
        <p:txBody>
          <a:bodyPr wrap="square" lIns="0" tIns="0" rIns="0" bIns="0" rtlCol="0" anchor="ctr"/>
          <a:lstStyle/>
          <a:p>
            <a:pPr indent="0" marL="0">
              <a:buNone/>
            </a:pPr>
            <a:r>
              <a:rPr lang="en-US" sz="900" dirty="0">
                <a:solidFill>
                  <a:srgbClr val="2B2B2B"/>
                </a:solidFill>
                <a:latin typeface="Meiryo UI" pitchFamily="34" charset="0"/>
                <a:ea typeface="Meiryo UI" pitchFamily="34" charset="-122"/>
                <a:cs typeface="Meiryo UI" pitchFamily="34" charset="-120"/>
              </a:rPr>
              <a:t>M365：国別サイト＋共通の好事例サイト（参照は権限の範囲）</a:t>
            </a:r>
            <a:endParaRPr lang="en-US" sz="900" dirty="0"/>
          </a:p>
        </p:txBody>
      </p:sp>
      <p:pic>
        <p:nvPicPr>
          <p:cNvPr id="80" name="Image 17" descr="preencoded.png">    </p:cNvPr>
          <p:cNvPicPr>
            <a:picLocks noChangeAspect="1"/>
          </p:cNvPicPr>
          <p:nvPr/>
        </p:nvPicPr>
        <p:blipFill>
          <a:blip r:embed="rId18"/>
          <a:stretch>
            <a:fillRect/>
          </a:stretch>
        </p:blipFill>
        <p:spPr>
          <a:xfrm>
            <a:off x="7589520" y="5010912"/>
            <a:ext cx="256032" cy="256032"/>
          </a:xfrm>
          <a:prstGeom prst="rect">
            <a:avLst/>
          </a:prstGeom>
        </p:spPr>
      </p:pic>
      <p:sp>
        <p:nvSpPr>
          <p:cNvPr id="81" name="Text 61"/>
          <p:cNvSpPr txBox="1"/>
          <p:nvPr/>
        </p:nvSpPr>
        <p:spPr>
          <a:xfrm>
            <a:off x="7936992" y="4974336"/>
            <a:ext cx="3611880" cy="347472"/>
          </a:xfrm>
          <a:prstGeom prst="rect">
            <a:avLst/>
          </a:prstGeom>
          <a:noFill/>
          <a:ln/>
        </p:spPr>
        <p:txBody>
          <a:bodyPr wrap="square" lIns="0" tIns="0" rIns="0" bIns="0" rtlCol="0" anchor="ctr"/>
          <a:lstStyle/>
          <a:p>
            <a:pPr indent="0" marL="0">
              <a:buNone/>
            </a:pPr>
            <a:r>
              <a:rPr lang="en-US" sz="900" dirty="0">
                <a:solidFill>
                  <a:srgbClr val="2B2B2B"/>
                </a:solidFill>
                <a:latin typeface="Meiryo UI" pitchFamily="34" charset="0"/>
                <a:ea typeface="Meiryo UI" pitchFamily="34" charset="-122"/>
                <a:cs typeface="Meiryo UI" pitchFamily="34" charset="-120"/>
              </a:rPr>
              <a:t>Airtable：国別ベース＋好事例を集めた共通ベース</a:t>
            </a:r>
            <a:endParaRPr lang="en-US" sz="900" dirty="0"/>
          </a:p>
        </p:txBody>
      </p:sp>
      <p:pic>
        <p:nvPicPr>
          <p:cNvPr id="82" name="Image 18" descr="preencoded.png">    </p:cNvPr>
          <p:cNvPicPr>
            <a:picLocks noChangeAspect="1"/>
          </p:cNvPicPr>
          <p:nvPr/>
        </p:nvPicPr>
        <p:blipFill>
          <a:blip r:embed="rId19"/>
          <a:stretch>
            <a:fillRect/>
          </a:stretch>
        </p:blipFill>
        <p:spPr>
          <a:xfrm>
            <a:off x="7589520" y="5431536"/>
            <a:ext cx="256032" cy="256032"/>
          </a:xfrm>
          <a:prstGeom prst="rect">
            <a:avLst/>
          </a:prstGeom>
        </p:spPr>
      </p:pic>
      <p:sp>
        <p:nvSpPr>
          <p:cNvPr id="83" name="Text 62"/>
          <p:cNvSpPr txBox="1"/>
          <p:nvPr/>
        </p:nvSpPr>
        <p:spPr>
          <a:xfrm>
            <a:off x="7936992" y="5394960"/>
            <a:ext cx="3611880" cy="347472"/>
          </a:xfrm>
          <a:prstGeom prst="rect">
            <a:avLst/>
          </a:prstGeom>
          <a:noFill/>
          <a:ln/>
        </p:spPr>
        <p:txBody>
          <a:bodyPr wrap="square" lIns="0" tIns="0" rIns="0" bIns="0" rtlCol="0" anchor="ctr"/>
          <a:lstStyle/>
          <a:p>
            <a:pPr indent="0" marL="0">
              <a:buNone/>
            </a:pPr>
            <a:r>
              <a:rPr lang="en-US" sz="900" dirty="0">
                <a:solidFill>
                  <a:srgbClr val="2B2B2B"/>
                </a:solidFill>
                <a:latin typeface="Meiryo UI" pitchFamily="34" charset="0"/>
                <a:ea typeface="Meiryo UI" pitchFamily="34" charset="-122"/>
                <a:cs typeface="Meiryo UI" pitchFamily="34" charset="-120"/>
              </a:rPr>
              <a:t>GCP：国別データセット＋共通データセット</a:t>
            </a:r>
            <a:endParaRPr lang="en-US" sz="900" dirty="0"/>
          </a:p>
        </p:txBody>
      </p:sp>
      <p:pic>
        <p:nvPicPr>
          <p:cNvPr id="84" name="Image 19" descr="preencoded.png">    </p:cNvPr>
          <p:cNvPicPr>
            <a:picLocks noChangeAspect="1"/>
          </p:cNvPicPr>
          <p:nvPr/>
        </p:nvPicPr>
        <p:blipFill>
          <a:blip r:embed="rId20"/>
          <a:stretch>
            <a:fillRect/>
          </a:stretch>
        </p:blipFill>
        <p:spPr>
          <a:xfrm>
            <a:off x="7589520" y="5852160"/>
            <a:ext cx="256032" cy="256032"/>
          </a:xfrm>
          <a:prstGeom prst="rect">
            <a:avLst/>
          </a:prstGeom>
        </p:spPr>
      </p:pic>
      <p:sp>
        <p:nvSpPr>
          <p:cNvPr id="85" name="Text 63"/>
          <p:cNvSpPr txBox="1"/>
          <p:nvPr/>
        </p:nvSpPr>
        <p:spPr>
          <a:xfrm>
            <a:off x="7936992" y="5815584"/>
            <a:ext cx="3611880" cy="347472"/>
          </a:xfrm>
          <a:prstGeom prst="rect">
            <a:avLst/>
          </a:prstGeom>
          <a:noFill/>
          <a:ln/>
        </p:spPr>
        <p:txBody>
          <a:bodyPr wrap="square" lIns="0" tIns="0" rIns="0" bIns="0" rtlCol="0" anchor="ctr"/>
          <a:lstStyle/>
          <a:p>
            <a:pPr indent="0" marL="0">
              <a:buNone/>
            </a:pPr>
            <a:r>
              <a:rPr lang="en-US" sz="900" dirty="0">
                <a:solidFill>
                  <a:srgbClr val="2B2B2B"/>
                </a:solidFill>
                <a:latin typeface="Meiryo UI" pitchFamily="34" charset="0"/>
                <a:ea typeface="Meiryo UI" pitchFamily="34" charset="-122"/>
                <a:cs typeface="Meiryo UI" pitchFamily="34" charset="-120"/>
              </a:rPr>
              <a:t>仕組み：プロンプト・フロー・ガイドラインの型をテンプレートとして配布</a:t>
            </a:r>
            <a:endParaRPr lang="en-US" sz="900" dirty="0"/>
          </a:p>
        </p:txBody>
      </p:sp>
      <p:sp>
        <p:nvSpPr>
          <p:cNvPr id="86" name="Text 64"/>
          <p:cNvSpPr txBox="1"/>
          <p:nvPr/>
        </p:nvSpPr>
        <p:spPr>
          <a:xfrm>
            <a:off x="548640" y="6355080"/>
            <a:ext cx="11064240" cy="228600"/>
          </a:xfrm>
          <a:prstGeom prst="rect">
            <a:avLst/>
          </a:prstGeom>
          <a:noFill/>
          <a:ln/>
        </p:spPr>
        <p:txBody>
          <a:bodyPr wrap="square" lIns="0" tIns="0" rIns="0" bIns="0" rtlCol="0" anchor="t"/>
          <a:lstStyle/>
          <a:p>
            <a:pPr indent="0" marL="0">
              <a:buNone/>
            </a:pPr>
            <a:r>
              <a:rPr lang="en-US" sz="850" dirty="0">
                <a:solidFill>
                  <a:srgbClr val="6B7280"/>
                </a:solidFill>
                <a:latin typeface="Meiryo UI" pitchFamily="34" charset="0"/>
                <a:ea typeface="Meiryo UI" pitchFamily="34" charset="-122"/>
                <a:cs typeface="Meiryo UI" pitchFamily="34" charset="-120"/>
              </a:rPr>
              <a:t>前提：配信データに個人情報は含まれないため、国をまたいだ共有の制約は小さい</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548640"/>
          </a:xfrm>
          <a:prstGeom prst="rect">
            <a:avLst/>
          </a:prstGeom>
          <a:noFill/>
          <a:ln/>
        </p:spPr>
        <p:txBody>
          <a:bodyPr wrap="square" lIns="0" tIns="0" rIns="0" bIns="0" rtlCol="0" anchor="ctr"/>
          <a:lstStyle/>
          <a:p>
            <a:pPr indent="0" marL="0">
              <a:buNone/>
            </a:pPr>
            <a:r>
              <a:rPr lang="en-US" sz="2600" b="1" dirty="0">
                <a:solidFill>
                  <a:srgbClr val="1B2A49"/>
                </a:solidFill>
                <a:latin typeface="Meiryo UI" pitchFamily="34" charset="0"/>
                <a:ea typeface="Meiryo UI" pitchFamily="34" charset="-122"/>
                <a:cs typeface="Meiryo UI" pitchFamily="34" charset="-120"/>
              </a:rPr>
              <a:t>構成パターンの全体像（12案）</a:t>
            </a:r>
            <a:endParaRPr lang="en-US" sz="2600" dirty="0"/>
          </a:p>
        </p:txBody>
      </p:sp>
      <p:sp>
        <p:nvSpPr>
          <p:cNvPr id="3" name="Text 1"/>
          <p:cNvSpPr txBox="1"/>
          <p:nvPr/>
        </p:nvSpPr>
        <p:spPr>
          <a:xfrm>
            <a:off x="548640" y="896112"/>
            <a:ext cx="11064240" cy="365760"/>
          </a:xfrm>
          <a:prstGeom prst="rect">
            <a:avLst/>
          </a:prstGeom>
          <a:noFill/>
          <a:ln/>
        </p:spPr>
        <p:txBody>
          <a:bodyPr wrap="square" lIns="0" tIns="0" rIns="0" bIns="0" rtlCol="0" anchor="ctr"/>
          <a:lstStyle/>
          <a:p>
            <a:pPr indent="0" marL="0">
              <a:buNone/>
            </a:pPr>
            <a:r>
              <a:rPr lang="en-US" sz="1400" dirty="0">
                <a:solidFill>
                  <a:srgbClr val="6B7280"/>
                </a:solidFill>
                <a:latin typeface="Meiryo UI" pitchFamily="34" charset="0"/>
                <a:ea typeface="Meiryo UI" pitchFamily="34" charset="-122"/>
                <a:cs typeface="Meiryo UI" pitchFamily="34" charset="-120"/>
              </a:rPr>
              <a:t>軸1（集約先）× 軸3（自動化の範囲）で整理。軸2（管理基盤）は各パターンに付記。軸4（展開の単位）はどのパターンとも組み合わせられる</a:t>
            </a:r>
            <a:endParaRPr lang="en-US" sz="1400" dirty="0"/>
          </a:p>
        </p:txBody>
      </p:sp>
      <p:sp>
        <p:nvSpPr>
          <p:cNvPr id="4" name="Text 2"/>
          <p:cNvSpPr txBox="1"/>
          <p:nvPr/>
        </p:nvSpPr>
        <p:spPr>
          <a:xfrm>
            <a:off x="7498080" y="91440"/>
            <a:ext cx="4114800" cy="22860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2. 構成パターンの全体像と比較</a:t>
            </a:r>
            <a:endParaRPr lang="en-US" sz="900" dirty="0"/>
          </a:p>
        </p:txBody>
      </p:sp>
      <p:sp>
        <p:nvSpPr>
          <p:cNvPr id="5" name="Text 3"/>
          <p:cNvSpPr txBox="1"/>
          <p:nvPr/>
        </p:nvSpPr>
        <p:spPr>
          <a:xfrm>
            <a:off x="11247120" y="6446520"/>
            <a:ext cx="457200" cy="27432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10</a:t>
            </a:r>
            <a:endParaRPr lang="en-US" sz="900" dirty="0"/>
          </a:p>
        </p:txBody>
      </p:sp>
      <p:sp>
        <p:nvSpPr>
          <p:cNvPr id="6" name="Shape 4"/>
          <p:cNvSpPr/>
          <p:nvPr/>
        </p:nvSpPr>
        <p:spPr>
          <a:xfrm>
            <a:off x="2286000" y="1371600"/>
            <a:ext cx="2240280" cy="502920"/>
          </a:xfrm>
          <a:prstGeom prst="roundRect">
            <a:avLst>
              <a:gd name="adj" fmla="val 14545"/>
            </a:avLst>
          </a:prstGeom>
          <a:solidFill>
            <a:srgbClr val="1B2A49"/>
          </a:solidFill>
          <a:ln/>
        </p:spPr>
      </p:sp>
      <p:sp>
        <p:nvSpPr>
          <p:cNvPr id="7" name="Text 5"/>
          <p:cNvSpPr txBox="1"/>
          <p:nvPr/>
        </p:nvSpPr>
        <p:spPr>
          <a:xfrm>
            <a:off x="2286000" y="1371600"/>
            <a:ext cx="2240280" cy="502920"/>
          </a:xfrm>
          <a:prstGeom prst="rect">
            <a:avLst/>
          </a:prstGeom>
          <a:noFill/>
          <a:ln/>
        </p:spPr>
        <p:txBody>
          <a:bodyPr wrap="square" lIns="762" tIns="762" rIns="762" bIns="762" rtlCol="0" anchor="ctr"/>
          <a:lstStyle/>
          <a:p>
            <a:pPr algn="ctr" indent="0" marL="0">
              <a:buNone/>
            </a:pPr>
            <a:r>
              <a:rPr lang="en-US" sz="1000" b="1" dirty="0">
                <a:solidFill>
                  <a:srgbClr val="FFFFFF"/>
                </a:solidFill>
                <a:latin typeface="Meiryo UI" pitchFamily="34" charset="0"/>
                <a:ea typeface="Meiryo UI" pitchFamily="34" charset="-122"/>
                <a:cs typeface="Meiryo UI" pitchFamily="34" charset="-120"/>
              </a:rPr>
              <a:t>Step1〜2</a:t>
            </a:r>
            <a:endParaRPr lang="en-US" sz="1000" dirty="0"/>
          </a:p>
          <a:p>
            <a:pPr algn="ctr" indent="0" marL="0">
              <a:buNone/>
            </a:pPr>
            <a:r>
              <a:rPr lang="en-US" sz="1000" b="1" dirty="0">
                <a:solidFill>
                  <a:srgbClr val="FFFFFF"/>
                </a:solidFill>
                <a:latin typeface="Meiryo UI" pitchFamily="34" charset="0"/>
                <a:ea typeface="Meiryo UI" pitchFamily="34" charset="-122"/>
                <a:cs typeface="Meiryo UI" pitchFamily="34" charset="-120"/>
              </a:rPr>
              <a:t>手動アシスト・簡易エージェント</a:t>
            </a:r>
            <a:endParaRPr lang="en-US" sz="1000" dirty="0"/>
          </a:p>
        </p:txBody>
      </p:sp>
      <p:sp>
        <p:nvSpPr>
          <p:cNvPr id="8" name="Shape 6"/>
          <p:cNvSpPr/>
          <p:nvPr/>
        </p:nvSpPr>
        <p:spPr>
          <a:xfrm>
            <a:off x="4617720" y="1371600"/>
            <a:ext cx="2240280" cy="502920"/>
          </a:xfrm>
          <a:prstGeom prst="roundRect">
            <a:avLst>
              <a:gd name="adj" fmla="val 14545"/>
            </a:avLst>
          </a:prstGeom>
          <a:solidFill>
            <a:srgbClr val="1B2A49"/>
          </a:solidFill>
          <a:ln/>
        </p:spPr>
      </p:sp>
      <p:sp>
        <p:nvSpPr>
          <p:cNvPr id="9" name="Text 7"/>
          <p:cNvSpPr txBox="1"/>
          <p:nvPr/>
        </p:nvSpPr>
        <p:spPr>
          <a:xfrm>
            <a:off x="4617720" y="1371600"/>
            <a:ext cx="2240280" cy="502920"/>
          </a:xfrm>
          <a:prstGeom prst="rect">
            <a:avLst/>
          </a:prstGeom>
          <a:noFill/>
          <a:ln/>
        </p:spPr>
        <p:txBody>
          <a:bodyPr wrap="square" lIns="762" tIns="762" rIns="762" bIns="762" rtlCol="0" anchor="ctr"/>
          <a:lstStyle/>
          <a:p>
            <a:pPr algn="ctr" indent="0" marL="0">
              <a:buNone/>
            </a:pPr>
            <a:r>
              <a:rPr lang="en-US" sz="1000" b="1" dirty="0">
                <a:solidFill>
                  <a:srgbClr val="FFFFFF"/>
                </a:solidFill>
                <a:latin typeface="Meiryo UI" pitchFamily="34" charset="0"/>
                <a:ea typeface="Meiryo UI" pitchFamily="34" charset="-122"/>
                <a:cs typeface="Meiryo UI" pitchFamily="34" charset="-120"/>
              </a:rPr>
              <a:t>Step2</a:t>
            </a:r>
            <a:endParaRPr lang="en-US" sz="1000" dirty="0"/>
          </a:p>
          <a:p>
            <a:pPr algn="ctr" indent="0" marL="0">
              <a:buNone/>
            </a:pPr>
            <a:r>
              <a:rPr lang="en-US" sz="1000" b="1" dirty="0">
                <a:solidFill>
                  <a:srgbClr val="FFFFFF"/>
                </a:solidFill>
                <a:latin typeface="Meiryo UI" pitchFamily="34" charset="0"/>
                <a:ea typeface="Meiryo UI" pitchFamily="34" charset="-122"/>
                <a:cs typeface="Meiryo UI" pitchFamily="34" charset="-120"/>
              </a:rPr>
              <a:t>対話型エージェント</a:t>
            </a:r>
            <a:endParaRPr lang="en-US" sz="1000" dirty="0"/>
          </a:p>
        </p:txBody>
      </p:sp>
      <p:sp>
        <p:nvSpPr>
          <p:cNvPr id="10" name="Shape 8"/>
          <p:cNvSpPr/>
          <p:nvPr/>
        </p:nvSpPr>
        <p:spPr>
          <a:xfrm>
            <a:off x="6949440" y="1371600"/>
            <a:ext cx="2240280" cy="502920"/>
          </a:xfrm>
          <a:prstGeom prst="roundRect">
            <a:avLst>
              <a:gd name="adj" fmla="val 14545"/>
            </a:avLst>
          </a:prstGeom>
          <a:solidFill>
            <a:srgbClr val="1B2A49"/>
          </a:solidFill>
          <a:ln/>
        </p:spPr>
      </p:sp>
      <p:sp>
        <p:nvSpPr>
          <p:cNvPr id="11" name="Text 9"/>
          <p:cNvSpPr txBox="1"/>
          <p:nvPr/>
        </p:nvSpPr>
        <p:spPr>
          <a:xfrm>
            <a:off x="6949440" y="1371600"/>
            <a:ext cx="2240280" cy="502920"/>
          </a:xfrm>
          <a:prstGeom prst="rect">
            <a:avLst/>
          </a:prstGeom>
          <a:noFill/>
          <a:ln/>
        </p:spPr>
        <p:txBody>
          <a:bodyPr wrap="square" lIns="762" tIns="762" rIns="762" bIns="762" rtlCol="0" anchor="ctr"/>
          <a:lstStyle/>
          <a:p>
            <a:pPr algn="ctr" indent="0" marL="0">
              <a:buNone/>
            </a:pPr>
            <a:r>
              <a:rPr lang="en-US" sz="1000" b="1" dirty="0">
                <a:solidFill>
                  <a:srgbClr val="FFFFFF"/>
                </a:solidFill>
                <a:latin typeface="Meiryo UI" pitchFamily="34" charset="0"/>
                <a:ea typeface="Meiryo UI" pitchFamily="34" charset="-122"/>
                <a:cs typeface="Meiryo UI" pitchFamily="34" charset="-120"/>
              </a:rPr>
              <a:t>Step3 自動起案</a:t>
            </a:r>
            <a:endParaRPr lang="en-US" sz="1000" dirty="0"/>
          </a:p>
          <a:p>
            <a:pPr algn="ctr" indent="0" marL="0">
              <a:buNone/>
            </a:pPr>
            <a:r>
              <a:rPr lang="en-US" sz="1000" b="1" dirty="0">
                <a:solidFill>
                  <a:srgbClr val="FFFFFF"/>
                </a:solidFill>
                <a:latin typeface="Meiryo UI" pitchFamily="34" charset="0"/>
                <a:ea typeface="Meiryo UI" pitchFamily="34" charset="-122"/>
                <a:cs typeface="Meiryo UI" pitchFamily="34" charset="-120"/>
              </a:rPr>
              <a:t>（Airtable継続）</a:t>
            </a:r>
            <a:endParaRPr lang="en-US" sz="1000" dirty="0"/>
          </a:p>
        </p:txBody>
      </p:sp>
      <p:sp>
        <p:nvSpPr>
          <p:cNvPr id="12" name="Shape 10"/>
          <p:cNvSpPr/>
          <p:nvPr/>
        </p:nvSpPr>
        <p:spPr>
          <a:xfrm>
            <a:off x="9281160" y="1371600"/>
            <a:ext cx="2240280" cy="502920"/>
          </a:xfrm>
          <a:prstGeom prst="roundRect">
            <a:avLst>
              <a:gd name="adj" fmla="val 14545"/>
            </a:avLst>
          </a:prstGeom>
          <a:solidFill>
            <a:srgbClr val="1B2A49"/>
          </a:solidFill>
          <a:ln/>
        </p:spPr>
      </p:sp>
      <p:sp>
        <p:nvSpPr>
          <p:cNvPr id="13" name="Text 11"/>
          <p:cNvSpPr txBox="1"/>
          <p:nvPr/>
        </p:nvSpPr>
        <p:spPr>
          <a:xfrm>
            <a:off x="9281160" y="1371600"/>
            <a:ext cx="2240280" cy="502920"/>
          </a:xfrm>
          <a:prstGeom prst="rect">
            <a:avLst/>
          </a:prstGeom>
          <a:noFill/>
          <a:ln/>
        </p:spPr>
        <p:txBody>
          <a:bodyPr wrap="square" lIns="762" tIns="762" rIns="762" bIns="762" rtlCol="0" anchor="ctr"/>
          <a:lstStyle/>
          <a:p>
            <a:pPr algn="ctr" indent="0" marL="0">
              <a:buNone/>
            </a:pPr>
            <a:r>
              <a:rPr lang="en-US" sz="1000" b="1" dirty="0">
                <a:solidFill>
                  <a:srgbClr val="FFFFFF"/>
                </a:solidFill>
                <a:latin typeface="Meiryo UI" pitchFamily="34" charset="0"/>
                <a:ea typeface="Meiryo UI" pitchFamily="34" charset="-122"/>
                <a:cs typeface="Meiryo UI" pitchFamily="34" charset="-120"/>
              </a:rPr>
              <a:t>Step3 自動起案</a:t>
            </a:r>
            <a:endParaRPr lang="en-US" sz="1000" dirty="0"/>
          </a:p>
          <a:p>
            <a:pPr algn="ctr" indent="0" marL="0">
              <a:buNone/>
            </a:pPr>
            <a:r>
              <a:rPr lang="en-US" sz="1000" b="1" dirty="0">
                <a:solidFill>
                  <a:srgbClr val="FFFFFF"/>
                </a:solidFill>
                <a:latin typeface="Meiryo UI" pitchFamily="34" charset="0"/>
                <a:ea typeface="Meiryo UI" pitchFamily="34" charset="-122"/>
                <a:cs typeface="Meiryo UI" pitchFamily="34" charset="-120"/>
              </a:rPr>
              <a:t>（管理基盤を移行）</a:t>
            </a:r>
            <a:endParaRPr lang="en-US" sz="1000" dirty="0"/>
          </a:p>
        </p:txBody>
      </p:sp>
      <p:sp>
        <p:nvSpPr>
          <p:cNvPr id="14" name="Shape 12"/>
          <p:cNvSpPr/>
          <p:nvPr/>
        </p:nvSpPr>
        <p:spPr>
          <a:xfrm>
            <a:off x="548640" y="1965960"/>
            <a:ext cx="1645920" cy="1371600"/>
          </a:xfrm>
          <a:prstGeom prst="roundRect">
            <a:avLst>
              <a:gd name="adj" fmla="val 4000"/>
            </a:avLst>
          </a:prstGeom>
          <a:solidFill>
            <a:srgbClr val="E5F0FA"/>
          </a:solidFill>
          <a:ln/>
        </p:spPr>
      </p:sp>
      <p:sp>
        <p:nvSpPr>
          <p:cNvPr id="15" name="Shape 13"/>
          <p:cNvSpPr/>
          <p:nvPr/>
        </p:nvSpPr>
        <p:spPr>
          <a:xfrm>
            <a:off x="1143000" y="2039112"/>
            <a:ext cx="457200" cy="457200"/>
          </a:xfrm>
          <a:prstGeom prst="ellipse">
            <a:avLst/>
          </a:prstGeom>
          <a:solidFill>
            <a:srgbClr val="FFFFFF"/>
          </a:solidFill>
          <a:ln/>
        </p:spPr>
      </p:sp>
      <p:pic>
        <p:nvPicPr>
          <p:cNvPr id="16" name="Image 0" descr="preencoded.png">    </p:cNvPr>
          <p:cNvPicPr>
            <a:picLocks noChangeAspect="1"/>
          </p:cNvPicPr>
          <p:nvPr/>
        </p:nvPicPr>
        <p:blipFill>
          <a:blip r:embed="rId1"/>
          <a:stretch>
            <a:fillRect/>
          </a:stretch>
        </p:blipFill>
        <p:spPr>
          <a:xfrm>
            <a:off x="1234440" y="2130552"/>
            <a:ext cx="274320" cy="274320"/>
          </a:xfrm>
          <a:prstGeom prst="rect">
            <a:avLst/>
          </a:prstGeom>
        </p:spPr>
      </p:pic>
      <p:sp>
        <p:nvSpPr>
          <p:cNvPr id="17" name="Text 14"/>
          <p:cNvSpPr txBox="1"/>
          <p:nvPr/>
        </p:nvSpPr>
        <p:spPr>
          <a:xfrm>
            <a:off x="548640" y="2990088"/>
            <a:ext cx="1645920" cy="310896"/>
          </a:xfrm>
          <a:prstGeom prst="rect">
            <a:avLst/>
          </a:prstGeom>
          <a:noFill/>
          <a:ln/>
        </p:spPr>
        <p:txBody>
          <a:bodyPr wrap="square" lIns="508" tIns="508" rIns="508" bIns="508" rtlCol="0" anchor="ctr"/>
          <a:lstStyle/>
          <a:p>
            <a:pPr algn="ctr" indent="0" marL="0">
              <a:buNone/>
            </a:pPr>
            <a:r>
              <a:rPr lang="en-US" sz="1050" b="1" dirty="0">
                <a:solidFill>
                  <a:srgbClr val="0F6CBD"/>
                </a:solidFill>
                <a:latin typeface="Meiryo UI" pitchFamily="34" charset="0"/>
                <a:ea typeface="Meiryo UI" pitchFamily="34" charset="-122"/>
                <a:cs typeface="Meiryo UI" pitchFamily="34" charset="-120"/>
              </a:rPr>
              <a:t>M365に寄せる</a:t>
            </a:r>
            <a:endParaRPr lang="en-US" sz="1050" dirty="0"/>
          </a:p>
        </p:txBody>
      </p:sp>
      <p:sp>
        <p:nvSpPr>
          <p:cNvPr id="18" name="Shape 15"/>
          <p:cNvSpPr/>
          <p:nvPr/>
        </p:nvSpPr>
        <p:spPr>
          <a:xfrm>
            <a:off x="548640" y="3429000"/>
            <a:ext cx="1645920" cy="868680"/>
          </a:xfrm>
          <a:prstGeom prst="roundRect">
            <a:avLst>
              <a:gd name="adj" fmla="val 6316"/>
            </a:avLst>
          </a:prstGeom>
          <a:solidFill>
            <a:srgbClr val="EEEAF8"/>
          </a:solidFill>
          <a:ln/>
        </p:spPr>
      </p:sp>
      <p:sp>
        <p:nvSpPr>
          <p:cNvPr id="19" name="Shape 16"/>
          <p:cNvSpPr/>
          <p:nvPr/>
        </p:nvSpPr>
        <p:spPr>
          <a:xfrm>
            <a:off x="1143000" y="3502152"/>
            <a:ext cx="457200" cy="457200"/>
          </a:xfrm>
          <a:prstGeom prst="ellipse">
            <a:avLst/>
          </a:prstGeom>
          <a:solidFill>
            <a:srgbClr val="FFFFFF"/>
          </a:solidFill>
          <a:ln/>
        </p:spPr>
      </p:sp>
      <p:pic>
        <p:nvPicPr>
          <p:cNvPr id="20" name="Image 1" descr="preencoded.png">    </p:cNvPr>
          <p:cNvPicPr>
            <a:picLocks noChangeAspect="1"/>
          </p:cNvPicPr>
          <p:nvPr/>
        </p:nvPicPr>
        <p:blipFill>
          <a:blip r:embed="rId2"/>
          <a:stretch>
            <a:fillRect/>
          </a:stretch>
        </p:blipFill>
        <p:spPr>
          <a:xfrm>
            <a:off x="1234440" y="3593592"/>
            <a:ext cx="274320" cy="274320"/>
          </a:xfrm>
          <a:prstGeom prst="rect">
            <a:avLst/>
          </a:prstGeom>
        </p:spPr>
      </p:pic>
      <p:sp>
        <p:nvSpPr>
          <p:cNvPr id="21" name="Text 17"/>
          <p:cNvSpPr txBox="1"/>
          <p:nvPr/>
        </p:nvSpPr>
        <p:spPr>
          <a:xfrm>
            <a:off x="548640" y="3950208"/>
            <a:ext cx="1645920" cy="310896"/>
          </a:xfrm>
          <a:prstGeom prst="rect">
            <a:avLst/>
          </a:prstGeom>
          <a:noFill/>
          <a:ln/>
        </p:spPr>
        <p:txBody>
          <a:bodyPr wrap="square" lIns="508" tIns="508" rIns="508" bIns="508" rtlCol="0" anchor="ctr"/>
          <a:lstStyle/>
          <a:p>
            <a:pPr algn="ctr" indent="0" marL="0">
              <a:buNone/>
            </a:pPr>
            <a:r>
              <a:rPr lang="en-US" sz="1050" b="1" dirty="0">
                <a:solidFill>
                  <a:srgbClr val="6B4FBB"/>
                </a:solidFill>
                <a:latin typeface="Meiryo UI" pitchFamily="34" charset="0"/>
                <a:ea typeface="Meiryo UI" pitchFamily="34" charset="-122"/>
                <a:cs typeface="Meiryo UI" pitchFamily="34" charset="-120"/>
              </a:rPr>
              <a:t>ハイブリッド</a:t>
            </a:r>
            <a:endParaRPr lang="en-US" sz="1050" dirty="0"/>
          </a:p>
        </p:txBody>
      </p:sp>
      <p:sp>
        <p:nvSpPr>
          <p:cNvPr id="22" name="Shape 18"/>
          <p:cNvSpPr/>
          <p:nvPr/>
        </p:nvSpPr>
        <p:spPr>
          <a:xfrm>
            <a:off x="548640" y="4389120"/>
            <a:ext cx="1645920" cy="868680"/>
          </a:xfrm>
          <a:prstGeom prst="roundRect">
            <a:avLst>
              <a:gd name="adj" fmla="val 6316"/>
            </a:avLst>
          </a:prstGeom>
          <a:solidFill>
            <a:srgbClr val="E8F0FE"/>
          </a:solidFill>
          <a:ln/>
        </p:spPr>
      </p:sp>
      <p:sp>
        <p:nvSpPr>
          <p:cNvPr id="23" name="Shape 19"/>
          <p:cNvSpPr/>
          <p:nvPr/>
        </p:nvSpPr>
        <p:spPr>
          <a:xfrm>
            <a:off x="1143000" y="4462272"/>
            <a:ext cx="457200" cy="457200"/>
          </a:xfrm>
          <a:prstGeom prst="ellipse">
            <a:avLst/>
          </a:prstGeom>
          <a:solidFill>
            <a:srgbClr val="FFFFFF"/>
          </a:solidFill>
          <a:ln/>
        </p:spPr>
      </p:sp>
      <p:pic>
        <p:nvPicPr>
          <p:cNvPr id="24" name="Image 2" descr="preencoded.png">    </p:cNvPr>
          <p:cNvPicPr>
            <a:picLocks noChangeAspect="1"/>
          </p:cNvPicPr>
          <p:nvPr/>
        </p:nvPicPr>
        <p:blipFill>
          <a:blip r:embed="rId3"/>
          <a:stretch>
            <a:fillRect/>
          </a:stretch>
        </p:blipFill>
        <p:spPr>
          <a:xfrm>
            <a:off x="1234440" y="4553712"/>
            <a:ext cx="274320" cy="274320"/>
          </a:xfrm>
          <a:prstGeom prst="rect">
            <a:avLst/>
          </a:prstGeom>
        </p:spPr>
      </p:pic>
      <p:sp>
        <p:nvSpPr>
          <p:cNvPr id="25" name="Text 20"/>
          <p:cNvSpPr txBox="1"/>
          <p:nvPr/>
        </p:nvSpPr>
        <p:spPr>
          <a:xfrm>
            <a:off x="548640" y="4910328"/>
            <a:ext cx="1645920" cy="310896"/>
          </a:xfrm>
          <a:prstGeom prst="rect">
            <a:avLst/>
          </a:prstGeom>
          <a:noFill/>
          <a:ln/>
        </p:spPr>
        <p:txBody>
          <a:bodyPr wrap="square" lIns="508" tIns="508" rIns="508" bIns="508" rtlCol="0" anchor="ctr"/>
          <a:lstStyle/>
          <a:p>
            <a:pPr algn="ctr" indent="0" marL="0">
              <a:buNone/>
            </a:pPr>
            <a:r>
              <a:rPr lang="en-US" sz="1050" b="1" dirty="0">
                <a:solidFill>
                  <a:srgbClr val="4285F4"/>
                </a:solidFill>
                <a:latin typeface="Meiryo UI" pitchFamily="34" charset="0"/>
                <a:ea typeface="Meiryo UI" pitchFamily="34" charset="-122"/>
                <a:cs typeface="Meiryo UI" pitchFamily="34" charset="-120"/>
              </a:rPr>
              <a:t>GCPに寄せる</a:t>
            </a:r>
            <a:endParaRPr lang="en-US" sz="1050" dirty="0"/>
          </a:p>
        </p:txBody>
      </p:sp>
      <p:sp>
        <p:nvSpPr>
          <p:cNvPr id="26" name="Shape 21"/>
          <p:cNvSpPr/>
          <p:nvPr/>
        </p:nvSpPr>
        <p:spPr>
          <a:xfrm>
            <a:off x="548640" y="5349240"/>
            <a:ext cx="1645920" cy="868680"/>
          </a:xfrm>
          <a:prstGeom prst="roundRect">
            <a:avLst>
              <a:gd name="adj" fmla="val 6316"/>
            </a:avLst>
          </a:prstGeom>
          <a:solidFill>
            <a:srgbClr val="FFF4E0"/>
          </a:solidFill>
          <a:ln/>
        </p:spPr>
      </p:sp>
      <p:sp>
        <p:nvSpPr>
          <p:cNvPr id="27" name="Shape 22"/>
          <p:cNvSpPr/>
          <p:nvPr/>
        </p:nvSpPr>
        <p:spPr>
          <a:xfrm>
            <a:off x="1143000" y="5422392"/>
            <a:ext cx="457200" cy="457200"/>
          </a:xfrm>
          <a:prstGeom prst="ellipse">
            <a:avLst/>
          </a:prstGeom>
          <a:solidFill>
            <a:srgbClr val="FFFFFF"/>
          </a:solidFill>
          <a:ln/>
        </p:spPr>
      </p:sp>
      <p:pic>
        <p:nvPicPr>
          <p:cNvPr id="28" name="Image 3" descr="preencoded.png">    </p:cNvPr>
          <p:cNvPicPr>
            <a:picLocks noChangeAspect="1"/>
          </p:cNvPicPr>
          <p:nvPr/>
        </p:nvPicPr>
        <p:blipFill>
          <a:blip r:embed="rId4"/>
          <a:stretch>
            <a:fillRect/>
          </a:stretch>
        </p:blipFill>
        <p:spPr>
          <a:xfrm>
            <a:off x="1234440" y="5513832"/>
            <a:ext cx="274320" cy="274320"/>
          </a:xfrm>
          <a:prstGeom prst="rect">
            <a:avLst/>
          </a:prstGeom>
        </p:spPr>
      </p:pic>
      <p:sp>
        <p:nvSpPr>
          <p:cNvPr id="29" name="Text 23"/>
          <p:cNvSpPr txBox="1"/>
          <p:nvPr/>
        </p:nvSpPr>
        <p:spPr>
          <a:xfrm>
            <a:off x="548640" y="5870448"/>
            <a:ext cx="1645920" cy="310896"/>
          </a:xfrm>
          <a:prstGeom prst="rect">
            <a:avLst/>
          </a:prstGeom>
          <a:noFill/>
          <a:ln/>
        </p:spPr>
        <p:txBody>
          <a:bodyPr wrap="square" lIns="508" tIns="508" rIns="508" bIns="508" rtlCol="0" anchor="ctr"/>
          <a:lstStyle/>
          <a:p>
            <a:pPr algn="ctr" indent="0" marL="0">
              <a:buNone/>
            </a:pPr>
            <a:r>
              <a:rPr lang="en-US" sz="1050" b="1" dirty="0">
                <a:solidFill>
                  <a:srgbClr val="C77700"/>
                </a:solidFill>
                <a:latin typeface="Meiryo UI" pitchFamily="34" charset="0"/>
                <a:ea typeface="Meiryo UI" pitchFamily="34" charset="-122"/>
                <a:cs typeface="Meiryo UI" pitchFamily="34" charset="-120"/>
              </a:rPr>
              <a:t>Airtable内で完結</a:t>
            </a:r>
            <a:endParaRPr lang="en-US" sz="1050" dirty="0"/>
          </a:p>
        </p:txBody>
      </p:sp>
      <p:sp>
        <p:nvSpPr>
          <p:cNvPr id="30" name="Shape 24"/>
          <p:cNvSpPr/>
          <p:nvPr/>
        </p:nvSpPr>
        <p:spPr>
          <a:xfrm>
            <a:off x="2286000" y="1965960"/>
            <a:ext cx="2240280" cy="658368"/>
          </a:xfrm>
          <a:prstGeom prst="roundRect">
            <a:avLst>
              <a:gd name="adj" fmla="val 8333"/>
            </a:avLst>
          </a:prstGeom>
          <a:solidFill>
            <a:srgbClr val="FFFFFF"/>
          </a:solidFill>
          <a:ln w="15875">
            <a:solidFill>
              <a:srgbClr val="0F6CBD"/>
            </a:solidFill>
            <a:prstDash val="solid"/>
          </a:ln>
        </p:spPr>
      </p:sp>
      <p:sp>
        <p:nvSpPr>
          <p:cNvPr id="31" name="Shape 25"/>
          <p:cNvSpPr/>
          <p:nvPr/>
        </p:nvSpPr>
        <p:spPr>
          <a:xfrm>
            <a:off x="2359152" y="2039112"/>
            <a:ext cx="384048" cy="384048"/>
          </a:xfrm>
          <a:prstGeom prst="ellipse">
            <a:avLst/>
          </a:prstGeom>
          <a:solidFill>
            <a:srgbClr val="0F6CBD"/>
          </a:solidFill>
          <a:ln/>
        </p:spPr>
      </p:sp>
      <p:sp>
        <p:nvSpPr>
          <p:cNvPr id="32" name="Text 26"/>
          <p:cNvSpPr txBox="1"/>
          <p:nvPr/>
        </p:nvSpPr>
        <p:spPr>
          <a:xfrm>
            <a:off x="2359152" y="2039112"/>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A1</a:t>
            </a:r>
            <a:endParaRPr lang="en-US" sz="1100" dirty="0"/>
          </a:p>
        </p:txBody>
      </p:sp>
      <p:sp>
        <p:nvSpPr>
          <p:cNvPr id="33" name="Text 27"/>
          <p:cNvSpPr txBox="1"/>
          <p:nvPr/>
        </p:nvSpPr>
        <p:spPr>
          <a:xfrm>
            <a:off x="2798064" y="2002536"/>
            <a:ext cx="1673352" cy="457200"/>
          </a:xfrm>
          <a:prstGeom prst="rect">
            <a:avLst/>
          </a:prstGeom>
          <a:noFill/>
          <a:ln/>
        </p:spPr>
        <p:txBody>
          <a:bodyPr wrap="square" lIns="0" tIns="0" rIns="0" bIns="0" rtlCol="0" anchor="ctr"/>
          <a:lstStyle/>
          <a:p>
            <a:pPr indent="0" marL="0">
              <a:buNone/>
            </a:pPr>
            <a:r>
              <a:rPr lang="en-US" sz="1050" b="1" dirty="0">
                <a:solidFill>
                  <a:srgbClr val="1B2A49"/>
                </a:solidFill>
                <a:latin typeface="Meiryo UI" pitchFamily="34" charset="0"/>
                <a:ea typeface="Meiryo UI" pitchFamily="34" charset="-122"/>
                <a:cs typeface="Meiryo UI" pitchFamily="34" charset="-120"/>
              </a:rPr>
              <a:t>Copilot手動アシスト</a:t>
            </a:r>
            <a:endParaRPr lang="en-US" sz="1050" dirty="0"/>
          </a:p>
        </p:txBody>
      </p:sp>
      <p:sp>
        <p:nvSpPr>
          <p:cNvPr id="34" name="Text 28"/>
          <p:cNvSpPr txBox="1"/>
          <p:nvPr/>
        </p:nvSpPr>
        <p:spPr>
          <a:xfrm>
            <a:off x="2377440" y="2313432"/>
            <a:ext cx="2057400" cy="237744"/>
          </a:xfrm>
          <a:prstGeom prst="rect">
            <a:avLst/>
          </a:prstGeom>
          <a:noFill/>
          <a:ln/>
        </p:spPr>
        <p:txBody>
          <a:bodyPr wrap="square" lIns="0" tIns="0" rIns="0" bIns="0" rtlCol="0" anchor="ctr"/>
          <a:lstStyle/>
          <a:p>
            <a:pPr algn="r" indent="0" marL="0">
              <a:buNone/>
            </a:pPr>
            <a:r>
              <a:rPr lang="en-US" sz="850" dirty="0">
                <a:solidFill>
                  <a:srgbClr val="6B7280"/>
                </a:solidFill>
                <a:latin typeface="Meiryo UI" pitchFamily="34" charset="0"/>
                <a:ea typeface="Meiryo UI" pitchFamily="34" charset="-122"/>
                <a:cs typeface="Meiryo UI" pitchFamily="34" charset="-120"/>
              </a:rPr>
              <a:t>管理：Airtable</a:t>
            </a:r>
            <a:endParaRPr lang="en-US" sz="850" dirty="0"/>
          </a:p>
        </p:txBody>
      </p:sp>
      <p:sp>
        <p:nvSpPr>
          <p:cNvPr id="35" name="Shape 29"/>
          <p:cNvSpPr/>
          <p:nvPr/>
        </p:nvSpPr>
        <p:spPr>
          <a:xfrm>
            <a:off x="2286000" y="2679192"/>
            <a:ext cx="2240280" cy="658368"/>
          </a:xfrm>
          <a:prstGeom prst="roundRect">
            <a:avLst>
              <a:gd name="adj" fmla="val 8333"/>
            </a:avLst>
          </a:prstGeom>
          <a:solidFill>
            <a:srgbClr val="FFFFFF"/>
          </a:solidFill>
          <a:ln w="15875">
            <a:solidFill>
              <a:srgbClr val="0F6CBD"/>
            </a:solidFill>
            <a:prstDash val="solid"/>
          </a:ln>
        </p:spPr>
      </p:sp>
      <p:sp>
        <p:nvSpPr>
          <p:cNvPr id="36" name="Shape 30"/>
          <p:cNvSpPr/>
          <p:nvPr/>
        </p:nvSpPr>
        <p:spPr>
          <a:xfrm>
            <a:off x="2359152" y="2752344"/>
            <a:ext cx="384048" cy="384048"/>
          </a:xfrm>
          <a:prstGeom prst="ellipse">
            <a:avLst/>
          </a:prstGeom>
          <a:solidFill>
            <a:srgbClr val="0F6CBD"/>
          </a:solidFill>
          <a:ln/>
        </p:spPr>
      </p:sp>
      <p:sp>
        <p:nvSpPr>
          <p:cNvPr id="37" name="Text 31"/>
          <p:cNvSpPr txBox="1"/>
          <p:nvPr/>
        </p:nvSpPr>
        <p:spPr>
          <a:xfrm>
            <a:off x="2359152" y="2752344"/>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A2</a:t>
            </a:r>
            <a:endParaRPr lang="en-US" sz="1100" dirty="0"/>
          </a:p>
        </p:txBody>
      </p:sp>
      <p:sp>
        <p:nvSpPr>
          <p:cNvPr id="38" name="Text 32"/>
          <p:cNvSpPr txBox="1"/>
          <p:nvPr/>
        </p:nvSpPr>
        <p:spPr>
          <a:xfrm>
            <a:off x="2798064" y="2715768"/>
            <a:ext cx="1673352" cy="457200"/>
          </a:xfrm>
          <a:prstGeom prst="rect">
            <a:avLst/>
          </a:prstGeom>
          <a:noFill/>
          <a:ln/>
        </p:spPr>
        <p:txBody>
          <a:bodyPr wrap="square" lIns="0" tIns="0" rIns="0" bIns="0" rtlCol="0" anchor="ctr"/>
          <a:lstStyle/>
          <a:p>
            <a:pPr indent="0" marL="0">
              <a:buNone/>
            </a:pPr>
            <a:r>
              <a:rPr lang="en-US" sz="1050" b="1" dirty="0">
                <a:solidFill>
                  <a:srgbClr val="1B2A49"/>
                </a:solidFill>
                <a:latin typeface="Meiryo UI" pitchFamily="34" charset="0"/>
                <a:ea typeface="Meiryo UI" pitchFamily="34" charset="-122"/>
                <a:cs typeface="Meiryo UI" pitchFamily="34" charset="-120"/>
              </a:rPr>
              <a:t>Agent Builder</a:t>
            </a:r>
            <a:endParaRPr lang="en-US" sz="1050" dirty="0"/>
          </a:p>
        </p:txBody>
      </p:sp>
      <p:sp>
        <p:nvSpPr>
          <p:cNvPr id="39" name="Text 33"/>
          <p:cNvSpPr txBox="1"/>
          <p:nvPr/>
        </p:nvSpPr>
        <p:spPr>
          <a:xfrm>
            <a:off x="2377440" y="3026664"/>
            <a:ext cx="2057400" cy="237744"/>
          </a:xfrm>
          <a:prstGeom prst="rect">
            <a:avLst/>
          </a:prstGeom>
          <a:noFill/>
          <a:ln/>
        </p:spPr>
        <p:txBody>
          <a:bodyPr wrap="square" lIns="0" tIns="0" rIns="0" bIns="0" rtlCol="0" anchor="ctr"/>
          <a:lstStyle/>
          <a:p>
            <a:pPr algn="r" indent="0" marL="0">
              <a:buNone/>
            </a:pPr>
            <a:r>
              <a:rPr lang="en-US" sz="850" dirty="0">
                <a:solidFill>
                  <a:srgbClr val="6B7280"/>
                </a:solidFill>
                <a:latin typeface="Meiryo UI" pitchFamily="34" charset="0"/>
                <a:ea typeface="Meiryo UI" pitchFamily="34" charset="-122"/>
                <a:cs typeface="Meiryo UI" pitchFamily="34" charset="-120"/>
              </a:rPr>
              <a:t>デモ作成済み</a:t>
            </a:r>
            <a:endParaRPr lang="en-US" sz="850" dirty="0"/>
          </a:p>
        </p:txBody>
      </p:sp>
      <p:sp>
        <p:nvSpPr>
          <p:cNvPr id="40" name="Shape 34"/>
          <p:cNvSpPr/>
          <p:nvPr/>
        </p:nvSpPr>
        <p:spPr>
          <a:xfrm>
            <a:off x="4617720" y="1965960"/>
            <a:ext cx="2240280" cy="1371600"/>
          </a:xfrm>
          <a:prstGeom prst="roundRect">
            <a:avLst>
              <a:gd name="adj" fmla="val 4000"/>
            </a:avLst>
          </a:prstGeom>
          <a:solidFill>
            <a:srgbClr val="FFFFFF"/>
          </a:solidFill>
          <a:ln w="15875">
            <a:solidFill>
              <a:srgbClr val="0F6CBD"/>
            </a:solidFill>
            <a:prstDash val="solid"/>
          </a:ln>
        </p:spPr>
      </p:sp>
      <p:sp>
        <p:nvSpPr>
          <p:cNvPr id="41" name="Shape 35"/>
          <p:cNvSpPr/>
          <p:nvPr/>
        </p:nvSpPr>
        <p:spPr>
          <a:xfrm>
            <a:off x="4690872" y="2039112"/>
            <a:ext cx="384048" cy="384048"/>
          </a:xfrm>
          <a:prstGeom prst="ellipse">
            <a:avLst/>
          </a:prstGeom>
          <a:solidFill>
            <a:srgbClr val="0F6CBD"/>
          </a:solidFill>
          <a:ln/>
        </p:spPr>
      </p:sp>
      <p:sp>
        <p:nvSpPr>
          <p:cNvPr id="42" name="Text 36"/>
          <p:cNvSpPr txBox="1"/>
          <p:nvPr/>
        </p:nvSpPr>
        <p:spPr>
          <a:xfrm>
            <a:off x="4690872" y="2039112"/>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A3</a:t>
            </a:r>
            <a:endParaRPr lang="en-US" sz="1100" dirty="0"/>
          </a:p>
        </p:txBody>
      </p:sp>
      <p:sp>
        <p:nvSpPr>
          <p:cNvPr id="43" name="Text 37"/>
          <p:cNvSpPr txBox="1"/>
          <p:nvPr/>
        </p:nvSpPr>
        <p:spPr>
          <a:xfrm>
            <a:off x="5129784" y="2002536"/>
            <a:ext cx="1673352" cy="457200"/>
          </a:xfrm>
          <a:prstGeom prst="rect">
            <a:avLst/>
          </a:prstGeom>
          <a:noFill/>
          <a:ln/>
        </p:spPr>
        <p:txBody>
          <a:bodyPr wrap="square" lIns="0" tIns="0" rIns="0" bIns="0" rtlCol="0" anchor="ctr"/>
          <a:lstStyle/>
          <a:p>
            <a:pPr indent="0" marL="0">
              <a:buNone/>
            </a:pPr>
            <a:r>
              <a:rPr lang="en-US" sz="1050" b="1" dirty="0">
                <a:solidFill>
                  <a:srgbClr val="1B2A49"/>
                </a:solidFill>
                <a:latin typeface="Meiryo UI" pitchFamily="34" charset="0"/>
                <a:ea typeface="Meiryo UI" pitchFamily="34" charset="-122"/>
                <a:cs typeface="Meiryo UI" pitchFamily="34" charset="-120"/>
              </a:rPr>
              <a:t>Copilot Studio</a:t>
            </a:r>
            <a:endParaRPr lang="en-US" sz="1050" dirty="0"/>
          </a:p>
          <a:p>
            <a:pPr indent="0" marL="0">
              <a:buNone/>
            </a:pPr>
            <a:r>
              <a:rPr lang="en-US" sz="1050" b="1" dirty="0">
                <a:solidFill>
                  <a:srgbClr val="1B2A49"/>
                </a:solidFill>
                <a:latin typeface="Meiryo UI" pitchFamily="34" charset="0"/>
                <a:ea typeface="Meiryo UI" pitchFamily="34" charset="-122"/>
                <a:cs typeface="Meiryo UI" pitchFamily="34" charset="-120"/>
              </a:rPr>
              <a:t>エージェント</a:t>
            </a:r>
            <a:endParaRPr lang="en-US" sz="1050" dirty="0"/>
          </a:p>
        </p:txBody>
      </p:sp>
      <p:pic>
        <p:nvPicPr>
          <p:cNvPr id="44" name="Image 4" descr="preencoded.png">    </p:cNvPr>
          <p:cNvPicPr>
            <a:picLocks noChangeAspect="1"/>
          </p:cNvPicPr>
          <p:nvPr/>
        </p:nvPicPr>
        <p:blipFill>
          <a:blip r:embed="rId5"/>
          <a:stretch>
            <a:fillRect/>
          </a:stretch>
        </p:blipFill>
        <p:spPr>
          <a:xfrm>
            <a:off x="4727448" y="3044952"/>
            <a:ext cx="201168" cy="201168"/>
          </a:xfrm>
          <a:prstGeom prst="rect">
            <a:avLst/>
          </a:prstGeom>
        </p:spPr>
      </p:pic>
      <p:pic>
        <p:nvPicPr>
          <p:cNvPr id="45" name="Image 5" descr="preencoded.png">    </p:cNvPr>
          <p:cNvPicPr>
            <a:picLocks noChangeAspect="1"/>
          </p:cNvPicPr>
          <p:nvPr/>
        </p:nvPicPr>
        <p:blipFill>
          <a:blip r:embed="rId6"/>
          <a:stretch>
            <a:fillRect/>
          </a:stretch>
        </p:blipFill>
        <p:spPr>
          <a:xfrm>
            <a:off x="5001768" y="3044952"/>
            <a:ext cx="201168" cy="201168"/>
          </a:xfrm>
          <a:prstGeom prst="rect">
            <a:avLst/>
          </a:prstGeom>
        </p:spPr>
      </p:pic>
      <p:pic>
        <p:nvPicPr>
          <p:cNvPr id="46" name="Image 6" descr="preencoded.png">    </p:cNvPr>
          <p:cNvPicPr>
            <a:picLocks noChangeAspect="1"/>
          </p:cNvPicPr>
          <p:nvPr/>
        </p:nvPicPr>
        <p:blipFill>
          <a:blip r:embed="rId7"/>
          <a:stretch>
            <a:fillRect/>
          </a:stretch>
        </p:blipFill>
        <p:spPr>
          <a:xfrm>
            <a:off x="5276088" y="3044952"/>
            <a:ext cx="201168" cy="201168"/>
          </a:xfrm>
          <a:prstGeom prst="rect">
            <a:avLst/>
          </a:prstGeom>
        </p:spPr>
      </p:pic>
      <p:sp>
        <p:nvSpPr>
          <p:cNvPr id="47" name="Text 38"/>
          <p:cNvSpPr txBox="1"/>
          <p:nvPr/>
        </p:nvSpPr>
        <p:spPr>
          <a:xfrm>
            <a:off x="5532120" y="3026664"/>
            <a:ext cx="1234440" cy="237744"/>
          </a:xfrm>
          <a:prstGeom prst="rect">
            <a:avLst/>
          </a:prstGeom>
          <a:noFill/>
          <a:ln/>
        </p:spPr>
        <p:txBody>
          <a:bodyPr wrap="square" lIns="0" tIns="0" rIns="0" bIns="0" rtlCol="0" anchor="ctr"/>
          <a:lstStyle/>
          <a:p>
            <a:pPr algn="r" indent="0" marL="0">
              <a:buNone/>
            </a:pPr>
            <a:r>
              <a:rPr lang="en-US" sz="850" dirty="0">
                <a:solidFill>
                  <a:srgbClr val="6B7280"/>
                </a:solidFill>
                <a:latin typeface="Meiryo UI" pitchFamily="34" charset="0"/>
                <a:ea typeface="Meiryo UI" pitchFamily="34" charset="-122"/>
                <a:cs typeface="Meiryo UI" pitchFamily="34" charset="-120"/>
              </a:rPr>
              <a:t>管理：Airtable</a:t>
            </a:r>
            <a:endParaRPr lang="en-US" sz="850" dirty="0"/>
          </a:p>
        </p:txBody>
      </p:sp>
      <p:sp>
        <p:nvSpPr>
          <p:cNvPr id="48" name="Shape 39"/>
          <p:cNvSpPr/>
          <p:nvPr/>
        </p:nvSpPr>
        <p:spPr>
          <a:xfrm>
            <a:off x="6949440" y="1965960"/>
            <a:ext cx="2240280" cy="1371600"/>
          </a:xfrm>
          <a:prstGeom prst="roundRect">
            <a:avLst>
              <a:gd name="adj" fmla="val 4000"/>
            </a:avLst>
          </a:prstGeom>
          <a:solidFill>
            <a:srgbClr val="FFFFFF"/>
          </a:solidFill>
          <a:ln w="15875">
            <a:solidFill>
              <a:srgbClr val="0F6CBD"/>
            </a:solidFill>
            <a:prstDash val="solid"/>
          </a:ln>
        </p:spPr>
      </p:sp>
      <p:sp>
        <p:nvSpPr>
          <p:cNvPr id="49" name="Shape 40"/>
          <p:cNvSpPr/>
          <p:nvPr/>
        </p:nvSpPr>
        <p:spPr>
          <a:xfrm>
            <a:off x="7022592" y="2039112"/>
            <a:ext cx="384048" cy="384048"/>
          </a:xfrm>
          <a:prstGeom prst="ellipse">
            <a:avLst/>
          </a:prstGeom>
          <a:solidFill>
            <a:srgbClr val="0F6CBD"/>
          </a:solidFill>
          <a:ln/>
        </p:spPr>
      </p:sp>
      <p:sp>
        <p:nvSpPr>
          <p:cNvPr id="50" name="Text 41"/>
          <p:cNvSpPr txBox="1"/>
          <p:nvPr/>
        </p:nvSpPr>
        <p:spPr>
          <a:xfrm>
            <a:off x="7022592" y="2039112"/>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A4</a:t>
            </a:r>
            <a:endParaRPr lang="en-US" sz="1100" dirty="0"/>
          </a:p>
        </p:txBody>
      </p:sp>
      <p:sp>
        <p:nvSpPr>
          <p:cNvPr id="51" name="Text 42"/>
          <p:cNvSpPr txBox="1"/>
          <p:nvPr/>
        </p:nvSpPr>
        <p:spPr>
          <a:xfrm>
            <a:off x="7461504" y="2002536"/>
            <a:ext cx="1673352" cy="457200"/>
          </a:xfrm>
          <a:prstGeom prst="rect">
            <a:avLst/>
          </a:prstGeom>
          <a:noFill/>
          <a:ln/>
        </p:spPr>
        <p:txBody>
          <a:bodyPr wrap="square" lIns="0" tIns="0" rIns="0" bIns="0" rtlCol="0" anchor="ctr"/>
          <a:lstStyle/>
          <a:p>
            <a:pPr indent="0" marL="0">
              <a:buNone/>
            </a:pPr>
            <a:r>
              <a:rPr lang="en-US" sz="1050" b="1" dirty="0">
                <a:solidFill>
                  <a:srgbClr val="1B2A49"/>
                </a:solidFill>
                <a:latin typeface="Meiryo UI" pitchFamily="34" charset="0"/>
                <a:ea typeface="Meiryo UI" pitchFamily="34" charset="-122"/>
                <a:cs typeface="Meiryo UI" pitchFamily="34" charset="-120"/>
              </a:rPr>
              <a:t>Power Automate</a:t>
            </a:r>
            <a:endParaRPr lang="en-US" sz="1050" dirty="0"/>
          </a:p>
          <a:p>
            <a:pPr indent="0" marL="0">
              <a:buNone/>
            </a:pPr>
            <a:r>
              <a:rPr lang="en-US" sz="1050" b="1" dirty="0">
                <a:solidFill>
                  <a:srgbClr val="1B2A49"/>
                </a:solidFill>
                <a:latin typeface="Meiryo UI" pitchFamily="34" charset="0"/>
                <a:ea typeface="Meiryo UI" pitchFamily="34" charset="-122"/>
                <a:cs typeface="Meiryo UI" pitchFamily="34" charset="-120"/>
              </a:rPr>
              <a:t>で自動起案</a:t>
            </a:r>
            <a:endParaRPr lang="en-US" sz="1050" dirty="0"/>
          </a:p>
        </p:txBody>
      </p:sp>
      <p:pic>
        <p:nvPicPr>
          <p:cNvPr id="52" name="Image 7" descr="preencoded.png">    </p:cNvPr>
          <p:cNvPicPr>
            <a:picLocks noChangeAspect="1"/>
          </p:cNvPicPr>
          <p:nvPr/>
        </p:nvPicPr>
        <p:blipFill>
          <a:blip r:embed="rId8"/>
          <a:stretch>
            <a:fillRect/>
          </a:stretch>
        </p:blipFill>
        <p:spPr>
          <a:xfrm>
            <a:off x="7059168" y="3044952"/>
            <a:ext cx="201168" cy="201168"/>
          </a:xfrm>
          <a:prstGeom prst="rect">
            <a:avLst/>
          </a:prstGeom>
        </p:spPr>
      </p:pic>
      <p:pic>
        <p:nvPicPr>
          <p:cNvPr id="53" name="Image 8" descr="preencoded.png">    </p:cNvPr>
          <p:cNvPicPr>
            <a:picLocks noChangeAspect="1"/>
          </p:cNvPicPr>
          <p:nvPr/>
        </p:nvPicPr>
        <p:blipFill>
          <a:blip r:embed="rId9"/>
          <a:stretch>
            <a:fillRect/>
          </a:stretch>
        </p:blipFill>
        <p:spPr>
          <a:xfrm>
            <a:off x="7333488" y="3044952"/>
            <a:ext cx="201168" cy="201168"/>
          </a:xfrm>
          <a:prstGeom prst="rect">
            <a:avLst/>
          </a:prstGeom>
        </p:spPr>
      </p:pic>
      <p:pic>
        <p:nvPicPr>
          <p:cNvPr id="54" name="Image 9" descr="preencoded.png">    </p:cNvPr>
          <p:cNvPicPr>
            <a:picLocks noChangeAspect="1"/>
          </p:cNvPicPr>
          <p:nvPr/>
        </p:nvPicPr>
        <p:blipFill>
          <a:blip r:embed="rId10"/>
          <a:stretch>
            <a:fillRect/>
          </a:stretch>
        </p:blipFill>
        <p:spPr>
          <a:xfrm>
            <a:off x="7607808" y="3044952"/>
            <a:ext cx="201168" cy="201168"/>
          </a:xfrm>
          <a:prstGeom prst="rect">
            <a:avLst/>
          </a:prstGeom>
        </p:spPr>
      </p:pic>
      <p:sp>
        <p:nvSpPr>
          <p:cNvPr id="55" name="Text 43"/>
          <p:cNvSpPr txBox="1"/>
          <p:nvPr/>
        </p:nvSpPr>
        <p:spPr>
          <a:xfrm>
            <a:off x="7863840" y="3026664"/>
            <a:ext cx="1234440" cy="237744"/>
          </a:xfrm>
          <a:prstGeom prst="rect">
            <a:avLst/>
          </a:prstGeom>
          <a:noFill/>
          <a:ln/>
        </p:spPr>
        <p:txBody>
          <a:bodyPr wrap="square" lIns="0" tIns="0" rIns="0" bIns="0" rtlCol="0" anchor="ctr"/>
          <a:lstStyle/>
          <a:p>
            <a:pPr algn="r" indent="0" marL="0">
              <a:buNone/>
            </a:pPr>
            <a:r>
              <a:rPr lang="en-US" sz="850" dirty="0">
                <a:solidFill>
                  <a:srgbClr val="6B7280"/>
                </a:solidFill>
                <a:latin typeface="Meiryo UI" pitchFamily="34" charset="0"/>
                <a:ea typeface="Meiryo UI" pitchFamily="34" charset="-122"/>
                <a:cs typeface="Meiryo UI" pitchFamily="34" charset="-120"/>
              </a:rPr>
              <a:t>管理：Airtable</a:t>
            </a:r>
            <a:endParaRPr lang="en-US" sz="850" dirty="0"/>
          </a:p>
        </p:txBody>
      </p:sp>
      <p:sp>
        <p:nvSpPr>
          <p:cNvPr id="56" name="Shape 44"/>
          <p:cNvSpPr/>
          <p:nvPr/>
        </p:nvSpPr>
        <p:spPr>
          <a:xfrm>
            <a:off x="9281160" y="1965960"/>
            <a:ext cx="2240280" cy="420624"/>
          </a:xfrm>
          <a:prstGeom prst="roundRect">
            <a:avLst>
              <a:gd name="adj" fmla="val 13043"/>
            </a:avLst>
          </a:prstGeom>
          <a:solidFill>
            <a:srgbClr val="FFFFFF"/>
          </a:solidFill>
          <a:ln w="15875">
            <a:solidFill>
              <a:srgbClr val="0F6CBD"/>
            </a:solidFill>
            <a:prstDash val="solid"/>
          </a:ln>
        </p:spPr>
      </p:sp>
      <p:sp>
        <p:nvSpPr>
          <p:cNvPr id="57" name="Shape 45"/>
          <p:cNvSpPr/>
          <p:nvPr/>
        </p:nvSpPr>
        <p:spPr>
          <a:xfrm>
            <a:off x="9354312" y="2029968"/>
            <a:ext cx="292608" cy="292608"/>
          </a:xfrm>
          <a:prstGeom prst="ellipse">
            <a:avLst/>
          </a:prstGeom>
          <a:solidFill>
            <a:srgbClr val="0F6CBD"/>
          </a:solidFill>
          <a:ln/>
        </p:spPr>
      </p:sp>
      <p:sp>
        <p:nvSpPr>
          <p:cNvPr id="58" name="Text 46"/>
          <p:cNvSpPr txBox="1"/>
          <p:nvPr/>
        </p:nvSpPr>
        <p:spPr>
          <a:xfrm>
            <a:off x="9354312" y="2029968"/>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A5</a:t>
            </a:r>
            <a:endParaRPr lang="en-US" sz="1100" dirty="0"/>
          </a:p>
        </p:txBody>
      </p:sp>
      <p:sp>
        <p:nvSpPr>
          <p:cNvPr id="59" name="Text 47"/>
          <p:cNvSpPr txBox="1"/>
          <p:nvPr/>
        </p:nvSpPr>
        <p:spPr>
          <a:xfrm>
            <a:off x="9701784" y="1965960"/>
            <a:ext cx="1124712" cy="420624"/>
          </a:xfrm>
          <a:prstGeom prst="rect">
            <a:avLst/>
          </a:prstGeom>
          <a:noFill/>
          <a:ln/>
        </p:spPr>
        <p:txBody>
          <a:bodyPr wrap="square" lIns="0" tIns="0" rIns="0" bIns="0" rtlCol="0" anchor="ctr"/>
          <a:lstStyle/>
          <a:p>
            <a:pPr indent="0" marL="0">
              <a:buNone/>
            </a:pPr>
            <a:r>
              <a:rPr lang="en-US" sz="950" b="1" dirty="0">
                <a:solidFill>
                  <a:srgbClr val="1B2A49"/>
                </a:solidFill>
                <a:latin typeface="Meiryo UI" pitchFamily="34" charset="0"/>
                <a:ea typeface="Meiryo UI" pitchFamily="34" charset="-122"/>
                <a:cs typeface="Meiryo UI" pitchFamily="34" charset="-120"/>
              </a:rPr>
              <a:t>Listsに移行</a:t>
            </a:r>
            <a:endParaRPr lang="en-US" sz="950" dirty="0"/>
          </a:p>
        </p:txBody>
      </p:sp>
      <p:pic>
        <p:nvPicPr>
          <p:cNvPr id="60" name="Image 10" descr="preencoded.png">    </p:cNvPr>
          <p:cNvPicPr>
            <a:picLocks noChangeAspect="1"/>
          </p:cNvPicPr>
          <p:nvPr/>
        </p:nvPicPr>
        <p:blipFill>
          <a:blip r:embed="rId11"/>
          <a:stretch>
            <a:fillRect/>
          </a:stretch>
        </p:blipFill>
        <p:spPr>
          <a:xfrm>
            <a:off x="10863072" y="2084832"/>
            <a:ext cx="182880" cy="182880"/>
          </a:xfrm>
          <a:prstGeom prst="rect">
            <a:avLst/>
          </a:prstGeom>
        </p:spPr>
      </p:pic>
      <p:pic>
        <p:nvPicPr>
          <p:cNvPr id="61" name="Image 11" descr="preencoded.png">    </p:cNvPr>
          <p:cNvPicPr>
            <a:picLocks noChangeAspect="1"/>
          </p:cNvPicPr>
          <p:nvPr/>
        </p:nvPicPr>
        <p:blipFill>
          <a:blip r:embed="rId12"/>
          <a:stretch>
            <a:fillRect/>
          </a:stretch>
        </p:blipFill>
        <p:spPr>
          <a:xfrm>
            <a:off x="11073384" y="2084832"/>
            <a:ext cx="182880" cy="182880"/>
          </a:xfrm>
          <a:prstGeom prst="rect">
            <a:avLst/>
          </a:prstGeom>
        </p:spPr>
      </p:pic>
      <p:pic>
        <p:nvPicPr>
          <p:cNvPr id="62" name="Image 12" descr="preencoded.png">    </p:cNvPr>
          <p:cNvPicPr>
            <a:picLocks noChangeAspect="1"/>
          </p:cNvPicPr>
          <p:nvPr/>
        </p:nvPicPr>
        <p:blipFill>
          <a:blip r:embed="rId13"/>
          <a:stretch>
            <a:fillRect/>
          </a:stretch>
        </p:blipFill>
        <p:spPr>
          <a:xfrm>
            <a:off x="11283696" y="2084832"/>
            <a:ext cx="182880" cy="182880"/>
          </a:xfrm>
          <a:prstGeom prst="rect">
            <a:avLst/>
          </a:prstGeom>
        </p:spPr>
      </p:pic>
      <p:sp>
        <p:nvSpPr>
          <p:cNvPr id="63" name="Shape 48"/>
          <p:cNvSpPr/>
          <p:nvPr/>
        </p:nvSpPr>
        <p:spPr>
          <a:xfrm>
            <a:off x="9281160" y="2441448"/>
            <a:ext cx="2240280" cy="420624"/>
          </a:xfrm>
          <a:prstGeom prst="roundRect">
            <a:avLst>
              <a:gd name="adj" fmla="val 13043"/>
            </a:avLst>
          </a:prstGeom>
          <a:solidFill>
            <a:srgbClr val="FFFFFF"/>
          </a:solidFill>
          <a:ln w="15875">
            <a:solidFill>
              <a:srgbClr val="0F6CBD"/>
            </a:solidFill>
            <a:prstDash val="solid"/>
          </a:ln>
        </p:spPr>
      </p:sp>
      <p:sp>
        <p:nvSpPr>
          <p:cNvPr id="64" name="Shape 49"/>
          <p:cNvSpPr/>
          <p:nvPr/>
        </p:nvSpPr>
        <p:spPr>
          <a:xfrm>
            <a:off x="9354312" y="2505456"/>
            <a:ext cx="292608" cy="292608"/>
          </a:xfrm>
          <a:prstGeom prst="ellipse">
            <a:avLst/>
          </a:prstGeom>
          <a:solidFill>
            <a:srgbClr val="0F6CBD"/>
          </a:solidFill>
          <a:ln/>
        </p:spPr>
      </p:sp>
      <p:sp>
        <p:nvSpPr>
          <p:cNvPr id="65" name="Text 50"/>
          <p:cNvSpPr txBox="1"/>
          <p:nvPr/>
        </p:nvSpPr>
        <p:spPr>
          <a:xfrm>
            <a:off x="9354312" y="2505456"/>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A6</a:t>
            </a:r>
            <a:endParaRPr lang="en-US" sz="1100" dirty="0"/>
          </a:p>
        </p:txBody>
      </p:sp>
      <p:sp>
        <p:nvSpPr>
          <p:cNvPr id="66" name="Text 51"/>
          <p:cNvSpPr txBox="1"/>
          <p:nvPr/>
        </p:nvSpPr>
        <p:spPr>
          <a:xfrm>
            <a:off x="9701784" y="2441448"/>
            <a:ext cx="1124712" cy="420624"/>
          </a:xfrm>
          <a:prstGeom prst="rect">
            <a:avLst/>
          </a:prstGeom>
          <a:noFill/>
          <a:ln/>
        </p:spPr>
        <p:txBody>
          <a:bodyPr wrap="square" lIns="0" tIns="0" rIns="0" bIns="0" rtlCol="0" anchor="ctr"/>
          <a:lstStyle/>
          <a:p>
            <a:pPr indent="0" marL="0">
              <a:buNone/>
            </a:pPr>
            <a:r>
              <a:rPr lang="en-US" sz="950" b="1" dirty="0">
                <a:solidFill>
                  <a:srgbClr val="1B2A49"/>
                </a:solidFill>
                <a:latin typeface="Meiryo UI" pitchFamily="34" charset="0"/>
                <a:ea typeface="Meiryo UI" pitchFamily="34" charset="-122"/>
                <a:cs typeface="Meiryo UI" pitchFamily="34" charset="-120"/>
              </a:rPr>
              <a:t>code apps</a:t>
            </a:r>
            <a:endParaRPr lang="en-US" sz="950" dirty="0"/>
          </a:p>
        </p:txBody>
      </p:sp>
      <p:pic>
        <p:nvPicPr>
          <p:cNvPr id="67" name="Image 13" descr="preencoded.png">    </p:cNvPr>
          <p:cNvPicPr>
            <a:picLocks noChangeAspect="1"/>
          </p:cNvPicPr>
          <p:nvPr/>
        </p:nvPicPr>
        <p:blipFill>
          <a:blip r:embed="rId14"/>
          <a:stretch>
            <a:fillRect/>
          </a:stretch>
        </p:blipFill>
        <p:spPr>
          <a:xfrm>
            <a:off x="10863072" y="2560320"/>
            <a:ext cx="182880" cy="182880"/>
          </a:xfrm>
          <a:prstGeom prst="rect">
            <a:avLst/>
          </a:prstGeom>
        </p:spPr>
      </p:pic>
      <p:pic>
        <p:nvPicPr>
          <p:cNvPr id="68" name="Image 14" descr="preencoded.png">    </p:cNvPr>
          <p:cNvPicPr>
            <a:picLocks noChangeAspect="1"/>
          </p:cNvPicPr>
          <p:nvPr/>
        </p:nvPicPr>
        <p:blipFill>
          <a:blip r:embed="rId15"/>
          <a:stretch>
            <a:fillRect/>
          </a:stretch>
        </p:blipFill>
        <p:spPr>
          <a:xfrm>
            <a:off x="11073384" y="2560320"/>
            <a:ext cx="182880" cy="182880"/>
          </a:xfrm>
          <a:prstGeom prst="rect">
            <a:avLst/>
          </a:prstGeom>
        </p:spPr>
      </p:pic>
      <p:pic>
        <p:nvPicPr>
          <p:cNvPr id="69" name="Image 15" descr="preencoded.png">    </p:cNvPr>
          <p:cNvPicPr>
            <a:picLocks noChangeAspect="1"/>
          </p:cNvPicPr>
          <p:nvPr/>
        </p:nvPicPr>
        <p:blipFill>
          <a:blip r:embed="rId16"/>
          <a:stretch>
            <a:fillRect/>
          </a:stretch>
        </p:blipFill>
        <p:spPr>
          <a:xfrm>
            <a:off x="11283696" y="2560320"/>
            <a:ext cx="182880" cy="182880"/>
          </a:xfrm>
          <a:prstGeom prst="rect">
            <a:avLst/>
          </a:prstGeom>
        </p:spPr>
      </p:pic>
      <p:sp>
        <p:nvSpPr>
          <p:cNvPr id="70" name="Shape 52"/>
          <p:cNvSpPr/>
          <p:nvPr/>
        </p:nvSpPr>
        <p:spPr>
          <a:xfrm>
            <a:off x="9281160" y="2916936"/>
            <a:ext cx="2240280" cy="420624"/>
          </a:xfrm>
          <a:prstGeom prst="roundRect">
            <a:avLst>
              <a:gd name="adj" fmla="val 13043"/>
            </a:avLst>
          </a:prstGeom>
          <a:solidFill>
            <a:srgbClr val="FFFFFF"/>
          </a:solidFill>
          <a:ln w="15875">
            <a:solidFill>
              <a:srgbClr val="0F6CBD"/>
            </a:solidFill>
            <a:prstDash val="solid"/>
          </a:ln>
        </p:spPr>
      </p:sp>
      <p:sp>
        <p:nvSpPr>
          <p:cNvPr id="71" name="Shape 53"/>
          <p:cNvSpPr/>
          <p:nvPr/>
        </p:nvSpPr>
        <p:spPr>
          <a:xfrm>
            <a:off x="9354312" y="2980944"/>
            <a:ext cx="292608" cy="292608"/>
          </a:xfrm>
          <a:prstGeom prst="ellipse">
            <a:avLst/>
          </a:prstGeom>
          <a:solidFill>
            <a:srgbClr val="0F6CBD"/>
          </a:solidFill>
          <a:ln/>
        </p:spPr>
      </p:sp>
      <p:sp>
        <p:nvSpPr>
          <p:cNvPr id="72" name="Text 54"/>
          <p:cNvSpPr txBox="1"/>
          <p:nvPr/>
        </p:nvSpPr>
        <p:spPr>
          <a:xfrm>
            <a:off x="9354312" y="2980944"/>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A7</a:t>
            </a:r>
            <a:endParaRPr lang="en-US" sz="1100" dirty="0"/>
          </a:p>
        </p:txBody>
      </p:sp>
      <p:sp>
        <p:nvSpPr>
          <p:cNvPr id="73" name="Text 55"/>
          <p:cNvSpPr txBox="1"/>
          <p:nvPr/>
        </p:nvSpPr>
        <p:spPr>
          <a:xfrm>
            <a:off x="9701784" y="2916936"/>
            <a:ext cx="1124712" cy="420624"/>
          </a:xfrm>
          <a:prstGeom prst="rect">
            <a:avLst/>
          </a:prstGeom>
          <a:noFill/>
          <a:ln/>
        </p:spPr>
        <p:txBody>
          <a:bodyPr wrap="square" lIns="0" tIns="0" rIns="0" bIns="0" rtlCol="0" anchor="ctr"/>
          <a:lstStyle/>
          <a:p>
            <a:pPr indent="0" marL="0">
              <a:buNone/>
            </a:pPr>
            <a:r>
              <a:rPr lang="en-US" sz="950" b="1" dirty="0">
                <a:solidFill>
                  <a:srgbClr val="1B2A49"/>
                </a:solidFill>
                <a:latin typeface="Meiryo UI" pitchFamily="34" charset="0"/>
                <a:ea typeface="Meiryo UI" pitchFamily="34" charset="-122"/>
                <a:cs typeface="Meiryo UI" pitchFamily="34" charset="-120"/>
              </a:rPr>
              <a:t>Lists＋code apps</a:t>
            </a:r>
            <a:endParaRPr lang="en-US" sz="950" dirty="0"/>
          </a:p>
        </p:txBody>
      </p:sp>
      <p:pic>
        <p:nvPicPr>
          <p:cNvPr id="74" name="Image 16" descr="preencoded.png">    </p:cNvPr>
          <p:cNvPicPr>
            <a:picLocks noChangeAspect="1"/>
          </p:cNvPicPr>
          <p:nvPr/>
        </p:nvPicPr>
        <p:blipFill>
          <a:blip r:embed="rId17"/>
          <a:stretch>
            <a:fillRect/>
          </a:stretch>
        </p:blipFill>
        <p:spPr>
          <a:xfrm>
            <a:off x="10863072" y="3035808"/>
            <a:ext cx="182880" cy="182880"/>
          </a:xfrm>
          <a:prstGeom prst="rect">
            <a:avLst/>
          </a:prstGeom>
        </p:spPr>
      </p:pic>
      <p:pic>
        <p:nvPicPr>
          <p:cNvPr id="75" name="Image 17" descr="preencoded.png">    </p:cNvPr>
          <p:cNvPicPr>
            <a:picLocks noChangeAspect="1"/>
          </p:cNvPicPr>
          <p:nvPr/>
        </p:nvPicPr>
        <p:blipFill>
          <a:blip r:embed="rId18"/>
          <a:stretch>
            <a:fillRect/>
          </a:stretch>
        </p:blipFill>
        <p:spPr>
          <a:xfrm>
            <a:off x="11073384" y="3035808"/>
            <a:ext cx="182880" cy="182880"/>
          </a:xfrm>
          <a:prstGeom prst="rect">
            <a:avLst/>
          </a:prstGeom>
        </p:spPr>
      </p:pic>
      <p:pic>
        <p:nvPicPr>
          <p:cNvPr id="76" name="Image 18" descr="preencoded.png">    </p:cNvPr>
          <p:cNvPicPr>
            <a:picLocks noChangeAspect="1"/>
          </p:cNvPicPr>
          <p:nvPr/>
        </p:nvPicPr>
        <p:blipFill>
          <a:blip r:embed="rId19"/>
          <a:stretch>
            <a:fillRect/>
          </a:stretch>
        </p:blipFill>
        <p:spPr>
          <a:xfrm>
            <a:off x="11283696" y="3035808"/>
            <a:ext cx="182880" cy="182880"/>
          </a:xfrm>
          <a:prstGeom prst="rect">
            <a:avLst/>
          </a:prstGeom>
        </p:spPr>
      </p:pic>
      <p:sp>
        <p:nvSpPr>
          <p:cNvPr id="77" name="Text 56"/>
          <p:cNvSpPr txBox="1"/>
          <p:nvPr/>
        </p:nvSpPr>
        <p:spPr>
          <a:xfrm>
            <a:off x="2286000" y="3429000"/>
            <a:ext cx="2240280" cy="868680"/>
          </a:xfrm>
          <a:prstGeom prst="rect">
            <a:avLst/>
          </a:prstGeom>
          <a:noFill/>
          <a:ln/>
        </p:spPr>
        <p:txBody>
          <a:bodyPr wrap="square" lIns="508" tIns="508" rIns="508" bIns="508" rtlCol="0" anchor="ctr"/>
          <a:lstStyle/>
          <a:p>
            <a:pPr algn="ctr" indent="0" marL="0">
              <a:buNone/>
            </a:pPr>
            <a:r>
              <a:rPr lang="en-US" sz="900" dirty="0">
                <a:solidFill>
                  <a:srgbClr val="6B7280"/>
                </a:solidFill>
                <a:latin typeface="Meiryo UI" pitchFamily="34" charset="0"/>
                <a:ea typeface="Meiryo UI" pitchFamily="34" charset="-122"/>
                <a:cs typeface="Meiryo UI" pitchFamily="34" charset="-120"/>
              </a:rPr>
              <a:t>（Step1〜2はA1・A2を</a:t>
            </a:r>
            <a:endParaRPr lang="en-US" sz="900" dirty="0"/>
          </a:p>
          <a:p>
            <a:pPr algn="ctr" indent="0" marL="0">
              <a:buNone/>
            </a:pPr>
            <a:r>
              <a:rPr lang="en-US" sz="900" dirty="0">
                <a:solidFill>
                  <a:srgbClr val="6B7280"/>
                </a:solidFill>
                <a:latin typeface="Meiryo UI" pitchFamily="34" charset="0"/>
                <a:ea typeface="Meiryo UI" pitchFamily="34" charset="-122"/>
                <a:cs typeface="Meiryo UI" pitchFamily="34" charset="-120"/>
              </a:rPr>
              <a:t>共通の出発点にできる）</a:t>
            </a:r>
            <a:endParaRPr lang="en-US" sz="900" dirty="0"/>
          </a:p>
        </p:txBody>
      </p:sp>
      <p:sp>
        <p:nvSpPr>
          <p:cNvPr id="78" name="Shape 57"/>
          <p:cNvSpPr/>
          <p:nvPr/>
        </p:nvSpPr>
        <p:spPr>
          <a:xfrm>
            <a:off x="4617720" y="3429000"/>
            <a:ext cx="4572000" cy="868680"/>
          </a:xfrm>
          <a:prstGeom prst="roundRect">
            <a:avLst>
              <a:gd name="adj" fmla="val 6316"/>
            </a:avLst>
          </a:prstGeom>
          <a:solidFill>
            <a:srgbClr val="FFFFFF"/>
          </a:solidFill>
          <a:ln w="15875">
            <a:solidFill>
              <a:srgbClr val="6B4FBB"/>
            </a:solidFill>
            <a:prstDash val="solid"/>
          </a:ln>
        </p:spPr>
      </p:sp>
      <p:sp>
        <p:nvSpPr>
          <p:cNvPr id="79" name="Shape 58"/>
          <p:cNvSpPr/>
          <p:nvPr/>
        </p:nvSpPr>
        <p:spPr>
          <a:xfrm>
            <a:off x="4690872" y="3502152"/>
            <a:ext cx="384048" cy="384048"/>
          </a:xfrm>
          <a:prstGeom prst="ellipse">
            <a:avLst/>
          </a:prstGeom>
          <a:solidFill>
            <a:srgbClr val="6B4FBB"/>
          </a:solidFill>
          <a:ln/>
        </p:spPr>
      </p:sp>
      <p:sp>
        <p:nvSpPr>
          <p:cNvPr id="80" name="Text 59"/>
          <p:cNvSpPr txBox="1"/>
          <p:nvPr/>
        </p:nvSpPr>
        <p:spPr>
          <a:xfrm>
            <a:off x="4690872" y="3502152"/>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H1</a:t>
            </a:r>
            <a:endParaRPr lang="en-US" sz="1100" dirty="0"/>
          </a:p>
        </p:txBody>
      </p:sp>
      <p:sp>
        <p:nvSpPr>
          <p:cNvPr id="81" name="Text 60"/>
          <p:cNvSpPr txBox="1"/>
          <p:nvPr/>
        </p:nvSpPr>
        <p:spPr>
          <a:xfrm>
            <a:off x="5129784" y="3465576"/>
            <a:ext cx="4005072" cy="457200"/>
          </a:xfrm>
          <a:prstGeom prst="rect">
            <a:avLst/>
          </a:prstGeom>
          <a:noFill/>
          <a:ln/>
        </p:spPr>
        <p:txBody>
          <a:bodyPr wrap="square" lIns="0" tIns="0" rIns="0" bIns="0" rtlCol="0" anchor="ctr"/>
          <a:lstStyle/>
          <a:p>
            <a:pPr indent="0" marL="0">
              <a:buNone/>
            </a:pPr>
            <a:r>
              <a:rPr lang="en-US" sz="1050" b="1" dirty="0">
                <a:solidFill>
                  <a:srgbClr val="1B2A49"/>
                </a:solidFill>
                <a:latin typeface="Meiryo UI" pitchFamily="34" charset="0"/>
                <a:ea typeface="Meiryo UI" pitchFamily="34" charset="-122"/>
                <a:cs typeface="Meiryo UI" pitchFamily="34" charset="-120"/>
              </a:rPr>
              <a:t>Copilot Studio＋GCP API（BQを直接参照）</a:t>
            </a:r>
            <a:endParaRPr lang="en-US" sz="1050" dirty="0"/>
          </a:p>
        </p:txBody>
      </p:sp>
      <p:pic>
        <p:nvPicPr>
          <p:cNvPr id="82" name="Image 19" descr="preencoded.png">    </p:cNvPr>
          <p:cNvPicPr>
            <a:picLocks noChangeAspect="1"/>
          </p:cNvPicPr>
          <p:nvPr/>
        </p:nvPicPr>
        <p:blipFill>
          <a:blip r:embed="rId20"/>
          <a:stretch>
            <a:fillRect/>
          </a:stretch>
        </p:blipFill>
        <p:spPr>
          <a:xfrm>
            <a:off x="4727448" y="4005072"/>
            <a:ext cx="201168" cy="201168"/>
          </a:xfrm>
          <a:prstGeom prst="rect">
            <a:avLst/>
          </a:prstGeom>
        </p:spPr>
      </p:pic>
      <p:pic>
        <p:nvPicPr>
          <p:cNvPr id="83" name="Image 20" descr="preencoded.png">    </p:cNvPr>
          <p:cNvPicPr>
            <a:picLocks noChangeAspect="1"/>
          </p:cNvPicPr>
          <p:nvPr/>
        </p:nvPicPr>
        <p:blipFill>
          <a:blip r:embed="rId21"/>
          <a:stretch>
            <a:fillRect/>
          </a:stretch>
        </p:blipFill>
        <p:spPr>
          <a:xfrm>
            <a:off x="5001768" y="4005072"/>
            <a:ext cx="201168" cy="201168"/>
          </a:xfrm>
          <a:prstGeom prst="rect">
            <a:avLst/>
          </a:prstGeom>
        </p:spPr>
      </p:pic>
      <p:pic>
        <p:nvPicPr>
          <p:cNvPr id="84" name="Image 21" descr="preencoded.png">    </p:cNvPr>
          <p:cNvPicPr>
            <a:picLocks noChangeAspect="1"/>
          </p:cNvPicPr>
          <p:nvPr/>
        </p:nvPicPr>
        <p:blipFill>
          <a:blip r:embed="rId22"/>
          <a:stretch>
            <a:fillRect/>
          </a:stretch>
        </p:blipFill>
        <p:spPr>
          <a:xfrm>
            <a:off x="5276088" y="4005072"/>
            <a:ext cx="201168" cy="201168"/>
          </a:xfrm>
          <a:prstGeom prst="rect">
            <a:avLst/>
          </a:prstGeom>
        </p:spPr>
      </p:pic>
      <p:pic>
        <p:nvPicPr>
          <p:cNvPr id="85" name="Image 22" descr="preencoded.png">    </p:cNvPr>
          <p:cNvPicPr>
            <a:picLocks noChangeAspect="1"/>
          </p:cNvPicPr>
          <p:nvPr/>
        </p:nvPicPr>
        <p:blipFill>
          <a:blip r:embed="rId23"/>
          <a:stretch>
            <a:fillRect/>
          </a:stretch>
        </p:blipFill>
        <p:spPr>
          <a:xfrm>
            <a:off x="5550408" y="4005072"/>
            <a:ext cx="201168" cy="201168"/>
          </a:xfrm>
          <a:prstGeom prst="rect">
            <a:avLst/>
          </a:prstGeom>
        </p:spPr>
      </p:pic>
      <p:sp>
        <p:nvSpPr>
          <p:cNvPr id="86" name="Text 61"/>
          <p:cNvSpPr txBox="1"/>
          <p:nvPr/>
        </p:nvSpPr>
        <p:spPr>
          <a:xfrm>
            <a:off x="5806440" y="3986784"/>
            <a:ext cx="3291840" cy="237744"/>
          </a:xfrm>
          <a:prstGeom prst="rect">
            <a:avLst/>
          </a:prstGeom>
          <a:noFill/>
          <a:ln/>
        </p:spPr>
        <p:txBody>
          <a:bodyPr wrap="square" lIns="0" tIns="0" rIns="0" bIns="0" rtlCol="0" anchor="ctr"/>
          <a:lstStyle/>
          <a:p>
            <a:pPr algn="r" indent="0" marL="0">
              <a:buNone/>
            </a:pPr>
            <a:r>
              <a:rPr lang="en-US" sz="850" dirty="0">
                <a:solidFill>
                  <a:srgbClr val="6B7280"/>
                </a:solidFill>
                <a:latin typeface="Meiryo UI" pitchFamily="34" charset="0"/>
                <a:ea typeface="Meiryo UI" pitchFamily="34" charset="-122"/>
                <a:cs typeface="Meiryo UI" pitchFamily="34" charset="-120"/>
              </a:rPr>
              <a:t>管理：Airtable｜自動起案まで拡張可</a:t>
            </a:r>
            <a:endParaRPr lang="en-US" sz="850" dirty="0"/>
          </a:p>
        </p:txBody>
      </p:sp>
      <p:sp>
        <p:nvSpPr>
          <p:cNvPr id="87" name="Text 62"/>
          <p:cNvSpPr txBox="1"/>
          <p:nvPr/>
        </p:nvSpPr>
        <p:spPr>
          <a:xfrm>
            <a:off x="9281160" y="3429000"/>
            <a:ext cx="2240280" cy="868680"/>
          </a:xfrm>
          <a:prstGeom prst="rect">
            <a:avLst/>
          </a:prstGeom>
          <a:noFill/>
          <a:ln/>
        </p:spPr>
        <p:txBody>
          <a:bodyPr wrap="square" lIns="508" tIns="508" rIns="508" bIns="508" rtlCol="0" anchor="ctr"/>
          <a:lstStyle/>
          <a:p>
            <a:pPr algn="ctr" indent="0" marL="0">
              <a:buNone/>
            </a:pPr>
            <a:r>
              <a:rPr lang="en-US" sz="900" dirty="0">
                <a:solidFill>
                  <a:srgbClr val="6B7280"/>
                </a:solidFill>
                <a:latin typeface="Meiryo UI" pitchFamily="34" charset="0"/>
                <a:ea typeface="Meiryo UI" pitchFamily="34" charset="-122"/>
                <a:cs typeface="Meiryo UI" pitchFamily="34" charset="-120"/>
              </a:rPr>
              <a:t>（H1で管理基盤を</a:t>
            </a:r>
            <a:endParaRPr lang="en-US" sz="900" dirty="0"/>
          </a:p>
          <a:p>
            <a:pPr algn="ctr" indent="0" marL="0">
              <a:buNone/>
            </a:pPr>
            <a:r>
              <a:rPr lang="en-US" sz="900" dirty="0">
                <a:solidFill>
                  <a:srgbClr val="6B7280"/>
                </a:solidFill>
                <a:latin typeface="Meiryo UI" pitchFamily="34" charset="0"/>
                <a:ea typeface="Meiryo UI" pitchFamily="34" charset="-122"/>
                <a:cs typeface="Meiryo UI" pitchFamily="34" charset="-120"/>
              </a:rPr>
              <a:t>移行する構成も可能）</a:t>
            </a:r>
            <a:endParaRPr lang="en-US" sz="900" dirty="0"/>
          </a:p>
        </p:txBody>
      </p:sp>
      <p:sp>
        <p:nvSpPr>
          <p:cNvPr id="88" name="Text 63"/>
          <p:cNvSpPr txBox="1"/>
          <p:nvPr/>
        </p:nvSpPr>
        <p:spPr>
          <a:xfrm>
            <a:off x="2286000" y="4389120"/>
            <a:ext cx="2240280" cy="868680"/>
          </a:xfrm>
          <a:prstGeom prst="rect">
            <a:avLst/>
          </a:prstGeom>
          <a:noFill/>
          <a:ln/>
        </p:spPr>
        <p:txBody>
          <a:bodyPr wrap="square" lIns="508" tIns="508" rIns="508" bIns="508" rtlCol="0" anchor="ctr"/>
          <a:lstStyle/>
          <a:p>
            <a:pPr algn="ctr" indent="0" marL="0">
              <a:buNone/>
            </a:pPr>
            <a:r>
              <a:rPr lang="en-US" sz="900" dirty="0">
                <a:solidFill>
                  <a:srgbClr val="6B7280"/>
                </a:solidFill>
                <a:latin typeface="Meiryo UI" pitchFamily="34" charset="0"/>
                <a:ea typeface="Meiryo UI" pitchFamily="34" charset="-122"/>
                <a:cs typeface="Meiryo UI" pitchFamily="34" charset="-120"/>
              </a:rPr>
              <a:t>（Step1〜2はA1・A2を</a:t>
            </a:r>
            <a:endParaRPr lang="en-US" sz="900" dirty="0"/>
          </a:p>
          <a:p>
            <a:pPr algn="ctr" indent="0" marL="0">
              <a:buNone/>
            </a:pPr>
            <a:r>
              <a:rPr lang="en-US" sz="900" dirty="0">
                <a:solidFill>
                  <a:srgbClr val="6B7280"/>
                </a:solidFill>
                <a:latin typeface="Meiryo UI" pitchFamily="34" charset="0"/>
                <a:ea typeface="Meiryo UI" pitchFamily="34" charset="-122"/>
                <a:cs typeface="Meiryo UI" pitchFamily="34" charset="-120"/>
              </a:rPr>
              <a:t>共通の出発点にできる）</a:t>
            </a:r>
            <a:endParaRPr lang="en-US" sz="900" dirty="0"/>
          </a:p>
        </p:txBody>
      </p:sp>
      <p:sp>
        <p:nvSpPr>
          <p:cNvPr id="89" name="Shape 64"/>
          <p:cNvSpPr/>
          <p:nvPr/>
        </p:nvSpPr>
        <p:spPr>
          <a:xfrm>
            <a:off x="4617720" y="4389120"/>
            <a:ext cx="2240280" cy="868680"/>
          </a:xfrm>
          <a:prstGeom prst="roundRect">
            <a:avLst>
              <a:gd name="adj" fmla="val 6316"/>
            </a:avLst>
          </a:prstGeom>
          <a:solidFill>
            <a:srgbClr val="FFFFFF"/>
          </a:solidFill>
          <a:ln w="15875">
            <a:solidFill>
              <a:srgbClr val="4285F4"/>
            </a:solidFill>
            <a:prstDash val="solid"/>
          </a:ln>
        </p:spPr>
      </p:sp>
      <p:sp>
        <p:nvSpPr>
          <p:cNvPr id="90" name="Shape 65"/>
          <p:cNvSpPr/>
          <p:nvPr/>
        </p:nvSpPr>
        <p:spPr>
          <a:xfrm>
            <a:off x="4690872" y="4462272"/>
            <a:ext cx="384048" cy="384048"/>
          </a:xfrm>
          <a:prstGeom prst="ellipse">
            <a:avLst/>
          </a:prstGeom>
          <a:solidFill>
            <a:srgbClr val="4285F4"/>
          </a:solidFill>
          <a:ln/>
        </p:spPr>
      </p:sp>
      <p:sp>
        <p:nvSpPr>
          <p:cNvPr id="91" name="Text 66"/>
          <p:cNvSpPr txBox="1"/>
          <p:nvPr/>
        </p:nvSpPr>
        <p:spPr>
          <a:xfrm>
            <a:off x="4690872" y="4462272"/>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B1</a:t>
            </a:r>
            <a:endParaRPr lang="en-US" sz="1100" dirty="0"/>
          </a:p>
        </p:txBody>
      </p:sp>
      <p:sp>
        <p:nvSpPr>
          <p:cNvPr id="92" name="Text 67"/>
          <p:cNvSpPr txBox="1"/>
          <p:nvPr/>
        </p:nvSpPr>
        <p:spPr>
          <a:xfrm>
            <a:off x="5129784" y="4425696"/>
            <a:ext cx="1673352" cy="457200"/>
          </a:xfrm>
          <a:prstGeom prst="rect">
            <a:avLst/>
          </a:prstGeom>
          <a:noFill/>
          <a:ln/>
        </p:spPr>
        <p:txBody>
          <a:bodyPr wrap="square" lIns="0" tIns="0" rIns="0" bIns="0" rtlCol="0" anchor="ctr"/>
          <a:lstStyle/>
          <a:p>
            <a:pPr indent="0" marL="0">
              <a:buNone/>
            </a:pPr>
            <a:r>
              <a:rPr lang="en-US" sz="1050" b="1" dirty="0">
                <a:solidFill>
                  <a:srgbClr val="1B2A49"/>
                </a:solidFill>
                <a:latin typeface="Meiryo UI" pitchFamily="34" charset="0"/>
                <a:ea typeface="Meiryo UI" pitchFamily="34" charset="-122"/>
                <a:cs typeface="Meiryo UI" pitchFamily="34" charset="-120"/>
              </a:rPr>
              <a:t>Gemini Enterprise</a:t>
            </a:r>
            <a:endParaRPr lang="en-US" sz="1050" dirty="0"/>
          </a:p>
          <a:p>
            <a:pPr indent="0" marL="0">
              <a:buNone/>
            </a:pPr>
            <a:r>
              <a:rPr lang="en-US" sz="1050" b="1" dirty="0">
                <a:solidFill>
                  <a:srgbClr val="1B2A49"/>
                </a:solidFill>
                <a:latin typeface="Meiryo UI" pitchFamily="34" charset="0"/>
                <a:ea typeface="Meiryo UI" pitchFamily="34" charset="-122"/>
                <a:cs typeface="Meiryo UI" pitchFamily="34" charset="-120"/>
              </a:rPr>
              <a:t>エージェント</a:t>
            </a:r>
            <a:endParaRPr lang="en-US" sz="1050" dirty="0"/>
          </a:p>
        </p:txBody>
      </p:sp>
      <p:pic>
        <p:nvPicPr>
          <p:cNvPr id="93" name="Image 23" descr="preencoded.png">    </p:cNvPr>
          <p:cNvPicPr>
            <a:picLocks noChangeAspect="1"/>
          </p:cNvPicPr>
          <p:nvPr/>
        </p:nvPicPr>
        <p:blipFill>
          <a:blip r:embed="rId24"/>
          <a:stretch>
            <a:fillRect/>
          </a:stretch>
        </p:blipFill>
        <p:spPr>
          <a:xfrm>
            <a:off x="4727448" y="4965192"/>
            <a:ext cx="201168" cy="201168"/>
          </a:xfrm>
          <a:prstGeom prst="rect">
            <a:avLst/>
          </a:prstGeom>
        </p:spPr>
      </p:pic>
      <p:pic>
        <p:nvPicPr>
          <p:cNvPr id="94" name="Image 24" descr="preencoded.png">    </p:cNvPr>
          <p:cNvPicPr>
            <a:picLocks noChangeAspect="1"/>
          </p:cNvPicPr>
          <p:nvPr/>
        </p:nvPicPr>
        <p:blipFill>
          <a:blip r:embed="rId25"/>
          <a:stretch>
            <a:fillRect/>
          </a:stretch>
        </p:blipFill>
        <p:spPr>
          <a:xfrm>
            <a:off x="5001768" y="4965192"/>
            <a:ext cx="201168" cy="201168"/>
          </a:xfrm>
          <a:prstGeom prst="rect">
            <a:avLst/>
          </a:prstGeom>
        </p:spPr>
      </p:pic>
      <p:pic>
        <p:nvPicPr>
          <p:cNvPr id="95" name="Image 25" descr="preencoded.png">    </p:cNvPr>
          <p:cNvPicPr>
            <a:picLocks noChangeAspect="1"/>
          </p:cNvPicPr>
          <p:nvPr/>
        </p:nvPicPr>
        <p:blipFill>
          <a:blip r:embed="rId26"/>
          <a:stretch>
            <a:fillRect/>
          </a:stretch>
        </p:blipFill>
        <p:spPr>
          <a:xfrm>
            <a:off x="5276088" y="4965192"/>
            <a:ext cx="201168" cy="201168"/>
          </a:xfrm>
          <a:prstGeom prst="rect">
            <a:avLst/>
          </a:prstGeom>
        </p:spPr>
      </p:pic>
      <p:sp>
        <p:nvSpPr>
          <p:cNvPr id="96" name="Text 68"/>
          <p:cNvSpPr txBox="1"/>
          <p:nvPr/>
        </p:nvSpPr>
        <p:spPr>
          <a:xfrm>
            <a:off x="5532120" y="4946904"/>
            <a:ext cx="1234440" cy="237744"/>
          </a:xfrm>
          <a:prstGeom prst="rect">
            <a:avLst/>
          </a:prstGeom>
          <a:noFill/>
          <a:ln/>
        </p:spPr>
        <p:txBody>
          <a:bodyPr wrap="square" lIns="0" tIns="0" rIns="0" bIns="0" rtlCol="0" anchor="ctr"/>
          <a:lstStyle/>
          <a:p>
            <a:pPr algn="r" indent="0" marL="0">
              <a:buNone/>
            </a:pPr>
            <a:r>
              <a:rPr lang="en-US" sz="850" dirty="0">
                <a:solidFill>
                  <a:srgbClr val="6B7280"/>
                </a:solidFill>
                <a:latin typeface="Meiryo UI" pitchFamily="34" charset="0"/>
                <a:ea typeface="Meiryo UI" pitchFamily="34" charset="-122"/>
                <a:cs typeface="Meiryo UI" pitchFamily="34" charset="-120"/>
              </a:rPr>
              <a:t>管理：Airtable</a:t>
            </a:r>
            <a:endParaRPr lang="en-US" sz="850" dirty="0"/>
          </a:p>
        </p:txBody>
      </p:sp>
      <p:sp>
        <p:nvSpPr>
          <p:cNvPr id="97" name="Shape 69"/>
          <p:cNvSpPr/>
          <p:nvPr/>
        </p:nvSpPr>
        <p:spPr>
          <a:xfrm>
            <a:off x="6949440" y="4389120"/>
            <a:ext cx="2240280" cy="868680"/>
          </a:xfrm>
          <a:prstGeom prst="roundRect">
            <a:avLst>
              <a:gd name="adj" fmla="val 6316"/>
            </a:avLst>
          </a:prstGeom>
          <a:solidFill>
            <a:srgbClr val="FFFFFF"/>
          </a:solidFill>
          <a:ln w="15875">
            <a:solidFill>
              <a:srgbClr val="4285F4"/>
            </a:solidFill>
            <a:prstDash val="solid"/>
          </a:ln>
        </p:spPr>
      </p:sp>
      <p:sp>
        <p:nvSpPr>
          <p:cNvPr id="98" name="Shape 70"/>
          <p:cNvSpPr/>
          <p:nvPr/>
        </p:nvSpPr>
        <p:spPr>
          <a:xfrm>
            <a:off x="7022592" y="4462272"/>
            <a:ext cx="384048" cy="384048"/>
          </a:xfrm>
          <a:prstGeom prst="ellipse">
            <a:avLst/>
          </a:prstGeom>
          <a:solidFill>
            <a:srgbClr val="4285F4"/>
          </a:solidFill>
          <a:ln/>
        </p:spPr>
      </p:sp>
      <p:sp>
        <p:nvSpPr>
          <p:cNvPr id="99" name="Text 71"/>
          <p:cNvSpPr txBox="1"/>
          <p:nvPr/>
        </p:nvSpPr>
        <p:spPr>
          <a:xfrm>
            <a:off x="7022592" y="4462272"/>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B2</a:t>
            </a:r>
            <a:endParaRPr lang="en-US" sz="1100" dirty="0"/>
          </a:p>
        </p:txBody>
      </p:sp>
      <p:sp>
        <p:nvSpPr>
          <p:cNvPr id="100" name="Text 72"/>
          <p:cNvSpPr txBox="1"/>
          <p:nvPr/>
        </p:nvSpPr>
        <p:spPr>
          <a:xfrm>
            <a:off x="7461504" y="4425696"/>
            <a:ext cx="1673352" cy="457200"/>
          </a:xfrm>
          <a:prstGeom prst="rect">
            <a:avLst/>
          </a:prstGeom>
          <a:noFill/>
          <a:ln/>
        </p:spPr>
        <p:txBody>
          <a:bodyPr wrap="square" lIns="0" tIns="0" rIns="0" bIns="0" rtlCol="0" anchor="ctr"/>
          <a:lstStyle/>
          <a:p>
            <a:pPr indent="0" marL="0">
              <a:buNone/>
            </a:pPr>
            <a:r>
              <a:rPr lang="en-US" sz="1050" b="1" dirty="0">
                <a:solidFill>
                  <a:srgbClr val="1B2A49"/>
                </a:solidFill>
                <a:latin typeface="Meiryo UI" pitchFamily="34" charset="0"/>
                <a:ea typeface="Meiryo UI" pitchFamily="34" charset="-122"/>
                <a:cs typeface="Meiryo UI" pitchFamily="34" charset="-120"/>
              </a:rPr>
              <a:t>Agent Platform＋</a:t>
            </a:r>
            <a:endParaRPr lang="en-US" sz="1050" dirty="0"/>
          </a:p>
          <a:p>
            <a:pPr indent="0" marL="0">
              <a:buNone/>
            </a:pPr>
            <a:r>
              <a:rPr lang="en-US" sz="1050" b="1" dirty="0">
                <a:solidFill>
                  <a:srgbClr val="1B2A49"/>
                </a:solidFill>
                <a:latin typeface="Meiryo UI" pitchFamily="34" charset="0"/>
                <a:ea typeface="Meiryo UI" pitchFamily="34" charset="-122"/>
                <a:cs typeface="Meiryo UI" pitchFamily="34" charset="-120"/>
              </a:rPr>
              <a:t>Geminiで自動起案</a:t>
            </a:r>
            <a:endParaRPr lang="en-US" sz="1050" dirty="0"/>
          </a:p>
        </p:txBody>
      </p:sp>
      <p:pic>
        <p:nvPicPr>
          <p:cNvPr id="101" name="Image 26" descr="preencoded.png">    </p:cNvPr>
          <p:cNvPicPr>
            <a:picLocks noChangeAspect="1"/>
          </p:cNvPicPr>
          <p:nvPr/>
        </p:nvPicPr>
        <p:blipFill>
          <a:blip r:embed="rId27"/>
          <a:stretch>
            <a:fillRect/>
          </a:stretch>
        </p:blipFill>
        <p:spPr>
          <a:xfrm>
            <a:off x="7059168" y="4965192"/>
            <a:ext cx="201168" cy="201168"/>
          </a:xfrm>
          <a:prstGeom prst="rect">
            <a:avLst/>
          </a:prstGeom>
        </p:spPr>
      </p:pic>
      <p:pic>
        <p:nvPicPr>
          <p:cNvPr id="102" name="Image 27" descr="preencoded.png">    </p:cNvPr>
          <p:cNvPicPr>
            <a:picLocks noChangeAspect="1"/>
          </p:cNvPicPr>
          <p:nvPr/>
        </p:nvPicPr>
        <p:blipFill>
          <a:blip r:embed="rId28"/>
          <a:stretch>
            <a:fillRect/>
          </a:stretch>
        </p:blipFill>
        <p:spPr>
          <a:xfrm>
            <a:off x="7333488" y="4965192"/>
            <a:ext cx="201168" cy="201168"/>
          </a:xfrm>
          <a:prstGeom prst="rect">
            <a:avLst/>
          </a:prstGeom>
        </p:spPr>
      </p:pic>
      <p:pic>
        <p:nvPicPr>
          <p:cNvPr id="103" name="Image 28" descr="preencoded.png">    </p:cNvPr>
          <p:cNvPicPr>
            <a:picLocks noChangeAspect="1"/>
          </p:cNvPicPr>
          <p:nvPr/>
        </p:nvPicPr>
        <p:blipFill>
          <a:blip r:embed="rId29"/>
          <a:stretch>
            <a:fillRect/>
          </a:stretch>
        </p:blipFill>
        <p:spPr>
          <a:xfrm>
            <a:off x="7607808" y="4965192"/>
            <a:ext cx="201168" cy="201168"/>
          </a:xfrm>
          <a:prstGeom prst="rect">
            <a:avLst/>
          </a:prstGeom>
        </p:spPr>
      </p:pic>
      <p:sp>
        <p:nvSpPr>
          <p:cNvPr id="104" name="Text 73"/>
          <p:cNvSpPr txBox="1"/>
          <p:nvPr/>
        </p:nvSpPr>
        <p:spPr>
          <a:xfrm>
            <a:off x="7863840" y="4946904"/>
            <a:ext cx="1234440" cy="237744"/>
          </a:xfrm>
          <a:prstGeom prst="rect">
            <a:avLst/>
          </a:prstGeom>
          <a:noFill/>
          <a:ln/>
        </p:spPr>
        <p:txBody>
          <a:bodyPr wrap="square" lIns="0" tIns="0" rIns="0" bIns="0" rtlCol="0" anchor="ctr"/>
          <a:lstStyle/>
          <a:p>
            <a:pPr algn="r" indent="0" marL="0">
              <a:buNone/>
            </a:pPr>
            <a:r>
              <a:rPr lang="en-US" sz="850" dirty="0">
                <a:solidFill>
                  <a:srgbClr val="6B7280"/>
                </a:solidFill>
                <a:latin typeface="Meiryo UI" pitchFamily="34" charset="0"/>
                <a:ea typeface="Meiryo UI" pitchFamily="34" charset="-122"/>
                <a:cs typeface="Meiryo UI" pitchFamily="34" charset="-120"/>
              </a:rPr>
              <a:t>管理：Airtable</a:t>
            </a:r>
            <a:endParaRPr lang="en-US" sz="850" dirty="0"/>
          </a:p>
        </p:txBody>
      </p:sp>
      <p:sp>
        <p:nvSpPr>
          <p:cNvPr id="105" name="Shape 74"/>
          <p:cNvSpPr/>
          <p:nvPr/>
        </p:nvSpPr>
        <p:spPr>
          <a:xfrm>
            <a:off x="9281160" y="4389120"/>
            <a:ext cx="2240280" cy="868680"/>
          </a:xfrm>
          <a:prstGeom prst="roundRect">
            <a:avLst>
              <a:gd name="adj" fmla="val 6316"/>
            </a:avLst>
          </a:prstGeom>
          <a:solidFill>
            <a:srgbClr val="FFFFFF"/>
          </a:solidFill>
          <a:ln w="15875">
            <a:solidFill>
              <a:srgbClr val="4285F4"/>
            </a:solidFill>
            <a:prstDash val="solid"/>
          </a:ln>
        </p:spPr>
      </p:sp>
      <p:sp>
        <p:nvSpPr>
          <p:cNvPr id="106" name="Shape 75"/>
          <p:cNvSpPr/>
          <p:nvPr/>
        </p:nvSpPr>
        <p:spPr>
          <a:xfrm>
            <a:off x="9354312" y="4462272"/>
            <a:ext cx="384048" cy="384048"/>
          </a:xfrm>
          <a:prstGeom prst="ellipse">
            <a:avLst/>
          </a:prstGeom>
          <a:solidFill>
            <a:srgbClr val="4285F4"/>
          </a:solidFill>
          <a:ln/>
        </p:spPr>
      </p:sp>
      <p:sp>
        <p:nvSpPr>
          <p:cNvPr id="107" name="Text 76"/>
          <p:cNvSpPr txBox="1"/>
          <p:nvPr/>
        </p:nvSpPr>
        <p:spPr>
          <a:xfrm>
            <a:off x="9354312" y="4462272"/>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B3</a:t>
            </a:r>
            <a:endParaRPr lang="en-US" sz="1100" dirty="0"/>
          </a:p>
        </p:txBody>
      </p:sp>
      <p:sp>
        <p:nvSpPr>
          <p:cNvPr id="108" name="Text 77"/>
          <p:cNvSpPr txBox="1"/>
          <p:nvPr/>
        </p:nvSpPr>
        <p:spPr>
          <a:xfrm>
            <a:off x="9793224" y="4425696"/>
            <a:ext cx="1673352" cy="457200"/>
          </a:xfrm>
          <a:prstGeom prst="rect">
            <a:avLst/>
          </a:prstGeom>
          <a:noFill/>
          <a:ln/>
        </p:spPr>
        <p:txBody>
          <a:bodyPr wrap="square" lIns="0" tIns="0" rIns="0" bIns="0" rtlCol="0" anchor="ctr"/>
          <a:lstStyle/>
          <a:p>
            <a:pPr indent="0" marL="0">
              <a:buNone/>
            </a:pPr>
            <a:r>
              <a:rPr lang="en-US" sz="1050" b="1" dirty="0">
                <a:solidFill>
                  <a:srgbClr val="1B2A49"/>
                </a:solidFill>
                <a:latin typeface="Meiryo UI" pitchFamily="34" charset="0"/>
                <a:ea typeface="Meiryo UI" pitchFamily="34" charset="-122"/>
                <a:cs typeface="Meiryo UI" pitchFamily="34" charset="-120"/>
              </a:rPr>
              <a:t>スクラッチ開発</a:t>
            </a:r>
            <a:endParaRPr lang="en-US" sz="1050" dirty="0"/>
          </a:p>
        </p:txBody>
      </p:sp>
      <p:pic>
        <p:nvPicPr>
          <p:cNvPr id="109" name="Image 29" descr="preencoded.png">    </p:cNvPr>
          <p:cNvPicPr>
            <a:picLocks noChangeAspect="1"/>
          </p:cNvPicPr>
          <p:nvPr/>
        </p:nvPicPr>
        <p:blipFill>
          <a:blip r:embed="rId30"/>
          <a:stretch>
            <a:fillRect/>
          </a:stretch>
        </p:blipFill>
        <p:spPr>
          <a:xfrm>
            <a:off x="9390888" y="4965192"/>
            <a:ext cx="201168" cy="201168"/>
          </a:xfrm>
          <a:prstGeom prst="rect">
            <a:avLst/>
          </a:prstGeom>
        </p:spPr>
      </p:pic>
      <p:pic>
        <p:nvPicPr>
          <p:cNvPr id="110" name="Image 30" descr="preencoded.png">    </p:cNvPr>
          <p:cNvPicPr>
            <a:picLocks noChangeAspect="1"/>
          </p:cNvPicPr>
          <p:nvPr/>
        </p:nvPicPr>
        <p:blipFill>
          <a:blip r:embed="rId31"/>
          <a:stretch>
            <a:fillRect/>
          </a:stretch>
        </p:blipFill>
        <p:spPr>
          <a:xfrm>
            <a:off x="9665208" y="4965192"/>
            <a:ext cx="201168" cy="201168"/>
          </a:xfrm>
          <a:prstGeom prst="rect">
            <a:avLst/>
          </a:prstGeom>
        </p:spPr>
      </p:pic>
      <p:pic>
        <p:nvPicPr>
          <p:cNvPr id="111" name="Image 31" descr="preencoded.png">    </p:cNvPr>
          <p:cNvPicPr>
            <a:picLocks noChangeAspect="1"/>
          </p:cNvPicPr>
          <p:nvPr/>
        </p:nvPicPr>
        <p:blipFill>
          <a:blip r:embed="rId32"/>
          <a:stretch>
            <a:fillRect/>
          </a:stretch>
        </p:blipFill>
        <p:spPr>
          <a:xfrm>
            <a:off x="9939528" y="4965192"/>
            <a:ext cx="201168" cy="201168"/>
          </a:xfrm>
          <a:prstGeom prst="rect">
            <a:avLst/>
          </a:prstGeom>
        </p:spPr>
      </p:pic>
      <p:sp>
        <p:nvSpPr>
          <p:cNvPr id="112" name="Text 78"/>
          <p:cNvSpPr txBox="1"/>
          <p:nvPr/>
        </p:nvSpPr>
        <p:spPr>
          <a:xfrm>
            <a:off x="10195560" y="4946904"/>
            <a:ext cx="1234440" cy="237744"/>
          </a:xfrm>
          <a:prstGeom prst="rect">
            <a:avLst/>
          </a:prstGeom>
          <a:noFill/>
          <a:ln/>
        </p:spPr>
        <p:txBody>
          <a:bodyPr wrap="square" lIns="0" tIns="0" rIns="0" bIns="0" rtlCol="0" anchor="ctr"/>
          <a:lstStyle/>
          <a:p>
            <a:pPr algn="r" indent="0" marL="0">
              <a:buNone/>
            </a:pPr>
            <a:r>
              <a:rPr lang="en-US" sz="850" dirty="0">
                <a:solidFill>
                  <a:srgbClr val="6B7280"/>
                </a:solidFill>
                <a:latin typeface="Meiryo UI" pitchFamily="34" charset="0"/>
                <a:ea typeface="Meiryo UI" pitchFamily="34" charset="-122"/>
                <a:cs typeface="Meiryo UI" pitchFamily="34" charset="-120"/>
              </a:rPr>
              <a:t>管理：独自アプリ</a:t>
            </a:r>
            <a:endParaRPr lang="en-US" sz="850" dirty="0"/>
          </a:p>
        </p:txBody>
      </p:sp>
      <p:sp>
        <p:nvSpPr>
          <p:cNvPr id="113" name="Text 79"/>
          <p:cNvSpPr txBox="1"/>
          <p:nvPr/>
        </p:nvSpPr>
        <p:spPr>
          <a:xfrm>
            <a:off x="2286000" y="5349240"/>
            <a:ext cx="2240280" cy="868680"/>
          </a:xfrm>
          <a:prstGeom prst="rect">
            <a:avLst/>
          </a:prstGeom>
          <a:noFill/>
          <a:ln/>
        </p:spPr>
        <p:txBody>
          <a:bodyPr wrap="square" lIns="508" tIns="508" rIns="508" bIns="508" rtlCol="0" anchor="ctr"/>
          <a:lstStyle/>
          <a:p>
            <a:pPr algn="ctr" indent="0" marL="0">
              <a:buNone/>
            </a:pPr>
            <a:r>
              <a:rPr lang="en-US" sz="900" dirty="0">
                <a:solidFill>
                  <a:srgbClr val="6B7280"/>
                </a:solidFill>
                <a:latin typeface="Meiryo UI" pitchFamily="34" charset="0"/>
                <a:ea typeface="Meiryo UI" pitchFamily="34" charset="-122"/>
                <a:cs typeface="Meiryo UI" pitchFamily="34" charset="-120"/>
              </a:rPr>
              <a:t>（M365・GCPとは独立した</a:t>
            </a:r>
            <a:endParaRPr lang="en-US" sz="900" dirty="0"/>
          </a:p>
          <a:p>
            <a:pPr algn="ctr" indent="0" marL="0">
              <a:buNone/>
            </a:pPr>
            <a:r>
              <a:rPr lang="en-US" sz="900" dirty="0">
                <a:solidFill>
                  <a:srgbClr val="6B7280"/>
                </a:solidFill>
                <a:latin typeface="Meiryo UI" pitchFamily="34" charset="0"/>
                <a:ea typeface="Meiryo UI" pitchFamily="34" charset="-122"/>
                <a:cs typeface="Meiryo UI" pitchFamily="34" charset="-120"/>
              </a:rPr>
              <a:t>選択肢）</a:t>
            </a:r>
            <a:endParaRPr lang="en-US" sz="900" dirty="0"/>
          </a:p>
        </p:txBody>
      </p:sp>
      <p:sp>
        <p:nvSpPr>
          <p:cNvPr id="114" name="Shape 80"/>
          <p:cNvSpPr/>
          <p:nvPr/>
        </p:nvSpPr>
        <p:spPr>
          <a:xfrm>
            <a:off x="4617720" y="5349240"/>
            <a:ext cx="4572000" cy="868680"/>
          </a:xfrm>
          <a:prstGeom prst="roundRect">
            <a:avLst>
              <a:gd name="adj" fmla="val 6316"/>
            </a:avLst>
          </a:prstGeom>
          <a:solidFill>
            <a:srgbClr val="FFFFFF"/>
          </a:solidFill>
          <a:ln w="15875">
            <a:solidFill>
              <a:srgbClr val="C77700"/>
            </a:solidFill>
            <a:prstDash val="solid"/>
          </a:ln>
        </p:spPr>
      </p:sp>
      <p:sp>
        <p:nvSpPr>
          <p:cNvPr id="115" name="Shape 81"/>
          <p:cNvSpPr/>
          <p:nvPr/>
        </p:nvSpPr>
        <p:spPr>
          <a:xfrm>
            <a:off x="4690872" y="5422392"/>
            <a:ext cx="384048" cy="384048"/>
          </a:xfrm>
          <a:prstGeom prst="ellipse">
            <a:avLst/>
          </a:prstGeom>
          <a:solidFill>
            <a:srgbClr val="C77700"/>
          </a:solidFill>
          <a:ln/>
        </p:spPr>
      </p:sp>
      <p:sp>
        <p:nvSpPr>
          <p:cNvPr id="116" name="Text 82"/>
          <p:cNvSpPr txBox="1"/>
          <p:nvPr/>
        </p:nvSpPr>
        <p:spPr>
          <a:xfrm>
            <a:off x="4690872" y="5422392"/>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C1</a:t>
            </a:r>
            <a:endParaRPr lang="en-US" sz="1100" dirty="0"/>
          </a:p>
        </p:txBody>
      </p:sp>
      <p:sp>
        <p:nvSpPr>
          <p:cNvPr id="117" name="Text 83"/>
          <p:cNvSpPr txBox="1"/>
          <p:nvPr/>
        </p:nvSpPr>
        <p:spPr>
          <a:xfrm>
            <a:off x="5129784" y="5385816"/>
            <a:ext cx="4005072" cy="457200"/>
          </a:xfrm>
          <a:prstGeom prst="rect">
            <a:avLst/>
          </a:prstGeom>
          <a:noFill/>
          <a:ln/>
        </p:spPr>
        <p:txBody>
          <a:bodyPr wrap="square" lIns="0" tIns="0" rIns="0" bIns="0" rtlCol="0" anchor="ctr"/>
          <a:lstStyle/>
          <a:p>
            <a:pPr indent="0" marL="0">
              <a:buNone/>
            </a:pPr>
            <a:r>
              <a:rPr lang="en-US" sz="1050" b="1" dirty="0">
                <a:solidFill>
                  <a:srgbClr val="1B2A49"/>
                </a:solidFill>
                <a:latin typeface="Meiryo UI" pitchFamily="34" charset="0"/>
                <a:ea typeface="Meiryo UI" pitchFamily="34" charset="-122"/>
                <a:cs typeface="Meiryo UI" pitchFamily="34" charset="-120"/>
              </a:rPr>
              <a:t>Airtable標準のAI（Field Agents）</a:t>
            </a:r>
            <a:endParaRPr lang="en-US" sz="1050" dirty="0"/>
          </a:p>
        </p:txBody>
      </p:sp>
      <p:pic>
        <p:nvPicPr>
          <p:cNvPr id="118" name="Image 32" descr="preencoded.png">    </p:cNvPr>
          <p:cNvPicPr>
            <a:picLocks noChangeAspect="1"/>
          </p:cNvPicPr>
          <p:nvPr/>
        </p:nvPicPr>
        <p:blipFill>
          <a:blip r:embed="rId33"/>
          <a:stretch>
            <a:fillRect/>
          </a:stretch>
        </p:blipFill>
        <p:spPr>
          <a:xfrm>
            <a:off x="4727448" y="5925312"/>
            <a:ext cx="201168" cy="201168"/>
          </a:xfrm>
          <a:prstGeom prst="rect">
            <a:avLst/>
          </a:prstGeom>
        </p:spPr>
      </p:pic>
      <p:pic>
        <p:nvPicPr>
          <p:cNvPr id="119" name="Image 33" descr="preencoded.png">    </p:cNvPr>
          <p:cNvPicPr>
            <a:picLocks noChangeAspect="1"/>
          </p:cNvPicPr>
          <p:nvPr/>
        </p:nvPicPr>
        <p:blipFill>
          <a:blip r:embed="rId34"/>
          <a:stretch>
            <a:fillRect/>
          </a:stretch>
        </p:blipFill>
        <p:spPr>
          <a:xfrm>
            <a:off x="5001768" y="5925312"/>
            <a:ext cx="201168" cy="201168"/>
          </a:xfrm>
          <a:prstGeom prst="rect">
            <a:avLst/>
          </a:prstGeom>
        </p:spPr>
      </p:pic>
      <p:sp>
        <p:nvSpPr>
          <p:cNvPr id="120" name="Text 84"/>
          <p:cNvSpPr txBox="1"/>
          <p:nvPr/>
        </p:nvSpPr>
        <p:spPr>
          <a:xfrm>
            <a:off x="5257800" y="5907024"/>
            <a:ext cx="3840480" cy="237744"/>
          </a:xfrm>
          <a:prstGeom prst="rect">
            <a:avLst/>
          </a:prstGeom>
          <a:noFill/>
          <a:ln/>
        </p:spPr>
        <p:txBody>
          <a:bodyPr wrap="square" lIns="0" tIns="0" rIns="0" bIns="0" rtlCol="0" anchor="ctr"/>
          <a:lstStyle/>
          <a:p>
            <a:pPr algn="r" indent="0" marL="0">
              <a:buNone/>
            </a:pPr>
            <a:r>
              <a:rPr lang="en-US" sz="850" dirty="0">
                <a:solidFill>
                  <a:srgbClr val="6B7280"/>
                </a:solidFill>
                <a:latin typeface="Meiryo UI" pitchFamily="34" charset="0"/>
                <a:ea typeface="Meiryo UI" pitchFamily="34" charset="-122"/>
                <a:cs typeface="Meiryo UI" pitchFamily="34" charset="-120"/>
              </a:rPr>
              <a:t>管理：Airtable｜カード上で項目を自動生成</a:t>
            </a:r>
            <a:endParaRPr lang="en-US" sz="850" dirty="0"/>
          </a:p>
        </p:txBody>
      </p:sp>
      <p:sp>
        <p:nvSpPr>
          <p:cNvPr id="121" name="Text 85"/>
          <p:cNvSpPr txBox="1"/>
          <p:nvPr/>
        </p:nvSpPr>
        <p:spPr>
          <a:xfrm>
            <a:off x="548640" y="6309360"/>
            <a:ext cx="11064240" cy="256032"/>
          </a:xfrm>
          <a:prstGeom prst="rect">
            <a:avLst/>
          </a:prstGeom>
          <a:noFill/>
          <a:ln/>
        </p:spPr>
        <p:txBody>
          <a:bodyPr wrap="square" lIns="0" tIns="0" rIns="0" bIns="0" rtlCol="0" anchor="t"/>
          <a:lstStyle/>
          <a:p>
            <a:pPr indent="0" marL="0">
              <a:buNone/>
            </a:pPr>
            <a:r>
              <a:rPr lang="en-US" sz="850" dirty="0">
                <a:solidFill>
                  <a:srgbClr val="6B7280"/>
                </a:solidFill>
                <a:latin typeface="Meiryo UI" pitchFamily="34" charset="0"/>
                <a:ea typeface="Meiryo UI" pitchFamily="34" charset="-122"/>
                <a:cs typeface="Meiryo UI" pitchFamily="34" charset="-120"/>
              </a:rPr>
              <a:t>難易度（★）は、開発量・必要なスキル・関係する部署やシステムの数から見た相対的な目安。期間は社内で内製し、PoC後に単独で構築した場合の概算</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548640"/>
          </a:xfrm>
          <a:prstGeom prst="rect">
            <a:avLst/>
          </a:prstGeom>
          <a:noFill/>
          <a:ln/>
        </p:spPr>
        <p:txBody>
          <a:bodyPr wrap="square" lIns="0" tIns="0" rIns="0" bIns="0" rtlCol="0" anchor="ctr"/>
          <a:lstStyle/>
          <a:p>
            <a:pPr indent="0" marL="0">
              <a:buNone/>
            </a:pPr>
            <a:r>
              <a:rPr lang="en-US" sz="2600" b="1" dirty="0">
                <a:solidFill>
                  <a:srgbClr val="1B2A49"/>
                </a:solidFill>
                <a:latin typeface="Meiryo UI" pitchFamily="34" charset="0"/>
                <a:ea typeface="Meiryo UI" pitchFamily="34" charset="-122"/>
                <a:cs typeface="Meiryo UI" pitchFamily="34" charset="-120"/>
              </a:rPr>
              <a:t>業務プロセスのどこをAIが担うか（パターン別）</a:t>
            </a:r>
            <a:endParaRPr lang="en-US" sz="2600" dirty="0"/>
          </a:p>
        </p:txBody>
      </p:sp>
      <p:sp>
        <p:nvSpPr>
          <p:cNvPr id="3" name="Text 1"/>
          <p:cNvSpPr txBox="1"/>
          <p:nvPr/>
        </p:nvSpPr>
        <p:spPr>
          <a:xfrm>
            <a:off x="548640" y="896112"/>
            <a:ext cx="11064240" cy="365760"/>
          </a:xfrm>
          <a:prstGeom prst="rect">
            <a:avLst/>
          </a:prstGeom>
          <a:noFill/>
          <a:ln/>
        </p:spPr>
        <p:txBody>
          <a:bodyPr wrap="square" lIns="0" tIns="0" rIns="0" bIns="0" rtlCol="0" anchor="ctr"/>
          <a:lstStyle/>
          <a:p>
            <a:pPr indent="0" marL="0">
              <a:buNone/>
            </a:pPr>
            <a:r>
              <a:rPr lang="en-US" sz="1400" dirty="0">
                <a:solidFill>
                  <a:srgbClr val="6B7280"/>
                </a:solidFill>
                <a:latin typeface="Meiryo UI" pitchFamily="34" charset="0"/>
                <a:ea typeface="Meiryo UI" pitchFamily="34" charset="-122"/>
                <a:cs typeface="Meiryo UI" pitchFamily="34" charset="-120"/>
              </a:rPr>
              <a:t>カバーする範囲は自動化のStepでほぼ決まる。同じStepのパターン同士の違いは、管理基盤と集約先にある</a:t>
            </a:r>
            <a:endParaRPr lang="en-US" sz="1400" dirty="0"/>
          </a:p>
        </p:txBody>
      </p:sp>
      <p:sp>
        <p:nvSpPr>
          <p:cNvPr id="4" name="Text 2"/>
          <p:cNvSpPr txBox="1"/>
          <p:nvPr/>
        </p:nvSpPr>
        <p:spPr>
          <a:xfrm>
            <a:off x="7498080" y="91440"/>
            <a:ext cx="4114800" cy="22860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2. 構成パターンの全体像と比較</a:t>
            </a:r>
            <a:endParaRPr lang="en-US" sz="900" dirty="0"/>
          </a:p>
        </p:txBody>
      </p:sp>
      <p:sp>
        <p:nvSpPr>
          <p:cNvPr id="5" name="Text 3"/>
          <p:cNvSpPr txBox="1"/>
          <p:nvPr/>
        </p:nvSpPr>
        <p:spPr>
          <a:xfrm>
            <a:off x="11247120" y="6446520"/>
            <a:ext cx="457200" cy="27432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11</a:t>
            </a:r>
            <a:endParaRPr lang="en-US" sz="900" dirty="0"/>
          </a:p>
        </p:txBody>
      </p:sp>
      <p:sp>
        <p:nvSpPr>
          <p:cNvPr id="6" name="Shape 4"/>
          <p:cNvSpPr/>
          <p:nvPr/>
        </p:nvSpPr>
        <p:spPr>
          <a:xfrm>
            <a:off x="2697480" y="1325880"/>
            <a:ext cx="1160145" cy="530352"/>
          </a:xfrm>
          <a:prstGeom prst="chevron">
            <a:avLst/>
          </a:prstGeom>
          <a:solidFill>
            <a:srgbClr val="1B2A49"/>
          </a:solidFill>
          <a:ln/>
        </p:spPr>
      </p:sp>
      <p:sp>
        <p:nvSpPr>
          <p:cNvPr id="7" name="Text 5"/>
          <p:cNvSpPr txBox="1"/>
          <p:nvPr/>
        </p:nvSpPr>
        <p:spPr>
          <a:xfrm>
            <a:off x="2852928" y="1325880"/>
            <a:ext cx="931545" cy="530352"/>
          </a:xfrm>
          <a:prstGeom prst="rect">
            <a:avLst/>
          </a:prstGeom>
          <a:noFill/>
          <a:ln/>
        </p:spPr>
        <p:txBody>
          <a:bodyPr wrap="square" lIns="0" tIns="0" rIns="0" bIns="0" rtlCol="0" anchor="ctr"/>
          <a:lstStyle/>
          <a:p>
            <a:pPr algn="ctr" indent="0" marL="0">
              <a:buNone/>
            </a:pPr>
            <a:r>
              <a:rPr lang="en-US" sz="900" b="1" dirty="0">
                <a:solidFill>
                  <a:srgbClr val="FFFFFF"/>
                </a:solidFill>
                <a:latin typeface="Meiryo UI" pitchFamily="34" charset="0"/>
                <a:ea typeface="Meiryo UI" pitchFamily="34" charset="-122"/>
                <a:cs typeface="Meiryo UI" pitchFamily="34" charset="-120"/>
              </a:rPr>
              <a:t>情報収集</a:t>
            </a:r>
            <a:endParaRPr lang="en-US" sz="900" dirty="0"/>
          </a:p>
        </p:txBody>
      </p:sp>
      <p:sp>
        <p:nvSpPr>
          <p:cNvPr id="8" name="Shape 6"/>
          <p:cNvSpPr/>
          <p:nvPr/>
        </p:nvSpPr>
        <p:spPr>
          <a:xfrm>
            <a:off x="3811905" y="1325880"/>
            <a:ext cx="1160145" cy="530352"/>
          </a:xfrm>
          <a:prstGeom prst="chevron">
            <a:avLst/>
          </a:prstGeom>
          <a:solidFill>
            <a:srgbClr val="1B2A49"/>
          </a:solidFill>
          <a:ln/>
        </p:spPr>
      </p:sp>
      <p:sp>
        <p:nvSpPr>
          <p:cNvPr id="9" name="Text 7"/>
          <p:cNvSpPr txBox="1"/>
          <p:nvPr/>
        </p:nvSpPr>
        <p:spPr>
          <a:xfrm>
            <a:off x="3967353" y="1325880"/>
            <a:ext cx="931545" cy="530352"/>
          </a:xfrm>
          <a:prstGeom prst="rect">
            <a:avLst/>
          </a:prstGeom>
          <a:noFill/>
          <a:ln/>
        </p:spPr>
        <p:txBody>
          <a:bodyPr wrap="square" lIns="0" tIns="0" rIns="0" bIns="0" rtlCol="0" anchor="ctr"/>
          <a:lstStyle/>
          <a:p>
            <a:pPr algn="ctr" indent="0" marL="0">
              <a:buNone/>
            </a:pPr>
            <a:r>
              <a:rPr lang="en-US" sz="900" b="1" dirty="0">
                <a:solidFill>
                  <a:srgbClr val="FFFFFF"/>
                </a:solidFill>
                <a:latin typeface="Meiryo UI" pitchFamily="34" charset="0"/>
                <a:ea typeface="Meiryo UI" pitchFamily="34" charset="-122"/>
                <a:cs typeface="Meiryo UI" pitchFamily="34" charset="-120"/>
              </a:rPr>
              <a:t>配信カード作成</a:t>
            </a:r>
            <a:endParaRPr lang="en-US" sz="900" dirty="0"/>
          </a:p>
          <a:p>
            <a:pPr algn="ctr" indent="0" marL="0">
              <a:buNone/>
            </a:pPr>
            <a:r>
              <a:rPr lang="en-US" sz="900" b="1" dirty="0">
                <a:solidFill>
                  <a:srgbClr val="FFFFFF"/>
                </a:solidFill>
                <a:latin typeface="Meiryo UI" pitchFamily="34" charset="0"/>
                <a:ea typeface="Meiryo UI" pitchFamily="34" charset="-122"/>
                <a:cs typeface="Meiryo UI" pitchFamily="34" charset="-120"/>
              </a:rPr>
              <a:t>（配信日ごと）</a:t>
            </a:r>
            <a:endParaRPr lang="en-US" sz="900" dirty="0"/>
          </a:p>
        </p:txBody>
      </p:sp>
      <p:sp>
        <p:nvSpPr>
          <p:cNvPr id="10" name="Shape 8"/>
          <p:cNvSpPr/>
          <p:nvPr/>
        </p:nvSpPr>
        <p:spPr>
          <a:xfrm>
            <a:off x="4926330" y="1325880"/>
            <a:ext cx="1160145" cy="530352"/>
          </a:xfrm>
          <a:prstGeom prst="chevron">
            <a:avLst/>
          </a:prstGeom>
          <a:solidFill>
            <a:srgbClr val="0E9F9A"/>
          </a:solidFill>
          <a:ln/>
        </p:spPr>
      </p:sp>
      <p:sp>
        <p:nvSpPr>
          <p:cNvPr id="11" name="Text 9"/>
          <p:cNvSpPr txBox="1"/>
          <p:nvPr/>
        </p:nvSpPr>
        <p:spPr>
          <a:xfrm>
            <a:off x="5081778" y="1325880"/>
            <a:ext cx="931545" cy="530352"/>
          </a:xfrm>
          <a:prstGeom prst="rect">
            <a:avLst/>
          </a:prstGeom>
          <a:noFill/>
          <a:ln/>
        </p:spPr>
        <p:txBody>
          <a:bodyPr wrap="square" lIns="0" tIns="0" rIns="0" bIns="0" rtlCol="0" anchor="ctr"/>
          <a:lstStyle/>
          <a:p>
            <a:pPr algn="ctr" indent="0" marL="0">
              <a:buNone/>
            </a:pPr>
            <a:r>
              <a:rPr lang="en-US" sz="900" b="1" dirty="0">
                <a:solidFill>
                  <a:srgbClr val="FFFFFF"/>
                </a:solidFill>
                <a:latin typeface="Meiryo UI" pitchFamily="34" charset="0"/>
                <a:ea typeface="Meiryo UI" pitchFamily="34" charset="-122"/>
                <a:cs typeface="Meiryo UI" pitchFamily="34" charset="-120"/>
              </a:rPr>
              <a:t>テーマ選定</a:t>
            </a:r>
            <a:endParaRPr lang="en-US" sz="900" dirty="0"/>
          </a:p>
        </p:txBody>
      </p:sp>
      <p:sp>
        <p:nvSpPr>
          <p:cNvPr id="12" name="Shape 10"/>
          <p:cNvSpPr/>
          <p:nvPr/>
        </p:nvSpPr>
        <p:spPr>
          <a:xfrm>
            <a:off x="6040755" y="1325880"/>
            <a:ext cx="1160145" cy="530352"/>
          </a:xfrm>
          <a:prstGeom prst="chevron">
            <a:avLst/>
          </a:prstGeom>
          <a:solidFill>
            <a:srgbClr val="0E9F9A"/>
          </a:solidFill>
          <a:ln/>
        </p:spPr>
      </p:sp>
      <p:sp>
        <p:nvSpPr>
          <p:cNvPr id="13" name="Text 11"/>
          <p:cNvSpPr txBox="1"/>
          <p:nvPr/>
        </p:nvSpPr>
        <p:spPr>
          <a:xfrm>
            <a:off x="6196203" y="1325880"/>
            <a:ext cx="931545" cy="530352"/>
          </a:xfrm>
          <a:prstGeom prst="rect">
            <a:avLst/>
          </a:prstGeom>
          <a:noFill/>
          <a:ln/>
        </p:spPr>
        <p:txBody>
          <a:bodyPr wrap="square" lIns="0" tIns="0" rIns="0" bIns="0" rtlCol="0" anchor="ctr"/>
          <a:lstStyle/>
          <a:p>
            <a:pPr algn="ctr" indent="0" marL="0">
              <a:buNone/>
            </a:pPr>
            <a:r>
              <a:rPr lang="en-US" sz="900" b="1" dirty="0">
                <a:solidFill>
                  <a:srgbClr val="FFFFFF"/>
                </a:solidFill>
                <a:latin typeface="Meiryo UI" pitchFamily="34" charset="0"/>
                <a:ea typeface="Meiryo UI" pitchFamily="34" charset="-122"/>
                <a:cs typeface="Meiryo UI" pitchFamily="34" charset="-120"/>
              </a:rPr>
              <a:t>商品選定</a:t>
            </a:r>
            <a:endParaRPr lang="en-US" sz="900" dirty="0"/>
          </a:p>
        </p:txBody>
      </p:sp>
      <p:sp>
        <p:nvSpPr>
          <p:cNvPr id="14" name="Shape 12"/>
          <p:cNvSpPr/>
          <p:nvPr/>
        </p:nvSpPr>
        <p:spPr>
          <a:xfrm>
            <a:off x="7155180" y="1325880"/>
            <a:ext cx="1160145" cy="530352"/>
          </a:xfrm>
          <a:prstGeom prst="chevron">
            <a:avLst/>
          </a:prstGeom>
          <a:solidFill>
            <a:srgbClr val="0E9F9A"/>
          </a:solidFill>
          <a:ln/>
        </p:spPr>
      </p:sp>
      <p:sp>
        <p:nvSpPr>
          <p:cNvPr id="15" name="Text 13"/>
          <p:cNvSpPr txBox="1"/>
          <p:nvPr/>
        </p:nvSpPr>
        <p:spPr>
          <a:xfrm>
            <a:off x="7310628" y="1325880"/>
            <a:ext cx="931545" cy="530352"/>
          </a:xfrm>
          <a:prstGeom prst="rect">
            <a:avLst/>
          </a:prstGeom>
          <a:noFill/>
          <a:ln/>
        </p:spPr>
        <p:txBody>
          <a:bodyPr wrap="square" lIns="0" tIns="0" rIns="0" bIns="0" rtlCol="0" anchor="ctr"/>
          <a:lstStyle/>
          <a:p>
            <a:pPr algn="ctr" indent="0" marL="0">
              <a:buNone/>
            </a:pPr>
            <a:r>
              <a:rPr lang="en-US" sz="900" b="1" dirty="0">
                <a:solidFill>
                  <a:srgbClr val="FFFFFF"/>
                </a:solidFill>
                <a:latin typeface="Meiryo UI" pitchFamily="34" charset="0"/>
                <a:ea typeface="Meiryo UI" pitchFamily="34" charset="-122"/>
                <a:cs typeface="Meiryo UI" pitchFamily="34" charset="-120"/>
              </a:rPr>
              <a:t>コピー制作</a:t>
            </a:r>
            <a:endParaRPr lang="en-US" sz="900" dirty="0"/>
          </a:p>
          <a:p>
            <a:pPr algn="ctr" indent="0" marL="0">
              <a:buNone/>
            </a:pPr>
            <a:r>
              <a:rPr lang="en-US" sz="900" b="1" dirty="0">
                <a:solidFill>
                  <a:srgbClr val="FFFFFF"/>
                </a:solidFill>
                <a:latin typeface="Meiryo UI" pitchFamily="34" charset="0"/>
                <a:ea typeface="Meiryo UI" pitchFamily="34" charset="-122"/>
                <a:cs typeface="Meiryo UI" pitchFamily="34" charset="-120"/>
              </a:rPr>
              <a:t>依頼／制作</a:t>
            </a:r>
            <a:endParaRPr lang="en-US" sz="900" dirty="0"/>
          </a:p>
        </p:txBody>
      </p:sp>
      <p:sp>
        <p:nvSpPr>
          <p:cNvPr id="16" name="Shape 14"/>
          <p:cNvSpPr/>
          <p:nvPr/>
        </p:nvSpPr>
        <p:spPr>
          <a:xfrm>
            <a:off x="8269605" y="1325880"/>
            <a:ext cx="1160145" cy="530352"/>
          </a:xfrm>
          <a:prstGeom prst="chevron">
            <a:avLst/>
          </a:prstGeom>
          <a:solidFill>
            <a:srgbClr val="0E9F9A"/>
          </a:solidFill>
          <a:ln/>
        </p:spPr>
      </p:sp>
      <p:sp>
        <p:nvSpPr>
          <p:cNvPr id="17" name="Text 15"/>
          <p:cNvSpPr txBox="1"/>
          <p:nvPr/>
        </p:nvSpPr>
        <p:spPr>
          <a:xfrm>
            <a:off x="8425053" y="1325880"/>
            <a:ext cx="931545" cy="530352"/>
          </a:xfrm>
          <a:prstGeom prst="rect">
            <a:avLst/>
          </a:prstGeom>
          <a:noFill/>
          <a:ln/>
        </p:spPr>
        <p:txBody>
          <a:bodyPr wrap="square" lIns="0" tIns="0" rIns="0" bIns="0" rtlCol="0" anchor="ctr"/>
          <a:lstStyle/>
          <a:p>
            <a:pPr algn="ctr" indent="0" marL="0">
              <a:buNone/>
            </a:pPr>
            <a:r>
              <a:rPr lang="en-US" sz="900" b="1" dirty="0">
                <a:solidFill>
                  <a:srgbClr val="FFFFFF"/>
                </a:solidFill>
                <a:latin typeface="Meiryo UI" pitchFamily="34" charset="0"/>
                <a:ea typeface="Meiryo UI" pitchFamily="34" charset="-122"/>
                <a:cs typeface="Meiryo UI" pitchFamily="34" charset="-120"/>
              </a:rPr>
              <a:t>クリエイティブ</a:t>
            </a:r>
            <a:endParaRPr lang="en-US" sz="900" dirty="0"/>
          </a:p>
          <a:p>
            <a:pPr algn="ctr" indent="0" marL="0">
              <a:buNone/>
            </a:pPr>
            <a:r>
              <a:rPr lang="en-US" sz="900" b="1" dirty="0">
                <a:solidFill>
                  <a:srgbClr val="FFFFFF"/>
                </a:solidFill>
                <a:latin typeface="Meiryo UI" pitchFamily="34" charset="0"/>
                <a:ea typeface="Meiryo UI" pitchFamily="34" charset="-122"/>
                <a:cs typeface="Meiryo UI" pitchFamily="34" charset="-120"/>
              </a:rPr>
              <a:t>制作指示</a:t>
            </a:r>
            <a:endParaRPr lang="en-US" sz="900" dirty="0"/>
          </a:p>
        </p:txBody>
      </p:sp>
      <p:sp>
        <p:nvSpPr>
          <p:cNvPr id="18" name="Shape 16"/>
          <p:cNvSpPr/>
          <p:nvPr/>
        </p:nvSpPr>
        <p:spPr>
          <a:xfrm>
            <a:off x="9384030" y="1325880"/>
            <a:ext cx="1160145" cy="530352"/>
          </a:xfrm>
          <a:prstGeom prst="chevron">
            <a:avLst/>
          </a:prstGeom>
          <a:solidFill>
            <a:srgbClr val="1B2A49"/>
          </a:solidFill>
          <a:ln/>
        </p:spPr>
      </p:sp>
      <p:sp>
        <p:nvSpPr>
          <p:cNvPr id="19" name="Text 17"/>
          <p:cNvSpPr txBox="1"/>
          <p:nvPr/>
        </p:nvSpPr>
        <p:spPr>
          <a:xfrm>
            <a:off x="9539478" y="1325880"/>
            <a:ext cx="931545" cy="530352"/>
          </a:xfrm>
          <a:prstGeom prst="rect">
            <a:avLst/>
          </a:prstGeom>
          <a:noFill/>
          <a:ln/>
        </p:spPr>
        <p:txBody>
          <a:bodyPr wrap="square" lIns="0" tIns="0" rIns="0" bIns="0" rtlCol="0" anchor="ctr"/>
          <a:lstStyle/>
          <a:p>
            <a:pPr algn="ctr" indent="0" marL="0">
              <a:buNone/>
            </a:pPr>
            <a:r>
              <a:rPr lang="en-US" sz="900" b="1" dirty="0">
                <a:solidFill>
                  <a:srgbClr val="FFFFFF"/>
                </a:solidFill>
                <a:latin typeface="Meiryo UI" pitchFamily="34" charset="0"/>
                <a:ea typeface="Meiryo UI" pitchFamily="34" charset="-122"/>
                <a:cs typeface="Meiryo UI" pitchFamily="34" charset="-120"/>
              </a:rPr>
              <a:t>レビュー</a:t>
            </a:r>
            <a:endParaRPr lang="en-US" sz="900" dirty="0"/>
          </a:p>
          <a:p>
            <a:pPr algn="ctr" indent="0" marL="0">
              <a:buNone/>
            </a:pPr>
            <a:r>
              <a:rPr lang="en-US" sz="900" b="1" dirty="0">
                <a:solidFill>
                  <a:srgbClr val="FFFFFF"/>
                </a:solidFill>
                <a:latin typeface="Meiryo UI" pitchFamily="34" charset="0"/>
                <a:ea typeface="Meiryo UI" pitchFamily="34" charset="-122"/>
                <a:cs typeface="Meiryo UI" pitchFamily="34" charset="-120"/>
              </a:rPr>
              <a:t>・承認</a:t>
            </a:r>
            <a:endParaRPr lang="en-US" sz="900" dirty="0"/>
          </a:p>
        </p:txBody>
      </p:sp>
      <p:sp>
        <p:nvSpPr>
          <p:cNvPr id="20" name="Shape 18"/>
          <p:cNvSpPr/>
          <p:nvPr/>
        </p:nvSpPr>
        <p:spPr>
          <a:xfrm>
            <a:off x="10498455" y="1325880"/>
            <a:ext cx="1160145" cy="530352"/>
          </a:xfrm>
          <a:prstGeom prst="chevron">
            <a:avLst/>
          </a:prstGeom>
          <a:solidFill>
            <a:srgbClr val="1B2A49"/>
          </a:solidFill>
          <a:ln/>
        </p:spPr>
      </p:sp>
      <p:sp>
        <p:nvSpPr>
          <p:cNvPr id="21" name="Text 19"/>
          <p:cNvSpPr txBox="1"/>
          <p:nvPr/>
        </p:nvSpPr>
        <p:spPr>
          <a:xfrm>
            <a:off x="10653903" y="1325880"/>
            <a:ext cx="931545" cy="530352"/>
          </a:xfrm>
          <a:prstGeom prst="rect">
            <a:avLst/>
          </a:prstGeom>
          <a:noFill/>
          <a:ln/>
        </p:spPr>
        <p:txBody>
          <a:bodyPr wrap="square" lIns="0" tIns="0" rIns="0" bIns="0" rtlCol="0" anchor="ctr"/>
          <a:lstStyle/>
          <a:p>
            <a:pPr algn="ctr" indent="0" marL="0">
              <a:buNone/>
            </a:pPr>
            <a:r>
              <a:rPr lang="en-US" sz="900" b="1" dirty="0">
                <a:solidFill>
                  <a:srgbClr val="FFFFFF"/>
                </a:solidFill>
                <a:latin typeface="Meiryo UI" pitchFamily="34" charset="0"/>
                <a:ea typeface="Meiryo UI" pitchFamily="34" charset="-122"/>
                <a:cs typeface="Meiryo UI" pitchFamily="34" charset="-120"/>
              </a:rPr>
              <a:t>振り返り</a:t>
            </a:r>
            <a:endParaRPr lang="en-US" sz="900" dirty="0"/>
          </a:p>
        </p:txBody>
      </p:sp>
      <p:sp>
        <p:nvSpPr>
          <p:cNvPr id="22" name="Text 20"/>
          <p:cNvSpPr txBox="1"/>
          <p:nvPr/>
        </p:nvSpPr>
        <p:spPr>
          <a:xfrm>
            <a:off x="4369118" y="1865376"/>
            <a:ext cx="5572125" cy="201168"/>
          </a:xfrm>
          <a:prstGeom prst="rect">
            <a:avLst/>
          </a:prstGeom>
          <a:noFill/>
          <a:ln/>
        </p:spPr>
        <p:txBody>
          <a:bodyPr wrap="square" lIns="0" tIns="0" rIns="0" bIns="0" rtlCol="0" anchor="t"/>
          <a:lstStyle/>
          <a:p>
            <a:pPr algn="ctr" indent="0" marL="0">
              <a:buNone/>
            </a:pPr>
            <a:r>
              <a:rPr lang="en-US" sz="850" b="1" dirty="0">
                <a:solidFill>
                  <a:srgbClr val="0E9F9A"/>
                </a:solidFill>
                <a:latin typeface="Meiryo UI" pitchFamily="34" charset="0"/>
                <a:ea typeface="Meiryo UI" pitchFamily="34" charset="-122"/>
                <a:cs typeface="Meiryo UI" pitchFamily="34" charset="-120"/>
              </a:rPr>
              <a:t>AIが起案し、カードの項目を埋める工程（Step1・2：人が転記／Step3：自動で書き戻し）</a:t>
            </a:r>
            <a:endParaRPr lang="en-US" sz="850" dirty="0"/>
          </a:p>
        </p:txBody>
      </p:sp>
      <p:sp>
        <p:nvSpPr>
          <p:cNvPr id="23" name="Shape 21"/>
          <p:cNvSpPr/>
          <p:nvPr/>
        </p:nvSpPr>
        <p:spPr>
          <a:xfrm>
            <a:off x="566928" y="2130552"/>
            <a:ext cx="265176" cy="265176"/>
          </a:xfrm>
          <a:prstGeom prst="ellipse">
            <a:avLst/>
          </a:prstGeom>
          <a:solidFill>
            <a:srgbClr val="0F6CBD"/>
          </a:solidFill>
          <a:ln/>
        </p:spPr>
      </p:sp>
      <p:sp>
        <p:nvSpPr>
          <p:cNvPr id="24" name="Text 22"/>
          <p:cNvSpPr txBox="1"/>
          <p:nvPr/>
        </p:nvSpPr>
        <p:spPr>
          <a:xfrm>
            <a:off x="566928" y="2130552"/>
            <a:ext cx="265176" cy="265176"/>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A1</a:t>
            </a:r>
            <a:endParaRPr lang="en-US" sz="1100" dirty="0"/>
          </a:p>
        </p:txBody>
      </p:sp>
      <p:sp>
        <p:nvSpPr>
          <p:cNvPr id="25" name="Text 23"/>
          <p:cNvSpPr txBox="1"/>
          <p:nvPr/>
        </p:nvSpPr>
        <p:spPr>
          <a:xfrm>
            <a:off x="896112" y="2103120"/>
            <a:ext cx="1801368" cy="297180"/>
          </a:xfrm>
          <a:prstGeom prst="rect">
            <a:avLst/>
          </a:prstGeom>
          <a:noFill/>
          <a:ln/>
        </p:spPr>
        <p:txBody>
          <a:bodyPr wrap="square" lIns="0" tIns="0" rIns="0" bIns="0" rtlCol="0" anchor="ctr"/>
          <a:lstStyle/>
          <a:p>
            <a:pPr indent="0" marL="0">
              <a:buNone/>
            </a:pPr>
            <a:r>
              <a:rPr lang="en-US" sz="900" b="1" dirty="0">
                <a:solidFill>
                  <a:srgbClr val="1B2A49"/>
                </a:solidFill>
                <a:latin typeface="Meiryo UI" pitchFamily="34" charset="0"/>
                <a:ea typeface="Meiryo UI" pitchFamily="34" charset="-122"/>
                <a:cs typeface="Meiryo UI" pitchFamily="34" charset="-120"/>
              </a:rPr>
              <a:t>Copilot手動アシスト</a:t>
            </a:r>
            <a:endParaRPr lang="en-US" sz="900" dirty="0"/>
          </a:p>
        </p:txBody>
      </p:sp>
      <p:sp>
        <p:nvSpPr>
          <p:cNvPr id="26" name="Shape 24"/>
          <p:cNvSpPr/>
          <p:nvPr/>
        </p:nvSpPr>
        <p:spPr>
          <a:xfrm>
            <a:off x="2761488" y="2130552"/>
            <a:ext cx="986409" cy="260604"/>
          </a:xfrm>
          <a:prstGeom prst="roundRect">
            <a:avLst>
              <a:gd name="adj" fmla="val 17544"/>
            </a:avLst>
          </a:prstGeom>
          <a:solidFill>
            <a:srgbClr val="F3F5F8"/>
          </a:solidFill>
          <a:ln/>
        </p:spPr>
      </p:sp>
      <p:sp>
        <p:nvSpPr>
          <p:cNvPr id="27" name="Text 25"/>
          <p:cNvSpPr txBox="1"/>
          <p:nvPr/>
        </p:nvSpPr>
        <p:spPr>
          <a:xfrm>
            <a:off x="2761488" y="2130552"/>
            <a:ext cx="986409" cy="260604"/>
          </a:xfrm>
          <a:prstGeom prst="rect">
            <a:avLst/>
          </a:prstGeom>
          <a:noFill/>
          <a:ln/>
        </p:spPr>
        <p:txBody>
          <a:bodyPr wrap="square" lIns="0" tIns="0" rIns="0" bIns="0" rtlCol="0" anchor="ctr"/>
          <a:lstStyle/>
          <a:p>
            <a:pPr algn="ctr" indent="0" marL="0">
              <a:buNone/>
            </a:pPr>
            <a:r>
              <a:rPr lang="en-US" sz="850" dirty="0">
                <a:solidFill>
                  <a:srgbClr val="6B7280"/>
                </a:solidFill>
                <a:latin typeface="Meiryo UI" pitchFamily="34" charset="0"/>
                <a:ea typeface="Meiryo UI" pitchFamily="34" charset="-122"/>
                <a:cs typeface="Meiryo UI" pitchFamily="34" charset="-120"/>
              </a:rPr>
              <a:t>人</a:t>
            </a:r>
            <a:endParaRPr lang="en-US" sz="850" dirty="0"/>
          </a:p>
        </p:txBody>
      </p:sp>
      <p:sp>
        <p:nvSpPr>
          <p:cNvPr id="28" name="Shape 26"/>
          <p:cNvSpPr/>
          <p:nvPr/>
        </p:nvSpPr>
        <p:spPr>
          <a:xfrm>
            <a:off x="3875913" y="2130552"/>
            <a:ext cx="986409" cy="260604"/>
          </a:xfrm>
          <a:prstGeom prst="roundRect">
            <a:avLst>
              <a:gd name="adj" fmla="val 17544"/>
            </a:avLst>
          </a:prstGeom>
          <a:solidFill>
            <a:srgbClr val="F3F5F8"/>
          </a:solidFill>
          <a:ln/>
        </p:spPr>
      </p:sp>
      <p:sp>
        <p:nvSpPr>
          <p:cNvPr id="29" name="Text 27"/>
          <p:cNvSpPr txBox="1"/>
          <p:nvPr/>
        </p:nvSpPr>
        <p:spPr>
          <a:xfrm>
            <a:off x="3875913" y="2130552"/>
            <a:ext cx="986409" cy="260604"/>
          </a:xfrm>
          <a:prstGeom prst="rect">
            <a:avLst/>
          </a:prstGeom>
          <a:noFill/>
          <a:ln/>
        </p:spPr>
        <p:txBody>
          <a:bodyPr wrap="square" lIns="0" tIns="0" rIns="0" bIns="0" rtlCol="0" anchor="ctr"/>
          <a:lstStyle/>
          <a:p>
            <a:pPr algn="ctr" indent="0" marL="0">
              <a:buNone/>
            </a:pPr>
            <a:r>
              <a:rPr lang="en-US" sz="850" dirty="0">
                <a:solidFill>
                  <a:srgbClr val="6B7280"/>
                </a:solidFill>
                <a:latin typeface="Meiryo UI" pitchFamily="34" charset="0"/>
                <a:ea typeface="Meiryo UI" pitchFamily="34" charset="-122"/>
                <a:cs typeface="Meiryo UI" pitchFamily="34" charset="-120"/>
              </a:rPr>
              <a:t>人</a:t>
            </a:r>
            <a:endParaRPr lang="en-US" sz="850" dirty="0"/>
          </a:p>
        </p:txBody>
      </p:sp>
      <p:sp>
        <p:nvSpPr>
          <p:cNvPr id="30" name="Shape 28"/>
          <p:cNvSpPr/>
          <p:nvPr/>
        </p:nvSpPr>
        <p:spPr>
          <a:xfrm>
            <a:off x="4990338" y="2130552"/>
            <a:ext cx="986409" cy="260604"/>
          </a:xfrm>
          <a:prstGeom prst="roundRect">
            <a:avLst>
              <a:gd name="adj" fmla="val 17544"/>
            </a:avLst>
          </a:prstGeom>
          <a:solidFill>
            <a:srgbClr val="D9F2F1"/>
          </a:solidFill>
          <a:ln/>
        </p:spPr>
      </p:sp>
      <p:sp>
        <p:nvSpPr>
          <p:cNvPr id="31" name="Text 29"/>
          <p:cNvSpPr txBox="1"/>
          <p:nvPr/>
        </p:nvSpPr>
        <p:spPr>
          <a:xfrm>
            <a:off x="4990338" y="2130552"/>
            <a:ext cx="986409" cy="260604"/>
          </a:xfrm>
          <a:prstGeom prst="rect">
            <a:avLst/>
          </a:prstGeom>
          <a:noFill/>
          <a:ln/>
        </p:spPr>
        <p:txBody>
          <a:bodyPr wrap="square" lIns="0" tIns="0" rIns="0" bIns="0" rtlCol="0" anchor="ctr"/>
          <a:lstStyle/>
          <a:p>
            <a:pPr algn="ctr" indent="0" marL="0">
              <a:buNone/>
            </a:pPr>
            <a:r>
              <a:rPr lang="en-US" sz="850" b="1" dirty="0">
                <a:solidFill>
                  <a:srgbClr val="0E9F9A"/>
                </a:solidFill>
                <a:latin typeface="Meiryo UI" pitchFamily="34" charset="0"/>
                <a:ea typeface="Meiryo UI" pitchFamily="34" charset="-122"/>
                <a:cs typeface="Meiryo UI" pitchFamily="34" charset="-120"/>
              </a:rPr>
              <a:t>支援</a:t>
            </a:r>
            <a:endParaRPr lang="en-US" sz="850" dirty="0"/>
          </a:p>
        </p:txBody>
      </p:sp>
      <p:sp>
        <p:nvSpPr>
          <p:cNvPr id="32" name="Shape 30"/>
          <p:cNvSpPr/>
          <p:nvPr/>
        </p:nvSpPr>
        <p:spPr>
          <a:xfrm>
            <a:off x="6104763" y="2130552"/>
            <a:ext cx="986409" cy="260604"/>
          </a:xfrm>
          <a:prstGeom prst="roundRect">
            <a:avLst>
              <a:gd name="adj" fmla="val 17544"/>
            </a:avLst>
          </a:prstGeom>
          <a:solidFill>
            <a:srgbClr val="D9F2F1"/>
          </a:solidFill>
          <a:ln/>
        </p:spPr>
      </p:sp>
      <p:sp>
        <p:nvSpPr>
          <p:cNvPr id="33" name="Text 31"/>
          <p:cNvSpPr txBox="1"/>
          <p:nvPr/>
        </p:nvSpPr>
        <p:spPr>
          <a:xfrm>
            <a:off x="6104763" y="2130552"/>
            <a:ext cx="986409" cy="260604"/>
          </a:xfrm>
          <a:prstGeom prst="rect">
            <a:avLst/>
          </a:prstGeom>
          <a:noFill/>
          <a:ln/>
        </p:spPr>
        <p:txBody>
          <a:bodyPr wrap="square" lIns="0" tIns="0" rIns="0" bIns="0" rtlCol="0" anchor="ctr"/>
          <a:lstStyle/>
          <a:p>
            <a:pPr algn="ctr" indent="0" marL="0">
              <a:buNone/>
            </a:pPr>
            <a:r>
              <a:rPr lang="en-US" sz="850" b="1" dirty="0">
                <a:solidFill>
                  <a:srgbClr val="0E9F9A"/>
                </a:solidFill>
                <a:latin typeface="Meiryo UI" pitchFamily="34" charset="0"/>
                <a:ea typeface="Meiryo UI" pitchFamily="34" charset="-122"/>
                <a:cs typeface="Meiryo UI" pitchFamily="34" charset="-120"/>
              </a:rPr>
              <a:t>支援</a:t>
            </a:r>
            <a:endParaRPr lang="en-US" sz="850" dirty="0"/>
          </a:p>
        </p:txBody>
      </p:sp>
      <p:sp>
        <p:nvSpPr>
          <p:cNvPr id="34" name="Shape 32"/>
          <p:cNvSpPr/>
          <p:nvPr/>
        </p:nvSpPr>
        <p:spPr>
          <a:xfrm>
            <a:off x="7219188" y="2130552"/>
            <a:ext cx="986409" cy="260604"/>
          </a:xfrm>
          <a:prstGeom prst="roundRect">
            <a:avLst>
              <a:gd name="adj" fmla="val 17544"/>
            </a:avLst>
          </a:prstGeom>
          <a:solidFill>
            <a:srgbClr val="D9F2F1"/>
          </a:solidFill>
          <a:ln/>
        </p:spPr>
      </p:sp>
      <p:sp>
        <p:nvSpPr>
          <p:cNvPr id="35" name="Text 33"/>
          <p:cNvSpPr txBox="1"/>
          <p:nvPr/>
        </p:nvSpPr>
        <p:spPr>
          <a:xfrm>
            <a:off x="7219188" y="2130552"/>
            <a:ext cx="986409" cy="260604"/>
          </a:xfrm>
          <a:prstGeom prst="rect">
            <a:avLst/>
          </a:prstGeom>
          <a:noFill/>
          <a:ln/>
        </p:spPr>
        <p:txBody>
          <a:bodyPr wrap="square" lIns="0" tIns="0" rIns="0" bIns="0" rtlCol="0" anchor="ctr"/>
          <a:lstStyle/>
          <a:p>
            <a:pPr algn="ctr" indent="0" marL="0">
              <a:buNone/>
            </a:pPr>
            <a:r>
              <a:rPr lang="en-US" sz="850" b="1" dirty="0">
                <a:solidFill>
                  <a:srgbClr val="0E9F9A"/>
                </a:solidFill>
                <a:latin typeface="Meiryo UI" pitchFamily="34" charset="0"/>
                <a:ea typeface="Meiryo UI" pitchFamily="34" charset="-122"/>
                <a:cs typeface="Meiryo UI" pitchFamily="34" charset="-120"/>
              </a:rPr>
              <a:t>支援</a:t>
            </a:r>
            <a:endParaRPr lang="en-US" sz="850" dirty="0"/>
          </a:p>
        </p:txBody>
      </p:sp>
      <p:sp>
        <p:nvSpPr>
          <p:cNvPr id="36" name="Shape 34"/>
          <p:cNvSpPr/>
          <p:nvPr/>
        </p:nvSpPr>
        <p:spPr>
          <a:xfrm>
            <a:off x="8333613" y="2130552"/>
            <a:ext cx="986409" cy="260604"/>
          </a:xfrm>
          <a:prstGeom prst="roundRect">
            <a:avLst>
              <a:gd name="adj" fmla="val 17544"/>
            </a:avLst>
          </a:prstGeom>
          <a:solidFill>
            <a:srgbClr val="D9F2F1"/>
          </a:solidFill>
          <a:ln/>
        </p:spPr>
      </p:sp>
      <p:sp>
        <p:nvSpPr>
          <p:cNvPr id="37" name="Text 35"/>
          <p:cNvSpPr txBox="1"/>
          <p:nvPr/>
        </p:nvSpPr>
        <p:spPr>
          <a:xfrm>
            <a:off x="8333613" y="2130552"/>
            <a:ext cx="986409" cy="260604"/>
          </a:xfrm>
          <a:prstGeom prst="rect">
            <a:avLst/>
          </a:prstGeom>
          <a:noFill/>
          <a:ln/>
        </p:spPr>
        <p:txBody>
          <a:bodyPr wrap="square" lIns="0" tIns="0" rIns="0" bIns="0" rtlCol="0" anchor="ctr"/>
          <a:lstStyle/>
          <a:p>
            <a:pPr algn="ctr" indent="0" marL="0">
              <a:buNone/>
            </a:pPr>
            <a:r>
              <a:rPr lang="en-US" sz="850" b="1" dirty="0">
                <a:solidFill>
                  <a:srgbClr val="0E9F9A"/>
                </a:solidFill>
                <a:latin typeface="Meiryo UI" pitchFamily="34" charset="0"/>
                <a:ea typeface="Meiryo UI" pitchFamily="34" charset="-122"/>
                <a:cs typeface="Meiryo UI" pitchFamily="34" charset="-120"/>
              </a:rPr>
              <a:t>支援</a:t>
            </a:r>
            <a:endParaRPr lang="en-US" sz="850" dirty="0"/>
          </a:p>
        </p:txBody>
      </p:sp>
      <p:sp>
        <p:nvSpPr>
          <p:cNvPr id="38" name="Shape 36"/>
          <p:cNvSpPr/>
          <p:nvPr/>
        </p:nvSpPr>
        <p:spPr>
          <a:xfrm>
            <a:off x="9448038" y="2130552"/>
            <a:ext cx="986409" cy="260604"/>
          </a:xfrm>
          <a:prstGeom prst="roundRect">
            <a:avLst>
              <a:gd name="adj" fmla="val 17544"/>
            </a:avLst>
          </a:prstGeom>
          <a:solidFill>
            <a:srgbClr val="F3F5F8"/>
          </a:solidFill>
          <a:ln/>
        </p:spPr>
      </p:sp>
      <p:sp>
        <p:nvSpPr>
          <p:cNvPr id="39" name="Text 37"/>
          <p:cNvSpPr txBox="1"/>
          <p:nvPr/>
        </p:nvSpPr>
        <p:spPr>
          <a:xfrm>
            <a:off x="9448038" y="2130552"/>
            <a:ext cx="986409" cy="260604"/>
          </a:xfrm>
          <a:prstGeom prst="rect">
            <a:avLst/>
          </a:prstGeom>
          <a:noFill/>
          <a:ln/>
        </p:spPr>
        <p:txBody>
          <a:bodyPr wrap="square" lIns="0" tIns="0" rIns="0" bIns="0" rtlCol="0" anchor="ctr"/>
          <a:lstStyle/>
          <a:p>
            <a:pPr algn="ctr" indent="0" marL="0">
              <a:buNone/>
            </a:pPr>
            <a:r>
              <a:rPr lang="en-US" sz="850" dirty="0">
                <a:solidFill>
                  <a:srgbClr val="6B7280"/>
                </a:solidFill>
                <a:latin typeface="Meiryo UI" pitchFamily="34" charset="0"/>
                <a:ea typeface="Meiryo UI" pitchFamily="34" charset="-122"/>
                <a:cs typeface="Meiryo UI" pitchFamily="34" charset="-120"/>
              </a:rPr>
              <a:t>人</a:t>
            </a:r>
            <a:endParaRPr lang="en-US" sz="850" dirty="0"/>
          </a:p>
        </p:txBody>
      </p:sp>
      <p:sp>
        <p:nvSpPr>
          <p:cNvPr id="40" name="Shape 38"/>
          <p:cNvSpPr/>
          <p:nvPr/>
        </p:nvSpPr>
        <p:spPr>
          <a:xfrm>
            <a:off x="10562463" y="2130552"/>
            <a:ext cx="986409" cy="260604"/>
          </a:xfrm>
          <a:prstGeom prst="roundRect">
            <a:avLst>
              <a:gd name="adj" fmla="val 17544"/>
            </a:avLst>
          </a:prstGeom>
          <a:solidFill>
            <a:srgbClr val="F3F5F8"/>
          </a:solidFill>
          <a:ln/>
        </p:spPr>
      </p:sp>
      <p:sp>
        <p:nvSpPr>
          <p:cNvPr id="41" name="Text 39"/>
          <p:cNvSpPr txBox="1"/>
          <p:nvPr/>
        </p:nvSpPr>
        <p:spPr>
          <a:xfrm>
            <a:off x="10562463" y="2130552"/>
            <a:ext cx="986409" cy="260604"/>
          </a:xfrm>
          <a:prstGeom prst="rect">
            <a:avLst/>
          </a:prstGeom>
          <a:noFill/>
          <a:ln/>
        </p:spPr>
        <p:txBody>
          <a:bodyPr wrap="square" lIns="0" tIns="0" rIns="0" bIns="0" rtlCol="0" anchor="ctr"/>
          <a:lstStyle/>
          <a:p>
            <a:pPr algn="ctr" indent="0" marL="0">
              <a:buNone/>
            </a:pPr>
            <a:r>
              <a:rPr lang="en-US" sz="850" dirty="0">
                <a:solidFill>
                  <a:srgbClr val="6B7280"/>
                </a:solidFill>
                <a:latin typeface="Meiryo UI" pitchFamily="34" charset="0"/>
                <a:ea typeface="Meiryo UI" pitchFamily="34" charset="-122"/>
                <a:cs typeface="Meiryo UI" pitchFamily="34" charset="-120"/>
              </a:rPr>
              <a:t>人</a:t>
            </a:r>
            <a:endParaRPr lang="en-US" sz="850" dirty="0"/>
          </a:p>
        </p:txBody>
      </p:sp>
      <p:sp>
        <p:nvSpPr>
          <p:cNvPr id="42" name="Shape 40"/>
          <p:cNvSpPr/>
          <p:nvPr/>
        </p:nvSpPr>
        <p:spPr>
          <a:xfrm>
            <a:off x="566928" y="2455164"/>
            <a:ext cx="265176" cy="265176"/>
          </a:xfrm>
          <a:prstGeom prst="ellipse">
            <a:avLst/>
          </a:prstGeom>
          <a:solidFill>
            <a:srgbClr val="0F6CBD"/>
          </a:solidFill>
          <a:ln/>
        </p:spPr>
      </p:sp>
      <p:sp>
        <p:nvSpPr>
          <p:cNvPr id="43" name="Text 41"/>
          <p:cNvSpPr txBox="1"/>
          <p:nvPr/>
        </p:nvSpPr>
        <p:spPr>
          <a:xfrm>
            <a:off x="566928" y="2455164"/>
            <a:ext cx="265176" cy="265176"/>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A2</a:t>
            </a:r>
            <a:endParaRPr lang="en-US" sz="1100" dirty="0"/>
          </a:p>
        </p:txBody>
      </p:sp>
      <p:sp>
        <p:nvSpPr>
          <p:cNvPr id="44" name="Text 42"/>
          <p:cNvSpPr txBox="1"/>
          <p:nvPr/>
        </p:nvSpPr>
        <p:spPr>
          <a:xfrm>
            <a:off x="896112" y="2427732"/>
            <a:ext cx="1801368" cy="297180"/>
          </a:xfrm>
          <a:prstGeom prst="rect">
            <a:avLst/>
          </a:prstGeom>
          <a:noFill/>
          <a:ln/>
        </p:spPr>
        <p:txBody>
          <a:bodyPr wrap="square" lIns="0" tIns="0" rIns="0" bIns="0" rtlCol="0" anchor="ctr"/>
          <a:lstStyle/>
          <a:p>
            <a:pPr indent="0" marL="0">
              <a:buNone/>
            </a:pPr>
            <a:r>
              <a:rPr lang="en-US" sz="900" b="1" dirty="0">
                <a:solidFill>
                  <a:srgbClr val="1B2A49"/>
                </a:solidFill>
                <a:latin typeface="Meiryo UI" pitchFamily="34" charset="0"/>
                <a:ea typeface="Meiryo UI" pitchFamily="34" charset="-122"/>
                <a:cs typeface="Meiryo UI" pitchFamily="34" charset="-120"/>
              </a:rPr>
              <a:t>Agent Builder</a:t>
            </a:r>
            <a:endParaRPr lang="en-US" sz="900" dirty="0"/>
          </a:p>
        </p:txBody>
      </p:sp>
      <p:sp>
        <p:nvSpPr>
          <p:cNvPr id="45" name="Shape 43"/>
          <p:cNvSpPr/>
          <p:nvPr/>
        </p:nvSpPr>
        <p:spPr>
          <a:xfrm>
            <a:off x="2761488" y="2455164"/>
            <a:ext cx="986409" cy="260604"/>
          </a:xfrm>
          <a:prstGeom prst="roundRect">
            <a:avLst>
              <a:gd name="adj" fmla="val 17544"/>
            </a:avLst>
          </a:prstGeom>
          <a:solidFill>
            <a:srgbClr val="D9F2F1"/>
          </a:solidFill>
          <a:ln/>
        </p:spPr>
      </p:sp>
      <p:sp>
        <p:nvSpPr>
          <p:cNvPr id="46" name="Text 44"/>
          <p:cNvSpPr txBox="1"/>
          <p:nvPr/>
        </p:nvSpPr>
        <p:spPr>
          <a:xfrm>
            <a:off x="2761488" y="2455164"/>
            <a:ext cx="986409" cy="260604"/>
          </a:xfrm>
          <a:prstGeom prst="rect">
            <a:avLst/>
          </a:prstGeom>
          <a:noFill/>
          <a:ln/>
        </p:spPr>
        <p:txBody>
          <a:bodyPr wrap="square" lIns="0" tIns="0" rIns="0" bIns="0" rtlCol="0" anchor="ctr"/>
          <a:lstStyle/>
          <a:p>
            <a:pPr algn="ctr" indent="0" marL="0">
              <a:buNone/>
            </a:pPr>
            <a:r>
              <a:rPr lang="en-US" sz="850" b="1" dirty="0">
                <a:solidFill>
                  <a:srgbClr val="0E9F9A"/>
                </a:solidFill>
                <a:latin typeface="Meiryo UI" pitchFamily="34" charset="0"/>
                <a:ea typeface="Meiryo UI" pitchFamily="34" charset="-122"/>
                <a:cs typeface="Meiryo UI" pitchFamily="34" charset="-120"/>
              </a:rPr>
              <a:t>支援</a:t>
            </a:r>
            <a:endParaRPr lang="en-US" sz="850" dirty="0"/>
          </a:p>
        </p:txBody>
      </p:sp>
      <p:sp>
        <p:nvSpPr>
          <p:cNvPr id="47" name="Shape 45"/>
          <p:cNvSpPr/>
          <p:nvPr/>
        </p:nvSpPr>
        <p:spPr>
          <a:xfrm>
            <a:off x="3875913" y="2455164"/>
            <a:ext cx="986409" cy="260604"/>
          </a:xfrm>
          <a:prstGeom prst="roundRect">
            <a:avLst>
              <a:gd name="adj" fmla="val 17544"/>
            </a:avLst>
          </a:prstGeom>
          <a:solidFill>
            <a:srgbClr val="F3F5F8"/>
          </a:solidFill>
          <a:ln/>
        </p:spPr>
      </p:sp>
      <p:sp>
        <p:nvSpPr>
          <p:cNvPr id="48" name="Text 46"/>
          <p:cNvSpPr txBox="1"/>
          <p:nvPr/>
        </p:nvSpPr>
        <p:spPr>
          <a:xfrm>
            <a:off x="3875913" y="2455164"/>
            <a:ext cx="986409" cy="260604"/>
          </a:xfrm>
          <a:prstGeom prst="rect">
            <a:avLst/>
          </a:prstGeom>
          <a:noFill/>
          <a:ln/>
        </p:spPr>
        <p:txBody>
          <a:bodyPr wrap="square" lIns="0" tIns="0" rIns="0" bIns="0" rtlCol="0" anchor="ctr"/>
          <a:lstStyle/>
          <a:p>
            <a:pPr algn="ctr" indent="0" marL="0">
              <a:buNone/>
            </a:pPr>
            <a:r>
              <a:rPr lang="en-US" sz="850" dirty="0">
                <a:solidFill>
                  <a:srgbClr val="6B7280"/>
                </a:solidFill>
                <a:latin typeface="Meiryo UI" pitchFamily="34" charset="0"/>
                <a:ea typeface="Meiryo UI" pitchFamily="34" charset="-122"/>
                <a:cs typeface="Meiryo UI" pitchFamily="34" charset="-120"/>
              </a:rPr>
              <a:t>人</a:t>
            </a:r>
            <a:endParaRPr lang="en-US" sz="850" dirty="0"/>
          </a:p>
        </p:txBody>
      </p:sp>
      <p:sp>
        <p:nvSpPr>
          <p:cNvPr id="49" name="Shape 47"/>
          <p:cNvSpPr/>
          <p:nvPr/>
        </p:nvSpPr>
        <p:spPr>
          <a:xfrm>
            <a:off x="4990338" y="2455164"/>
            <a:ext cx="986409" cy="260604"/>
          </a:xfrm>
          <a:prstGeom prst="roundRect">
            <a:avLst>
              <a:gd name="adj" fmla="val 17544"/>
            </a:avLst>
          </a:prstGeom>
          <a:solidFill>
            <a:srgbClr val="D9F2F1"/>
          </a:solidFill>
          <a:ln/>
        </p:spPr>
      </p:sp>
      <p:sp>
        <p:nvSpPr>
          <p:cNvPr id="50" name="Text 48"/>
          <p:cNvSpPr txBox="1"/>
          <p:nvPr/>
        </p:nvSpPr>
        <p:spPr>
          <a:xfrm>
            <a:off x="4990338" y="2455164"/>
            <a:ext cx="986409" cy="260604"/>
          </a:xfrm>
          <a:prstGeom prst="rect">
            <a:avLst/>
          </a:prstGeom>
          <a:noFill/>
          <a:ln/>
        </p:spPr>
        <p:txBody>
          <a:bodyPr wrap="square" lIns="0" tIns="0" rIns="0" bIns="0" rtlCol="0" anchor="ctr"/>
          <a:lstStyle/>
          <a:p>
            <a:pPr algn="ctr" indent="0" marL="0">
              <a:buNone/>
            </a:pPr>
            <a:r>
              <a:rPr lang="en-US" sz="850" b="1" dirty="0">
                <a:solidFill>
                  <a:srgbClr val="0E9F9A"/>
                </a:solidFill>
                <a:latin typeface="Meiryo UI" pitchFamily="34" charset="0"/>
                <a:ea typeface="Meiryo UI" pitchFamily="34" charset="-122"/>
                <a:cs typeface="Meiryo UI" pitchFamily="34" charset="-120"/>
              </a:rPr>
              <a:t>支援</a:t>
            </a:r>
            <a:endParaRPr lang="en-US" sz="850" dirty="0"/>
          </a:p>
        </p:txBody>
      </p:sp>
      <p:sp>
        <p:nvSpPr>
          <p:cNvPr id="51" name="Shape 49"/>
          <p:cNvSpPr/>
          <p:nvPr/>
        </p:nvSpPr>
        <p:spPr>
          <a:xfrm>
            <a:off x="6104763" y="2455164"/>
            <a:ext cx="986409" cy="260604"/>
          </a:xfrm>
          <a:prstGeom prst="roundRect">
            <a:avLst>
              <a:gd name="adj" fmla="val 17544"/>
            </a:avLst>
          </a:prstGeom>
          <a:solidFill>
            <a:srgbClr val="D9F2F1"/>
          </a:solidFill>
          <a:ln/>
        </p:spPr>
      </p:sp>
      <p:sp>
        <p:nvSpPr>
          <p:cNvPr id="52" name="Text 50"/>
          <p:cNvSpPr txBox="1"/>
          <p:nvPr/>
        </p:nvSpPr>
        <p:spPr>
          <a:xfrm>
            <a:off x="6104763" y="2455164"/>
            <a:ext cx="986409" cy="260604"/>
          </a:xfrm>
          <a:prstGeom prst="rect">
            <a:avLst/>
          </a:prstGeom>
          <a:noFill/>
          <a:ln/>
        </p:spPr>
        <p:txBody>
          <a:bodyPr wrap="square" lIns="0" tIns="0" rIns="0" bIns="0" rtlCol="0" anchor="ctr"/>
          <a:lstStyle/>
          <a:p>
            <a:pPr algn="ctr" indent="0" marL="0">
              <a:buNone/>
            </a:pPr>
            <a:r>
              <a:rPr lang="en-US" sz="850" b="1" dirty="0">
                <a:solidFill>
                  <a:srgbClr val="0E9F9A"/>
                </a:solidFill>
                <a:latin typeface="Meiryo UI" pitchFamily="34" charset="0"/>
                <a:ea typeface="Meiryo UI" pitchFamily="34" charset="-122"/>
                <a:cs typeface="Meiryo UI" pitchFamily="34" charset="-120"/>
              </a:rPr>
              <a:t>支援</a:t>
            </a:r>
            <a:endParaRPr lang="en-US" sz="850" dirty="0"/>
          </a:p>
        </p:txBody>
      </p:sp>
      <p:sp>
        <p:nvSpPr>
          <p:cNvPr id="53" name="Shape 51"/>
          <p:cNvSpPr/>
          <p:nvPr/>
        </p:nvSpPr>
        <p:spPr>
          <a:xfrm>
            <a:off x="7219188" y="2455164"/>
            <a:ext cx="986409" cy="260604"/>
          </a:xfrm>
          <a:prstGeom prst="roundRect">
            <a:avLst>
              <a:gd name="adj" fmla="val 17544"/>
            </a:avLst>
          </a:prstGeom>
          <a:solidFill>
            <a:srgbClr val="D9F2F1"/>
          </a:solidFill>
          <a:ln/>
        </p:spPr>
      </p:sp>
      <p:sp>
        <p:nvSpPr>
          <p:cNvPr id="54" name="Text 52"/>
          <p:cNvSpPr txBox="1"/>
          <p:nvPr/>
        </p:nvSpPr>
        <p:spPr>
          <a:xfrm>
            <a:off x="7219188" y="2455164"/>
            <a:ext cx="986409" cy="260604"/>
          </a:xfrm>
          <a:prstGeom prst="rect">
            <a:avLst/>
          </a:prstGeom>
          <a:noFill/>
          <a:ln/>
        </p:spPr>
        <p:txBody>
          <a:bodyPr wrap="square" lIns="0" tIns="0" rIns="0" bIns="0" rtlCol="0" anchor="ctr"/>
          <a:lstStyle/>
          <a:p>
            <a:pPr algn="ctr" indent="0" marL="0">
              <a:buNone/>
            </a:pPr>
            <a:r>
              <a:rPr lang="en-US" sz="850" b="1" dirty="0">
                <a:solidFill>
                  <a:srgbClr val="0E9F9A"/>
                </a:solidFill>
                <a:latin typeface="Meiryo UI" pitchFamily="34" charset="0"/>
                <a:ea typeface="Meiryo UI" pitchFamily="34" charset="-122"/>
                <a:cs typeface="Meiryo UI" pitchFamily="34" charset="-120"/>
              </a:rPr>
              <a:t>支援</a:t>
            </a:r>
            <a:endParaRPr lang="en-US" sz="850" dirty="0"/>
          </a:p>
        </p:txBody>
      </p:sp>
      <p:sp>
        <p:nvSpPr>
          <p:cNvPr id="55" name="Shape 53"/>
          <p:cNvSpPr/>
          <p:nvPr/>
        </p:nvSpPr>
        <p:spPr>
          <a:xfrm>
            <a:off x="8333613" y="2455164"/>
            <a:ext cx="986409" cy="260604"/>
          </a:xfrm>
          <a:prstGeom prst="roundRect">
            <a:avLst>
              <a:gd name="adj" fmla="val 17544"/>
            </a:avLst>
          </a:prstGeom>
          <a:solidFill>
            <a:srgbClr val="D9F2F1"/>
          </a:solidFill>
          <a:ln/>
        </p:spPr>
      </p:sp>
      <p:sp>
        <p:nvSpPr>
          <p:cNvPr id="56" name="Text 54"/>
          <p:cNvSpPr txBox="1"/>
          <p:nvPr/>
        </p:nvSpPr>
        <p:spPr>
          <a:xfrm>
            <a:off x="8333613" y="2455164"/>
            <a:ext cx="986409" cy="260604"/>
          </a:xfrm>
          <a:prstGeom prst="rect">
            <a:avLst/>
          </a:prstGeom>
          <a:noFill/>
          <a:ln/>
        </p:spPr>
        <p:txBody>
          <a:bodyPr wrap="square" lIns="0" tIns="0" rIns="0" bIns="0" rtlCol="0" anchor="ctr"/>
          <a:lstStyle/>
          <a:p>
            <a:pPr algn="ctr" indent="0" marL="0">
              <a:buNone/>
            </a:pPr>
            <a:r>
              <a:rPr lang="en-US" sz="850" b="1" dirty="0">
                <a:solidFill>
                  <a:srgbClr val="0E9F9A"/>
                </a:solidFill>
                <a:latin typeface="Meiryo UI" pitchFamily="34" charset="0"/>
                <a:ea typeface="Meiryo UI" pitchFamily="34" charset="-122"/>
                <a:cs typeface="Meiryo UI" pitchFamily="34" charset="-120"/>
              </a:rPr>
              <a:t>支援</a:t>
            </a:r>
            <a:endParaRPr lang="en-US" sz="850" dirty="0"/>
          </a:p>
        </p:txBody>
      </p:sp>
      <p:sp>
        <p:nvSpPr>
          <p:cNvPr id="57" name="Shape 55"/>
          <p:cNvSpPr/>
          <p:nvPr/>
        </p:nvSpPr>
        <p:spPr>
          <a:xfrm>
            <a:off x="9448038" y="2455164"/>
            <a:ext cx="986409" cy="260604"/>
          </a:xfrm>
          <a:prstGeom prst="roundRect">
            <a:avLst>
              <a:gd name="adj" fmla="val 17544"/>
            </a:avLst>
          </a:prstGeom>
          <a:solidFill>
            <a:srgbClr val="F3F5F8"/>
          </a:solidFill>
          <a:ln/>
        </p:spPr>
      </p:sp>
      <p:sp>
        <p:nvSpPr>
          <p:cNvPr id="58" name="Text 56"/>
          <p:cNvSpPr txBox="1"/>
          <p:nvPr/>
        </p:nvSpPr>
        <p:spPr>
          <a:xfrm>
            <a:off x="9448038" y="2455164"/>
            <a:ext cx="986409" cy="260604"/>
          </a:xfrm>
          <a:prstGeom prst="rect">
            <a:avLst/>
          </a:prstGeom>
          <a:noFill/>
          <a:ln/>
        </p:spPr>
        <p:txBody>
          <a:bodyPr wrap="square" lIns="0" tIns="0" rIns="0" bIns="0" rtlCol="0" anchor="ctr"/>
          <a:lstStyle/>
          <a:p>
            <a:pPr algn="ctr" indent="0" marL="0">
              <a:buNone/>
            </a:pPr>
            <a:r>
              <a:rPr lang="en-US" sz="850" dirty="0">
                <a:solidFill>
                  <a:srgbClr val="6B7280"/>
                </a:solidFill>
                <a:latin typeface="Meiryo UI" pitchFamily="34" charset="0"/>
                <a:ea typeface="Meiryo UI" pitchFamily="34" charset="-122"/>
                <a:cs typeface="Meiryo UI" pitchFamily="34" charset="-120"/>
              </a:rPr>
              <a:t>人</a:t>
            </a:r>
            <a:endParaRPr lang="en-US" sz="850" dirty="0"/>
          </a:p>
        </p:txBody>
      </p:sp>
      <p:sp>
        <p:nvSpPr>
          <p:cNvPr id="59" name="Shape 57"/>
          <p:cNvSpPr/>
          <p:nvPr/>
        </p:nvSpPr>
        <p:spPr>
          <a:xfrm>
            <a:off x="10562463" y="2455164"/>
            <a:ext cx="986409" cy="260604"/>
          </a:xfrm>
          <a:prstGeom prst="roundRect">
            <a:avLst>
              <a:gd name="adj" fmla="val 17544"/>
            </a:avLst>
          </a:prstGeom>
          <a:solidFill>
            <a:srgbClr val="F3F5F8"/>
          </a:solidFill>
          <a:ln/>
        </p:spPr>
      </p:sp>
      <p:sp>
        <p:nvSpPr>
          <p:cNvPr id="60" name="Text 58"/>
          <p:cNvSpPr txBox="1"/>
          <p:nvPr/>
        </p:nvSpPr>
        <p:spPr>
          <a:xfrm>
            <a:off x="10562463" y="2455164"/>
            <a:ext cx="986409" cy="260604"/>
          </a:xfrm>
          <a:prstGeom prst="rect">
            <a:avLst/>
          </a:prstGeom>
          <a:noFill/>
          <a:ln/>
        </p:spPr>
        <p:txBody>
          <a:bodyPr wrap="square" lIns="0" tIns="0" rIns="0" bIns="0" rtlCol="0" anchor="ctr"/>
          <a:lstStyle/>
          <a:p>
            <a:pPr algn="ctr" indent="0" marL="0">
              <a:buNone/>
            </a:pPr>
            <a:r>
              <a:rPr lang="en-US" sz="850" dirty="0">
                <a:solidFill>
                  <a:srgbClr val="6B7280"/>
                </a:solidFill>
                <a:latin typeface="Meiryo UI" pitchFamily="34" charset="0"/>
                <a:ea typeface="Meiryo UI" pitchFamily="34" charset="-122"/>
                <a:cs typeface="Meiryo UI" pitchFamily="34" charset="-120"/>
              </a:rPr>
              <a:t>人</a:t>
            </a:r>
            <a:endParaRPr lang="en-US" sz="850" dirty="0"/>
          </a:p>
        </p:txBody>
      </p:sp>
      <p:sp>
        <p:nvSpPr>
          <p:cNvPr id="61" name="Shape 59"/>
          <p:cNvSpPr/>
          <p:nvPr/>
        </p:nvSpPr>
        <p:spPr>
          <a:xfrm>
            <a:off x="566928" y="2779776"/>
            <a:ext cx="265176" cy="265176"/>
          </a:xfrm>
          <a:prstGeom prst="ellipse">
            <a:avLst/>
          </a:prstGeom>
          <a:solidFill>
            <a:srgbClr val="0F6CBD"/>
          </a:solidFill>
          <a:ln/>
        </p:spPr>
      </p:sp>
      <p:sp>
        <p:nvSpPr>
          <p:cNvPr id="62" name="Text 60"/>
          <p:cNvSpPr txBox="1"/>
          <p:nvPr/>
        </p:nvSpPr>
        <p:spPr>
          <a:xfrm>
            <a:off x="566928" y="2779776"/>
            <a:ext cx="265176" cy="265176"/>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A3</a:t>
            </a:r>
            <a:endParaRPr lang="en-US" sz="1100" dirty="0"/>
          </a:p>
        </p:txBody>
      </p:sp>
      <p:sp>
        <p:nvSpPr>
          <p:cNvPr id="63" name="Text 61"/>
          <p:cNvSpPr txBox="1"/>
          <p:nvPr/>
        </p:nvSpPr>
        <p:spPr>
          <a:xfrm>
            <a:off x="896112" y="2752344"/>
            <a:ext cx="1801368" cy="297180"/>
          </a:xfrm>
          <a:prstGeom prst="rect">
            <a:avLst/>
          </a:prstGeom>
          <a:noFill/>
          <a:ln/>
        </p:spPr>
        <p:txBody>
          <a:bodyPr wrap="square" lIns="0" tIns="0" rIns="0" bIns="0" rtlCol="0" anchor="ctr"/>
          <a:lstStyle/>
          <a:p>
            <a:pPr indent="0" marL="0">
              <a:buNone/>
            </a:pPr>
            <a:r>
              <a:rPr lang="en-US" sz="900" b="1" dirty="0">
                <a:solidFill>
                  <a:srgbClr val="1B2A49"/>
                </a:solidFill>
                <a:latin typeface="Meiryo UI" pitchFamily="34" charset="0"/>
                <a:ea typeface="Meiryo UI" pitchFamily="34" charset="-122"/>
                <a:cs typeface="Meiryo UI" pitchFamily="34" charset="-120"/>
              </a:rPr>
              <a:t>Copilot Studioエージェント</a:t>
            </a:r>
            <a:endParaRPr lang="en-US" sz="900" dirty="0"/>
          </a:p>
        </p:txBody>
      </p:sp>
      <p:sp>
        <p:nvSpPr>
          <p:cNvPr id="64" name="Shape 62"/>
          <p:cNvSpPr/>
          <p:nvPr/>
        </p:nvSpPr>
        <p:spPr>
          <a:xfrm>
            <a:off x="2761488" y="2779776"/>
            <a:ext cx="986409" cy="260604"/>
          </a:xfrm>
          <a:prstGeom prst="roundRect">
            <a:avLst>
              <a:gd name="adj" fmla="val 17544"/>
            </a:avLst>
          </a:prstGeom>
          <a:solidFill>
            <a:srgbClr val="0E9F9A"/>
          </a:solidFill>
          <a:ln/>
        </p:spPr>
      </p:sp>
      <p:sp>
        <p:nvSpPr>
          <p:cNvPr id="65" name="Text 63"/>
          <p:cNvSpPr txBox="1"/>
          <p:nvPr/>
        </p:nvSpPr>
        <p:spPr>
          <a:xfrm>
            <a:off x="2761488" y="2779776"/>
            <a:ext cx="986409" cy="260604"/>
          </a:xfrm>
          <a:prstGeom prst="rect">
            <a:avLst/>
          </a:prstGeom>
          <a:noFill/>
          <a:ln/>
        </p:spPr>
        <p:txBody>
          <a:bodyPr wrap="square" lIns="0" tIns="0" rIns="0" bIns="0" rtlCol="0" anchor="ctr"/>
          <a:lstStyle/>
          <a:p>
            <a:pPr algn="ctr" indent="0" marL="0">
              <a:buNone/>
            </a:pPr>
            <a:r>
              <a:rPr lang="en-US" sz="850" b="1" dirty="0">
                <a:solidFill>
                  <a:srgbClr val="FFFFFF"/>
                </a:solidFill>
                <a:latin typeface="Meiryo UI" pitchFamily="34" charset="0"/>
                <a:ea typeface="Meiryo UI" pitchFamily="34" charset="-122"/>
                <a:cs typeface="Meiryo UI" pitchFamily="34" charset="-120"/>
              </a:rPr>
              <a:t>自動</a:t>
            </a:r>
            <a:endParaRPr lang="en-US" sz="850" dirty="0"/>
          </a:p>
        </p:txBody>
      </p:sp>
      <p:sp>
        <p:nvSpPr>
          <p:cNvPr id="66" name="Shape 64"/>
          <p:cNvSpPr/>
          <p:nvPr/>
        </p:nvSpPr>
        <p:spPr>
          <a:xfrm>
            <a:off x="3875913" y="2779776"/>
            <a:ext cx="986409" cy="260604"/>
          </a:xfrm>
          <a:prstGeom prst="roundRect">
            <a:avLst>
              <a:gd name="adj" fmla="val 17544"/>
            </a:avLst>
          </a:prstGeom>
          <a:solidFill>
            <a:srgbClr val="F3F5F8"/>
          </a:solidFill>
          <a:ln/>
        </p:spPr>
      </p:sp>
      <p:sp>
        <p:nvSpPr>
          <p:cNvPr id="67" name="Text 65"/>
          <p:cNvSpPr txBox="1"/>
          <p:nvPr/>
        </p:nvSpPr>
        <p:spPr>
          <a:xfrm>
            <a:off x="3875913" y="2779776"/>
            <a:ext cx="986409" cy="260604"/>
          </a:xfrm>
          <a:prstGeom prst="rect">
            <a:avLst/>
          </a:prstGeom>
          <a:noFill/>
          <a:ln/>
        </p:spPr>
        <p:txBody>
          <a:bodyPr wrap="square" lIns="0" tIns="0" rIns="0" bIns="0" rtlCol="0" anchor="ctr"/>
          <a:lstStyle/>
          <a:p>
            <a:pPr algn="ctr" indent="0" marL="0">
              <a:buNone/>
            </a:pPr>
            <a:r>
              <a:rPr lang="en-US" sz="850" dirty="0">
                <a:solidFill>
                  <a:srgbClr val="6B7280"/>
                </a:solidFill>
                <a:latin typeface="Meiryo UI" pitchFamily="34" charset="0"/>
                <a:ea typeface="Meiryo UI" pitchFamily="34" charset="-122"/>
                <a:cs typeface="Meiryo UI" pitchFamily="34" charset="-120"/>
              </a:rPr>
              <a:t>人</a:t>
            </a:r>
            <a:endParaRPr lang="en-US" sz="850" dirty="0"/>
          </a:p>
        </p:txBody>
      </p:sp>
      <p:sp>
        <p:nvSpPr>
          <p:cNvPr id="68" name="Shape 66"/>
          <p:cNvSpPr/>
          <p:nvPr/>
        </p:nvSpPr>
        <p:spPr>
          <a:xfrm>
            <a:off x="4990338" y="2779776"/>
            <a:ext cx="986409" cy="260604"/>
          </a:xfrm>
          <a:prstGeom prst="roundRect">
            <a:avLst>
              <a:gd name="adj" fmla="val 17544"/>
            </a:avLst>
          </a:prstGeom>
          <a:solidFill>
            <a:srgbClr val="D9F2F1"/>
          </a:solidFill>
          <a:ln/>
        </p:spPr>
      </p:sp>
      <p:sp>
        <p:nvSpPr>
          <p:cNvPr id="69" name="Text 67"/>
          <p:cNvSpPr txBox="1"/>
          <p:nvPr/>
        </p:nvSpPr>
        <p:spPr>
          <a:xfrm>
            <a:off x="4990338" y="2779776"/>
            <a:ext cx="986409" cy="260604"/>
          </a:xfrm>
          <a:prstGeom prst="rect">
            <a:avLst/>
          </a:prstGeom>
          <a:noFill/>
          <a:ln/>
        </p:spPr>
        <p:txBody>
          <a:bodyPr wrap="square" lIns="0" tIns="0" rIns="0" bIns="0" rtlCol="0" anchor="ctr"/>
          <a:lstStyle/>
          <a:p>
            <a:pPr algn="ctr" indent="0" marL="0">
              <a:buNone/>
            </a:pPr>
            <a:r>
              <a:rPr lang="en-US" sz="850" b="1" dirty="0">
                <a:solidFill>
                  <a:srgbClr val="0E9F9A"/>
                </a:solidFill>
                <a:latin typeface="Meiryo UI" pitchFamily="34" charset="0"/>
                <a:ea typeface="Meiryo UI" pitchFamily="34" charset="-122"/>
                <a:cs typeface="Meiryo UI" pitchFamily="34" charset="-120"/>
              </a:rPr>
              <a:t>支援</a:t>
            </a:r>
            <a:endParaRPr lang="en-US" sz="850" dirty="0"/>
          </a:p>
        </p:txBody>
      </p:sp>
      <p:sp>
        <p:nvSpPr>
          <p:cNvPr id="70" name="Shape 68"/>
          <p:cNvSpPr/>
          <p:nvPr/>
        </p:nvSpPr>
        <p:spPr>
          <a:xfrm>
            <a:off x="6104763" y="2779776"/>
            <a:ext cx="986409" cy="260604"/>
          </a:xfrm>
          <a:prstGeom prst="roundRect">
            <a:avLst>
              <a:gd name="adj" fmla="val 17544"/>
            </a:avLst>
          </a:prstGeom>
          <a:solidFill>
            <a:srgbClr val="D9F2F1"/>
          </a:solidFill>
          <a:ln/>
        </p:spPr>
      </p:sp>
      <p:sp>
        <p:nvSpPr>
          <p:cNvPr id="71" name="Text 69"/>
          <p:cNvSpPr txBox="1"/>
          <p:nvPr/>
        </p:nvSpPr>
        <p:spPr>
          <a:xfrm>
            <a:off x="6104763" y="2779776"/>
            <a:ext cx="986409" cy="260604"/>
          </a:xfrm>
          <a:prstGeom prst="rect">
            <a:avLst/>
          </a:prstGeom>
          <a:noFill/>
          <a:ln/>
        </p:spPr>
        <p:txBody>
          <a:bodyPr wrap="square" lIns="0" tIns="0" rIns="0" bIns="0" rtlCol="0" anchor="ctr"/>
          <a:lstStyle/>
          <a:p>
            <a:pPr algn="ctr" indent="0" marL="0">
              <a:buNone/>
            </a:pPr>
            <a:r>
              <a:rPr lang="en-US" sz="850" b="1" dirty="0">
                <a:solidFill>
                  <a:srgbClr val="0E9F9A"/>
                </a:solidFill>
                <a:latin typeface="Meiryo UI" pitchFamily="34" charset="0"/>
                <a:ea typeface="Meiryo UI" pitchFamily="34" charset="-122"/>
                <a:cs typeface="Meiryo UI" pitchFamily="34" charset="-120"/>
              </a:rPr>
              <a:t>支援</a:t>
            </a:r>
            <a:endParaRPr lang="en-US" sz="850" dirty="0"/>
          </a:p>
        </p:txBody>
      </p:sp>
      <p:sp>
        <p:nvSpPr>
          <p:cNvPr id="72" name="Shape 70"/>
          <p:cNvSpPr/>
          <p:nvPr/>
        </p:nvSpPr>
        <p:spPr>
          <a:xfrm>
            <a:off x="7219188" y="2779776"/>
            <a:ext cx="986409" cy="260604"/>
          </a:xfrm>
          <a:prstGeom prst="roundRect">
            <a:avLst>
              <a:gd name="adj" fmla="val 17544"/>
            </a:avLst>
          </a:prstGeom>
          <a:solidFill>
            <a:srgbClr val="D9F2F1"/>
          </a:solidFill>
          <a:ln/>
        </p:spPr>
      </p:sp>
      <p:sp>
        <p:nvSpPr>
          <p:cNvPr id="73" name="Text 71"/>
          <p:cNvSpPr txBox="1"/>
          <p:nvPr/>
        </p:nvSpPr>
        <p:spPr>
          <a:xfrm>
            <a:off x="7219188" y="2779776"/>
            <a:ext cx="986409" cy="260604"/>
          </a:xfrm>
          <a:prstGeom prst="rect">
            <a:avLst/>
          </a:prstGeom>
          <a:noFill/>
          <a:ln/>
        </p:spPr>
        <p:txBody>
          <a:bodyPr wrap="square" lIns="0" tIns="0" rIns="0" bIns="0" rtlCol="0" anchor="ctr"/>
          <a:lstStyle/>
          <a:p>
            <a:pPr algn="ctr" indent="0" marL="0">
              <a:buNone/>
            </a:pPr>
            <a:r>
              <a:rPr lang="en-US" sz="850" b="1" dirty="0">
                <a:solidFill>
                  <a:srgbClr val="0E9F9A"/>
                </a:solidFill>
                <a:latin typeface="Meiryo UI" pitchFamily="34" charset="0"/>
                <a:ea typeface="Meiryo UI" pitchFamily="34" charset="-122"/>
                <a:cs typeface="Meiryo UI" pitchFamily="34" charset="-120"/>
              </a:rPr>
              <a:t>支援</a:t>
            </a:r>
            <a:endParaRPr lang="en-US" sz="850" dirty="0"/>
          </a:p>
        </p:txBody>
      </p:sp>
      <p:sp>
        <p:nvSpPr>
          <p:cNvPr id="74" name="Shape 72"/>
          <p:cNvSpPr/>
          <p:nvPr/>
        </p:nvSpPr>
        <p:spPr>
          <a:xfrm>
            <a:off x="8333613" y="2779776"/>
            <a:ext cx="986409" cy="260604"/>
          </a:xfrm>
          <a:prstGeom prst="roundRect">
            <a:avLst>
              <a:gd name="adj" fmla="val 17544"/>
            </a:avLst>
          </a:prstGeom>
          <a:solidFill>
            <a:srgbClr val="D9F2F1"/>
          </a:solidFill>
          <a:ln/>
        </p:spPr>
      </p:sp>
      <p:sp>
        <p:nvSpPr>
          <p:cNvPr id="75" name="Text 73"/>
          <p:cNvSpPr txBox="1"/>
          <p:nvPr/>
        </p:nvSpPr>
        <p:spPr>
          <a:xfrm>
            <a:off x="8333613" y="2779776"/>
            <a:ext cx="986409" cy="260604"/>
          </a:xfrm>
          <a:prstGeom prst="rect">
            <a:avLst/>
          </a:prstGeom>
          <a:noFill/>
          <a:ln/>
        </p:spPr>
        <p:txBody>
          <a:bodyPr wrap="square" lIns="0" tIns="0" rIns="0" bIns="0" rtlCol="0" anchor="ctr"/>
          <a:lstStyle/>
          <a:p>
            <a:pPr algn="ctr" indent="0" marL="0">
              <a:buNone/>
            </a:pPr>
            <a:r>
              <a:rPr lang="en-US" sz="850" b="1" dirty="0">
                <a:solidFill>
                  <a:srgbClr val="0E9F9A"/>
                </a:solidFill>
                <a:latin typeface="Meiryo UI" pitchFamily="34" charset="0"/>
                <a:ea typeface="Meiryo UI" pitchFamily="34" charset="-122"/>
                <a:cs typeface="Meiryo UI" pitchFamily="34" charset="-120"/>
              </a:rPr>
              <a:t>支援</a:t>
            </a:r>
            <a:endParaRPr lang="en-US" sz="850" dirty="0"/>
          </a:p>
        </p:txBody>
      </p:sp>
      <p:sp>
        <p:nvSpPr>
          <p:cNvPr id="76" name="Shape 74"/>
          <p:cNvSpPr/>
          <p:nvPr/>
        </p:nvSpPr>
        <p:spPr>
          <a:xfrm>
            <a:off x="9448038" y="2779776"/>
            <a:ext cx="986409" cy="260604"/>
          </a:xfrm>
          <a:prstGeom prst="roundRect">
            <a:avLst>
              <a:gd name="adj" fmla="val 17544"/>
            </a:avLst>
          </a:prstGeom>
          <a:solidFill>
            <a:srgbClr val="F3F5F8"/>
          </a:solidFill>
          <a:ln/>
        </p:spPr>
      </p:sp>
      <p:sp>
        <p:nvSpPr>
          <p:cNvPr id="77" name="Text 75"/>
          <p:cNvSpPr txBox="1"/>
          <p:nvPr/>
        </p:nvSpPr>
        <p:spPr>
          <a:xfrm>
            <a:off x="9448038" y="2779776"/>
            <a:ext cx="986409" cy="260604"/>
          </a:xfrm>
          <a:prstGeom prst="rect">
            <a:avLst/>
          </a:prstGeom>
          <a:noFill/>
          <a:ln/>
        </p:spPr>
        <p:txBody>
          <a:bodyPr wrap="square" lIns="0" tIns="0" rIns="0" bIns="0" rtlCol="0" anchor="ctr"/>
          <a:lstStyle/>
          <a:p>
            <a:pPr algn="ctr" indent="0" marL="0">
              <a:buNone/>
            </a:pPr>
            <a:r>
              <a:rPr lang="en-US" sz="850" dirty="0">
                <a:solidFill>
                  <a:srgbClr val="6B7280"/>
                </a:solidFill>
                <a:latin typeface="Meiryo UI" pitchFamily="34" charset="0"/>
                <a:ea typeface="Meiryo UI" pitchFamily="34" charset="-122"/>
                <a:cs typeface="Meiryo UI" pitchFamily="34" charset="-120"/>
              </a:rPr>
              <a:t>人</a:t>
            </a:r>
            <a:endParaRPr lang="en-US" sz="850" dirty="0"/>
          </a:p>
        </p:txBody>
      </p:sp>
      <p:sp>
        <p:nvSpPr>
          <p:cNvPr id="78" name="Shape 76"/>
          <p:cNvSpPr/>
          <p:nvPr/>
        </p:nvSpPr>
        <p:spPr>
          <a:xfrm>
            <a:off x="10562463" y="2779776"/>
            <a:ext cx="986409" cy="260604"/>
          </a:xfrm>
          <a:prstGeom prst="roundRect">
            <a:avLst>
              <a:gd name="adj" fmla="val 17544"/>
            </a:avLst>
          </a:prstGeom>
          <a:solidFill>
            <a:srgbClr val="F3F5F8"/>
          </a:solidFill>
          <a:ln/>
        </p:spPr>
      </p:sp>
      <p:sp>
        <p:nvSpPr>
          <p:cNvPr id="79" name="Text 77"/>
          <p:cNvSpPr txBox="1"/>
          <p:nvPr/>
        </p:nvSpPr>
        <p:spPr>
          <a:xfrm>
            <a:off x="10562463" y="2779776"/>
            <a:ext cx="986409" cy="260604"/>
          </a:xfrm>
          <a:prstGeom prst="rect">
            <a:avLst/>
          </a:prstGeom>
          <a:noFill/>
          <a:ln/>
        </p:spPr>
        <p:txBody>
          <a:bodyPr wrap="square" lIns="0" tIns="0" rIns="0" bIns="0" rtlCol="0" anchor="ctr"/>
          <a:lstStyle/>
          <a:p>
            <a:pPr algn="ctr" indent="0" marL="0">
              <a:buNone/>
            </a:pPr>
            <a:r>
              <a:rPr lang="en-US" sz="850" dirty="0">
                <a:solidFill>
                  <a:srgbClr val="6B7280"/>
                </a:solidFill>
                <a:latin typeface="Meiryo UI" pitchFamily="34" charset="0"/>
                <a:ea typeface="Meiryo UI" pitchFamily="34" charset="-122"/>
                <a:cs typeface="Meiryo UI" pitchFamily="34" charset="-120"/>
              </a:rPr>
              <a:t>人</a:t>
            </a:r>
            <a:endParaRPr lang="en-US" sz="850" dirty="0"/>
          </a:p>
        </p:txBody>
      </p:sp>
      <p:sp>
        <p:nvSpPr>
          <p:cNvPr id="80" name="Shape 78"/>
          <p:cNvSpPr/>
          <p:nvPr/>
        </p:nvSpPr>
        <p:spPr>
          <a:xfrm>
            <a:off x="566928" y="3104388"/>
            <a:ext cx="265176" cy="265176"/>
          </a:xfrm>
          <a:prstGeom prst="ellipse">
            <a:avLst/>
          </a:prstGeom>
          <a:solidFill>
            <a:srgbClr val="0F6CBD"/>
          </a:solidFill>
          <a:ln/>
        </p:spPr>
      </p:sp>
      <p:sp>
        <p:nvSpPr>
          <p:cNvPr id="81" name="Text 79"/>
          <p:cNvSpPr txBox="1"/>
          <p:nvPr/>
        </p:nvSpPr>
        <p:spPr>
          <a:xfrm>
            <a:off x="566928" y="3104388"/>
            <a:ext cx="265176" cy="265176"/>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A4</a:t>
            </a:r>
            <a:endParaRPr lang="en-US" sz="1100" dirty="0"/>
          </a:p>
        </p:txBody>
      </p:sp>
      <p:sp>
        <p:nvSpPr>
          <p:cNvPr id="82" name="Text 80"/>
          <p:cNvSpPr txBox="1"/>
          <p:nvPr/>
        </p:nvSpPr>
        <p:spPr>
          <a:xfrm>
            <a:off x="896112" y="3076956"/>
            <a:ext cx="1801368" cy="297180"/>
          </a:xfrm>
          <a:prstGeom prst="rect">
            <a:avLst/>
          </a:prstGeom>
          <a:noFill/>
          <a:ln/>
        </p:spPr>
        <p:txBody>
          <a:bodyPr wrap="square" lIns="0" tIns="0" rIns="0" bIns="0" rtlCol="0" anchor="ctr"/>
          <a:lstStyle/>
          <a:p>
            <a:pPr indent="0" marL="0">
              <a:buNone/>
            </a:pPr>
            <a:r>
              <a:rPr lang="en-US" sz="900" b="1" dirty="0">
                <a:solidFill>
                  <a:srgbClr val="1B2A49"/>
                </a:solidFill>
                <a:latin typeface="Meiryo UI" pitchFamily="34" charset="0"/>
                <a:ea typeface="Meiryo UI" pitchFamily="34" charset="-122"/>
                <a:cs typeface="Meiryo UI" pitchFamily="34" charset="-120"/>
              </a:rPr>
              <a:t>Power Automateで自動起案</a:t>
            </a:r>
            <a:endParaRPr lang="en-US" sz="900" dirty="0"/>
          </a:p>
        </p:txBody>
      </p:sp>
      <p:sp>
        <p:nvSpPr>
          <p:cNvPr id="83" name="Shape 81"/>
          <p:cNvSpPr/>
          <p:nvPr/>
        </p:nvSpPr>
        <p:spPr>
          <a:xfrm>
            <a:off x="2761488" y="3104388"/>
            <a:ext cx="986409" cy="260604"/>
          </a:xfrm>
          <a:prstGeom prst="roundRect">
            <a:avLst>
              <a:gd name="adj" fmla="val 17544"/>
            </a:avLst>
          </a:prstGeom>
          <a:solidFill>
            <a:srgbClr val="0E9F9A"/>
          </a:solidFill>
          <a:ln/>
        </p:spPr>
      </p:sp>
      <p:sp>
        <p:nvSpPr>
          <p:cNvPr id="84" name="Text 82"/>
          <p:cNvSpPr txBox="1"/>
          <p:nvPr/>
        </p:nvSpPr>
        <p:spPr>
          <a:xfrm>
            <a:off x="2761488" y="3104388"/>
            <a:ext cx="986409" cy="260604"/>
          </a:xfrm>
          <a:prstGeom prst="rect">
            <a:avLst/>
          </a:prstGeom>
          <a:noFill/>
          <a:ln/>
        </p:spPr>
        <p:txBody>
          <a:bodyPr wrap="square" lIns="0" tIns="0" rIns="0" bIns="0" rtlCol="0" anchor="ctr"/>
          <a:lstStyle/>
          <a:p>
            <a:pPr algn="ctr" indent="0" marL="0">
              <a:buNone/>
            </a:pPr>
            <a:r>
              <a:rPr lang="en-US" sz="850" b="1" dirty="0">
                <a:solidFill>
                  <a:srgbClr val="FFFFFF"/>
                </a:solidFill>
                <a:latin typeface="Meiryo UI" pitchFamily="34" charset="0"/>
                <a:ea typeface="Meiryo UI" pitchFamily="34" charset="-122"/>
                <a:cs typeface="Meiryo UI" pitchFamily="34" charset="-120"/>
              </a:rPr>
              <a:t>自動</a:t>
            </a:r>
            <a:endParaRPr lang="en-US" sz="850" dirty="0"/>
          </a:p>
        </p:txBody>
      </p:sp>
      <p:sp>
        <p:nvSpPr>
          <p:cNvPr id="85" name="Shape 83"/>
          <p:cNvSpPr/>
          <p:nvPr/>
        </p:nvSpPr>
        <p:spPr>
          <a:xfrm>
            <a:off x="3875913" y="3104388"/>
            <a:ext cx="986409" cy="260604"/>
          </a:xfrm>
          <a:prstGeom prst="roundRect">
            <a:avLst>
              <a:gd name="adj" fmla="val 17544"/>
            </a:avLst>
          </a:prstGeom>
          <a:solidFill>
            <a:srgbClr val="FFFFFF"/>
          </a:solidFill>
          <a:ln w="12700">
            <a:solidFill>
              <a:srgbClr val="9AA5B4"/>
            </a:solidFill>
            <a:prstDash val="dash"/>
          </a:ln>
        </p:spPr>
      </p:sp>
      <p:sp>
        <p:nvSpPr>
          <p:cNvPr id="86" name="Text 84"/>
          <p:cNvSpPr txBox="1"/>
          <p:nvPr/>
        </p:nvSpPr>
        <p:spPr>
          <a:xfrm>
            <a:off x="3875913" y="3104388"/>
            <a:ext cx="986409" cy="260604"/>
          </a:xfrm>
          <a:prstGeom prst="rect">
            <a:avLst/>
          </a:prstGeom>
          <a:noFill/>
          <a:ln/>
        </p:spPr>
        <p:txBody>
          <a:bodyPr wrap="square" lIns="0" tIns="0" rIns="0" bIns="0" rtlCol="0" anchor="ctr"/>
          <a:lstStyle/>
          <a:p>
            <a:pPr algn="ctr" indent="0" marL="0">
              <a:buNone/>
            </a:pPr>
            <a:r>
              <a:rPr lang="en-US" sz="850" b="1" dirty="0">
                <a:solidFill>
                  <a:srgbClr val="6B7280"/>
                </a:solidFill>
                <a:latin typeface="Meiryo UI" pitchFamily="34" charset="0"/>
                <a:ea typeface="Meiryo UI" pitchFamily="34" charset="-122"/>
                <a:cs typeface="Meiryo UI" pitchFamily="34" charset="-120"/>
              </a:rPr>
              <a:t>拡張可</a:t>
            </a:r>
            <a:endParaRPr lang="en-US" sz="850" dirty="0"/>
          </a:p>
        </p:txBody>
      </p:sp>
      <p:sp>
        <p:nvSpPr>
          <p:cNvPr id="87" name="Shape 85"/>
          <p:cNvSpPr/>
          <p:nvPr/>
        </p:nvSpPr>
        <p:spPr>
          <a:xfrm>
            <a:off x="4990338" y="3104388"/>
            <a:ext cx="986409" cy="260604"/>
          </a:xfrm>
          <a:prstGeom prst="roundRect">
            <a:avLst>
              <a:gd name="adj" fmla="val 17544"/>
            </a:avLst>
          </a:prstGeom>
          <a:solidFill>
            <a:srgbClr val="0E9F9A"/>
          </a:solidFill>
          <a:ln/>
        </p:spPr>
      </p:sp>
      <p:sp>
        <p:nvSpPr>
          <p:cNvPr id="88" name="Text 86"/>
          <p:cNvSpPr txBox="1"/>
          <p:nvPr/>
        </p:nvSpPr>
        <p:spPr>
          <a:xfrm>
            <a:off x="4990338" y="3104388"/>
            <a:ext cx="986409" cy="260604"/>
          </a:xfrm>
          <a:prstGeom prst="rect">
            <a:avLst/>
          </a:prstGeom>
          <a:noFill/>
          <a:ln/>
        </p:spPr>
        <p:txBody>
          <a:bodyPr wrap="square" lIns="0" tIns="0" rIns="0" bIns="0" rtlCol="0" anchor="ctr"/>
          <a:lstStyle/>
          <a:p>
            <a:pPr algn="ctr" indent="0" marL="0">
              <a:buNone/>
            </a:pPr>
            <a:r>
              <a:rPr lang="en-US" sz="850" b="1" dirty="0">
                <a:solidFill>
                  <a:srgbClr val="FFFFFF"/>
                </a:solidFill>
                <a:latin typeface="Meiryo UI" pitchFamily="34" charset="0"/>
                <a:ea typeface="Meiryo UI" pitchFamily="34" charset="-122"/>
                <a:cs typeface="Meiryo UI" pitchFamily="34" charset="-120"/>
              </a:rPr>
              <a:t>自動</a:t>
            </a:r>
            <a:endParaRPr lang="en-US" sz="850" dirty="0"/>
          </a:p>
        </p:txBody>
      </p:sp>
      <p:sp>
        <p:nvSpPr>
          <p:cNvPr id="89" name="Shape 87"/>
          <p:cNvSpPr/>
          <p:nvPr/>
        </p:nvSpPr>
        <p:spPr>
          <a:xfrm>
            <a:off x="6104763" y="3104388"/>
            <a:ext cx="986409" cy="260604"/>
          </a:xfrm>
          <a:prstGeom prst="roundRect">
            <a:avLst>
              <a:gd name="adj" fmla="val 17544"/>
            </a:avLst>
          </a:prstGeom>
          <a:solidFill>
            <a:srgbClr val="0E9F9A"/>
          </a:solidFill>
          <a:ln/>
        </p:spPr>
      </p:sp>
      <p:sp>
        <p:nvSpPr>
          <p:cNvPr id="90" name="Text 88"/>
          <p:cNvSpPr txBox="1"/>
          <p:nvPr/>
        </p:nvSpPr>
        <p:spPr>
          <a:xfrm>
            <a:off x="6104763" y="3104388"/>
            <a:ext cx="986409" cy="260604"/>
          </a:xfrm>
          <a:prstGeom prst="rect">
            <a:avLst/>
          </a:prstGeom>
          <a:noFill/>
          <a:ln/>
        </p:spPr>
        <p:txBody>
          <a:bodyPr wrap="square" lIns="0" tIns="0" rIns="0" bIns="0" rtlCol="0" anchor="ctr"/>
          <a:lstStyle/>
          <a:p>
            <a:pPr algn="ctr" indent="0" marL="0">
              <a:buNone/>
            </a:pPr>
            <a:r>
              <a:rPr lang="en-US" sz="850" b="1" dirty="0">
                <a:solidFill>
                  <a:srgbClr val="FFFFFF"/>
                </a:solidFill>
                <a:latin typeface="Meiryo UI" pitchFamily="34" charset="0"/>
                <a:ea typeface="Meiryo UI" pitchFamily="34" charset="-122"/>
                <a:cs typeface="Meiryo UI" pitchFamily="34" charset="-120"/>
              </a:rPr>
              <a:t>自動</a:t>
            </a:r>
            <a:endParaRPr lang="en-US" sz="850" dirty="0"/>
          </a:p>
        </p:txBody>
      </p:sp>
      <p:sp>
        <p:nvSpPr>
          <p:cNvPr id="91" name="Shape 89"/>
          <p:cNvSpPr/>
          <p:nvPr/>
        </p:nvSpPr>
        <p:spPr>
          <a:xfrm>
            <a:off x="7219188" y="3104388"/>
            <a:ext cx="986409" cy="260604"/>
          </a:xfrm>
          <a:prstGeom prst="roundRect">
            <a:avLst>
              <a:gd name="adj" fmla="val 17544"/>
            </a:avLst>
          </a:prstGeom>
          <a:solidFill>
            <a:srgbClr val="0E9F9A"/>
          </a:solidFill>
          <a:ln/>
        </p:spPr>
      </p:sp>
      <p:sp>
        <p:nvSpPr>
          <p:cNvPr id="92" name="Text 90"/>
          <p:cNvSpPr txBox="1"/>
          <p:nvPr/>
        </p:nvSpPr>
        <p:spPr>
          <a:xfrm>
            <a:off x="7219188" y="3104388"/>
            <a:ext cx="986409" cy="260604"/>
          </a:xfrm>
          <a:prstGeom prst="rect">
            <a:avLst/>
          </a:prstGeom>
          <a:noFill/>
          <a:ln/>
        </p:spPr>
        <p:txBody>
          <a:bodyPr wrap="square" lIns="0" tIns="0" rIns="0" bIns="0" rtlCol="0" anchor="ctr"/>
          <a:lstStyle/>
          <a:p>
            <a:pPr algn="ctr" indent="0" marL="0">
              <a:buNone/>
            </a:pPr>
            <a:r>
              <a:rPr lang="en-US" sz="850" b="1" dirty="0">
                <a:solidFill>
                  <a:srgbClr val="FFFFFF"/>
                </a:solidFill>
                <a:latin typeface="Meiryo UI" pitchFamily="34" charset="0"/>
                <a:ea typeface="Meiryo UI" pitchFamily="34" charset="-122"/>
                <a:cs typeface="Meiryo UI" pitchFamily="34" charset="-120"/>
              </a:rPr>
              <a:t>自動</a:t>
            </a:r>
            <a:endParaRPr lang="en-US" sz="850" dirty="0"/>
          </a:p>
        </p:txBody>
      </p:sp>
      <p:sp>
        <p:nvSpPr>
          <p:cNvPr id="93" name="Shape 91"/>
          <p:cNvSpPr/>
          <p:nvPr/>
        </p:nvSpPr>
        <p:spPr>
          <a:xfrm>
            <a:off x="8333613" y="3104388"/>
            <a:ext cx="986409" cy="260604"/>
          </a:xfrm>
          <a:prstGeom prst="roundRect">
            <a:avLst>
              <a:gd name="adj" fmla="val 17544"/>
            </a:avLst>
          </a:prstGeom>
          <a:solidFill>
            <a:srgbClr val="0E9F9A"/>
          </a:solidFill>
          <a:ln/>
        </p:spPr>
      </p:sp>
      <p:sp>
        <p:nvSpPr>
          <p:cNvPr id="94" name="Text 92"/>
          <p:cNvSpPr txBox="1"/>
          <p:nvPr/>
        </p:nvSpPr>
        <p:spPr>
          <a:xfrm>
            <a:off x="8333613" y="3104388"/>
            <a:ext cx="986409" cy="260604"/>
          </a:xfrm>
          <a:prstGeom prst="rect">
            <a:avLst/>
          </a:prstGeom>
          <a:noFill/>
          <a:ln/>
        </p:spPr>
        <p:txBody>
          <a:bodyPr wrap="square" lIns="0" tIns="0" rIns="0" bIns="0" rtlCol="0" anchor="ctr"/>
          <a:lstStyle/>
          <a:p>
            <a:pPr algn="ctr" indent="0" marL="0">
              <a:buNone/>
            </a:pPr>
            <a:r>
              <a:rPr lang="en-US" sz="850" b="1" dirty="0">
                <a:solidFill>
                  <a:srgbClr val="FFFFFF"/>
                </a:solidFill>
                <a:latin typeface="Meiryo UI" pitchFamily="34" charset="0"/>
                <a:ea typeface="Meiryo UI" pitchFamily="34" charset="-122"/>
                <a:cs typeface="Meiryo UI" pitchFamily="34" charset="-120"/>
              </a:rPr>
              <a:t>自動</a:t>
            </a:r>
            <a:endParaRPr lang="en-US" sz="850" dirty="0"/>
          </a:p>
        </p:txBody>
      </p:sp>
      <p:sp>
        <p:nvSpPr>
          <p:cNvPr id="95" name="Shape 93"/>
          <p:cNvSpPr/>
          <p:nvPr/>
        </p:nvSpPr>
        <p:spPr>
          <a:xfrm>
            <a:off x="9448038" y="3104388"/>
            <a:ext cx="986409" cy="260604"/>
          </a:xfrm>
          <a:prstGeom prst="roundRect">
            <a:avLst>
              <a:gd name="adj" fmla="val 17544"/>
            </a:avLst>
          </a:prstGeom>
          <a:solidFill>
            <a:srgbClr val="FDEBD3"/>
          </a:solidFill>
          <a:ln/>
        </p:spPr>
      </p:sp>
      <p:sp>
        <p:nvSpPr>
          <p:cNvPr id="96" name="Text 94"/>
          <p:cNvSpPr txBox="1"/>
          <p:nvPr/>
        </p:nvSpPr>
        <p:spPr>
          <a:xfrm>
            <a:off x="9448038" y="3104388"/>
            <a:ext cx="986409" cy="260604"/>
          </a:xfrm>
          <a:prstGeom prst="rect">
            <a:avLst/>
          </a:prstGeom>
          <a:noFill/>
          <a:ln/>
        </p:spPr>
        <p:txBody>
          <a:bodyPr wrap="square" lIns="0" tIns="0" rIns="0" bIns="0" rtlCol="0" anchor="ctr"/>
          <a:lstStyle/>
          <a:p>
            <a:pPr algn="ctr" indent="0" marL="0">
              <a:buNone/>
            </a:pPr>
            <a:r>
              <a:rPr lang="en-US" sz="850" b="1" dirty="0">
                <a:solidFill>
                  <a:srgbClr val="E8912D"/>
                </a:solidFill>
                <a:latin typeface="Meiryo UI" pitchFamily="34" charset="0"/>
                <a:ea typeface="Meiryo UI" pitchFamily="34" charset="-122"/>
                <a:cs typeface="Meiryo UI" pitchFamily="34" charset="-120"/>
              </a:rPr>
              <a:t>人＋仕組み</a:t>
            </a:r>
            <a:endParaRPr lang="en-US" sz="850" dirty="0"/>
          </a:p>
        </p:txBody>
      </p:sp>
      <p:sp>
        <p:nvSpPr>
          <p:cNvPr id="97" name="Shape 95"/>
          <p:cNvSpPr/>
          <p:nvPr/>
        </p:nvSpPr>
        <p:spPr>
          <a:xfrm>
            <a:off x="10562463" y="3104388"/>
            <a:ext cx="986409" cy="260604"/>
          </a:xfrm>
          <a:prstGeom prst="roundRect">
            <a:avLst>
              <a:gd name="adj" fmla="val 17544"/>
            </a:avLst>
          </a:prstGeom>
          <a:solidFill>
            <a:srgbClr val="FFFFFF"/>
          </a:solidFill>
          <a:ln w="12700">
            <a:solidFill>
              <a:srgbClr val="9AA5B4"/>
            </a:solidFill>
            <a:prstDash val="dash"/>
          </a:ln>
        </p:spPr>
      </p:sp>
      <p:sp>
        <p:nvSpPr>
          <p:cNvPr id="98" name="Text 96"/>
          <p:cNvSpPr txBox="1"/>
          <p:nvPr/>
        </p:nvSpPr>
        <p:spPr>
          <a:xfrm>
            <a:off x="10562463" y="3104388"/>
            <a:ext cx="986409" cy="260604"/>
          </a:xfrm>
          <a:prstGeom prst="rect">
            <a:avLst/>
          </a:prstGeom>
          <a:noFill/>
          <a:ln/>
        </p:spPr>
        <p:txBody>
          <a:bodyPr wrap="square" lIns="0" tIns="0" rIns="0" bIns="0" rtlCol="0" anchor="ctr"/>
          <a:lstStyle/>
          <a:p>
            <a:pPr algn="ctr" indent="0" marL="0">
              <a:buNone/>
            </a:pPr>
            <a:r>
              <a:rPr lang="en-US" sz="850" b="1" dirty="0">
                <a:solidFill>
                  <a:srgbClr val="6B7280"/>
                </a:solidFill>
                <a:latin typeface="Meiryo UI" pitchFamily="34" charset="0"/>
                <a:ea typeface="Meiryo UI" pitchFamily="34" charset="-122"/>
                <a:cs typeface="Meiryo UI" pitchFamily="34" charset="-120"/>
              </a:rPr>
              <a:t>拡張可</a:t>
            </a:r>
            <a:endParaRPr lang="en-US" sz="850" dirty="0"/>
          </a:p>
        </p:txBody>
      </p:sp>
      <p:sp>
        <p:nvSpPr>
          <p:cNvPr id="99" name="Shape 97"/>
          <p:cNvSpPr/>
          <p:nvPr/>
        </p:nvSpPr>
        <p:spPr>
          <a:xfrm>
            <a:off x="566928" y="3429000"/>
            <a:ext cx="265176" cy="265176"/>
          </a:xfrm>
          <a:prstGeom prst="ellipse">
            <a:avLst/>
          </a:prstGeom>
          <a:solidFill>
            <a:srgbClr val="0F6CBD"/>
          </a:solidFill>
          <a:ln/>
        </p:spPr>
      </p:sp>
      <p:sp>
        <p:nvSpPr>
          <p:cNvPr id="100" name="Text 98"/>
          <p:cNvSpPr txBox="1"/>
          <p:nvPr/>
        </p:nvSpPr>
        <p:spPr>
          <a:xfrm>
            <a:off x="566928" y="3429000"/>
            <a:ext cx="265176" cy="265176"/>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A5</a:t>
            </a:r>
            <a:endParaRPr lang="en-US" sz="1100" dirty="0"/>
          </a:p>
        </p:txBody>
      </p:sp>
      <p:sp>
        <p:nvSpPr>
          <p:cNvPr id="101" name="Text 99"/>
          <p:cNvSpPr txBox="1"/>
          <p:nvPr/>
        </p:nvSpPr>
        <p:spPr>
          <a:xfrm>
            <a:off x="896112" y="3401568"/>
            <a:ext cx="1801368" cy="297180"/>
          </a:xfrm>
          <a:prstGeom prst="rect">
            <a:avLst/>
          </a:prstGeom>
          <a:noFill/>
          <a:ln/>
        </p:spPr>
        <p:txBody>
          <a:bodyPr wrap="square" lIns="0" tIns="0" rIns="0" bIns="0" rtlCol="0" anchor="ctr"/>
          <a:lstStyle/>
          <a:p>
            <a:pPr indent="0" marL="0">
              <a:buNone/>
            </a:pPr>
            <a:r>
              <a:rPr lang="en-US" sz="900" b="1" dirty="0">
                <a:solidFill>
                  <a:srgbClr val="1B2A49"/>
                </a:solidFill>
                <a:latin typeface="Meiryo UI" pitchFamily="34" charset="0"/>
                <a:ea typeface="Meiryo UI" pitchFamily="34" charset="-122"/>
                <a:cs typeface="Meiryo UI" pitchFamily="34" charset="-120"/>
              </a:rPr>
              <a:t>Listsに移行</a:t>
            </a:r>
            <a:endParaRPr lang="en-US" sz="900" dirty="0"/>
          </a:p>
        </p:txBody>
      </p:sp>
      <p:sp>
        <p:nvSpPr>
          <p:cNvPr id="102" name="Shape 100"/>
          <p:cNvSpPr/>
          <p:nvPr/>
        </p:nvSpPr>
        <p:spPr>
          <a:xfrm>
            <a:off x="2761488" y="3429000"/>
            <a:ext cx="986409" cy="260604"/>
          </a:xfrm>
          <a:prstGeom prst="roundRect">
            <a:avLst>
              <a:gd name="adj" fmla="val 17544"/>
            </a:avLst>
          </a:prstGeom>
          <a:solidFill>
            <a:srgbClr val="0E9F9A"/>
          </a:solidFill>
          <a:ln/>
        </p:spPr>
      </p:sp>
      <p:sp>
        <p:nvSpPr>
          <p:cNvPr id="103" name="Text 101"/>
          <p:cNvSpPr txBox="1"/>
          <p:nvPr/>
        </p:nvSpPr>
        <p:spPr>
          <a:xfrm>
            <a:off x="2761488" y="3429000"/>
            <a:ext cx="986409" cy="260604"/>
          </a:xfrm>
          <a:prstGeom prst="rect">
            <a:avLst/>
          </a:prstGeom>
          <a:noFill/>
          <a:ln/>
        </p:spPr>
        <p:txBody>
          <a:bodyPr wrap="square" lIns="0" tIns="0" rIns="0" bIns="0" rtlCol="0" anchor="ctr"/>
          <a:lstStyle/>
          <a:p>
            <a:pPr algn="ctr" indent="0" marL="0">
              <a:buNone/>
            </a:pPr>
            <a:r>
              <a:rPr lang="en-US" sz="850" b="1" dirty="0">
                <a:solidFill>
                  <a:srgbClr val="FFFFFF"/>
                </a:solidFill>
                <a:latin typeface="Meiryo UI" pitchFamily="34" charset="0"/>
                <a:ea typeface="Meiryo UI" pitchFamily="34" charset="-122"/>
                <a:cs typeface="Meiryo UI" pitchFamily="34" charset="-120"/>
              </a:rPr>
              <a:t>自動</a:t>
            </a:r>
            <a:endParaRPr lang="en-US" sz="850" dirty="0"/>
          </a:p>
        </p:txBody>
      </p:sp>
      <p:sp>
        <p:nvSpPr>
          <p:cNvPr id="104" name="Shape 102"/>
          <p:cNvSpPr/>
          <p:nvPr/>
        </p:nvSpPr>
        <p:spPr>
          <a:xfrm>
            <a:off x="3875913" y="3429000"/>
            <a:ext cx="986409" cy="260604"/>
          </a:xfrm>
          <a:prstGeom prst="roundRect">
            <a:avLst>
              <a:gd name="adj" fmla="val 17544"/>
            </a:avLst>
          </a:prstGeom>
          <a:solidFill>
            <a:srgbClr val="FFFFFF"/>
          </a:solidFill>
          <a:ln w="12700">
            <a:solidFill>
              <a:srgbClr val="9AA5B4"/>
            </a:solidFill>
            <a:prstDash val="dash"/>
          </a:ln>
        </p:spPr>
      </p:sp>
      <p:sp>
        <p:nvSpPr>
          <p:cNvPr id="105" name="Text 103"/>
          <p:cNvSpPr txBox="1"/>
          <p:nvPr/>
        </p:nvSpPr>
        <p:spPr>
          <a:xfrm>
            <a:off x="3875913" y="3429000"/>
            <a:ext cx="986409" cy="260604"/>
          </a:xfrm>
          <a:prstGeom prst="rect">
            <a:avLst/>
          </a:prstGeom>
          <a:noFill/>
          <a:ln/>
        </p:spPr>
        <p:txBody>
          <a:bodyPr wrap="square" lIns="0" tIns="0" rIns="0" bIns="0" rtlCol="0" anchor="ctr"/>
          <a:lstStyle/>
          <a:p>
            <a:pPr algn="ctr" indent="0" marL="0">
              <a:buNone/>
            </a:pPr>
            <a:r>
              <a:rPr lang="en-US" sz="850" b="1" dirty="0">
                <a:solidFill>
                  <a:srgbClr val="6B7280"/>
                </a:solidFill>
                <a:latin typeface="Meiryo UI" pitchFamily="34" charset="0"/>
                <a:ea typeface="Meiryo UI" pitchFamily="34" charset="-122"/>
                <a:cs typeface="Meiryo UI" pitchFamily="34" charset="-120"/>
              </a:rPr>
              <a:t>拡張可</a:t>
            </a:r>
            <a:endParaRPr lang="en-US" sz="850" dirty="0"/>
          </a:p>
        </p:txBody>
      </p:sp>
      <p:sp>
        <p:nvSpPr>
          <p:cNvPr id="106" name="Shape 104"/>
          <p:cNvSpPr/>
          <p:nvPr/>
        </p:nvSpPr>
        <p:spPr>
          <a:xfrm>
            <a:off x="4990338" y="3429000"/>
            <a:ext cx="986409" cy="260604"/>
          </a:xfrm>
          <a:prstGeom prst="roundRect">
            <a:avLst>
              <a:gd name="adj" fmla="val 17544"/>
            </a:avLst>
          </a:prstGeom>
          <a:solidFill>
            <a:srgbClr val="0E9F9A"/>
          </a:solidFill>
          <a:ln/>
        </p:spPr>
      </p:sp>
      <p:sp>
        <p:nvSpPr>
          <p:cNvPr id="107" name="Text 105"/>
          <p:cNvSpPr txBox="1"/>
          <p:nvPr/>
        </p:nvSpPr>
        <p:spPr>
          <a:xfrm>
            <a:off x="4990338" y="3429000"/>
            <a:ext cx="986409" cy="260604"/>
          </a:xfrm>
          <a:prstGeom prst="rect">
            <a:avLst/>
          </a:prstGeom>
          <a:noFill/>
          <a:ln/>
        </p:spPr>
        <p:txBody>
          <a:bodyPr wrap="square" lIns="0" tIns="0" rIns="0" bIns="0" rtlCol="0" anchor="ctr"/>
          <a:lstStyle/>
          <a:p>
            <a:pPr algn="ctr" indent="0" marL="0">
              <a:buNone/>
            </a:pPr>
            <a:r>
              <a:rPr lang="en-US" sz="850" b="1" dirty="0">
                <a:solidFill>
                  <a:srgbClr val="FFFFFF"/>
                </a:solidFill>
                <a:latin typeface="Meiryo UI" pitchFamily="34" charset="0"/>
                <a:ea typeface="Meiryo UI" pitchFamily="34" charset="-122"/>
                <a:cs typeface="Meiryo UI" pitchFamily="34" charset="-120"/>
              </a:rPr>
              <a:t>自動</a:t>
            </a:r>
            <a:endParaRPr lang="en-US" sz="850" dirty="0"/>
          </a:p>
        </p:txBody>
      </p:sp>
      <p:sp>
        <p:nvSpPr>
          <p:cNvPr id="108" name="Shape 106"/>
          <p:cNvSpPr/>
          <p:nvPr/>
        </p:nvSpPr>
        <p:spPr>
          <a:xfrm>
            <a:off x="6104763" y="3429000"/>
            <a:ext cx="986409" cy="260604"/>
          </a:xfrm>
          <a:prstGeom prst="roundRect">
            <a:avLst>
              <a:gd name="adj" fmla="val 17544"/>
            </a:avLst>
          </a:prstGeom>
          <a:solidFill>
            <a:srgbClr val="0E9F9A"/>
          </a:solidFill>
          <a:ln/>
        </p:spPr>
      </p:sp>
      <p:sp>
        <p:nvSpPr>
          <p:cNvPr id="109" name="Text 107"/>
          <p:cNvSpPr txBox="1"/>
          <p:nvPr/>
        </p:nvSpPr>
        <p:spPr>
          <a:xfrm>
            <a:off x="6104763" y="3429000"/>
            <a:ext cx="986409" cy="260604"/>
          </a:xfrm>
          <a:prstGeom prst="rect">
            <a:avLst/>
          </a:prstGeom>
          <a:noFill/>
          <a:ln/>
        </p:spPr>
        <p:txBody>
          <a:bodyPr wrap="square" lIns="0" tIns="0" rIns="0" bIns="0" rtlCol="0" anchor="ctr"/>
          <a:lstStyle/>
          <a:p>
            <a:pPr algn="ctr" indent="0" marL="0">
              <a:buNone/>
            </a:pPr>
            <a:r>
              <a:rPr lang="en-US" sz="850" b="1" dirty="0">
                <a:solidFill>
                  <a:srgbClr val="FFFFFF"/>
                </a:solidFill>
                <a:latin typeface="Meiryo UI" pitchFamily="34" charset="0"/>
                <a:ea typeface="Meiryo UI" pitchFamily="34" charset="-122"/>
                <a:cs typeface="Meiryo UI" pitchFamily="34" charset="-120"/>
              </a:rPr>
              <a:t>自動</a:t>
            </a:r>
            <a:endParaRPr lang="en-US" sz="850" dirty="0"/>
          </a:p>
        </p:txBody>
      </p:sp>
      <p:sp>
        <p:nvSpPr>
          <p:cNvPr id="110" name="Shape 108"/>
          <p:cNvSpPr/>
          <p:nvPr/>
        </p:nvSpPr>
        <p:spPr>
          <a:xfrm>
            <a:off x="7219188" y="3429000"/>
            <a:ext cx="986409" cy="260604"/>
          </a:xfrm>
          <a:prstGeom prst="roundRect">
            <a:avLst>
              <a:gd name="adj" fmla="val 17544"/>
            </a:avLst>
          </a:prstGeom>
          <a:solidFill>
            <a:srgbClr val="0E9F9A"/>
          </a:solidFill>
          <a:ln/>
        </p:spPr>
      </p:sp>
      <p:sp>
        <p:nvSpPr>
          <p:cNvPr id="111" name="Text 109"/>
          <p:cNvSpPr txBox="1"/>
          <p:nvPr/>
        </p:nvSpPr>
        <p:spPr>
          <a:xfrm>
            <a:off x="7219188" y="3429000"/>
            <a:ext cx="986409" cy="260604"/>
          </a:xfrm>
          <a:prstGeom prst="rect">
            <a:avLst/>
          </a:prstGeom>
          <a:noFill/>
          <a:ln/>
        </p:spPr>
        <p:txBody>
          <a:bodyPr wrap="square" lIns="0" tIns="0" rIns="0" bIns="0" rtlCol="0" anchor="ctr"/>
          <a:lstStyle/>
          <a:p>
            <a:pPr algn="ctr" indent="0" marL="0">
              <a:buNone/>
            </a:pPr>
            <a:r>
              <a:rPr lang="en-US" sz="850" b="1" dirty="0">
                <a:solidFill>
                  <a:srgbClr val="FFFFFF"/>
                </a:solidFill>
                <a:latin typeface="Meiryo UI" pitchFamily="34" charset="0"/>
                <a:ea typeface="Meiryo UI" pitchFamily="34" charset="-122"/>
                <a:cs typeface="Meiryo UI" pitchFamily="34" charset="-120"/>
              </a:rPr>
              <a:t>自動</a:t>
            </a:r>
            <a:endParaRPr lang="en-US" sz="850" dirty="0"/>
          </a:p>
        </p:txBody>
      </p:sp>
      <p:sp>
        <p:nvSpPr>
          <p:cNvPr id="112" name="Shape 110"/>
          <p:cNvSpPr/>
          <p:nvPr/>
        </p:nvSpPr>
        <p:spPr>
          <a:xfrm>
            <a:off x="8333613" y="3429000"/>
            <a:ext cx="986409" cy="260604"/>
          </a:xfrm>
          <a:prstGeom prst="roundRect">
            <a:avLst>
              <a:gd name="adj" fmla="val 17544"/>
            </a:avLst>
          </a:prstGeom>
          <a:solidFill>
            <a:srgbClr val="0E9F9A"/>
          </a:solidFill>
          <a:ln/>
        </p:spPr>
      </p:sp>
      <p:sp>
        <p:nvSpPr>
          <p:cNvPr id="113" name="Text 111"/>
          <p:cNvSpPr txBox="1"/>
          <p:nvPr/>
        </p:nvSpPr>
        <p:spPr>
          <a:xfrm>
            <a:off x="8333613" y="3429000"/>
            <a:ext cx="986409" cy="260604"/>
          </a:xfrm>
          <a:prstGeom prst="rect">
            <a:avLst/>
          </a:prstGeom>
          <a:noFill/>
          <a:ln/>
        </p:spPr>
        <p:txBody>
          <a:bodyPr wrap="square" lIns="0" tIns="0" rIns="0" bIns="0" rtlCol="0" anchor="ctr"/>
          <a:lstStyle/>
          <a:p>
            <a:pPr algn="ctr" indent="0" marL="0">
              <a:buNone/>
            </a:pPr>
            <a:r>
              <a:rPr lang="en-US" sz="850" b="1" dirty="0">
                <a:solidFill>
                  <a:srgbClr val="FFFFFF"/>
                </a:solidFill>
                <a:latin typeface="Meiryo UI" pitchFamily="34" charset="0"/>
                <a:ea typeface="Meiryo UI" pitchFamily="34" charset="-122"/>
                <a:cs typeface="Meiryo UI" pitchFamily="34" charset="-120"/>
              </a:rPr>
              <a:t>自動</a:t>
            </a:r>
            <a:endParaRPr lang="en-US" sz="850" dirty="0"/>
          </a:p>
        </p:txBody>
      </p:sp>
      <p:sp>
        <p:nvSpPr>
          <p:cNvPr id="114" name="Shape 112"/>
          <p:cNvSpPr/>
          <p:nvPr/>
        </p:nvSpPr>
        <p:spPr>
          <a:xfrm>
            <a:off x="9448038" y="3429000"/>
            <a:ext cx="986409" cy="260604"/>
          </a:xfrm>
          <a:prstGeom prst="roundRect">
            <a:avLst>
              <a:gd name="adj" fmla="val 17544"/>
            </a:avLst>
          </a:prstGeom>
          <a:solidFill>
            <a:srgbClr val="FDEBD3"/>
          </a:solidFill>
          <a:ln/>
        </p:spPr>
      </p:sp>
      <p:sp>
        <p:nvSpPr>
          <p:cNvPr id="115" name="Text 113"/>
          <p:cNvSpPr txBox="1"/>
          <p:nvPr/>
        </p:nvSpPr>
        <p:spPr>
          <a:xfrm>
            <a:off x="9448038" y="3429000"/>
            <a:ext cx="986409" cy="260604"/>
          </a:xfrm>
          <a:prstGeom prst="rect">
            <a:avLst/>
          </a:prstGeom>
          <a:noFill/>
          <a:ln/>
        </p:spPr>
        <p:txBody>
          <a:bodyPr wrap="square" lIns="0" tIns="0" rIns="0" bIns="0" rtlCol="0" anchor="ctr"/>
          <a:lstStyle/>
          <a:p>
            <a:pPr algn="ctr" indent="0" marL="0">
              <a:buNone/>
            </a:pPr>
            <a:r>
              <a:rPr lang="en-US" sz="850" b="1" dirty="0">
                <a:solidFill>
                  <a:srgbClr val="E8912D"/>
                </a:solidFill>
                <a:latin typeface="Meiryo UI" pitchFamily="34" charset="0"/>
                <a:ea typeface="Meiryo UI" pitchFamily="34" charset="-122"/>
                <a:cs typeface="Meiryo UI" pitchFamily="34" charset="-120"/>
              </a:rPr>
              <a:t>人＋仕組み</a:t>
            </a:r>
            <a:endParaRPr lang="en-US" sz="850" dirty="0"/>
          </a:p>
        </p:txBody>
      </p:sp>
      <p:sp>
        <p:nvSpPr>
          <p:cNvPr id="116" name="Shape 114"/>
          <p:cNvSpPr/>
          <p:nvPr/>
        </p:nvSpPr>
        <p:spPr>
          <a:xfrm>
            <a:off x="10562463" y="3429000"/>
            <a:ext cx="986409" cy="260604"/>
          </a:xfrm>
          <a:prstGeom prst="roundRect">
            <a:avLst>
              <a:gd name="adj" fmla="val 17544"/>
            </a:avLst>
          </a:prstGeom>
          <a:solidFill>
            <a:srgbClr val="FFFFFF"/>
          </a:solidFill>
          <a:ln w="12700">
            <a:solidFill>
              <a:srgbClr val="9AA5B4"/>
            </a:solidFill>
            <a:prstDash val="dash"/>
          </a:ln>
        </p:spPr>
      </p:sp>
      <p:sp>
        <p:nvSpPr>
          <p:cNvPr id="117" name="Text 115"/>
          <p:cNvSpPr txBox="1"/>
          <p:nvPr/>
        </p:nvSpPr>
        <p:spPr>
          <a:xfrm>
            <a:off x="10562463" y="3429000"/>
            <a:ext cx="986409" cy="260604"/>
          </a:xfrm>
          <a:prstGeom prst="rect">
            <a:avLst/>
          </a:prstGeom>
          <a:noFill/>
          <a:ln/>
        </p:spPr>
        <p:txBody>
          <a:bodyPr wrap="square" lIns="0" tIns="0" rIns="0" bIns="0" rtlCol="0" anchor="ctr"/>
          <a:lstStyle/>
          <a:p>
            <a:pPr algn="ctr" indent="0" marL="0">
              <a:buNone/>
            </a:pPr>
            <a:r>
              <a:rPr lang="en-US" sz="850" b="1" dirty="0">
                <a:solidFill>
                  <a:srgbClr val="6B7280"/>
                </a:solidFill>
                <a:latin typeface="Meiryo UI" pitchFamily="34" charset="0"/>
                <a:ea typeface="Meiryo UI" pitchFamily="34" charset="-122"/>
                <a:cs typeface="Meiryo UI" pitchFamily="34" charset="-120"/>
              </a:rPr>
              <a:t>拡張可</a:t>
            </a:r>
            <a:endParaRPr lang="en-US" sz="850" dirty="0"/>
          </a:p>
        </p:txBody>
      </p:sp>
      <p:sp>
        <p:nvSpPr>
          <p:cNvPr id="118" name="Shape 116"/>
          <p:cNvSpPr/>
          <p:nvPr/>
        </p:nvSpPr>
        <p:spPr>
          <a:xfrm>
            <a:off x="566928" y="3753612"/>
            <a:ext cx="265176" cy="265176"/>
          </a:xfrm>
          <a:prstGeom prst="ellipse">
            <a:avLst/>
          </a:prstGeom>
          <a:solidFill>
            <a:srgbClr val="0F6CBD"/>
          </a:solidFill>
          <a:ln/>
        </p:spPr>
      </p:sp>
      <p:sp>
        <p:nvSpPr>
          <p:cNvPr id="119" name="Text 117"/>
          <p:cNvSpPr txBox="1"/>
          <p:nvPr/>
        </p:nvSpPr>
        <p:spPr>
          <a:xfrm>
            <a:off x="566928" y="3753612"/>
            <a:ext cx="265176" cy="265176"/>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A6</a:t>
            </a:r>
            <a:endParaRPr lang="en-US" sz="1100" dirty="0"/>
          </a:p>
        </p:txBody>
      </p:sp>
      <p:sp>
        <p:nvSpPr>
          <p:cNvPr id="120" name="Text 118"/>
          <p:cNvSpPr txBox="1"/>
          <p:nvPr/>
        </p:nvSpPr>
        <p:spPr>
          <a:xfrm>
            <a:off x="896112" y="3726180"/>
            <a:ext cx="1801368" cy="297180"/>
          </a:xfrm>
          <a:prstGeom prst="rect">
            <a:avLst/>
          </a:prstGeom>
          <a:noFill/>
          <a:ln/>
        </p:spPr>
        <p:txBody>
          <a:bodyPr wrap="square" lIns="0" tIns="0" rIns="0" bIns="0" rtlCol="0" anchor="ctr"/>
          <a:lstStyle/>
          <a:p>
            <a:pPr indent="0" marL="0">
              <a:buNone/>
            </a:pPr>
            <a:r>
              <a:rPr lang="en-US" sz="900" b="1" dirty="0">
                <a:solidFill>
                  <a:srgbClr val="1B2A49"/>
                </a:solidFill>
                <a:latin typeface="Meiryo UI" pitchFamily="34" charset="0"/>
                <a:ea typeface="Meiryo UI" pitchFamily="34" charset="-122"/>
                <a:cs typeface="Meiryo UI" pitchFamily="34" charset="-120"/>
              </a:rPr>
              <a:t>code apps</a:t>
            </a:r>
            <a:endParaRPr lang="en-US" sz="900" dirty="0"/>
          </a:p>
        </p:txBody>
      </p:sp>
      <p:sp>
        <p:nvSpPr>
          <p:cNvPr id="121" name="Shape 119"/>
          <p:cNvSpPr/>
          <p:nvPr/>
        </p:nvSpPr>
        <p:spPr>
          <a:xfrm>
            <a:off x="2761488" y="3753612"/>
            <a:ext cx="986409" cy="260604"/>
          </a:xfrm>
          <a:prstGeom prst="roundRect">
            <a:avLst>
              <a:gd name="adj" fmla="val 17544"/>
            </a:avLst>
          </a:prstGeom>
          <a:solidFill>
            <a:srgbClr val="0E9F9A"/>
          </a:solidFill>
          <a:ln/>
        </p:spPr>
      </p:sp>
      <p:sp>
        <p:nvSpPr>
          <p:cNvPr id="122" name="Text 120"/>
          <p:cNvSpPr txBox="1"/>
          <p:nvPr/>
        </p:nvSpPr>
        <p:spPr>
          <a:xfrm>
            <a:off x="2761488" y="3753612"/>
            <a:ext cx="986409" cy="260604"/>
          </a:xfrm>
          <a:prstGeom prst="rect">
            <a:avLst/>
          </a:prstGeom>
          <a:noFill/>
          <a:ln/>
        </p:spPr>
        <p:txBody>
          <a:bodyPr wrap="square" lIns="0" tIns="0" rIns="0" bIns="0" rtlCol="0" anchor="ctr"/>
          <a:lstStyle/>
          <a:p>
            <a:pPr algn="ctr" indent="0" marL="0">
              <a:buNone/>
            </a:pPr>
            <a:r>
              <a:rPr lang="en-US" sz="850" b="1" dirty="0">
                <a:solidFill>
                  <a:srgbClr val="FFFFFF"/>
                </a:solidFill>
                <a:latin typeface="Meiryo UI" pitchFamily="34" charset="0"/>
                <a:ea typeface="Meiryo UI" pitchFamily="34" charset="-122"/>
                <a:cs typeface="Meiryo UI" pitchFamily="34" charset="-120"/>
              </a:rPr>
              <a:t>自動</a:t>
            </a:r>
            <a:endParaRPr lang="en-US" sz="850" dirty="0"/>
          </a:p>
        </p:txBody>
      </p:sp>
      <p:sp>
        <p:nvSpPr>
          <p:cNvPr id="123" name="Shape 121"/>
          <p:cNvSpPr/>
          <p:nvPr/>
        </p:nvSpPr>
        <p:spPr>
          <a:xfrm>
            <a:off x="3875913" y="3753612"/>
            <a:ext cx="986409" cy="260604"/>
          </a:xfrm>
          <a:prstGeom prst="roundRect">
            <a:avLst>
              <a:gd name="adj" fmla="val 17544"/>
            </a:avLst>
          </a:prstGeom>
          <a:solidFill>
            <a:srgbClr val="FFFFFF"/>
          </a:solidFill>
          <a:ln w="12700">
            <a:solidFill>
              <a:srgbClr val="9AA5B4"/>
            </a:solidFill>
            <a:prstDash val="dash"/>
          </a:ln>
        </p:spPr>
      </p:sp>
      <p:sp>
        <p:nvSpPr>
          <p:cNvPr id="124" name="Text 122"/>
          <p:cNvSpPr txBox="1"/>
          <p:nvPr/>
        </p:nvSpPr>
        <p:spPr>
          <a:xfrm>
            <a:off x="3875913" y="3753612"/>
            <a:ext cx="986409" cy="260604"/>
          </a:xfrm>
          <a:prstGeom prst="rect">
            <a:avLst/>
          </a:prstGeom>
          <a:noFill/>
          <a:ln/>
        </p:spPr>
        <p:txBody>
          <a:bodyPr wrap="square" lIns="0" tIns="0" rIns="0" bIns="0" rtlCol="0" anchor="ctr"/>
          <a:lstStyle/>
          <a:p>
            <a:pPr algn="ctr" indent="0" marL="0">
              <a:buNone/>
            </a:pPr>
            <a:r>
              <a:rPr lang="en-US" sz="850" b="1" dirty="0">
                <a:solidFill>
                  <a:srgbClr val="6B7280"/>
                </a:solidFill>
                <a:latin typeface="Meiryo UI" pitchFamily="34" charset="0"/>
                <a:ea typeface="Meiryo UI" pitchFamily="34" charset="-122"/>
                <a:cs typeface="Meiryo UI" pitchFamily="34" charset="-120"/>
              </a:rPr>
              <a:t>拡張可</a:t>
            </a:r>
            <a:endParaRPr lang="en-US" sz="850" dirty="0"/>
          </a:p>
        </p:txBody>
      </p:sp>
      <p:sp>
        <p:nvSpPr>
          <p:cNvPr id="125" name="Shape 123"/>
          <p:cNvSpPr/>
          <p:nvPr/>
        </p:nvSpPr>
        <p:spPr>
          <a:xfrm>
            <a:off x="4990338" y="3753612"/>
            <a:ext cx="986409" cy="260604"/>
          </a:xfrm>
          <a:prstGeom prst="roundRect">
            <a:avLst>
              <a:gd name="adj" fmla="val 17544"/>
            </a:avLst>
          </a:prstGeom>
          <a:solidFill>
            <a:srgbClr val="0E9F9A"/>
          </a:solidFill>
          <a:ln/>
        </p:spPr>
      </p:sp>
      <p:sp>
        <p:nvSpPr>
          <p:cNvPr id="126" name="Text 124"/>
          <p:cNvSpPr txBox="1"/>
          <p:nvPr/>
        </p:nvSpPr>
        <p:spPr>
          <a:xfrm>
            <a:off x="4990338" y="3753612"/>
            <a:ext cx="986409" cy="260604"/>
          </a:xfrm>
          <a:prstGeom prst="rect">
            <a:avLst/>
          </a:prstGeom>
          <a:noFill/>
          <a:ln/>
        </p:spPr>
        <p:txBody>
          <a:bodyPr wrap="square" lIns="0" tIns="0" rIns="0" bIns="0" rtlCol="0" anchor="ctr"/>
          <a:lstStyle/>
          <a:p>
            <a:pPr algn="ctr" indent="0" marL="0">
              <a:buNone/>
            </a:pPr>
            <a:r>
              <a:rPr lang="en-US" sz="850" b="1" dirty="0">
                <a:solidFill>
                  <a:srgbClr val="FFFFFF"/>
                </a:solidFill>
                <a:latin typeface="Meiryo UI" pitchFamily="34" charset="0"/>
                <a:ea typeface="Meiryo UI" pitchFamily="34" charset="-122"/>
                <a:cs typeface="Meiryo UI" pitchFamily="34" charset="-120"/>
              </a:rPr>
              <a:t>自動</a:t>
            </a:r>
            <a:endParaRPr lang="en-US" sz="850" dirty="0"/>
          </a:p>
        </p:txBody>
      </p:sp>
      <p:sp>
        <p:nvSpPr>
          <p:cNvPr id="127" name="Shape 125"/>
          <p:cNvSpPr/>
          <p:nvPr/>
        </p:nvSpPr>
        <p:spPr>
          <a:xfrm>
            <a:off x="6104763" y="3753612"/>
            <a:ext cx="986409" cy="260604"/>
          </a:xfrm>
          <a:prstGeom prst="roundRect">
            <a:avLst>
              <a:gd name="adj" fmla="val 17544"/>
            </a:avLst>
          </a:prstGeom>
          <a:solidFill>
            <a:srgbClr val="0E9F9A"/>
          </a:solidFill>
          <a:ln/>
        </p:spPr>
      </p:sp>
      <p:sp>
        <p:nvSpPr>
          <p:cNvPr id="128" name="Text 126"/>
          <p:cNvSpPr txBox="1"/>
          <p:nvPr/>
        </p:nvSpPr>
        <p:spPr>
          <a:xfrm>
            <a:off x="6104763" y="3753612"/>
            <a:ext cx="986409" cy="260604"/>
          </a:xfrm>
          <a:prstGeom prst="rect">
            <a:avLst/>
          </a:prstGeom>
          <a:noFill/>
          <a:ln/>
        </p:spPr>
        <p:txBody>
          <a:bodyPr wrap="square" lIns="0" tIns="0" rIns="0" bIns="0" rtlCol="0" anchor="ctr"/>
          <a:lstStyle/>
          <a:p>
            <a:pPr algn="ctr" indent="0" marL="0">
              <a:buNone/>
            </a:pPr>
            <a:r>
              <a:rPr lang="en-US" sz="850" b="1" dirty="0">
                <a:solidFill>
                  <a:srgbClr val="FFFFFF"/>
                </a:solidFill>
                <a:latin typeface="Meiryo UI" pitchFamily="34" charset="0"/>
                <a:ea typeface="Meiryo UI" pitchFamily="34" charset="-122"/>
                <a:cs typeface="Meiryo UI" pitchFamily="34" charset="-120"/>
              </a:rPr>
              <a:t>自動</a:t>
            </a:r>
            <a:endParaRPr lang="en-US" sz="850" dirty="0"/>
          </a:p>
        </p:txBody>
      </p:sp>
      <p:sp>
        <p:nvSpPr>
          <p:cNvPr id="129" name="Shape 127"/>
          <p:cNvSpPr/>
          <p:nvPr/>
        </p:nvSpPr>
        <p:spPr>
          <a:xfrm>
            <a:off x="7219188" y="3753612"/>
            <a:ext cx="986409" cy="260604"/>
          </a:xfrm>
          <a:prstGeom prst="roundRect">
            <a:avLst>
              <a:gd name="adj" fmla="val 17544"/>
            </a:avLst>
          </a:prstGeom>
          <a:solidFill>
            <a:srgbClr val="0E9F9A"/>
          </a:solidFill>
          <a:ln/>
        </p:spPr>
      </p:sp>
      <p:sp>
        <p:nvSpPr>
          <p:cNvPr id="130" name="Text 128"/>
          <p:cNvSpPr txBox="1"/>
          <p:nvPr/>
        </p:nvSpPr>
        <p:spPr>
          <a:xfrm>
            <a:off x="7219188" y="3753612"/>
            <a:ext cx="986409" cy="260604"/>
          </a:xfrm>
          <a:prstGeom prst="rect">
            <a:avLst/>
          </a:prstGeom>
          <a:noFill/>
          <a:ln/>
        </p:spPr>
        <p:txBody>
          <a:bodyPr wrap="square" lIns="0" tIns="0" rIns="0" bIns="0" rtlCol="0" anchor="ctr"/>
          <a:lstStyle/>
          <a:p>
            <a:pPr algn="ctr" indent="0" marL="0">
              <a:buNone/>
            </a:pPr>
            <a:r>
              <a:rPr lang="en-US" sz="850" b="1" dirty="0">
                <a:solidFill>
                  <a:srgbClr val="FFFFFF"/>
                </a:solidFill>
                <a:latin typeface="Meiryo UI" pitchFamily="34" charset="0"/>
                <a:ea typeface="Meiryo UI" pitchFamily="34" charset="-122"/>
                <a:cs typeface="Meiryo UI" pitchFamily="34" charset="-120"/>
              </a:rPr>
              <a:t>自動</a:t>
            </a:r>
            <a:endParaRPr lang="en-US" sz="850" dirty="0"/>
          </a:p>
        </p:txBody>
      </p:sp>
      <p:sp>
        <p:nvSpPr>
          <p:cNvPr id="131" name="Shape 129"/>
          <p:cNvSpPr/>
          <p:nvPr/>
        </p:nvSpPr>
        <p:spPr>
          <a:xfrm>
            <a:off x="8333613" y="3753612"/>
            <a:ext cx="986409" cy="260604"/>
          </a:xfrm>
          <a:prstGeom prst="roundRect">
            <a:avLst>
              <a:gd name="adj" fmla="val 17544"/>
            </a:avLst>
          </a:prstGeom>
          <a:solidFill>
            <a:srgbClr val="0E9F9A"/>
          </a:solidFill>
          <a:ln/>
        </p:spPr>
      </p:sp>
      <p:sp>
        <p:nvSpPr>
          <p:cNvPr id="132" name="Text 130"/>
          <p:cNvSpPr txBox="1"/>
          <p:nvPr/>
        </p:nvSpPr>
        <p:spPr>
          <a:xfrm>
            <a:off x="8333613" y="3753612"/>
            <a:ext cx="986409" cy="260604"/>
          </a:xfrm>
          <a:prstGeom prst="rect">
            <a:avLst/>
          </a:prstGeom>
          <a:noFill/>
          <a:ln/>
        </p:spPr>
        <p:txBody>
          <a:bodyPr wrap="square" lIns="0" tIns="0" rIns="0" bIns="0" rtlCol="0" anchor="ctr"/>
          <a:lstStyle/>
          <a:p>
            <a:pPr algn="ctr" indent="0" marL="0">
              <a:buNone/>
            </a:pPr>
            <a:r>
              <a:rPr lang="en-US" sz="850" b="1" dirty="0">
                <a:solidFill>
                  <a:srgbClr val="FFFFFF"/>
                </a:solidFill>
                <a:latin typeface="Meiryo UI" pitchFamily="34" charset="0"/>
                <a:ea typeface="Meiryo UI" pitchFamily="34" charset="-122"/>
                <a:cs typeface="Meiryo UI" pitchFamily="34" charset="-120"/>
              </a:rPr>
              <a:t>自動</a:t>
            </a:r>
            <a:endParaRPr lang="en-US" sz="850" dirty="0"/>
          </a:p>
        </p:txBody>
      </p:sp>
      <p:sp>
        <p:nvSpPr>
          <p:cNvPr id="133" name="Shape 131"/>
          <p:cNvSpPr/>
          <p:nvPr/>
        </p:nvSpPr>
        <p:spPr>
          <a:xfrm>
            <a:off x="9448038" y="3753612"/>
            <a:ext cx="986409" cy="260604"/>
          </a:xfrm>
          <a:prstGeom prst="roundRect">
            <a:avLst>
              <a:gd name="adj" fmla="val 17544"/>
            </a:avLst>
          </a:prstGeom>
          <a:solidFill>
            <a:srgbClr val="FDEBD3"/>
          </a:solidFill>
          <a:ln/>
        </p:spPr>
      </p:sp>
      <p:sp>
        <p:nvSpPr>
          <p:cNvPr id="134" name="Text 132"/>
          <p:cNvSpPr txBox="1"/>
          <p:nvPr/>
        </p:nvSpPr>
        <p:spPr>
          <a:xfrm>
            <a:off x="9448038" y="3753612"/>
            <a:ext cx="986409" cy="260604"/>
          </a:xfrm>
          <a:prstGeom prst="rect">
            <a:avLst/>
          </a:prstGeom>
          <a:noFill/>
          <a:ln/>
        </p:spPr>
        <p:txBody>
          <a:bodyPr wrap="square" lIns="0" tIns="0" rIns="0" bIns="0" rtlCol="0" anchor="ctr"/>
          <a:lstStyle/>
          <a:p>
            <a:pPr algn="ctr" indent="0" marL="0">
              <a:buNone/>
            </a:pPr>
            <a:r>
              <a:rPr lang="en-US" sz="850" b="1" dirty="0">
                <a:solidFill>
                  <a:srgbClr val="E8912D"/>
                </a:solidFill>
                <a:latin typeface="Meiryo UI" pitchFamily="34" charset="0"/>
                <a:ea typeface="Meiryo UI" pitchFamily="34" charset="-122"/>
                <a:cs typeface="Meiryo UI" pitchFamily="34" charset="-120"/>
              </a:rPr>
              <a:t>人＋仕組み</a:t>
            </a:r>
            <a:endParaRPr lang="en-US" sz="850" dirty="0"/>
          </a:p>
        </p:txBody>
      </p:sp>
      <p:sp>
        <p:nvSpPr>
          <p:cNvPr id="135" name="Shape 133"/>
          <p:cNvSpPr/>
          <p:nvPr/>
        </p:nvSpPr>
        <p:spPr>
          <a:xfrm>
            <a:off x="10562463" y="3753612"/>
            <a:ext cx="986409" cy="260604"/>
          </a:xfrm>
          <a:prstGeom prst="roundRect">
            <a:avLst>
              <a:gd name="adj" fmla="val 17544"/>
            </a:avLst>
          </a:prstGeom>
          <a:solidFill>
            <a:srgbClr val="FFFFFF"/>
          </a:solidFill>
          <a:ln w="12700">
            <a:solidFill>
              <a:srgbClr val="9AA5B4"/>
            </a:solidFill>
            <a:prstDash val="dash"/>
          </a:ln>
        </p:spPr>
      </p:sp>
      <p:sp>
        <p:nvSpPr>
          <p:cNvPr id="136" name="Text 134"/>
          <p:cNvSpPr txBox="1"/>
          <p:nvPr/>
        </p:nvSpPr>
        <p:spPr>
          <a:xfrm>
            <a:off x="10562463" y="3753612"/>
            <a:ext cx="986409" cy="260604"/>
          </a:xfrm>
          <a:prstGeom prst="rect">
            <a:avLst/>
          </a:prstGeom>
          <a:noFill/>
          <a:ln/>
        </p:spPr>
        <p:txBody>
          <a:bodyPr wrap="square" lIns="0" tIns="0" rIns="0" bIns="0" rtlCol="0" anchor="ctr"/>
          <a:lstStyle/>
          <a:p>
            <a:pPr algn="ctr" indent="0" marL="0">
              <a:buNone/>
            </a:pPr>
            <a:r>
              <a:rPr lang="en-US" sz="850" b="1" dirty="0">
                <a:solidFill>
                  <a:srgbClr val="6B7280"/>
                </a:solidFill>
                <a:latin typeface="Meiryo UI" pitchFamily="34" charset="0"/>
                <a:ea typeface="Meiryo UI" pitchFamily="34" charset="-122"/>
                <a:cs typeface="Meiryo UI" pitchFamily="34" charset="-120"/>
              </a:rPr>
              <a:t>拡張可</a:t>
            </a:r>
            <a:endParaRPr lang="en-US" sz="850" dirty="0"/>
          </a:p>
        </p:txBody>
      </p:sp>
      <p:sp>
        <p:nvSpPr>
          <p:cNvPr id="137" name="Shape 135"/>
          <p:cNvSpPr/>
          <p:nvPr/>
        </p:nvSpPr>
        <p:spPr>
          <a:xfrm>
            <a:off x="566928" y="4078224"/>
            <a:ext cx="265176" cy="265176"/>
          </a:xfrm>
          <a:prstGeom prst="ellipse">
            <a:avLst/>
          </a:prstGeom>
          <a:solidFill>
            <a:srgbClr val="0F6CBD"/>
          </a:solidFill>
          <a:ln/>
        </p:spPr>
      </p:sp>
      <p:sp>
        <p:nvSpPr>
          <p:cNvPr id="138" name="Text 136"/>
          <p:cNvSpPr txBox="1"/>
          <p:nvPr/>
        </p:nvSpPr>
        <p:spPr>
          <a:xfrm>
            <a:off x="566928" y="4078224"/>
            <a:ext cx="265176" cy="265176"/>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A7</a:t>
            </a:r>
            <a:endParaRPr lang="en-US" sz="1100" dirty="0"/>
          </a:p>
        </p:txBody>
      </p:sp>
      <p:sp>
        <p:nvSpPr>
          <p:cNvPr id="139" name="Text 137"/>
          <p:cNvSpPr txBox="1"/>
          <p:nvPr/>
        </p:nvSpPr>
        <p:spPr>
          <a:xfrm>
            <a:off x="896112" y="4050792"/>
            <a:ext cx="1801368" cy="297180"/>
          </a:xfrm>
          <a:prstGeom prst="rect">
            <a:avLst/>
          </a:prstGeom>
          <a:noFill/>
          <a:ln/>
        </p:spPr>
        <p:txBody>
          <a:bodyPr wrap="square" lIns="0" tIns="0" rIns="0" bIns="0" rtlCol="0" anchor="ctr"/>
          <a:lstStyle/>
          <a:p>
            <a:pPr indent="0" marL="0">
              <a:buNone/>
            </a:pPr>
            <a:r>
              <a:rPr lang="en-US" sz="900" b="1" dirty="0">
                <a:solidFill>
                  <a:srgbClr val="1B2A49"/>
                </a:solidFill>
                <a:latin typeface="Meiryo UI" pitchFamily="34" charset="0"/>
                <a:ea typeface="Meiryo UI" pitchFamily="34" charset="-122"/>
                <a:cs typeface="Meiryo UI" pitchFamily="34" charset="-120"/>
              </a:rPr>
              <a:t>Lists＋code apps</a:t>
            </a:r>
            <a:endParaRPr lang="en-US" sz="900" dirty="0"/>
          </a:p>
        </p:txBody>
      </p:sp>
      <p:sp>
        <p:nvSpPr>
          <p:cNvPr id="140" name="Shape 138"/>
          <p:cNvSpPr/>
          <p:nvPr/>
        </p:nvSpPr>
        <p:spPr>
          <a:xfrm>
            <a:off x="2761488" y="4078224"/>
            <a:ext cx="986409" cy="260604"/>
          </a:xfrm>
          <a:prstGeom prst="roundRect">
            <a:avLst>
              <a:gd name="adj" fmla="val 17544"/>
            </a:avLst>
          </a:prstGeom>
          <a:solidFill>
            <a:srgbClr val="0E9F9A"/>
          </a:solidFill>
          <a:ln/>
        </p:spPr>
      </p:sp>
      <p:sp>
        <p:nvSpPr>
          <p:cNvPr id="141" name="Text 139"/>
          <p:cNvSpPr txBox="1"/>
          <p:nvPr/>
        </p:nvSpPr>
        <p:spPr>
          <a:xfrm>
            <a:off x="2761488" y="4078224"/>
            <a:ext cx="986409" cy="260604"/>
          </a:xfrm>
          <a:prstGeom prst="rect">
            <a:avLst/>
          </a:prstGeom>
          <a:noFill/>
          <a:ln/>
        </p:spPr>
        <p:txBody>
          <a:bodyPr wrap="square" lIns="0" tIns="0" rIns="0" bIns="0" rtlCol="0" anchor="ctr"/>
          <a:lstStyle/>
          <a:p>
            <a:pPr algn="ctr" indent="0" marL="0">
              <a:buNone/>
            </a:pPr>
            <a:r>
              <a:rPr lang="en-US" sz="850" b="1" dirty="0">
                <a:solidFill>
                  <a:srgbClr val="FFFFFF"/>
                </a:solidFill>
                <a:latin typeface="Meiryo UI" pitchFamily="34" charset="0"/>
                <a:ea typeface="Meiryo UI" pitchFamily="34" charset="-122"/>
                <a:cs typeface="Meiryo UI" pitchFamily="34" charset="-120"/>
              </a:rPr>
              <a:t>自動</a:t>
            </a:r>
            <a:endParaRPr lang="en-US" sz="850" dirty="0"/>
          </a:p>
        </p:txBody>
      </p:sp>
      <p:sp>
        <p:nvSpPr>
          <p:cNvPr id="142" name="Shape 140"/>
          <p:cNvSpPr/>
          <p:nvPr/>
        </p:nvSpPr>
        <p:spPr>
          <a:xfrm>
            <a:off x="3875913" y="4078224"/>
            <a:ext cx="986409" cy="260604"/>
          </a:xfrm>
          <a:prstGeom prst="roundRect">
            <a:avLst>
              <a:gd name="adj" fmla="val 17544"/>
            </a:avLst>
          </a:prstGeom>
          <a:solidFill>
            <a:srgbClr val="FFFFFF"/>
          </a:solidFill>
          <a:ln w="12700">
            <a:solidFill>
              <a:srgbClr val="9AA5B4"/>
            </a:solidFill>
            <a:prstDash val="dash"/>
          </a:ln>
        </p:spPr>
      </p:sp>
      <p:sp>
        <p:nvSpPr>
          <p:cNvPr id="143" name="Text 141"/>
          <p:cNvSpPr txBox="1"/>
          <p:nvPr/>
        </p:nvSpPr>
        <p:spPr>
          <a:xfrm>
            <a:off x="3875913" y="4078224"/>
            <a:ext cx="986409" cy="260604"/>
          </a:xfrm>
          <a:prstGeom prst="rect">
            <a:avLst/>
          </a:prstGeom>
          <a:noFill/>
          <a:ln/>
        </p:spPr>
        <p:txBody>
          <a:bodyPr wrap="square" lIns="0" tIns="0" rIns="0" bIns="0" rtlCol="0" anchor="ctr"/>
          <a:lstStyle/>
          <a:p>
            <a:pPr algn="ctr" indent="0" marL="0">
              <a:buNone/>
            </a:pPr>
            <a:r>
              <a:rPr lang="en-US" sz="850" b="1" dirty="0">
                <a:solidFill>
                  <a:srgbClr val="6B7280"/>
                </a:solidFill>
                <a:latin typeface="Meiryo UI" pitchFamily="34" charset="0"/>
                <a:ea typeface="Meiryo UI" pitchFamily="34" charset="-122"/>
                <a:cs typeface="Meiryo UI" pitchFamily="34" charset="-120"/>
              </a:rPr>
              <a:t>拡張可</a:t>
            </a:r>
            <a:endParaRPr lang="en-US" sz="850" dirty="0"/>
          </a:p>
        </p:txBody>
      </p:sp>
      <p:sp>
        <p:nvSpPr>
          <p:cNvPr id="144" name="Shape 142"/>
          <p:cNvSpPr/>
          <p:nvPr/>
        </p:nvSpPr>
        <p:spPr>
          <a:xfrm>
            <a:off x="4990338" y="4078224"/>
            <a:ext cx="986409" cy="260604"/>
          </a:xfrm>
          <a:prstGeom prst="roundRect">
            <a:avLst>
              <a:gd name="adj" fmla="val 17544"/>
            </a:avLst>
          </a:prstGeom>
          <a:solidFill>
            <a:srgbClr val="0E9F9A"/>
          </a:solidFill>
          <a:ln/>
        </p:spPr>
      </p:sp>
      <p:sp>
        <p:nvSpPr>
          <p:cNvPr id="145" name="Text 143"/>
          <p:cNvSpPr txBox="1"/>
          <p:nvPr/>
        </p:nvSpPr>
        <p:spPr>
          <a:xfrm>
            <a:off x="4990338" y="4078224"/>
            <a:ext cx="986409" cy="260604"/>
          </a:xfrm>
          <a:prstGeom prst="rect">
            <a:avLst/>
          </a:prstGeom>
          <a:noFill/>
          <a:ln/>
        </p:spPr>
        <p:txBody>
          <a:bodyPr wrap="square" lIns="0" tIns="0" rIns="0" bIns="0" rtlCol="0" anchor="ctr"/>
          <a:lstStyle/>
          <a:p>
            <a:pPr algn="ctr" indent="0" marL="0">
              <a:buNone/>
            </a:pPr>
            <a:r>
              <a:rPr lang="en-US" sz="850" b="1" dirty="0">
                <a:solidFill>
                  <a:srgbClr val="FFFFFF"/>
                </a:solidFill>
                <a:latin typeface="Meiryo UI" pitchFamily="34" charset="0"/>
                <a:ea typeface="Meiryo UI" pitchFamily="34" charset="-122"/>
                <a:cs typeface="Meiryo UI" pitchFamily="34" charset="-120"/>
              </a:rPr>
              <a:t>自動</a:t>
            </a:r>
            <a:endParaRPr lang="en-US" sz="850" dirty="0"/>
          </a:p>
        </p:txBody>
      </p:sp>
      <p:sp>
        <p:nvSpPr>
          <p:cNvPr id="146" name="Shape 144"/>
          <p:cNvSpPr/>
          <p:nvPr/>
        </p:nvSpPr>
        <p:spPr>
          <a:xfrm>
            <a:off x="6104763" y="4078224"/>
            <a:ext cx="986409" cy="260604"/>
          </a:xfrm>
          <a:prstGeom prst="roundRect">
            <a:avLst>
              <a:gd name="adj" fmla="val 17544"/>
            </a:avLst>
          </a:prstGeom>
          <a:solidFill>
            <a:srgbClr val="0E9F9A"/>
          </a:solidFill>
          <a:ln/>
        </p:spPr>
      </p:sp>
      <p:sp>
        <p:nvSpPr>
          <p:cNvPr id="147" name="Text 145"/>
          <p:cNvSpPr txBox="1"/>
          <p:nvPr/>
        </p:nvSpPr>
        <p:spPr>
          <a:xfrm>
            <a:off x="6104763" y="4078224"/>
            <a:ext cx="986409" cy="260604"/>
          </a:xfrm>
          <a:prstGeom prst="rect">
            <a:avLst/>
          </a:prstGeom>
          <a:noFill/>
          <a:ln/>
        </p:spPr>
        <p:txBody>
          <a:bodyPr wrap="square" lIns="0" tIns="0" rIns="0" bIns="0" rtlCol="0" anchor="ctr"/>
          <a:lstStyle/>
          <a:p>
            <a:pPr algn="ctr" indent="0" marL="0">
              <a:buNone/>
            </a:pPr>
            <a:r>
              <a:rPr lang="en-US" sz="850" b="1" dirty="0">
                <a:solidFill>
                  <a:srgbClr val="FFFFFF"/>
                </a:solidFill>
                <a:latin typeface="Meiryo UI" pitchFamily="34" charset="0"/>
                <a:ea typeface="Meiryo UI" pitchFamily="34" charset="-122"/>
                <a:cs typeface="Meiryo UI" pitchFamily="34" charset="-120"/>
              </a:rPr>
              <a:t>自動</a:t>
            </a:r>
            <a:endParaRPr lang="en-US" sz="850" dirty="0"/>
          </a:p>
        </p:txBody>
      </p:sp>
      <p:sp>
        <p:nvSpPr>
          <p:cNvPr id="148" name="Shape 146"/>
          <p:cNvSpPr/>
          <p:nvPr/>
        </p:nvSpPr>
        <p:spPr>
          <a:xfrm>
            <a:off x="7219188" y="4078224"/>
            <a:ext cx="986409" cy="260604"/>
          </a:xfrm>
          <a:prstGeom prst="roundRect">
            <a:avLst>
              <a:gd name="adj" fmla="val 17544"/>
            </a:avLst>
          </a:prstGeom>
          <a:solidFill>
            <a:srgbClr val="0E9F9A"/>
          </a:solidFill>
          <a:ln/>
        </p:spPr>
      </p:sp>
      <p:sp>
        <p:nvSpPr>
          <p:cNvPr id="149" name="Text 147"/>
          <p:cNvSpPr txBox="1"/>
          <p:nvPr/>
        </p:nvSpPr>
        <p:spPr>
          <a:xfrm>
            <a:off x="7219188" y="4078224"/>
            <a:ext cx="986409" cy="260604"/>
          </a:xfrm>
          <a:prstGeom prst="rect">
            <a:avLst/>
          </a:prstGeom>
          <a:noFill/>
          <a:ln/>
        </p:spPr>
        <p:txBody>
          <a:bodyPr wrap="square" lIns="0" tIns="0" rIns="0" bIns="0" rtlCol="0" anchor="ctr"/>
          <a:lstStyle/>
          <a:p>
            <a:pPr algn="ctr" indent="0" marL="0">
              <a:buNone/>
            </a:pPr>
            <a:r>
              <a:rPr lang="en-US" sz="850" b="1" dirty="0">
                <a:solidFill>
                  <a:srgbClr val="FFFFFF"/>
                </a:solidFill>
                <a:latin typeface="Meiryo UI" pitchFamily="34" charset="0"/>
                <a:ea typeface="Meiryo UI" pitchFamily="34" charset="-122"/>
                <a:cs typeface="Meiryo UI" pitchFamily="34" charset="-120"/>
              </a:rPr>
              <a:t>自動</a:t>
            </a:r>
            <a:endParaRPr lang="en-US" sz="850" dirty="0"/>
          </a:p>
        </p:txBody>
      </p:sp>
      <p:sp>
        <p:nvSpPr>
          <p:cNvPr id="150" name="Shape 148"/>
          <p:cNvSpPr/>
          <p:nvPr/>
        </p:nvSpPr>
        <p:spPr>
          <a:xfrm>
            <a:off x="8333613" y="4078224"/>
            <a:ext cx="986409" cy="260604"/>
          </a:xfrm>
          <a:prstGeom prst="roundRect">
            <a:avLst>
              <a:gd name="adj" fmla="val 17544"/>
            </a:avLst>
          </a:prstGeom>
          <a:solidFill>
            <a:srgbClr val="0E9F9A"/>
          </a:solidFill>
          <a:ln/>
        </p:spPr>
      </p:sp>
      <p:sp>
        <p:nvSpPr>
          <p:cNvPr id="151" name="Text 149"/>
          <p:cNvSpPr txBox="1"/>
          <p:nvPr/>
        </p:nvSpPr>
        <p:spPr>
          <a:xfrm>
            <a:off x="8333613" y="4078224"/>
            <a:ext cx="986409" cy="260604"/>
          </a:xfrm>
          <a:prstGeom prst="rect">
            <a:avLst/>
          </a:prstGeom>
          <a:noFill/>
          <a:ln/>
        </p:spPr>
        <p:txBody>
          <a:bodyPr wrap="square" lIns="0" tIns="0" rIns="0" bIns="0" rtlCol="0" anchor="ctr"/>
          <a:lstStyle/>
          <a:p>
            <a:pPr algn="ctr" indent="0" marL="0">
              <a:buNone/>
            </a:pPr>
            <a:r>
              <a:rPr lang="en-US" sz="850" b="1" dirty="0">
                <a:solidFill>
                  <a:srgbClr val="FFFFFF"/>
                </a:solidFill>
                <a:latin typeface="Meiryo UI" pitchFamily="34" charset="0"/>
                <a:ea typeface="Meiryo UI" pitchFamily="34" charset="-122"/>
                <a:cs typeface="Meiryo UI" pitchFamily="34" charset="-120"/>
              </a:rPr>
              <a:t>自動</a:t>
            </a:r>
            <a:endParaRPr lang="en-US" sz="850" dirty="0"/>
          </a:p>
        </p:txBody>
      </p:sp>
      <p:sp>
        <p:nvSpPr>
          <p:cNvPr id="152" name="Shape 150"/>
          <p:cNvSpPr/>
          <p:nvPr/>
        </p:nvSpPr>
        <p:spPr>
          <a:xfrm>
            <a:off x="9448038" y="4078224"/>
            <a:ext cx="986409" cy="260604"/>
          </a:xfrm>
          <a:prstGeom prst="roundRect">
            <a:avLst>
              <a:gd name="adj" fmla="val 17544"/>
            </a:avLst>
          </a:prstGeom>
          <a:solidFill>
            <a:srgbClr val="FDEBD3"/>
          </a:solidFill>
          <a:ln/>
        </p:spPr>
      </p:sp>
      <p:sp>
        <p:nvSpPr>
          <p:cNvPr id="153" name="Text 151"/>
          <p:cNvSpPr txBox="1"/>
          <p:nvPr/>
        </p:nvSpPr>
        <p:spPr>
          <a:xfrm>
            <a:off x="9448038" y="4078224"/>
            <a:ext cx="986409" cy="260604"/>
          </a:xfrm>
          <a:prstGeom prst="rect">
            <a:avLst/>
          </a:prstGeom>
          <a:noFill/>
          <a:ln/>
        </p:spPr>
        <p:txBody>
          <a:bodyPr wrap="square" lIns="0" tIns="0" rIns="0" bIns="0" rtlCol="0" anchor="ctr"/>
          <a:lstStyle/>
          <a:p>
            <a:pPr algn="ctr" indent="0" marL="0">
              <a:buNone/>
            </a:pPr>
            <a:r>
              <a:rPr lang="en-US" sz="850" b="1" dirty="0">
                <a:solidFill>
                  <a:srgbClr val="E8912D"/>
                </a:solidFill>
                <a:latin typeface="Meiryo UI" pitchFamily="34" charset="0"/>
                <a:ea typeface="Meiryo UI" pitchFamily="34" charset="-122"/>
                <a:cs typeface="Meiryo UI" pitchFamily="34" charset="-120"/>
              </a:rPr>
              <a:t>人＋仕組み</a:t>
            </a:r>
            <a:endParaRPr lang="en-US" sz="850" dirty="0"/>
          </a:p>
        </p:txBody>
      </p:sp>
      <p:sp>
        <p:nvSpPr>
          <p:cNvPr id="154" name="Shape 152"/>
          <p:cNvSpPr/>
          <p:nvPr/>
        </p:nvSpPr>
        <p:spPr>
          <a:xfrm>
            <a:off x="10562463" y="4078224"/>
            <a:ext cx="986409" cy="260604"/>
          </a:xfrm>
          <a:prstGeom prst="roundRect">
            <a:avLst>
              <a:gd name="adj" fmla="val 17544"/>
            </a:avLst>
          </a:prstGeom>
          <a:solidFill>
            <a:srgbClr val="FFFFFF"/>
          </a:solidFill>
          <a:ln w="12700">
            <a:solidFill>
              <a:srgbClr val="9AA5B4"/>
            </a:solidFill>
            <a:prstDash val="dash"/>
          </a:ln>
        </p:spPr>
      </p:sp>
      <p:sp>
        <p:nvSpPr>
          <p:cNvPr id="155" name="Text 153"/>
          <p:cNvSpPr txBox="1"/>
          <p:nvPr/>
        </p:nvSpPr>
        <p:spPr>
          <a:xfrm>
            <a:off x="10562463" y="4078224"/>
            <a:ext cx="986409" cy="260604"/>
          </a:xfrm>
          <a:prstGeom prst="rect">
            <a:avLst/>
          </a:prstGeom>
          <a:noFill/>
          <a:ln/>
        </p:spPr>
        <p:txBody>
          <a:bodyPr wrap="square" lIns="0" tIns="0" rIns="0" bIns="0" rtlCol="0" anchor="ctr"/>
          <a:lstStyle/>
          <a:p>
            <a:pPr algn="ctr" indent="0" marL="0">
              <a:buNone/>
            </a:pPr>
            <a:r>
              <a:rPr lang="en-US" sz="850" b="1" dirty="0">
                <a:solidFill>
                  <a:srgbClr val="6B7280"/>
                </a:solidFill>
                <a:latin typeface="Meiryo UI" pitchFamily="34" charset="0"/>
                <a:ea typeface="Meiryo UI" pitchFamily="34" charset="-122"/>
                <a:cs typeface="Meiryo UI" pitchFamily="34" charset="-120"/>
              </a:rPr>
              <a:t>拡張可</a:t>
            </a:r>
            <a:endParaRPr lang="en-US" sz="850" dirty="0"/>
          </a:p>
        </p:txBody>
      </p:sp>
      <p:sp>
        <p:nvSpPr>
          <p:cNvPr id="156" name="Shape 154"/>
          <p:cNvSpPr/>
          <p:nvPr/>
        </p:nvSpPr>
        <p:spPr>
          <a:xfrm>
            <a:off x="548640" y="4366260"/>
            <a:ext cx="11064240" cy="0"/>
          </a:xfrm>
          <a:prstGeom prst="line">
            <a:avLst/>
          </a:prstGeom>
          <a:noFill/>
          <a:ln w="12700">
            <a:solidFill>
              <a:srgbClr val="D5DBE3"/>
            </a:solidFill>
            <a:prstDash val="solid"/>
          </a:ln>
        </p:spPr>
      </p:sp>
      <p:sp>
        <p:nvSpPr>
          <p:cNvPr id="157" name="Shape 155"/>
          <p:cNvSpPr/>
          <p:nvPr/>
        </p:nvSpPr>
        <p:spPr>
          <a:xfrm>
            <a:off x="566928" y="4402836"/>
            <a:ext cx="265176" cy="265176"/>
          </a:xfrm>
          <a:prstGeom prst="ellipse">
            <a:avLst/>
          </a:prstGeom>
          <a:solidFill>
            <a:srgbClr val="6B4FBB"/>
          </a:solidFill>
          <a:ln/>
        </p:spPr>
      </p:sp>
      <p:sp>
        <p:nvSpPr>
          <p:cNvPr id="158" name="Text 156"/>
          <p:cNvSpPr txBox="1"/>
          <p:nvPr/>
        </p:nvSpPr>
        <p:spPr>
          <a:xfrm>
            <a:off x="566928" y="4402836"/>
            <a:ext cx="265176" cy="265176"/>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H1</a:t>
            </a:r>
            <a:endParaRPr lang="en-US" sz="1100" dirty="0"/>
          </a:p>
        </p:txBody>
      </p:sp>
      <p:sp>
        <p:nvSpPr>
          <p:cNvPr id="159" name="Text 157"/>
          <p:cNvSpPr txBox="1"/>
          <p:nvPr/>
        </p:nvSpPr>
        <p:spPr>
          <a:xfrm>
            <a:off x="896112" y="4375404"/>
            <a:ext cx="1801368" cy="297180"/>
          </a:xfrm>
          <a:prstGeom prst="rect">
            <a:avLst/>
          </a:prstGeom>
          <a:noFill/>
          <a:ln/>
        </p:spPr>
        <p:txBody>
          <a:bodyPr wrap="square" lIns="0" tIns="0" rIns="0" bIns="0" rtlCol="0" anchor="ctr"/>
          <a:lstStyle/>
          <a:p>
            <a:pPr indent="0" marL="0">
              <a:buNone/>
            </a:pPr>
            <a:r>
              <a:rPr lang="en-US" sz="900" b="1" dirty="0">
                <a:solidFill>
                  <a:srgbClr val="1B2A49"/>
                </a:solidFill>
                <a:latin typeface="Meiryo UI" pitchFamily="34" charset="0"/>
                <a:ea typeface="Meiryo UI" pitchFamily="34" charset="-122"/>
                <a:cs typeface="Meiryo UI" pitchFamily="34" charset="-120"/>
              </a:rPr>
              <a:t>Copilot Studio＋GCP API</a:t>
            </a:r>
            <a:endParaRPr lang="en-US" sz="900" dirty="0"/>
          </a:p>
        </p:txBody>
      </p:sp>
      <p:sp>
        <p:nvSpPr>
          <p:cNvPr id="160" name="Shape 158"/>
          <p:cNvSpPr/>
          <p:nvPr/>
        </p:nvSpPr>
        <p:spPr>
          <a:xfrm>
            <a:off x="2761488" y="4402836"/>
            <a:ext cx="986409" cy="260604"/>
          </a:xfrm>
          <a:prstGeom prst="roundRect">
            <a:avLst>
              <a:gd name="adj" fmla="val 17544"/>
            </a:avLst>
          </a:prstGeom>
          <a:solidFill>
            <a:srgbClr val="0E9F9A"/>
          </a:solidFill>
          <a:ln/>
        </p:spPr>
      </p:sp>
      <p:sp>
        <p:nvSpPr>
          <p:cNvPr id="161" name="Text 159"/>
          <p:cNvSpPr txBox="1"/>
          <p:nvPr/>
        </p:nvSpPr>
        <p:spPr>
          <a:xfrm>
            <a:off x="2761488" y="4402836"/>
            <a:ext cx="986409" cy="260604"/>
          </a:xfrm>
          <a:prstGeom prst="rect">
            <a:avLst/>
          </a:prstGeom>
          <a:noFill/>
          <a:ln/>
        </p:spPr>
        <p:txBody>
          <a:bodyPr wrap="square" lIns="0" tIns="0" rIns="0" bIns="0" rtlCol="0" anchor="ctr"/>
          <a:lstStyle/>
          <a:p>
            <a:pPr algn="ctr" indent="0" marL="0">
              <a:buNone/>
            </a:pPr>
            <a:r>
              <a:rPr lang="en-US" sz="850" b="1" dirty="0">
                <a:solidFill>
                  <a:srgbClr val="FFFFFF"/>
                </a:solidFill>
                <a:latin typeface="Meiryo UI" pitchFamily="34" charset="0"/>
                <a:ea typeface="Meiryo UI" pitchFamily="34" charset="-122"/>
                <a:cs typeface="Meiryo UI" pitchFamily="34" charset="-120"/>
              </a:rPr>
              <a:t>自動</a:t>
            </a:r>
            <a:endParaRPr lang="en-US" sz="850" dirty="0"/>
          </a:p>
        </p:txBody>
      </p:sp>
      <p:sp>
        <p:nvSpPr>
          <p:cNvPr id="162" name="Shape 160"/>
          <p:cNvSpPr/>
          <p:nvPr/>
        </p:nvSpPr>
        <p:spPr>
          <a:xfrm>
            <a:off x="3875913" y="4402836"/>
            <a:ext cx="986409" cy="260604"/>
          </a:xfrm>
          <a:prstGeom prst="roundRect">
            <a:avLst>
              <a:gd name="adj" fmla="val 17544"/>
            </a:avLst>
          </a:prstGeom>
          <a:solidFill>
            <a:srgbClr val="F3F5F8"/>
          </a:solidFill>
          <a:ln/>
        </p:spPr>
      </p:sp>
      <p:sp>
        <p:nvSpPr>
          <p:cNvPr id="163" name="Text 161"/>
          <p:cNvSpPr txBox="1"/>
          <p:nvPr/>
        </p:nvSpPr>
        <p:spPr>
          <a:xfrm>
            <a:off x="3875913" y="4402836"/>
            <a:ext cx="986409" cy="260604"/>
          </a:xfrm>
          <a:prstGeom prst="rect">
            <a:avLst/>
          </a:prstGeom>
          <a:noFill/>
          <a:ln/>
        </p:spPr>
        <p:txBody>
          <a:bodyPr wrap="square" lIns="0" tIns="0" rIns="0" bIns="0" rtlCol="0" anchor="ctr"/>
          <a:lstStyle/>
          <a:p>
            <a:pPr algn="ctr" indent="0" marL="0">
              <a:buNone/>
            </a:pPr>
            <a:r>
              <a:rPr lang="en-US" sz="850" dirty="0">
                <a:solidFill>
                  <a:srgbClr val="6B7280"/>
                </a:solidFill>
                <a:latin typeface="Meiryo UI" pitchFamily="34" charset="0"/>
                <a:ea typeface="Meiryo UI" pitchFamily="34" charset="-122"/>
                <a:cs typeface="Meiryo UI" pitchFamily="34" charset="-120"/>
              </a:rPr>
              <a:t>人</a:t>
            </a:r>
            <a:endParaRPr lang="en-US" sz="850" dirty="0"/>
          </a:p>
        </p:txBody>
      </p:sp>
      <p:sp>
        <p:nvSpPr>
          <p:cNvPr id="164" name="Shape 162"/>
          <p:cNvSpPr/>
          <p:nvPr/>
        </p:nvSpPr>
        <p:spPr>
          <a:xfrm>
            <a:off x="4990338" y="4402836"/>
            <a:ext cx="986409" cy="260604"/>
          </a:xfrm>
          <a:prstGeom prst="roundRect">
            <a:avLst>
              <a:gd name="adj" fmla="val 17544"/>
            </a:avLst>
          </a:prstGeom>
          <a:solidFill>
            <a:srgbClr val="D9F2F1"/>
          </a:solidFill>
          <a:ln/>
        </p:spPr>
      </p:sp>
      <p:sp>
        <p:nvSpPr>
          <p:cNvPr id="165" name="Text 163"/>
          <p:cNvSpPr txBox="1"/>
          <p:nvPr/>
        </p:nvSpPr>
        <p:spPr>
          <a:xfrm>
            <a:off x="4990338" y="4402836"/>
            <a:ext cx="986409" cy="260604"/>
          </a:xfrm>
          <a:prstGeom prst="rect">
            <a:avLst/>
          </a:prstGeom>
          <a:noFill/>
          <a:ln/>
        </p:spPr>
        <p:txBody>
          <a:bodyPr wrap="square" lIns="0" tIns="0" rIns="0" bIns="0" rtlCol="0" anchor="ctr"/>
          <a:lstStyle/>
          <a:p>
            <a:pPr algn="ctr" indent="0" marL="0">
              <a:buNone/>
            </a:pPr>
            <a:r>
              <a:rPr lang="en-US" sz="850" b="1" dirty="0">
                <a:solidFill>
                  <a:srgbClr val="0E9F9A"/>
                </a:solidFill>
                <a:latin typeface="Meiryo UI" pitchFamily="34" charset="0"/>
                <a:ea typeface="Meiryo UI" pitchFamily="34" charset="-122"/>
                <a:cs typeface="Meiryo UI" pitchFamily="34" charset="-120"/>
              </a:rPr>
              <a:t>支援</a:t>
            </a:r>
            <a:endParaRPr lang="en-US" sz="850" dirty="0"/>
          </a:p>
        </p:txBody>
      </p:sp>
      <p:sp>
        <p:nvSpPr>
          <p:cNvPr id="166" name="Shape 164"/>
          <p:cNvSpPr/>
          <p:nvPr/>
        </p:nvSpPr>
        <p:spPr>
          <a:xfrm>
            <a:off x="6104763" y="4402836"/>
            <a:ext cx="986409" cy="260604"/>
          </a:xfrm>
          <a:prstGeom prst="roundRect">
            <a:avLst>
              <a:gd name="adj" fmla="val 17544"/>
            </a:avLst>
          </a:prstGeom>
          <a:solidFill>
            <a:srgbClr val="D9F2F1"/>
          </a:solidFill>
          <a:ln/>
        </p:spPr>
      </p:sp>
      <p:sp>
        <p:nvSpPr>
          <p:cNvPr id="167" name="Text 165"/>
          <p:cNvSpPr txBox="1"/>
          <p:nvPr/>
        </p:nvSpPr>
        <p:spPr>
          <a:xfrm>
            <a:off x="6104763" y="4402836"/>
            <a:ext cx="986409" cy="260604"/>
          </a:xfrm>
          <a:prstGeom prst="rect">
            <a:avLst/>
          </a:prstGeom>
          <a:noFill/>
          <a:ln/>
        </p:spPr>
        <p:txBody>
          <a:bodyPr wrap="square" lIns="0" tIns="0" rIns="0" bIns="0" rtlCol="0" anchor="ctr"/>
          <a:lstStyle/>
          <a:p>
            <a:pPr algn="ctr" indent="0" marL="0">
              <a:buNone/>
            </a:pPr>
            <a:r>
              <a:rPr lang="en-US" sz="850" b="1" dirty="0">
                <a:solidFill>
                  <a:srgbClr val="0E9F9A"/>
                </a:solidFill>
                <a:latin typeface="Meiryo UI" pitchFamily="34" charset="0"/>
                <a:ea typeface="Meiryo UI" pitchFamily="34" charset="-122"/>
                <a:cs typeface="Meiryo UI" pitchFamily="34" charset="-120"/>
              </a:rPr>
              <a:t>支援</a:t>
            </a:r>
            <a:endParaRPr lang="en-US" sz="850" dirty="0"/>
          </a:p>
        </p:txBody>
      </p:sp>
      <p:sp>
        <p:nvSpPr>
          <p:cNvPr id="168" name="Shape 166"/>
          <p:cNvSpPr/>
          <p:nvPr/>
        </p:nvSpPr>
        <p:spPr>
          <a:xfrm>
            <a:off x="7219188" y="4402836"/>
            <a:ext cx="986409" cy="260604"/>
          </a:xfrm>
          <a:prstGeom prst="roundRect">
            <a:avLst>
              <a:gd name="adj" fmla="val 17544"/>
            </a:avLst>
          </a:prstGeom>
          <a:solidFill>
            <a:srgbClr val="D9F2F1"/>
          </a:solidFill>
          <a:ln/>
        </p:spPr>
      </p:sp>
      <p:sp>
        <p:nvSpPr>
          <p:cNvPr id="169" name="Text 167"/>
          <p:cNvSpPr txBox="1"/>
          <p:nvPr/>
        </p:nvSpPr>
        <p:spPr>
          <a:xfrm>
            <a:off x="7219188" y="4402836"/>
            <a:ext cx="986409" cy="260604"/>
          </a:xfrm>
          <a:prstGeom prst="rect">
            <a:avLst/>
          </a:prstGeom>
          <a:noFill/>
          <a:ln/>
        </p:spPr>
        <p:txBody>
          <a:bodyPr wrap="square" lIns="0" tIns="0" rIns="0" bIns="0" rtlCol="0" anchor="ctr"/>
          <a:lstStyle/>
          <a:p>
            <a:pPr algn="ctr" indent="0" marL="0">
              <a:buNone/>
            </a:pPr>
            <a:r>
              <a:rPr lang="en-US" sz="850" b="1" dirty="0">
                <a:solidFill>
                  <a:srgbClr val="0E9F9A"/>
                </a:solidFill>
                <a:latin typeface="Meiryo UI" pitchFamily="34" charset="0"/>
                <a:ea typeface="Meiryo UI" pitchFamily="34" charset="-122"/>
                <a:cs typeface="Meiryo UI" pitchFamily="34" charset="-120"/>
              </a:rPr>
              <a:t>支援</a:t>
            </a:r>
            <a:endParaRPr lang="en-US" sz="850" dirty="0"/>
          </a:p>
        </p:txBody>
      </p:sp>
      <p:sp>
        <p:nvSpPr>
          <p:cNvPr id="170" name="Shape 168"/>
          <p:cNvSpPr/>
          <p:nvPr/>
        </p:nvSpPr>
        <p:spPr>
          <a:xfrm>
            <a:off x="8333613" y="4402836"/>
            <a:ext cx="986409" cy="260604"/>
          </a:xfrm>
          <a:prstGeom prst="roundRect">
            <a:avLst>
              <a:gd name="adj" fmla="val 17544"/>
            </a:avLst>
          </a:prstGeom>
          <a:solidFill>
            <a:srgbClr val="D9F2F1"/>
          </a:solidFill>
          <a:ln/>
        </p:spPr>
      </p:sp>
      <p:sp>
        <p:nvSpPr>
          <p:cNvPr id="171" name="Text 169"/>
          <p:cNvSpPr txBox="1"/>
          <p:nvPr/>
        </p:nvSpPr>
        <p:spPr>
          <a:xfrm>
            <a:off x="8333613" y="4402836"/>
            <a:ext cx="986409" cy="260604"/>
          </a:xfrm>
          <a:prstGeom prst="rect">
            <a:avLst/>
          </a:prstGeom>
          <a:noFill/>
          <a:ln/>
        </p:spPr>
        <p:txBody>
          <a:bodyPr wrap="square" lIns="0" tIns="0" rIns="0" bIns="0" rtlCol="0" anchor="ctr"/>
          <a:lstStyle/>
          <a:p>
            <a:pPr algn="ctr" indent="0" marL="0">
              <a:buNone/>
            </a:pPr>
            <a:r>
              <a:rPr lang="en-US" sz="850" b="1" dirty="0">
                <a:solidFill>
                  <a:srgbClr val="0E9F9A"/>
                </a:solidFill>
                <a:latin typeface="Meiryo UI" pitchFamily="34" charset="0"/>
                <a:ea typeface="Meiryo UI" pitchFamily="34" charset="-122"/>
                <a:cs typeface="Meiryo UI" pitchFamily="34" charset="-120"/>
              </a:rPr>
              <a:t>支援</a:t>
            </a:r>
            <a:endParaRPr lang="en-US" sz="850" dirty="0"/>
          </a:p>
        </p:txBody>
      </p:sp>
      <p:sp>
        <p:nvSpPr>
          <p:cNvPr id="172" name="Shape 170"/>
          <p:cNvSpPr/>
          <p:nvPr/>
        </p:nvSpPr>
        <p:spPr>
          <a:xfrm>
            <a:off x="9448038" y="4402836"/>
            <a:ext cx="986409" cy="260604"/>
          </a:xfrm>
          <a:prstGeom prst="roundRect">
            <a:avLst>
              <a:gd name="adj" fmla="val 17544"/>
            </a:avLst>
          </a:prstGeom>
          <a:solidFill>
            <a:srgbClr val="F3F5F8"/>
          </a:solidFill>
          <a:ln/>
        </p:spPr>
      </p:sp>
      <p:sp>
        <p:nvSpPr>
          <p:cNvPr id="173" name="Text 171"/>
          <p:cNvSpPr txBox="1"/>
          <p:nvPr/>
        </p:nvSpPr>
        <p:spPr>
          <a:xfrm>
            <a:off x="9448038" y="4402836"/>
            <a:ext cx="986409" cy="260604"/>
          </a:xfrm>
          <a:prstGeom prst="rect">
            <a:avLst/>
          </a:prstGeom>
          <a:noFill/>
          <a:ln/>
        </p:spPr>
        <p:txBody>
          <a:bodyPr wrap="square" lIns="0" tIns="0" rIns="0" bIns="0" rtlCol="0" anchor="ctr"/>
          <a:lstStyle/>
          <a:p>
            <a:pPr algn="ctr" indent="0" marL="0">
              <a:buNone/>
            </a:pPr>
            <a:r>
              <a:rPr lang="en-US" sz="850" dirty="0">
                <a:solidFill>
                  <a:srgbClr val="6B7280"/>
                </a:solidFill>
                <a:latin typeface="Meiryo UI" pitchFamily="34" charset="0"/>
                <a:ea typeface="Meiryo UI" pitchFamily="34" charset="-122"/>
                <a:cs typeface="Meiryo UI" pitchFamily="34" charset="-120"/>
              </a:rPr>
              <a:t>人</a:t>
            </a:r>
            <a:endParaRPr lang="en-US" sz="850" dirty="0"/>
          </a:p>
        </p:txBody>
      </p:sp>
      <p:sp>
        <p:nvSpPr>
          <p:cNvPr id="174" name="Shape 172"/>
          <p:cNvSpPr/>
          <p:nvPr/>
        </p:nvSpPr>
        <p:spPr>
          <a:xfrm>
            <a:off x="10562463" y="4402836"/>
            <a:ext cx="986409" cy="260604"/>
          </a:xfrm>
          <a:prstGeom prst="roundRect">
            <a:avLst>
              <a:gd name="adj" fmla="val 17544"/>
            </a:avLst>
          </a:prstGeom>
          <a:solidFill>
            <a:srgbClr val="F3F5F8"/>
          </a:solidFill>
          <a:ln/>
        </p:spPr>
      </p:sp>
      <p:sp>
        <p:nvSpPr>
          <p:cNvPr id="175" name="Text 173"/>
          <p:cNvSpPr txBox="1"/>
          <p:nvPr/>
        </p:nvSpPr>
        <p:spPr>
          <a:xfrm>
            <a:off x="10562463" y="4402836"/>
            <a:ext cx="986409" cy="260604"/>
          </a:xfrm>
          <a:prstGeom prst="rect">
            <a:avLst/>
          </a:prstGeom>
          <a:noFill/>
          <a:ln/>
        </p:spPr>
        <p:txBody>
          <a:bodyPr wrap="square" lIns="0" tIns="0" rIns="0" bIns="0" rtlCol="0" anchor="ctr"/>
          <a:lstStyle/>
          <a:p>
            <a:pPr algn="ctr" indent="0" marL="0">
              <a:buNone/>
            </a:pPr>
            <a:r>
              <a:rPr lang="en-US" sz="850" dirty="0">
                <a:solidFill>
                  <a:srgbClr val="6B7280"/>
                </a:solidFill>
                <a:latin typeface="Meiryo UI" pitchFamily="34" charset="0"/>
                <a:ea typeface="Meiryo UI" pitchFamily="34" charset="-122"/>
                <a:cs typeface="Meiryo UI" pitchFamily="34" charset="-120"/>
              </a:rPr>
              <a:t>人</a:t>
            </a:r>
            <a:endParaRPr lang="en-US" sz="850" dirty="0"/>
          </a:p>
        </p:txBody>
      </p:sp>
      <p:sp>
        <p:nvSpPr>
          <p:cNvPr id="176" name="Shape 174"/>
          <p:cNvSpPr/>
          <p:nvPr/>
        </p:nvSpPr>
        <p:spPr>
          <a:xfrm>
            <a:off x="548640" y="4690872"/>
            <a:ext cx="11064240" cy="0"/>
          </a:xfrm>
          <a:prstGeom prst="line">
            <a:avLst/>
          </a:prstGeom>
          <a:noFill/>
          <a:ln w="12700">
            <a:solidFill>
              <a:srgbClr val="D5DBE3"/>
            </a:solidFill>
            <a:prstDash val="solid"/>
          </a:ln>
        </p:spPr>
      </p:sp>
      <p:sp>
        <p:nvSpPr>
          <p:cNvPr id="177" name="Shape 175"/>
          <p:cNvSpPr/>
          <p:nvPr/>
        </p:nvSpPr>
        <p:spPr>
          <a:xfrm>
            <a:off x="566928" y="4727448"/>
            <a:ext cx="265176" cy="265176"/>
          </a:xfrm>
          <a:prstGeom prst="ellipse">
            <a:avLst/>
          </a:prstGeom>
          <a:solidFill>
            <a:srgbClr val="4285F4"/>
          </a:solidFill>
          <a:ln/>
        </p:spPr>
      </p:sp>
      <p:sp>
        <p:nvSpPr>
          <p:cNvPr id="178" name="Text 176"/>
          <p:cNvSpPr txBox="1"/>
          <p:nvPr/>
        </p:nvSpPr>
        <p:spPr>
          <a:xfrm>
            <a:off x="566928" y="4727448"/>
            <a:ext cx="265176" cy="265176"/>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B1</a:t>
            </a:r>
            <a:endParaRPr lang="en-US" sz="1100" dirty="0"/>
          </a:p>
        </p:txBody>
      </p:sp>
      <p:sp>
        <p:nvSpPr>
          <p:cNvPr id="179" name="Text 177"/>
          <p:cNvSpPr txBox="1"/>
          <p:nvPr/>
        </p:nvSpPr>
        <p:spPr>
          <a:xfrm>
            <a:off x="896112" y="4700016"/>
            <a:ext cx="1801368" cy="297180"/>
          </a:xfrm>
          <a:prstGeom prst="rect">
            <a:avLst/>
          </a:prstGeom>
          <a:noFill/>
          <a:ln/>
        </p:spPr>
        <p:txBody>
          <a:bodyPr wrap="square" lIns="0" tIns="0" rIns="0" bIns="0" rtlCol="0" anchor="ctr"/>
          <a:lstStyle/>
          <a:p>
            <a:pPr indent="0" marL="0">
              <a:buNone/>
            </a:pPr>
            <a:r>
              <a:rPr lang="en-US" sz="900" b="1" dirty="0">
                <a:solidFill>
                  <a:srgbClr val="1B2A49"/>
                </a:solidFill>
                <a:latin typeface="Meiryo UI" pitchFamily="34" charset="0"/>
                <a:ea typeface="Meiryo UI" pitchFamily="34" charset="-122"/>
                <a:cs typeface="Meiryo UI" pitchFamily="34" charset="-120"/>
              </a:rPr>
              <a:t>Gemini Enterprise</a:t>
            </a:r>
            <a:endParaRPr lang="en-US" sz="900" dirty="0"/>
          </a:p>
        </p:txBody>
      </p:sp>
      <p:sp>
        <p:nvSpPr>
          <p:cNvPr id="180" name="Shape 178"/>
          <p:cNvSpPr/>
          <p:nvPr/>
        </p:nvSpPr>
        <p:spPr>
          <a:xfrm>
            <a:off x="2761488" y="4727448"/>
            <a:ext cx="986409" cy="260604"/>
          </a:xfrm>
          <a:prstGeom prst="roundRect">
            <a:avLst>
              <a:gd name="adj" fmla="val 17544"/>
            </a:avLst>
          </a:prstGeom>
          <a:solidFill>
            <a:srgbClr val="0E9F9A"/>
          </a:solidFill>
          <a:ln/>
        </p:spPr>
      </p:sp>
      <p:sp>
        <p:nvSpPr>
          <p:cNvPr id="181" name="Text 179"/>
          <p:cNvSpPr txBox="1"/>
          <p:nvPr/>
        </p:nvSpPr>
        <p:spPr>
          <a:xfrm>
            <a:off x="2761488" y="4727448"/>
            <a:ext cx="986409" cy="260604"/>
          </a:xfrm>
          <a:prstGeom prst="rect">
            <a:avLst/>
          </a:prstGeom>
          <a:noFill/>
          <a:ln/>
        </p:spPr>
        <p:txBody>
          <a:bodyPr wrap="square" lIns="0" tIns="0" rIns="0" bIns="0" rtlCol="0" anchor="ctr"/>
          <a:lstStyle/>
          <a:p>
            <a:pPr algn="ctr" indent="0" marL="0">
              <a:buNone/>
            </a:pPr>
            <a:r>
              <a:rPr lang="en-US" sz="850" b="1" dirty="0">
                <a:solidFill>
                  <a:srgbClr val="FFFFFF"/>
                </a:solidFill>
                <a:latin typeface="Meiryo UI" pitchFamily="34" charset="0"/>
                <a:ea typeface="Meiryo UI" pitchFamily="34" charset="-122"/>
                <a:cs typeface="Meiryo UI" pitchFamily="34" charset="-120"/>
              </a:rPr>
              <a:t>自動</a:t>
            </a:r>
            <a:endParaRPr lang="en-US" sz="850" dirty="0"/>
          </a:p>
        </p:txBody>
      </p:sp>
      <p:sp>
        <p:nvSpPr>
          <p:cNvPr id="182" name="Shape 180"/>
          <p:cNvSpPr/>
          <p:nvPr/>
        </p:nvSpPr>
        <p:spPr>
          <a:xfrm>
            <a:off x="3875913" y="4727448"/>
            <a:ext cx="986409" cy="260604"/>
          </a:xfrm>
          <a:prstGeom prst="roundRect">
            <a:avLst>
              <a:gd name="adj" fmla="val 17544"/>
            </a:avLst>
          </a:prstGeom>
          <a:solidFill>
            <a:srgbClr val="F3F5F8"/>
          </a:solidFill>
          <a:ln/>
        </p:spPr>
      </p:sp>
      <p:sp>
        <p:nvSpPr>
          <p:cNvPr id="183" name="Text 181"/>
          <p:cNvSpPr txBox="1"/>
          <p:nvPr/>
        </p:nvSpPr>
        <p:spPr>
          <a:xfrm>
            <a:off x="3875913" y="4727448"/>
            <a:ext cx="986409" cy="260604"/>
          </a:xfrm>
          <a:prstGeom prst="rect">
            <a:avLst/>
          </a:prstGeom>
          <a:noFill/>
          <a:ln/>
        </p:spPr>
        <p:txBody>
          <a:bodyPr wrap="square" lIns="0" tIns="0" rIns="0" bIns="0" rtlCol="0" anchor="ctr"/>
          <a:lstStyle/>
          <a:p>
            <a:pPr algn="ctr" indent="0" marL="0">
              <a:buNone/>
            </a:pPr>
            <a:r>
              <a:rPr lang="en-US" sz="850" dirty="0">
                <a:solidFill>
                  <a:srgbClr val="6B7280"/>
                </a:solidFill>
                <a:latin typeface="Meiryo UI" pitchFamily="34" charset="0"/>
                <a:ea typeface="Meiryo UI" pitchFamily="34" charset="-122"/>
                <a:cs typeface="Meiryo UI" pitchFamily="34" charset="-120"/>
              </a:rPr>
              <a:t>人</a:t>
            </a:r>
            <a:endParaRPr lang="en-US" sz="850" dirty="0"/>
          </a:p>
        </p:txBody>
      </p:sp>
      <p:sp>
        <p:nvSpPr>
          <p:cNvPr id="184" name="Shape 182"/>
          <p:cNvSpPr/>
          <p:nvPr/>
        </p:nvSpPr>
        <p:spPr>
          <a:xfrm>
            <a:off x="4990338" y="4727448"/>
            <a:ext cx="986409" cy="260604"/>
          </a:xfrm>
          <a:prstGeom prst="roundRect">
            <a:avLst>
              <a:gd name="adj" fmla="val 17544"/>
            </a:avLst>
          </a:prstGeom>
          <a:solidFill>
            <a:srgbClr val="D9F2F1"/>
          </a:solidFill>
          <a:ln/>
        </p:spPr>
      </p:sp>
      <p:sp>
        <p:nvSpPr>
          <p:cNvPr id="185" name="Text 183"/>
          <p:cNvSpPr txBox="1"/>
          <p:nvPr/>
        </p:nvSpPr>
        <p:spPr>
          <a:xfrm>
            <a:off x="4990338" y="4727448"/>
            <a:ext cx="986409" cy="260604"/>
          </a:xfrm>
          <a:prstGeom prst="rect">
            <a:avLst/>
          </a:prstGeom>
          <a:noFill/>
          <a:ln/>
        </p:spPr>
        <p:txBody>
          <a:bodyPr wrap="square" lIns="0" tIns="0" rIns="0" bIns="0" rtlCol="0" anchor="ctr"/>
          <a:lstStyle/>
          <a:p>
            <a:pPr algn="ctr" indent="0" marL="0">
              <a:buNone/>
            </a:pPr>
            <a:r>
              <a:rPr lang="en-US" sz="850" b="1" dirty="0">
                <a:solidFill>
                  <a:srgbClr val="0E9F9A"/>
                </a:solidFill>
                <a:latin typeface="Meiryo UI" pitchFamily="34" charset="0"/>
                <a:ea typeface="Meiryo UI" pitchFamily="34" charset="-122"/>
                <a:cs typeface="Meiryo UI" pitchFamily="34" charset="-120"/>
              </a:rPr>
              <a:t>支援</a:t>
            </a:r>
            <a:endParaRPr lang="en-US" sz="850" dirty="0"/>
          </a:p>
        </p:txBody>
      </p:sp>
      <p:sp>
        <p:nvSpPr>
          <p:cNvPr id="186" name="Shape 184"/>
          <p:cNvSpPr/>
          <p:nvPr/>
        </p:nvSpPr>
        <p:spPr>
          <a:xfrm>
            <a:off x="6104763" y="4727448"/>
            <a:ext cx="986409" cy="260604"/>
          </a:xfrm>
          <a:prstGeom prst="roundRect">
            <a:avLst>
              <a:gd name="adj" fmla="val 17544"/>
            </a:avLst>
          </a:prstGeom>
          <a:solidFill>
            <a:srgbClr val="D9F2F1"/>
          </a:solidFill>
          <a:ln/>
        </p:spPr>
      </p:sp>
      <p:sp>
        <p:nvSpPr>
          <p:cNvPr id="187" name="Text 185"/>
          <p:cNvSpPr txBox="1"/>
          <p:nvPr/>
        </p:nvSpPr>
        <p:spPr>
          <a:xfrm>
            <a:off x="6104763" y="4727448"/>
            <a:ext cx="986409" cy="260604"/>
          </a:xfrm>
          <a:prstGeom prst="rect">
            <a:avLst/>
          </a:prstGeom>
          <a:noFill/>
          <a:ln/>
        </p:spPr>
        <p:txBody>
          <a:bodyPr wrap="square" lIns="0" tIns="0" rIns="0" bIns="0" rtlCol="0" anchor="ctr"/>
          <a:lstStyle/>
          <a:p>
            <a:pPr algn="ctr" indent="0" marL="0">
              <a:buNone/>
            </a:pPr>
            <a:r>
              <a:rPr lang="en-US" sz="850" b="1" dirty="0">
                <a:solidFill>
                  <a:srgbClr val="0E9F9A"/>
                </a:solidFill>
                <a:latin typeface="Meiryo UI" pitchFamily="34" charset="0"/>
                <a:ea typeface="Meiryo UI" pitchFamily="34" charset="-122"/>
                <a:cs typeface="Meiryo UI" pitchFamily="34" charset="-120"/>
              </a:rPr>
              <a:t>支援</a:t>
            </a:r>
            <a:endParaRPr lang="en-US" sz="850" dirty="0"/>
          </a:p>
        </p:txBody>
      </p:sp>
      <p:sp>
        <p:nvSpPr>
          <p:cNvPr id="188" name="Shape 186"/>
          <p:cNvSpPr/>
          <p:nvPr/>
        </p:nvSpPr>
        <p:spPr>
          <a:xfrm>
            <a:off x="7219188" y="4727448"/>
            <a:ext cx="986409" cy="260604"/>
          </a:xfrm>
          <a:prstGeom prst="roundRect">
            <a:avLst>
              <a:gd name="adj" fmla="val 17544"/>
            </a:avLst>
          </a:prstGeom>
          <a:solidFill>
            <a:srgbClr val="D9F2F1"/>
          </a:solidFill>
          <a:ln/>
        </p:spPr>
      </p:sp>
      <p:sp>
        <p:nvSpPr>
          <p:cNvPr id="189" name="Text 187"/>
          <p:cNvSpPr txBox="1"/>
          <p:nvPr/>
        </p:nvSpPr>
        <p:spPr>
          <a:xfrm>
            <a:off x="7219188" y="4727448"/>
            <a:ext cx="986409" cy="260604"/>
          </a:xfrm>
          <a:prstGeom prst="rect">
            <a:avLst/>
          </a:prstGeom>
          <a:noFill/>
          <a:ln/>
        </p:spPr>
        <p:txBody>
          <a:bodyPr wrap="square" lIns="0" tIns="0" rIns="0" bIns="0" rtlCol="0" anchor="ctr"/>
          <a:lstStyle/>
          <a:p>
            <a:pPr algn="ctr" indent="0" marL="0">
              <a:buNone/>
            </a:pPr>
            <a:r>
              <a:rPr lang="en-US" sz="850" b="1" dirty="0">
                <a:solidFill>
                  <a:srgbClr val="0E9F9A"/>
                </a:solidFill>
                <a:latin typeface="Meiryo UI" pitchFamily="34" charset="0"/>
                <a:ea typeface="Meiryo UI" pitchFamily="34" charset="-122"/>
                <a:cs typeface="Meiryo UI" pitchFamily="34" charset="-120"/>
              </a:rPr>
              <a:t>支援</a:t>
            </a:r>
            <a:endParaRPr lang="en-US" sz="850" dirty="0"/>
          </a:p>
        </p:txBody>
      </p:sp>
      <p:sp>
        <p:nvSpPr>
          <p:cNvPr id="190" name="Shape 188"/>
          <p:cNvSpPr/>
          <p:nvPr/>
        </p:nvSpPr>
        <p:spPr>
          <a:xfrm>
            <a:off x="8333613" y="4727448"/>
            <a:ext cx="986409" cy="260604"/>
          </a:xfrm>
          <a:prstGeom prst="roundRect">
            <a:avLst>
              <a:gd name="adj" fmla="val 17544"/>
            </a:avLst>
          </a:prstGeom>
          <a:solidFill>
            <a:srgbClr val="D9F2F1"/>
          </a:solidFill>
          <a:ln/>
        </p:spPr>
      </p:sp>
      <p:sp>
        <p:nvSpPr>
          <p:cNvPr id="191" name="Text 189"/>
          <p:cNvSpPr txBox="1"/>
          <p:nvPr/>
        </p:nvSpPr>
        <p:spPr>
          <a:xfrm>
            <a:off x="8333613" y="4727448"/>
            <a:ext cx="986409" cy="260604"/>
          </a:xfrm>
          <a:prstGeom prst="rect">
            <a:avLst/>
          </a:prstGeom>
          <a:noFill/>
          <a:ln/>
        </p:spPr>
        <p:txBody>
          <a:bodyPr wrap="square" lIns="0" tIns="0" rIns="0" bIns="0" rtlCol="0" anchor="ctr"/>
          <a:lstStyle/>
          <a:p>
            <a:pPr algn="ctr" indent="0" marL="0">
              <a:buNone/>
            </a:pPr>
            <a:r>
              <a:rPr lang="en-US" sz="850" b="1" dirty="0">
                <a:solidFill>
                  <a:srgbClr val="0E9F9A"/>
                </a:solidFill>
                <a:latin typeface="Meiryo UI" pitchFamily="34" charset="0"/>
                <a:ea typeface="Meiryo UI" pitchFamily="34" charset="-122"/>
                <a:cs typeface="Meiryo UI" pitchFamily="34" charset="-120"/>
              </a:rPr>
              <a:t>支援</a:t>
            </a:r>
            <a:endParaRPr lang="en-US" sz="850" dirty="0"/>
          </a:p>
        </p:txBody>
      </p:sp>
      <p:sp>
        <p:nvSpPr>
          <p:cNvPr id="192" name="Shape 190"/>
          <p:cNvSpPr/>
          <p:nvPr/>
        </p:nvSpPr>
        <p:spPr>
          <a:xfrm>
            <a:off x="9448038" y="4727448"/>
            <a:ext cx="986409" cy="260604"/>
          </a:xfrm>
          <a:prstGeom prst="roundRect">
            <a:avLst>
              <a:gd name="adj" fmla="val 17544"/>
            </a:avLst>
          </a:prstGeom>
          <a:solidFill>
            <a:srgbClr val="F3F5F8"/>
          </a:solidFill>
          <a:ln/>
        </p:spPr>
      </p:sp>
      <p:sp>
        <p:nvSpPr>
          <p:cNvPr id="193" name="Text 191"/>
          <p:cNvSpPr txBox="1"/>
          <p:nvPr/>
        </p:nvSpPr>
        <p:spPr>
          <a:xfrm>
            <a:off x="9448038" y="4727448"/>
            <a:ext cx="986409" cy="260604"/>
          </a:xfrm>
          <a:prstGeom prst="rect">
            <a:avLst/>
          </a:prstGeom>
          <a:noFill/>
          <a:ln/>
        </p:spPr>
        <p:txBody>
          <a:bodyPr wrap="square" lIns="0" tIns="0" rIns="0" bIns="0" rtlCol="0" anchor="ctr"/>
          <a:lstStyle/>
          <a:p>
            <a:pPr algn="ctr" indent="0" marL="0">
              <a:buNone/>
            </a:pPr>
            <a:r>
              <a:rPr lang="en-US" sz="850" dirty="0">
                <a:solidFill>
                  <a:srgbClr val="6B7280"/>
                </a:solidFill>
                <a:latin typeface="Meiryo UI" pitchFamily="34" charset="0"/>
                <a:ea typeface="Meiryo UI" pitchFamily="34" charset="-122"/>
                <a:cs typeface="Meiryo UI" pitchFamily="34" charset="-120"/>
              </a:rPr>
              <a:t>人</a:t>
            </a:r>
            <a:endParaRPr lang="en-US" sz="850" dirty="0"/>
          </a:p>
        </p:txBody>
      </p:sp>
      <p:sp>
        <p:nvSpPr>
          <p:cNvPr id="194" name="Shape 192"/>
          <p:cNvSpPr/>
          <p:nvPr/>
        </p:nvSpPr>
        <p:spPr>
          <a:xfrm>
            <a:off x="10562463" y="4727448"/>
            <a:ext cx="986409" cy="260604"/>
          </a:xfrm>
          <a:prstGeom prst="roundRect">
            <a:avLst>
              <a:gd name="adj" fmla="val 17544"/>
            </a:avLst>
          </a:prstGeom>
          <a:solidFill>
            <a:srgbClr val="F3F5F8"/>
          </a:solidFill>
          <a:ln/>
        </p:spPr>
      </p:sp>
      <p:sp>
        <p:nvSpPr>
          <p:cNvPr id="195" name="Text 193"/>
          <p:cNvSpPr txBox="1"/>
          <p:nvPr/>
        </p:nvSpPr>
        <p:spPr>
          <a:xfrm>
            <a:off x="10562463" y="4727448"/>
            <a:ext cx="986409" cy="260604"/>
          </a:xfrm>
          <a:prstGeom prst="rect">
            <a:avLst/>
          </a:prstGeom>
          <a:noFill/>
          <a:ln/>
        </p:spPr>
        <p:txBody>
          <a:bodyPr wrap="square" lIns="0" tIns="0" rIns="0" bIns="0" rtlCol="0" anchor="ctr"/>
          <a:lstStyle/>
          <a:p>
            <a:pPr algn="ctr" indent="0" marL="0">
              <a:buNone/>
            </a:pPr>
            <a:r>
              <a:rPr lang="en-US" sz="850" dirty="0">
                <a:solidFill>
                  <a:srgbClr val="6B7280"/>
                </a:solidFill>
                <a:latin typeface="Meiryo UI" pitchFamily="34" charset="0"/>
                <a:ea typeface="Meiryo UI" pitchFamily="34" charset="-122"/>
                <a:cs typeface="Meiryo UI" pitchFamily="34" charset="-120"/>
              </a:rPr>
              <a:t>人</a:t>
            </a:r>
            <a:endParaRPr lang="en-US" sz="850" dirty="0"/>
          </a:p>
        </p:txBody>
      </p:sp>
      <p:sp>
        <p:nvSpPr>
          <p:cNvPr id="196" name="Shape 194"/>
          <p:cNvSpPr/>
          <p:nvPr/>
        </p:nvSpPr>
        <p:spPr>
          <a:xfrm>
            <a:off x="566928" y="5052060"/>
            <a:ext cx="265176" cy="265176"/>
          </a:xfrm>
          <a:prstGeom prst="ellipse">
            <a:avLst/>
          </a:prstGeom>
          <a:solidFill>
            <a:srgbClr val="4285F4"/>
          </a:solidFill>
          <a:ln/>
        </p:spPr>
      </p:sp>
      <p:sp>
        <p:nvSpPr>
          <p:cNvPr id="197" name="Text 195"/>
          <p:cNvSpPr txBox="1"/>
          <p:nvPr/>
        </p:nvSpPr>
        <p:spPr>
          <a:xfrm>
            <a:off x="566928" y="5052060"/>
            <a:ext cx="265176" cy="265176"/>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B2</a:t>
            </a:r>
            <a:endParaRPr lang="en-US" sz="1100" dirty="0"/>
          </a:p>
        </p:txBody>
      </p:sp>
      <p:sp>
        <p:nvSpPr>
          <p:cNvPr id="198" name="Text 196"/>
          <p:cNvSpPr txBox="1"/>
          <p:nvPr/>
        </p:nvSpPr>
        <p:spPr>
          <a:xfrm>
            <a:off x="896112" y="5024628"/>
            <a:ext cx="1801368" cy="297180"/>
          </a:xfrm>
          <a:prstGeom prst="rect">
            <a:avLst/>
          </a:prstGeom>
          <a:noFill/>
          <a:ln/>
        </p:spPr>
        <p:txBody>
          <a:bodyPr wrap="square" lIns="0" tIns="0" rIns="0" bIns="0" rtlCol="0" anchor="ctr"/>
          <a:lstStyle/>
          <a:p>
            <a:pPr indent="0" marL="0">
              <a:buNone/>
            </a:pPr>
            <a:r>
              <a:rPr lang="en-US" sz="900" b="1" dirty="0">
                <a:solidFill>
                  <a:srgbClr val="1B2A49"/>
                </a:solidFill>
                <a:latin typeface="Meiryo UI" pitchFamily="34" charset="0"/>
                <a:ea typeface="Meiryo UI" pitchFamily="34" charset="-122"/>
                <a:cs typeface="Meiryo UI" pitchFamily="34" charset="-120"/>
              </a:rPr>
              <a:t>Agent Platformで自動起案</a:t>
            </a:r>
            <a:endParaRPr lang="en-US" sz="900" dirty="0"/>
          </a:p>
        </p:txBody>
      </p:sp>
      <p:sp>
        <p:nvSpPr>
          <p:cNvPr id="199" name="Shape 197"/>
          <p:cNvSpPr/>
          <p:nvPr/>
        </p:nvSpPr>
        <p:spPr>
          <a:xfrm>
            <a:off x="2761488" y="5052060"/>
            <a:ext cx="986409" cy="260604"/>
          </a:xfrm>
          <a:prstGeom prst="roundRect">
            <a:avLst>
              <a:gd name="adj" fmla="val 17544"/>
            </a:avLst>
          </a:prstGeom>
          <a:solidFill>
            <a:srgbClr val="0E9F9A"/>
          </a:solidFill>
          <a:ln/>
        </p:spPr>
      </p:sp>
      <p:sp>
        <p:nvSpPr>
          <p:cNvPr id="200" name="Text 198"/>
          <p:cNvSpPr txBox="1"/>
          <p:nvPr/>
        </p:nvSpPr>
        <p:spPr>
          <a:xfrm>
            <a:off x="2761488" y="5052060"/>
            <a:ext cx="986409" cy="260604"/>
          </a:xfrm>
          <a:prstGeom prst="rect">
            <a:avLst/>
          </a:prstGeom>
          <a:noFill/>
          <a:ln/>
        </p:spPr>
        <p:txBody>
          <a:bodyPr wrap="square" lIns="0" tIns="0" rIns="0" bIns="0" rtlCol="0" anchor="ctr"/>
          <a:lstStyle/>
          <a:p>
            <a:pPr algn="ctr" indent="0" marL="0">
              <a:buNone/>
            </a:pPr>
            <a:r>
              <a:rPr lang="en-US" sz="850" b="1" dirty="0">
                <a:solidFill>
                  <a:srgbClr val="FFFFFF"/>
                </a:solidFill>
                <a:latin typeface="Meiryo UI" pitchFamily="34" charset="0"/>
                <a:ea typeface="Meiryo UI" pitchFamily="34" charset="-122"/>
                <a:cs typeface="Meiryo UI" pitchFamily="34" charset="-120"/>
              </a:rPr>
              <a:t>自動</a:t>
            </a:r>
            <a:endParaRPr lang="en-US" sz="850" dirty="0"/>
          </a:p>
        </p:txBody>
      </p:sp>
      <p:sp>
        <p:nvSpPr>
          <p:cNvPr id="201" name="Shape 199"/>
          <p:cNvSpPr/>
          <p:nvPr/>
        </p:nvSpPr>
        <p:spPr>
          <a:xfrm>
            <a:off x="3875913" y="5052060"/>
            <a:ext cx="986409" cy="260604"/>
          </a:xfrm>
          <a:prstGeom prst="roundRect">
            <a:avLst>
              <a:gd name="adj" fmla="val 17544"/>
            </a:avLst>
          </a:prstGeom>
          <a:solidFill>
            <a:srgbClr val="FFFFFF"/>
          </a:solidFill>
          <a:ln w="12700">
            <a:solidFill>
              <a:srgbClr val="9AA5B4"/>
            </a:solidFill>
            <a:prstDash val="dash"/>
          </a:ln>
        </p:spPr>
      </p:sp>
      <p:sp>
        <p:nvSpPr>
          <p:cNvPr id="202" name="Text 200"/>
          <p:cNvSpPr txBox="1"/>
          <p:nvPr/>
        </p:nvSpPr>
        <p:spPr>
          <a:xfrm>
            <a:off x="3875913" y="5052060"/>
            <a:ext cx="986409" cy="260604"/>
          </a:xfrm>
          <a:prstGeom prst="rect">
            <a:avLst/>
          </a:prstGeom>
          <a:noFill/>
          <a:ln/>
        </p:spPr>
        <p:txBody>
          <a:bodyPr wrap="square" lIns="0" tIns="0" rIns="0" bIns="0" rtlCol="0" anchor="ctr"/>
          <a:lstStyle/>
          <a:p>
            <a:pPr algn="ctr" indent="0" marL="0">
              <a:buNone/>
            </a:pPr>
            <a:r>
              <a:rPr lang="en-US" sz="850" b="1" dirty="0">
                <a:solidFill>
                  <a:srgbClr val="6B7280"/>
                </a:solidFill>
                <a:latin typeface="Meiryo UI" pitchFamily="34" charset="0"/>
                <a:ea typeface="Meiryo UI" pitchFamily="34" charset="-122"/>
                <a:cs typeface="Meiryo UI" pitchFamily="34" charset="-120"/>
              </a:rPr>
              <a:t>拡張可</a:t>
            </a:r>
            <a:endParaRPr lang="en-US" sz="850" dirty="0"/>
          </a:p>
        </p:txBody>
      </p:sp>
      <p:sp>
        <p:nvSpPr>
          <p:cNvPr id="203" name="Shape 201"/>
          <p:cNvSpPr/>
          <p:nvPr/>
        </p:nvSpPr>
        <p:spPr>
          <a:xfrm>
            <a:off x="4990338" y="5052060"/>
            <a:ext cx="986409" cy="260604"/>
          </a:xfrm>
          <a:prstGeom prst="roundRect">
            <a:avLst>
              <a:gd name="adj" fmla="val 17544"/>
            </a:avLst>
          </a:prstGeom>
          <a:solidFill>
            <a:srgbClr val="0E9F9A"/>
          </a:solidFill>
          <a:ln/>
        </p:spPr>
      </p:sp>
      <p:sp>
        <p:nvSpPr>
          <p:cNvPr id="204" name="Text 202"/>
          <p:cNvSpPr txBox="1"/>
          <p:nvPr/>
        </p:nvSpPr>
        <p:spPr>
          <a:xfrm>
            <a:off x="4990338" y="5052060"/>
            <a:ext cx="986409" cy="260604"/>
          </a:xfrm>
          <a:prstGeom prst="rect">
            <a:avLst/>
          </a:prstGeom>
          <a:noFill/>
          <a:ln/>
        </p:spPr>
        <p:txBody>
          <a:bodyPr wrap="square" lIns="0" tIns="0" rIns="0" bIns="0" rtlCol="0" anchor="ctr"/>
          <a:lstStyle/>
          <a:p>
            <a:pPr algn="ctr" indent="0" marL="0">
              <a:buNone/>
            </a:pPr>
            <a:r>
              <a:rPr lang="en-US" sz="850" b="1" dirty="0">
                <a:solidFill>
                  <a:srgbClr val="FFFFFF"/>
                </a:solidFill>
                <a:latin typeface="Meiryo UI" pitchFamily="34" charset="0"/>
                <a:ea typeface="Meiryo UI" pitchFamily="34" charset="-122"/>
                <a:cs typeface="Meiryo UI" pitchFamily="34" charset="-120"/>
              </a:rPr>
              <a:t>自動</a:t>
            </a:r>
            <a:endParaRPr lang="en-US" sz="850" dirty="0"/>
          </a:p>
        </p:txBody>
      </p:sp>
      <p:sp>
        <p:nvSpPr>
          <p:cNvPr id="205" name="Shape 203"/>
          <p:cNvSpPr/>
          <p:nvPr/>
        </p:nvSpPr>
        <p:spPr>
          <a:xfrm>
            <a:off x="6104763" y="5052060"/>
            <a:ext cx="986409" cy="260604"/>
          </a:xfrm>
          <a:prstGeom prst="roundRect">
            <a:avLst>
              <a:gd name="adj" fmla="val 17544"/>
            </a:avLst>
          </a:prstGeom>
          <a:solidFill>
            <a:srgbClr val="0E9F9A"/>
          </a:solidFill>
          <a:ln/>
        </p:spPr>
      </p:sp>
      <p:sp>
        <p:nvSpPr>
          <p:cNvPr id="206" name="Text 204"/>
          <p:cNvSpPr txBox="1"/>
          <p:nvPr/>
        </p:nvSpPr>
        <p:spPr>
          <a:xfrm>
            <a:off x="6104763" y="5052060"/>
            <a:ext cx="986409" cy="260604"/>
          </a:xfrm>
          <a:prstGeom prst="rect">
            <a:avLst/>
          </a:prstGeom>
          <a:noFill/>
          <a:ln/>
        </p:spPr>
        <p:txBody>
          <a:bodyPr wrap="square" lIns="0" tIns="0" rIns="0" bIns="0" rtlCol="0" anchor="ctr"/>
          <a:lstStyle/>
          <a:p>
            <a:pPr algn="ctr" indent="0" marL="0">
              <a:buNone/>
            </a:pPr>
            <a:r>
              <a:rPr lang="en-US" sz="850" b="1" dirty="0">
                <a:solidFill>
                  <a:srgbClr val="FFFFFF"/>
                </a:solidFill>
                <a:latin typeface="Meiryo UI" pitchFamily="34" charset="0"/>
                <a:ea typeface="Meiryo UI" pitchFamily="34" charset="-122"/>
                <a:cs typeface="Meiryo UI" pitchFamily="34" charset="-120"/>
              </a:rPr>
              <a:t>自動</a:t>
            </a:r>
            <a:endParaRPr lang="en-US" sz="850" dirty="0"/>
          </a:p>
        </p:txBody>
      </p:sp>
      <p:sp>
        <p:nvSpPr>
          <p:cNvPr id="207" name="Shape 205"/>
          <p:cNvSpPr/>
          <p:nvPr/>
        </p:nvSpPr>
        <p:spPr>
          <a:xfrm>
            <a:off x="7219188" y="5052060"/>
            <a:ext cx="986409" cy="260604"/>
          </a:xfrm>
          <a:prstGeom prst="roundRect">
            <a:avLst>
              <a:gd name="adj" fmla="val 17544"/>
            </a:avLst>
          </a:prstGeom>
          <a:solidFill>
            <a:srgbClr val="0E9F9A"/>
          </a:solidFill>
          <a:ln/>
        </p:spPr>
      </p:sp>
      <p:sp>
        <p:nvSpPr>
          <p:cNvPr id="208" name="Text 206"/>
          <p:cNvSpPr txBox="1"/>
          <p:nvPr/>
        </p:nvSpPr>
        <p:spPr>
          <a:xfrm>
            <a:off x="7219188" y="5052060"/>
            <a:ext cx="986409" cy="260604"/>
          </a:xfrm>
          <a:prstGeom prst="rect">
            <a:avLst/>
          </a:prstGeom>
          <a:noFill/>
          <a:ln/>
        </p:spPr>
        <p:txBody>
          <a:bodyPr wrap="square" lIns="0" tIns="0" rIns="0" bIns="0" rtlCol="0" anchor="ctr"/>
          <a:lstStyle/>
          <a:p>
            <a:pPr algn="ctr" indent="0" marL="0">
              <a:buNone/>
            </a:pPr>
            <a:r>
              <a:rPr lang="en-US" sz="850" b="1" dirty="0">
                <a:solidFill>
                  <a:srgbClr val="FFFFFF"/>
                </a:solidFill>
                <a:latin typeface="Meiryo UI" pitchFamily="34" charset="0"/>
                <a:ea typeface="Meiryo UI" pitchFamily="34" charset="-122"/>
                <a:cs typeface="Meiryo UI" pitchFamily="34" charset="-120"/>
              </a:rPr>
              <a:t>自動</a:t>
            </a:r>
            <a:endParaRPr lang="en-US" sz="850" dirty="0"/>
          </a:p>
        </p:txBody>
      </p:sp>
      <p:sp>
        <p:nvSpPr>
          <p:cNvPr id="209" name="Shape 207"/>
          <p:cNvSpPr/>
          <p:nvPr/>
        </p:nvSpPr>
        <p:spPr>
          <a:xfrm>
            <a:off x="8333613" y="5052060"/>
            <a:ext cx="986409" cy="260604"/>
          </a:xfrm>
          <a:prstGeom prst="roundRect">
            <a:avLst>
              <a:gd name="adj" fmla="val 17544"/>
            </a:avLst>
          </a:prstGeom>
          <a:solidFill>
            <a:srgbClr val="0E9F9A"/>
          </a:solidFill>
          <a:ln/>
        </p:spPr>
      </p:sp>
      <p:sp>
        <p:nvSpPr>
          <p:cNvPr id="210" name="Text 208"/>
          <p:cNvSpPr txBox="1"/>
          <p:nvPr/>
        </p:nvSpPr>
        <p:spPr>
          <a:xfrm>
            <a:off x="8333613" y="5052060"/>
            <a:ext cx="986409" cy="260604"/>
          </a:xfrm>
          <a:prstGeom prst="rect">
            <a:avLst/>
          </a:prstGeom>
          <a:noFill/>
          <a:ln/>
        </p:spPr>
        <p:txBody>
          <a:bodyPr wrap="square" lIns="0" tIns="0" rIns="0" bIns="0" rtlCol="0" anchor="ctr"/>
          <a:lstStyle/>
          <a:p>
            <a:pPr algn="ctr" indent="0" marL="0">
              <a:buNone/>
            </a:pPr>
            <a:r>
              <a:rPr lang="en-US" sz="850" b="1" dirty="0">
                <a:solidFill>
                  <a:srgbClr val="FFFFFF"/>
                </a:solidFill>
                <a:latin typeface="Meiryo UI" pitchFamily="34" charset="0"/>
                <a:ea typeface="Meiryo UI" pitchFamily="34" charset="-122"/>
                <a:cs typeface="Meiryo UI" pitchFamily="34" charset="-120"/>
              </a:rPr>
              <a:t>自動</a:t>
            </a:r>
            <a:endParaRPr lang="en-US" sz="850" dirty="0"/>
          </a:p>
        </p:txBody>
      </p:sp>
      <p:sp>
        <p:nvSpPr>
          <p:cNvPr id="211" name="Shape 209"/>
          <p:cNvSpPr/>
          <p:nvPr/>
        </p:nvSpPr>
        <p:spPr>
          <a:xfrm>
            <a:off x="9448038" y="5052060"/>
            <a:ext cx="986409" cy="260604"/>
          </a:xfrm>
          <a:prstGeom prst="roundRect">
            <a:avLst>
              <a:gd name="adj" fmla="val 17544"/>
            </a:avLst>
          </a:prstGeom>
          <a:solidFill>
            <a:srgbClr val="FDEBD3"/>
          </a:solidFill>
          <a:ln/>
        </p:spPr>
      </p:sp>
      <p:sp>
        <p:nvSpPr>
          <p:cNvPr id="212" name="Text 210"/>
          <p:cNvSpPr txBox="1"/>
          <p:nvPr/>
        </p:nvSpPr>
        <p:spPr>
          <a:xfrm>
            <a:off x="9448038" y="5052060"/>
            <a:ext cx="986409" cy="260604"/>
          </a:xfrm>
          <a:prstGeom prst="rect">
            <a:avLst/>
          </a:prstGeom>
          <a:noFill/>
          <a:ln/>
        </p:spPr>
        <p:txBody>
          <a:bodyPr wrap="square" lIns="0" tIns="0" rIns="0" bIns="0" rtlCol="0" anchor="ctr"/>
          <a:lstStyle/>
          <a:p>
            <a:pPr algn="ctr" indent="0" marL="0">
              <a:buNone/>
            </a:pPr>
            <a:r>
              <a:rPr lang="en-US" sz="850" b="1" dirty="0">
                <a:solidFill>
                  <a:srgbClr val="E8912D"/>
                </a:solidFill>
                <a:latin typeface="Meiryo UI" pitchFamily="34" charset="0"/>
                <a:ea typeface="Meiryo UI" pitchFamily="34" charset="-122"/>
                <a:cs typeface="Meiryo UI" pitchFamily="34" charset="-120"/>
              </a:rPr>
              <a:t>人＋仕組み</a:t>
            </a:r>
            <a:endParaRPr lang="en-US" sz="850" dirty="0"/>
          </a:p>
        </p:txBody>
      </p:sp>
      <p:sp>
        <p:nvSpPr>
          <p:cNvPr id="213" name="Shape 211"/>
          <p:cNvSpPr/>
          <p:nvPr/>
        </p:nvSpPr>
        <p:spPr>
          <a:xfrm>
            <a:off x="10562463" y="5052060"/>
            <a:ext cx="986409" cy="260604"/>
          </a:xfrm>
          <a:prstGeom prst="roundRect">
            <a:avLst>
              <a:gd name="adj" fmla="val 17544"/>
            </a:avLst>
          </a:prstGeom>
          <a:solidFill>
            <a:srgbClr val="FFFFFF"/>
          </a:solidFill>
          <a:ln w="12700">
            <a:solidFill>
              <a:srgbClr val="9AA5B4"/>
            </a:solidFill>
            <a:prstDash val="dash"/>
          </a:ln>
        </p:spPr>
      </p:sp>
      <p:sp>
        <p:nvSpPr>
          <p:cNvPr id="214" name="Text 212"/>
          <p:cNvSpPr txBox="1"/>
          <p:nvPr/>
        </p:nvSpPr>
        <p:spPr>
          <a:xfrm>
            <a:off x="10562463" y="5052060"/>
            <a:ext cx="986409" cy="260604"/>
          </a:xfrm>
          <a:prstGeom prst="rect">
            <a:avLst/>
          </a:prstGeom>
          <a:noFill/>
          <a:ln/>
        </p:spPr>
        <p:txBody>
          <a:bodyPr wrap="square" lIns="0" tIns="0" rIns="0" bIns="0" rtlCol="0" anchor="ctr"/>
          <a:lstStyle/>
          <a:p>
            <a:pPr algn="ctr" indent="0" marL="0">
              <a:buNone/>
            </a:pPr>
            <a:r>
              <a:rPr lang="en-US" sz="850" b="1" dirty="0">
                <a:solidFill>
                  <a:srgbClr val="6B7280"/>
                </a:solidFill>
                <a:latin typeface="Meiryo UI" pitchFamily="34" charset="0"/>
                <a:ea typeface="Meiryo UI" pitchFamily="34" charset="-122"/>
                <a:cs typeface="Meiryo UI" pitchFamily="34" charset="-120"/>
              </a:rPr>
              <a:t>拡張可</a:t>
            </a:r>
            <a:endParaRPr lang="en-US" sz="850" dirty="0"/>
          </a:p>
        </p:txBody>
      </p:sp>
      <p:sp>
        <p:nvSpPr>
          <p:cNvPr id="215" name="Shape 213"/>
          <p:cNvSpPr/>
          <p:nvPr/>
        </p:nvSpPr>
        <p:spPr>
          <a:xfrm>
            <a:off x="566928" y="5376672"/>
            <a:ext cx="265176" cy="265176"/>
          </a:xfrm>
          <a:prstGeom prst="ellipse">
            <a:avLst/>
          </a:prstGeom>
          <a:solidFill>
            <a:srgbClr val="4285F4"/>
          </a:solidFill>
          <a:ln/>
        </p:spPr>
      </p:sp>
      <p:sp>
        <p:nvSpPr>
          <p:cNvPr id="216" name="Text 214"/>
          <p:cNvSpPr txBox="1"/>
          <p:nvPr/>
        </p:nvSpPr>
        <p:spPr>
          <a:xfrm>
            <a:off x="566928" y="5376672"/>
            <a:ext cx="265176" cy="265176"/>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B3</a:t>
            </a:r>
            <a:endParaRPr lang="en-US" sz="1100" dirty="0"/>
          </a:p>
        </p:txBody>
      </p:sp>
      <p:sp>
        <p:nvSpPr>
          <p:cNvPr id="217" name="Text 215"/>
          <p:cNvSpPr txBox="1"/>
          <p:nvPr/>
        </p:nvSpPr>
        <p:spPr>
          <a:xfrm>
            <a:off x="896112" y="5349240"/>
            <a:ext cx="1801368" cy="297180"/>
          </a:xfrm>
          <a:prstGeom prst="rect">
            <a:avLst/>
          </a:prstGeom>
          <a:noFill/>
          <a:ln/>
        </p:spPr>
        <p:txBody>
          <a:bodyPr wrap="square" lIns="0" tIns="0" rIns="0" bIns="0" rtlCol="0" anchor="ctr"/>
          <a:lstStyle/>
          <a:p>
            <a:pPr indent="0" marL="0">
              <a:buNone/>
            </a:pPr>
            <a:r>
              <a:rPr lang="en-US" sz="900" b="1" dirty="0">
                <a:solidFill>
                  <a:srgbClr val="1B2A49"/>
                </a:solidFill>
                <a:latin typeface="Meiryo UI" pitchFamily="34" charset="0"/>
                <a:ea typeface="Meiryo UI" pitchFamily="34" charset="-122"/>
                <a:cs typeface="Meiryo UI" pitchFamily="34" charset="-120"/>
              </a:rPr>
              <a:t>スクラッチ開発</a:t>
            </a:r>
            <a:endParaRPr lang="en-US" sz="900" dirty="0"/>
          </a:p>
        </p:txBody>
      </p:sp>
      <p:sp>
        <p:nvSpPr>
          <p:cNvPr id="218" name="Shape 216"/>
          <p:cNvSpPr/>
          <p:nvPr/>
        </p:nvSpPr>
        <p:spPr>
          <a:xfrm>
            <a:off x="2761488" y="5376672"/>
            <a:ext cx="986409" cy="260604"/>
          </a:xfrm>
          <a:prstGeom prst="roundRect">
            <a:avLst>
              <a:gd name="adj" fmla="val 17544"/>
            </a:avLst>
          </a:prstGeom>
          <a:solidFill>
            <a:srgbClr val="0E9F9A"/>
          </a:solidFill>
          <a:ln/>
        </p:spPr>
      </p:sp>
      <p:sp>
        <p:nvSpPr>
          <p:cNvPr id="219" name="Text 217"/>
          <p:cNvSpPr txBox="1"/>
          <p:nvPr/>
        </p:nvSpPr>
        <p:spPr>
          <a:xfrm>
            <a:off x="2761488" y="5376672"/>
            <a:ext cx="986409" cy="260604"/>
          </a:xfrm>
          <a:prstGeom prst="rect">
            <a:avLst/>
          </a:prstGeom>
          <a:noFill/>
          <a:ln/>
        </p:spPr>
        <p:txBody>
          <a:bodyPr wrap="square" lIns="0" tIns="0" rIns="0" bIns="0" rtlCol="0" anchor="ctr"/>
          <a:lstStyle/>
          <a:p>
            <a:pPr algn="ctr" indent="0" marL="0">
              <a:buNone/>
            </a:pPr>
            <a:r>
              <a:rPr lang="en-US" sz="850" b="1" dirty="0">
                <a:solidFill>
                  <a:srgbClr val="FFFFFF"/>
                </a:solidFill>
                <a:latin typeface="Meiryo UI" pitchFamily="34" charset="0"/>
                <a:ea typeface="Meiryo UI" pitchFamily="34" charset="-122"/>
                <a:cs typeface="Meiryo UI" pitchFamily="34" charset="-120"/>
              </a:rPr>
              <a:t>自動</a:t>
            </a:r>
            <a:endParaRPr lang="en-US" sz="850" dirty="0"/>
          </a:p>
        </p:txBody>
      </p:sp>
      <p:sp>
        <p:nvSpPr>
          <p:cNvPr id="220" name="Shape 218"/>
          <p:cNvSpPr/>
          <p:nvPr/>
        </p:nvSpPr>
        <p:spPr>
          <a:xfrm>
            <a:off x="3875913" y="5376672"/>
            <a:ext cx="986409" cy="260604"/>
          </a:xfrm>
          <a:prstGeom prst="roundRect">
            <a:avLst>
              <a:gd name="adj" fmla="val 17544"/>
            </a:avLst>
          </a:prstGeom>
          <a:solidFill>
            <a:srgbClr val="FFFFFF"/>
          </a:solidFill>
          <a:ln w="12700">
            <a:solidFill>
              <a:srgbClr val="9AA5B4"/>
            </a:solidFill>
            <a:prstDash val="dash"/>
          </a:ln>
        </p:spPr>
      </p:sp>
      <p:sp>
        <p:nvSpPr>
          <p:cNvPr id="221" name="Text 219"/>
          <p:cNvSpPr txBox="1"/>
          <p:nvPr/>
        </p:nvSpPr>
        <p:spPr>
          <a:xfrm>
            <a:off x="3875913" y="5376672"/>
            <a:ext cx="986409" cy="260604"/>
          </a:xfrm>
          <a:prstGeom prst="rect">
            <a:avLst/>
          </a:prstGeom>
          <a:noFill/>
          <a:ln/>
        </p:spPr>
        <p:txBody>
          <a:bodyPr wrap="square" lIns="0" tIns="0" rIns="0" bIns="0" rtlCol="0" anchor="ctr"/>
          <a:lstStyle/>
          <a:p>
            <a:pPr algn="ctr" indent="0" marL="0">
              <a:buNone/>
            </a:pPr>
            <a:r>
              <a:rPr lang="en-US" sz="850" b="1" dirty="0">
                <a:solidFill>
                  <a:srgbClr val="6B7280"/>
                </a:solidFill>
                <a:latin typeface="Meiryo UI" pitchFamily="34" charset="0"/>
                <a:ea typeface="Meiryo UI" pitchFamily="34" charset="-122"/>
                <a:cs typeface="Meiryo UI" pitchFamily="34" charset="-120"/>
              </a:rPr>
              <a:t>拡張可</a:t>
            </a:r>
            <a:endParaRPr lang="en-US" sz="850" dirty="0"/>
          </a:p>
        </p:txBody>
      </p:sp>
      <p:sp>
        <p:nvSpPr>
          <p:cNvPr id="222" name="Shape 220"/>
          <p:cNvSpPr/>
          <p:nvPr/>
        </p:nvSpPr>
        <p:spPr>
          <a:xfrm>
            <a:off x="4990338" y="5376672"/>
            <a:ext cx="986409" cy="260604"/>
          </a:xfrm>
          <a:prstGeom prst="roundRect">
            <a:avLst>
              <a:gd name="adj" fmla="val 17544"/>
            </a:avLst>
          </a:prstGeom>
          <a:solidFill>
            <a:srgbClr val="0E9F9A"/>
          </a:solidFill>
          <a:ln/>
        </p:spPr>
      </p:sp>
      <p:sp>
        <p:nvSpPr>
          <p:cNvPr id="223" name="Text 221"/>
          <p:cNvSpPr txBox="1"/>
          <p:nvPr/>
        </p:nvSpPr>
        <p:spPr>
          <a:xfrm>
            <a:off x="4990338" y="5376672"/>
            <a:ext cx="986409" cy="260604"/>
          </a:xfrm>
          <a:prstGeom prst="rect">
            <a:avLst/>
          </a:prstGeom>
          <a:noFill/>
          <a:ln/>
        </p:spPr>
        <p:txBody>
          <a:bodyPr wrap="square" lIns="0" tIns="0" rIns="0" bIns="0" rtlCol="0" anchor="ctr"/>
          <a:lstStyle/>
          <a:p>
            <a:pPr algn="ctr" indent="0" marL="0">
              <a:buNone/>
            </a:pPr>
            <a:r>
              <a:rPr lang="en-US" sz="850" b="1" dirty="0">
                <a:solidFill>
                  <a:srgbClr val="FFFFFF"/>
                </a:solidFill>
                <a:latin typeface="Meiryo UI" pitchFamily="34" charset="0"/>
                <a:ea typeface="Meiryo UI" pitchFamily="34" charset="-122"/>
                <a:cs typeface="Meiryo UI" pitchFamily="34" charset="-120"/>
              </a:rPr>
              <a:t>自動</a:t>
            </a:r>
            <a:endParaRPr lang="en-US" sz="850" dirty="0"/>
          </a:p>
        </p:txBody>
      </p:sp>
      <p:sp>
        <p:nvSpPr>
          <p:cNvPr id="224" name="Shape 222"/>
          <p:cNvSpPr/>
          <p:nvPr/>
        </p:nvSpPr>
        <p:spPr>
          <a:xfrm>
            <a:off x="6104763" y="5376672"/>
            <a:ext cx="986409" cy="260604"/>
          </a:xfrm>
          <a:prstGeom prst="roundRect">
            <a:avLst>
              <a:gd name="adj" fmla="val 17544"/>
            </a:avLst>
          </a:prstGeom>
          <a:solidFill>
            <a:srgbClr val="0E9F9A"/>
          </a:solidFill>
          <a:ln/>
        </p:spPr>
      </p:sp>
      <p:sp>
        <p:nvSpPr>
          <p:cNvPr id="225" name="Text 223"/>
          <p:cNvSpPr txBox="1"/>
          <p:nvPr/>
        </p:nvSpPr>
        <p:spPr>
          <a:xfrm>
            <a:off x="6104763" y="5376672"/>
            <a:ext cx="986409" cy="260604"/>
          </a:xfrm>
          <a:prstGeom prst="rect">
            <a:avLst/>
          </a:prstGeom>
          <a:noFill/>
          <a:ln/>
        </p:spPr>
        <p:txBody>
          <a:bodyPr wrap="square" lIns="0" tIns="0" rIns="0" bIns="0" rtlCol="0" anchor="ctr"/>
          <a:lstStyle/>
          <a:p>
            <a:pPr algn="ctr" indent="0" marL="0">
              <a:buNone/>
            </a:pPr>
            <a:r>
              <a:rPr lang="en-US" sz="850" b="1" dirty="0">
                <a:solidFill>
                  <a:srgbClr val="FFFFFF"/>
                </a:solidFill>
                <a:latin typeface="Meiryo UI" pitchFamily="34" charset="0"/>
                <a:ea typeface="Meiryo UI" pitchFamily="34" charset="-122"/>
                <a:cs typeface="Meiryo UI" pitchFamily="34" charset="-120"/>
              </a:rPr>
              <a:t>自動</a:t>
            </a:r>
            <a:endParaRPr lang="en-US" sz="850" dirty="0"/>
          </a:p>
        </p:txBody>
      </p:sp>
      <p:sp>
        <p:nvSpPr>
          <p:cNvPr id="226" name="Shape 224"/>
          <p:cNvSpPr/>
          <p:nvPr/>
        </p:nvSpPr>
        <p:spPr>
          <a:xfrm>
            <a:off x="7219188" y="5376672"/>
            <a:ext cx="986409" cy="260604"/>
          </a:xfrm>
          <a:prstGeom prst="roundRect">
            <a:avLst>
              <a:gd name="adj" fmla="val 17544"/>
            </a:avLst>
          </a:prstGeom>
          <a:solidFill>
            <a:srgbClr val="0E9F9A"/>
          </a:solidFill>
          <a:ln/>
        </p:spPr>
      </p:sp>
      <p:sp>
        <p:nvSpPr>
          <p:cNvPr id="227" name="Text 225"/>
          <p:cNvSpPr txBox="1"/>
          <p:nvPr/>
        </p:nvSpPr>
        <p:spPr>
          <a:xfrm>
            <a:off x="7219188" y="5376672"/>
            <a:ext cx="986409" cy="260604"/>
          </a:xfrm>
          <a:prstGeom prst="rect">
            <a:avLst/>
          </a:prstGeom>
          <a:noFill/>
          <a:ln/>
        </p:spPr>
        <p:txBody>
          <a:bodyPr wrap="square" lIns="0" tIns="0" rIns="0" bIns="0" rtlCol="0" anchor="ctr"/>
          <a:lstStyle/>
          <a:p>
            <a:pPr algn="ctr" indent="0" marL="0">
              <a:buNone/>
            </a:pPr>
            <a:r>
              <a:rPr lang="en-US" sz="850" b="1" dirty="0">
                <a:solidFill>
                  <a:srgbClr val="FFFFFF"/>
                </a:solidFill>
                <a:latin typeface="Meiryo UI" pitchFamily="34" charset="0"/>
                <a:ea typeface="Meiryo UI" pitchFamily="34" charset="-122"/>
                <a:cs typeface="Meiryo UI" pitchFamily="34" charset="-120"/>
              </a:rPr>
              <a:t>自動</a:t>
            </a:r>
            <a:endParaRPr lang="en-US" sz="850" dirty="0"/>
          </a:p>
        </p:txBody>
      </p:sp>
      <p:sp>
        <p:nvSpPr>
          <p:cNvPr id="228" name="Shape 226"/>
          <p:cNvSpPr/>
          <p:nvPr/>
        </p:nvSpPr>
        <p:spPr>
          <a:xfrm>
            <a:off x="8333613" y="5376672"/>
            <a:ext cx="986409" cy="260604"/>
          </a:xfrm>
          <a:prstGeom prst="roundRect">
            <a:avLst>
              <a:gd name="adj" fmla="val 17544"/>
            </a:avLst>
          </a:prstGeom>
          <a:solidFill>
            <a:srgbClr val="0E9F9A"/>
          </a:solidFill>
          <a:ln/>
        </p:spPr>
      </p:sp>
      <p:sp>
        <p:nvSpPr>
          <p:cNvPr id="229" name="Text 227"/>
          <p:cNvSpPr txBox="1"/>
          <p:nvPr/>
        </p:nvSpPr>
        <p:spPr>
          <a:xfrm>
            <a:off x="8333613" y="5376672"/>
            <a:ext cx="986409" cy="260604"/>
          </a:xfrm>
          <a:prstGeom prst="rect">
            <a:avLst/>
          </a:prstGeom>
          <a:noFill/>
          <a:ln/>
        </p:spPr>
        <p:txBody>
          <a:bodyPr wrap="square" lIns="0" tIns="0" rIns="0" bIns="0" rtlCol="0" anchor="ctr"/>
          <a:lstStyle/>
          <a:p>
            <a:pPr algn="ctr" indent="0" marL="0">
              <a:buNone/>
            </a:pPr>
            <a:r>
              <a:rPr lang="en-US" sz="850" b="1" dirty="0">
                <a:solidFill>
                  <a:srgbClr val="FFFFFF"/>
                </a:solidFill>
                <a:latin typeface="Meiryo UI" pitchFamily="34" charset="0"/>
                <a:ea typeface="Meiryo UI" pitchFamily="34" charset="-122"/>
                <a:cs typeface="Meiryo UI" pitchFamily="34" charset="-120"/>
              </a:rPr>
              <a:t>自動</a:t>
            </a:r>
            <a:endParaRPr lang="en-US" sz="850" dirty="0"/>
          </a:p>
        </p:txBody>
      </p:sp>
      <p:sp>
        <p:nvSpPr>
          <p:cNvPr id="230" name="Shape 228"/>
          <p:cNvSpPr/>
          <p:nvPr/>
        </p:nvSpPr>
        <p:spPr>
          <a:xfrm>
            <a:off x="9448038" y="5376672"/>
            <a:ext cx="986409" cy="260604"/>
          </a:xfrm>
          <a:prstGeom prst="roundRect">
            <a:avLst>
              <a:gd name="adj" fmla="val 17544"/>
            </a:avLst>
          </a:prstGeom>
          <a:solidFill>
            <a:srgbClr val="FDEBD3"/>
          </a:solidFill>
          <a:ln/>
        </p:spPr>
      </p:sp>
      <p:sp>
        <p:nvSpPr>
          <p:cNvPr id="231" name="Text 229"/>
          <p:cNvSpPr txBox="1"/>
          <p:nvPr/>
        </p:nvSpPr>
        <p:spPr>
          <a:xfrm>
            <a:off x="9448038" y="5376672"/>
            <a:ext cx="986409" cy="260604"/>
          </a:xfrm>
          <a:prstGeom prst="rect">
            <a:avLst/>
          </a:prstGeom>
          <a:noFill/>
          <a:ln/>
        </p:spPr>
        <p:txBody>
          <a:bodyPr wrap="square" lIns="0" tIns="0" rIns="0" bIns="0" rtlCol="0" anchor="ctr"/>
          <a:lstStyle/>
          <a:p>
            <a:pPr algn="ctr" indent="0" marL="0">
              <a:buNone/>
            </a:pPr>
            <a:r>
              <a:rPr lang="en-US" sz="850" b="1" dirty="0">
                <a:solidFill>
                  <a:srgbClr val="E8912D"/>
                </a:solidFill>
                <a:latin typeface="Meiryo UI" pitchFamily="34" charset="0"/>
                <a:ea typeface="Meiryo UI" pitchFamily="34" charset="-122"/>
                <a:cs typeface="Meiryo UI" pitchFamily="34" charset="-120"/>
              </a:rPr>
              <a:t>人＋仕組み</a:t>
            </a:r>
            <a:endParaRPr lang="en-US" sz="850" dirty="0"/>
          </a:p>
        </p:txBody>
      </p:sp>
      <p:sp>
        <p:nvSpPr>
          <p:cNvPr id="232" name="Shape 230"/>
          <p:cNvSpPr/>
          <p:nvPr/>
        </p:nvSpPr>
        <p:spPr>
          <a:xfrm>
            <a:off x="10562463" y="5376672"/>
            <a:ext cx="986409" cy="260604"/>
          </a:xfrm>
          <a:prstGeom prst="roundRect">
            <a:avLst>
              <a:gd name="adj" fmla="val 17544"/>
            </a:avLst>
          </a:prstGeom>
          <a:solidFill>
            <a:srgbClr val="FFFFFF"/>
          </a:solidFill>
          <a:ln w="12700">
            <a:solidFill>
              <a:srgbClr val="9AA5B4"/>
            </a:solidFill>
            <a:prstDash val="dash"/>
          </a:ln>
        </p:spPr>
      </p:sp>
      <p:sp>
        <p:nvSpPr>
          <p:cNvPr id="233" name="Text 231"/>
          <p:cNvSpPr txBox="1"/>
          <p:nvPr/>
        </p:nvSpPr>
        <p:spPr>
          <a:xfrm>
            <a:off x="10562463" y="5376672"/>
            <a:ext cx="986409" cy="260604"/>
          </a:xfrm>
          <a:prstGeom prst="rect">
            <a:avLst/>
          </a:prstGeom>
          <a:noFill/>
          <a:ln/>
        </p:spPr>
        <p:txBody>
          <a:bodyPr wrap="square" lIns="0" tIns="0" rIns="0" bIns="0" rtlCol="0" anchor="ctr"/>
          <a:lstStyle/>
          <a:p>
            <a:pPr algn="ctr" indent="0" marL="0">
              <a:buNone/>
            </a:pPr>
            <a:r>
              <a:rPr lang="en-US" sz="850" b="1" dirty="0">
                <a:solidFill>
                  <a:srgbClr val="6B7280"/>
                </a:solidFill>
                <a:latin typeface="Meiryo UI" pitchFamily="34" charset="0"/>
                <a:ea typeface="Meiryo UI" pitchFamily="34" charset="-122"/>
                <a:cs typeface="Meiryo UI" pitchFamily="34" charset="-120"/>
              </a:rPr>
              <a:t>拡張可</a:t>
            </a:r>
            <a:endParaRPr lang="en-US" sz="850" dirty="0"/>
          </a:p>
        </p:txBody>
      </p:sp>
      <p:sp>
        <p:nvSpPr>
          <p:cNvPr id="234" name="Shape 232"/>
          <p:cNvSpPr/>
          <p:nvPr/>
        </p:nvSpPr>
        <p:spPr>
          <a:xfrm>
            <a:off x="548640" y="5664708"/>
            <a:ext cx="11064240" cy="0"/>
          </a:xfrm>
          <a:prstGeom prst="line">
            <a:avLst/>
          </a:prstGeom>
          <a:noFill/>
          <a:ln w="12700">
            <a:solidFill>
              <a:srgbClr val="D5DBE3"/>
            </a:solidFill>
            <a:prstDash val="solid"/>
          </a:ln>
        </p:spPr>
      </p:sp>
      <p:sp>
        <p:nvSpPr>
          <p:cNvPr id="235" name="Shape 233"/>
          <p:cNvSpPr/>
          <p:nvPr/>
        </p:nvSpPr>
        <p:spPr>
          <a:xfrm>
            <a:off x="566928" y="5701284"/>
            <a:ext cx="265176" cy="265176"/>
          </a:xfrm>
          <a:prstGeom prst="ellipse">
            <a:avLst/>
          </a:prstGeom>
          <a:solidFill>
            <a:srgbClr val="C77700"/>
          </a:solidFill>
          <a:ln/>
        </p:spPr>
      </p:sp>
      <p:sp>
        <p:nvSpPr>
          <p:cNvPr id="236" name="Text 234"/>
          <p:cNvSpPr txBox="1"/>
          <p:nvPr/>
        </p:nvSpPr>
        <p:spPr>
          <a:xfrm>
            <a:off x="566928" y="5701284"/>
            <a:ext cx="265176" cy="265176"/>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C1</a:t>
            </a:r>
            <a:endParaRPr lang="en-US" sz="1100" dirty="0"/>
          </a:p>
        </p:txBody>
      </p:sp>
      <p:sp>
        <p:nvSpPr>
          <p:cNvPr id="237" name="Text 235"/>
          <p:cNvSpPr txBox="1"/>
          <p:nvPr/>
        </p:nvSpPr>
        <p:spPr>
          <a:xfrm>
            <a:off x="896112" y="5673852"/>
            <a:ext cx="1801368" cy="297180"/>
          </a:xfrm>
          <a:prstGeom prst="rect">
            <a:avLst/>
          </a:prstGeom>
          <a:noFill/>
          <a:ln/>
        </p:spPr>
        <p:txBody>
          <a:bodyPr wrap="square" lIns="0" tIns="0" rIns="0" bIns="0" rtlCol="0" anchor="ctr"/>
          <a:lstStyle/>
          <a:p>
            <a:pPr indent="0" marL="0">
              <a:buNone/>
            </a:pPr>
            <a:r>
              <a:rPr lang="en-US" sz="900" b="1" dirty="0">
                <a:solidFill>
                  <a:srgbClr val="1B2A49"/>
                </a:solidFill>
                <a:latin typeface="Meiryo UI" pitchFamily="34" charset="0"/>
                <a:ea typeface="Meiryo UI" pitchFamily="34" charset="-122"/>
                <a:cs typeface="Meiryo UI" pitchFamily="34" charset="-120"/>
              </a:rPr>
              <a:t>Airtable標準のAI</a:t>
            </a:r>
            <a:endParaRPr lang="en-US" sz="900" dirty="0"/>
          </a:p>
        </p:txBody>
      </p:sp>
      <p:sp>
        <p:nvSpPr>
          <p:cNvPr id="238" name="Shape 236"/>
          <p:cNvSpPr/>
          <p:nvPr/>
        </p:nvSpPr>
        <p:spPr>
          <a:xfrm>
            <a:off x="2761488" y="5701284"/>
            <a:ext cx="986409" cy="260604"/>
          </a:xfrm>
          <a:prstGeom prst="roundRect">
            <a:avLst>
              <a:gd name="adj" fmla="val 17544"/>
            </a:avLst>
          </a:prstGeom>
          <a:solidFill>
            <a:srgbClr val="F3F5F8"/>
          </a:solidFill>
          <a:ln/>
        </p:spPr>
      </p:sp>
      <p:sp>
        <p:nvSpPr>
          <p:cNvPr id="239" name="Text 237"/>
          <p:cNvSpPr txBox="1"/>
          <p:nvPr/>
        </p:nvSpPr>
        <p:spPr>
          <a:xfrm>
            <a:off x="2761488" y="5701284"/>
            <a:ext cx="986409" cy="260604"/>
          </a:xfrm>
          <a:prstGeom prst="rect">
            <a:avLst/>
          </a:prstGeom>
          <a:noFill/>
          <a:ln/>
        </p:spPr>
        <p:txBody>
          <a:bodyPr wrap="square" lIns="0" tIns="0" rIns="0" bIns="0" rtlCol="0" anchor="ctr"/>
          <a:lstStyle/>
          <a:p>
            <a:pPr algn="ctr" indent="0" marL="0">
              <a:buNone/>
            </a:pPr>
            <a:r>
              <a:rPr lang="en-US" sz="850" dirty="0">
                <a:solidFill>
                  <a:srgbClr val="6B7280"/>
                </a:solidFill>
                <a:latin typeface="Meiryo UI" pitchFamily="34" charset="0"/>
                <a:ea typeface="Meiryo UI" pitchFamily="34" charset="-122"/>
                <a:cs typeface="Meiryo UI" pitchFamily="34" charset="-120"/>
              </a:rPr>
              <a:t>人</a:t>
            </a:r>
            <a:endParaRPr lang="en-US" sz="850" dirty="0"/>
          </a:p>
        </p:txBody>
      </p:sp>
      <p:sp>
        <p:nvSpPr>
          <p:cNvPr id="240" name="Shape 238"/>
          <p:cNvSpPr/>
          <p:nvPr/>
        </p:nvSpPr>
        <p:spPr>
          <a:xfrm>
            <a:off x="3875913" y="5701284"/>
            <a:ext cx="986409" cy="260604"/>
          </a:xfrm>
          <a:prstGeom prst="roundRect">
            <a:avLst>
              <a:gd name="adj" fmla="val 17544"/>
            </a:avLst>
          </a:prstGeom>
          <a:solidFill>
            <a:srgbClr val="F3F5F8"/>
          </a:solidFill>
          <a:ln/>
        </p:spPr>
      </p:sp>
      <p:sp>
        <p:nvSpPr>
          <p:cNvPr id="241" name="Text 239"/>
          <p:cNvSpPr txBox="1"/>
          <p:nvPr/>
        </p:nvSpPr>
        <p:spPr>
          <a:xfrm>
            <a:off x="3875913" y="5701284"/>
            <a:ext cx="986409" cy="260604"/>
          </a:xfrm>
          <a:prstGeom prst="rect">
            <a:avLst/>
          </a:prstGeom>
          <a:noFill/>
          <a:ln/>
        </p:spPr>
        <p:txBody>
          <a:bodyPr wrap="square" lIns="0" tIns="0" rIns="0" bIns="0" rtlCol="0" anchor="ctr"/>
          <a:lstStyle/>
          <a:p>
            <a:pPr algn="ctr" indent="0" marL="0">
              <a:buNone/>
            </a:pPr>
            <a:r>
              <a:rPr lang="en-US" sz="850" dirty="0">
                <a:solidFill>
                  <a:srgbClr val="6B7280"/>
                </a:solidFill>
                <a:latin typeface="Meiryo UI" pitchFamily="34" charset="0"/>
                <a:ea typeface="Meiryo UI" pitchFamily="34" charset="-122"/>
                <a:cs typeface="Meiryo UI" pitchFamily="34" charset="-120"/>
              </a:rPr>
              <a:t>人</a:t>
            </a:r>
            <a:endParaRPr lang="en-US" sz="850" dirty="0"/>
          </a:p>
        </p:txBody>
      </p:sp>
      <p:sp>
        <p:nvSpPr>
          <p:cNvPr id="242" name="Shape 240"/>
          <p:cNvSpPr/>
          <p:nvPr/>
        </p:nvSpPr>
        <p:spPr>
          <a:xfrm>
            <a:off x="4990338" y="5701284"/>
            <a:ext cx="986409" cy="260604"/>
          </a:xfrm>
          <a:prstGeom prst="roundRect">
            <a:avLst>
              <a:gd name="adj" fmla="val 17544"/>
            </a:avLst>
          </a:prstGeom>
          <a:solidFill>
            <a:srgbClr val="0E9F9A"/>
          </a:solidFill>
          <a:ln/>
        </p:spPr>
      </p:sp>
      <p:sp>
        <p:nvSpPr>
          <p:cNvPr id="243" name="Text 241"/>
          <p:cNvSpPr txBox="1"/>
          <p:nvPr/>
        </p:nvSpPr>
        <p:spPr>
          <a:xfrm>
            <a:off x="4990338" y="5701284"/>
            <a:ext cx="986409" cy="260604"/>
          </a:xfrm>
          <a:prstGeom prst="rect">
            <a:avLst/>
          </a:prstGeom>
          <a:noFill/>
          <a:ln/>
        </p:spPr>
        <p:txBody>
          <a:bodyPr wrap="square" lIns="0" tIns="0" rIns="0" bIns="0" rtlCol="0" anchor="ctr"/>
          <a:lstStyle/>
          <a:p>
            <a:pPr algn="ctr" indent="0" marL="0">
              <a:buNone/>
            </a:pPr>
            <a:r>
              <a:rPr lang="en-US" sz="850" b="1" dirty="0">
                <a:solidFill>
                  <a:srgbClr val="FFFFFF"/>
                </a:solidFill>
                <a:latin typeface="Meiryo UI" pitchFamily="34" charset="0"/>
                <a:ea typeface="Meiryo UI" pitchFamily="34" charset="-122"/>
                <a:cs typeface="Meiryo UI" pitchFamily="34" charset="-120"/>
              </a:rPr>
              <a:t>自動</a:t>
            </a:r>
            <a:endParaRPr lang="en-US" sz="850" dirty="0"/>
          </a:p>
        </p:txBody>
      </p:sp>
      <p:sp>
        <p:nvSpPr>
          <p:cNvPr id="244" name="Shape 242"/>
          <p:cNvSpPr/>
          <p:nvPr/>
        </p:nvSpPr>
        <p:spPr>
          <a:xfrm>
            <a:off x="6104763" y="5701284"/>
            <a:ext cx="986409" cy="260604"/>
          </a:xfrm>
          <a:prstGeom prst="roundRect">
            <a:avLst>
              <a:gd name="adj" fmla="val 17544"/>
            </a:avLst>
          </a:prstGeom>
          <a:solidFill>
            <a:srgbClr val="0E9F9A"/>
          </a:solidFill>
          <a:ln/>
        </p:spPr>
      </p:sp>
      <p:sp>
        <p:nvSpPr>
          <p:cNvPr id="245" name="Text 243"/>
          <p:cNvSpPr txBox="1"/>
          <p:nvPr/>
        </p:nvSpPr>
        <p:spPr>
          <a:xfrm>
            <a:off x="6104763" y="5701284"/>
            <a:ext cx="986409" cy="260604"/>
          </a:xfrm>
          <a:prstGeom prst="rect">
            <a:avLst/>
          </a:prstGeom>
          <a:noFill/>
          <a:ln/>
        </p:spPr>
        <p:txBody>
          <a:bodyPr wrap="square" lIns="0" tIns="0" rIns="0" bIns="0" rtlCol="0" anchor="ctr"/>
          <a:lstStyle/>
          <a:p>
            <a:pPr algn="ctr" indent="0" marL="0">
              <a:buNone/>
            </a:pPr>
            <a:r>
              <a:rPr lang="en-US" sz="850" b="1" dirty="0">
                <a:solidFill>
                  <a:srgbClr val="FFFFFF"/>
                </a:solidFill>
                <a:latin typeface="Meiryo UI" pitchFamily="34" charset="0"/>
                <a:ea typeface="Meiryo UI" pitchFamily="34" charset="-122"/>
                <a:cs typeface="Meiryo UI" pitchFamily="34" charset="-120"/>
              </a:rPr>
              <a:t>自動</a:t>
            </a:r>
            <a:endParaRPr lang="en-US" sz="850" dirty="0"/>
          </a:p>
        </p:txBody>
      </p:sp>
      <p:sp>
        <p:nvSpPr>
          <p:cNvPr id="246" name="Shape 244"/>
          <p:cNvSpPr/>
          <p:nvPr/>
        </p:nvSpPr>
        <p:spPr>
          <a:xfrm>
            <a:off x="7219188" y="5701284"/>
            <a:ext cx="986409" cy="260604"/>
          </a:xfrm>
          <a:prstGeom prst="roundRect">
            <a:avLst>
              <a:gd name="adj" fmla="val 17544"/>
            </a:avLst>
          </a:prstGeom>
          <a:solidFill>
            <a:srgbClr val="0E9F9A"/>
          </a:solidFill>
          <a:ln/>
        </p:spPr>
      </p:sp>
      <p:sp>
        <p:nvSpPr>
          <p:cNvPr id="247" name="Text 245"/>
          <p:cNvSpPr txBox="1"/>
          <p:nvPr/>
        </p:nvSpPr>
        <p:spPr>
          <a:xfrm>
            <a:off x="7219188" y="5701284"/>
            <a:ext cx="986409" cy="260604"/>
          </a:xfrm>
          <a:prstGeom prst="rect">
            <a:avLst/>
          </a:prstGeom>
          <a:noFill/>
          <a:ln/>
        </p:spPr>
        <p:txBody>
          <a:bodyPr wrap="square" lIns="0" tIns="0" rIns="0" bIns="0" rtlCol="0" anchor="ctr"/>
          <a:lstStyle/>
          <a:p>
            <a:pPr algn="ctr" indent="0" marL="0">
              <a:buNone/>
            </a:pPr>
            <a:r>
              <a:rPr lang="en-US" sz="850" b="1" dirty="0">
                <a:solidFill>
                  <a:srgbClr val="FFFFFF"/>
                </a:solidFill>
                <a:latin typeface="Meiryo UI" pitchFamily="34" charset="0"/>
                <a:ea typeface="Meiryo UI" pitchFamily="34" charset="-122"/>
                <a:cs typeface="Meiryo UI" pitchFamily="34" charset="-120"/>
              </a:rPr>
              <a:t>自動</a:t>
            </a:r>
            <a:endParaRPr lang="en-US" sz="850" dirty="0"/>
          </a:p>
        </p:txBody>
      </p:sp>
      <p:sp>
        <p:nvSpPr>
          <p:cNvPr id="248" name="Shape 246"/>
          <p:cNvSpPr/>
          <p:nvPr/>
        </p:nvSpPr>
        <p:spPr>
          <a:xfrm>
            <a:off x="8333613" y="5701284"/>
            <a:ext cx="986409" cy="260604"/>
          </a:xfrm>
          <a:prstGeom prst="roundRect">
            <a:avLst>
              <a:gd name="adj" fmla="val 17544"/>
            </a:avLst>
          </a:prstGeom>
          <a:solidFill>
            <a:srgbClr val="0E9F9A"/>
          </a:solidFill>
          <a:ln/>
        </p:spPr>
      </p:sp>
      <p:sp>
        <p:nvSpPr>
          <p:cNvPr id="249" name="Text 247"/>
          <p:cNvSpPr txBox="1"/>
          <p:nvPr/>
        </p:nvSpPr>
        <p:spPr>
          <a:xfrm>
            <a:off x="8333613" y="5701284"/>
            <a:ext cx="986409" cy="260604"/>
          </a:xfrm>
          <a:prstGeom prst="rect">
            <a:avLst/>
          </a:prstGeom>
          <a:noFill/>
          <a:ln/>
        </p:spPr>
        <p:txBody>
          <a:bodyPr wrap="square" lIns="0" tIns="0" rIns="0" bIns="0" rtlCol="0" anchor="ctr"/>
          <a:lstStyle/>
          <a:p>
            <a:pPr algn="ctr" indent="0" marL="0">
              <a:buNone/>
            </a:pPr>
            <a:r>
              <a:rPr lang="en-US" sz="850" b="1" dirty="0">
                <a:solidFill>
                  <a:srgbClr val="FFFFFF"/>
                </a:solidFill>
                <a:latin typeface="Meiryo UI" pitchFamily="34" charset="0"/>
                <a:ea typeface="Meiryo UI" pitchFamily="34" charset="-122"/>
                <a:cs typeface="Meiryo UI" pitchFamily="34" charset="-120"/>
              </a:rPr>
              <a:t>自動</a:t>
            </a:r>
            <a:endParaRPr lang="en-US" sz="850" dirty="0"/>
          </a:p>
        </p:txBody>
      </p:sp>
      <p:sp>
        <p:nvSpPr>
          <p:cNvPr id="250" name="Shape 248"/>
          <p:cNvSpPr/>
          <p:nvPr/>
        </p:nvSpPr>
        <p:spPr>
          <a:xfrm>
            <a:off x="9448038" y="5701284"/>
            <a:ext cx="986409" cy="260604"/>
          </a:xfrm>
          <a:prstGeom prst="roundRect">
            <a:avLst>
              <a:gd name="adj" fmla="val 17544"/>
            </a:avLst>
          </a:prstGeom>
          <a:solidFill>
            <a:srgbClr val="F3F5F8"/>
          </a:solidFill>
          <a:ln/>
        </p:spPr>
      </p:sp>
      <p:sp>
        <p:nvSpPr>
          <p:cNvPr id="251" name="Text 249"/>
          <p:cNvSpPr txBox="1"/>
          <p:nvPr/>
        </p:nvSpPr>
        <p:spPr>
          <a:xfrm>
            <a:off x="9448038" y="5701284"/>
            <a:ext cx="986409" cy="260604"/>
          </a:xfrm>
          <a:prstGeom prst="rect">
            <a:avLst/>
          </a:prstGeom>
          <a:noFill/>
          <a:ln/>
        </p:spPr>
        <p:txBody>
          <a:bodyPr wrap="square" lIns="0" tIns="0" rIns="0" bIns="0" rtlCol="0" anchor="ctr"/>
          <a:lstStyle/>
          <a:p>
            <a:pPr algn="ctr" indent="0" marL="0">
              <a:buNone/>
            </a:pPr>
            <a:r>
              <a:rPr lang="en-US" sz="850" dirty="0">
                <a:solidFill>
                  <a:srgbClr val="6B7280"/>
                </a:solidFill>
                <a:latin typeface="Meiryo UI" pitchFamily="34" charset="0"/>
                <a:ea typeface="Meiryo UI" pitchFamily="34" charset="-122"/>
                <a:cs typeface="Meiryo UI" pitchFamily="34" charset="-120"/>
              </a:rPr>
              <a:t>人</a:t>
            </a:r>
            <a:endParaRPr lang="en-US" sz="850" dirty="0"/>
          </a:p>
        </p:txBody>
      </p:sp>
      <p:sp>
        <p:nvSpPr>
          <p:cNvPr id="252" name="Shape 250"/>
          <p:cNvSpPr/>
          <p:nvPr/>
        </p:nvSpPr>
        <p:spPr>
          <a:xfrm>
            <a:off x="10562463" y="5701284"/>
            <a:ext cx="986409" cy="260604"/>
          </a:xfrm>
          <a:prstGeom prst="roundRect">
            <a:avLst>
              <a:gd name="adj" fmla="val 17544"/>
            </a:avLst>
          </a:prstGeom>
          <a:solidFill>
            <a:srgbClr val="F3F5F8"/>
          </a:solidFill>
          <a:ln/>
        </p:spPr>
      </p:sp>
      <p:sp>
        <p:nvSpPr>
          <p:cNvPr id="253" name="Text 251"/>
          <p:cNvSpPr txBox="1"/>
          <p:nvPr/>
        </p:nvSpPr>
        <p:spPr>
          <a:xfrm>
            <a:off x="10562463" y="5701284"/>
            <a:ext cx="986409" cy="260604"/>
          </a:xfrm>
          <a:prstGeom prst="rect">
            <a:avLst/>
          </a:prstGeom>
          <a:noFill/>
          <a:ln/>
        </p:spPr>
        <p:txBody>
          <a:bodyPr wrap="square" lIns="0" tIns="0" rIns="0" bIns="0" rtlCol="0" anchor="ctr"/>
          <a:lstStyle/>
          <a:p>
            <a:pPr algn="ctr" indent="0" marL="0">
              <a:buNone/>
            </a:pPr>
            <a:r>
              <a:rPr lang="en-US" sz="850" dirty="0">
                <a:solidFill>
                  <a:srgbClr val="6B7280"/>
                </a:solidFill>
                <a:latin typeface="Meiryo UI" pitchFamily="34" charset="0"/>
                <a:ea typeface="Meiryo UI" pitchFamily="34" charset="-122"/>
                <a:cs typeface="Meiryo UI" pitchFamily="34" charset="-120"/>
              </a:rPr>
              <a:t>人</a:t>
            </a:r>
            <a:endParaRPr lang="en-US" sz="850" dirty="0"/>
          </a:p>
        </p:txBody>
      </p:sp>
      <p:sp>
        <p:nvSpPr>
          <p:cNvPr id="254" name="Shape 252"/>
          <p:cNvSpPr/>
          <p:nvPr/>
        </p:nvSpPr>
        <p:spPr>
          <a:xfrm>
            <a:off x="548640" y="6035040"/>
            <a:ext cx="822960" cy="256032"/>
          </a:xfrm>
          <a:prstGeom prst="roundRect">
            <a:avLst>
              <a:gd name="adj" fmla="val 17857"/>
            </a:avLst>
          </a:prstGeom>
          <a:solidFill>
            <a:srgbClr val="0E9F9A"/>
          </a:solidFill>
          <a:ln/>
        </p:spPr>
      </p:sp>
      <p:sp>
        <p:nvSpPr>
          <p:cNvPr id="255" name="Text 253"/>
          <p:cNvSpPr txBox="1"/>
          <p:nvPr/>
        </p:nvSpPr>
        <p:spPr>
          <a:xfrm>
            <a:off x="548640" y="6035040"/>
            <a:ext cx="822960" cy="256032"/>
          </a:xfrm>
          <a:prstGeom prst="rect">
            <a:avLst/>
          </a:prstGeom>
          <a:noFill/>
          <a:ln/>
        </p:spPr>
        <p:txBody>
          <a:bodyPr wrap="square" lIns="0" tIns="0" rIns="0" bIns="0" rtlCol="0" anchor="ctr"/>
          <a:lstStyle/>
          <a:p>
            <a:pPr algn="ctr" indent="0" marL="0">
              <a:buNone/>
            </a:pPr>
            <a:r>
              <a:rPr lang="en-US" sz="850" b="1" dirty="0">
                <a:solidFill>
                  <a:srgbClr val="FFFFFF"/>
                </a:solidFill>
                <a:latin typeface="Meiryo UI" pitchFamily="34" charset="0"/>
                <a:ea typeface="Meiryo UI" pitchFamily="34" charset="-122"/>
                <a:cs typeface="Meiryo UI" pitchFamily="34" charset="-120"/>
              </a:rPr>
              <a:t>自動</a:t>
            </a:r>
            <a:endParaRPr lang="en-US" sz="850" dirty="0"/>
          </a:p>
        </p:txBody>
      </p:sp>
      <p:sp>
        <p:nvSpPr>
          <p:cNvPr id="256" name="Text 254"/>
          <p:cNvSpPr txBox="1"/>
          <p:nvPr/>
        </p:nvSpPr>
        <p:spPr>
          <a:xfrm>
            <a:off x="1417320" y="6035040"/>
            <a:ext cx="1325880" cy="256032"/>
          </a:xfrm>
          <a:prstGeom prst="rect">
            <a:avLst/>
          </a:prstGeom>
          <a:noFill/>
          <a:ln/>
        </p:spPr>
        <p:txBody>
          <a:bodyPr wrap="square" lIns="0" tIns="0" rIns="0" bIns="0" rtlCol="0" anchor="ctr"/>
          <a:lstStyle/>
          <a:p>
            <a:pPr indent="0" marL="0">
              <a:buNone/>
            </a:pPr>
            <a:r>
              <a:rPr lang="en-US" sz="800" dirty="0">
                <a:solidFill>
                  <a:srgbClr val="6B7280"/>
                </a:solidFill>
                <a:latin typeface="Meiryo UI" pitchFamily="34" charset="0"/>
                <a:ea typeface="Meiryo UI" pitchFamily="34" charset="-122"/>
                <a:cs typeface="Meiryo UI" pitchFamily="34" charset="-120"/>
              </a:rPr>
              <a:t>AIが自動で行う</a:t>
            </a:r>
            <a:endParaRPr lang="en-US" sz="800" dirty="0"/>
          </a:p>
        </p:txBody>
      </p:sp>
      <p:sp>
        <p:nvSpPr>
          <p:cNvPr id="257" name="Shape 255"/>
          <p:cNvSpPr/>
          <p:nvPr/>
        </p:nvSpPr>
        <p:spPr>
          <a:xfrm>
            <a:off x="2761488" y="6035040"/>
            <a:ext cx="822960" cy="256032"/>
          </a:xfrm>
          <a:prstGeom prst="roundRect">
            <a:avLst>
              <a:gd name="adj" fmla="val 17857"/>
            </a:avLst>
          </a:prstGeom>
          <a:solidFill>
            <a:srgbClr val="D9F2F1"/>
          </a:solidFill>
          <a:ln/>
        </p:spPr>
      </p:sp>
      <p:sp>
        <p:nvSpPr>
          <p:cNvPr id="258" name="Text 256"/>
          <p:cNvSpPr txBox="1"/>
          <p:nvPr/>
        </p:nvSpPr>
        <p:spPr>
          <a:xfrm>
            <a:off x="2761488" y="6035040"/>
            <a:ext cx="822960" cy="256032"/>
          </a:xfrm>
          <a:prstGeom prst="rect">
            <a:avLst/>
          </a:prstGeom>
          <a:noFill/>
          <a:ln/>
        </p:spPr>
        <p:txBody>
          <a:bodyPr wrap="square" lIns="0" tIns="0" rIns="0" bIns="0" rtlCol="0" anchor="ctr"/>
          <a:lstStyle/>
          <a:p>
            <a:pPr algn="ctr" indent="0" marL="0">
              <a:buNone/>
            </a:pPr>
            <a:r>
              <a:rPr lang="en-US" sz="850" b="1" dirty="0">
                <a:solidFill>
                  <a:srgbClr val="0E9F9A"/>
                </a:solidFill>
                <a:latin typeface="Meiryo UI" pitchFamily="34" charset="0"/>
                <a:ea typeface="Meiryo UI" pitchFamily="34" charset="-122"/>
                <a:cs typeface="Meiryo UI" pitchFamily="34" charset="-120"/>
              </a:rPr>
              <a:t>支援</a:t>
            </a:r>
            <a:endParaRPr lang="en-US" sz="850" dirty="0"/>
          </a:p>
        </p:txBody>
      </p:sp>
      <p:sp>
        <p:nvSpPr>
          <p:cNvPr id="259" name="Text 257"/>
          <p:cNvSpPr txBox="1"/>
          <p:nvPr/>
        </p:nvSpPr>
        <p:spPr>
          <a:xfrm>
            <a:off x="3630168" y="6035040"/>
            <a:ext cx="1325880" cy="256032"/>
          </a:xfrm>
          <a:prstGeom prst="rect">
            <a:avLst/>
          </a:prstGeom>
          <a:noFill/>
          <a:ln/>
        </p:spPr>
        <p:txBody>
          <a:bodyPr wrap="square" lIns="0" tIns="0" rIns="0" bIns="0" rtlCol="0" anchor="ctr"/>
          <a:lstStyle/>
          <a:p>
            <a:pPr indent="0" marL="0">
              <a:buNone/>
            </a:pPr>
            <a:r>
              <a:rPr lang="en-US" sz="800" dirty="0">
                <a:solidFill>
                  <a:srgbClr val="6B7280"/>
                </a:solidFill>
                <a:latin typeface="Meiryo UI" pitchFamily="34" charset="0"/>
                <a:ea typeface="Meiryo UI" pitchFamily="34" charset="-122"/>
                <a:cs typeface="Meiryo UI" pitchFamily="34" charset="-120"/>
              </a:rPr>
              <a:t>依頼に応じAIが案を出す</a:t>
            </a:r>
            <a:endParaRPr lang="en-US" sz="800" dirty="0"/>
          </a:p>
        </p:txBody>
      </p:sp>
      <p:sp>
        <p:nvSpPr>
          <p:cNvPr id="260" name="Shape 258"/>
          <p:cNvSpPr/>
          <p:nvPr/>
        </p:nvSpPr>
        <p:spPr>
          <a:xfrm>
            <a:off x="4974336" y="6035040"/>
            <a:ext cx="822960" cy="256032"/>
          </a:xfrm>
          <a:prstGeom prst="roundRect">
            <a:avLst>
              <a:gd name="adj" fmla="val 17857"/>
            </a:avLst>
          </a:prstGeom>
          <a:solidFill>
            <a:srgbClr val="FDEBD3"/>
          </a:solidFill>
          <a:ln/>
        </p:spPr>
      </p:sp>
      <p:sp>
        <p:nvSpPr>
          <p:cNvPr id="261" name="Text 259"/>
          <p:cNvSpPr txBox="1"/>
          <p:nvPr/>
        </p:nvSpPr>
        <p:spPr>
          <a:xfrm>
            <a:off x="4974336" y="6035040"/>
            <a:ext cx="822960" cy="256032"/>
          </a:xfrm>
          <a:prstGeom prst="rect">
            <a:avLst/>
          </a:prstGeom>
          <a:noFill/>
          <a:ln/>
        </p:spPr>
        <p:txBody>
          <a:bodyPr wrap="square" lIns="0" tIns="0" rIns="0" bIns="0" rtlCol="0" anchor="ctr"/>
          <a:lstStyle/>
          <a:p>
            <a:pPr algn="ctr" indent="0" marL="0">
              <a:buNone/>
            </a:pPr>
            <a:r>
              <a:rPr lang="en-US" sz="850" b="1" dirty="0">
                <a:solidFill>
                  <a:srgbClr val="E8912D"/>
                </a:solidFill>
                <a:latin typeface="Meiryo UI" pitchFamily="34" charset="0"/>
                <a:ea typeface="Meiryo UI" pitchFamily="34" charset="-122"/>
                <a:cs typeface="Meiryo UI" pitchFamily="34" charset="-120"/>
              </a:rPr>
              <a:t>人＋仕組み</a:t>
            </a:r>
            <a:endParaRPr lang="en-US" sz="850" dirty="0"/>
          </a:p>
        </p:txBody>
      </p:sp>
      <p:sp>
        <p:nvSpPr>
          <p:cNvPr id="262" name="Text 260"/>
          <p:cNvSpPr txBox="1"/>
          <p:nvPr/>
        </p:nvSpPr>
        <p:spPr>
          <a:xfrm>
            <a:off x="5843016" y="6035040"/>
            <a:ext cx="1325880" cy="256032"/>
          </a:xfrm>
          <a:prstGeom prst="rect">
            <a:avLst/>
          </a:prstGeom>
          <a:noFill/>
          <a:ln/>
        </p:spPr>
        <p:txBody>
          <a:bodyPr wrap="square" lIns="0" tIns="0" rIns="0" bIns="0" rtlCol="0" anchor="ctr"/>
          <a:lstStyle/>
          <a:p>
            <a:pPr indent="0" marL="0">
              <a:buNone/>
            </a:pPr>
            <a:r>
              <a:rPr lang="en-US" sz="800" dirty="0">
                <a:solidFill>
                  <a:srgbClr val="6B7280"/>
                </a:solidFill>
                <a:latin typeface="Meiryo UI" pitchFamily="34" charset="0"/>
                <a:ea typeface="Meiryo UI" pitchFamily="34" charset="-122"/>
                <a:cs typeface="Meiryo UI" pitchFamily="34" charset="-120"/>
              </a:rPr>
              <a:t>人が判断・フローで効率化</a:t>
            </a:r>
            <a:endParaRPr lang="en-US" sz="800" dirty="0"/>
          </a:p>
        </p:txBody>
      </p:sp>
      <p:sp>
        <p:nvSpPr>
          <p:cNvPr id="263" name="Shape 261"/>
          <p:cNvSpPr/>
          <p:nvPr/>
        </p:nvSpPr>
        <p:spPr>
          <a:xfrm>
            <a:off x="7187184" y="6035040"/>
            <a:ext cx="822960" cy="256032"/>
          </a:xfrm>
          <a:prstGeom prst="roundRect">
            <a:avLst>
              <a:gd name="adj" fmla="val 17857"/>
            </a:avLst>
          </a:prstGeom>
          <a:solidFill>
            <a:srgbClr val="F3F5F8"/>
          </a:solidFill>
          <a:ln/>
        </p:spPr>
      </p:sp>
      <p:sp>
        <p:nvSpPr>
          <p:cNvPr id="264" name="Text 262"/>
          <p:cNvSpPr txBox="1"/>
          <p:nvPr/>
        </p:nvSpPr>
        <p:spPr>
          <a:xfrm>
            <a:off x="7187184" y="6035040"/>
            <a:ext cx="822960" cy="256032"/>
          </a:xfrm>
          <a:prstGeom prst="rect">
            <a:avLst/>
          </a:prstGeom>
          <a:noFill/>
          <a:ln/>
        </p:spPr>
        <p:txBody>
          <a:bodyPr wrap="square" lIns="0" tIns="0" rIns="0" bIns="0" rtlCol="0" anchor="ctr"/>
          <a:lstStyle/>
          <a:p>
            <a:pPr algn="ctr" indent="0" marL="0">
              <a:buNone/>
            </a:pPr>
            <a:r>
              <a:rPr lang="en-US" sz="850" b="1" dirty="0">
                <a:solidFill>
                  <a:srgbClr val="6B7280"/>
                </a:solidFill>
                <a:latin typeface="Meiryo UI" pitchFamily="34" charset="0"/>
                <a:ea typeface="Meiryo UI" pitchFamily="34" charset="-122"/>
                <a:cs typeface="Meiryo UI" pitchFamily="34" charset="-120"/>
              </a:rPr>
              <a:t>人</a:t>
            </a:r>
            <a:endParaRPr lang="en-US" sz="850" dirty="0"/>
          </a:p>
        </p:txBody>
      </p:sp>
      <p:sp>
        <p:nvSpPr>
          <p:cNvPr id="265" name="Text 263"/>
          <p:cNvSpPr txBox="1"/>
          <p:nvPr/>
        </p:nvSpPr>
        <p:spPr>
          <a:xfrm>
            <a:off x="8055864" y="6035040"/>
            <a:ext cx="1325880" cy="256032"/>
          </a:xfrm>
          <a:prstGeom prst="rect">
            <a:avLst/>
          </a:prstGeom>
          <a:noFill/>
          <a:ln/>
        </p:spPr>
        <p:txBody>
          <a:bodyPr wrap="square" lIns="0" tIns="0" rIns="0" bIns="0" rtlCol="0" anchor="ctr"/>
          <a:lstStyle/>
          <a:p>
            <a:pPr indent="0" marL="0">
              <a:buNone/>
            </a:pPr>
            <a:r>
              <a:rPr lang="en-US" sz="800" dirty="0">
                <a:solidFill>
                  <a:srgbClr val="6B7280"/>
                </a:solidFill>
                <a:latin typeface="Meiryo UI" pitchFamily="34" charset="0"/>
                <a:ea typeface="Meiryo UI" pitchFamily="34" charset="-122"/>
                <a:cs typeface="Meiryo UI" pitchFamily="34" charset="-120"/>
              </a:rPr>
              <a:t>人が行う（現状どおり）</a:t>
            </a:r>
            <a:endParaRPr lang="en-US" sz="800" dirty="0"/>
          </a:p>
        </p:txBody>
      </p:sp>
      <p:sp>
        <p:nvSpPr>
          <p:cNvPr id="266" name="Shape 264"/>
          <p:cNvSpPr/>
          <p:nvPr/>
        </p:nvSpPr>
        <p:spPr>
          <a:xfrm>
            <a:off x="9400032" y="6035040"/>
            <a:ext cx="822960" cy="256032"/>
          </a:xfrm>
          <a:prstGeom prst="roundRect">
            <a:avLst>
              <a:gd name="adj" fmla="val 17857"/>
            </a:avLst>
          </a:prstGeom>
          <a:solidFill>
            <a:srgbClr val="FFFFFF"/>
          </a:solidFill>
          <a:ln w="12700">
            <a:solidFill>
              <a:srgbClr val="9AA5B4"/>
            </a:solidFill>
            <a:prstDash val="dash"/>
          </a:ln>
        </p:spPr>
      </p:sp>
      <p:sp>
        <p:nvSpPr>
          <p:cNvPr id="267" name="Text 265"/>
          <p:cNvSpPr txBox="1"/>
          <p:nvPr/>
        </p:nvSpPr>
        <p:spPr>
          <a:xfrm>
            <a:off x="9400032" y="6035040"/>
            <a:ext cx="822960" cy="256032"/>
          </a:xfrm>
          <a:prstGeom prst="rect">
            <a:avLst/>
          </a:prstGeom>
          <a:noFill/>
          <a:ln/>
        </p:spPr>
        <p:txBody>
          <a:bodyPr wrap="square" lIns="0" tIns="0" rIns="0" bIns="0" rtlCol="0" anchor="ctr"/>
          <a:lstStyle/>
          <a:p>
            <a:pPr algn="ctr" indent="0" marL="0">
              <a:buNone/>
            </a:pPr>
            <a:r>
              <a:rPr lang="en-US" sz="850" b="1" dirty="0">
                <a:solidFill>
                  <a:srgbClr val="6B7280"/>
                </a:solidFill>
                <a:latin typeface="Meiryo UI" pitchFamily="34" charset="0"/>
                <a:ea typeface="Meiryo UI" pitchFamily="34" charset="-122"/>
                <a:cs typeface="Meiryo UI" pitchFamily="34" charset="-120"/>
              </a:rPr>
              <a:t>拡張可</a:t>
            </a:r>
            <a:endParaRPr lang="en-US" sz="850" dirty="0"/>
          </a:p>
        </p:txBody>
      </p:sp>
      <p:sp>
        <p:nvSpPr>
          <p:cNvPr id="268" name="Text 266"/>
          <p:cNvSpPr txBox="1"/>
          <p:nvPr/>
        </p:nvSpPr>
        <p:spPr>
          <a:xfrm>
            <a:off x="10268712" y="6035040"/>
            <a:ext cx="1325880" cy="256032"/>
          </a:xfrm>
          <a:prstGeom prst="rect">
            <a:avLst/>
          </a:prstGeom>
          <a:noFill/>
          <a:ln/>
        </p:spPr>
        <p:txBody>
          <a:bodyPr wrap="square" lIns="0" tIns="0" rIns="0" bIns="0" rtlCol="0" anchor="ctr"/>
          <a:lstStyle/>
          <a:p>
            <a:pPr indent="0" marL="0">
              <a:buNone/>
            </a:pPr>
            <a:r>
              <a:rPr lang="en-US" sz="800" dirty="0">
                <a:solidFill>
                  <a:srgbClr val="6B7280"/>
                </a:solidFill>
                <a:latin typeface="Meiryo UI" pitchFamily="34" charset="0"/>
                <a:ea typeface="Meiryo UI" pitchFamily="34" charset="-122"/>
                <a:cs typeface="Meiryo UI" pitchFamily="34" charset="-120"/>
              </a:rPr>
              <a:t>発展させて対応できる</a:t>
            </a:r>
            <a:endParaRPr lang="en-US" sz="800" dirty="0"/>
          </a:p>
        </p:txBody>
      </p:sp>
      <p:sp>
        <p:nvSpPr>
          <p:cNvPr id="269" name="Text 267"/>
          <p:cNvSpPr txBox="1"/>
          <p:nvPr/>
        </p:nvSpPr>
        <p:spPr>
          <a:xfrm>
            <a:off x="548640" y="6336792"/>
            <a:ext cx="11064240" cy="228600"/>
          </a:xfrm>
          <a:prstGeom prst="rect">
            <a:avLst/>
          </a:prstGeom>
          <a:noFill/>
          <a:ln/>
        </p:spPr>
        <p:txBody>
          <a:bodyPr wrap="square" lIns="0" tIns="0" rIns="0" bIns="0" rtlCol="0" anchor="t"/>
          <a:lstStyle/>
          <a:p>
            <a:pPr indent="0" marL="0">
              <a:buNone/>
            </a:pPr>
            <a:r>
              <a:rPr lang="en-US" sz="850" dirty="0">
                <a:solidFill>
                  <a:srgbClr val="6B7280"/>
                </a:solidFill>
                <a:latin typeface="Meiryo UI" pitchFamily="34" charset="0"/>
                <a:ea typeface="Meiryo UI" pitchFamily="34" charset="-122"/>
                <a:cs typeface="Meiryo UI" pitchFamily="34" charset="-120"/>
              </a:rPr>
              <a:t>配信カードは先に配信日ごとに作成し、その後の工程で中身を埋める。A2は情報収集をSharePointのナレッジ参照で支援。C1はAirtable内の情報だけで生成する</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548640"/>
          </a:xfrm>
          <a:prstGeom prst="rect">
            <a:avLst/>
          </a:prstGeom>
          <a:noFill/>
          <a:ln/>
        </p:spPr>
        <p:txBody>
          <a:bodyPr wrap="square" lIns="0" tIns="0" rIns="0" bIns="0" rtlCol="0" anchor="ctr"/>
          <a:lstStyle/>
          <a:p>
            <a:pPr indent="0" marL="0">
              <a:buNone/>
            </a:pPr>
            <a:r>
              <a:rPr lang="en-US" sz="2600" b="1" dirty="0">
                <a:solidFill>
                  <a:srgbClr val="1B2A49"/>
                </a:solidFill>
                <a:latin typeface="Meiryo UI" pitchFamily="34" charset="0"/>
                <a:ea typeface="Meiryo UI" pitchFamily="34" charset="-122"/>
                <a:cs typeface="Meiryo UI" pitchFamily="34" charset="-120"/>
              </a:rPr>
              <a:t>構成パターンの比較①：M365に寄せる構成</a:t>
            </a:r>
            <a:endParaRPr lang="en-US" sz="2600" dirty="0"/>
          </a:p>
        </p:txBody>
      </p:sp>
      <p:sp>
        <p:nvSpPr>
          <p:cNvPr id="3" name="Text 1"/>
          <p:cNvSpPr txBox="1"/>
          <p:nvPr/>
        </p:nvSpPr>
        <p:spPr>
          <a:xfrm>
            <a:off x="548640" y="896112"/>
            <a:ext cx="11064240" cy="365760"/>
          </a:xfrm>
          <a:prstGeom prst="rect">
            <a:avLst/>
          </a:prstGeom>
          <a:noFill/>
          <a:ln/>
        </p:spPr>
        <p:txBody>
          <a:bodyPr wrap="square" lIns="0" tIns="0" rIns="0" bIns="0" rtlCol="0" anchor="ctr"/>
          <a:lstStyle/>
          <a:p>
            <a:pPr indent="0" marL="0">
              <a:buNone/>
            </a:pPr>
            <a:r>
              <a:rPr lang="en-US" sz="1400" dirty="0">
                <a:solidFill>
                  <a:srgbClr val="6B7280"/>
                </a:solidFill>
                <a:latin typeface="Meiryo UI" pitchFamily="34" charset="0"/>
                <a:ea typeface="Meiryo UI" pitchFamily="34" charset="-122"/>
                <a:cs typeface="Meiryo UI" pitchFamily="34" charset="-120"/>
              </a:rPr>
              <a:t>評価ではなく、各パターンの性質を並べたもの</a:t>
            </a:r>
            <a:endParaRPr lang="en-US" sz="1400" dirty="0"/>
          </a:p>
        </p:txBody>
      </p:sp>
      <p:sp>
        <p:nvSpPr>
          <p:cNvPr id="4" name="Text 2"/>
          <p:cNvSpPr txBox="1"/>
          <p:nvPr/>
        </p:nvSpPr>
        <p:spPr>
          <a:xfrm>
            <a:off x="7498080" y="91440"/>
            <a:ext cx="4114800" cy="22860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2. 構成パターンの全体像と比較</a:t>
            </a:r>
            <a:endParaRPr lang="en-US" sz="900" dirty="0"/>
          </a:p>
        </p:txBody>
      </p:sp>
      <p:sp>
        <p:nvSpPr>
          <p:cNvPr id="5" name="Text 3"/>
          <p:cNvSpPr txBox="1"/>
          <p:nvPr/>
        </p:nvSpPr>
        <p:spPr>
          <a:xfrm>
            <a:off x="11247120" y="6446520"/>
            <a:ext cx="457200" cy="27432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12</a:t>
            </a:r>
            <a:endParaRPr lang="en-US" sz="9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1737360"/>
                <a:gridCol w="1332411"/>
                <a:gridCol w="1332411"/>
                <a:gridCol w="1332411"/>
                <a:gridCol w="1332411"/>
                <a:gridCol w="1332411"/>
                <a:gridCol w="1332411"/>
                <a:gridCol w="1332411"/>
              </a:tblGrid>
              <a:tr h="365760">
                <a:tc>
                  <a:txBody>
                    <a:bodyPr/>
                    <a:lstStyle/>
                    <a:p>
                      <a:pPr indent="0" marL="0">
                        <a:buNone/>
                      </a:pP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B2A49"/>
                    </a:solidFill>
                  </a:tcPr>
                </a:tc>
                <a:tc>
                  <a:txBody>
                    <a:bodyPr/>
                    <a:lstStyle/>
                    <a:p>
                      <a:pPr algn="ctr" indent="0" marL="0">
                        <a:buNone/>
                      </a:pPr>
                      <a:r>
                        <a:rPr lang="en-US" sz="1000" b="1" dirty="0">
                          <a:solidFill>
                            <a:srgbClr val="FFFFFF"/>
                          </a:solidFill>
                          <a:latin typeface="Meiryo UI" pitchFamily="34" charset="0"/>
                          <a:ea typeface="Meiryo UI" pitchFamily="34" charset="-122"/>
                          <a:cs typeface="Meiryo UI" pitchFamily="34" charset="-120"/>
                        </a:rPr>
                        <a:t>A1</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0F6CBD"/>
                    </a:solidFill>
                  </a:tcPr>
                </a:tc>
                <a:tc>
                  <a:txBody>
                    <a:bodyPr/>
                    <a:lstStyle/>
                    <a:p>
                      <a:pPr algn="ctr" indent="0" marL="0">
                        <a:buNone/>
                      </a:pPr>
                      <a:r>
                        <a:rPr lang="en-US" sz="1000" b="1" dirty="0">
                          <a:solidFill>
                            <a:srgbClr val="FFFFFF"/>
                          </a:solidFill>
                          <a:latin typeface="Meiryo UI" pitchFamily="34" charset="0"/>
                          <a:ea typeface="Meiryo UI" pitchFamily="34" charset="-122"/>
                          <a:cs typeface="Meiryo UI" pitchFamily="34" charset="-120"/>
                        </a:rPr>
                        <a:t>A2</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0F6CBD"/>
                    </a:solidFill>
                  </a:tcPr>
                </a:tc>
                <a:tc>
                  <a:txBody>
                    <a:bodyPr/>
                    <a:lstStyle/>
                    <a:p>
                      <a:pPr algn="ctr" indent="0" marL="0">
                        <a:buNone/>
                      </a:pPr>
                      <a:r>
                        <a:rPr lang="en-US" sz="1000" b="1" dirty="0">
                          <a:solidFill>
                            <a:srgbClr val="FFFFFF"/>
                          </a:solidFill>
                          <a:latin typeface="Meiryo UI" pitchFamily="34" charset="0"/>
                          <a:ea typeface="Meiryo UI" pitchFamily="34" charset="-122"/>
                          <a:cs typeface="Meiryo UI" pitchFamily="34" charset="-120"/>
                        </a:rPr>
                        <a:t>A3</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0F6CBD"/>
                    </a:solidFill>
                  </a:tcPr>
                </a:tc>
                <a:tc>
                  <a:txBody>
                    <a:bodyPr/>
                    <a:lstStyle/>
                    <a:p>
                      <a:pPr algn="ctr" indent="0" marL="0">
                        <a:buNone/>
                      </a:pPr>
                      <a:r>
                        <a:rPr lang="en-US" sz="1000" b="1" dirty="0">
                          <a:solidFill>
                            <a:srgbClr val="FFFFFF"/>
                          </a:solidFill>
                          <a:latin typeface="Meiryo UI" pitchFamily="34" charset="0"/>
                          <a:ea typeface="Meiryo UI" pitchFamily="34" charset="-122"/>
                          <a:cs typeface="Meiryo UI" pitchFamily="34" charset="-120"/>
                        </a:rPr>
                        <a:t>A4</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0F6CBD"/>
                    </a:solidFill>
                  </a:tcPr>
                </a:tc>
                <a:tc>
                  <a:txBody>
                    <a:bodyPr/>
                    <a:lstStyle/>
                    <a:p>
                      <a:pPr algn="ctr" indent="0" marL="0">
                        <a:buNone/>
                      </a:pPr>
                      <a:r>
                        <a:rPr lang="en-US" sz="1000" b="1" dirty="0">
                          <a:solidFill>
                            <a:srgbClr val="FFFFFF"/>
                          </a:solidFill>
                          <a:latin typeface="Meiryo UI" pitchFamily="34" charset="0"/>
                          <a:ea typeface="Meiryo UI" pitchFamily="34" charset="-122"/>
                          <a:cs typeface="Meiryo UI" pitchFamily="34" charset="-120"/>
                        </a:rPr>
                        <a:t>A5</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0F6CBD"/>
                    </a:solidFill>
                  </a:tcPr>
                </a:tc>
                <a:tc>
                  <a:txBody>
                    <a:bodyPr/>
                    <a:lstStyle/>
                    <a:p>
                      <a:pPr algn="ctr" indent="0" marL="0">
                        <a:buNone/>
                      </a:pPr>
                      <a:r>
                        <a:rPr lang="en-US" sz="1000" b="1" dirty="0">
                          <a:solidFill>
                            <a:srgbClr val="FFFFFF"/>
                          </a:solidFill>
                          <a:latin typeface="Meiryo UI" pitchFamily="34" charset="0"/>
                          <a:ea typeface="Meiryo UI" pitchFamily="34" charset="-122"/>
                          <a:cs typeface="Meiryo UI" pitchFamily="34" charset="-120"/>
                        </a:rPr>
                        <a:t>A6</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0F6CBD"/>
                    </a:solidFill>
                  </a:tcPr>
                </a:tc>
                <a:tc>
                  <a:txBody>
                    <a:bodyPr/>
                    <a:lstStyle/>
                    <a:p>
                      <a:pPr algn="ctr" indent="0" marL="0">
                        <a:buNone/>
                      </a:pPr>
                      <a:r>
                        <a:rPr lang="en-US" sz="1000" b="1" dirty="0">
                          <a:solidFill>
                            <a:srgbClr val="FFFFFF"/>
                          </a:solidFill>
                          <a:latin typeface="Meiryo UI" pitchFamily="34" charset="0"/>
                          <a:ea typeface="Meiryo UI" pitchFamily="34" charset="-122"/>
                          <a:cs typeface="Meiryo UI" pitchFamily="34" charset="-120"/>
                        </a:rPr>
                        <a:t>A7</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0F6CBD"/>
                    </a:solidFill>
                  </a:tcPr>
                </a:tc>
              </a:tr>
              <a:tr h="429768">
                <a:tc>
                  <a:txBody>
                    <a:bodyPr/>
                    <a:lstStyle/>
                    <a:p>
                      <a:pPr indent="0" marL="0">
                        <a:buNone/>
                      </a:pPr>
                      <a:r>
                        <a:rPr lang="en-US" sz="1000" b="1" dirty="0">
                          <a:solidFill>
                            <a:srgbClr val="1B2A49"/>
                          </a:solidFill>
                          <a:latin typeface="Meiryo UI" pitchFamily="34" charset="0"/>
                          <a:ea typeface="Meiryo UI" pitchFamily="34" charset="-122"/>
                          <a:cs typeface="Meiryo UI" pitchFamily="34" charset="-120"/>
                        </a:rPr>
                        <a:t>集約先</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3EAF5"/>
                    </a:solidFill>
                  </a:tcPr>
                </a:tc>
                <a:tc>
                  <a:txBody>
                    <a:bodyPr/>
                    <a:lstStyle/>
                    <a:p>
                      <a:pPr algn="ctr" indent="0" marL="0">
                        <a:buNone/>
                      </a:pPr>
                      <a:r>
                        <a:rPr lang="en-US" sz="1000" dirty="0">
                          <a:solidFill>
                            <a:srgbClr val="2B2B2B"/>
                          </a:solidFill>
                          <a:latin typeface="Meiryo UI" pitchFamily="34" charset="0"/>
                          <a:ea typeface="Meiryo UI" pitchFamily="34" charset="-122"/>
                          <a:cs typeface="Meiryo UI" pitchFamily="34" charset="-120"/>
                        </a:rPr>
                        <a:t>M365</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AFBFC"/>
                    </a:solidFill>
                  </a:tcPr>
                </a:tc>
                <a:tc>
                  <a:txBody>
                    <a:bodyPr/>
                    <a:lstStyle/>
                    <a:p>
                      <a:pPr algn="ctr" indent="0" marL="0">
                        <a:buNone/>
                      </a:pPr>
                      <a:r>
                        <a:rPr lang="en-US" sz="1000" dirty="0">
                          <a:solidFill>
                            <a:srgbClr val="2B2B2B"/>
                          </a:solidFill>
                          <a:latin typeface="Meiryo UI" pitchFamily="34" charset="0"/>
                          <a:ea typeface="Meiryo UI" pitchFamily="34" charset="-122"/>
                          <a:cs typeface="Meiryo UI" pitchFamily="34" charset="-120"/>
                        </a:rPr>
                        <a:t>M365</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AFBFC"/>
                    </a:solidFill>
                  </a:tcPr>
                </a:tc>
                <a:tc>
                  <a:txBody>
                    <a:bodyPr/>
                    <a:lstStyle/>
                    <a:p>
                      <a:pPr algn="ctr" indent="0" marL="0">
                        <a:buNone/>
                      </a:pPr>
                      <a:r>
                        <a:rPr lang="en-US" sz="1000" dirty="0">
                          <a:solidFill>
                            <a:srgbClr val="2B2B2B"/>
                          </a:solidFill>
                          <a:latin typeface="Meiryo UI" pitchFamily="34" charset="0"/>
                          <a:ea typeface="Meiryo UI" pitchFamily="34" charset="-122"/>
                          <a:cs typeface="Meiryo UI" pitchFamily="34" charset="-120"/>
                        </a:rPr>
                        <a:t>M365</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AFBFC"/>
                    </a:solidFill>
                  </a:tcPr>
                </a:tc>
                <a:tc>
                  <a:txBody>
                    <a:bodyPr/>
                    <a:lstStyle/>
                    <a:p>
                      <a:pPr algn="ctr" indent="0" marL="0">
                        <a:buNone/>
                      </a:pPr>
                      <a:r>
                        <a:rPr lang="en-US" sz="1000" dirty="0">
                          <a:solidFill>
                            <a:srgbClr val="2B2B2B"/>
                          </a:solidFill>
                          <a:latin typeface="Meiryo UI" pitchFamily="34" charset="0"/>
                          <a:ea typeface="Meiryo UI" pitchFamily="34" charset="-122"/>
                          <a:cs typeface="Meiryo UI" pitchFamily="34" charset="-120"/>
                        </a:rPr>
                        <a:t>M365</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AFBFC"/>
                    </a:solidFill>
                  </a:tcPr>
                </a:tc>
                <a:tc>
                  <a:txBody>
                    <a:bodyPr/>
                    <a:lstStyle/>
                    <a:p>
                      <a:pPr algn="ctr" indent="0" marL="0">
                        <a:buNone/>
                      </a:pPr>
                      <a:r>
                        <a:rPr lang="en-US" sz="1000" dirty="0">
                          <a:solidFill>
                            <a:srgbClr val="2B2B2B"/>
                          </a:solidFill>
                          <a:latin typeface="Meiryo UI" pitchFamily="34" charset="0"/>
                          <a:ea typeface="Meiryo UI" pitchFamily="34" charset="-122"/>
                          <a:cs typeface="Meiryo UI" pitchFamily="34" charset="-120"/>
                        </a:rPr>
                        <a:t>M365</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AFBFC"/>
                    </a:solidFill>
                  </a:tcPr>
                </a:tc>
                <a:tc>
                  <a:txBody>
                    <a:bodyPr/>
                    <a:lstStyle/>
                    <a:p>
                      <a:pPr algn="ctr" indent="0" marL="0">
                        <a:buNone/>
                      </a:pPr>
                      <a:r>
                        <a:rPr lang="en-US" sz="1000" dirty="0">
                          <a:solidFill>
                            <a:srgbClr val="2B2B2B"/>
                          </a:solidFill>
                          <a:latin typeface="Meiryo UI" pitchFamily="34" charset="0"/>
                          <a:ea typeface="Meiryo UI" pitchFamily="34" charset="-122"/>
                          <a:cs typeface="Meiryo UI" pitchFamily="34" charset="-120"/>
                        </a:rPr>
                        <a:t>M365</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AFBFC"/>
                    </a:solidFill>
                  </a:tcPr>
                </a:tc>
                <a:tc>
                  <a:txBody>
                    <a:bodyPr/>
                    <a:lstStyle/>
                    <a:p>
                      <a:pPr algn="ctr" indent="0" marL="0">
                        <a:buNone/>
                      </a:pPr>
                      <a:r>
                        <a:rPr lang="en-US" sz="1000" dirty="0">
                          <a:solidFill>
                            <a:srgbClr val="2B2B2B"/>
                          </a:solidFill>
                          <a:latin typeface="Meiryo UI" pitchFamily="34" charset="0"/>
                          <a:ea typeface="Meiryo UI" pitchFamily="34" charset="-122"/>
                          <a:cs typeface="Meiryo UI" pitchFamily="34" charset="-120"/>
                        </a:rPr>
                        <a:t>M365</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AFBFC"/>
                    </a:solidFill>
                  </a:tcPr>
                </a:tc>
              </a:tr>
              <a:tr h="429768">
                <a:tc>
                  <a:txBody>
                    <a:bodyPr/>
                    <a:lstStyle/>
                    <a:p>
                      <a:pPr indent="0" marL="0">
                        <a:buNone/>
                      </a:pPr>
                      <a:r>
                        <a:rPr lang="en-US" sz="1000" b="1" dirty="0">
                          <a:solidFill>
                            <a:srgbClr val="1B2A49"/>
                          </a:solidFill>
                          <a:latin typeface="Meiryo UI" pitchFamily="34" charset="0"/>
                          <a:ea typeface="Meiryo UI" pitchFamily="34" charset="-122"/>
                          <a:cs typeface="Meiryo UI" pitchFamily="34" charset="-120"/>
                        </a:rPr>
                        <a:t>管理基盤</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3EAF5"/>
                    </a:solidFill>
                  </a:tcPr>
                </a:tc>
                <a:tc>
                  <a:txBody>
                    <a:bodyPr/>
                    <a:lstStyle/>
                    <a:p>
                      <a:pPr algn="ctr" indent="0" marL="0">
                        <a:buNone/>
                      </a:pPr>
                      <a:r>
                        <a:rPr lang="en-US" sz="1000" dirty="0">
                          <a:solidFill>
                            <a:srgbClr val="2B2B2B"/>
                          </a:solidFill>
                          <a:latin typeface="Meiryo UI" pitchFamily="34" charset="0"/>
                          <a:ea typeface="Meiryo UI" pitchFamily="34" charset="-122"/>
                          <a:cs typeface="Meiryo UI" pitchFamily="34" charset="-120"/>
                        </a:rPr>
                        <a:t>Airtable</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B2B2B"/>
                          </a:solidFill>
                          <a:latin typeface="Meiryo UI" pitchFamily="34" charset="0"/>
                          <a:ea typeface="Meiryo UI" pitchFamily="34" charset="-122"/>
                          <a:cs typeface="Meiryo UI" pitchFamily="34" charset="-120"/>
                        </a:rPr>
                        <a:t>Airtable</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B2B2B"/>
                          </a:solidFill>
                          <a:latin typeface="Meiryo UI" pitchFamily="34" charset="0"/>
                          <a:ea typeface="Meiryo UI" pitchFamily="34" charset="-122"/>
                          <a:cs typeface="Meiryo UI" pitchFamily="34" charset="-120"/>
                        </a:rPr>
                        <a:t>Airtable</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B2B2B"/>
                          </a:solidFill>
                          <a:latin typeface="Meiryo UI" pitchFamily="34" charset="0"/>
                          <a:ea typeface="Meiryo UI" pitchFamily="34" charset="-122"/>
                          <a:cs typeface="Meiryo UI" pitchFamily="34" charset="-120"/>
                        </a:rPr>
                        <a:t>Airtable</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B2B2B"/>
                          </a:solidFill>
                          <a:latin typeface="Meiryo UI" pitchFamily="34" charset="0"/>
                          <a:ea typeface="Meiryo UI" pitchFamily="34" charset="-122"/>
                          <a:cs typeface="Meiryo UI" pitchFamily="34" charset="-120"/>
                        </a:rPr>
                        <a:t>Lists</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B2B2B"/>
                          </a:solidFill>
                          <a:latin typeface="Meiryo UI" pitchFamily="34" charset="0"/>
                          <a:ea typeface="Meiryo UI" pitchFamily="34" charset="-122"/>
                          <a:cs typeface="Meiryo UI" pitchFamily="34" charset="-120"/>
                        </a:rPr>
                        <a:t>code apps</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B2B2B"/>
                          </a:solidFill>
                          <a:latin typeface="Meiryo UI" pitchFamily="34" charset="0"/>
                          <a:ea typeface="Meiryo UI" pitchFamily="34" charset="-122"/>
                          <a:cs typeface="Meiryo UI" pitchFamily="34" charset="-120"/>
                        </a:rPr>
                        <a:t>Lists＋</a:t>
                      </a:r>
                      <a:endParaRPr lang="en-US" sz="1000" dirty="0">
                        <a:latin typeface="Meiryo UI" charset="0"/>
                        <a:ea typeface="Meiryo UI" charset="0"/>
                        <a:cs typeface="Meiryo UI" charset="0"/>
                      </a:endParaRPr>
                    </a:p>
                    <a:p>
                      <a:pPr algn="ctr" indent="0" marL="0">
                        <a:buNone/>
                      </a:pPr>
                      <a:r>
                        <a:rPr lang="en-US" sz="1000" dirty="0">
                          <a:solidFill>
                            <a:srgbClr val="2B2B2B"/>
                          </a:solidFill>
                          <a:latin typeface="Meiryo UI" pitchFamily="34" charset="0"/>
                          <a:ea typeface="Meiryo UI" pitchFamily="34" charset="-122"/>
                          <a:cs typeface="Meiryo UI" pitchFamily="34" charset="-120"/>
                        </a:rPr>
                        <a:t>code apps</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429768">
                <a:tc>
                  <a:txBody>
                    <a:bodyPr/>
                    <a:lstStyle/>
                    <a:p>
                      <a:pPr indent="0" marL="0">
                        <a:buNone/>
                      </a:pPr>
                      <a:r>
                        <a:rPr lang="en-US" sz="1000" b="1" dirty="0">
                          <a:solidFill>
                            <a:srgbClr val="1B2A49"/>
                          </a:solidFill>
                          <a:latin typeface="Meiryo UI" pitchFamily="34" charset="0"/>
                          <a:ea typeface="Meiryo UI" pitchFamily="34" charset="-122"/>
                          <a:cs typeface="Meiryo UI" pitchFamily="34" charset="-120"/>
                        </a:rPr>
                        <a:t>自動化</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3EAF5"/>
                    </a:solidFill>
                  </a:tcPr>
                </a:tc>
                <a:tc>
                  <a:txBody>
                    <a:bodyPr/>
                    <a:lstStyle/>
                    <a:p>
                      <a:pPr algn="ctr" indent="0" marL="0">
                        <a:buNone/>
                      </a:pPr>
                      <a:r>
                        <a:rPr lang="en-US" sz="1000" dirty="0">
                          <a:solidFill>
                            <a:srgbClr val="2B2B2B"/>
                          </a:solidFill>
                          <a:latin typeface="Meiryo UI" pitchFamily="34" charset="0"/>
                          <a:ea typeface="Meiryo UI" pitchFamily="34" charset="-122"/>
                          <a:cs typeface="Meiryo UI" pitchFamily="34" charset="-120"/>
                        </a:rPr>
                        <a:t>Step1</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AFBFC"/>
                    </a:solidFill>
                  </a:tcPr>
                </a:tc>
                <a:tc>
                  <a:txBody>
                    <a:bodyPr/>
                    <a:lstStyle/>
                    <a:p>
                      <a:pPr algn="ctr" indent="0" marL="0">
                        <a:buNone/>
                      </a:pPr>
                      <a:r>
                        <a:rPr lang="en-US" sz="1000" dirty="0">
                          <a:solidFill>
                            <a:srgbClr val="2B2B2B"/>
                          </a:solidFill>
                          <a:latin typeface="Meiryo UI" pitchFamily="34" charset="0"/>
                          <a:ea typeface="Meiryo UI" pitchFamily="34" charset="-122"/>
                          <a:cs typeface="Meiryo UI" pitchFamily="34" charset="-120"/>
                        </a:rPr>
                        <a:t>Step1〜2</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AFBFC"/>
                    </a:solidFill>
                  </a:tcPr>
                </a:tc>
                <a:tc>
                  <a:txBody>
                    <a:bodyPr/>
                    <a:lstStyle/>
                    <a:p>
                      <a:pPr algn="ctr" indent="0" marL="0">
                        <a:buNone/>
                      </a:pPr>
                      <a:r>
                        <a:rPr lang="en-US" sz="1000" dirty="0">
                          <a:solidFill>
                            <a:srgbClr val="2B2B2B"/>
                          </a:solidFill>
                          <a:latin typeface="Meiryo UI" pitchFamily="34" charset="0"/>
                          <a:ea typeface="Meiryo UI" pitchFamily="34" charset="-122"/>
                          <a:cs typeface="Meiryo UI" pitchFamily="34" charset="-120"/>
                        </a:rPr>
                        <a:t>Step2</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AFBFC"/>
                    </a:solidFill>
                  </a:tcPr>
                </a:tc>
                <a:tc>
                  <a:txBody>
                    <a:bodyPr/>
                    <a:lstStyle/>
                    <a:p>
                      <a:pPr algn="ctr" indent="0" marL="0">
                        <a:buNone/>
                      </a:pPr>
                      <a:r>
                        <a:rPr lang="en-US" sz="1000" dirty="0">
                          <a:solidFill>
                            <a:srgbClr val="2B2B2B"/>
                          </a:solidFill>
                          <a:latin typeface="Meiryo UI" pitchFamily="34" charset="0"/>
                          <a:ea typeface="Meiryo UI" pitchFamily="34" charset="-122"/>
                          <a:cs typeface="Meiryo UI" pitchFamily="34" charset="-120"/>
                        </a:rPr>
                        <a:t>Step3</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AFBFC"/>
                    </a:solidFill>
                  </a:tcPr>
                </a:tc>
                <a:tc>
                  <a:txBody>
                    <a:bodyPr/>
                    <a:lstStyle/>
                    <a:p>
                      <a:pPr algn="ctr" indent="0" marL="0">
                        <a:buNone/>
                      </a:pPr>
                      <a:r>
                        <a:rPr lang="en-US" sz="1000" dirty="0">
                          <a:solidFill>
                            <a:srgbClr val="2B2B2B"/>
                          </a:solidFill>
                          <a:latin typeface="Meiryo UI" pitchFamily="34" charset="0"/>
                          <a:ea typeface="Meiryo UI" pitchFamily="34" charset="-122"/>
                          <a:cs typeface="Meiryo UI" pitchFamily="34" charset="-120"/>
                        </a:rPr>
                        <a:t>Step2〜3</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AFBFC"/>
                    </a:solidFill>
                  </a:tcPr>
                </a:tc>
                <a:tc>
                  <a:txBody>
                    <a:bodyPr/>
                    <a:lstStyle/>
                    <a:p>
                      <a:pPr algn="ctr" indent="0" marL="0">
                        <a:buNone/>
                      </a:pPr>
                      <a:r>
                        <a:rPr lang="en-US" sz="1000" dirty="0">
                          <a:solidFill>
                            <a:srgbClr val="2B2B2B"/>
                          </a:solidFill>
                          <a:latin typeface="Meiryo UI" pitchFamily="34" charset="0"/>
                          <a:ea typeface="Meiryo UI" pitchFamily="34" charset="-122"/>
                          <a:cs typeface="Meiryo UI" pitchFamily="34" charset="-120"/>
                        </a:rPr>
                        <a:t>Step3〜4</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AFBFC"/>
                    </a:solidFill>
                  </a:tcPr>
                </a:tc>
                <a:tc>
                  <a:txBody>
                    <a:bodyPr/>
                    <a:lstStyle/>
                    <a:p>
                      <a:pPr algn="ctr" indent="0" marL="0">
                        <a:buNone/>
                      </a:pPr>
                      <a:r>
                        <a:rPr lang="en-US" sz="1000" dirty="0">
                          <a:solidFill>
                            <a:srgbClr val="2B2B2B"/>
                          </a:solidFill>
                          <a:latin typeface="Meiryo UI" pitchFamily="34" charset="0"/>
                          <a:ea typeface="Meiryo UI" pitchFamily="34" charset="-122"/>
                          <a:cs typeface="Meiryo UI" pitchFamily="34" charset="-120"/>
                        </a:rPr>
                        <a:t>Step3〜4</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AFBFC"/>
                    </a:solidFill>
                  </a:tcPr>
                </a:tc>
              </a:tr>
              <a:tr h="429768">
                <a:tc>
                  <a:txBody>
                    <a:bodyPr/>
                    <a:lstStyle/>
                    <a:p>
                      <a:pPr indent="0" marL="0">
                        <a:buNone/>
                      </a:pPr>
                      <a:r>
                        <a:rPr lang="en-US" sz="1000" b="1" dirty="0">
                          <a:solidFill>
                            <a:srgbClr val="1B2A49"/>
                          </a:solidFill>
                          <a:latin typeface="Meiryo UI" pitchFamily="34" charset="0"/>
                          <a:ea typeface="Meiryo UI" pitchFamily="34" charset="-122"/>
                          <a:cs typeface="Meiryo UI" pitchFamily="34" charset="-120"/>
                        </a:rPr>
                        <a:t>難易度</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3EAF5"/>
                    </a:solidFill>
                  </a:tcPr>
                </a:tc>
                <a:tc>
                  <a:txBody>
                    <a:bodyPr/>
                    <a:lstStyle/>
                    <a:p>
                      <a:pPr algn="ctr" indent="0" marL="0">
                        <a:buNone/>
                      </a:pPr>
                      <a:r>
                        <a:rPr lang="en-US" sz="1000" dirty="0">
                          <a:solidFill>
                            <a:srgbClr val="E8912D"/>
                          </a:solidFill>
                          <a:latin typeface="Meiryo UI" pitchFamily="34" charset="0"/>
                          <a:ea typeface="Meiryo UI" pitchFamily="34" charset="-122"/>
                          <a:cs typeface="Meiryo UI" pitchFamily="34" charset="-120"/>
                        </a:rPr>
                        <a:t>★☆☆☆☆</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E8912D"/>
                          </a:solidFill>
                          <a:latin typeface="Meiryo UI" pitchFamily="34" charset="0"/>
                          <a:ea typeface="Meiryo UI" pitchFamily="34" charset="-122"/>
                          <a:cs typeface="Meiryo UI" pitchFamily="34" charset="-120"/>
                        </a:rPr>
                        <a:t>★☆☆☆☆</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E8912D"/>
                          </a:solidFill>
                          <a:latin typeface="Meiryo UI" pitchFamily="34" charset="0"/>
                          <a:ea typeface="Meiryo UI" pitchFamily="34" charset="-122"/>
                          <a:cs typeface="Meiryo UI" pitchFamily="34" charset="-120"/>
                        </a:rPr>
                        <a:t>★★☆☆☆</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E8912D"/>
                          </a:solidFill>
                          <a:latin typeface="Meiryo UI" pitchFamily="34" charset="0"/>
                          <a:ea typeface="Meiryo UI" pitchFamily="34" charset="-122"/>
                          <a:cs typeface="Meiryo UI" pitchFamily="34" charset="-120"/>
                        </a:rPr>
                        <a:t>★★★☆☆</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E8912D"/>
                          </a:solidFill>
                          <a:latin typeface="Meiryo UI" pitchFamily="34" charset="0"/>
                          <a:ea typeface="Meiryo UI" pitchFamily="34" charset="-122"/>
                          <a:cs typeface="Meiryo UI" pitchFamily="34" charset="-120"/>
                        </a:rPr>
                        <a:t>★★☆☆☆</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E8912D"/>
                          </a:solidFill>
                          <a:latin typeface="Meiryo UI" pitchFamily="34" charset="0"/>
                          <a:ea typeface="Meiryo UI" pitchFamily="34" charset="-122"/>
                          <a:cs typeface="Meiryo UI" pitchFamily="34" charset="-120"/>
                        </a:rPr>
                        <a:t>★★★★☆</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E8912D"/>
                          </a:solidFill>
                          <a:latin typeface="Meiryo UI" pitchFamily="34" charset="0"/>
                          <a:ea typeface="Meiryo UI" pitchFamily="34" charset="-122"/>
                          <a:cs typeface="Meiryo UI" pitchFamily="34" charset="-120"/>
                        </a:rPr>
                        <a:t>★★★☆☆</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429768">
                <a:tc>
                  <a:txBody>
                    <a:bodyPr/>
                    <a:lstStyle/>
                    <a:p>
                      <a:pPr indent="0" marL="0">
                        <a:buNone/>
                      </a:pPr>
                      <a:r>
                        <a:rPr lang="en-US" sz="1000" b="1" dirty="0">
                          <a:solidFill>
                            <a:srgbClr val="1B2A49"/>
                          </a:solidFill>
                          <a:latin typeface="Meiryo UI" pitchFamily="34" charset="0"/>
                          <a:ea typeface="Meiryo UI" pitchFamily="34" charset="-122"/>
                          <a:cs typeface="Meiryo UI" pitchFamily="34" charset="-120"/>
                        </a:rPr>
                        <a:t>期間目安</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3EAF5"/>
                    </a:solidFill>
                  </a:tcPr>
                </a:tc>
                <a:tc>
                  <a:txBody>
                    <a:bodyPr/>
                    <a:lstStyle/>
                    <a:p>
                      <a:pPr algn="ctr" indent="0" marL="0">
                        <a:buNone/>
                      </a:pPr>
                      <a:r>
                        <a:rPr lang="en-US" sz="1000" dirty="0">
                          <a:solidFill>
                            <a:srgbClr val="2B2B2B"/>
                          </a:solidFill>
                          <a:latin typeface="Meiryo UI" pitchFamily="34" charset="0"/>
                          <a:ea typeface="Meiryo UI" pitchFamily="34" charset="-122"/>
                          <a:cs typeface="Meiryo UI" pitchFamily="34" charset="-120"/>
                        </a:rPr>
                        <a:t>〜1ヶ月</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AFBFC"/>
                    </a:solidFill>
                  </a:tcPr>
                </a:tc>
                <a:tc>
                  <a:txBody>
                    <a:bodyPr/>
                    <a:lstStyle/>
                    <a:p>
                      <a:pPr algn="ctr" indent="0" marL="0">
                        <a:buNone/>
                      </a:pPr>
                      <a:r>
                        <a:rPr lang="en-US" sz="1000" dirty="0">
                          <a:solidFill>
                            <a:srgbClr val="2B2B2B"/>
                          </a:solidFill>
                          <a:latin typeface="Meiryo UI" pitchFamily="34" charset="0"/>
                          <a:ea typeface="Meiryo UI" pitchFamily="34" charset="-122"/>
                          <a:cs typeface="Meiryo UI" pitchFamily="34" charset="-120"/>
                        </a:rPr>
                        <a:t>〜1ヶ月</a:t>
                      </a:r>
                      <a:endParaRPr lang="en-US" sz="1000" dirty="0">
                        <a:latin typeface="Meiryo UI" charset="0"/>
                        <a:ea typeface="Meiryo UI" charset="0"/>
                        <a:cs typeface="Meiryo UI" charset="0"/>
                      </a:endParaRPr>
                    </a:p>
                    <a:p>
                      <a:pPr algn="ctr" indent="0" marL="0">
                        <a:buNone/>
                      </a:pPr>
                      <a:r>
                        <a:rPr lang="en-US" sz="1000" dirty="0">
                          <a:solidFill>
                            <a:srgbClr val="2B2B2B"/>
                          </a:solidFill>
                          <a:latin typeface="Meiryo UI" pitchFamily="34" charset="0"/>
                          <a:ea typeface="Meiryo UI" pitchFamily="34" charset="-122"/>
                          <a:cs typeface="Meiryo UI" pitchFamily="34" charset="-120"/>
                        </a:rPr>
                        <a:t>（デモ済み）</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AFBFC"/>
                    </a:solidFill>
                  </a:tcPr>
                </a:tc>
                <a:tc>
                  <a:txBody>
                    <a:bodyPr/>
                    <a:lstStyle/>
                    <a:p>
                      <a:pPr algn="ctr" indent="0" marL="0">
                        <a:buNone/>
                      </a:pPr>
                      <a:r>
                        <a:rPr lang="en-US" sz="1000" dirty="0">
                          <a:solidFill>
                            <a:srgbClr val="2B2B2B"/>
                          </a:solidFill>
                          <a:latin typeface="Meiryo UI" pitchFamily="34" charset="0"/>
                          <a:ea typeface="Meiryo UI" pitchFamily="34" charset="-122"/>
                          <a:cs typeface="Meiryo UI" pitchFamily="34" charset="-120"/>
                        </a:rPr>
                        <a:t>2〜3ヶ月</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AFBFC"/>
                    </a:solidFill>
                  </a:tcPr>
                </a:tc>
                <a:tc>
                  <a:txBody>
                    <a:bodyPr/>
                    <a:lstStyle/>
                    <a:p>
                      <a:pPr algn="ctr" indent="0" marL="0">
                        <a:buNone/>
                      </a:pPr>
                      <a:r>
                        <a:rPr lang="en-US" sz="1000" dirty="0">
                          <a:solidFill>
                            <a:srgbClr val="2B2B2B"/>
                          </a:solidFill>
                          <a:latin typeface="Meiryo UI" pitchFamily="34" charset="0"/>
                          <a:ea typeface="Meiryo UI" pitchFamily="34" charset="-122"/>
                          <a:cs typeface="Meiryo UI" pitchFamily="34" charset="-120"/>
                        </a:rPr>
                        <a:t>3〜4ヶ月</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AFBFC"/>
                    </a:solidFill>
                  </a:tcPr>
                </a:tc>
                <a:tc>
                  <a:txBody>
                    <a:bodyPr/>
                    <a:lstStyle/>
                    <a:p>
                      <a:pPr algn="ctr" indent="0" marL="0">
                        <a:buNone/>
                      </a:pPr>
                      <a:r>
                        <a:rPr lang="en-US" sz="1000" dirty="0">
                          <a:solidFill>
                            <a:srgbClr val="2B2B2B"/>
                          </a:solidFill>
                          <a:latin typeface="Meiryo UI" pitchFamily="34" charset="0"/>
                          <a:ea typeface="Meiryo UI" pitchFamily="34" charset="-122"/>
                          <a:cs typeface="Meiryo UI" pitchFamily="34" charset="-120"/>
                        </a:rPr>
                        <a:t>1〜3ヶ月</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AFBFC"/>
                    </a:solidFill>
                  </a:tcPr>
                </a:tc>
                <a:tc>
                  <a:txBody>
                    <a:bodyPr/>
                    <a:lstStyle/>
                    <a:p>
                      <a:pPr algn="ctr" indent="0" marL="0">
                        <a:buNone/>
                      </a:pPr>
                      <a:r>
                        <a:rPr lang="en-US" sz="1000" dirty="0">
                          <a:solidFill>
                            <a:srgbClr val="2B2B2B"/>
                          </a:solidFill>
                          <a:latin typeface="Meiryo UI" pitchFamily="34" charset="0"/>
                          <a:ea typeface="Meiryo UI" pitchFamily="34" charset="-122"/>
                          <a:cs typeface="Meiryo UI" pitchFamily="34" charset="-120"/>
                        </a:rPr>
                        <a:t>3〜5ヶ月</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AFBFC"/>
                    </a:solidFill>
                  </a:tcPr>
                </a:tc>
                <a:tc>
                  <a:txBody>
                    <a:bodyPr/>
                    <a:lstStyle/>
                    <a:p>
                      <a:pPr algn="ctr" indent="0" marL="0">
                        <a:buNone/>
                      </a:pPr>
                      <a:r>
                        <a:rPr lang="en-US" sz="1000" dirty="0">
                          <a:solidFill>
                            <a:srgbClr val="2B2B2B"/>
                          </a:solidFill>
                          <a:latin typeface="Meiryo UI" pitchFamily="34" charset="0"/>
                          <a:ea typeface="Meiryo UI" pitchFamily="34" charset="-122"/>
                          <a:cs typeface="Meiryo UI" pitchFamily="34" charset="-120"/>
                        </a:rPr>
                        <a:t>2〜4ヶ月</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AFBFC"/>
                    </a:solidFill>
                  </a:tcPr>
                </a:tc>
              </a:tr>
              <a:tr h="429768">
                <a:tc>
                  <a:txBody>
                    <a:bodyPr/>
                    <a:lstStyle/>
                    <a:p>
                      <a:pPr indent="0" marL="0">
                        <a:buNone/>
                      </a:pPr>
                      <a:r>
                        <a:rPr lang="en-US" sz="1000" b="1" dirty="0">
                          <a:solidFill>
                            <a:srgbClr val="1B2A49"/>
                          </a:solidFill>
                          <a:latin typeface="Meiryo UI" pitchFamily="34" charset="0"/>
                          <a:ea typeface="Meiryo UI" pitchFamily="34" charset="-122"/>
                          <a:cs typeface="Meiryo UI" pitchFamily="34" charset="-120"/>
                        </a:rPr>
                        <a:t>数値データの渡し方</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3EAF5"/>
                    </a:solidFill>
                  </a:tcPr>
                </a:tc>
                <a:tc>
                  <a:txBody>
                    <a:bodyPr/>
                    <a:lstStyle/>
                    <a:p>
                      <a:pPr algn="ctr" indent="0" marL="0">
                        <a:buNone/>
                      </a:pPr>
                      <a:r>
                        <a:rPr lang="en-US" sz="1000" dirty="0">
                          <a:solidFill>
                            <a:srgbClr val="2B2B2B"/>
                          </a:solidFill>
                          <a:latin typeface="Meiryo UI" pitchFamily="34" charset="0"/>
                          <a:ea typeface="Meiryo UI" pitchFamily="34" charset="-122"/>
                          <a:cs typeface="Meiryo UI" pitchFamily="34" charset="-120"/>
                        </a:rPr>
                        <a:t>手動で添付</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B2B2B"/>
                          </a:solidFill>
                          <a:latin typeface="Meiryo UI" pitchFamily="34" charset="0"/>
                          <a:ea typeface="Meiryo UI" pitchFamily="34" charset="-122"/>
                          <a:cs typeface="Meiryo UI" pitchFamily="34" charset="-120"/>
                        </a:rPr>
                        <a:t>SharePoint上</a:t>
                      </a:r>
                      <a:endParaRPr lang="en-US" sz="1000" dirty="0">
                        <a:latin typeface="Meiryo UI" charset="0"/>
                        <a:ea typeface="Meiryo UI" charset="0"/>
                        <a:cs typeface="Meiryo UI" charset="0"/>
                      </a:endParaRPr>
                    </a:p>
                    <a:p>
                      <a:pPr algn="ctr" indent="0" marL="0">
                        <a:buNone/>
                      </a:pPr>
                      <a:r>
                        <a:rPr lang="en-US" sz="1000" dirty="0">
                          <a:solidFill>
                            <a:srgbClr val="2B2B2B"/>
                          </a:solidFill>
                          <a:latin typeface="Meiryo UI" pitchFamily="34" charset="0"/>
                          <a:ea typeface="Meiryo UI" pitchFamily="34" charset="-122"/>
                          <a:cs typeface="Meiryo UI" pitchFamily="34" charset="-120"/>
                        </a:rPr>
                        <a:t>のファイル</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B2B2B"/>
                          </a:solidFill>
                          <a:latin typeface="Meiryo UI" pitchFamily="34" charset="0"/>
                          <a:ea typeface="Meiryo UI" pitchFamily="34" charset="-122"/>
                          <a:cs typeface="Meiryo UI" pitchFamily="34" charset="-120"/>
                        </a:rPr>
                        <a:t>加工済みを</a:t>
                      </a:r>
                      <a:endParaRPr lang="en-US" sz="1000" dirty="0">
                        <a:latin typeface="Meiryo UI" charset="0"/>
                        <a:ea typeface="Meiryo UI" charset="0"/>
                        <a:cs typeface="Meiryo UI" charset="0"/>
                      </a:endParaRPr>
                    </a:p>
                    <a:p>
                      <a:pPr algn="ctr" indent="0" marL="0">
                        <a:buNone/>
                      </a:pPr>
                      <a:r>
                        <a:rPr lang="en-US" sz="1000" dirty="0">
                          <a:solidFill>
                            <a:srgbClr val="2B2B2B"/>
                          </a:solidFill>
                          <a:latin typeface="Meiryo UI" pitchFamily="34" charset="0"/>
                          <a:ea typeface="Meiryo UI" pitchFamily="34" charset="-122"/>
                          <a:cs typeface="Meiryo UI" pitchFamily="34" charset="-120"/>
                        </a:rPr>
                        <a:t>転送</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B2B2B"/>
                          </a:solidFill>
                          <a:latin typeface="Meiryo UI" pitchFamily="34" charset="0"/>
                          <a:ea typeface="Meiryo UI" pitchFamily="34" charset="-122"/>
                          <a:cs typeface="Meiryo UI" pitchFamily="34" charset="-120"/>
                        </a:rPr>
                        <a:t>加工済みを</a:t>
                      </a:r>
                      <a:endParaRPr lang="en-US" sz="1000" dirty="0">
                        <a:latin typeface="Meiryo UI" charset="0"/>
                        <a:ea typeface="Meiryo UI" charset="0"/>
                        <a:cs typeface="Meiryo UI" charset="0"/>
                      </a:endParaRPr>
                    </a:p>
                    <a:p>
                      <a:pPr algn="ctr" indent="0" marL="0">
                        <a:buNone/>
                      </a:pPr>
                      <a:r>
                        <a:rPr lang="en-US" sz="1000" dirty="0">
                          <a:solidFill>
                            <a:srgbClr val="2B2B2B"/>
                          </a:solidFill>
                          <a:latin typeface="Meiryo UI" pitchFamily="34" charset="0"/>
                          <a:ea typeface="Meiryo UI" pitchFamily="34" charset="-122"/>
                          <a:cs typeface="Meiryo UI" pitchFamily="34" charset="-120"/>
                        </a:rPr>
                        <a:t>転送</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B2B2B"/>
                          </a:solidFill>
                          <a:latin typeface="Meiryo UI" pitchFamily="34" charset="0"/>
                          <a:ea typeface="Meiryo UI" pitchFamily="34" charset="-122"/>
                          <a:cs typeface="Meiryo UI" pitchFamily="34" charset="-120"/>
                        </a:rPr>
                        <a:t>加工済みを</a:t>
                      </a:r>
                      <a:endParaRPr lang="en-US" sz="1000" dirty="0">
                        <a:latin typeface="Meiryo UI" charset="0"/>
                        <a:ea typeface="Meiryo UI" charset="0"/>
                        <a:cs typeface="Meiryo UI" charset="0"/>
                      </a:endParaRPr>
                    </a:p>
                    <a:p>
                      <a:pPr algn="ctr" indent="0" marL="0">
                        <a:buNone/>
                      </a:pPr>
                      <a:r>
                        <a:rPr lang="en-US" sz="1000" dirty="0">
                          <a:solidFill>
                            <a:srgbClr val="2B2B2B"/>
                          </a:solidFill>
                          <a:latin typeface="Meiryo UI" pitchFamily="34" charset="0"/>
                          <a:ea typeface="Meiryo UI" pitchFamily="34" charset="-122"/>
                          <a:cs typeface="Meiryo UI" pitchFamily="34" charset="-120"/>
                        </a:rPr>
                        <a:t>転送</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B2B2B"/>
                          </a:solidFill>
                          <a:latin typeface="Meiryo UI" pitchFamily="34" charset="0"/>
                          <a:ea typeface="Meiryo UI" pitchFamily="34" charset="-122"/>
                          <a:cs typeface="Meiryo UI" pitchFamily="34" charset="-120"/>
                        </a:rPr>
                        <a:t>加工済みを</a:t>
                      </a:r>
                      <a:endParaRPr lang="en-US" sz="1000" dirty="0">
                        <a:latin typeface="Meiryo UI" charset="0"/>
                        <a:ea typeface="Meiryo UI" charset="0"/>
                        <a:cs typeface="Meiryo UI" charset="0"/>
                      </a:endParaRPr>
                    </a:p>
                    <a:p>
                      <a:pPr algn="ctr" indent="0" marL="0">
                        <a:buNone/>
                      </a:pPr>
                      <a:r>
                        <a:rPr lang="en-US" sz="1000" dirty="0">
                          <a:solidFill>
                            <a:srgbClr val="2B2B2B"/>
                          </a:solidFill>
                          <a:latin typeface="Meiryo UI" pitchFamily="34" charset="0"/>
                          <a:ea typeface="Meiryo UI" pitchFamily="34" charset="-122"/>
                          <a:cs typeface="Meiryo UI" pitchFamily="34" charset="-120"/>
                        </a:rPr>
                        <a:t>転送</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B2B2B"/>
                          </a:solidFill>
                          <a:latin typeface="Meiryo UI" pitchFamily="34" charset="0"/>
                          <a:ea typeface="Meiryo UI" pitchFamily="34" charset="-122"/>
                          <a:cs typeface="Meiryo UI" pitchFamily="34" charset="-120"/>
                        </a:rPr>
                        <a:t>加工済みを</a:t>
                      </a:r>
                      <a:endParaRPr lang="en-US" sz="1000" dirty="0">
                        <a:latin typeface="Meiryo UI" charset="0"/>
                        <a:ea typeface="Meiryo UI" charset="0"/>
                        <a:cs typeface="Meiryo UI" charset="0"/>
                      </a:endParaRPr>
                    </a:p>
                    <a:p>
                      <a:pPr algn="ctr" indent="0" marL="0">
                        <a:buNone/>
                      </a:pPr>
                      <a:r>
                        <a:rPr lang="en-US" sz="1000" dirty="0">
                          <a:solidFill>
                            <a:srgbClr val="2B2B2B"/>
                          </a:solidFill>
                          <a:latin typeface="Meiryo UI" pitchFamily="34" charset="0"/>
                          <a:ea typeface="Meiryo UI" pitchFamily="34" charset="-122"/>
                          <a:cs typeface="Meiryo UI" pitchFamily="34" charset="-120"/>
                        </a:rPr>
                        <a:t>転送</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429768">
                <a:tc>
                  <a:txBody>
                    <a:bodyPr/>
                    <a:lstStyle/>
                    <a:p>
                      <a:pPr indent="0" marL="0">
                        <a:buNone/>
                      </a:pPr>
                      <a:r>
                        <a:rPr lang="en-US" sz="1000" b="1" dirty="0">
                          <a:solidFill>
                            <a:srgbClr val="1B2A49"/>
                          </a:solidFill>
                          <a:latin typeface="Meiryo UI" pitchFamily="34" charset="0"/>
                          <a:ea typeface="Meiryo UI" pitchFamily="34" charset="-122"/>
                          <a:cs typeface="Meiryo UI" pitchFamily="34" charset="-120"/>
                        </a:rPr>
                        <a:t>社内資料の置き場所</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3EAF5"/>
                    </a:solidFill>
                  </a:tcPr>
                </a:tc>
                <a:tc>
                  <a:txBody>
                    <a:bodyPr/>
                    <a:lstStyle/>
                    <a:p>
                      <a:pPr algn="ctr" indent="0" marL="0">
                        <a:buNone/>
                      </a:pPr>
                      <a:r>
                        <a:rPr lang="en-US" sz="1000" dirty="0">
                          <a:solidFill>
                            <a:srgbClr val="2B2B2B"/>
                          </a:solidFill>
                          <a:latin typeface="Meiryo UI" pitchFamily="34" charset="0"/>
                          <a:ea typeface="Meiryo UI" pitchFamily="34" charset="-122"/>
                          <a:cs typeface="Meiryo UI" pitchFamily="34" charset="-120"/>
                        </a:rPr>
                        <a:t>M365</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AFBFC"/>
                    </a:solidFill>
                  </a:tcPr>
                </a:tc>
                <a:tc>
                  <a:txBody>
                    <a:bodyPr/>
                    <a:lstStyle/>
                    <a:p>
                      <a:pPr algn="ctr" indent="0" marL="0">
                        <a:buNone/>
                      </a:pPr>
                      <a:r>
                        <a:rPr lang="en-US" sz="1000" dirty="0">
                          <a:solidFill>
                            <a:srgbClr val="2B2B2B"/>
                          </a:solidFill>
                          <a:latin typeface="Meiryo UI" pitchFamily="34" charset="0"/>
                          <a:ea typeface="Meiryo UI" pitchFamily="34" charset="-122"/>
                          <a:cs typeface="Meiryo UI" pitchFamily="34" charset="-120"/>
                        </a:rPr>
                        <a:t>M365</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AFBFC"/>
                    </a:solidFill>
                  </a:tcPr>
                </a:tc>
                <a:tc>
                  <a:txBody>
                    <a:bodyPr/>
                    <a:lstStyle/>
                    <a:p>
                      <a:pPr algn="ctr" indent="0" marL="0">
                        <a:buNone/>
                      </a:pPr>
                      <a:r>
                        <a:rPr lang="en-US" sz="1000" dirty="0">
                          <a:solidFill>
                            <a:srgbClr val="2B2B2B"/>
                          </a:solidFill>
                          <a:latin typeface="Meiryo UI" pitchFamily="34" charset="0"/>
                          <a:ea typeface="Meiryo UI" pitchFamily="34" charset="-122"/>
                          <a:cs typeface="Meiryo UI" pitchFamily="34" charset="-120"/>
                        </a:rPr>
                        <a:t>M365</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AFBFC"/>
                    </a:solidFill>
                  </a:tcPr>
                </a:tc>
                <a:tc>
                  <a:txBody>
                    <a:bodyPr/>
                    <a:lstStyle/>
                    <a:p>
                      <a:pPr algn="ctr" indent="0" marL="0">
                        <a:buNone/>
                      </a:pPr>
                      <a:r>
                        <a:rPr lang="en-US" sz="1000" dirty="0">
                          <a:solidFill>
                            <a:srgbClr val="2B2B2B"/>
                          </a:solidFill>
                          <a:latin typeface="Meiryo UI" pitchFamily="34" charset="0"/>
                          <a:ea typeface="Meiryo UI" pitchFamily="34" charset="-122"/>
                          <a:cs typeface="Meiryo UI" pitchFamily="34" charset="-120"/>
                        </a:rPr>
                        <a:t>M365</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AFBFC"/>
                    </a:solidFill>
                  </a:tcPr>
                </a:tc>
                <a:tc>
                  <a:txBody>
                    <a:bodyPr/>
                    <a:lstStyle/>
                    <a:p>
                      <a:pPr algn="ctr" indent="0" marL="0">
                        <a:buNone/>
                      </a:pPr>
                      <a:r>
                        <a:rPr lang="en-US" sz="1000" dirty="0">
                          <a:solidFill>
                            <a:srgbClr val="2B2B2B"/>
                          </a:solidFill>
                          <a:latin typeface="Meiryo UI" pitchFamily="34" charset="0"/>
                          <a:ea typeface="Meiryo UI" pitchFamily="34" charset="-122"/>
                          <a:cs typeface="Meiryo UI" pitchFamily="34" charset="-120"/>
                        </a:rPr>
                        <a:t>M365</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AFBFC"/>
                    </a:solidFill>
                  </a:tcPr>
                </a:tc>
                <a:tc>
                  <a:txBody>
                    <a:bodyPr/>
                    <a:lstStyle/>
                    <a:p>
                      <a:pPr algn="ctr" indent="0" marL="0">
                        <a:buNone/>
                      </a:pPr>
                      <a:r>
                        <a:rPr lang="en-US" sz="1000" dirty="0">
                          <a:solidFill>
                            <a:srgbClr val="2B2B2B"/>
                          </a:solidFill>
                          <a:latin typeface="Meiryo UI" pitchFamily="34" charset="0"/>
                          <a:ea typeface="Meiryo UI" pitchFamily="34" charset="-122"/>
                          <a:cs typeface="Meiryo UI" pitchFamily="34" charset="-120"/>
                        </a:rPr>
                        <a:t>M365</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AFBFC"/>
                    </a:solidFill>
                  </a:tcPr>
                </a:tc>
                <a:tc>
                  <a:txBody>
                    <a:bodyPr/>
                    <a:lstStyle/>
                    <a:p>
                      <a:pPr algn="ctr" indent="0" marL="0">
                        <a:buNone/>
                      </a:pPr>
                      <a:r>
                        <a:rPr lang="en-US" sz="1000" dirty="0">
                          <a:solidFill>
                            <a:srgbClr val="2B2B2B"/>
                          </a:solidFill>
                          <a:latin typeface="Meiryo UI" pitchFamily="34" charset="0"/>
                          <a:ea typeface="Meiryo UI" pitchFamily="34" charset="-122"/>
                          <a:cs typeface="Meiryo UI" pitchFamily="34" charset="-120"/>
                        </a:rPr>
                        <a:t>M365</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AFBFC"/>
                    </a:solidFill>
                  </a:tcPr>
                </a:tc>
              </a:tr>
              <a:tr h="429768">
                <a:tc>
                  <a:txBody>
                    <a:bodyPr/>
                    <a:lstStyle/>
                    <a:p>
                      <a:pPr indent="0" marL="0">
                        <a:buNone/>
                      </a:pPr>
                      <a:r>
                        <a:rPr lang="en-US" sz="1000" b="1" dirty="0">
                          <a:solidFill>
                            <a:srgbClr val="1B2A49"/>
                          </a:solidFill>
                          <a:latin typeface="Meiryo UI" pitchFamily="34" charset="0"/>
                          <a:ea typeface="Meiryo UI" pitchFamily="34" charset="-122"/>
                          <a:cs typeface="Meiryo UI" pitchFamily="34" charset="-120"/>
                        </a:rPr>
                        <a:t>利用画面</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3EAF5"/>
                    </a:solidFill>
                  </a:tcPr>
                </a:tc>
                <a:tc>
                  <a:txBody>
                    <a:bodyPr/>
                    <a:lstStyle/>
                    <a:p>
                      <a:pPr algn="ctr" indent="0" marL="0">
                        <a:buNone/>
                      </a:pPr>
                      <a:r>
                        <a:rPr lang="en-US" sz="1000" dirty="0">
                          <a:solidFill>
                            <a:srgbClr val="2B2B2B"/>
                          </a:solidFill>
                          <a:latin typeface="Meiryo UI" pitchFamily="34" charset="0"/>
                          <a:ea typeface="Meiryo UI" pitchFamily="34" charset="-122"/>
                          <a:cs typeface="Meiryo UI" pitchFamily="34" charset="-120"/>
                        </a:rPr>
                        <a:t>Copilot</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B2B2B"/>
                          </a:solidFill>
                          <a:latin typeface="Meiryo UI" pitchFamily="34" charset="0"/>
                          <a:ea typeface="Meiryo UI" pitchFamily="34" charset="-122"/>
                          <a:cs typeface="Meiryo UI" pitchFamily="34" charset="-120"/>
                        </a:rPr>
                        <a:t>Copilot</a:t>
                      </a:r>
                      <a:endParaRPr lang="en-US" sz="1000" dirty="0">
                        <a:latin typeface="Meiryo UI" charset="0"/>
                        <a:ea typeface="Meiryo UI" charset="0"/>
                        <a:cs typeface="Meiryo UI" charset="0"/>
                      </a:endParaRPr>
                    </a:p>
                    <a:p>
                      <a:pPr algn="ctr" indent="0" marL="0">
                        <a:buNone/>
                      </a:pPr>
                      <a:r>
                        <a:rPr lang="en-US" sz="1000" dirty="0">
                          <a:solidFill>
                            <a:srgbClr val="2B2B2B"/>
                          </a:solidFill>
                          <a:latin typeface="Meiryo UI" pitchFamily="34" charset="0"/>
                          <a:ea typeface="Meiryo UI" pitchFamily="34" charset="-122"/>
                          <a:cs typeface="Meiryo UI" pitchFamily="34" charset="-120"/>
                        </a:rPr>
                        <a:t>／Teams</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B2B2B"/>
                          </a:solidFill>
                          <a:latin typeface="Meiryo UI" pitchFamily="34" charset="0"/>
                          <a:ea typeface="Meiryo UI" pitchFamily="34" charset="-122"/>
                          <a:cs typeface="Meiryo UI" pitchFamily="34" charset="-120"/>
                        </a:rPr>
                        <a:t>Teams</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B2B2B"/>
                          </a:solidFill>
                          <a:latin typeface="Meiryo UI" pitchFamily="34" charset="0"/>
                          <a:ea typeface="Meiryo UI" pitchFamily="34" charset="-122"/>
                          <a:cs typeface="Meiryo UI" pitchFamily="34" charset="-120"/>
                        </a:rPr>
                        <a:t>Airtable</a:t>
                      </a:r>
                      <a:endParaRPr lang="en-US" sz="1000" dirty="0">
                        <a:latin typeface="Meiryo UI" charset="0"/>
                        <a:ea typeface="Meiryo UI" charset="0"/>
                        <a:cs typeface="Meiryo UI" charset="0"/>
                      </a:endParaRPr>
                    </a:p>
                    <a:p>
                      <a:pPr algn="ctr" indent="0" marL="0">
                        <a:buNone/>
                      </a:pPr>
                      <a:r>
                        <a:rPr lang="en-US" sz="1000" dirty="0">
                          <a:solidFill>
                            <a:srgbClr val="2B2B2B"/>
                          </a:solidFill>
                          <a:latin typeface="Meiryo UI" pitchFamily="34" charset="0"/>
                          <a:ea typeface="Meiryo UI" pitchFamily="34" charset="-122"/>
                          <a:cs typeface="Meiryo UI" pitchFamily="34" charset="-120"/>
                        </a:rPr>
                        <a:t>＋Teams</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B2B2B"/>
                          </a:solidFill>
                          <a:latin typeface="Meiryo UI" pitchFamily="34" charset="0"/>
                          <a:ea typeface="Meiryo UI" pitchFamily="34" charset="-122"/>
                          <a:cs typeface="Meiryo UI" pitchFamily="34" charset="-120"/>
                        </a:rPr>
                        <a:t>Lists</a:t>
                      </a:r>
                      <a:endParaRPr lang="en-US" sz="1000" dirty="0">
                        <a:latin typeface="Meiryo UI" charset="0"/>
                        <a:ea typeface="Meiryo UI" charset="0"/>
                        <a:cs typeface="Meiryo UI" charset="0"/>
                      </a:endParaRPr>
                    </a:p>
                    <a:p>
                      <a:pPr algn="ctr" indent="0" marL="0">
                        <a:buNone/>
                      </a:pPr>
                      <a:r>
                        <a:rPr lang="en-US" sz="1000" dirty="0">
                          <a:solidFill>
                            <a:srgbClr val="2B2B2B"/>
                          </a:solidFill>
                          <a:latin typeface="Meiryo UI" pitchFamily="34" charset="0"/>
                          <a:ea typeface="Meiryo UI" pitchFamily="34" charset="-122"/>
                          <a:cs typeface="Meiryo UI" pitchFamily="34" charset="-120"/>
                        </a:rPr>
                        <a:t>／Teams</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B2B2B"/>
                          </a:solidFill>
                          <a:latin typeface="Meiryo UI" pitchFamily="34" charset="0"/>
                          <a:ea typeface="Meiryo UI" pitchFamily="34" charset="-122"/>
                          <a:cs typeface="Meiryo UI" pitchFamily="34" charset="-120"/>
                        </a:rPr>
                        <a:t>専用アプリ</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B2B2B"/>
                          </a:solidFill>
                          <a:latin typeface="Meiryo UI" pitchFamily="34" charset="0"/>
                          <a:ea typeface="Meiryo UI" pitchFamily="34" charset="-122"/>
                          <a:cs typeface="Meiryo UI" pitchFamily="34" charset="-120"/>
                        </a:rPr>
                        <a:t>専用アプリ</a:t>
                      </a:r>
                      <a:endParaRPr lang="en-US" sz="1000" dirty="0">
                        <a:latin typeface="Meiryo UI" charset="0"/>
                        <a:ea typeface="Meiryo UI" charset="0"/>
                        <a:cs typeface="Meiryo UI" charset="0"/>
                      </a:endParaRPr>
                    </a:p>
                    <a:p>
                      <a:pPr algn="ctr" indent="0" marL="0">
                        <a:buNone/>
                      </a:pPr>
                      <a:r>
                        <a:rPr lang="en-US" sz="1000" dirty="0">
                          <a:solidFill>
                            <a:srgbClr val="2B2B2B"/>
                          </a:solidFill>
                          <a:latin typeface="Meiryo UI" pitchFamily="34" charset="0"/>
                          <a:ea typeface="Meiryo UI" pitchFamily="34" charset="-122"/>
                          <a:cs typeface="Meiryo UI" pitchFamily="34" charset="-120"/>
                        </a:rPr>
                        <a:t>＋Lists</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429768">
                <a:tc>
                  <a:txBody>
                    <a:bodyPr/>
                    <a:lstStyle/>
                    <a:p>
                      <a:pPr indent="0" marL="0">
                        <a:buNone/>
                      </a:pPr>
                      <a:r>
                        <a:rPr lang="en-US" sz="1000" b="1" dirty="0">
                          <a:solidFill>
                            <a:srgbClr val="1B2A49"/>
                          </a:solidFill>
                          <a:latin typeface="Meiryo UI" pitchFamily="34" charset="0"/>
                          <a:ea typeface="Meiryo UI" pitchFamily="34" charset="-122"/>
                          <a:cs typeface="Meiryo UI" pitchFamily="34" charset="-120"/>
                        </a:rPr>
                        <a:t>主な担い手</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3EAF5"/>
                    </a:solidFill>
                  </a:tcPr>
                </a:tc>
                <a:tc>
                  <a:txBody>
                    <a:bodyPr/>
                    <a:lstStyle/>
                    <a:p>
                      <a:pPr algn="ctr" indent="0" marL="0">
                        <a:buNone/>
                      </a:pPr>
                      <a:r>
                        <a:rPr lang="en-US" sz="1000" dirty="0">
                          <a:solidFill>
                            <a:srgbClr val="2B2B2B"/>
                          </a:solidFill>
                          <a:latin typeface="Meiryo UI" pitchFamily="34" charset="0"/>
                          <a:ea typeface="Meiryo UI" pitchFamily="34" charset="-122"/>
                          <a:cs typeface="Meiryo UI" pitchFamily="34" charset="-120"/>
                        </a:rPr>
                        <a:t>業務部門</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AFBFC"/>
                    </a:solidFill>
                  </a:tcPr>
                </a:tc>
                <a:tc>
                  <a:txBody>
                    <a:bodyPr/>
                    <a:lstStyle/>
                    <a:p>
                      <a:pPr algn="ctr" indent="0" marL="0">
                        <a:buNone/>
                      </a:pPr>
                      <a:r>
                        <a:rPr lang="en-US" sz="1000" dirty="0">
                          <a:solidFill>
                            <a:srgbClr val="2B2B2B"/>
                          </a:solidFill>
                          <a:latin typeface="Meiryo UI" pitchFamily="34" charset="0"/>
                          <a:ea typeface="Meiryo UI" pitchFamily="34" charset="-122"/>
                          <a:cs typeface="Meiryo UI" pitchFamily="34" charset="-120"/>
                        </a:rPr>
                        <a:t>業務部門</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AFBFC"/>
                    </a:solidFill>
                  </a:tcPr>
                </a:tc>
                <a:tc>
                  <a:txBody>
                    <a:bodyPr/>
                    <a:lstStyle/>
                    <a:p>
                      <a:pPr algn="ctr" indent="0" marL="0">
                        <a:buNone/>
                      </a:pPr>
                      <a:r>
                        <a:rPr lang="en-US" sz="1000" dirty="0">
                          <a:solidFill>
                            <a:srgbClr val="2B2B2B"/>
                          </a:solidFill>
                          <a:latin typeface="Meiryo UI" pitchFamily="34" charset="0"/>
                          <a:ea typeface="Meiryo UI" pitchFamily="34" charset="-122"/>
                          <a:cs typeface="Meiryo UI" pitchFamily="34" charset="-120"/>
                        </a:rPr>
                        <a:t>業務部門</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AFBFC"/>
                    </a:solidFill>
                  </a:tcPr>
                </a:tc>
                <a:tc>
                  <a:txBody>
                    <a:bodyPr/>
                    <a:lstStyle/>
                    <a:p>
                      <a:pPr algn="ctr" indent="0" marL="0">
                        <a:buNone/>
                      </a:pPr>
                      <a:r>
                        <a:rPr lang="en-US" sz="1000" dirty="0">
                          <a:solidFill>
                            <a:srgbClr val="2B2B2B"/>
                          </a:solidFill>
                          <a:latin typeface="Meiryo UI" pitchFamily="34" charset="0"/>
                          <a:ea typeface="Meiryo UI" pitchFamily="34" charset="-122"/>
                          <a:cs typeface="Meiryo UI" pitchFamily="34" charset="-120"/>
                        </a:rPr>
                        <a:t>業務部門</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AFBFC"/>
                    </a:solidFill>
                  </a:tcPr>
                </a:tc>
                <a:tc>
                  <a:txBody>
                    <a:bodyPr/>
                    <a:lstStyle/>
                    <a:p>
                      <a:pPr algn="ctr" indent="0" marL="0">
                        <a:buNone/>
                      </a:pPr>
                      <a:r>
                        <a:rPr lang="en-US" sz="1000" dirty="0">
                          <a:solidFill>
                            <a:srgbClr val="2B2B2B"/>
                          </a:solidFill>
                          <a:latin typeface="Meiryo UI" pitchFamily="34" charset="0"/>
                          <a:ea typeface="Meiryo UI" pitchFamily="34" charset="-122"/>
                          <a:cs typeface="Meiryo UI" pitchFamily="34" charset="-120"/>
                        </a:rPr>
                        <a:t>業務部門</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AFBFC"/>
                    </a:solidFill>
                  </a:tcPr>
                </a:tc>
                <a:tc>
                  <a:txBody>
                    <a:bodyPr/>
                    <a:lstStyle/>
                    <a:p>
                      <a:pPr algn="ctr" indent="0" marL="0">
                        <a:buNone/>
                      </a:pPr>
                      <a:r>
                        <a:rPr lang="en-US" sz="1000" dirty="0">
                          <a:solidFill>
                            <a:srgbClr val="2B2B2B"/>
                          </a:solidFill>
                          <a:latin typeface="Meiryo UI" pitchFamily="34" charset="0"/>
                          <a:ea typeface="Meiryo UI" pitchFamily="34" charset="-122"/>
                          <a:cs typeface="Meiryo UI" pitchFamily="34" charset="-120"/>
                        </a:rPr>
                        <a:t>業務部門</a:t>
                      </a:r>
                      <a:endParaRPr lang="en-US" sz="1000" dirty="0">
                        <a:latin typeface="Meiryo UI" charset="0"/>
                        <a:ea typeface="Meiryo UI" charset="0"/>
                        <a:cs typeface="Meiryo UI" charset="0"/>
                      </a:endParaRPr>
                    </a:p>
                    <a:p>
                      <a:pPr algn="ctr" indent="0" marL="0">
                        <a:buNone/>
                      </a:pPr>
                      <a:r>
                        <a:rPr lang="en-US" sz="1000" dirty="0">
                          <a:solidFill>
                            <a:srgbClr val="2B2B2B"/>
                          </a:solidFill>
                          <a:latin typeface="Meiryo UI" pitchFamily="34" charset="0"/>
                          <a:ea typeface="Meiryo UI" pitchFamily="34" charset="-122"/>
                          <a:cs typeface="Meiryo UI" pitchFamily="34" charset="-120"/>
                        </a:rPr>
                        <a:t>＋開発</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AFBFC"/>
                    </a:solidFill>
                  </a:tcPr>
                </a:tc>
                <a:tc>
                  <a:txBody>
                    <a:bodyPr/>
                    <a:lstStyle/>
                    <a:p>
                      <a:pPr algn="ctr" indent="0" marL="0">
                        <a:buNone/>
                      </a:pPr>
                      <a:r>
                        <a:rPr lang="en-US" sz="1000" dirty="0">
                          <a:solidFill>
                            <a:srgbClr val="2B2B2B"/>
                          </a:solidFill>
                          <a:latin typeface="Meiryo UI" pitchFamily="34" charset="0"/>
                          <a:ea typeface="Meiryo UI" pitchFamily="34" charset="-122"/>
                          <a:cs typeface="Meiryo UI" pitchFamily="34" charset="-120"/>
                        </a:rPr>
                        <a:t>業務部門</a:t>
                      </a:r>
                      <a:endParaRPr lang="en-US" sz="1000" dirty="0">
                        <a:latin typeface="Meiryo UI" charset="0"/>
                        <a:ea typeface="Meiryo UI" charset="0"/>
                        <a:cs typeface="Meiryo UI" charset="0"/>
                      </a:endParaRPr>
                    </a:p>
                    <a:p>
                      <a:pPr algn="ctr" indent="0" marL="0">
                        <a:buNone/>
                      </a:pPr>
                      <a:r>
                        <a:rPr lang="en-US" sz="1000" dirty="0">
                          <a:solidFill>
                            <a:srgbClr val="2B2B2B"/>
                          </a:solidFill>
                          <a:latin typeface="Meiryo UI" pitchFamily="34" charset="0"/>
                          <a:ea typeface="Meiryo UI" pitchFamily="34" charset="-122"/>
                          <a:cs typeface="Meiryo UI" pitchFamily="34" charset="-120"/>
                        </a:rPr>
                        <a:t>＋開発</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AFBFC"/>
                    </a:solidFill>
                  </a:tcPr>
                </a:tc>
              </a:tr>
              <a:tr h="429768">
                <a:tc>
                  <a:txBody>
                    <a:bodyPr/>
                    <a:lstStyle/>
                    <a:p>
                      <a:pPr indent="0" marL="0">
                        <a:buNone/>
                      </a:pPr>
                      <a:r>
                        <a:rPr lang="en-US" sz="1000" b="1" dirty="0">
                          <a:solidFill>
                            <a:srgbClr val="1B2A49"/>
                          </a:solidFill>
                          <a:latin typeface="Meiryo UI" pitchFamily="34" charset="0"/>
                          <a:ea typeface="Meiryo UI" pitchFamily="34" charset="-122"/>
                          <a:cs typeface="Meiryo UI" pitchFamily="34" charset="-120"/>
                        </a:rPr>
                        <a:t>主な追加コスト</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3EAF5"/>
                    </a:solidFill>
                  </a:tcPr>
                </a:tc>
                <a:tc>
                  <a:txBody>
                    <a:bodyPr/>
                    <a:lstStyle/>
                    <a:p>
                      <a:pPr algn="ctr" indent="0" marL="0">
                        <a:buNone/>
                      </a:pPr>
                      <a:r>
                        <a:rPr lang="en-US" sz="1000" dirty="0">
                          <a:solidFill>
                            <a:srgbClr val="2B2B2B"/>
                          </a:solidFill>
                          <a:latin typeface="Meiryo UI" pitchFamily="34" charset="0"/>
                          <a:ea typeface="Meiryo UI" pitchFamily="34" charset="-122"/>
                          <a:cs typeface="Meiryo UI" pitchFamily="34" charset="-120"/>
                        </a:rPr>
                        <a:t>なし</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B2B2B"/>
                          </a:solidFill>
                          <a:latin typeface="Meiryo UI" pitchFamily="34" charset="0"/>
                          <a:ea typeface="Meiryo UI" pitchFamily="34" charset="-122"/>
                          <a:cs typeface="Meiryo UI" pitchFamily="34" charset="-120"/>
                        </a:rPr>
                        <a:t>なし</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B2B2B"/>
                          </a:solidFill>
                          <a:latin typeface="Meiryo UI" pitchFamily="34" charset="0"/>
                          <a:ea typeface="Meiryo UI" pitchFamily="34" charset="-122"/>
                          <a:cs typeface="Meiryo UI" pitchFamily="34" charset="-120"/>
                        </a:rPr>
                        <a:t>Copilot Studio</a:t>
                      </a:r>
                      <a:endParaRPr lang="en-US" sz="1000" dirty="0">
                        <a:latin typeface="Meiryo UI" charset="0"/>
                        <a:ea typeface="Meiryo UI" charset="0"/>
                        <a:cs typeface="Meiryo UI" charset="0"/>
                      </a:endParaRPr>
                    </a:p>
                    <a:p>
                      <a:pPr algn="ctr" indent="0" marL="0">
                        <a:buNone/>
                      </a:pPr>
                      <a:r>
                        <a:rPr lang="en-US" sz="1000" dirty="0">
                          <a:solidFill>
                            <a:srgbClr val="2B2B2B"/>
                          </a:solidFill>
                          <a:latin typeface="Meiryo UI" pitchFamily="34" charset="0"/>
                          <a:ea typeface="Meiryo UI" pitchFamily="34" charset="-122"/>
                          <a:cs typeface="Meiryo UI" pitchFamily="34" charset="-120"/>
                        </a:rPr>
                        <a:t>PA Premium</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B2B2B"/>
                          </a:solidFill>
                          <a:latin typeface="Meiryo UI" pitchFamily="34" charset="0"/>
                          <a:ea typeface="Meiryo UI" pitchFamily="34" charset="-122"/>
                          <a:cs typeface="Meiryo UI" pitchFamily="34" charset="-120"/>
                        </a:rPr>
                        <a:t>A3＋</a:t>
                      </a:r>
                      <a:endParaRPr lang="en-US" sz="1000" dirty="0">
                        <a:latin typeface="Meiryo UI" charset="0"/>
                        <a:ea typeface="Meiryo UI" charset="0"/>
                        <a:cs typeface="Meiryo UI" charset="0"/>
                      </a:endParaRPr>
                    </a:p>
                    <a:p>
                      <a:pPr algn="ctr" indent="0" marL="0">
                        <a:buNone/>
                      </a:pPr>
                      <a:r>
                        <a:rPr lang="en-US" sz="1000" dirty="0">
                          <a:solidFill>
                            <a:srgbClr val="2B2B2B"/>
                          </a:solidFill>
                          <a:latin typeface="Meiryo UI" pitchFamily="34" charset="0"/>
                          <a:ea typeface="Meiryo UI" pitchFamily="34" charset="-122"/>
                          <a:cs typeface="Meiryo UI" pitchFamily="34" charset="-120"/>
                        </a:rPr>
                        <a:t>AI Builder等</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B2B2B"/>
                          </a:solidFill>
                          <a:latin typeface="Meiryo UI" pitchFamily="34" charset="0"/>
                          <a:ea typeface="Meiryo UI" pitchFamily="34" charset="-122"/>
                          <a:cs typeface="Meiryo UI" pitchFamily="34" charset="-120"/>
                        </a:rPr>
                        <a:t>生成部分のみ</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B2B2B"/>
                          </a:solidFill>
                          <a:latin typeface="Meiryo UI" pitchFamily="34" charset="0"/>
                          <a:ea typeface="Meiryo UI" pitchFamily="34" charset="-122"/>
                          <a:cs typeface="Meiryo UI" pitchFamily="34" charset="-120"/>
                        </a:rPr>
                        <a:t>Power Apps</a:t>
                      </a:r>
                      <a:endParaRPr lang="en-US" sz="1000" dirty="0">
                        <a:latin typeface="Meiryo UI" charset="0"/>
                        <a:ea typeface="Meiryo UI" charset="0"/>
                        <a:cs typeface="Meiryo UI" charset="0"/>
                      </a:endParaRPr>
                    </a:p>
                    <a:p>
                      <a:pPr algn="ctr" indent="0" marL="0">
                        <a:buNone/>
                      </a:pPr>
                      <a:r>
                        <a:rPr lang="en-US" sz="1000" dirty="0">
                          <a:solidFill>
                            <a:srgbClr val="2B2B2B"/>
                          </a:solidFill>
                          <a:latin typeface="Meiryo UI" pitchFamily="34" charset="0"/>
                          <a:ea typeface="Meiryo UI" pitchFamily="34" charset="-122"/>
                          <a:cs typeface="Meiryo UI" pitchFamily="34" charset="-120"/>
                        </a:rPr>
                        <a:t>Premium</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B2B2B"/>
                          </a:solidFill>
                          <a:latin typeface="Meiryo UI" pitchFamily="34" charset="0"/>
                          <a:ea typeface="Meiryo UI" pitchFamily="34" charset="-122"/>
                          <a:cs typeface="Meiryo UI" pitchFamily="34" charset="-120"/>
                        </a:rPr>
                        <a:t>Premium</a:t>
                      </a:r>
                      <a:endParaRPr lang="en-US" sz="1000" dirty="0">
                        <a:latin typeface="Meiryo UI" charset="0"/>
                        <a:ea typeface="Meiryo UI" charset="0"/>
                        <a:cs typeface="Meiryo UI" charset="0"/>
                      </a:endParaRPr>
                    </a:p>
                    <a:p>
                      <a:pPr algn="ctr" indent="0" marL="0">
                        <a:buNone/>
                      </a:pPr>
                      <a:r>
                        <a:rPr lang="en-US" sz="1000" dirty="0">
                          <a:solidFill>
                            <a:srgbClr val="2B2B2B"/>
                          </a:solidFill>
                          <a:latin typeface="Meiryo UI" pitchFamily="34" charset="0"/>
                          <a:ea typeface="Meiryo UI" pitchFamily="34" charset="-122"/>
                          <a:cs typeface="Meiryo UI" pitchFamily="34" charset="-120"/>
                        </a:rPr>
                        <a:t>（画面のみ）</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bl>
          </a:graphicData>
        </a:graphic>
      </p:graphicFrame>
      <p:sp>
        <p:nvSpPr>
          <p:cNvPr id="7" name="Text 4"/>
          <p:cNvSpPr txBox="1"/>
          <p:nvPr/>
        </p:nvSpPr>
        <p:spPr>
          <a:xfrm>
            <a:off x="548640" y="6263640"/>
            <a:ext cx="11064240" cy="274320"/>
          </a:xfrm>
          <a:prstGeom prst="rect">
            <a:avLst/>
          </a:prstGeom>
          <a:noFill/>
          <a:ln/>
        </p:spPr>
        <p:txBody>
          <a:bodyPr wrap="square" lIns="508" tIns="508" rIns="508" bIns="508" rtlCol="0" anchor="t"/>
          <a:lstStyle/>
          <a:p>
            <a:pPr indent="0" marL="0">
              <a:buNone/>
            </a:pPr>
            <a:r>
              <a:rPr lang="en-US" sz="900" dirty="0">
                <a:solidFill>
                  <a:srgbClr val="6B7280"/>
                </a:solidFill>
                <a:latin typeface="Meiryo UI" pitchFamily="34" charset="0"/>
                <a:ea typeface="Meiryo UI" pitchFamily="34" charset="-122"/>
                <a:cs typeface="Meiryo UI" pitchFamily="34" charset="-120"/>
              </a:rPr>
              <a:t>難易度（★）は開発量・必要なスキル・関係する部署やシステムの数から見た相対的な目安。期間は社内で内製し、PoC後に単独で構築した場合の概算。どの構成も「前処理した数値データをAIに渡す」点は同じ</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548640"/>
          </a:xfrm>
          <a:prstGeom prst="rect">
            <a:avLst/>
          </a:prstGeom>
          <a:noFill/>
          <a:ln/>
        </p:spPr>
        <p:txBody>
          <a:bodyPr wrap="square" lIns="0" tIns="0" rIns="0" bIns="0" rtlCol="0" anchor="ctr"/>
          <a:lstStyle/>
          <a:p>
            <a:pPr indent="0" marL="0">
              <a:buNone/>
            </a:pPr>
            <a:r>
              <a:rPr lang="en-US" sz="2600" b="1" dirty="0">
                <a:solidFill>
                  <a:srgbClr val="1B2A49"/>
                </a:solidFill>
                <a:latin typeface="Meiryo UI" pitchFamily="34" charset="0"/>
                <a:ea typeface="Meiryo UI" pitchFamily="34" charset="-122"/>
                <a:cs typeface="Meiryo UI" pitchFamily="34" charset="-120"/>
              </a:rPr>
              <a:t>構成パターンの比較②：ハイブリッド・GCP・Airtable内</a:t>
            </a:r>
            <a:endParaRPr lang="en-US" sz="2600" dirty="0"/>
          </a:p>
        </p:txBody>
      </p:sp>
      <p:sp>
        <p:nvSpPr>
          <p:cNvPr id="3" name="Text 1"/>
          <p:cNvSpPr txBox="1"/>
          <p:nvPr/>
        </p:nvSpPr>
        <p:spPr>
          <a:xfrm>
            <a:off x="548640" y="896112"/>
            <a:ext cx="11064240" cy="365760"/>
          </a:xfrm>
          <a:prstGeom prst="rect">
            <a:avLst/>
          </a:prstGeom>
          <a:noFill/>
          <a:ln/>
        </p:spPr>
        <p:txBody>
          <a:bodyPr wrap="square" lIns="0" tIns="0" rIns="0" bIns="0" rtlCol="0" anchor="ctr"/>
          <a:lstStyle/>
          <a:p>
            <a:pPr indent="0" marL="0">
              <a:buNone/>
            </a:pPr>
            <a:r>
              <a:rPr lang="en-US" sz="1400" dirty="0">
                <a:solidFill>
                  <a:srgbClr val="6B7280"/>
                </a:solidFill>
                <a:latin typeface="Meiryo UI" pitchFamily="34" charset="0"/>
                <a:ea typeface="Meiryo UI" pitchFamily="34" charset="-122"/>
                <a:cs typeface="Meiryo UI" pitchFamily="34" charset="-120"/>
              </a:rPr>
              <a:t>評価ではなく、各パターンの性質を並べたもの</a:t>
            </a:r>
            <a:endParaRPr lang="en-US" sz="1400" dirty="0"/>
          </a:p>
        </p:txBody>
      </p:sp>
      <p:sp>
        <p:nvSpPr>
          <p:cNvPr id="4" name="Text 2"/>
          <p:cNvSpPr txBox="1"/>
          <p:nvPr/>
        </p:nvSpPr>
        <p:spPr>
          <a:xfrm>
            <a:off x="7498080" y="91440"/>
            <a:ext cx="4114800" cy="22860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2. 構成パターンの全体像と比較</a:t>
            </a:r>
            <a:endParaRPr lang="en-US" sz="900" dirty="0"/>
          </a:p>
        </p:txBody>
      </p:sp>
      <p:sp>
        <p:nvSpPr>
          <p:cNvPr id="5" name="Text 3"/>
          <p:cNvSpPr txBox="1"/>
          <p:nvPr/>
        </p:nvSpPr>
        <p:spPr>
          <a:xfrm>
            <a:off x="11247120" y="6446520"/>
            <a:ext cx="457200" cy="27432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13</a:t>
            </a:r>
            <a:endParaRPr lang="en-US" sz="9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1737360"/>
                <a:gridCol w="1865376"/>
                <a:gridCol w="1865376"/>
                <a:gridCol w="1865376"/>
                <a:gridCol w="1865376"/>
                <a:gridCol w="1865376"/>
              </a:tblGrid>
              <a:tr h="365760">
                <a:tc>
                  <a:txBody>
                    <a:bodyPr/>
                    <a:lstStyle/>
                    <a:p>
                      <a:pPr indent="0" marL="0">
                        <a:buNone/>
                      </a:pP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B2A49"/>
                    </a:solidFill>
                  </a:tcPr>
                </a:tc>
                <a:tc>
                  <a:txBody>
                    <a:bodyPr/>
                    <a:lstStyle/>
                    <a:p>
                      <a:pPr algn="ctr" indent="0" marL="0">
                        <a:buNone/>
                      </a:pPr>
                      <a:r>
                        <a:rPr lang="en-US" sz="1050" b="1" dirty="0">
                          <a:solidFill>
                            <a:srgbClr val="FFFFFF"/>
                          </a:solidFill>
                          <a:latin typeface="Meiryo UI" pitchFamily="34" charset="0"/>
                          <a:ea typeface="Meiryo UI" pitchFamily="34" charset="-122"/>
                          <a:cs typeface="Meiryo UI" pitchFamily="34" charset="-120"/>
                        </a:rPr>
                        <a:t>H1</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6B4FBB"/>
                    </a:solidFill>
                  </a:tcPr>
                </a:tc>
                <a:tc>
                  <a:txBody>
                    <a:bodyPr/>
                    <a:lstStyle/>
                    <a:p>
                      <a:pPr algn="ctr" indent="0" marL="0">
                        <a:buNone/>
                      </a:pPr>
                      <a:r>
                        <a:rPr lang="en-US" sz="1050" b="1" dirty="0">
                          <a:solidFill>
                            <a:srgbClr val="FFFFFF"/>
                          </a:solidFill>
                          <a:latin typeface="Meiryo UI" pitchFamily="34" charset="0"/>
                          <a:ea typeface="Meiryo UI" pitchFamily="34" charset="-122"/>
                          <a:cs typeface="Meiryo UI" pitchFamily="34" charset="-120"/>
                        </a:rPr>
                        <a:t>B1</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4285F4"/>
                    </a:solidFill>
                  </a:tcPr>
                </a:tc>
                <a:tc>
                  <a:txBody>
                    <a:bodyPr/>
                    <a:lstStyle/>
                    <a:p>
                      <a:pPr algn="ctr" indent="0" marL="0">
                        <a:buNone/>
                      </a:pPr>
                      <a:r>
                        <a:rPr lang="en-US" sz="1050" b="1" dirty="0">
                          <a:solidFill>
                            <a:srgbClr val="FFFFFF"/>
                          </a:solidFill>
                          <a:latin typeface="Meiryo UI" pitchFamily="34" charset="0"/>
                          <a:ea typeface="Meiryo UI" pitchFamily="34" charset="-122"/>
                          <a:cs typeface="Meiryo UI" pitchFamily="34" charset="-120"/>
                        </a:rPr>
                        <a:t>B2</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4285F4"/>
                    </a:solidFill>
                  </a:tcPr>
                </a:tc>
                <a:tc>
                  <a:txBody>
                    <a:bodyPr/>
                    <a:lstStyle/>
                    <a:p>
                      <a:pPr algn="ctr" indent="0" marL="0">
                        <a:buNone/>
                      </a:pPr>
                      <a:r>
                        <a:rPr lang="en-US" sz="1050" b="1" dirty="0">
                          <a:solidFill>
                            <a:srgbClr val="FFFFFF"/>
                          </a:solidFill>
                          <a:latin typeface="Meiryo UI" pitchFamily="34" charset="0"/>
                          <a:ea typeface="Meiryo UI" pitchFamily="34" charset="-122"/>
                          <a:cs typeface="Meiryo UI" pitchFamily="34" charset="-120"/>
                        </a:rPr>
                        <a:t>B3</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4285F4"/>
                    </a:solidFill>
                  </a:tcPr>
                </a:tc>
                <a:tc>
                  <a:txBody>
                    <a:bodyPr/>
                    <a:lstStyle/>
                    <a:p>
                      <a:pPr algn="ctr" indent="0" marL="0">
                        <a:buNone/>
                      </a:pPr>
                      <a:r>
                        <a:rPr lang="en-US" sz="1050" b="1" dirty="0">
                          <a:solidFill>
                            <a:srgbClr val="FFFFFF"/>
                          </a:solidFill>
                          <a:latin typeface="Meiryo UI" pitchFamily="34" charset="0"/>
                          <a:ea typeface="Meiryo UI" pitchFamily="34" charset="-122"/>
                          <a:cs typeface="Meiryo UI" pitchFamily="34" charset="-120"/>
                        </a:rPr>
                        <a:t>C1</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C77700"/>
                    </a:solidFill>
                  </a:tcPr>
                </a:tc>
              </a:tr>
              <a:tr h="429768">
                <a:tc>
                  <a:txBody>
                    <a:bodyPr/>
                    <a:lstStyle/>
                    <a:p>
                      <a:pPr indent="0" marL="0">
                        <a:buNone/>
                      </a:pPr>
                      <a:r>
                        <a:rPr lang="en-US" sz="1050" b="1" dirty="0">
                          <a:solidFill>
                            <a:srgbClr val="1B2A49"/>
                          </a:solidFill>
                          <a:latin typeface="Meiryo UI" pitchFamily="34" charset="0"/>
                          <a:ea typeface="Meiryo UI" pitchFamily="34" charset="-122"/>
                          <a:cs typeface="Meiryo UI" pitchFamily="34" charset="-120"/>
                        </a:rPr>
                        <a:t>集約先</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3EAF5"/>
                    </a:solidFill>
                  </a:tcPr>
                </a:tc>
                <a:tc>
                  <a:txBody>
                    <a:bodyPr/>
                    <a:lstStyle/>
                    <a:p>
                      <a:pPr algn="ctr" indent="0" marL="0">
                        <a:buNone/>
                      </a:pPr>
                      <a:r>
                        <a:rPr lang="en-US" sz="1050" dirty="0">
                          <a:solidFill>
                            <a:srgbClr val="2B2B2B"/>
                          </a:solidFill>
                          <a:latin typeface="Meiryo UI" pitchFamily="34" charset="0"/>
                          <a:ea typeface="Meiryo UI" pitchFamily="34" charset="-122"/>
                          <a:cs typeface="Meiryo UI" pitchFamily="34" charset="-120"/>
                        </a:rPr>
                        <a:t>ハイブリッド</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AFBFC"/>
                    </a:solidFill>
                  </a:tcPr>
                </a:tc>
                <a:tc>
                  <a:txBody>
                    <a:bodyPr/>
                    <a:lstStyle/>
                    <a:p>
                      <a:pPr algn="ctr" indent="0" marL="0">
                        <a:buNone/>
                      </a:pPr>
                      <a:r>
                        <a:rPr lang="en-US" sz="1050" dirty="0">
                          <a:solidFill>
                            <a:srgbClr val="2B2B2B"/>
                          </a:solidFill>
                          <a:latin typeface="Meiryo UI" pitchFamily="34" charset="0"/>
                          <a:ea typeface="Meiryo UI" pitchFamily="34" charset="-122"/>
                          <a:cs typeface="Meiryo UI" pitchFamily="34" charset="-120"/>
                        </a:rPr>
                        <a:t>GCP</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AFBFC"/>
                    </a:solidFill>
                  </a:tcPr>
                </a:tc>
                <a:tc>
                  <a:txBody>
                    <a:bodyPr/>
                    <a:lstStyle/>
                    <a:p>
                      <a:pPr algn="ctr" indent="0" marL="0">
                        <a:buNone/>
                      </a:pPr>
                      <a:r>
                        <a:rPr lang="en-US" sz="1050" dirty="0">
                          <a:solidFill>
                            <a:srgbClr val="2B2B2B"/>
                          </a:solidFill>
                          <a:latin typeface="Meiryo UI" pitchFamily="34" charset="0"/>
                          <a:ea typeface="Meiryo UI" pitchFamily="34" charset="-122"/>
                          <a:cs typeface="Meiryo UI" pitchFamily="34" charset="-120"/>
                        </a:rPr>
                        <a:t>GCP</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AFBFC"/>
                    </a:solidFill>
                  </a:tcPr>
                </a:tc>
                <a:tc>
                  <a:txBody>
                    <a:bodyPr/>
                    <a:lstStyle/>
                    <a:p>
                      <a:pPr algn="ctr" indent="0" marL="0">
                        <a:buNone/>
                      </a:pPr>
                      <a:r>
                        <a:rPr lang="en-US" sz="1050" dirty="0">
                          <a:solidFill>
                            <a:srgbClr val="2B2B2B"/>
                          </a:solidFill>
                          <a:latin typeface="Meiryo UI" pitchFamily="34" charset="0"/>
                          <a:ea typeface="Meiryo UI" pitchFamily="34" charset="-122"/>
                          <a:cs typeface="Meiryo UI" pitchFamily="34" charset="-120"/>
                        </a:rPr>
                        <a:t>GCP</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AFBFC"/>
                    </a:solidFill>
                  </a:tcPr>
                </a:tc>
                <a:tc>
                  <a:txBody>
                    <a:bodyPr/>
                    <a:lstStyle/>
                    <a:p>
                      <a:pPr algn="ctr" indent="0" marL="0">
                        <a:buNone/>
                      </a:pPr>
                      <a:r>
                        <a:rPr lang="en-US" sz="1050" dirty="0">
                          <a:solidFill>
                            <a:srgbClr val="2B2B2B"/>
                          </a:solidFill>
                          <a:latin typeface="Meiryo UI" pitchFamily="34" charset="0"/>
                          <a:ea typeface="Meiryo UI" pitchFamily="34" charset="-122"/>
                          <a:cs typeface="Meiryo UI" pitchFamily="34" charset="-120"/>
                        </a:rPr>
                        <a:t>Airtable内</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AFBFC"/>
                    </a:solidFill>
                  </a:tcPr>
                </a:tc>
              </a:tr>
              <a:tr h="429768">
                <a:tc>
                  <a:txBody>
                    <a:bodyPr/>
                    <a:lstStyle/>
                    <a:p>
                      <a:pPr indent="0" marL="0">
                        <a:buNone/>
                      </a:pPr>
                      <a:r>
                        <a:rPr lang="en-US" sz="1050" b="1" dirty="0">
                          <a:solidFill>
                            <a:srgbClr val="1B2A49"/>
                          </a:solidFill>
                          <a:latin typeface="Meiryo UI" pitchFamily="34" charset="0"/>
                          <a:ea typeface="Meiryo UI" pitchFamily="34" charset="-122"/>
                          <a:cs typeface="Meiryo UI" pitchFamily="34" charset="-120"/>
                        </a:rPr>
                        <a:t>管理基盤</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3EAF5"/>
                    </a:solidFill>
                  </a:tcPr>
                </a:tc>
                <a:tc>
                  <a:txBody>
                    <a:bodyPr/>
                    <a:lstStyle/>
                    <a:p>
                      <a:pPr algn="ctr" indent="0" marL="0">
                        <a:buNone/>
                      </a:pPr>
                      <a:r>
                        <a:rPr lang="en-US" sz="1050" dirty="0">
                          <a:solidFill>
                            <a:srgbClr val="2B2B2B"/>
                          </a:solidFill>
                          <a:latin typeface="Meiryo UI" pitchFamily="34" charset="0"/>
                          <a:ea typeface="Meiryo UI" pitchFamily="34" charset="-122"/>
                          <a:cs typeface="Meiryo UI" pitchFamily="34" charset="-120"/>
                        </a:rPr>
                        <a:t>Airtable</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B2B2B"/>
                          </a:solidFill>
                          <a:latin typeface="Meiryo UI" pitchFamily="34" charset="0"/>
                          <a:ea typeface="Meiryo UI" pitchFamily="34" charset="-122"/>
                          <a:cs typeface="Meiryo UI" pitchFamily="34" charset="-120"/>
                        </a:rPr>
                        <a:t>Airtable／Lists</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B2B2B"/>
                          </a:solidFill>
                          <a:latin typeface="Meiryo UI" pitchFamily="34" charset="0"/>
                          <a:ea typeface="Meiryo UI" pitchFamily="34" charset="-122"/>
                          <a:cs typeface="Meiryo UI" pitchFamily="34" charset="-120"/>
                        </a:rPr>
                        <a:t>Airtable</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B2B2B"/>
                          </a:solidFill>
                          <a:latin typeface="Meiryo UI" pitchFamily="34" charset="0"/>
                          <a:ea typeface="Meiryo UI" pitchFamily="34" charset="-122"/>
                          <a:cs typeface="Meiryo UI" pitchFamily="34" charset="-120"/>
                        </a:rPr>
                        <a:t>独自アプリ</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B2B2B"/>
                          </a:solidFill>
                          <a:latin typeface="Meiryo UI" pitchFamily="34" charset="0"/>
                          <a:ea typeface="Meiryo UI" pitchFamily="34" charset="-122"/>
                          <a:cs typeface="Meiryo UI" pitchFamily="34" charset="-120"/>
                        </a:rPr>
                        <a:t>Airtable</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429768">
                <a:tc>
                  <a:txBody>
                    <a:bodyPr/>
                    <a:lstStyle/>
                    <a:p>
                      <a:pPr indent="0" marL="0">
                        <a:buNone/>
                      </a:pPr>
                      <a:r>
                        <a:rPr lang="en-US" sz="1050" b="1" dirty="0">
                          <a:solidFill>
                            <a:srgbClr val="1B2A49"/>
                          </a:solidFill>
                          <a:latin typeface="Meiryo UI" pitchFamily="34" charset="0"/>
                          <a:ea typeface="Meiryo UI" pitchFamily="34" charset="-122"/>
                          <a:cs typeface="Meiryo UI" pitchFamily="34" charset="-120"/>
                        </a:rPr>
                        <a:t>自動化</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3EAF5"/>
                    </a:solidFill>
                  </a:tcPr>
                </a:tc>
                <a:tc>
                  <a:txBody>
                    <a:bodyPr/>
                    <a:lstStyle/>
                    <a:p>
                      <a:pPr algn="ctr" indent="0" marL="0">
                        <a:buNone/>
                      </a:pPr>
                      <a:r>
                        <a:rPr lang="en-US" sz="1050" dirty="0">
                          <a:solidFill>
                            <a:srgbClr val="2B2B2B"/>
                          </a:solidFill>
                          <a:latin typeface="Meiryo UI" pitchFamily="34" charset="0"/>
                          <a:ea typeface="Meiryo UI" pitchFamily="34" charset="-122"/>
                          <a:cs typeface="Meiryo UI" pitchFamily="34" charset="-120"/>
                        </a:rPr>
                        <a:t>Step2〜3</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AFBFC"/>
                    </a:solidFill>
                  </a:tcPr>
                </a:tc>
                <a:tc>
                  <a:txBody>
                    <a:bodyPr/>
                    <a:lstStyle/>
                    <a:p>
                      <a:pPr algn="ctr" indent="0" marL="0">
                        <a:buNone/>
                      </a:pPr>
                      <a:r>
                        <a:rPr lang="en-US" sz="1050" dirty="0">
                          <a:solidFill>
                            <a:srgbClr val="2B2B2B"/>
                          </a:solidFill>
                          <a:latin typeface="Meiryo UI" pitchFamily="34" charset="0"/>
                          <a:ea typeface="Meiryo UI" pitchFamily="34" charset="-122"/>
                          <a:cs typeface="Meiryo UI" pitchFamily="34" charset="-120"/>
                        </a:rPr>
                        <a:t>Step2</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AFBFC"/>
                    </a:solidFill>
                  </a:tcPr>
                </a:tc>
                <a:tc>
                  <a:txBody>
                    <a:bodyPr/>
                    <a:lstStyle/>
                    <a:p>
                      <a:pPr algn="ctr" indent="0" marL="0">
                        <a:buNone/>
                      </a:pPr>
                      <a:r>
                        <a:rPr lang="en-US" sz="1050" dirty="0">
                          <a:solidFill>
                            <a:srgbClr val="2B2B2B"/>
                          </a:solidFill>
                          <a:latin typeface="Meiryo UI" pitchFamily="34" charset="0"/>
                          <a:ea typeface="Meiryo UI" pitchFamily="34" charset="-122"/>
                          <a:cs typeface="Meiryo UI" pitchFamily="34" charset="-120"/>
                        </a:rPr>
                        <a:t>Step3</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AFBFC"/>
                    </a:solidFill>
                  </a:tcPr>
                </a:tc>
                <a:tc>
                  <a:txBody>
                    <a:bodyPr/>
                    <a:lstStyle/>
                    <a:p>
                      <a:pPr algn="ctr" indent="0" marL="0">
                        <a:buNone/>
                      </a:pPr>
                      <a:r>
                        <a:rPr lang="en-US" sz="1050" dirty="0">
                          <a:solidFill>
                            <a:srgbClr val="2B2B2B"/>
                          </a:solidFill>
                          <a:latin typeface="Meiryo UI" pitchFamily="34" charset="0"/>
                          <a:ea typeface="Meiryo UI" pitchFamily="34" charset="-122"/>
                          <a:cs typeface="Meiryo UI" pitchFamily="34" charset="-120"/>
                        </a:rPr>
                        <a:t>Step3〜4</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AFBFC"/>
                    </a:solidFill>
                  </a:tcPr>
                </a:tc>
                <a:tc>
                  <a:txBody>
                    <a:bodyPr/>
                    <a:lstStyle/>
                    <a:p>
                      <a:pPr algn="ctr" indent="0" marL="0">
                        <a:buNone/>
                      </a:pPr>
                      <a:r>
                        <a:rPr lang="en-US" sz="1050" dirty="0">
                          <a:solidFill>
                            <a:srgbClr val="2B2B2B"/>
                          </a:solidFill>
                          <a:latin typeface="Meiryo UI" pitchFamily="34" charset="0"/>
                          <a:ea typeface="Meiryo UI" pitchFamily="34" charset="-122"/>
                          <a:cs typeface="Meiryo UI" pitchFamily="34" charset="-120"/>
                        </a:rPr>
                        <a:t>Step2〜3</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AFBFC"/>
                    </a:solidFill>
                  </a:tcPr>
                </a:tc>
              </a:tr>
              <a:tr h="429768">
                <a:tc>
                  <a:txBody>
                    <a:bodyPr/>
                    <a:lstStyle/>
                    <a:p>
                      <a:pPr indent="0" marL="0">
                        <a:buNone/>
                      </a:pPr>
                      <a:r>
                        <a:rPr lang="en-US" sz="1050" b="1" dirty="0">
                          <a:solidFill>
                            <a:srgbClr val="1B2A49"/>
                          </a:solidFill>
                          <a:latin typeface="Meiryo UI" pitchFamily="34" charset="0"/>
                          <a:ea typeface="Meiryo UI" pitchFamily="34" charset="-122"/>
                          <a:cs typeface="Meiryo UI" pitchFamily="34" charset="-120"/>
                        </a:rPr>
                        <a:t>難易度</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3EAF5"/>
                    </a:solidFill>
                  </a:tcPr>
                </a:tc>
                <a:tc>
                  <a:txBody>
                    <a:bodyPr/>
                    <a:lstStyle/>
                    <a:p>
                      <a:pPr algn="ctr" indent="0" marL="0">
                        <a:buNone/>
                      </a:pPr>
                      <a:r>
                        <a:rPr lang="en-US" sz="1050" dirty="0">
                          <a:solidFill>
                            <a:srgbClr val="E8912D"/>
                          </a:solidFill>
                          <a:latin typeface="Meiryo UI" pitchFamily="34" charset="0"/>
                          <a:ea typeface="Meiryo UI" pitchFamily="34" charset="-122"/>
                          <a:cs typeface="Meiryo UI" pitchFamily="34" charset="-120"/>
                        </a:rPr>
                        <a:t>★★★☆☆</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E8912D"/>
                          </a:solidFill>
                          <a:latin typeface="Meiryo UI" pitchFamily="34" charset="0"/>
                          <a:ea typeface="Meiryo UI" pitchFamily="34" charset="-122"/>
                          <a:cs typeface="Meiryo UI" pitchFamily="34" charset="-120"/>
                        </a:rPr>
                        <a:t>★★☆☆☆</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E8912D"/>
                          </a:solidFill>
                          <a:latin typeface="Meiryo UI" pitchFamily="34" charset="0"/>
                          <a:ea typeface="Meiryo UI" pitchFamily="34" charset="-122"/>
                          <a:cs typeface="Meiryo UI" pitchFamily="34" charset="-120"/>
                        </a:rPr>
                        <a:t>★★★☆☆</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E8912D"/>
                          </a:solidFill>
                          <a:latin typeface="Meiryo UI" pitchFamily="34" charset="0"/>
                          <a:ea typeface="Meiryo UI" pitchFamily="34" charset="-122"/>
                          <a:cs typeface="Meiryo UI" pitchFamily="34" charset="-120"/>
                        </a:rPr>
                        <a:t>★★★★★</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E8912D"/>
                          </a:solidFill>
                          <a:latin typeface="Meiryo UI" pitchFamily="34" charset="0"/>
                          <a:ea typeface="Meiryo UI" pitchFamily="34" charset="-122"/>
                          <a:cs typeface="Meiryo UI" pitchFamily="34" charset="-120"/>
                        </a:rPr>
                        <a:t>★☆☆☆☆</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429768">
                <a:tc>
                  <a:txBody>
                    <a:bodyPr/>
                    <a:lstStyle/>
                    <a:p>
                      <a:pPr indent="0" marL="0">
                        <a:buNone/>
                      </a:pPr>
                      <a:r>
                        <a:rPr lang="en-US" sz="1050" b="1" dirty="0">
                          <a:solidFill>
                            <a:srgbClr val="1B2A49"/>
                          </a:solidFill>
                          <a:latin typeface="Meiryo UI" pitchFamily="34" charset="0"/>
                          <a:ea typeface="Meiryo UI" pitchFamily="34" charset="-122"/>
                          <a:cs typeface="Meiryo UI" pitchFamily="34" charset="-120"/>
                        </a:rPr>
                        <a:t>期間目安</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3EAF5"/>
                    </a:solidFill>
                  </a:tcPr>
                </a:tc>
                <a:tc>
                  <a:txBody>
                    <a:bodyPr/>
                    <a:lstStyle/>
                    <a:p>
                      <a:pPr algn="ctr" indent="0" marL="0">
                        <a:buNone/>
                      </a:pPr>
                      <a:r>
                        <a:rPr lang="en-US" sz="1050" dirty="0">
                          <a:solidFill>
                            <a:srgbClr val="2B2B2B"/>
                          </a:solidFill>
                          <a:latin typeface="Meiryo UI" pitchFamily="34" charset="0"/>
                          <a:ea typeface="Meiryo UI" pitchFamily="34" charset="-122"/>
                          <a:cs typeface="Meiryo UI" pitchFamily="34" charset="-120"/>
                        </a:rPr>
                        <a:t>2〜4ヶ月</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AFBFC"/>
                    </a:solidFill>
                  </a:tcPr>
                </a:tc>
                <a:tc>
                  <a:txBody>
                    <a:bodyPr/>
                    <a:lstStyle/>
                    <a:p>
                      <a:pPr algn="ctr" indent="0" marL="0">
                        <a:buNone/>
                      </a:pPr>
                      <a:r>
                        <a:rPr lang="en-US" sz="1050" dirty="0">
                          <a:solidFill>
                            <a:srgbClr val="2B2B2B"/>
                          </a:solidFill>
                          <a:latin typeface="Meiryo UI" pitchFamily="34" charset="0"/>
                          <a:ea typeface="Meiryo UI" pitchFamily="34" charset="-122"/>
                          <a:cs typeface="Meiryo UI" pitchFamily="34" charset="-120"/>
                        </a:rPr>
                        <a:t>1〜3ヶ月</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AFBFC"/>
                    </a:solidFill>
                  </a:tcPr>
                </a:tc>
                <a:tc>
                  <a:txBody>
                    <a:bodyPr/>
                    <a:lstStyle/>
                    <a:p>
                      <a:pPr algn="ctr" indent="0" marL="0">
                        <a:buNone/>
                      </a:pPr>
                      <a:r>
                        <a:rPr lang="en-US" sz="1050" dirty="0">
                          <a:solidFill>
                            <a:srgbClr val="2B2B2B"/>
                          </a:solidFill>
                          <a:latin typeface="Meiryo UI" pitchFamily="34" charset="0"/>
                          <a:ea typeface="Meiryo UI" pitchFamily="34" charset="-122"/>
                          <a:cs typeface="Meiryo UI" pitchFamily="34" charset="-120"/>
                        </a:rPr>
                        <a:t>3〜4ヶ月</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AFBFC"/>
                    </a:solidFill>
                  </a:tcPr>
                </a:tc>
                <a:tc>
                  <a:txBody>
                    <a:bodyPr/>
                    <a:lstStyle/>
                    <a:p>
                      <a:pPr algn="ctr" indent="0" marL="0">
                        <a:buNone/>
                      </a:pPr>
                      <a:r>
                        <a:rPr lang="en-US" sz="1050" dirty="0">
                          <a:solidFill>
                            <a:srgbClr val="2B2B2B"/>
                          </a:solidFill>
                          <a:latin typeface="Meiryo UI" pitchFamily="34" charset="0"/>
                          <a:ea typeface="Meiryo UI" pitchFamily="34" charset="-122"/>
                          <a:cs typeface="Meiryo UI" pitchFamily="34" charset="-120"/>
                        </a:rPr>
                        <a:t>6ヶ月〜</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AFBFC"/>
                    </a:solidFill>
                  </a:tcPr>
                </a:tc>
                <a:tc>
                  <a:txBody>
                    <a:bodyPr/>
                    <a:lstStyle/>
                    <a:p>
                      <a:pPr algn="ctr" indent="0" marL="0">
                        <a:buNone/>
                      </a:pPr>
                      <a:r>
                        <a:rPr lang="en-US" sz="1050" dirty="0">
                          <a:solidFill>
                            <a:srgbClr val="2B2B2B"/>
                          </a:solidFill>
                          <a:latin typeface="Meiryo UI" pitchFamily="34" charset="0"/>
                          <a:ea typeface="Meiryo UI" pitchFamily="34" charset="-122"/>
                          <a:cs typeface="Meiryo UI" pitchFamily="34" charset="-120"/>
                        </a:rPr>
                        <a:t>〜1ヶ月</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AFBFC"/>
                    </a:solidFill>
                  </a:tcPr>
                </a:tc>
              </a:tr>
              <a:tr h="429768">
                <a:tc>
                  <a:txBody>
                    <a:bodyPr/>
                    <a:lstStyle/>
                    <a:p>
                      <a:pPr indent="0" marL="0">
                        <a:buNone/>
                      </a:pPr>
                      <a:r>
                        <a:rPr lang="en-US" sz="1050" b="1" dirty="0">
                          <a:solidFill>
                            <a:srgbClr val="1B2A49"/>
                          </a:solidFill>
                          <a:latin typeface="Meiryo UI" pitchFamily="34" charset="0"/>
                          <a:ea typeface="Meiryo UI" pitchFamily="34" charset="-122"/>
                          <a:cs typeface="Meiryo UI" pitchFamily="34" charset="-120"/>
                        </a:rPr>
                        <a:t>数値データの渡し方</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3EAF5"/>
                    </a:solidFill>
                  </a:tcPr>
                </a:tc>
                <a:tc>
                  <a:txBody>
                    <a:bodyPr/>
                    <a:lstStyle/>
                    <a:p>
                      <a:pPr algn="ctr" indent="0" marL="0">
                        <a:buNone/>
                      </a:pPr>
                      <a:r>
                        <a:rPr lang="en-US" sz="1050" dirty="0">
                          <a:solidFill>
                            <a:srgbClr val="2B2B2B"/>
                          </a:solidFill>
                          <a:latin typeface="Meiryo UI" pitchFamily="34" charset="0"/>
                          <a:ea typeface="Meiryo UI" pitchFamily="34" charset="-122"/>
                          <a:cs typeface="Meiryo UI" pitchFamily="34" charset="-120"/>
                        </a:rPr>
                        <a:t>API経由</a:t>
                      </a:r>
                      <a:endParaRPr lang="en-US" sz="1050" dirty="0">
                        <a:latin typeface="Meiryo UI" charset="0"/>
                        <a:ea typeface="Meiryo UI" charset="0"/>
                        <a:cs typeface="Meiryo UI" charset="0"/>
                      </a:endParaRPr>
                    </a:p>
                    <a:p>
                      <a:pPr algn="ctr" indent="0" marL="0">
                        <a:buNone/>
                      </a:pPr>
                      <a:r>
                        <a:rPr lang="en-US" sz="1050" dirty="0">
                          <a:solidFill>
                            <a:srgbClr val="2B2B2B"/>
                          </a:solidFill>
                          <a:latin typeface="Meiryo UI" pitchFamily="34" charset="0"/>
                          <a:ea typeface="Meiryo UI" pitchFamily="34" charset="-122"/>
                          <a:cs typeface="Meiryo UI" pitchFamily="34" charset="-120"/>
                        </a:rPr>
                        <a:t>（SQLも可）</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B2B2B"/>
                          </a:solidFill>
                          <a:latin typeface="Meiryo UI" pitchFamily="34" charset="0"/>
                          <a:ea typeface="Meiryo UI" pitchFamily="34" charset="-122"/>
                          <a:cs typeface="Meiryo UI" pitchFamily="34" charset="-120"/>
                        </a:rPr>
                        <a:t>データエージェント</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B2B2B"/>
                          </a:solidFill>
                          <a:latin typeface="Meiryo UI" pitchFamily="34" charset="0"/>
                          <a:ea typeface="Meiryo UI" pitchFamily="34" charset="-122"/>
                          <a:cs typeface="Meiryo UI" pitchFamily="34" charset="-120"/>
                        </a:rPr>
                        <a:t>加工済みを直接</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B2B2B"/>
                          </a:solidFill>
                          <a:latin typeface="Meiryo UI" pitchFamily="34" charset="0"/>
                          <a:ea typeface="Meiryo UI" pitchFamily="34" charset="-122"/>
                          <a:cs typeface="Meiryo UI" pitchFamily="34" charset="-120"/>
                        </a:rPr>
                        <a:t>加工済みを直接</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B2B2B"/>
                          </a:solidFill>
                          <a:latin typeface="Meiryo UI" pitchFamily="34" charset="0"/>
                          <a:ea typeface="Meiryo UI" pitchFamily="34" charset="-122"/>
                          <a:cs typeface="Meiryo UI" pitchFamily="34" charset="-120"/>
                        </a:rPr>
                        <a:t>カードに入力・添付</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429768">
                <a:tc>
                  <a:txBody>
                    <a:bodyPr/>
                    <a:lstStyle/>
                    <a:p>
                      <a:pPr indent="0" marL="0">
                        <a:buNone/>
                      </a:pPr>
                      <a:r>
                        <a:rPr lang="en-US" sz="1050" b="1" dirty="0">
                          <a:solidFill>
                            <a:srgbClr val="1B2A49"/>
                          </a:solidFill>
                          <a:latin typeface="Meiryo UI" pitchFamily="34" charset="0"/>
                          <a:ea typeface="Meiryo UI" pitchFamily="34" charset="-122"/>
                          <a:cs typeface="Meiryo UI" pitchFamily="34" charset="-120"/>
                        </a:rPr>
                        <a:t>社内資料の置き場所</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3EAF5"/>
                    </a:solidFill>
                  </a:tcPr>
                </a:tc>
                <a:tc>
                  <a:txBody>
                    <a:bodyPr/>
                    <a:lstStyle/>
                    <a:p>
                      <a:pPr algn="ctr" indent="0" marL="0">
                        <a:buNone/>
                      </a:pPr>
                      <a:r>
                        <a:rPr lang="en-US" sz="1050" dirty="0">
                          <a:solidFill>
                            <a:srgbClr val="2B2B2B"/>
                          </a:solidFill>
                          <a:latin typeface="Meiryo UI" pitchFamily="34" charset="0"/>
                          <a:ea typeface="Meiryo UI" pitchFamily="34" charset="-122"/>
                          <a:cs typeface="Meiryo UI" pitchFamily="34" charset="-120"/>
                        </a:rPr>
                        <a:t>M365</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AFBFC"/>
                    </a:solidFill>
                  </a:tcPr>
                </a:tc>
                <a:tc>
                  <a:txBody>
                    <a:bodyPr/>
                    <a:lstStyle/>
                    <a:p>
                      <a:pPr algn="ctr" indent="0" marL="0">
                        <a:buNone/>
                      </a:pPr>
                      <a:r>
                        <a:rPr lang="en-US" sz="1050" dirty="0">
                          <a:solidFill>
                            <a:srgbClr val="2B2B2B"/>
                          </a:solidFill>
                          <a:latin typeface="Meiryo UI" pitchFamily="34" charset="0"/>
                          <a:ea typeface="Meiryo UI" pitchFamily="34" charset="-122"/>
                          <a:cs typeface="Meiryo UI" pitchFamily="34" charset="-120"/>
                        </a:rPr>
                        <a:t>M365（フェデ）</a:t>
                      </a:r>
                      <a:endParaRPr lang="en-US" sz="1050" dirty="0">
                        <a:latin typeface="Meiryo UI" charset="0"/>
                        <a:ea typeface="Meiryo UI" charset="0"/>
                        <a:cs typeface="Meiryo UI" charset="0"/>
                      </a:endParaRPr>
                    </a:p>
                    <a:p>
                      <a:pPr algn="ctr" indent="0" marL="0">
                        <a:buNone/>
                      </a:pPr>
                      <a:r>
                        <a:rPr lang="en-US" sz="1050" dirty="0">
                          <a:solidFill>
                            <a:srgbClr val="2B2B2B"/>
                          </a:solidFill>
                          <a:latin typeface="Meiryo UI" pitchFamily="34" charset="0"/>
                          <a:ea typeface="Meiryo UI" pitchFamily="34" charset="-122"/>
                          <a:cs typeface="Meiryo UI" pitchFamily="34" charset="-120"/>
                        </a:rPr>
                        <a:t>／GCP（取込）</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AFBFC"/>
                    </a:solidFill>
                  </a:tcPr>
                </a:tc>
                <a:tc>
                  <a:txBody>
                    <a:bodyPr/>
                    <a:lstStyle/>
                    <a:p>
                      <a:pPr algn="ctr" indent="0" marL="0">
                        <a:buNone/>
                      </a:pPr>
                      <a:r>
                        <a:rPr lang="en-US" sz="1050" dirty="0">
                          <a:solidFill>
                            <a:srgbClr val="2B2B2B"/>
                          </a:solidFill>
                          <a:latin typeface="Meiryo UI" pitchFamily="34" charset="0"/>
                          <a:ea typeface="Meiryo UI" pitchFamily="34" charset="-122"/>
                          <a:cs typeface="Meiryo UI" pitchFamily="34" charset="-120"/>
                        </a:rPr>
                        <a:t>GCPにも取り込み</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AFBFC"/>
                    </a:solidFill>
                  </a:tcPr>
                </a:tc>
                <a:tc>
                  <a:txBody>
                    <a:bodyPr/>
                    <a:lstStyle/>
                    <a:p>
                      <a:pPr algn="ctr" indent="0" marL="0">
                        <a:buNone/>
                      </a:pPr>
                      <a:r>
                        <a:rPr lang="en-US" sz="1050" dirty="0">
                          <a:solidFill>
                            <a:srgbClr val="2B2B2B"/>
                          </a:solidFill>
                          <a:latin typeface="Meiryo UI" pitchFamily="34" charset="0"/>
                          <a:ea typeface="Meiryo UI" pitchFamily="34" charset="-122"/>
                          <a:cs typeface="Meiryo UI" pitchFamily="34" charset="-120"/>
                        </a:rPr>
                        <a:t>GCPにも取り込み</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AFBFC"/>
                    </a:solidFill>
                  </a:tcPr>
                </a:tc>
                <a:tc>
                  <a:txBody>
                    <a:bodyPr/>
                    <a:lstStyle/>
                    <a:p>
                      <a:pPr algn="ctr" indent="0" marL="0">
                        <a:buNone/>
                      </a:pPr>
                      <a:r>
                        <a:rPr lang="en-US" sz="1050" dirty="0">
                          <a:solidFill>
                            <a:srgbClr val="2B2B2B"/>
                          </a:solidFill>
                          <a:latin typeface="Meiryo UI" pitchFamily="34" charset="0"/>
                          <a:ea typeface="Meiryo UI" pitchFamily="34" charset="-122"/>
                          <a:cs typeface="Meiryo UI" pitchFamily="34" charset="-120"/>
                        </a:rPr>
                        <a:t>Airtable（AIに渡る）</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AFBFC"/>
                    </a:solidFill>
                  </a:tcPr>
                </a:tc>
              </a:tr>
              <a:tr h="429768">
                <a:tc>
                  <a:txBody>
                    <a:bodyPr/>
                    <a:lstStyle/>
                    <a:p>
                      <a:pPr indent="0" marL="0">
                        <a:buNone/>
                      </a:pPr>
                      <a:r>
                        <a:rPr lang="en-US" sz="1050" b="1" dirty="0">
                          <a:solidFill>
                            <a:srgbClr val="1B2A49"/>
                          </a:solidFill>
                          <a:latin typeface="Meiryo UI" pitchFamily="34" charset="0"/>
                          <a:ea typeface="Meiryo UI" pitchFamily="34" charset="-122"/>
                          <a:cs typeface="Meiryo UI" pitchFamily="34" charset="-120"/>
                        </a:rPr>
                        <a:t>利用画面</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3EAF5"/>
                    </a:solidFill>
                  </a:tcPr>
                </a:tc>
                <a:tc>
                  <a:txBody>
                    <a:bodyPr/>
                    <a:lstStyle/>
                    <a:p>
                      <a:pPr algn="ctr" indent="0" marL="0">
                        <a:buNone/>
                      </a:pPr>
                      <a:r>
                        <a:rPr lang="en-US" sz="1050" dirty="0">
                          <a:solidFill>
                            <a:srgbClr val="2B2B2B"/>
                          </a:solidFill>
                          <a:latin typeface="Meiryo UI" pitchFamily="34" charset="0"/>
                          <a:ea typeface="Meiryo UI" pitchFamily="34" charset="-122"/>
                          <a:cs typeface="Meiryo UI" pitchFamily="34" charset="-120"/>
                        </a:rPr>
                        <a:t>Teams</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B2B2B"/>
                          </a:solidFill>
                          <a:latin typeface="Meiryo UI" pitchFamily="34" charset="0"/>
                          <a:ea typeface="Meiryo UI" pitchFamily="34" charset="-122"/>
                          <a:cs typeface="Meiryo UI" pitchFamily="34" charset="-120"/>
                        </a:rPr>
                        <a:t>Gemini Enterprise</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B2B2B"/>
                          </a:solidFill>
                          <a:latin typeface="Meiryo UI" pitchFamily="34" charset="0"/>
                          <a:ea typeface="Meiryo UI" pitchFamily="34" charset="-122"/>
                          <a:cs typeface="Meiryo UI" pitchFamily="34" charset="-120"/>
                        </a:rPr>
                        <a:t>Airtable</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B2B2B"/>
                          </a:solidFill>
                          <a:latin typeface="Meiryo UI" pitchFamily="34" charset="0"/>
                          <a:ea typeface="Meiryo UI" pitchFamily="34" charset="-122"/>
                          <a:cs typeface="Meiryo UI" pitchFamily="34" charset="-120"/>
                        </a:rPr>
                        <a:t>独自アプリ</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B2B2B"/>
                          </a:solidFill>
                          <a:latin typeface="Meiryo UI" pitchFamily="34" charset="0"/>
                          <a:ea typeface="Meiryo UI" pitchFamily="34" charset="-122"/>
                          <a:cs typeface="Meiryo UI" pitchFamily="34" charset="-120"/>
                        </a:rPr>
                        <a:t>Airtable</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429768">
                <a:tc>
                  <a:txBody>
                    <a:bodyPr/>
                    <a:lstStyle/>
                    <a:p>
                      <a:pPr indent="0" marL="0">
                        <a:buNone/>
                      </a:pPr>
                      <a:r>
                        <a:rPr lang="en-US" sz="1050" b="1" dirty="0">
                          <a:solidFill>
                            <a:srgbClr val="1B2A49"/>
                          </a:solidFill>
                          <a:latin typeface="Meiryo UI" pitchFamily="34" charset="0"/>
                          <a:ea typeface="Meiryo UI" pitchFamily="34" charset="-122"/>
                          <a:cs typeface="Meiryo UI" pitchFamily="34" charset="-120"/>
                        </a:rPr>
                        <a:t>主な担い手</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3EAF5"/>
                    </a:solidFill>
                  </a:tcPr>
                </a:tc>
                <a:tc>
                  <a:txBody>
                    <a:bodyPr/>
                    <a:lstStyle/>
                    <a:p>
                      <a:pPr algn="ctr" indent="0" marL="0">
                        <a:buNone/>
                      </a:pPr>
                      <a:r>
                        <a:rPr lang="en-US" sz="1050" dirty="0">
                          <a:solidFill>
                            <a:srgbClr val="2B2B2B"/>
                          </a:solidFill>
                          <a:latin typeface="Meiryo UI" pitchFamily="34" charset="0"/>
                          <a:ea typeface="Meiryo UI" pitchFamily="34" charset="-122"/>
                          <a:cs typeface="Meiryo UI" pitchFamily="34" charset="-120"/>
                        </a:rPr>
                        <a:t>業務部門＋IT部門</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AFBFC"/>
                    </a:solidFill>
                  </a:tcPr>
                </a:tc>
                <a:tc>
                  <a:txBody>
                    <a:bodyPr/>
                    <a:lstStyle/>
                    <a:p>
                      <a:pPr algn="ctr" indent="0" marL="0">
                        <a:buNone/>
                      </a:pPr>
                      <a:r>
                        <a:rPr lang="en-US" sz="1050" dirty="0">
                          <a:solidFill>
                            <a:srgbClr val="2B2B2B"/>
                          </a:solidFill>
                          <a:latin typeface="Meiryo UI" pitchFamily="34" charset="0"/>
                          <a:ea typeface="Meiryo UI" pitchFamily="34" charset="-122"/>
                          <a:cs typeface="Meiryo UI" pitchFamily="34" charset="-120"/>
                        </a:rPr>
                        <a:t>IT部門</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AFBFC"/>
                    </a:solidFill>
                  </a:tcPr>
                </a:tc>
                <a:tc>
                  <a:txBody>
                    <a:bodyPr/>
                    <a:lstStyle/>
                    <a:p>
                      <a:pPr algn="ctr" indent="0" marL="0">
                        <a:buNone/>
                      </a:pPr>
                      <a:r>
                        <a:rPr lang="en-US" sz="1050" dirty="0">
                          <a:solidFill>
                            <a:srgbClr val="2B2B2B"/>
                          </a:solidFill>
                          <a:latin typeface="Meiryo UI" pitchFamily="34" charset="0"/>
                          <a:ea typeface="Meiryo UI" pitchFamily="34" charset="-122"/>
                          <a:cs typeface="Meiryo UI" pitchFamily="34" charset="-120"/>
                        </a:rPr>
                        <a:t>IT部門</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AFBFC"/>
                    </a:solidFill>
                  </a:tcPr>
                </a:tc>
                <a:tc>
                  <a:txBody>
                    <a:bodyPr/>
                    <a:lstStyle/>
                    <a:p>
                      <a:pPr algn="ctr" indent="0" marL="0">
                        <a:buNone/>
                      </a:pPr>
                      <a:r>
                        <a:rPr lang="en-US" sz="1050" dirty="0">
                          <a:solidFill>
                            <a:srgbClr val="2B2B2B"/>
                          </a:solidFill>
                          <a:latin typeface="Meiryo UI" pitchFamily="34" charset="0"/>
                          <a:ea typeface="Meiryo UI" pitchFamily="34" charset="-122"/>
                          <a:cs typeface="Meiryo UI" pitchFamily="34" charset="-120"/>
                        </a:rPr>
                        <a:t>IT部門・開発</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AFBFC"/>
                    </a:solidFill>
                  </a:tcPr>
                </a:tc>
                <a:tc>
                  <a:txBody>
                    <a:bodyPr/>
                    <a:lstStyle/>
                    <a:p>
                      <a:pPr algn="ctr" indent="0" marL="0">
                        <a:buNone/>
                      </a:pPr>
                      <a:r>
                        <a:rPr lang="en-US" sz="1050" dirty="0">
                          <a:solidFill>
                            <a:srgbClr val="2B2B2B"/>
                          </a:solidFill>
                          <a:latin typeface="Meiryo UI" pitchFamily="34" charset="0"/>
                          <a:ea typeface="Meiryo UI" pitchFamily="34" charset="-122"/>
                          <a:cs typeface="Meiryo UI" pitchFamily="34" charset="-120"/>
                        </a:rPr>
                        <a:t>業務部門</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AFBFC"/>
                    </a:solidFill>
                  </a:tcPr>
                </a:tc>
              </a:tr>
              <a:tr h="429768">
                <a:tc>
                  <a:txBody>
                    <a:bodyPr/>
                    <a:lstStyle/>
                    <a:p>
                      <a:pPr indent="0" marL="0">
                        <a:buNone/>
                      </a:pPr>
                      <a:r>
                        <a:rPr lang="en-US" sz="1050" b="1" dirty="0">
                          <a:solidFill>
                            <a:srgbClr val="1B2A49"/>
                          </a:solidFill>
                          <a:latin typeface="Meiryo UI" pitchFamily="34" charset="0"/>
                          <a:ea typeface="Meiryo UI" pitchFamily="34" charset="-122"/>
                          <a:cs typeface="Meiryo UI" pitchFamily="34" charset="-120"/>
                        </a:rPr>
                        <a:t>主な追加コスト</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3EAF5"/>
                    </a:solidFill>
                  </a:tcPr>
                </a:tc>
                <a:tc>
                  <a:txBody>
                    <a:bodyPr/>
                    <a:lstStyle/>
                    <a:p>
                      <a:pPr algn="ctr" indent="0" marL="0">
                        <a:buNone/>
                      </a:pPr>
                      <a:r>
                        <a:rPr lang="en-US" sz="1050" dirty="0">
                          <a:solidFill>
                            <a:srgbClr val="2B2B2B"/>
                          </a:solidFill>
                          <a:latin typeface="Meiryo UI" pitchFamily="34" charset="0"/>
                          <a:ea typeface="Meiryo UI" pitchFamily="34" charset="-122"/>
                          <a:cs typeface="Meiryo UI" pitchFamily="34" charset="-120"/>
                        </a:rPr>
                        <a:t>Copilot Studio＋GCP</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B2B2B"/>
                          </a:solidFill>
                          <a:latin typeface="Meiryo UI" pitchFamily="34" charset="0"/>
                          <a:ea typeface="Meiryo UI" pitchFamily="34" charset="-122"/>
                          <a:cs typeface="Meiryo UI" pitchFamily="34" charset="-120"/>
                        </a:rPr>
                        <a:t>Gemini Enterprise</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B2B2B"/>
                          </a:solidFill>
                          <a:latin typeface="Meiryo UI" pitchFamily="34" charset="0"/>
                          <a:ea typeface="Meiryo UI" pitchFamily="34" charset="-122"/>
                          <a:cs typeface="Meiryo UI" pitchFamily="34" charset="-120"/>
                        </a:rPr>
                        <a:t>GCP利用料・開発</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B2B2B"/>
                          </a:solidFill>
                          <a:latin typeface="Meiryo UI" pitchFamily="34" charset="0"/>
                          <a:ea typeface="Meiryo UI" pitchFamily="34" charset="-122"/>
                          <a:cs typeface="Meiryo UI" pitchFamily="34" charset="-120"/>
                        </a:rPr>
                        <a:t>開発・保守</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B2B2B"/>
                          </a:solidFill>
                          <a:latin typeface="Meiryo UI" pitchFamily="34" charset="0"/>
                          <a:ea typeface="Meiryo UI" pitchFamily="34" charset="-122"/>
                          <a:cs typeface="Meiryo UI" pitchFamily="34" charset="-120"/>
                        </a:rPr>
                        <a:t>AIクレジット</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bl>
          </a:graphicData>
        </a:graphic>
      </p:graphicFrame>
      <p:sp>
        <p:nvSpPr>
          <p:cNvPr id="7" name="Text 4"/>
          <p:cNvSpPr txBox="1"/>
          <p:nvPr/>
        </p:nvSpPr>
        <p:spPr>
          <a:xfrm>
            <a:off x="548640" y="6263640"/>
            <a:ext cx="11064240" cy="274320"/>
          </a:xfrm>
          <a:prstGeom prst="rect">
            <a:avLst/>
          </a:prstGeom>
          <a:noFill/>
          <a:ln/>
        </p:spPr>
        <p:txBody>
          <a:bodyPr wrap="square" lIns="508" tIns="508" rIns="508" bIns="508" rtlCol="0" anchor="t"/>
          <a:lstStyle/>
          <a:p>
            <a:pPr indent="0" marL="0">
              <a:buNone/>
            </a:pPr>
            <a:r>
              <a:rPr lang="en-US" sz="900" dirty="0">
                <a:solidFill>
                  <a:srgbClr val="6B7280"/>
                </a:solidFill>
                <a:latin typeface="Meiryo UI" pitchFamily="34" charset="0"/>
                <a:ea typeface="Meiryo UI" pitchFamily="34" charset="-122"/>
                <a:cs typeface="Meiryo UI" pitchFamily="34" charset="-120"/>
              </a:rPr>
              <a:t>難易度（★）は開発量・必要なスキル・関係する部署やシステムの数から見た相対的な目安。期間は社内で内製し、PoC後に単独で構築した場合の概算。どの構成も「前処理した数値データをAIに渡す」点は同じ</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548640"/>
          </a:xfrm>
          <a:prstGeom prst="rect">
            <a:avLst/>
          </a:prstGeom>
          <a:noFill/>
          <a:ln/>
        </p:spPr>
        <p:txBody>
          <a:bodyPr wrap="square" lIns="0" tIns="0" rIns="0" bIns="0" rtlCol="0" anchor="ctr"/>
          <a:lstStyle/>
          <a:p>
            <a:pPr indent="0" marL="0">
              <a:buNone/>
            </a:pPr>
            <a:r>
              <a:rPr lang="en-US" sz="2600" b="1" dirty="0">
                <a:solidFill>
                  <a:srgbClr val="1B2A49"/>
                </a:solidFill>
                <a:latin typeface="Meiryo UI" pitchFamily="34" charset="0"/>
                <a:ea typeface="Meiryo UI" pitchFamily="34" charset="-122"/>
                <a:cs typeface="Meiryo UI" pitchFamily="34" charset="-120"/>
              </a:rPr>
              <a:t>コストの構造（何に比例してかかるか）</a:t>
            </a:r>
            <a:endParaRPr lang="en-US" sz="2600" dirty="0"/>
          </a:p>
        </p:txBody>
      </p:sp>
      <p:sp>
        <p:nvSpPr>
          <p:cNvPr id="3" name="Text 1"/>
          <p:cNvSpPr txBox="1"/>
          <p:nvPr/>
        </p:nvSpPr>
        <p:spPr>
          <a:xfrm>
            <a:off x="548640" y="896112"/>
            <a:ext cx="11064240" cy="365760"/>
          </a:xfrm>
          <a:prstGeom prst="rect">
            <a:avLst/>
          </a:prstGeom>
          <a:noFill/>
          <a:ln/>
        </p:spPr>
        <p:txBody>
          <a:bodyPr wrap="square" lIns="0" tIns="0" rIns="0" bIns="0" rtlCol="0" anchor="ctr"/>
          <a:lstStyle/>
          <a:p>
            <a:pPr indent="0" marL="0">
              <a:buNone/>
            </a:pPr>
            <a:r>
              <a:rPr lang="en-US" sz="1400" dirty="0">
                <a:solidFill>
                  <a:srgbClr val="6B7280"/>
                </a:solidFill>
                <a:latin typeface="Meiryo UI" pitchFamily="34" charset="0"/>
                <a:ea typeface="Meiryo UI" pitchFamily="34" charset="-122"/>
                <a:cs typeface="Meiryo UI" pitchFamily="34" charset="-120"/>
              </a:rPr>
              <a:t>金額ではなく、パターンごとに追加でかかるものと、その課金の単位を整理</a:t>
            </a:r>
            <a:endParaRPr lang="en-US" sz="1400" dirty="0"/>
          </a:p>
        </p:txBody>
      </p:sp>
      <p:sp>
        <p:nvSpPr>
          <p:cNvPr id="4" name="Text 2"/>
          <p:cNvSpPr txBox="1"/>
          <p:nvPr/>
        </p:nvSpPr>
        <p:spPr>
          <a:xfrm>
            <a:off x="7498080" y="91440"/>
            <a:ext cx="4114800" cy="22860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2. 構成パターンの全体像と比較</a:t>
            </a:r>
            <a:endParaRPr lang="en-US" sz="900" dirty="0"/>
          </a:p>
        </p:txBody>
      </p:sp>
      <p:sp>
        <p:nvSpPr>
          <p:cNvPr id="5" name="Text 3"/>
          <p:cNvSpPr txBox="1"/>
          <p:nvPr/>
        </p:nvSpPr>
        <p:spPr>
          <a:xfrm>
            <a:off x="11247120" y="6446520"/>
            <a:ext cx="457200" cy="27432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14</a:t>
            </a:r>
            <a:endParaRPr lang="en-US" sz="9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502920"/>
                <a:gridCol w="2148840"/>
                <a:gridCol w="3200400"/>
                <a:gridCol w="3017520"/>
                <a:gridCol w="2194560"/>
              </a:tblGrid>
              <a:tr h="329184">
                <a:tc>
                  <a:txBody>
                    <a:bodyPr/>
                    <a:lstStyle/>
                    <a:p>
                      <a:pPr indent="0" marL="0">
                        <a:buNone/>
                      </a:pPr>
                      <a:r>
                        <a:rPr lang="en-US" sz="950" b="1" dirty="0">
                          <a:solidFill>
                            <a:srgbClr val="FFFFFF"/>
                          </a:solidFill>
                          <a:latin typeface="Meiryo UI" pitchFamily="34" charset="0"/>
                          <a:ea typeface="Meiryo UI" pitchFamily="34" charset="-122"/>
                          <a:cs typeface="Meiryo UI" pitchFamily="34" charset="-120"/>
                        </a:rPr>
                        <a:t>#</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B2A49"/>
                    </a:solidFill>
                  </a:tcPr>
                </a:tc>
                <a:tc>
                  <a:txBody>
                    <a:bodyPr/>
                    <a:lstStyle/>
                    <a:p>
                      <a:pPr indent="0" marL="0">
                        <a:buNone/>
                      </a:pPr>
                      <a:r>
                        <a:rPr lang="en-US" sz="950" b="1" dirty="0">
                          <a:solidFill>
                            <a:srgbClr val="FFFFFF"/>
                          </a:solidFill>
                          <a:latin typeface="Meiryo UI" pitchFamily="34" charset="0"/>
                          <a:ea typeface="Meiryo UI" pitchFamily="34" charset="-122"/>
                          <a:cs typeface="Meiryo UI" pitchFamily="34" charset="-120"/>
                        </a:rPr>
                        <a:t>パターン</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B2A49"/>
                    </a:solidFill>
                  </a:tcPr>
                </a:tc>
                <a:tc>
                  <a:txBody>
                    <a:bodyPr/>
                    <a:lstStyle/>
                    <a:p>
                      <a:pPr indent="0" marL="0">
                        <a:buNone/>
                      </a:pPr>
                      <a:r>
                        <a:rPr lang="en-US" sz="950" b="1" dirty="0">
                          <a:solidFill>
                            <a:srgbClr val="FFFFFF"/>
                          </a:solidFill>
                          <a:latin typeface="Meiryo UI" pitchFamily="34" charset="0"/>
                          <a:ea typeface="Meiryo UI" pitchFamily="34" charset="-122"/>
                          <a:cs typeface="Meiryo UI" pitchFamily="34" charset="-120"/>
                        </a:rPr>
                        <a:t>主な追加ライセンス・費用</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B2A49"/>
                    </a:solidFill>
                  </a:tcPr>
                </a:tc>
                <a:tc>
                  <a:txBody>
                    <a:bodyPr/>
                    <a:lstStyle/>
                    <a:p>
                      <a:pPr indent="0" marL="0">
                        <a:buNone/>
                      </a:pPr>
                      <a:r>
                        <a:rPr lang="en-US" sz="950" b="1" dirty="0">
                          <a:solidFill>
                            <a:srgbClr val="FFFFFF"/>
                          </a:solidFill>
                          <a:latin typeface="Meiryo UI" pitchFamily="34" charset="0"/>
                          <a:ea typeface="Meiryo UI" pitchFamily="34" charset="-122"/>
                          <a:cs typeface="Meiryo UI" pitchFamily="34" charset="-120"/>
                        </a:rPr>
                        <a:t>何に比例するか</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B2A49"/>
                    </a:solidFill>
                  </a:tcPr>
                </a:tc>
                <a:tc>
                  <a:txBody>
                    <a:bodyPr/>
                    <a:lstStyle/>
                    <a:p>
                      <a:pPr indent="0" marL="0">
                        <a:buNone/>
                      </a:pPr>
                      <a:r>
                        <a:rPr lang="en-US" sz="950" b="1" dirty="0">
                          <a:solidFill>
                            <a:srgbClr val="FFFFFF"/>
                          </a:solidFill>
                          <a:latin typeface="Meiryo UI" pitchFamily="34" charset="0"/>
                          <a:ea typeface="Meiryo UI" pitchFamily="34" charset="-122"/>
                          <a:cs typeface="Meiryo UI" pitchFamily="34" charset="-120"/>
                        </a:rPr>
                        <a:t>既存契約で賄える部分</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B2A49"/>
                    </a:solidFill>
                  </a:tcPr>
                </a:tc>
              </a:tr>
              <a:tr h="347472">
                <a:tc>
                  <a:txBody>
                    <a:bodyPr/>
                    <a:lstStyle/>
                    <a:p>
                      <a:pPr algn="ctr" indent="0" marL="0">
                        <a:buNone/>
                      </a:pPr>
                      <a:r>
                        <a:rPr lang="en-US" sz="950" b="1" dirty="0">
                          <a:solidFill>
                            <a:srgbClr val="FFFFFF"/>
                          </a:solidFill>
                          <a:latin typeface="Meiryo UI" pitchFamily="34" charset="0"/>
                          <a:ea typeface="Meiryo UI" pitchFamily="34" charset="-122"/>
                          <a:cs typeface="Meiryo UI" pitchFamily="34" charset="-120"/>
                        </a:rPr>
                        <a:t>A1</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0F6CBD"/>
                    </a:solidFill>
                  </a:tcPr>
                </a:tc>
                <a:tc>
                  <a:txBody>
                    <a:bodyPr/>
                    <a:lstStyle/>
                    <a:p>
                      <a:pPr algn="l" indent="0" marL="0">
                        <a:buNone/>
                      </a:pPr>
                      <a:r>
                        <a:rPr lang="en-US" sz="950" b="1" dirty="0">
                          <a:solidFill>
                            <a:srgbClr val="2B2B2B"/>
                          </a:solidFill>
                          <a:latin typeface="Meiryo UI" pitchFamily="34" charset="0"/>
                          <a:ea typeface="Meiryo UI" pitchFamily="34" charset="-122"/>
                          <a:cs typeface="Meiryo UI" pitchFamily="34" charset="-120"/>
                        </a:rPr>
                        <a:t>Copilot手動アシスト</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l" indent="0" marL="0">
                        <a:buNone/>
                      </a:pPr>
                      <a:r>
                        <a:rPr lang="en-US" sz="950" dirty="0">
                          <a:solidFill>
                            <a:srgbClr val="2B2B2B"/>
                          </a:solidFill>
                          <a:latin typeface="Meiryo UI" pitchFamily="34" charset="0"/>
                          <a:ea typeface="Meiryo UI" pitchFamily="34" charset="-122"/>
                          <a:cs typeface="Meiryo UI" pitchFamily="34" charset="-120"/>
                        </a:rPr>
                        <a:t>追加なし</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l" indent="0" marL="0">
                        <a:buNone/>
                      </a:pPr>
                      <a:r>
                        <a:rPr lang="en-US" sz="950" dirty="0">
                          <a:solidFill>
                            <a:srgbClr val="2B2B2B"/>
                          </a:solidFill>
                          <a:latin typeface="Meiryo UI" pitchFamily="34" charset="0"/>
                          <a:ea typeface="Meiryo UI" pitchFamily="34" charset="-122"/>
                          <a:cs typeface="Meiryo UI" pitchFamily="34" charset="-120"/>
                        </a:rPr>
                        <a:t>—</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l" indent="0" marL="0">
                        <a:buNone/>
                      </a:pPr>
                      <a:r>
                        <a:rPr lang="en-US" sz="950" dirty="0">
                          <a:solidFill>
                            <a:srgbClr val="2B2B2B"/>
                          </a:solidFill>
                          <a:latin typeface="Meiryo UI" pitchFamily="34" charset="0"/>
                          <a:ea typeface="Meiryo UI" pitchFamily="34" charset="-122"/>
                          <a:cs typeface="Meiryo UI" pitchFamily="34" charset="-120"/>
                        </a:rPr>
                        <a:t>M365 Copilot（導入済み）</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r>
              <a:tr h="347472">
                <a:tc>
                  <a:txBody>
                    <a:bodyPr/>
                    <a:lstStyle/>
                    <a:p>
                      <a:pPr algn="ctr" indent="0" marL="0">
                        <a:buNone/>
                      </a:pPr>
                      <a:r>
                        <a:rPr lang="en-US" sz="950" b="1" dirty="0">
                          <a:solidFill>
                            <a:srgbClr val="FFFFFF"/>
                          </a:solidFill>
                          <a:latin typeface="Meiryo UI" pitchFamily="34" charset="0"/>
                          <a:ea typeface="Meiryo UI" pitchFamily="34" charset="-122"/>
                          <a:cs typeface="Meiryo UI" pitchFamily="34" charset="-120"/>
                        </a:rPr>
                        <a:t>A2</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0F6CBD"/>
                    </a:solidFill>
                  </a:tcPr>
                </a:tc>
                <a:tc>
                  <a:txBody>
                    <a:bodyPr/>
                    <a:lstStyle/>
                    <a:p>
                      <a:pPr algn="l" indent="0" marL="0">
                        <a:buNone/>
                      </a:pPr>
                      <a:r>
                        <a:rPr lang="en-US" sz="950" b="1" dirty="0">
                          <a:solidFill>
                            <a:srgbClr val="2B2B2B"/>
                          </a:solidFill>
                          <a:latin typeface="Meiryo UI" pitchFamily="34" charset="0"/>
                          <a:ea typeface="Meiryo UI" pitchFamily="34" charset="-122"/>
                          <a:cs typeface="Meiryo UI" pitchFamily="34" charset="-120"/>
                        </a:rPr>
                        <a:t>Agent Builder</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2B2B2B"/>
                          </a:solidFill>
                          <a:latin typeface="Meiryo UI" pitchFamily="34" charset="0"/>
                          <a:ea typeface="Meiryo UI" pitchFamily="34" charset="-122"/>
                          <a:cs typeface="Meiryo UI" pitchFamily="34" charset="-120"/>
                        </a:rPr>
                        <a:t>追加なし</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2B2B2B"/>
                          </a:solidFill>
                          <a:latin typeface="Meiryo UI" pitchFamily="34" charset="0"/>
                          <a:ea typeface="Meiryo UI" pitchFamily="34" charset="-122"/>
                          <a:cs typeface="Meiryo UI" pitchFamily="34" charset="-120"/>
                        </a:rPr>
                        <a:t>—</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2B2B2B"/>
                          </a:solidFill>
                          <a:latin typeface="Meiryo UI" pitchFamily="34" charset="0"/>
                          <a:ea typeface="Meiryo UI" pitchFamily="34" charset="-122"/>
                          <a:cs typeface="Meiryo UI" pitchFamily="34" charset="-120"/>
                        </a:rPr>
                        <a:t>M365 Copilot（導入済み）</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347472">
                <a:tc>
                  <a:txBody>
                    <a:bodyPr/>
                    <a:lstStyle/>
                    <a:p>
                      <a:pPr algn="ctr" indent="0" marL="0">
                        <a:buNone/>
                      </a:pPr>
                      <a:r>
                        <a:rPr lang="en-US" sz="950" b="1" dirty="0">
                          <a:solidFill>
                            <a:srgbClr val="FFFFFF"/>
                          </a:solidFill>
                          <a:latin typeface="Meiryo UI" pitchFamily="34" charset="0"/>
                          <a:ea typeface="Meiryo UI" pitchFamily="34" charset="-122"/>
                          <a:cs typeface="Meiryo UI" pitchFamily="34" charset="-120"/>
                        </a:rPr>
                        <a:t>A3</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0F6CBD"/>
                    </a:solidFill>
                  </a:tcPr>
                </a:tc>
                <a:tc>
                  <a:txBody>
                    <a:bodyPr/>
                    <a:lstStyle/>
                    <a:p>
                      <a:pPr algn="l" indent="0" marL="0">
                        <a:buNone/>
                      </a:pPr>
                      <a:r>
                        <a:rPr lang="en-US" sz="950" b="1" dirty="0">
                          <a:solidFill>
                            <a:srgbClr val="2B2B2B"/>
                          </a:solidFill>
                          <a:latin typeface="Meiryo UI" pitchFamily="34" charset="0"/>
                          <a:ea typeface="Meiryo UI" pitchFamily="34" charset="-122"/>
                          <a:cs typeface="Meiryo UI" pitchFamily="34" charset="-120"/>
                        </a:rPr>
                        <a:t>Copilot Studioエージェント</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l" indent="0" marL="0">
                        <a:buNone/>
                      </a:pPr>
                      <a:r>
                        <a:rPr lang="en-US" sz="950" dirty="0">
                          <a:solidFill>
                            <a:srgbClr val="2B2B2B"/>
                          </a:solidFill>
                          <a:latin typeface="Meiryo UI" pitchFamily="34" charset="0"/>
                          <a:ea typeface="Meiryo UI" pitchFamily="34" charset="-122"/>
                          <a:cs typeface="Meiryo UI" pitchFamily="34" charset="-120"/>
                        </a:rPr>
                        <a:t>Copilot Studio、Power Automate Premium</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l" indent="0" marL="0">
                        <a:buNone/>
                      </a:pPr>
                      <a:r>
                        <a:rPr lang="en-US" sz="950" dirty="0">
                          <a:solidFill>
                            <a:srgbClr val="2B2B2B"/>
                          </a:solidFill>
                          <a:latin typeface="Meiryo UI" pitchFamily="34" charset="0"/>
                          <a:ea typeface="Meiryo UI" pitchFamily="34" charset="-122"/>
                          <a:cs typeface="Meiryo UI" pitchFamily="34" charset="-120"/>
                        </a:rPr>
                        <a:t>利用量（メッセージ）＋利用者／フロー</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l" indent="0" marL="0">
                        <a:buNone/>
                      </a:pPr>
                      <a:r>
                        <a:rPr lang="en-US" sz="950" dirty="0">
                          <a:solidFill>
                            <a:srgbClr val="2B2B2B"/>
                          </a:solidFill>
                          <a:latin typeface="Meiryo UI" pitchFamily="34" charset="0"/>
                          <a:ea typeface="Meiryo UI" pitchFamily="34" charset="-122"/>
                          <a:cs typeface="Meiryo UI" pitchFamily="34" charset="-120"/>
                        </a:rPr>
                        <a:t>SharePointのナレッジ</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r>
              <a:tr h="347472">
                <a:tc>
                  <a:txBody>
                    <a:bodyPr/>
                    <a:lstStyle/>
                    <a:p>
                      <a:pPr algn="ctr" indent="0" marL="0">
                        <a:buNone/>
                      </a:pPr>
                      <a:r>
                        <a:rPr lang="en-US" sz="950" b="1" dirty="0">
                          <a:solidFill>
                            <a:srgbClr val="FFFFFF"/>
                          </a:solidFill>
                          <a:latin typeface="Meiryo UI" pitchFamily="34" charset="0"/>
                          <a:ea typeface="Meiryo UI" pitchFamily="34" charset="-122"/>
                          <a:cs typeface="Meiryo UI" pitchFamily="34" charset="-120"/>
                        </a:rPr>
                        <a:t>A4</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0F6CBD"/>
                    </a:solidFill>
                  </a:tcPr>
                </a:tc>
                <a:tc>
                  <a:txBody>
                    <a:bodyPr/>
                    <a:lstStyle/>
                    <a:p>
                      <a:pPr algn="l" indent="0" marL="0">
                        <a:buNone/>
                      </a:pPr>
                      <a:r>
                        <a:rPr lang="en-US" sz="950" b="1" dirty="0">
                          <a:solidFill>
                            <a:srgbClr val="2B2B2B"/>
                          </a:solidFill>
                          <a:latin typeface="Meiryo UI" pitchFamily="34" charset="0"/>
                          <a:ea typeface="Meiryo UI" pitchFamily="34" charset="-122"/>
                          <a:cs typeface="Meiryo UI" pitchFamily="34" charset="-120"/>
                        </a:rPr>
                        <a:t>Power Automateで自動起案</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2B2B2B"/>
                          </a:solidFill>
                          <a:latin typeface="Meiryo UI" pitchFamily="34" charset="0"/>
                          <a:ea typeface="Meiryo UI" pitchFamily="34" charset="-122"/>
                          <a:cs typeface="Meiryo UI" pitchFamily="34" charset="-120"/>
                        </a:rPr>
                        <a:t>A3の一式＋AI Builder</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2B2B2B"/>
                          </a:solidFill>
                          <a:latin typeface="Meiryo UI" pitchFamily="34" charset="0"/>
                          <a:ea typeface="Meiryo UI" pitchFamily="34" charset="-122"/>
                          <a:cs typeface="Meiryo UI" pitchFamily="34" charset="-120"/>
                        </a:rPr>
                        <a:t>利用量（クレジット）＋フロー</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2B2B2B"/>
                          </a:solidFill>
                          <a:latin typeface="Meiryo UI" pitchFamily="34" charset="0"/>
                          <a:ea typeface="Meiryo UI" pitchFamily="34" charset="-122"/>
                          <a:cs typeface="Meiryo UI" pitchFamily="34" charset="-120"/>
                        </a:rPr>
                        <a:t>同上</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347472">
                <a:tc>
                  <a:txBody>
                    <a:bodyPr/>
                    <a:lstStyle/>
                    <a:p>
                      <a:pPr algn="ctr" indent="0" marL="0">
                        <a:buNone/>
                      </a:pPr>
                      <a:r>
                        <a:rPr lang="en-US" sz="950" b="1" dirty="0">
                          <a:solidFill>
                            <a:srgbClr val="FFFFFF"/>
                          </a:solidFill>
                          <a:latin typeface="Meiryo UI" pitchFamily="34" charset="0"/>
                          <a:ea typeface="Meiryo UI" pitchFamily="34" charset="-122"/>
                          <a:cs typeface="Meiryo UI" pitchFamily="34" charset="-120"/>
                        </a:rPr>
                        <a:t>A5</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0F6CBD"/>
                    </a:solidFill>
                  </a:tcPr>
                </a:tc>
                <a:tc>
                  <a:txBody>
                    <a:bodyPr/>
                    <a:lstStyle/>
                    <a:p>
                      <a:pPr algn="l" indent="0" marL="0">
                        <a:buNone/>
                      </a:pPr>
                      <a:r>
                        <a:rPr lang="en-US" sz="950" b="1" dirty="0">
                          <a:solidFill>
                            <a:srgbClr val="2B2B2B"/>
                          </a:solidFill>
                          <a:latin typeface="Meiryo UI" pitchFamily="34" charset="0"/>
                          <a:ea typeface="Meiryo UI" pitchFamily="34" charset="-122"/>
                          <a:cs typeface="Meiryo UI" pitchFamily="34" charset="-120"/>
                        </a:rPr>
                        <a:t>Listsに移行</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l" indent="0" marL="0">
                        <a:buNone/>
                      </a:pPr>
                      <a:r>
                        <a:rPr lang="en-US" sz="950" dirty="0">
                          <a:solidFill>
                            <a:srgbClr val="2B2B2B"/>
                          </a:solidFill>
                          <a:latin typeface="Meiryo UI" pitchFamily="34" charset="0"/>
                          <a:ea typeface="Meiryo UI" pitchFamily="34" charset="-122"/>
                          <a:cs typeface="Meiryo UI" pitchFamily="34" charset="-120"/>
                        </a:rPr>
                        <a:t>生成部分（Copilot Studio／AI Builder）のみ</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l" indent="0" marL="0">
                        <a:buNone/>
                      </a:pPr>
                      <a:r>
                        <a:rPr lang="en-US" sz="950" dirty="0">
                          <a:solidFill>
                            <a:srgbClr val="2B2B2B"/>
                          </a:solidFill>
                          <a:latin typeface="Meiryo UI" pitchFamily="34" charset="0"/>
                          <a:ea typeface="Meiryo UI" pitchFamily="34" charset="-122"/>
                          <a:cs typeface="Meiryo UI" pitchFamily="34" charset="-120"/>
                        </a:rPr>
                        <a:t>利用量</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l" indent="0" marL="0">
                        <a:buNone/>
                      </a:pPr>
                      <a:r>
                        <a:rPr lang="en-US" sz="950" dirty="0">
                          <a:solidFill>
                            <a:srgbClr val="2B2B2B"/>
                          </a:solidFill>
                          <a:latin typeface="Meiryo UI" pitchFamily="34" charset="0"/>
                          <a:ea typeface="Meiryo UI" pitchFamily="34" charset="-122"/>
                          <a:cs typeface="Meiryo UI" pitchFamily="34" charset="-120"/>
                        </a:rPr>
                        <a:t>Lists・SharePointコネクタ（標準）</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r>
              <a:tr h="347472">
                <a:tc>
                  <a:txBody>
                    <a:bodyPr/>
                    <a:lstStyle/>
                    <a:p>
                      <a:pPr algn="ctr" indent="0" marL="0">
                        <a:buNone/>
                      </a:pPr>
                      <a:r>
                        <a:rPr lang="en-US" sz="950" b="1" dirty="0">
                          <a:solidFill>
                            <a:srgbClr val="FFFFFF"/>
                          </a:solidFill>
                          <a:latin typeface="Meiryo UI" pitchFamily="34" charset="0"/>
                          <a:ea typeface="Meiryo UI" pitchFamily="34" charset="-122"/>
                          <a:cs typeface="Meiryo UI" pitchFamily="34" charset="-120"/>
                        </a:rPr>
                        <a:t>A6</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0F6CBD"/>
                    </a:solidFill>
                  </a:tcPr>
                </a:tc>
                <a:tc>
                  <a:txBody>
                    <a:bodyPr/>
                    <a:lstStyle/>
                    <a:p>
                      <a:pPr algn="l" indent="0" marL="0">
                        <a:buNone/>
                      </a:pPr>
                      <a:r>
                        <a:rPr lang="en-US" sz="950" b="1" dirty="0">
                          <a:solidFill>
                            <a:srgbClr val="2B2B2B"/>
                          </a:solidFill>
                          <a:latin typeface="Meiryo UI" pitchFamily="34" charset="0"/>
                          <a:ea typeface="Meiryo UI" pitchFamily="34" charset="-122"/>
                          <a:cs typeface="Meiryo UI" pitchFamily="34" charset="-120"/>
                        </a:rPr>
                        <a:t>code apps</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2B2B2B"/>
                          </a:solidFill>
                          <a:latin typeface="Meiryo UI" pitchFamily="34" charset="0"/>
                          <a:ea typeface="Meiryo UI" pitchFamily="34" charset="-122"/>
                          <a:cs typeface="Meiryo UI" pitchFamily="34" charset="-120"/>
                        </a:rPr>
                        <a:t>Power Apps Premium＋生成部分</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2B2B2B"/>
                          </a:solidFill>
                          <a:latin typeface="Meiryo UI" pitchFamily="34" charset="0"/>
                          <a:ea typeface="Meiryo UI" pitchFamily="34" charset="-122"/>
                          <a:cs typeface="Meiryo UI" pitchFamily="34" charset="-120"/>
                        </a:rPr>
                        <a:t>利用者数（全利用者）＋利用量</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2B2B2B"/>
                          </a:solidFill>
                          <a:latin typeface="Meiryo UI" pitchFamily="34" charset="0"/>
                          <a:ea typeface="Meiryo UI" pitchFamily="34" charset="-122"/>
                          <a:cs typeface="Meiryo UI" pitchFamily="34" charset="-120"/>
                        </a:rPr>
                        <a:t>—</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347472">
                <a:tc>
                  <a:txBody>
                    <a:bodyPr/>
                    <a:lstStyle/>
                    <a:p>
                      <a:pPr algn="ctr" indent="0" marL="0">
                        <a:buNone/>
                      </a:pPr>
                      <a:r>
                        <a:rPr lang="en-US" sz="950" b="1" dirty="0">
                          <a:solidFill>
                            <a:srgbClr val="FFFFFF"/>
                          </a:solidFill>
                          <a:latin typeface="Meiryo UI" pitchFamily="34" charset="0"/>
                          <a:ea typeface="Meiryo UI" pitchFamily="34" charset="-122"/>
                          <a:cs typeface="Meiryo UI" pitchFamily="34" charset="-120"/>
                        </a:rPr>
                        <a:t>A7</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0F6CBD"/>
                    </a:solidFill>
                  </a:tcPr>
                </a:tc>
                <a:tc>
                  <a:txBody>
                    <a:bodyPr/>
                    <a:lstStyle/>
                    <a:p>
                      <a:pPr algn="l" indent="0" marL="0">
                        <a:buNone/>
                      </a:pPr>
                      <a:r>
                        <a:rPr lang="en-US" sz="950" b="1" dirty="0">
                          <a:solidFill>
                            <a:srgbClr val="2B2B2B"/>
                          </a:solidFill>
                          <a:latin typeface="Meiryo UI" pitchFamily="34" charset="0"/>
                          <a:ea typeface="Meiryo UI" pitchFamily="34" charset="-122"/>
                          <a:cs typeface="Meiryo UI" pitchFamily="34" charset="-120"/>
                        </a:rPr>
                        <a:t>Lists＋code apps</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l" indent="0" marL="0">
                        <a:buNone/>
                      </a:pPr>
                      <a:r>
                        <a:rPr lang="en-US" sz="950" dirty="0">
                          <a:solidFill>
                            <a:srgbClr val="2B2B2B"/>
                          </a:solidFill>
                          <a:latin typeface="Meiryo UI" pitchFamily="34" charset="0"/>
                          <a:ea typeface="Meiryo UI" pitchFamily="34" charset="-122"/>
                          <a:cs typeface="Meiryo UI" pitchFamily="34" charset="-120"/>
                        </a:rPr>
                        <a:t>Power Apps Premium（画面利用者）＋生成部分</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l" indent="0" marL="0">
                        <a:buNone/>
                      </a:pPr>
                      <a:r>
                        <a:rPr lang="en-US" sz="950" dirty="0">
                          <a:solidFill>
                            <a:srgbClr val="2B2B2B"/>
                          </a:solidFill>
                          <a:latin typeface="Meiryo UI" pitchFamily="34" charset="0"/>
                          <a:ea typeface="Meiryo UI" pitchFamily="34" charset="-122"/>
                          <a:cs typeface="Meiryo UI" pitchFamily="34" charset="-120"/>
                        </a:rPr>
                        <a:t>利用者数（画面利用者）＋利用量</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l" indent="0" marL="0">
                        <a:buNone/>
                      </a:pPr>
                      <a:r>
                        <a:rPr lang="en-US" sz="950" dirty="0">
                          <a:solidFill>
                            <a:srgbClr val="2B2B2B"/>
                          </a:solidFill>
                          <a:latin typeface="Meiryo UI" pitchFamily="34" charset="0"/>
                          <a:ea typeface="Meiryo UI" pitchFamily="34" charset="-122"/>
                          <a:cs typeface="Meiryo UI" pitchFamily="34" charset="-120"/>
                        </a:rPr>
                        <a:t>Listsの標準ビュー</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r>
              <a:tr h="347472">
                <a:tc>
                  <a:txBody>
                    <a:bodyPr/>
                    <a:lstStyle/>
                    <a:p>
                      <a:pPr algn="ctr" indent="0" marL="0">
                        <a:buNone/>
                      </a:pPr>
                      <a:r>
                        <a:rPr lang="en-US" sz="950" b="1" dirty="0">
                          <a:solidFill>
                            <a:srgbClr val="FFFFFF"/>
                          </a:solidFill>
                          <a:latin typeface="Meiryo UI" pitchFamily="34" charset="0"/>
                          <a:ea typeface="Meiryo UI" pitchFamily="34" charset="-122"/>
                          <a:cs typeface="Meiryo UI" pitchFamily="34" charset="-120"/>
                        </a:rPr>
                        <a:t>H1</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6B4FBB"/>
                    </a:solidFill>
                  </a:tcPr>
                </a:tc>
                <a:tc>
                  <a:txBody>
                    <a:bodyPr/>
                    <a:lstStyle/>
                    <a:p>
                      <a:pPr algn="l" indent="0" marL="0">
                        <a:buNone/>
                      </a:pPr>
                      <a:r>
                        <a:rPr lang="en-US" sz="950" b="1" dirty="0">
                          <a:solidFill>
                            <a:srgbClr val="2B2B2B"/>
                          </a:solidFill>
                          <a:latin typeface="Meiryo UI" pitchFamily="34" charset="0"/>
                          <a:ea typeface="Meiryo UI" pitchFamily="34" charset="-122"/>
                          <a:cs typeface="Meiryo UI" pitchFamily="34" charset="-120"/>
                        </a:rPr>
                        <a:t>Copilot Studio＋GCP API</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2B2B2B"/>
                          </a:solidFill>
                          <a:latin typeface="Meiryo UI" pitchFamily="34" charset="0"/>
                          <a:ea typeface="Meiryo UI" pitchFamily="34" charset="-122"/>
                          <a:cs typeface="Meiryo UI" pitchFamily="34" charset="-120"/>
                        </a:rPr>
                        <a:t>Copilot Studio＋Cloud Run・BigQuery</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2B2B2B"/>
                          </a:solidFill>
                          <a:latin typeface="Meiryo UI" pitchFamily="34" charset="0"/>
                          <a:ea typeface="Meiryo UI" pitchFamily="34" charset="-122"/>
                          <a:cs typeface="Meiryo UI" pitchFamily="34" charset="-120"/>
                        </a:rPr>
                        <a:t>利用量</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2B2B2B"/>
                          </a:solidFill>
                          <a:latin typeface="Meiryo UI" pitchFamily="34" charset="0"/>
                          <a:ea typeface="Meiryo UI" pitchFamily="34" charset="-122"/>
                          <a:cs typeface="Meiryo UI" pitchFamily="34" charset="-120"/>
                        </a:rPr>
                        <a:t>Teams・SharePoint</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347472">
                <a:tc>
                  <a:txBody>
                    <a:bodyPr/>
                    <a:lstStyle/>
                    <a:p>
                      <a:pPr algn="ctr" indent="0" marL="0">
                        <a:buNone/>
                      </a:pPr>
                      <a:r>
                        <a:rPr lang="en-US" sz="950" b="1" dirty="0">
                          <a:solidFill>
                            <a:srgbClr val="FFFFFF"/>
                          </a:solidFill>
                          <a:latin typeface="Meiryo UI" pitchFamily="34" charset="0"/>
                          <a:ea typeface="Meiryo UI" pitchFamily="34" charset="-122"/>
                          <a:cs typeface="Meiryo UI" pitchFamily="34" charset="-120"/>
                        </a:rPr>
                        <a:t>B1</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4285F4"/>
                    </a:solidFill>
                  </a:tcPr>
                </a:tc>
                <a:tc>
                  <a:txBody>
                    <a:bodyPr/>
                    <a:lstStyle/>
                    <a:p>
                      <a:pPr algn="l" indent="0" marL="0">
                        <a:buNone/>
                      </a:pPr>
                      <a:r>
                        <a:rPr lang="en-US" sz="950" b="1" dirty="0">
                          <a:solidFill>
                            <a:srgbClr val="2B2B2B"/>
                          </a:solidFill>
                          <a:latin typeface="Meiryo UI" pitchFamily="34" charset="0"/>
                          <a:ea typeface="Meiryo UI" pitchFamily="34" charset="-122"/>
                          <a:cs typeface="Meiryo UI" pitchFamily="34" charset="-120"/>
                        </a:rPr>
                        <a:t>Gemini Enterprise</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l" indent="0" marL="0">
                        <a:buNone/>
                      </a:pPr>
                      <a:r>
                        <a:rPr lang="en-US" sz="950" dirty="0">
                          <a:solidFill>
                            <a:srgbClr val="2B2B2B"/>
                          </a:solidFill>
                          <a:latin typeface="Meiryo UI" pitchFamily="34" charset="0"/>
                          <a:ea typeface="Meiryo UI" pitchFamily="34" charset="-122"/>
                          <a:cs typeface="Meiryo UI" pitchFamily="34" charset="-120"/>
                        </a:rPr>
                        <a:t>Gemini Enterprise（エディション別）</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l" indent="0" marL="0">
                        <a:buNone/>
                      </a:pPr>
                      <a:r>
                        <a:rPr lang="en-US" sz="950" dirty="0">
                          <a:solidFill>
                            <a:srgbClr val="2B2B2B"/>
                          </a:solidFill>
                          <a:latin typeface="Meiryo UI" pitchFamily="34" charset="0"/>
                          <a:ea typeface="Meiryo UI" pitchFamily="34" charset="-122"/>
                          <a:cs typeface="Meiryo UI" pitchFamily="34" charset="-120"/>
                        </a:rPr>
                        <a:t>利用者数、または利用量（従量課金版）</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l" indent="0" marL="0">
                        <a:buNone/>
                      </a:pPr>
                      <a:r>
                        <a:rPr lang="en-US" sz="950" dirty="0">
                          <a:solidFill>
                            <a:srgbClr val="2B2B2B"/>
                          </a:solidFill>
                          <a:latin typeface="Meiryo UI" pitchFamily="34" charset="0"/>
                          <a:ea typeface="Meiryo UI" pitchFamily="34" charset="-122"/>
                          <a:cs typeface="Meiryo UI" pitchFamily="34" charset="-120"/>
                        </a:rPr>
                        <a:t>BigQuery・GCP基盤</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r>
              <a:tr h="347472">
                <a:tc>
                  <a:txBody>
                    <a:bodyPr/>
                    <a:lstStyle/>
                    <a:p>
                      <a:pPr algn="ctr" indent="0" marL="0">
                        <a:buNone/>
                      </a:pPr>
                      <a:r>
                        <a:rPr lang="en-US" sz="950" b="1" dirty="0">
                          <a:solidFill>
                            <a:srgbClr val="FFFFFF"/>
                          </a:solidFill>
                          <a:latin typeface="Meiryo UI" pitchFamily="34" charset="0"/>
                          <a:ea typeface="Meiryo UI" pitchFamily="34" charset="-122"/>
                          <a:cs typeface="Meiryo UI" pitchFamily="34" charset="-120"/>
                        </a:rPr>
                        <a:t>B2</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4285F4"/>
                    </a:solidFill>
                  </a:tcPr>
                </a:tc>
                <a:tc>
                  <a:txBody>
                    <a:bodyPr/>
                    <a:lstStyle/>
                    <a:p>
                      <a:pPr algn="l" indent="0" marL="0">
                        <a:buNone/>
                      </a:pPr>
                      <a:r>
                        <a:rPr lang="en-US" sz="950" b="1" dirty="0">
                          <a:solidFill>
                            <a:srgbClr val="2B2B2B"/>
                          </a:solidFill>
                          <a:latin typeface="Meiryo UI" pitchFamily="34" charset="0"/>
                          <a:ea typeface="Meiryo UI" pitchFamily="34" charset="-122"/>
                          <a:cs typeface="Meiryo UI" pitchFamily="34" charset="-120"/>
                        </a:rPr>
                        <a:t>Agent Platformで自動起案</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2B2B2B"/>
                          </a:solidFill>
                          <a:latin typeface="Meiryo UI" pitchFamily="34" charset="0"/>
                          <a:ea typeface="Meiryo UI" pitchFamily="34" charset="-122"/>
                          <a:cs typeface="Meiryo UI" pitchFamily="34" charset="-120"/>
                        </a:rPr>
                        <a:t>Agent Platform・Gemini API・Cloud Run</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2B2B2B"/>
                          </a:solidFill>
                          <a:latin typeface="Meiryo UI" pitchFamily="34" charset="0"/>
                          <a:ea typeface="Meiryo UI" pitchFamily="34" charset="-122"/>
                          <a:cs typeface="Meiryo UI" pitchFamily="34" charset="-120"/>
                        </a:rPr>
                        <a:t>利用量（トークン・実行時間）※一部機能は2026年から課金</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2B2B2B"/>
                          </a:solidFill>
                          <a:latin typeface="Meiryo UI" pitchFamily="34" charset="0"/>
                          <a:ea typeface="Meiryo UI" pitchFamily="34" charset="-122"/>
                          <a:cs typeface="Meiryo UI" pitchFamily="34" charset="-120"/>
                        </a:rPr>
                        <a:t>GCP基盤・試作の資産</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347472">
                <a:tc>
                  <a:txBody>
                    <a:bodyPr/>
                    <a:lstStyle/>
                    <a:p>
                      <a:pPr algn="ctr" indent="0" marL="0">
                        <a:buNone/>
                      </a:pPr>
                      <a:r>
                        <a:rPr lang="en-US" sz="950" b="1" dirty="0">
                          <a:solidFill>
                            <a:srgbClr val="FFFFFF"/>
                          </a:solidFill>
                          <a:latin typeface="Meiryo UI" pitchFamily="34" charset="0"/>
                          <a:ea typeface="Meiryo UI" pitchFamily="34" charset="-122"/>
                          <a:cs typeface="Meiryo UI" pitchFamily="34" charset="-120"/>
                        </a:rPr>
                        <a:t>B3</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4285F4"/>
                    </a:solidFill>
                  </a:tcPr>
                </a:tc>
                <a:tc>
                  <a:txBody>
                    <a:bodyPr/>
                    <a:lstStyle/>
                    <a:p>
                      <a:pPr algn="l" indent="0" marL="0">
                        <a:buNone/>
                      </a:pPr>
                      <a:r>
                        <a:rPr lang="en-US" sz="950" b="1" dirty="0">
                          <a:solidFill>
                            <a:srgbClr val="2B2B2B"/>
                          </a:solidFill>
                          <a:latin typeface="Meiryo UI" pitchFamily="34" charset="0"/>
                          <a:ea typeface="Meiryo UI" pitchFamily="34" charset="-122"/>
                          <a:cs typeface="Meiryo UI" pitchFamily="34" charset="-120"/>
                        </a:rPr>
                        <a:t>スクラッチ開発</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l" indent="0" marL="0">
                        <a:buNone/>
                      </a:pPr>
                      <a:r>
                        <a:rPr lang="en-US" sz="950" dirty="0">
                          <a:solidFill>
                            <a:srgbClr val="2B2B2B"/>
                          </a:solidFill>
                          <a:latin typeface="Meiryo UI" pitchFamily="34" charset="0"/>
                          <a:ea typeface="Meiryo UI" pitchFamily="34" charset="-122"/>
                          <a:cs typeface="Meiryo UI" pitchFamily="34" charset="-120"/>
                        </a:rPr>
                        <a:t>GCP利用料＋開発・保守の人件費</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l" indent="0" marL="0">
                        <a:buNone/>
                      </a:pPr>
                      <a:r>
                        <a:rPr lang="en-US" sz="950" dirty="0">
                          <a:solidFill>
                            <a:srgbClr val="2B2B2B"/>
                          </a:solidFill>
                          <a:latin typeface="Meiryo UI" pitchFamily="34" charset="0"/>
                          <a:ea typeface="Meiryo UI" pitchFamily="34" charset="-122"/>
                          <a:cs typeface="Meiryo UI" pitchFamily="34" charset="-120"/>
                        </a:rPr>
                        <a:t>利用量＋人件費</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l" indent="0" marL="0">
                        <a:buNone/>
                      </a:pPr>
                      <a:r>
                        <a:rPr lang="en-US" sz="950" dirty="0">
                          <a:solidFill>
                            <a:srgbClr val="2B2B2B"/>
                          </a:solidFill>
                          <a:latin typeface="Meiryo UI" pitchFamily="34" charset="0"/>
                          <a:ea typeface="Meiryo UI" pitchFamily="34" charset="-122"/>
                          <a:cs typeface="Meiryo UI" pitchFamily="34" charset="-120"/>
                        </a:rPr>
                        <a:t>GCP基盤</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r>
              <a:tr h="347472">
                <a:tc>
                  <a:txBody>
                    <a:bodyPr/>
                    <a:lstStyle/>
                    <a:p>
                      <a:pPr algn="ctr" indent="0" marL="0">
                        <a:buNone/>
                      </a:pPr>
                      <a:r>
                        <a:rPr lang="en-US" sz="950" b="1" dirty="0">
                          <a:solidFill>
                            <a:srgbClr val="FFFFFF"/>
                          </a:solidFill>
                          <a:latin typeface="Meiryo UI" pitchFamily="34" charset="0"/>
                          <a:ea typeface="Meiryo UI" pitchFamily="34" charset="-122"/>
                          <a:cs typeface="Meiryo UI" pitchFamily="34" charset="-120"/>
                        </a:rPr>
                        <a:t>C1</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C77700"/>
                    </a:solidFill>
                  </a:tcPr>
                </a:tc>
                <a:tc>
                  <a:txBody>
                    <a:bodyPr/>
                    <a:lstStyle/>
                    <a:p>
                      <a:pPr algn="l" indent="0" marL="0">
                        <a:buNone/>
                      </a:pPr>
                      <a:r>
                        <a:rPr lang="en-US" sz="950" b="1" dirty="0">
                          <a:solidFill>
                            <a:srgbClr val="2B2B2B"/>
                          </a:solidFill>
                          <a:latin typeface="Meiryo UI" pitchFamily="34" charset="0"/>
                          <a:ea typeface="Meiryo UI" pitchFamily="34" charset="-122"/>
                          <a:cs typeface="Meiryo UI" pitchFamily="34" charset="-120"/>
                        </a:rPr>
                        <a:t>Airtable標準のAI</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2B2B2B"/>
                          </a:solidFill>
                          <a:latin typeface="Meiryo UI" pitchFamily="34" charset="0"/>
                          <a:ea typeface="Meiryo UI" pitchFamily="34" charset="-122"/>
                          <a:cs typeface="Meiryo UI" pitchFamily="34" charset="-120"/>
                        </a:rPr>
                        <a:t>Airtable AIクレジット</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2B2B2B"/>
                          </a:solidFill>
                          <a:latin typeface="Meiryo UI" pitchFamily="34" charset="0"/>
                          <a:ea typeface="Meiryo UI" pitchFamily="34" charset="-122"/>
                          <a:cs typeface="Meiryo UI" pitchFamily="34" charset="-120"/>
                        </a:rPr>
                        <a:t>利用量（プランに一定量を含み、追加購入も可）</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2B2B2B"/>
                          </a:solidFill>
                          <a:latin typeface="Meiryo UI" pitchFamily="34" charset="0"/>
                          <a:ea typeface="Meiryo UI" pitchFamily="34" charset="-122"/>
                          <a:cs typeface="Meiryo UI" pitchFamily="34" charset="-120"/>
                        </a:rPr>
                        <a:t>Airtableの契約</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bl>
          </a:graphicData>
        </a:graphic>
      </p:graphicFrame>
      <p:sp>
        <p:nvSpPr>
          <p:cNvPr id="7" name="Shape 4"/>
          <p:cNvSpPr/>
          <p:nvPr/>
        </p:nvSpPr>
        <p:spPr>
          <a:xfrm>
            <a:off x="548640" y="5943600"/>
            <a:ext cx="11064240" cy="457200"/>
          </a:xfrm>
          <a:prstGeom prst="roundRect">
            <a:avLst>
              <a:gd name="adj" fmla="val 12000"/>
            </a:avLst>
          </a:prstGeom>
          <a:solidFill>
            <a:srgbClr val="FDEBD3"/>
          </a:solidFill>
          <a:ln/>
        </p:spPr>
      </p:sp>
      <p:sp>
        <p:nvSpPr>
          <p:cNvPr id="8" name="Text 5"/>
          <p:cNvSpPr txBox="1"/>
          <p:nvPr/>
        </p:nvSpPr>
        <p:spPr>
          <a:xfrm>
            <a:off x="731520" y="5943600"/>
            <a:ext cx="10789920" cy="457200"/>
          </a:xfrm>
          <a:prstGeom prst="rect">
            <a:avLst/>
          </a:prstGeom>
          <a:noFill/>
          <a:ln/>
        </p:spPr>
        <p:txBody>
          <a:bodyPr wrap="square" lIns="0" tIns="0" rIns="0" bIns="0" rtlCol="0" anchor="ctr"/>
          <a:lstStyle/>
          <a:p>
            <a:pPr indent="0" marL="0">
              <a:buNone/>
            </a:pPr>
            <a:r>
              <a:rPr lang="en-US" sz="1000" b="1" dirty="0">
                <a:solidFill>
                  <a:srgbClr val="E8912D"/>
                </a:solidFill>
                <a:latin typeface="Meiryo UI" pitchFamily="34" charset="0"/>
                <a:ea typeface="Meiryo UI" pitchFamily="34" charset="-122"/>
                <a:cs typeface="Meiryo UI" pitchFamily="34" charset="-120"/>
              </a:rPr>
              <a:t>共通：</a:t>
            </a:r>
            <a:pPr indent="0" marL="0">
              <a:buNone/>
            </a:pPr>
            <a:r>
              <a:rPr lang="en-US" sz="1000" dirty="0">
                <a:solidFill>
                  <a:srgbClr val="000000"/>
                </a:solidFill>
                <a:latin typeface="Meiryo UI" pitchFamily="34" charset="0"/>
                <a:ea typeface="Meiryo UI" pitchFamily="34" charset="-122"/>
                <a:cs typeface="Meiryo UI" pitchFamily="34" charset="-120"/>
              </a:rPr>
              <a:t>Airtableを継続して外部と連携する場合はPower Automate Premium（HTTP）が必要。BigQueryの集計クエリ費用はどの構成でもかかる。金額は契約形態を確認のうえ精査が必要</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548640"/>
          </a:xfrm>
          <a:prstGeom prst="rect">
            <a:avLst/>
          </a:prstGeom>
          <a:noFill/>
          <a:ln/>
        </p:spPr>
        <p:txBody>
          <a:bodyPr wrap="square" lIns="0" tIns="0" rIns="0" bIns="0" rtlCol="0" anchor="ctr"/>
          <a:lstStyle/>
          <a:p>
            <a:pPr indent="0" marL="0">
              <a:buNone/>
            </a:pPr>
            <a:r>
              <a:rPr lang="en-US" sz="2600" b="1" dirty="0">
                <a:solidFill>
                  <a:srgbClr val="1B2A49"/>
                </a:solidFill>
                <a:latin typeface="Meiryo UI" pitchFamily="34" charset="0"/>
                <a:ea typeface="Meiryo UI" pitchFamily="34" charset="-122"/>
                <a:cs typeface="Meiryo UI" pitchFamily="34" charset="-120"/>
              </a:rPr>
              <a:t>共通要素①：データの受け渡し方式</a:t>
            </a:r>
            <a:endParaRPr lang="en-US" sz="2600" dirty="0"/>
          </a:p>
        </p:txBody>
      </p:sp>
      <p:sp>
        <p:nvSpPr>
          <p:cNvPr id="3" name="Text 1"/>
          <p:cNvSpPr txBox="1"/>
          <p:nvPr/>
        </p:nvSpPr>
        <p:spPr>
          <a:xfrm>
            <a:off x="548640" y="896112"/>
            <a:ext cx="11064240" cy="365760"/>
          </a:xfrm>
          <a:prstGeom prst="rect">
            <a:avLst/>
          </a:prstGeom>
          <a:noFill/>
          <a:ln/>
        </p:spPr>
        <p:txBody>
          <a:bodyPr wrap="square" lIns="0" tIns="0" rIns="0" bIns="0" rtlCol="0" anchor="ctr"/>
          <a:lstStyle/>
          <a:p>
            <a:pPr indent="0" marL="0">
              <a:buNone/>
            </a:pPr>
            <a:r>
              <a:rPr lang="en-US" sz="1400" dirty="0">
                <a:solidFill>
                  <a:srgbClr val="6B7280"/>
                </a:solidFill>
                <a:latin typeface="Meiryo UI" pitchFamily="34" charset="0"/>
                <a:ea typeface="Meiryo UI" pitchFamily="34" charset="-122"/>
                <a:cs typeface="Meiryo UI" pitchFamily="34" charset="-120"/>
              </a:rPr>
              <a:t>どちらの方向にデータを運ぶかで、方式の選択肢が変わる</a:t>
            </a:r>
            <a:endParaRPr lang="en-US" sz="1400" dirty="0"/>
          </a:p>
        </p:txBody>
      </p:sp>
      <p:sp>
        <p:nvSpPr>
          <p:cNvPr id="4" name="Text 2"/>
          <p:cNvSpPr txBox="1"/>
          <p:nvPr/>
        </p:nvSpPr>
        <p:spPr>
          <a:xfrm>
            <a:off x="7498080" y="91440"/>
            <a:ext cx="4114800" cy="22860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3. 共通要素</a:t>
            </a:r>
            <a:endParaRPr lang="en-US" sz="900" dirty="0"/>
          </a:p>
        </p:txBody>
      </p:sp>
      <p:sp>
        <p:nvSpPr>
          <p:cNvPr id="5" name="Text 3"/>
          <p:cNvSpPr txBox="1"/>
          <p:nvPr/>
        </p:nvSpPr>
        <p:spPr>
          <a:xfrm>
            <a:off x="11247120" y="6446520"/>
            <a:ext cx="457200" cy="27432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15</a:t>
            </a:r>
            <a:endParaRPr lang="en-US" sz="900" dirty="0"/>
          </a:p>
        </p:txBody>
      </p:sp>
      <p:sp>
        <p:nvSpPr>
          <p:cNvPr id="6" name="Shape 4"/>
          <p:cNvSpPr/>
          <p:nvPr/>
        </p:nvSpPr>
        <p:spPr>
          <a:xfrm>
            <a:off x="548640" y="1417320"/>
            <a:ext cx="5440680" cy="4069080"/>
          </a:xfrm>
          <a:prstGeom prst="roundRect">
            <a:avLst>
              <a:gd name="adj" fmla="val 1348"/>
            </a:avLst>
          </a:prstGeom>
          <a:solidFill>
            <a:srgbClr val="E5F0FA"/>
          </a:solidFill>
          <a:ln/>
        </p:spPr>
      </p:sp>
      <p:pic>
        <p:nvPicPr>
          <p:cNvPr id="7" name="Image 0" descr="preencoded.png">    </p:cNvPr>
          <p:cNvPicPr>
            <a:picLocks noChangeAspect="1"/>
          </p:cNvPicPr>
          <p:nvPr/>
        </p:nvPicPr>
        <p:blipFill>
          <a:blip r:embed="rId1"/>
          <a:stretch>
            <a:fillRect/>
          </a:stretch>
        </p:blipFill>
        <p:spPr>
          <a:xfrm>
            <a:off x="731520" y="1508760"/>
            <a:ext cx="365760" cy="365760"/>
          </a:xfrm>
          <a:prstGeom prst="rect">
            <a:avLst/>
          </a:prstGeom>
        </p:spPr>
      </p:pic>
      <p:sp>
        <p:nvSpPr>
          <p:cNvPr id="8" name="Text 5"/>
          <p:cNvSpPr txBox="1"/>
          <p:nvPr/>
        </p:nvSpPr>
        <p:spPr>
          <a:xfrm>
            <a:off x="1188720" y="1508760"/>
            <a:ext cx="4572000" cy="365760"/>
          </a:xfrm>
          <a:prstGeom prst="rect">
            <a:avLst/>
          </a:prstGeom>
          <a:noFill/>
          <a:ln/>
        </p:spPr>
        <p:txBody>
          <a:bodyPr wrap="square" lIns="508" tIns="508" rIns="508" bIns="508" rtlCol="0" anchor="ctr"/>
          <a:lstStyle/>
          <a:p>
            <a:pPr indent="0" marL="0">
              <a:buNone/>
            </a:pPr>
            <a:r>
              <a:rPr lang="en-US" sz="1400" b="1" dirty="0">
                <a:solidFill>
                  <a:srgbClr val="0F6CBD"/>
                </a:solidFill>
                <a:latin typeface="Meiryo UI" pitchFamily="34" charset="0"/>
                <a:ea typeface="Meiryo UI" pitchFamily="34" charset="-122"/>
                <a:cs typeface="Meiryo UI" pitchFamily="34" charset="-120"/>
              </a:rPr>
              <a:t>GCP → M365（数値データを運ぶ）</a:t>
            </a:r>
            <a:endParaRPr lang="en-US" sz="1400" dirty="0"/>
          </a:p>
        </p:txBody>
      </p:sp>
      <p:sp>
        <p:nvSpPr>
          <p:cNvPr id="9" name="Shape 6"/>
          <p:cNvSpPr/>
          <p:nvPr/>
        </p:nvSpPr>
        <p:spPr>
          <a:xfrm>
            <a:off x="685800" y="2011680"/>
            <a:ext cx="5166360" cy="1051560"/>
          </a:xfrm>
          <a:prstGeom prst="roundRect">
            <a:avLst>
              <a:gd name="adj" fmla="val 5217"/>
            </a:avLst>
          </a:prstGeom>
          <a:solidFill>
            <a:srgbClr val="FFFFFF"/>
          </a:solidFill>
          <a:ln/>
        </p:spPr>
      </p:sp>
      <p:sp>
        <p:nvSpPr>
          <p:cNvPr id="10" name="Text 7"/>
          <p:cNvSpPr txBox="1"/>
          <p:nvPr/>
        </p:nvSpPr>
        <p:spPr>
          <a:xfrm>
            <a:off x="822960" y="2066544"/>
            <a:ext cx="3657600" cy="292608"/>
          </a:xfrm>
          <a:prstGeom prst="rect">
            <a:avLst/>
          </a:prstGeom>
          <a:noFill/>
          <a:ln/>
        </p:spPr>
        <p:txBody>
          <a:bodyPr wrap="square" lIns="508" tIns="508" rIns="508" bIns="508" rtlCol="0" anchor="ctr"/>
          <a:lstStyle/>
          <a:p>
            <a:pPr indent="0" marL="0">
              <a:buNone/>
            </a:pPr>
            <a:r>
              <a:rPr lang="en-US" sz="1150" b="1" dirty="0">
                <a:solidFill>
                  <a:srgbClr val="1B2A49"/>
                </a:solidFill>
                <a:latin typeface="Meiryo UI" pitchFamily="34" charset="0"/>
                <a:ea typeface="Meiryo UI" pitchFamily="34" charset="-122"/>
                <a:cs typeface="Meiryo UI" pitchFamily="34" charset="-120"/>
              </a:rPr>
              <a:t>方式1：Power Automateで取得</a:t>
            </a:r>
            <a:endParaRPr lang="en-US" sz="1150" dirty="0"/>
          </a:p>
        </p:txBody>
      </p:sp>
      <p:sp>
        <p:nvSpPr>
          <p:cNvPr id="11" name="Text 8"/>
          <p:cNvSpPr txBox="1"/>
          <p:nvPr/>
        </p:nvSpPr>
        <p:spPr>
          <a:xfrm>
            <a:off x="4114800" y="2066544"/>
            <a:ext cx="1645920" cy="292608"/>
          </a:xfrm>
          <a:prstGeom prst="rect">
            <a:avLst/>
          </a:prstGeom>
          <a:noFill/>
          <a:ln/>
        </p:spPr>
        <p:txBody>
          <a:bodyPr wrap="square" lIns="508" tIns="508" rIns="508" bIns="508" rtlCol="0" anchor="ctr"/>
          <a:lstStyle/>
          <a:p>
            <a:pPr algn="r" indent="0" marL="0">
              <a:buNone/>
            </a:pPr>
            <a:r>
              <a:rPr lang="en-US" sz="950" b="1" dirty="0">
                <a:solidFill>
                  <a:srgbClr val="E8912D"/>
                </a:solidFill>
                <a:latin typeface="Meiryo UI" pitchFamily="34" charset="0"/>
                <a:ea typeface="Meiryo UI" pitchFamily="34" charset="-122"/>
                <a:cs typeface="Meiryo UI" pitchFamily="34" charset="-120"/>
              </a:rPr>
              <a:t>難易度 ★★☆☆☆</a:t>
            </a:r>
            <a:endParaRPr lang="en-US" sz="950" dirty="0"/>
          </a:p>
        </p:txBody>
      </p:sp>
      <p:pic>
        <p:nvPicPr>
          <p:cNvPr id="12" name="Image 1" descr="preencoded.png">    </p:cNvPr>
          <p:cNvPicPr>
            <a:picLocks noChangeAspect="1"/>
          </p:cNvPicPr>
          <p:nvPr/>
        </p:nvPicPr>
        <p:blipFill>
          <a:blip r:embed="rId2"/>
          <a:stretch>
            <a:fillRect/>
          </a:stretch>
        </p:blipFill>
        <p:spPr>
          <a:xfrm>
            <a:off x="868680" y="2423160"/>
            <a:ext cx="329184" cy="329184"/>
          </a:xfrm>
          <a:prstGeom prst="rect">
            <a:avLst/>
          </a:prstGeom>
        </p:spPr>
      </p:pic>
      <p:sp>
        <p:nvSpPr>
          <p:cNvPr id="13" name="Text 9"/>
          <p:cNvSpPr txBox="1"/>
          <p:nvPr/>
        </p:nvSpPr>
        <p:spPr>
          <a:xfrm>
            <a:off x="685800" y="2761488"/>
            <a:ext cx="694944" cy="256032"/>
          </a:xfrm>
          <a:prstGeom prst="rect">
            <a:avLst/>
          </a:prstGeom>
          <a:noFill/>
          <a:ln/>
        </p:spPr>
        <p:txBody>
          <a:bodyPr wrap="square" lIns="0" tIns="0" rIns="0" bIns="0" rtlCol="0" anchor="t"/>
          <a:lstStyle/>
          <a:p>
            <a:pPr algn="ctr" indent="0" marL="0">
              <a:buNone/>
            </a:pPr>
            <a:r>
              <a:rPr lang="en-US" sz="750" dirty="0">
                <a:solidFill>
                  <a:srgbClr val="6B7280"/>
                </a:solidFill>
                <a:latin typeface="Meiryo UI" pitchFamily="34" charset="0"/>
                <a:ea typeface="Meiryo UI" pitchFamily="34" charset="-122"/>
                <a:cs typeface="Meiryo UI" pitchFamily="34" charset="-120"/>
              </a:rPr>
              <a:t>GCS</a:t>
            </a:r>
            <a:endParaRPr lang="en-US" sz="750" dirty="0"/>
          </a:p>
        </p:txBody>
      </p:sp>
      <p:sp>
        <p:nvSpPr>
          <p:cNvPr id="14" name="Shape 10"/>
          <p:cNvSpPr/>
          <p:nvPr/>
        </p:nvSpPr>
        <p:spPr>
          <a:xfrm>
            <a:off x="1234440" y="2587752"/>
            <a:ext cx="320040" cy="0"/>
          </a:xfrm>
          <a:prstGeom prst="line">
            <a:avLst/>
          </a:prstGeom>
          <a:noFill/>
          <a:ln w="15875">
            <a:solidFill>
              <a:srgbClr val="9AA5B4"/>
            </a:solidFill>
            <a:prstDash val="solid"/>
            <a:tailEnd type="triangle"/>
          </a:ln>
        </p:spPr>
      </p:sp>
      <p:pic>
        <p:nvPicPr>
          <p:cNvPr id="15" name="Image 2" descr="preencoded.png">    </p:cNvPr>
          <p:cNvPicPr>
            <a:picLocks noChangeAspect="1"/>
          </p:cNvPicPr>
          <p:nvPr/>
        </p:nvPicPr>
        <p:blipFill>
          <a:blip r:embed="rId3"/>
          <a:stretch>
            <a:fillRect/>
          </a:stretch>
        </p:blipFill>
        <p:spPr>
          <a:xfrm>
            <a:off x="1600200" y="2423160"/>
            <a:ext cx="329184" cy="329184"/>
          </a:xfrm>
          <a:prstGeom prst="rect">
            <a:avLst/>
          </a:prstGeom>
        </p:spPr>
      </p:pic>
      <p:sp>
        <p:nvSpPr>
          <p:cNvPr id="16" name="Text 11"/>
          <p:cNvSpPr txBox="1"/>
          <p:nvPr/>
        </p:nvSpPr>
        <p:spPr>
          <a:xfrm>
            <a:off x="1417320" y="2761488"/>
            <a:ext cx="694944" cy="256032"/>
          </a:xfrm>
          <a:prstGeom prst="rect">
            <a:avLst/>
          </a:prstGeom>
          <a:noFill/>
          <a:ln/>
        </p:spPr>
        <p:txBody>
          <a:bodyPr wrap="square" lIns="0" tIns="0" rIns="0" bIns="0" rtlCol="0" anchor="t"/>
          <a:lstStyle/>
          <a:p>
            <a:pPr algn="ctr" indent="0" marL="0">
              <a:buNone/>
            </a:pPr>
            <a:r>
              <a:rPr lang="en-US" sz="750" dirty="0">
                <a:solidFill>
                  <a:srgbClr val="6B7280"/>
                </a:solidFill>
                <a:latin typeface="Meiryo UI" pitchFamily="34" charset="0"/>
                <a:ea typeface="Meiryo UI" pitchFamily="34" charset="-122"/>
                <a:cs typeface="Meiryo UI" pitchFamily="34" charset="-120"/>
              </a:rPr>
              <a:t>PA</a:t>
            </a:r>
            <a:endParaRPr lang="en-US" sz="750" dirty="0"/>
          </a:p>
        </p:txBody>
      </p:sp>
      <p:sp>
        <p:nvSpPr>
          <p:cNvPr id="17" name="Shape 12"/>
          <p:cNvSpPr/>
          <p:nvPr/>
        </p:nvSpPr>
        <p:spPr>
          <a:xfrm>
            <a:off x="1965960" y="2587752"/>
            <a:ext cx="320040" cy="0"/>
          </a:xfrm>
          <a:prstGeom prst="line">
            <a:avLst/>
          </a:prstGeom>
          <a:noFill/>
          <a:ln w="15875">
            <a:solidFill>
              <a:srgbClr val="9AA5B4"/>
            </a:solidFill>
            <a:prstDash val="solid"/>
            <a:tailEnd type="triangle"/>
          </a:ln>
        </p:spPr>
      </p:sp>
      <p:pic>
        <p:nvPicPr>
          <p:cNvPr id="18" name="Image 3" descr="preencoded.png">    </p:cNvPr>
          <p:cNvPicPr>
            <a:picLocks noChangeAspect="1"/>
          </p:cNvPicPr>
          <p:nvPr/>
        </p:nvPicPr>
        <p:blipFill>
          <a:blip r:embed="rId4"/>
          <a:stretch>
            <a:fillRect/>
          </a:stretch>
        </p:blipFill>
        <p:spPr>
          <a:xfrm>
            <a:off x="2331720" y="2423160"/>
            <a:ext cx="329184" cy="329184"/>
          </a:xfrm>
          <a:prstGeom prst="rect">
            <a:avLst/>
          </a:prstGeom>
        </p:spPr>
      </p:pic>
      <p:sp>
        <p:nvSpPr>
          <p:cNvPr id="19" name="Text 13"/>
          <p:cNvSpPr txBox="1"/>
          <p:nvPr/>
        </p:nvSpPr>
        <p:spPr>
          <a:xfrm>
            <a:off x="2148840" y="2761488"/>
            <a:ext cx="694944" cy="256032"/>
          </a:xfrm>
          <a:prstGeom prst="rect">
            <a:avLst/>
          </a:prstGeom>
          <a:noFill/>
          <a:ln/>
        </p:spPr>
        <p:txBody>
          <a:bodyPr wrap="square" lIns="0" tIns="0" rIns="0" bIns="0" rtlCol="0" anchor="t"/>
          <a:lstStyle/>
          <a:p>
            <a:pPr algn="ctr" indent="0" marL="0">
              <a:buNone/>
            </a:pPr>
            <a:r>
              <a:rPr lang="en-US" sz="750" dirty="0">
                <a:solidFill>
                  <a:srgbClr val="6B7280"/>
                </a:solidFill>
                <a:latin typeface="Meiryo UI" pitchFamily="34" charset="0"/>
                <a:ea typeface="Meiryo UI" pitchFamily="34" charset="-122"/>
                <a:cs typeface="Meiryo UI" pitchFamily="34" charset="-120"/>
              </a:rPr>
              <a:t>SP/DV</a:t>
            </a:r>
            <a:endParaRPr lang="en-US" sz="750" dirty="0"/>
          </a:p>
        </p:txBody>
      </p:sp>
      <p:sp>
        <p:nvSpPr>
          <p:cNvPr id="20" name="Text 14"/>
          <p:cNvSpPr txBox="1"/>
          <p:nvPr/>
        </p:nvSpPr>
        <p:spPr>
          <a:xfrm>
            <a:off x="2971800" y="2377440"/>
            <a:ext cx="2788920" cy="658368"/>
          </a:xfrm>
          <a:prstGeom prst="rect">
            <a:avLst/>
          </a:prstGeom>
          <a:noFill/>
          <a:ln/>
        </p:spPr>
        <p:txBody>
          <a:bodyPr wrap="square" lIns="508" tIns="508" rIns="508" bIns="508" rtlCol="0" anchor="ctr"/>
          <a:lstStyle/>
          <a:p>
            <a:pPr indent="0" marL="0">
              <a:buNone/>
            </a:pPr>
            <a:r>
              <a:rPr lang="en-US" sz="950" dirty="0">
                <a:solidFill>
                  <a:srgbClr val="2B2B2B"/>
                </a:solidFill>
                <a:latin typeface="Meiryo UI" pitchFamily="34" charset="0"/>
                <a:ea typeface="Meiryo UI" pitchFamily="34" charset="-122"/>
                <a:cs typeface="Meiryo UI" pitchFamily="34" charset="-120"/>
              </a:rPr>
              <a:t>定期フローのHTTPアクションで取得。M365側で管理しやすい／Premiumと認証情報の管理が必要</a:t>
            </a:r>
            <a:endParaRPr lang="en-US" sz="950" dirty="0"/>
          </a:p>
        </p:txBody>
      </p:sp>
      <p:sp>
        <p:nvSpPr>
          <p:cNvPr id="21" name="Shape 15"/>
          <p:cNvSpPr/>
          <p:nvPr/>
        </p:nvSpPr>
        <p:spPr>
          <a:xfrm>
            <a:off x="685800" y="3154680"/>
            <a:ext cx="5166360" cy="1051560"/>
          </a:xfrm>
          <a:prstGeom prst="roundRect">
            <a:avLst>
              <a:gd name="adj" fmla="val 5217"/>
            </a:avLst>
          </a:prstGeom>
          <a:solidFill>
            <a:srgbClr val="FFFFFF"/>
          </a:solidFill>
          <a:ln/>
        </p:spPr>
      </p:sp>
      <p:sp>
        <p:nvSpPr>
          <p:cNvPr id="22" name="Text 16"/>
          <p:cNvSpPr txBox="1"/>
          <p:nvPr/>
        </p:nvSpPr>
        <p:spPr>
          <a:xfrm>
            <a:off x="822960" y="3209544"/>
            <a:ext cx="3657600" cy="292608"/>
          </a:xfrm>
          <a:prstGeom prst="rect">
            <a:avLst/>
          </a:prstGeom>
          <a:noFill/>
          <a:ln/>
        </p:spPr>
        <p:txBody>
          <a:bodyPr wrap="square" lIns="508" tIns="508" rIns="508" bIns="508" rtlCol="0" anchor="ctr"/>
          <a:lstStyle/>
          <a:p>
            <a:pPr indent="0" marL="0">
              <a:buNone/>
            </a:pPr>
            <a:r>
              <a:rPr lang="en-US" sz="1150" b="1" dirty="0">
                <a:solidFill>
                  <a:srgbClr val="1B2A49"/>
                </a:solidFill>
                <a:latin typeface="Meiryo UI" pitchFamily="34" charset="0"/>
                <a:ea typeface="Meiryo UI" pitchFamily="34" charset="-122"/>
                <a:cs typeface="Meiryo UI" pitchFamily="34" charset="-120"/>
              </a:rPr>
              <a:t>方式2：スクリプトで送信</a:t>
            </a:r>
            <a:endParaRPr lang="en-US" sz="1150" dirty="0"/>
          </a:p>
        </p:txBody>
      </p:sp>
      <p:sp>
        <p:nvSpPr>
          <p:cNvPr id="23" name="Text 17"/>
          <p:cNvSpPr txBox="1"/>
          <p:nvPr/>
        </p:nvSpPr>
        <p:spPr>
          <a:xfrm>
            <a:off x="4114800" y="3209544"/>
            <a:ext cx="1645920" cy="292608"/>
          </a:xfrm>
          <a:prstGeom prst="rect">
            <a:avLst/>
          </a:prstGeom>
          <a:noFill/>
          <a:ln/>
        </p:spPr>
        <p:txBody>
          <a:bodyPr wrap="square" lIns="508" tIns="508" rIns="508" bIns="508" rtlCol="0" anchor="ctr"/>
          <a:lstStyle/>
          <a:p>
            <a:pPr algn="r" indent="0" marL="0">
              <a:buNone/>
            </a:pPr>
            <a:r>
              <a:rPr lang="en-US" sz="950" b="1" dirty="0">
                <a:solidFill>
                  <a:srgbClr val="E8912D"/>
                </a:solidFill>
                <a:latin typeface="Meiryo UI" pitchFamily="34" charset="0"/>
                <a:ea typeface="Meiryo UI" pitchFamily="34" charset="-122"/>
                <a:cs typeface="Meiryo UI" pitchFamily="34" charset="-120"/>
              </a:rPr>
              <a:t>難易度 ★★★☆☆</a:t>
            </a:r>
            <a:endParaRPr lang="en-US" sz="950" dirty="0"/>
          </a:p>
        </p:txBody>
      </p:sp>
      <p:pic>
        <p:nvPicPr>
          <p:cNvPr id="24" name="Image 4" descr="preencoded.png">    </p:cNvPr>
          <p:cNvPicPr>
            <a:picLocks noChangeAspect="1"/>
          </p:cNvPicPr>
          <p:nvPr/>
        </p:nvPicPr>
        <p:blipFill>
          <a:blip r:embed="rId5"/>
          <a:stretch>
            <a:fillRect/>
          </a:stretch>
        </p:blipFill>
        <p:spPr>
          <a:xfrm>
            <a:off x="868680" y="3566160"/>
            <a:ext cx="329184" cy="329184"/>
          </a:xfrm>
          <a:prstGeom prst="rect">
            <a:avLst/>
          </a:prstGeom>
        </p:spPr>
      </p:pic>
      <p:sp>
        <p:nvSpPr>
          <p:cNvPr id="25" name="Text 18"/>
          <p:cNvSpPr txBox="1"/>
          <p:nvPr/>
        </p:nvSpPr>
        <p:spPr>
          <a:xfrm>
            <a:off x="685800" y="3904488"/>
            <a:ext cx="694944" cy="256032"/>
          </a:xfrm>
          <a:prstGeom prst="rect">
            <a:avLst/>
          </a:prstGeom>
          <a:noFill/>
          <a:ln/>
        </p:spPr>
        <p:txBody>
          <a:bodyPr wrap="square" lIns="0" tIns="0" rIns="0" bIns="0" rtlCol="0" anchor="t"/>
          <a:lstStyle/>
          <a:p>
            <a:pPr algn="ctr" indent="0" marL="0">
              <a:buNone/>
            </a:pPr>
            <a:r>
              <a:rPr lang="en-US" sz="750" dirty="0">
                <a:solidFill>
                  <a:srgbClr val="6B7280"/>
                </a:solidFill>
                <a:latin typeface="Meiryo UI" pitchFamily="34" charset="0"/>
                <a:ea typeface="Meiryo UI" pitchFamily="34" charset="-122"/>
                <a:cs typeface="Meiryo UI" pitchFamily="34" charset="-120"/>
              </a:rPr>
              <a:t>Scheduler</a:t>
            </a:r>
            <a:endParaRPr lang="en-US" sz="750" dirty="0"/>
          </a:p>
        </p:txBody>
      </p:sp>
      <p:sp>
        <p:nvSpPr>
          <p:cNvPr id="26" name="Shape 19"/>
          <p:cNvSpPr/>
          <p:nvPr/>
        </p:nvSpPr>
        <p:spPr>
          <a:xfrm>
            <a:off x="1234440" y="3730752"/>
            <a:ext cx="320040" cy="0"/>
          </a:xfrm>
          <a:prstGeom prst="line">
            <a:avLst/>
          </a:prstGeom>
          <a:noFill/>
          <a:ln w="15875">
            <a:solidFill>
              <a:srgbClr val="9AA5B4"/>
            </a:solidFill>
            <a:prstDash val="solid"/>
            <a:tailEnd type="triangle"/>
          </a:ln>
        </p:spPr>
      </p:sp>
      <p:pic>
        <p:nvPicPr>
          <p:cNvPr id="27" name="Image 5" descr="preencoded.png">    </p:cNvPr>
          <p:cNvPicPr>
            <a:picLocks noChangeAspect="1"/>
          </p:cNvPicPr>
          <p:nvPr/>
        </p:nvPicPr>
        <p:blipFill>
          <a:blip r:embed="rId6"/>
          <a:stretch>
            <a:fillRect/>
          </a:stretch>
        </p:blipFill>
        <p:spPr>
          <a:xfrm>
            <a:off x="1600200" y="3566160"/>
            <a:ext cx="329184" cy="329184"/>
          </a:xfrm>
          <a:prstGeom prst="rect">
            <a:avLst/>
          </a:prstGeom>
        </p:spPr>
      </p:pic>
      <p:sp>
        <p:nvSpPr>
          <p:cNvPr id="28" name="Text 20"/>
          <p:cNvSpPr txBox="1"/>
          <p:nvPr/>
        </p:nvSpPr>
        <p:spPr>
          <a:xfrm>
            <a:off x="1417320" y="3904488"/>
            <a:ext cx="694944" cy="256032"/>
          </a:xfrm>
          <a:prstGeom prst="rect">
            <a:avLst/>
          </a:prstGeom>
          <a:noFill/>
          <a:ln/>
        </p:spPr>
        <p:txBody>
          <a:bodyPr wrap="square" lIns="0" tIns="0" rIns="0" bIns="0" rtlCol="0" anchor="t"/>
          <a:lstStyle/>
          <a:p>
            <a:pPr algn="ctr" indent="0" marL="0">
              <a:buNone/>
            </a:pPr>
            <a:r>
              <a:rPr lang="en-US" sz="750" dirty="0">
                <a:solidFill>
                  <a:srgbClr val="6B7280"/>
                </a:solidFill>
                <a:latin typeface="Meiryo UI" pitchFamily="34" charset="0"/>
                <a:ea typeface="Meiryo UI" pitchFamily="34" charset="-122"/>
                <a:cs typeface="Meiryo UI" pitchFamily="34" charset="-120"/>
              </a:rPr>
              <a:t>Cloud Run</a:t>
            </a:r>
            <a:endParaRPr lang="en-US" sz="750" dirty="0"/>
          </a:p>
        </p:txBody>
      </p:sp>
      <p:sp>
        <p:nvSpPr>
          <p:cNvPr id="29" name="Shape 21"/>
          <p:cNvSpPr/>
          <p:nvPr/>
        </p:nvSpPr>
        <p:spPr>
          <a:xfrm>
            <a:off x="1965960" y="3730752"/>
            <a:ext cx="320040" cy="0"/>
          </a:xfrm>
          <a:prstGeom prst="line">
            <a:avLst/>
          </a:prstGeom>
          <a:noFill/>
          <a:ln w="15875">
            <a:solidFill>
              <a:srgbClr val="9AA5B4"/>
            </a:solidFill>
            <a:prstDash val="solid"/>
            <a:tailEnd type="triangle"/>
          </a:ln>
        </p:spPr>
      </p:sp>
      <p:pic>
        <p:nvPicPr>
          <p:cNvPr id="30" name="Image 6" descr="preencoded.png">    </p:cNvPr>
          <p:cNvPicPr>
            <a:picLocks noChangeAspect="1"/>
          </p:cNvPicPr>
          <p:nvPr/>
        </p:nvPicPr>
        <p:blipFill>
          <a:blip r:embed="rId7"/>
          <a:stretch>
            <a:fillRect/>
          </a:stretch>
        </p:blipFill>
        <p:spPr>
          <a:xfrm>
            <a:off x="2331720" y="3566160"/>
            <a:ext cx="329184" cy="329184"/>
          </a:xfrm>
          <a:prstGeom prst="rect">
            <a:avLst/>
          </a:prstGeom>
        </p:spPr>
      </p:pic>
      <p:sp>
        <p:nvSpPr>
          <p:cNvPr id="31" name="Text 22"/>
          <p:cNvSpPr txBox="1"/>
          <p:nvPr/>
        </p:nvSpPr>
        <p:spPr>
          <a:xfrm>
            <a:off x="2148840" y="3904488"/>
            <a:ext cx="694944" cy="256032"/>
          </a:xfrm>
          <a:prstGeom prst="rect">
            <a:avLst/>
          </a:prstGeom>
          <a:noFill/>
          <a:ln/>
        </p:spPr>
        <p:txBody>
          <a:bodyPr wrap="square" lIns="0" tIns="0" rIns="0" bIns="0" rtlCol="0" anchor="t"/>
          <a:lstStyle/>
          <a:p>
            <a:pPr algn="ctr" indent="0" marL="0">
              <a:buNone/>
            </a:pPr>
            <a:r>
              <a:rPr lang="en-US" sz="750" dirty="0">
                <a:solidFill>
                  <a:srgbClr val="6B7280"/>
                </a:solidFill>
                <a:latin typeface="Meiryo UI" pitchFamily="34" charset="0"/>
                <a:ea typeface="Meiryo UI" pitchFamily="34" charset="-122"/>
                <a:cs typeface="Meiryo UI" pitchFamily="34" charset="-120"/>
              </a:rPr>
              <a:t>Graph API</a:t>
            </a:r>
            <a:endParaRPr lang="en-US" sz="750" dirty="0"/>
          </a:p>
        </p:txBody>
      </p:sp>
      <p:sp>
        <p:nvSpPr>
          <p:cNvPr id="32" name="Text 23"/>
          <p:cNvSpPr txBox="1"/>
          <p:nvPr/>
        </p:nvSpPr>
        <p:spPr>
          <a:xfrm>
            <a:off x="2971800" y="3520440"/>
            <a:ext cx="2788920" cy="658368"/>
          </a:xfrm>
          <a:prstGeom prst="rect">
            <a:avLst/>
          </a:prstGeom>
          <a:noFill/>
          <a:ln/>
        </p:spPr>
        <p:txBody>
          <a:bodyPr wrap="square" lIns="508" tIns="508" rIns="508" bIns="508" rtlCol="0" anchor="ctr"/>
          <a:lstStyle/>
          <a:p>
            <a:pPr indent="0" marL="0">
              <a:buNone/>
            </a:pPr>
            <a:r>
              <a:rPr lang="en-US" sz="950" dirty="0">
                <a:solidFill>
                  <a:srgbClr val="2B2B2B"/>
                </a:solidFill>
                <a:latin typeface="Meiryo UI" pitchFamily="34" charset="0"/>
                <a:ea typeface="Meiryo UI" pitchFamily="34" charset="-122"/>
                <a:cs typeface="Meiryo UI" pitchFamily="34" charset="-120"/>
              </a:rPr>
              <a:t>Cloud Run JobからGraph APIで書き込み。IT部門が運用しやすい／Entraのアプリ登録が必要</a:t>
            </a:r>
            <a:endParaRPr lang="en-US" sz="950" dirty="0"/>
          </a:p>
        </p:txBody>
      </p:sp>
      <p:sp>
        <p:nvSpPr>
          <p:cNvPr id="33" name="Shape 24"/>
          <p:cNvSpPr/>
          <p:nvPr/>
        </p:nvSpPr>
        <p:spPr>
          <a:xfrm>
            <a:off x="685800" y="4297680"/>
            <a:ext cx="5166360" cy="1051560"/>
          </a:xfrm>
          <a:prstGeom prst="roundRect">
            <a:avLst>
              <a:gd name="adj" fmla="val 5217"/>
            </a:avLst>
          </a:prstGeom>
          <a:solidFill>
            <a:srgbClr val="FFFFFF"/>
          </a:solidFill>
          <a:ln/>
        </p:spPr>
      </p:sp>
      <p:sp>
        <p:nvSpPr>
          <p:cNvPr id="34" name="Text 25"/>
          <p:cNvSpPr txBox="1"/>
          <p:nvPr/>
        </p:nvSpPr>
        <p:spPr>
          <a:xfrm>
            <a:off x="822960" y="4352544"/>
            <a:ext cx="3657600" cy="292608"/>
          </a:xfrm>
          <a:prstGeom prst="rect">
            <a:avLst/>
          </a:prstGeom>
          <a:noFill/>
          <a:ln/>
        </p:spPr>
        <p:txBody>
          <a:bodyPr wrap="square" lIns="508" tIns="508" rIns="508" bIns="508" rtlCol="0" anchor="ctr"/>
          <a:lstStyle/>
          <a:p>
            <a:pPr indent="0" marL="0">
              <a:buNone/>
            </a:pPr>
            <a:r>
              <a:rPr lang="en-US" sz="1150" b="1" dirty="0">
                <a:solidFill>
                  <a:srgbClr val="1B2A49"/>
                </a:solidFill>
                <a:latin typeface="Meiryo UI" pitchFamily="34" charset="0"/>
                <a:ea typeface="Meiryo UI" pitchFamily="34" charset="-122"/>
                <a:cs typeface="Meiryo UI" pitchFamily="34" charset="-120"/>
              </a:rPr>
              <a:t>方式3：データフローでBQを直接読込</a:t>
            </a:r>
            <a:endParaRPr lang="en-US" sz="1150" dirty="0"/>
          </a:p>
        </p:txBody>
      </p:sp>
      <p:sp>
        <p:nvSpPr>
          <p:cNvPr id="35" name="Text 26"/>
          <p:cNvSpPr txBox="1"/>
          <p:nvPr/>
        </p:nvSpPr>
        <p:spPr>
          <a:xfrm>
            <a:off x="4114800" y="4352544"/>
            <a:ext cx="1645920" cy="292608"/>
          </a:xfrm>
          <a:prstGeom prst="rect">
            <a:avLst/>
          </a:prstGeom>
          <a:noFill/>
          <a:ln/>
        </p:spPr>
        <p:txBody>
          <a:bodyPr wrap="square" lIns="508" tIns="508" rIns="508" bIns="508" rtlCol="0" anchor="ctr"/>
          <a:lstStyle/>
          <a:p>
            <a:pPr algn="r" indent="0" marL="0">
              <a:buNone/>
            </a:pPr>
            <a:r>
              <a:rPr lang="en-US" sz="950" b="1" dirty="0">
                <a:solidFill>
                  <a:srgbClr val="E8912D"/>
                </a:solidFill>
                <a:latin typeface="Meiryo UI" pitchFamily="34" charset="0"/>
                <a:ea typeface="Meiryo UI" pitchFamily="34" charset="-122"/>
                <a:cs typeface="Meiryo UI" pitchFamily="34" charset="-120"/>
              </a:rPr>
              <a:t>難易度 ★★☆☆☆</a:t>
            </a:r>
            <a:endParaRPr lang="en-US" sz="950" dirty="0"/>
          </a:p>
        </p:txBody>
      </p:sp>
      <p:pic>
        <p:nvPicPr>
          <p:cNvPr id="36" name="Image 7" descr="preencoded.png">    </p:cNvPr>
          <p:cNvPicPr>
            <a:picLocks noChangeAspect="1"/>
          </p:cNvPicPr>
          <p:nvPr/>
        </p:nvPicPr>
        <p:blipFill>
          <a:blip r:embed="rId8"/>
          <a:stretch>
            <a:fillRect/>
          </a:stretch>
        </p:blipFill>
        <p:spPr>
          <a:xfrm>
            <a:off x="868680" y="4709160"/>
            <a:ext cx="329184" cy="329184"/>
          </a:xfrm>
          <a:prstGeom prst="rect">
            <a:avLst/>
          </a:prstGeom>
        </p:spPr>
      </p:pic>
      <p:sp>
        <p:nvSpPr>
          <p:cNvPr id="37" name="Text 27"/>
          <p:cNvSpPr txBox="1"/>
          <p:nvPr/>
        </p:nvSpPr>
        <p:spPr>
          <a:xfrm>
            <a:off x="685800" y="5047488"/>
            <a:ext cx="694944" cy="256032"/>
          </a:xfrm>
          <a:prstGeom prst="rect">
            <a:avLst/>
          </a:prstGeom>
          <a:noFill/>
          <a:ln/>
        </p:spPr>
        <p:txBody>
          <a:bodyPr wrap="square" lIns="0" tIns="0" rIns="0" bIns="0" rtlCol="0" anchor="t"/>
          <a:lstStyle/>
          <a:p>
            <a:pPr algn="ctr" indent="0" marL="0">
              <a:buNone/>
            </a:pPr>
            <a:r>
              <a:rPr lang="en-US" sz="750" dirty="0">
                <a:solidFill>
                  <a:srgbClr val="6B7280"/>
                </a:solidFill>
                <a:latin typeface="Meiryo UI" pitchFamily="34" charset="0"/>
                <a:ea typeface="Meiryo UI" pitchFamily="34" charset="-122"/>
                <a:cs typeface="Meiryo UI" pitchFamily="34" charset="-120"/>
              </a:rPr>
              <a:t>BigQuery</a:t>
            </a:r>
            <a:endParaRPr lang="en-US" sz="750" dirty="0"/>
          </a:p>
        </p:txBody>
      </p:sp>
      <p:sp>
        <p:nvSpPr>
          <p:cNvPr id="38" name="Shape 28"/>
          <p:cNvSpPr/>
          <p:nvPr/>
        </p:nvSpPr>
        <p:spPr>
          <a:xfrm>
            <a:off x="1234440" y="4873752"/>
            <a:ext cx="320040" cy="0"/>
          </a:xfrm>
          <a:prstGeom prst="line">
            <a:avLst/>
          </a:prstGeom>
          <a:noFill/>
          <a:ln w="15875">
            <a:solidFill>
              <a:srgbClr val="9AA5B4"/>
            </a:solidFill>
            <a:prstDash val="solid"/>
            <a:tailEnd type="triangle"/>
          </a:ln>
        </p:spPr>
      </p:sp>
      <p:pic>
        <p:nvPicPr>
          <p:cNvPr id="39" name="Image 8" descr="preencoded.png">    </p:cNvPr>
          <p:cNvPicPr>
            <a:picLocks noChangeAspect="1"/>
          </p:cNvPicPr>
          <p:nvPr/>
        </p:nvPicPr>
        <p:blipFill>
          <a:blip r:embed="rId9"/>
          <a:stretch>
            <a:fillRect/>
          </a:stretch>
        </p:blipFill>
        <p:spPr>
          <a:xfrm>
            <a:off x="1600200" y="4709160"/>
            <a:ext cx="329184" cy="329184"/>
          </a:xfrm>
          <a:prstGeom prst="rect">
            <a:avLst/>
          </a:prstGeom>
        </p:spPr>
      </p:pic>
      <p:sp>
        <p:nvSpPr>
          <p:cNvPr id="40" name="Text 29"/>
          <p:cNvSpPr txBox="1"/>
          <p:nvPr/>
        </p:nvSpPr>
        <p:spPr>
          <a:xfrm>
            <a:off x="1417320" y="5047488"/>
            <a:ext cx="694944" cy="256032"/>
          </a:xfrm>
          <a:prstGeom prst="rect">
            <a:avLst/>
          </a:prstGeom>
          <a:noFill/>
          <a:ln/>
        </p:spPr>
        <p:txBody>
          <a:bodyPr wrap="square" lIns="0" tIns="0" rIns="0" bIns="0" rtlCol="0" anchor="t"/>
          <a:lstStyle/>
          <a:p>
            <a:pPr algn="ctr" indent="0" marL="0">
              <a:buNone/>
            </a:pPr>
            <a:r>
              <a:rPr lang="en-US" sz="750" dirty="0">
                <a:solidFill>
                  <a:srgbClr val="6B7280"/>
                </a:solidFill>
                <a:latin typeface="Meiryo UI" pitchFamily="34" charset="0"/>
                <a:ea typeface="Meiryo UI" pitchFamily="34" charset="-122"/>
                <a:cs typeface="Meiryo UI" pitchFamily="34" charset="-120"/>
              </a:rPr>
              <a:t>Power Query</a:t>
            </a:r>
            <a:endParaRPr lang="en-US" sz="750" dirty="0"/>
          </a:p>
        </p:txBody>
      </p:sp>
      <p:sp>
        <p:nvSpPr>
          <p:cNvPr id="41" name="Shape 30"/>
          <p:cNvSpPr/>
          <p:nvPr/>
        </p:nvSpPr>
        <p:spPr>
          <a:xfrm>
            <a:off x="1965960" y="4873752"/>
            <a:ext cx="320040" cy="0"/>
          </a:xfrm>
          <a:prstGeom prst="line">
            <a:avLst/>
          </a:prstGeom>
          <a:noFill/>
          <a:ln w="15875">
            <a:solidFill>
              <a:srgbClr val="9AA5B4"/>
            </a:solidFill>
            <a:prstDash val="solid"/>
            <a:tailEnd type="triangle"/>
          </a:ln>
        </p:spPr>
      </p:sp>
      <p:pic>
        <p:nvPicPr>
          <p:cNvPr id="42" name="Image 9" descr="preencoded.png">    </p:cNvPr>
          <p:cNvPicPr>
            <a:picLocks noChangeAspect="1"/>
          </p:cNvPicPr>
          <p:nvPr/>
        </p:nvPicPr>
        <p:blipFill>
          <a:blip r:embed="rId10"/>
          <a:stretch>
            <a:fillRect/>
          </a:stretch>
        </p:blipFill>
        <p:spPr>
          <a:xfrm>
            <a:off x="2331720" y="4709160"/>
            <a:ext cx="329184" cy="329184"/>
          </a:xfrm>
          <a:prstGeom prst="rect">
            <a:avLst/>
          </a:prstGeom>
        </p:spPr>
      </p:pic>
      <p:sp>
        <p:nvSpPr>
          <p:cNvPr id="43" name="Text 31"/>
          <p:cNvSpPr txBox="1"/>
          <p:nvPr/>
        </p:nvSpPr>
        <p:spPr>
          <a:xfrm>
            <a:off x="2148840" y="5047488"/>
            <a:ext cx="694944" cy="256032"/>
          </a:xfrm>
          <a:prstGeom prst="rect">
            <a:avLst/>
          </a:prstGeom>
          <a:noFill/>
          <a:ln/>
        </p:spPr>
        <p:txBody>
          <a:bodyPr wrap="square" lIns="0" tIns="0" rIns="0" bIns="0" rtlCol="0" anchor="t"/>
          <a:lstStyle/>
          <a:p>
            <a:pPr algn="ctr" indent="0" marL="0">
              <a:buNone/>
            </a:pPr>
            <a:r>
              <a:rPr lang="en-US" sz="750" dirty="0">
                <a:solidFill>
                  <a:srgbClr val="6B7280"/>
                </a:solidFill>
                <a:latin typeface="Meiryo UI" pitchFamily="34" charset="0"/>
                <a:ea typeface="Meiryo UI" pitchFamily="34" charset="-122"/>
                <a:cs typeface="Meiryo UI" pitchFamily="34" charset="-120"/>
              </a:rPr>
              <a:t>Dataverse</a:t>
            </a:r>
            <a:endParaRPr lang="en-US" sz="750" dirty="0"/>
          </a:p>
        </p:txBody>
      </p:sp>
      <p:sp>
        <p:nvSpPr>
          <p:cNvPr id="44" name="Text 32"/>
          <p:cNvSpPr txBox="1"/>
          <p:nvPr/>
        </p:nvSpPr>
        <p:spPr>
          <a:xfrm>
            <a:off x="2971800" y="4663440"/>
            <a:ext cx="2788920" cy="658368"/>
          </a:xfrm>
          <a:prstGeom prst="rect">
            <a:avLst/>
          </a:prstGeom>
          <a:noFill/>
          <a:ln/>
        </p:spPr>
        <p:txBody>
          <a:bodyPr wrap="square" lIns="508" tIns="508" rIns="508" bIns="508" rtlCol="0" anchor="ctr"/>
          <a:lstStyle/>
          <a:p>
            <a:pPr indent="0" marL="0">
              <a:buNone/>
            </a:pPr>
            <a:r>
              <a:rPr lang="en-US" sz="950" dirty="0">
                <a:solidFill>
                  <a:srgbClr val="2B2B2B"/>
                </a:solidFill>
                <a:latin typeface="Meiryo UI" pitchFamily="34" charset="0"/>
                <a:ea typeface="Meiryo UI" pitchFamily="34" charset="-122"/>
                <a:cs typeface="Meiryo UI" pitchFamily="34" charset="-120"/>
              </a:rPr>
              <a:t>Power QueryのBQコネクタでDataverseへ。ノーコード／BQの権限付与が必要</a:t>
            </a:r>
            <a:endParaRPr lang="en-US" sz="950" dirty="0"/>
          </a:p>
        </p:txBody>
      </p:sp>
      <p:sp>
        <p:nvSpPr>
          <p:cNvPr id="45" name="Shape 33"/>
          <p:cNvSpPr/>
          <p:nvPr/>
        </p:nvSpPr>
        <p:spPr>
          <a:xfrm>
            <a:off x="6172200" y="1417320"/>
            <a:ext cx="5440680" cy="4069080"/>
          </a:xfrm>
          <a:prstGeom prst="roundRect">
            <a:avLst>
              <a:gd name="adj" fmla="val 1348"/>
            </a:avLst>
          </a:prstGeom>
          <a:solidFill>
            <a:srgbClr val="E8F0FE"/>
          </a:solidFill>
          <a:ln/>
        </p:spPr>
      </p:sp>
      <p:pic>
        <p:nvPicPr>
          <p:cNvPr id="46" name="Image 10" descr="preencoded.png">    </p:cNvPr>
          <p:cNvPicPr>
            <a:picLocks noChangeAspect="1"/>
          </p:cNvPicPr>
          <p:nvPr/>
        </p:nvPicPr>
        <p:blipFill>
          <a:blip r:embed="rId11"/>
          <a:stretch>
            <a:fillRect/>
          </a:stretch>
        </p:blipFill>
        <p:spPr>
          <a:xfrm>
            <a:off x="6355080" y="1508760"/>
            <a:ext cx="365760" cy="365760"/>
          </a:xfrm>
          <a:prstGeom prst="rect">
            <a:avLst/>
          </a:prstGeom>
        </p:spPr>
      </p:pic>
      <p:sp>
        <p:nvSpPr>
          <p:cNvPr id="47" name="Text 34"/>
          <p:cNvSpPr txBox="1"/>
          <p:nvPr/>
        </p:nvSpPr>
        <p:spPr>
          <a:xfrm>
            <a:off x="6812280" y="1508760"/>
            <a:ext cx="4572000" cy="365760"/>
          </a:xfrm>
          <a:prstGeom prst="rect">
            <a:avLst/>
          </a:prstGeom>
          <a:noFill/>
          <a:ln/>
        </p:spPr>
        <p:txBody>
          <a:bodyPr wrap="square" lIns="508" tIns="508" rIns="508" bIns="508" rtlCol="0" anchor="ctr"/>
          <a:lstStyle/>
          <a:p>
            <a:pPr indent="0" marL="0">
              <a:buNone/>
            </a:pPr>
            <a:r>
              <a:rPr lang="en-US" sz="1400" b="1" dirty="0">
                <a:solidFill>
                  <a:srgbClr val="4285F4"/>
                </a:solidFill>
                <a:latin typeface="Meiryo UI" pitchFamily="34" charset="0"/>
                <a:ea typeface="Meiryo UI" pitchFamily="34" charset="-122"/>
                <a:cs typeface="Meiryo UI" pitchFamily="34" charset="-120"/>
              </a:rPr>
              <a:t>M365 → GCP（資料を運ぶ）</a:t>
            </a:r>
            <a:endParaRPr lang="en-US" sz="1400" dirty="0"/>
          </a:p>
        </p:txBody>
      </p:sp>
      <p:sp>
        <p:nvSpPr>
          <p:cNvPr id="48" name="Shape 35"/>
          <p:cNvSpPr/>
          <p:nvPr/>
        </p:nvSpPr>
        <p:spPr>
          <a:xfrm>
            <a:off x="6309360" y="2011680"/>
            <a:ext cx="5166360" cy="1051560"/>
          </a:xfrm>
          <a:prstGeom prst="roundRect">
            <a:avLst>
              <a:gd name="adj" fmla="val 5217"/>
            </a:avLst>
          </a:prstGeom>
          <a:solidFill>
            <a:srgbClr val="FFFFFF"/>
          </a:solidFill>
          <a:ln/>
        </p:spPr>
      </p:sp>
      <p:sp>
        <p:nvSpPr>
          <p:cNvPr id="49" name="Text 36"/>
          <p:cNvSpPr txBox="1"/>
          <p:nvPr/>
        </p:nvSpPr>
        <p:spPr>
          <a:xfrm>
            <a:off x="6446520" y="2066544"/>
            <a:ext cx="3657600" cy="292608"/>
          </a:xfrm>
          <a:prstGeom prst="rect">
            <a:avLst/>
          </a:prstGeom>
          <a:noFill/>
          <a:ln/>
        </p:spPr>
        <p:txBody>
          <a:bodyPr wrap="square" lIns="508" tIns="508" rIns="508" bIns="508" rtlCol="0" anchor="ctr"/>
          <a:lstStyle/>
          <a:p>
            <a:pPr indent="0" marL="0">
              <a:buNone/>
            </a:pPr>
            <a:r>
              <a:rPr lang="en-US" sz="1150" b="1" dirty="0">
                <a:solidFill>
                  <a:srgbClr val="1B2A49"/>
                </a:solidFill>
                <a:latin typeface="Meiryo UI" pitchFamily="34" charset="0"/>
                <a:ea typeface="Meiryo UI" pitchFamily="34" charset="-122"/>
                <a:cs typeface="Meiryo UI" pitchFamily="34" charset="-120"/>
              </a:rPr>
              <a:t>方式1：Graph APIで定期同期</a:t>
            </a:r>
            <a:endParaRPr lang="en-US" sz="1150" dirty="0"/>
          </a:p>
        </p:txBody>
      </p:sp>
      <p:sp>
        <p:nvSpPr>
          <p:cNvPr id="50" name="Text 37"/>
          <p:cNvSpPr txBox="1"/>
          <p:nvPr/>
        </p:nvSpPr>
        <p:spPr>
          <a:xfrm>
            <a:off x="9738360" y="2066544"/>
            <a:ext cx="1645920" cy="292608"/>
          </a:xfrm>
          <a:prstGeom prst="rect">
            <a:avLst/>
          </a:prstGeom>
          <a:noFill/>
          <a:ln/>
        </p:spPr>
        <p:txBody>
          <a:bodyPr wrap="square" lIns="508" tIns="508" rIns="508" bIns="508" rtlCol="0" anchor="ctr"/>
          <a:lstStyle/>
          <a:p>
            <a:pPr algn="r" indent="0" marL="0">
              <a:buNone/>
            </a:pPr>
            <a:r>
              <a:rPr lang="en-US" sz="950" b="1" dirty="0">
                <a:solidFill>
                  <a:srgbClr val="E8912D"/>
                </a:solidFill>
                <a:latin typeface="Meiryo UI" pitchFamily="34" charset="0"/>
                <a:ea typeface="Meiryo UI" pitchFamily="34" charset="-122"/>
                <a:cs typeface="Meiryo UI" pitchFamily="34" charset="-120"/>
              </a:rPr>
              <a:t>難易度 ★★★☆☆</a:t>
            </a:r>
            <a:endParaRPr lang="en-US" sz="950" dirty="0"/>
          </a:p>
        </p:txBody>
      </p:sp>
      <p:pic>
        <p:nvPicPr>
          <p:cNvPr id="51" name="Image 11" descr="preencoded.png">    </p:cNvPr>
          <p:cNvPicPr>
            <a:picLocks noChangeAspect="1"/>
          </p:cNvPicPr>
          <p:nvPr/>
        </p:nvPicPr>
        <p:blipFill>
          <a:blip r:embed="rId12"/>
          <a:stretch>
            <a:fillRect/>
          </a:stretch>
        </p:blipFill>
        <p:spPr>
          <a:xfrm>
            <a:off x="6492240" y="2423160"/>
            <a:ext cx="329184" cy="329184"/>
          </a:xfrm>
          <a:prstGeom prst="rect">
            <a:avLst/>
          </a:prstGeom>
        </p:spPr>
      </p:pic>
      <p:sp>
        <p:nvSpPr>
          <p:cNvPr id="52" name="Text 38"/>
          <p:cNvSpPr txBox="1"/>
          <p:nvPr/>
        </p:nvSpPr>
        <p:spPr>
          <a:xfrm>
            <a:off x="6309360" y="2761488"/>
            <a:ext cx="694944" cy="256032"/>
          </a:xfrm>
          <a:prstGeom prst="rect">
            <a:avLst/>
          </a:prstGeom>
          <a:noFill/>
          <a:ln/>
        </p:spPr>
        <p:txBody>
          <a:bodyPr wrap="square" lIns="0" tIns="0" rIns="0" bIns="0" rtlCol="0" anchor="t"/>
          <a:lstStyle/>
          <a:p>
            <a:pPr algn="ctr" indent="0" marL="0">
              <a:buNone/>
            </a:pPr>
            <a:r>
              <a:rPr lang="en-US" sz="750" dirty="0">
                <a:solidFill>
                  <a:srgbClr val="6B7280"/>
                </a:solidFill>
                <a:latin typeface="Meiryo UI" pitchFamily="34" charset="0"/>
                <a:ea typeface="Meiryo UI" pitchFamily="34" charset="-122"/>
                <a:cs typeface="Meiryo UI" pitchFamily="34" charset="-120"/>
              </a:rPr>
              <a:t>SharePoint</a:t>
            </a:r>
            <a:endParaRPr lang="en-US" sz="750" dirty="0"/>
          </a:p>
        </p:txBody>
      </p:sp>
      <p:sp>
        <p:nvSpPr>
          <p:cNvPr id="53" name="Shape 39"/>
          <p:cNvSpPr/>
          <p:nvPr/>
        </p:nvSpPr>
        <p:spPr>
          <a:xfrm>
            <a:off x="6858000" y="2587752"/>
            <a:ext cx="320040" cy="0"/>
          </a:xfrm>
          <a:prstGeom prst="line">
            <a:avLst/>
          </a:prstGeom>
          <a:noFill/>
          <a:ln w="15875">
            <a:solidFill>
              <a:srgbClr val="9AA5B4"/>
            </a:solidFill>
            <a:prstDash val="solid"/>
            <a:tailEnd type="triangle"/>
          </a:ln>
        </p:spPr>
      </p:sp>
      <p:pic>
        <p:nvPicPr>
          <p:cNvPr id="54" name="Image 12" descr="preencoded.png">    </p:cNvPr>
          <p:cNvPicPr>
            <a:picLocks noChangeAspect="1"/>
          </p:cNvPicPr>
          <p:nvPr/>
        </p:nvPicPr>
        <p:blipFill>
          <a:blip r:embed="rId13"/>
          <a:stretch>
            <a:fillRect/>
          </a:stretch>
        </p:blipFill>
        <p:spPr>
          <a:xfrm>
            <a:off x="7223760" y="2423160"/>
            <a:ext cx="329184" cy="329184"/>
          </a:xfrm>
          <a:prstGeom prst="rect">
            <a:avLst/>
          </a:prstGeom>
        </p:spPr>
      </p:pic>
      <p:sp>
        <p:nvSpPr>
          <p:cNvPr id="55" name="Text 40"/>
          <p:cNvSpPr txBox="1"/>
          <p:nvPr/>
        </p:nvSpPr>
        <p:spPr>
          <a:xfrm>
            <a:off x="7040880" y="2761488"/>
            <a:ext cx="694944" cy="256032"/>
          </a:xfrm>
          <a:prstGeom prst="rect">
            <a:avLst/>
          </a:prstGeom>
          <a:noFill/>
          <a:ln/>
        </p:spPr>
        <p:txBody>
          <a:bodyPr wrap="square" lIns="0" tIns="0" rIns="0" bIns="0" rtlCol="0" anchor="t"/>
          <a:lstStyle/>
          <a:p>
            <a:pPr algn="ctr" indent="0" marL="0">
              <a:buNone/>
            </a:pPr>
            <a:r>
              <a:rPr lang="en-US" sz="750" dirty="0">
                <a:solidFill>
                  <a:srgbClr val="6B7280"/>
                </a:solidFill>
                <a:latin typeface="Meiryo UI" pitchFamily="34" charset="0"/>
                <a:ea typeface="Meiryo UI" pitchFamily="34" charset="-122"/>
                <a:cs typeface="Meiryo UI" pitchFamily="34" charset="-120"/>
              </a:rPr>
              <a:t>Cloud Run</a:t>
            </a:r>
            <a:endParaRPr lang="en-US" sz="750" dirty="0"/>
          </a:p>
        </p:txBody>
      </p:sp>
      <p:sp>
        <p:nvSpPr>
          <p:cNvPr id="56" name="Shape 41"/>
          <p:cNvSpPr/>
          <p:nvPr/>
        </p:nvSpPr>
        <p:spPr>
          <a:xfrm>
            <a:off x="7589520" y="2587752"/>
            <a:ext cx="320040" cy="0"/>
          </a:xfrm>
          <a:prstGeom prst="line">
            <a:avLst/>
          </a:prstGeom>
          <a:noFill/>
          <a:ln w="15875">
            <a:solidFill>
              <a:srgbClr val="9AA5B4"/>
            </a:solidFill>
            <a:prstDash val="solid"/>
            <a:tailEnd type="triangle"/>
          </a:ln>
        </p:spPr>
      </p:sp>
      <p:pic>
        <p:nvPicPr>
          <p:cNvPr id="57" name="Image 13" descr="preencoded.png">    </p:cNvPr>
          <p:cNvPicPr>
            <a:picLocks noChangeAspect="1"/>
          </p:cNvPicPr>
          <p:nvPr/>
        </p:nvPicPr>
        <p:blipFill>
          <a:blip r:embed="rId14"/>
          <a:stretch>
            <a:fillRect/>
          </a:stretch>
        </p:blipFill>
        <p:spPr>
          <a:xfrm>
            <a:off x="7955280" y="2423160"/>
            <a:ext cx="329184" cy="329184"/>
          </a:xfrm>
          <a:prstGeom prst="rect">
            <a:avLst/>
          </a:prstGeom>
        </p:spPr>
      </p:pic>
      <p:sp>
        <p:nvSpPr>
          <p:cNvPr id="58" name="Text 42"/>
          <p:cNvSpPr txBox="1"/>
          <p:nvPr/>
        </p:nvSpPr>
        <p:spPr>
          <a:xfrm>
            <a:off x="7772400" y="2761488"/>
            <a:ext cx="694944" cy="256032"/>
          </a:xfrm>
          <a:prstGeom prst="rect">
            <a:avLst/>
          </a:prstGeom>
          <a:noFill/>
          <a:ln/>
        </p:spPr>
        <p:txBody>
          <a:bodyPr wrap="square" lIns="0" tIns="0" rIns="0" bIns="0" rtlCol="0" anchor="t"/>
          <a:lstStyle/>
          <a:p>
            <a:pPr algn="ctr" indent="0" marL="0">
              <a:buNone/>
            </a:pPr>
            <a:r>
              <a:rPr lang="en-US" sz="750" dirty="0">
                <a:solidFill>
                  <a:srgbClr val="6B7280"/>
                </a:solidFill>
                <a:latin typeface="Meiryo UI" pitchFamily="34" charset="0"/>
                <a:ea typeface="Meiryo UI" pitchFamily="34" charset="-122"/>
                <a:cs typeface="Meiryo UI" pitchFamily="34" charset="-120"/>
              </a:rPr>
              <a:t>検索</a:t>
            </a:r>
            <a:endParaRPr lang="en-US" sz="750" dirty="0"/>
          </a:p>
        </p:txBody>
      </p:sp>
      <p:sp>
        <p:nvSpPr>
          <p:cNvPr id="59" name="Text 43"/>
          <p:cNvSpPr txBox="1"/>
          <p:nvPr/>
        </p:nvSpPr>
        <p:spPr>
          <a:xfrm>
            <a:off x="8595360" y="2377440"/>
            <a:ext cx="2788920" cy="658368"/>
          </a:xfrm>
          <a:prstGeom prst="rect">
            <a:avLst/>
          </a:prstGeom>
          <a:noFill/>
          <a:ln/>
        </p:spPr>
        <p:txBody>
          <a:bodyPr wrap="square" lIns="508" tIns="508" rIns="508" bIns="508" rtlCol="0" anchor="ctr"/>
          <a:lstStyle/>
          <a:p>
            <a:pPr indent="0" marL="0">
              <a:buNone/>
            </a:pPr>
            <a:r>
              <a:rPr lang="en-US" sz="950" dirty="0">
                <a:solidFill>
                  <a:srgbClr val="2B2B2B"/>
                </a:solidFill>
                <a:latin typeface="Meiryo UI" pitchFamily="34" charset="0"/>
                <a:ea typeface="Meiryo UI" pitchFamily="34" charset="-122"/>
                <a:cs typeface="Meiryo UI" pitchFamily="34" charset="-120"/>
              </a:rPr>
              <a:t>Cloud Run JobがSharePointを取得し、Agent Platformの検索へ。柔軟／同期範囲・権限の管理が必要</a:t>
            </a:r>
            <a:endParaRPr lang="en-US" sz="950" dirty="0"/>
          </a:p>
        </p:txBody>
      </p:sp>
      <p:sp>
        <p:nvSpPr>
          <p:cNvPr id="60" name="Shape 44"/>
          <p:cNvSpPr/>
          <p:nvPr/>
        </p:nvSpPr>
        <p:spPr>
          <a:xfrm>
            <a:off x="6309360" y="3154680"/>
            <a:ext cx="5166360" cy="1051560"/>
          </a:xfrm>
          <a:prstGeom prst="roundRect">
            <a:avLst>
              <a:gd name="adj" fmla="val 5217"/>
            </a:avLst>
          </a:prstGeom>
          <a:solidFill>
            <a:srgbClr val="FFFFFF"/>
          </a:solidFill>
          <a:ln/>
        </p:spPr>
      </p:sp>
      <p:sp>
        <p:nvSpPr>
          <p:cNvPr id="61" name="Text 45"/>
          <p:cNvSpPr txBox="1"/>
          <p:nvPr/>
        </p:nvSpPr>
        <p:spPr>
          <a:xfrm>
            <a:off x="6446520" y="3209544"/>
            <a:ext cx="3657600" cy="292608"/>
          </a:xfrm>
          <a:prstGeom prst="rect">
            <a:avLst/>
          </a:prstGeom>
          <a:noFill/>
          <a:ln/>
        </p:spPr>
        <p:txBody>
          <a:bodyPr wrap="square" lIns="508" tIns="508" rIns="508" bIns="508" rtlCol="0" anchor="ctr"/>
          <a:lstStyle/>
          <a:p>
            <a:pPr indent="0" marL="0">
              <a:buNone/>
            </a:pPr>
            <a:r>
              <a:rPr lang="en-US" sz="1150" b="1" dirty="0">
                <a:solidFill>
                  <a:srgbClr val="1B2A49"/>
                </a:solidFill>
                <a:latin typeface="Meiryo UI" pitchFamily="34" charset="0"/>
                <a:ea typeface="Meiryo UI" pitchFamily="34" charset="-122"/>
                <a:cs typeface="Meiryo UI" pitchFamily="34" charset="-120"/>
              </a:rPr>
              <a:t>方式2：Gemini Enterpriseのコネクタ</a:t>
            </a:r>
            <a:endParaRPr lang="en-US" sz="1150" dirty="0"/>
          </a:p>
        </p:txBody>
      </p:sp>
      <p:sp>
        <p:nvSpPr>
          <p:cNvPr id="62" name="Text 46"/>
          <p:cNvSpPr txBox="1"/>
          <p:nvPr/>
        </p:nvSpPr>
        <p:spPr>
          <a:xfrm>
            <a:off x="9738360" y="3209544"/>
            <a:ext cx="1645920" cy="292608"/>
          </a:xfrm>
          <a:prstGeom prst="rect">
            <a:avLst/>
          </a:prstGeom>
          <a:noFill/>
          <a:ln/>
        </p:spPr>
        <p:txBody>
          <a:bodyPr wrap="square" lIns="508" tIns="508" rIns="508" bIns="508" rtlCol="0" anchor="ctr"/>
          <a:lstStyle/>
          <a:p>
            <a:pPr algn="r" indent="0" marL="0">
              <a:buNone/>
            </a:pPr>
            <a:r>
              <a:rPr lang="en-US" sz="950" b="1" dirty="0">
                <a:solidFill>
                  <a:srgbClr val="E8912D"/>
                </a:solidFill>
                <a:latin typeface="Meiryo UI" pitchFamily="34" charset="0"/>
                <a:ea typeface="Meiryo UI" pitchFamily="34" charset="-122"/>
                <a:cs typeface="Meiryo UI" pitchFamily="34" charset="-120"/>
              </a:rPr>
              <a:t>難易度 ★★☆☆☆</a:t>
            </a:r>
            <a:endParaRPr lang="en-US" sz="950" dirty="0"/>
          </a:p>
        </p:txBody>
      </p:sp>
      <p:pic>
        <p:nvPicPr>
          <p:cNvPr id="63" name="Image 14" descr="preencoded.png">    </p:cNvPr>
          <p:cNvPicPr>
            <a:picLocks noChangeAspect="1"/>
          </p:cNvPicPr>
          <p:nvPr/>
        </p:nvPicPr>
        <p:blipFill>
          <a:blip r:embed="rId15"/>
          <a:stretch>
            <a:fillRect/>
          </a:stretch>
        </p:blipFill>
        <p:spPr>
          <a:xfrm>
            <a:off x="6492240" y="3566160"/>
            <a:ext cx="329184" cy="329184"/>
          </a:xfrm>
          <a:prstGeom prst="rect">
            <a:avLst/>
          </a:prstGeom>
        </p:spPr>
      </p:pic>
      <p:sp>
        <p:nvSpPr>
          <p:cNvPr id="64" name="Text 47"/>
          <p:cNvSpPr txBox="1"/>
          <p:nvPr/>
        </p:nvSpPr>
        <p:spPr>
          <a:xfrm>
            <a:off x="6309360" y="3904488"/>
            <a:ext cx="694944" cy="256032"/>
          </a:xfrm>
          <a:prstGeom prst="rect">
            <a:avLst/>
          </a:prstGeom>
          <a:noFill/>
          <a:ln/>
        </p:spPr>
        <p:txBody>
          <a:bodyPr wrap="square" lIns="0" tIns="0" rIns="0" bIns="0" rtlCol="0" anchor="t"/>
          <a:lstStyle/>
          <a:p>
            <a:pPr algn="ctr" indent="0" marL="0">
              <a:buNone/>
            </a:pPr>
            <a:r>
              <a:rPr lang="en-US" sz="750" dirty="0">
                <a:solidFill>
                  <a:srgbClr val="6B7280"/>
                </a:solidFill>
                <a:latin typeface="Meiryo UI" pitchFamily="34" charset="0"/>
                <a:ea typeface="Meiryo UI" pitchFamily="34" charset="-122"/>
                <a:cs typeface="Meiryo UI" pitchFamily="34" charset="-120"/>
              </a:rPr>
              <a:t>SharePoint</a:t>
            </a:r>
            <a:endParaRPr lang="en-US" sz="750" dirty="0"/>
          </a:p>
        </p:txBody>
      </p:sp>
      <p:sp>
        <p:nvSpPr>
          <p:cNvPr id="65" name="Shape 48"/>
          <p:cNvSpPr/>
          <p:nvPr/>
        </p:nvSpPr>
        <p:spPr>
          <a:xfrm>
            <a:off x="6858000" y="3730752"/>
            <a:ext cx="320040" cy="0"/>
          </a:xfrm>
          <a:prstGeom prst="line">
            <a:avLst/>
          </a:prstGeom>
          <a:noFill/>
          <a:ln w="15875">
            <a:solidFill>
              <a:srgbClr val="9AA5B4"/>
            </a:solidFill>
            <a:prstDash val="solid"/>
            <a:tailEnd type="triangle"/>
          </a:ln>
        </p:spPr>
      </p:sp>
      <p:pic>
        <p:nvPicPr>
          <p:cNvPr id="66" name="Image 15" descr="preencoded.png">    </p:cNvPr>
          <p:cNvPicPr>
            <a:picLocks noChangeAspect="1"/>
          </p:cNvPicPr>
          <p:nvPr/>
        </p:nvPicPr>
        <p:blipFill>
          <a:blip r:embed="rId16"/>
          <a:stretch>
            <a:fillRect/>
          </a:stretch>
        </p:blipFill>
        <p:spPr>
          <a:xfrm>
            <a:off x="7223760" y="3566160"/>
            <a:ext cx="329184" cy="329184"/>
          </a:xfrm>
          <a:prstGeom prst="rect">
            <a:avLst/>
          </a:prstGeom>
        </p:spPr>
      </p:pic>
      <p:sp>
        <p:nvSpPr>
          <p:cNvPr id="67" name="Text 49"/>
          <p:cNvSpPr txBox="1"/>
          <p:nvPr/>
        </p:nvSpPr>
        <p:spPr>
          <a:xfrm>
            <a:off x="7040880" y="3904488"/>
            <a:ext cx="694944" cy="256032"/>
          </a:xfrm>
          <a:prstGeom prst="rect">
            <a:avLst/>
          </a:prstGeom>
          <a:noFill/>
          <a:ln/>
        </p:spPr>
        <p:txBody>
          <a:bodyPr wrap="square" lIns="0" tIns="0" rIns="0" bIns="0" rtlCol="0" anchor="t"/>
          <a:lstStyle/>
          <a:p>
            <a:pPr algn="ctr" indent="0" marL="0">
              <a:buNone/>
            </a:pPr>
            <a:r>
              <a:rPr lang="en-US" sz="750" dirty="0">
                <a:solidFill>
                  <a:srgbClr val="6B7280"/>
                </a:solidFill>
                <a:latin typeface="Meiryo UI" pitchFamily="34" charset="0"/>
                <a:ea typeface="Meiryo UI" pitchFamily="34" charset="-122"/>
                <a:cs typeface="Meiryo UI" pitchFamily="34" charset="-120"/>
              </a:rPr>
              <a:t>Gemini Ent.</a:t>
            </a:r>
            <a:endParaRPr lang="en-US" sz="750" dirty="0"/>
          </a:p>
        </p:txBody>
      </p:sp>
      <p:sp>
        <p:nvSpPr>
          <p:cNvPr id="68" name="Text 50"/>
          <p:cNvSpPr txBox="1"/>
          <p:nvPr/>
        </p:nvSpPr>
        <p:spPr>
          <a:xfrm>
            <a:off x="8595360" y="3520440"/>
            <a:ext cx="2788920" cy="658368"/>
          </a:xfrm>
          <a:prstGeom prst="rect">
            <a:avLst/>
          </a:prstGeom>
          <a:noFill/>
          <a:ln/>
        </p:spPr>
        <p:txBody>
          <a:bodyPr wrap="square" lIns="508" tIns="508" rIns="508" bIns="508" rtlCol="0" anchor="ctr"/>
          <a:lstStyle/>
          <a:p>
            <a:pPr indent="0" marL="0">
              <a:buNone/>
            </a:pPr>
            <a:r>
              <a:rPr lang="en-US" sz="950" dirty="0">
                <a:solidFill>
                  <a:srgbClr val="2B2B2B"/>
                </a:solidFill>
                <a:latin typeface="Meiryo UI" pitchFamily="34" charset="0"/>
                <a:ea typeface="Meiryo UI" pitchFamily="34" charset="-122"/>
                <a:cs typeface="Meiryo UI" pitchFamily="34" charset="-120"/>
              </a:rPr>
              <a:t>GA。フェデレーション（コピーせず都度検索）か取り込みを選択。Entraのアプリ登録が必要</a:t>
            </a:r>
            <a:endParaRPr lang="en-US" sz="950" dirty="0"/>
          </a:p>
        </p:txBody>
      </p:sp>
      <p:sp>
        <p:nvSpPr>
          <p:cNvPr id="69" name="Shape 51"/>
          <p:cNvSpPr/>
          <p:nvPr/>
        </p:nvSpPr>
        <p:spPr>
          <a:xfrm>
            <a:off x="6309360" y="4297680"/>
            <a:ext cx="5166360" cy="1051560"/>
          </a:xfrm>
          <a:prstGeom prst="roundRect">
            <a:avLst>
              <a:gd name="adj" fmla="val 5217"/>
            </a:avLst>
          </a:prstGeom>
          <a:solidFill>
            <a:srgbClr val="FFFFFF"/>
          </a:solidFill>
          <a:ln/>
        </p:spPr>
      </p:sp>
      <p:sp>
        <p:nvSpPr>
          <p:cNvPr id="70" name="Text 52"/>
          <p:cNvSpPr txBox="1"/>
          <p:nvPr/>
        </p:nvSpPr>
        <p:spPr>
          <a:xfrm>
            <a:off x="6446520" y="4352544"/>
            <a:ext cx="3657600" cy="292608"/>
          </a:xfrm>
          <a:prstGeom prst="rect">
            <a:avLst/>
          </a:prstGeom>
          <a:noFill/>
          <a:ln/>
        </p:spPr>
        <p:txBody>
          <a:bodyPr wrap="square" lIns="508" tIns="508" rIns="508" bIns="508" rtlCol="0" anchor="ctr"/>
          <a:lstStyle/>
          <a:p>
            <a:pPr indent="0" marL="0">
              <a:buNone/>
            </a:pPr>
            <a:r>
              <a:rPr lang="en-US" sz="1150" b="1" dirty="0">
                <a:solidFill>
                  <a:srgbClr val="1B2A49"/>
                </a:solidFill>
                <a:latin typeface="Meiryo UI" pitchFamily="34" charset="0"/>
                <a:ea typeface="Meiryo UI" pitchFamily="34" charset="-122"/>
                <a:cs typeface="Meiryo UI" pitchFamily="34" charset="-120"/>
              </a:rPr>
              <a:t>方式3：Power AutomateでGCSへ送信</a:t>
            </a:r>
            <a:endParaRPr lang="en-US" sz="1150" dirty="0"/>
          </a:p>
        </p:txBody>
      </p:sp>
      <p:sp>
        <p:nvSpPr>
          <p:cNvPr id="71" name="Text 53"/>
          <p:cNvSpPr txBox="1"/>
          <p:nvPr/>
        </p:nvSpPr>
        <p:spPr>
          <a:xfrm>
            <a:off x="9738360" y="4352544"/>
            <a:ext cx="1645920" cy="292608"/>
          </a:xfrm>
          <a:prstGeom prst="rect">
            <a:avLst/>
          </a:prstGeom>
          <a:noFill/>
          <a:ln/>
        </p:spPr>
        <p:txBody>
          <a:bodyPr wrap="square" lIns="508" tIns="508" rIns="508" bIns="508" rtlCol="0" anchor="ctr"/>
          <a:lstStyle/>
          <a:p>
            <a:pPr algn="r" indent="0" marL="0">
              <a:buNone/>
            </a:pPr>
            <a:r>
              <a:rPr lang="en-US" sz="950" b="1" dirty="0">
                <a:solidFill>
                  <a:srgbClr val="E8912D"/>
                </a:solidFill>
                <a:latin typeface="Meiryo UI" pitchFamily="34" charset="0"/>
                <a:ea typeface="Meiryo UI" pitchFamily="34" charset="-122"/>
                <a:cs typeface="Meiryo UI" pitchFamily="34" charset="-120"/>
              </a:rPr>
              <a:t>難易度 ★★☆☆☆</a:t>
            </a:r>
            <a:endParaRPr lang="en-US" sz="950" dirty="0"/>
          </a:p>
        </p:txBody>
      </p:sp>
      <p:pic>
        <p:nvPicPr>
          <p:cNvPr id="72" name="Image 16" descr="preencoded.png">    </p:cNvPr>
          <p:cNvPicPr>
            <a:picLocks noChangeAspect="1"/>
          </p:cNvPicPr>
          <p:nvPr/>
        </p:nvPicPr>
        <p:blipFill>
          <a:blip r:embed="rId17"/>
          <a:stretch>
            <a:fillRect/>
          </a:stretch>
        </p:blipFill>
        <p:spPr>
          <a:xfrm>
            <a:off x="6492240" y="4709160"/>
            <a:ext cx="329184" cy="329184"/>
          </a:xfrm>
          <a:prstGeom prst="rect">
            <a:avLst/>
          </a:prstGeom>
        </p:spPr>
      </p:pic>
      <p:sp>
        <p:nvSpPr>
          <p:cNvPr id="73" name="Text 54"/>
          <p:cNvSpPr txBox="1"/>
          <p:nvPr/>
        </p:nvSpPr>
        <p:spPr>
          <a:xfrm>
            <a:off x="6309360" y="5047488"/>
            <a:ext cx="694944" cy="256032"/>
          </a:xfrm>
          <a:prstGeom prst="rect">
            <a:avLst/>
          </a:prstGeom>
          <a:noFill/>
          <a:ln/>
        </p:spPr>
        <p:txBody>
          <a:bodyPr wrap="square" lIns="0" tIns="0" rIns="0" bIns="0" rtlCol="0" anchor="t"/>
          <a:lstStyle/>
          <a:p>
            <a:pPr algn="ctr" indent="0" marL="0">
              <a:buNone/>
            </a:pPr>
            <a:r>
              <a:rPr lang="en-US" sz="750" dirty="0">
                <a:solidFill>
                  <a:srgbClr val="6B7280"/>
                </a:solidFill>
                <a:latin typeface="Meiryo UI" pitchFamily="34" charset="0"/>
                <a:ea typeface="Meiryo UI" pitchFamily="34" charset="-122"/>
                <a:cs typeface="Meiryo UI" pitchFamily="34" charset="-120"/>
              </a:rPr>
              <a:t>SharePoint</a:t>
            </a:r>
            <a:endParaRPr lang="en-US" sz="750" dirty="0"/>
          </a:p>
        </p:txBody>
      </p:sp>
      <p:sp>
        <p:nvSpPr>
          <p:cNvPr id="74" name="Shape 55"/>
          <p:cNvSpPr/>
          <p:nvPr/>
        </p:nvSpPr>
        <p:spPr>
          <a:xfrm>
            <a:off x="6858000" y="4873752"/>
            <a:ext cx="320040" cy="0"/>
          </a:xfrm>
          <a:prstGeom prst="line">
            <a:avLst/>
          </a:prstGeom>
          <a:noFill/>
          <a:ln w="15875">
            <a:solidFill>
              <a:srgbClr val="9AA5B4"/>
            </a:solidFill>
            <a:prstDash val="solid"/>
            <a:tailEnd type="triangle"/>
          </a:ln>
        </p:spPr>
      </p:sp>
      <p:pic>
        <p:nvPicPr>
          <p:cNvPr id="75" name="Image 17" descr="preencoded.png">    </p:cNvPr>
          <p:cNvPicPr>
            <a:picLocks noChangeAspect="1"/>
          </p:cNvPicPr>
          <p:nvPr/>
        </p:nvPicPr>
        <p:blipFill>
          <a:blip r:embed="rId18"/>
          <a:stretch>
            <a:fillRect/>
          </a:stretch>
        </p:blipFill>
        <p:spPr>
          <a:xfrm>
            <a:off x="7223760" y="4709160"/>
            <a:ext cx="329184" cy="329184"/>
          </a:xfrm>
          <a:prstGeom prst="rect">
            <a:avLst/>
          </a:prstGeom>
        </p:spPr>
      </p:pic>
      <p:sp>
        <p:nvSpPr>
          <p:cNvPr id="76" name="Text 56"/>
          <p:cNvSpPr txBox="1"/>
          <p:nvPr/>
        </p:nvSpPr>
        <p:spPr>
          <a:xfrm>
            <a:off x="7040880" y="5047488"/>
            <a:ext cx="694944" cy="256032"/>
          </a:xfrm>
          <a:prstGeom prst="rect">
            <a:avLst/>
          </a:prstGeom>
          <a:noFill/>
          <a:ln/>
        </p:spPr>
        <p:txBody>
          <a:bodyPr wrap="square" lIns="0" tIns="0" rIns="0" bIns="0" rtlCol="0" anchor="t"/>
          <a:lstStyle/>
          <a:p>
            <a:pPr algn="ctr" indent="0" marL="0">
              <a:buNone/>
            </a:pPr>
            <a:r>
              <a:rPr lang="en-US" sz="750" dirty="0">
                <a:solidFill>
                  <a:srgbClr val="6B7280"/>
                </a:solidFill>
                <a:latin typeface="Meiryo UI" pitchFamily="34" charset="0"/>
                <a:ea typeface="Meiryo UI" pitchFamily="34" charset="-122"/>
                <a:cs typeface="Meiryo UI" pitchFamily="34" charset="-120"/>
              </a:rPr>
              <a:t>PA</a:t>
            </a:r>
            <a:endParaRPr lang="en-US" sz="750" dirty="0"/>
          </a:p>
        </p:txBody>
      </p:sp>
      <p:sp>
        <p:nvSpPr>
          <p:cNvPr id="77" name="Shape 57"/>
          <p:cNvSpPr/>
          <p:nvPr/>
        </p:nvSpPr>
        <p:spPr>
          <a:xfrm>
            <a:off x="7589520" y="4873752"/>
            <a:ext cx="320040" cy="0"/>
          </a:xfrm>
          <a:prstGeom prst="line">
            <a:avLst/>
          </a:prstGeom>
          <a:noFill/>
          <a:ln w="15875">
            <a:solidFill>
              <a:srgbClr val="9AA5B4"/>
            </a:solidFill>
            <a:prstDash val="solid"/>
            <a:tailEnd type="triangle"/>
          </a:ln>
        </p:spPr>
      </p:sp>
      <p:pic>
        <p:nvPicPr>
          <p:cNvPr id="78" name="Image 18" descr="preencoded.png">    </p:cNvPr>
          <p:cNvPicPr>
            <a:picLocks noChangeAspect="1"/>
          </p:cNvPicPr>
          <p:nvPr/>
        </p:nvPicPr>
        <p:blipFill>
          <a:blip r:embed="rId19"/>
          <a:stretch>
            <a:fillRect/>
          </a:stretch>
        </p:blipFill>
        <p:spPr>
          <a:xfrm>
            <a:off x="7955280" y="4709160"/>
            <a:ext cx="329184" cy="329184"/>
          </a:xfrm>
          <a:prstGeom prst="rect">
            <a:avLst/>
          </a:prstGeom>
        </p:spPr>
      </p:pic>
      <p:sp>
        <p:nvSpPr>
          <p:cNvPr id="79" name="Text 58"/>
          <p:cNvSpPr txBox="1"/>
          <p:nvPr/>
        </p:nvSpPr>
        <p:spPr>
          <a:xfrm>
            <a:off x="7772400" y="5047488"/>
            <a:ext cx="694944" cy="256032"/>
          </a:xfrm>
          <a:prstGeom prst="rect">
            <a:avLst/>
          </a:prstGeom>
          <a:noFill/>
          <a:ln/>
        </p:spPr>
        <p:txBody>
          <a:bodyPr wrap="square" lIns="0" tIns="0" rIns="0" bIns="0" rtlCol="0" anchor="t"/>
          <a:lstStyle/>
          <a:p>
            <a:pPr algn="ctr" indent="0" marL="0">
              <a:buNone/>
            </a:pPr>
            <a:r>
              <a:rPr lang="en-US" sz="750" dirty="0">
                <a:solidFill>
                  <a:srgbClr val="6B7280"/>
                </a:solidFill>
                <a:latin typeface="Meiryo UI" pitchFamily="34" charset="0"/>
                <a:ea typeface="Meiryo UI" pitchFamily="34" charset="-122"/>
                <a:cs typeface="Meiryo UI" pitchFamily="34" charset="-120"/>
              </a:rPr>
              <a:t>GCS</a:t>
            </a:r>
            <a:endParaRPr lang="en-US" sz="750" dirty="0"/>
          </a:p>
        </p:txBody>
      </p:sp>
      <p:sp>
        <p:nvSpPr>
          <p:cNvPr id="80" name="Text 59"/>
          <p:cNvSpPr txBox="1"/>
          <p:nvPr/>
        </p:nvSpPr>
        <p:spPr>
          <a:xfrm>
            <a:off x="8595360" y="4663440"/>
            <a:ext cx="2788920" cy="658368"/>
          </a:xfrm>
          <a:prstGeom prst="rect">
            <a:avLst/>
          </a:prstGeom>
          <a:noFill/>
          <a:ln/>
        </p:spPr>
        <p:txBody>
          <a:bodyPr wrap="square" lIns="508" tIns="508" rIns="508" bIns="508" rtlCol="0" anchor="ctr"/>
          <a:lstStyle/>
          <a:p>
            <a:pPr indent="0" marL="0">
              <a:buNone/>
            </a:pPr>
            <a:r>
              <a:rPr lang="en-US" sz="950" dirty="0">
                <a:solidFill>
                  <a:srgbClr val="2B2B2B"/>
                </a:solidFill>
                <a:latin typeface="Meiryo UI" pitchFamily="34" charset="0"/>
                <a:ea typeface="Meiryo UI" pitchFamily="34" charset="-122"/>
                <a:cs typeface="Meiryo UI" pitchFamily="34" charset="-120"/>
              </a:rPr>
              <a:t>ファイル更新をきっかけにGCSへ送信。業務側で制御しやすい／Premiumが必要</a:t>
            </a:r>
            <a:endParaRPr lang="en-US" sz="950" dirty="0"/>
          </a:p>
        </p:txBody>
      </p:sp>
      <p:sp>
        <p:nvSpPr>
          <p:cNvPr id="81" name="Shape 60"/>
          <p:cNvSpPr/>
          <p:nvPr/>
        </p:nvSpPr>
        <p:spPr>
          <a:xfrm>
            <a:off x="548640" y="5596128"/>
            <a:ext cx="11064240" cy="731520"/>
          </a:xfrm>
          <a:prstGeom prst="roundRect">
            <a:avLst>
              <a:gd name="adj" fmla="val 7500"/>
            </a:avLst>
          </a:prstGeom>
          <a:solidFill>
            <a:srgbClr val="EEEAF8"/>
          </a:solidFill>
          <a:ln/>
        </p:spPr>
      </p:sp>
      <p:pic>
        <p:nvPicPr>
          <p:cNvPr id="82" name="Image 19" descr="preencoded.png">    </p:cNvPr>
          <p:cNvPicPr>
            <a:picLocks noChangeAspect="1"/>
          </p:cNvPicPr>
          <p:nvPr/>
        </p:nvPicPr>
        <p:blipFill>
          <a:blip r:embed="rId20"/>
          <a:stretch>
            <a:fillRect/>
          </a:stretch>
        </p:blipFill>
        <p:spPr>
          <a:xfrm>
            <a:off x="777240" y="5760720"/>
            <a:ext cx="384048" cy="384048"/>
          </a:xfrm>
          <a:prstGeom prst="rect">
            <a:avLst/>
          </a:prstGeom>
        </p:spPr>
      </p:pic>
      <p:sp>
        <p:nvSpPr>
          <p:cNvPr id="83" name="Shape 61"/>
          <p:cNvSpPr/>
          <p:nvPr/>
        </p:nvSpPr>
        <p:spPr>
          <a:xfrm>
            <a:off x="1188720" y="5952744"/>
            <a:ext cx="128016" cy="0"/>
          </a:xfrm>
          <a:prstGeom prst="line">
            <a:avLst/>
          </a:prstGeom>
          <a:noFill/>
          <a:ln w="15875">
            <a:solidFill>
              <a:srgbClr val="9AA5B4"/>
            </a:solidFill>
            <a:prstDash val="solid"/>
            <a:headEnd type="triangle"/>
            <a:tailEnd type="triangle"/>
          </a:ln>
        </p:spPr>
      </p:sp>
      <p:pic>
        <p:nvPicPr>
          <p:cNvPr id="84" name="Image 20" descr="preencoded.png">    </p:cNvPr>
          <p:cNvPicPr>
            <a:picLocks noChangeAspect="1"/>
          </p:cNvPicPr>
          <p:nvPr/>
        </p:nvPicPr>
        <p:blipFill>
          <a:blip r:embed="rId21"/>
          <a:stretch>
            <a:fillRect/>
          </a:stretch>
        </p:blipFill>
        <p:spPr>
          <a:xfrm>
            <a:off x="1344168" y="5760720"/>
            <a:ext cx="384048" cy="384048"/>
          </a:xfrm>
          <a:prstGeom prst="rect">
            <a:avLst/>
          </a:prstGeom>
        </p:spPr>
      </p:pic>
      <p:sp>
        <p:nvSpPr>
          <p:cNvPr id="85" name="Shape 62"/>
          <p:cNvSpPr/>
          <p:nvPr/>
        </p:nvSpPr>
        <p:spPr>
          <a:xfrm>
            <a:off x="1755648" y="5952744"/>
            <a:ext cx="128016" cy="0"/>
          </a:xfrm>
          <a:prstGeom prst="line">
            <a:avLst/>
          </a:prstGeom>
          <a:noFill/>
          <a:ln w="15875">
            <a:solidFill>
              <a:srgbClr val="9AA5B4"/>
            </a:solidFill>
            <a:prstDash val="solid"/>
            <a:headEnd type="triangle"/>
            <a:tailEnd type="triangle"/>
          </a:ln>
        </p:spPr>
      </p:sp>
      <p:pic>
        <p:nvPicPr>
          <p:cNvPr id="86" name="Image 21" descr="preencoded.png">    </p:cNvPr>
          <p:cNvPicPr>
            <a:picLocks noChangeAspect="1"/>
          </p:cNvPicPr>
          <p:nvPr/>
        </p:nvPicPr>
        <p:blipFill>
          <a:blip r:embed="rId22"/>
          <a:stretch>
            <a:fillRect/>
          </a:stretch>
        </p:blipFill>
        <p:spPr>
          <a:xfrm>
            <a:off x="1911096" y="5760720"/>
            <a:ext cx="384048" cy="384048"/>
          </a:xfrm>
          <a:prstGeom prst="rect">
            <a:avLst/>
          </a:prstGeom>
        </p:spPr>
      </p:pic>
      <p:sp>
        <p:nvSpPr>
          <p:cNvPr id="87" name="Shape 63"/>
          <p:cNvSpPr/>
          <p:nvPr/>
        </p:nvSpPr>
        <p:spPr>
          <a:xfrm>
            <a:off x="2322576" y="5952744"/>
            <a:ext cx="128016" cy="0"/>
          </a:xfrm>
          <a:prstGeom prst="line">
            <a:avLst/>
          </a:prstGeom>
          <a:noFill/>
          <a:ln w="15875">
            <a:solidFill>
              <a:srgbClr val="9AA5B4"/>
            </a:solidFill>
            <a:prstDash val="solid"/>
            <a:headEnd type="triangle"/>
            <a:tailEnd type="triangle"/>
          </a:ln>
        </p:spPr>
      </p:sp>
      <p:pic>
        <p:nvPicPr>
          <p:cNvPr id="88" name="Image 22" descr="preencoded.png">    </p:cNvPr>
          <p:cNvPicPr>
            <a:picLocks noChangeAspect="1"/>
          </p:cNvPicPr>
          <p:nvPr/>
        </p:nvPicPr>
        <p:blipFill>
          <a:blip r:embed="rId23"/>
          <a:stretch>
            <a:fillRect/>
          </a:stretch>
        </p:blipFill>
        <p:spPr>
          <a:xfrm>
            <a:off x="2478024" y="5760720"/>
            <a:ext cx="384048" cy="384048"/>
          </a:xfrm>
          <a:prstGeom prst="rect">
            <a:avLst/>
          </a:prstGeom>
        </p:spPr>
      </p:pic>
      <p:sp>
        <p:nvSpPr>
          <p:cNvPr id="89" name="Text 64"/>
          <p:cNvSpPr txBox="1"/>
          <p:nvPr/>
        </p:nvSpPr>
        <p:spPr>
          <a:xfrm>
            <a:off x="3200400" y="5596128"/>
            <a:ext cx="8321040" cy="731520"/>
          </a:xfrm>
          <a:prstGeom prst="rect">
            <a:avLst/>
          </a:prstGeom>
          <a:noFill/>
          <a:ln/>
        </p:spPr>
        <p:txBody>
          <a:bodyPr wrap="square" lIns="0" tIns="0" rIns="0" bIns="0" rtlCol="0" anchor="ctr"/>
          <a:lstStyle/>
          <a:p>
            <a:pPr indent="0" marL="0">
              <a:buNone/>
            </a:pPr>
            <a:r>
              <a:rPr lang="en-US" sz="1150" b="1" dirty="0">
                <a:solidFill>
                  <a:srgbClr val="6B4FBB"/>
                </a:solidFill>
                <a:latin typeface="Meiryo UI" pitchFamily="34" charset="0"/>
                <a:ea typeface="Meiryo UI" pitchFamily="34" charset="-122"/>
                <a:cs typeface="Meiryo UI" pitchFamily="34" charset="-120"/>
              </a:rPr>
              <a:t>データを移さない方式（ハイブリッド）：</a:t>
            </a:r>
            <a:pPr indent="0" marL="0">
              <a:buNone/>
            </a:pPr>
            <a:r>
              <a:rPr lang="en-US" sz="1150" dirty="0">
                <a:solidFill>
                  <a:srgbClr val="000000"/>
                </a:solidFill>
                <a:latin typeface="Meiryo UI" pitchFamily="34" charset="0"/>
                <a:ea typeface="Meiryo UI" pitchFamily="34" charset="-122"/>
                <a:cs typeface="Meiryo UI" pitchFamily="34" charset="-120"/>
              </a:rPr>
              <a:t>APIで必要な結果だけを受け渡す。数値の精度は高いが、API開発と2環境の運用が必要</a:t>
            </a:r>
            <a:endParaRPr lang="en-US" sz="11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548640"/>
          </a:xfrm>
          <a:prstGeom prst="rect">
            <a:avLst/>
          </a:prstGeom>
          <a:noFill/>
          <a:ln/>
        </p:spPr>
        <p:txBody>
          <a:bodyPr wrap="square" lIns="0" tIns="0" rIns="0" bIns="0" rtlCol="0" anchor="ctr"/>
          <a:lstStyle/>
          <a:p>
            <a:pPr indent="0" marL="0">
              <a:buNone/>
            </a:pPr>
            <a:r>
              <a:rPr lang="en-US" sz="2600" b="1" dirty="0">
                <a:solidFill>
                  <a:srgbClr val="1B2A49"/>
                </a:solidFill>
                <a:latin typeface="Meiryo UI" pitchFamily="34" charset="0"/>
                <a:ea typeface="Meiryo UI" pitchFamily="34" charset="-122"/>
                <a:cs typeface="Meiryo UI" pitchFamily="34" charset="-120"/>
              </a:rPr>
              <a:t>共通要素②：ガイドライン・ナレッジの整備</a:t>
            </a:r>
            <a:endParaRPr lang="en-US" sz="2600" dirty="0"/>
          </a:p>
        </p:txBody>
      </p:sp>
      <p:sp>
        <p:nvSpPr>
          <p:cNvPr id="3" name="Text 1"/>
          <p:cNvSpPr txBox="1"/>
          <p:nvPr/>
        </p:nvSpPr>
        <p:spPr>
          <a:xfrm>
            <a:off x="548640" y="896112"/>
            <a:ext cx="11064240" cy="365760"/>
          </a:xfrm>
          <a:prstGeom prst="rect">
            <a:avLst/>
          </a:prstGeom>
          <a:noFill/>
          <a:ln/>
        </p:spPr>
        <p:txBody>
          <a:bodyPr wrap="square" lIns="0" tIns="0" rIns="0" bIns="0" rtlCol="0" anchor="ctr"/>
          <a:lstStyle/>
          <a:p>
            <a:pPr indent="0" marL="0">
              <a:buNone/>
            </a:pPr>
            <a:r>
              <a:rPr lang="en-US" sz="1400" dirty="0">
                <a:solidFill>
                  <a:srgbClr val="6B7280"/>
                </a:solidFill>
                <a:latin typeface="Meiryo UI" pitchFamily="34" charset="0"/>
                <a:ea typeface="Meiryo UI" pitchFamily="34" charset="-122"/>
                <a:cs typeface="Meiryo UI" pitchFamily="34" charset="-120"/>
              </a:rPr>
              <a:t>資料は社内でMarkdown化し、性質に応じてAIへの渡し方を分けることができる</a:t>
            </a:r>
            <a:endParaRPr lang="en-US" sz="1400" dirty="0"/>
          </a:p>
        </p:txBody>
      </p:sp>
      <p:sp>
        <p:nvSpPr>
          <p:cNvPr id="4" name="Text 2"/>
          <p:cNvSpPr txBox="1"/>
          <p:nvPr/>
        </p:nvSpPr>
        <p:spPr>
          <a:xfrm>
            <a:off x="7498080" y="91440"/>
            <a:ext cx="4114800" cy="22860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3. 共通要素</a:t>
            </a:r>
            <a:endParaRPr lang="en-US" sz="900" dirty="0"/>
          </a:p>
        </p:txBody>
      </p:sp>
      <p:sp>
        <p:nvSpPr>
          <p:cNvPr id="5" name="Text 3"/>
          <p:cNvSpPr txBox="1"/>
          <p:nvPr/>
        </p:nvSpPr>
        <p:spPr>
          <a:xfrm>
            <a:off x="11247120" y="6446520"/>
            <a:ext cx="457200" cy="27432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16</a:t>
            </a:r>
            <a:endParaRPr lang="en-US" sz="900" dirty="0"/>
          </a:p>
        </p:txBody>
      </p:sp>
      <p:sp>
        <p:nvSpPr>
          <p:cNvPr id="6" name="Shape 4"/>
          <p:cNvSpPr/>
          <p:nvPr/>
        </p:nvSpPr>
        <p:spPr>
          <a:xfrm>
            <a:off x="548640" y="1600200"/>
            <a:ext cx="2286000" cy="1097280"/>
          </a:xfrm>
          <a:prstGeom prst="roundRect">
            <a:avLst>
              <a:gd name="adj" fmla="val 6667"/>
            </a:avLst>
          </a:prstGeom>
          <a:solidFill>
            <a:srgbClr val="E3EAF5"/>
          </a:solidFill>
          <a:ln/>
        </p:spPr>
      </p:sp>
      <p:pic>
        <p:nvPicPr>
          <p:cNvPr id="7" name="Image 0" descr="preencoded.png">    </p:cNvPr>
          <p:cNvPicPr>
            <a:picLocks noChangeAspect="1"/>
          </p:cNvPicPr>
          <p:nvPr/>
        </p:nvPicPr>
        <p:blipFill>
          <a:blip r:embed="rId1"/>
          <a:stretch>
            <a:fillRect/>
          </a:stretch>
        </p:blipFill>
        <p:spPr>
          <a:xfrm>
            <a:off x="1494130" y="1728216"/>
            <a:ext cx="395021" cy="395021"/>
          </a:xfrm>
          <a:prstGeom prst="rect">
            <a:avLst/>
          </a:prstGeom>
        </p:spPr>
      </p:pic>
      <p:sp>
        <p:nvSpPr>
          <p:cNvPr id="8" name="Text 5"/>
          <p:cNvSpPr txBox="1"/>
          <p:nvPr/>
        </p:nvSpPr>
        <p:spPr>
          <a:xfrm>
            <a:off x="594360" y="2154838"/>
            <a:ext cx="2194560" cy="487778"/>
          </a:xfrm>
          <a:prstGeom prst="rect">
            <a:avLst/>
          </a:prstGeom>
          <a:noFill/>
          <a:ln/>
        </p:spPr>
        <p:txBody>
          <a:bodyPr wrap="square" lIns="0" tIns="0" rIns="0" bIns="0" rtlCol="0" anchor="ctr"/>
          <a:lstStyle/>
          <a:p>
            <a:pPr algn="ctr" indent="0" marL="0">
              <a:buNone/>
            </a:pPr>
            <a:r>
              <a:rPr lang="en-US" sz="1050" b="1" dirty="0">
                <a:solidFill>
                  <a:srgbClr val="1B2A49"/>
                </a:solidFill>
                <a:latin typeface="Meiryo UI" pitchFamily="34" charset="0"/>
                <a:ea typeface="Meiryo UI" pitchFamily="34" charset="-122"/>
                <a:cs typeface="Meiryo UI" pitchFamily="34" charset="-120"/>
              </a:rPr>
              <a:t>既存の資料</a:t>
            </a:r>
            <a:endParaRPr lang="en-US" sz="1050" dirty="0"/>
          </a:p>
          <a:p>
            <a:pPr algn="ctr" indent="0" marL="0">
              <a:buNone/>
            </a:pPr>
            <a:r>
              <a:rPr lang="en-US" sz="900" dirty="0">
                <a:solidFill>
                  <a:srgbClr val="6B7280"/>
                </a:solidFill>
                <a:latin typeface="Meiryo UI" pitchFamily="34" charset="0"/>
                <a:ea typeface="Meiryo UI" pitchFamily="34" charset="-122"/>
                <a:cs typeface="Meiryo UI" pitchFamily="34" charset="-120"/>
              </a:rPr>
              <a:t>ガイドライン／ブランド規定／マーケ資料</a:t>
            </a:r>
            <a:endParaRPr lang="en-US" sz="1050" dirty="0"/>
          </a:p>
        </p:txBody>
      </p:sp>
      <p:sp>
        <p:nvSpPr>
          <p:cNvPr id="9" name="Shape 6"/>
          <p:cNvSpPr/>
          <p:nvPr/>
        </p:nvSpPr>
        <p:spPr>
          <a:xfrm>
            <a:off x="2880360" y="2148840"/>
            <a:ext cx="411480" cy="0"/>
          </a:xfrm>
          <a:prstGeom prst="line">
            <a:avLst/>
          </a:prstGeom>
          <a:noFill/>
          <a:ln w="22225">
            <a:solidFill>
              <a:srgbClr val="9AA5B4"/>
            </a:solidFill>
            <a:prstDash val="solid"/>
            <a:tailEnd type="triangle"/>
          </a:ln>
        </p:spPr>
      </p:sp>
      <p:sp>
        <p:nvSpPr>
          <p:cNvPr id="10" name="Shape 7"/>
          <p:cNvSpPr/>
          <p:nvPr/>
        </p:nvSpPr>
        <p:spPr>
          <a:xfrm>
            <a:off x="3337560" y="1600200"/>
            <a:ext cx="2286000" cy="1097280"/>
          </a:xfrm>
          <a:prstGeom prst="roundRect">
            <a:avLst>
              <a:gd name="adj" fmla="val 6667"/>
            </a:avLst>
          </a:prstGeom>
          <a:solidFill>
            <a:srgbClr val="D9F2F1"/>
          </a:solidFill>
          <a:ln/>
        </p:spPr>
      </p:sp>
      <p:pic>
        <p:nvPicPr>
          <p:cNvPr id="11" name="Image 1" descr="preencoded.png">    </p:cNvPr>
          <p:cNvPicPr>
            <a:picLocks noChangeAspect="1"/>
          </p:cNvPicPr>
          <p:nvPr/>
        </p:nvPicPr>
        <p:blipFill>
          <a:blip r:embed="rId2"/>
          <a:stretch>
            <a:fillRect/>
          </a:stretch>
        </p:blipFill>
        <p:spPr>
          <a:xfrm>
            <a:off x="4283050" y="1728216"/>
            <a:ext cx="395021" cy="395021"/>
          </a:xfrm>
          <a:prstGeom prst="rect">
            <a:avLst/>
          </a:prstGeom>
        </p:spPr>
      </p:pic>
      <p:sp>
        <p:nvSpPr>
          <p:cNvPr id="12" name="Text 8"/>
          <p:cNvSpPr txBox="1"/>
          <p:nvPr/>
        </p:nvSpPr>
        <p:spPr>
          <a:xfrm>
            <a:off x="3383280" y="2154838"/>
            <a:ext cx="2194560" cy="487778"/>
          </a:xfrm>
          <a:prstGeom prst="rect">
            <a:avLst/>
          </a:prstGeom>
          <a:noFill/>
          <a:ln/>
        </p:spPr>
        <p:txBody>
          <a:bodyPr wrap="square" lIns="0" tIns="0" rIns="0" bIns="0" rtlCol="0" anchor="ctr"/>
          <a:lstStyle/>
          <a:p>
            <a:pPr algn="ctr" indent="0" marL="0">
              <a:buNone/>
            </a:pPr>
            <a:r>
              <a:rPr lang="en-US" sz="1050" b="1" dirty="0">
                <a:solidFill>
                  <a:srgbClr val="1B2A49"/>
                </a:solidFill>
                <a:latin typeface="Meiryo UI" pitchFamily="34" charset="0"/>
                <a:ea typeface="Meiryo UI" pitchFamily="34" charset="-122"/>
                <a:cs typeface="Meiryo UI" pitchFamily="34" charset="-120"/>
              </a:rPr>
              <a:t>Markdown化</a:t>
            </a:r>
            <a:endParaRPr lang="en-US" sz="1050" dirty="0"/>
          </a:p>
          <a:p>
            <a:pPr algn="ctr" indent="0" marL="0">
              <a:buNone/>
            </a:pPr>
            <a:r>
              <a:rPr lang="en-US" sz="900" dirty="0">
                <a:solidFill>
                  <a:srgbClr val="6B7280"/>
                </a:solidFill>
                <a:latin typeface="Meiryo UI" pitchFamily="34" charset="0"/>
                <a:ea typeface="Meiryo UI" pitchFamily="34" charset="-122"/>
                <a:cs typeface="Meiryo UI" pitchFamily="34" charset="-120"/>
              </a:rPr>
              <a:t>社内のCopilotで変換</a:t>
            </a:r>
            <a:endParaRPr lang="en-US" sz="1050" dirty="0"/>
          </a:p>
        </p:txBody>
      </p:sp>
      <p:sp>
        <p:nvSpPr>
          <p:cNvPr id="13" name="Shape 9"/>
          <p:cNvSpPr/>
          <p:nvPr/>
        </p:nvSpPr>
        <p:spPr>
          <a:xfrm flipV="1">
            <a:off x="5669280" y="1783080"/>
            <a:ext cx="502920" cy="182880"/>
          </a:xfrm>
          <a:prstGeom prst="line">
            <a:avLst/>
          </a:prstGeom>
          <a:noFill/>
          <a:ln w="22225">
            <a:solidFill>
              <a:srgbClr val="9AA5B4"/>
            </a:solidFill>
            <a:prstDash val="solid"/>
            <a:tailEnd type="triangle"/>
          </a:ln>
        </p:spPr>
      </p:sp>
      <p:sp>
        <p:nvSpPr>
          <p:cNvPr id="14" name="Shape 10"/>
          <p:cNvSpPr/>
          <p:nvPr/>
        </p:nvSpPr>
        <p:spPr>
          <a:xfrm>
            <a:off x="5669280" y="2331720"/>
            <a:ext cx="502920" cy="731520"/>
          </a:xfrm>
          <a:prstGeom prst="line">
            <a:avLst/>
          </a:prstGeom>
          <a:noFill/>
          <a:ln w="22225">
            <a:solidFill>
              <a:srgbClr val="9AA5B4"/>
            </a:solidFill>
            <a:prstDash val="solid"/>
            <a:tailEnd type="triangle"/>
          </a:ln>
        </p:spPr>
      </p:sp>
      <p:sp>
        <p:nvSpPr>
          <p:cNvPr id="15" name="Shape 11"/>
          <p:cNvSpPr/>
          <p:nvPr/>
        </p:nvSpPr>
        <p:spPr>
          <a:xfrm>
            <a:off x="6217920" y="1417320"/>
            <a:ext cx="5394960" cy="1234440"/>
          </a:xfrm>
          <a:prstGeom prst="roundRect">
            <a:avLst>
              <a:gd name="adj" fmla="val 4444"/>
            </a:avLst>
          </a:prstGeom>
          <a:solidFill>
            <a:srgbClr val="FBE3E3"/>
          </a:solidFill>
          <a:ln/>
        </p:spPr>
      </p:sp>
      <p:sp>
        <p:nvSpPr>
          <p:cNvPr id="16" name="Shape 12"/>
          <p:cNvSpPr/>
          <p:nvPr/>
        </p:nvSpPr>
        <p:spPr>
          <a:xfrm>
            <a:off x="6355080" y="1554480"/>
            <a:ext cx="411480" cy="411480"/>
          </a:xfrm>
          <a:prstGeom prst="ellipse">
            <a:avLst/>
          </a:prstGeom>
          <a:solidFill>
            <a:srgbClr val="FFFFFF"/>
          </a:solidFill>
          <a:ln/>
        </p:spPr>
      </p:sp>
      <p:pic>
        <p:nvPicPr>
          <p:cNvPr id="17" name="Image 2" descr="preencoded.png">    </p:cNvPr>
          <p:cNvPicPr>
            <a:picLocks noChangeAspect="1"/>
          </p:cNvPicPr>
          <p:nvPr/>
        </p:nvPicPr>
        <p:blipFill>
          <a:blip r:embed="rId3"/>
          <a:stretch>
            <a:fillRect/>
          </a:stretch>
        </p:blipFill>
        <p:spPr>
          <a:xfrm>
            <a:off x="6437376" y="1636776"/>
            <a:ext cx="246888" cy="246888"/>
          </a:xfrm>
          <a:prstGeom prst="rect">
            <a:avLst/>
          </a:prstGeom>
        </p:spPr>
      </p:pic>
      <p:sp>
        <p:nvSpPr>
          <p:cNvPr id="18" name="Text 13"/>
          <p:cNvSpPr txBox="1"/>
          <p:nvPr/>
        </p:nvSpPr>
        <p:spPr>
          <a:xfrm>
            <a:off x="6858000" y="1554480"/>
            <a:ext cx="4663440" cy="411480"/>
          </a:xfrm>
          <a:prstGeom prst="rect">
            <a:avLst/>
          </a:prstGeom>
          <a:noFill/>
          <a:ln/>
        </p:spPr>
        <p:txBody>
          <a:bodyPr wrap="square" lIns="508" tIns="508" rIns="508" bIns="508" rtlCol="0" anchor="ctr"/>
          <a:lstStyle/>
          <a:p>
            <a:pPr indent="0" marL="0">
              <a:buNone/>
            </a:pPr>
            <a:r>
              <a:rPr lang="en-US" sz="1350" b="1" dirty="0">
                <a:solidFill>
                  <a:srgbClr val="D64545"/>
                </a:solidFill>
                <a:latin typeface="Meiryo UI" pitchFamily="34" charset="0"/>
                <a:ea typeface="Meiryo UI" pitchFamily="34" charset="-122"/>
                <a:cs typeface="Meiryo UI" pitchFamily="34" charset="-120"/>
              </a:rPr>
              <a:t>必ず守るルール → 毎回の指示に常に含める</a:t>
            </a:r>
            <a:endParaRPr lang="en-US" sz="1350" dirty="0"/>
          </a:p>
        </p:txBody>
      </p:sp>
      <p:sp>
        <p:nvSpPr>
          <p:cNvPr id="19" name="Text 14"/>
          <p:cNvSpPr txBox="1"/>
          <p:nvPr/>
        </p:nvSpPr>
        <p:spPr>
          <a:xfrm>
            <a:off x="6400800" y="2011680"/>
            <a:ext cx="5120640" cy="594360"/>
          </a:xfrm>
          <a:prstGeom prst="rect">
            <a:avLst/>
          </a:prstGeom>
          <a:noFill/>
          <a:ln/>
        </p:spPr>
        <p:txBody>
          <a:bodyPr wrap="square" lIns="254" tIns="254" rIns="254" bIns="254" rtlCol="0" anchor="t"/>
          <a:lstStyle/>
          <a:p>
            <a:pPr indent="0" marL="0">
              <a:buNone/>
            </a:pPr>
            <a:r>
              <a:rPr lang="en-US" sz="1050" b="1" dirty="0">
                <a:solidFill>
                  <a:srgbClr val="000000"/>
                </a:solidFill>
                <a:latin typeface="Meiryo UI" pitchFamily="34" charset="0"/>
                <a:ea typeface="Meiryo UI" pitchFamily="34" charset="-122"/>
                <a:cs typeface="Meiryo UI" pitchFamily="34" charset="-120"/>
              </a:rPr>
              <a:t>対象：</a:t>
            </a:r>
            <a:pPr indent="0" marL="0">
              <a:buNone/>
            </a:pPr>
            <a:r>
              <a:rPr lang="en-US" sz="1050" dirty="0">
                <a:solidFill>
                  <a:srgbClr val="000000"/>
                </a:solidFill>
                <a:latin typeface="Meiryo UI" pitchFamily="34" charset="0"/>
                <a:ea typeface="Meiryo UI" pitchFamily="34" charset="-122"/>
                <a:cs typeface="Meiryo UI" pitchFamily="34" charset="-120"/>
              </a:rPr>
              <a:t>NG表現、トーン＆マナー、法規制、国別のルール</a:t>
            </a:r>
            <a:endParaRPr lang="en-US" sz="1050" dirty="0"/>
          </a:p>
          <a:p>
            <a:pPr indent="0" marL="0">
              <a:buNone/>
            </a:pPr>
            <a:r>
              <a:rPr lang="en-US" sz="1050" b="1" dirty="0">
                <a:solidFill>
                  <a:srgbClr val="000000"/>
                </a:solidFill>
                <a:latin typeface="Meiryo UI" pitchFamily="34" charset="0"/>
                <a:ea typeface="Meiryo UI" pitchFamily="34" charset="-122"/>
                <a:cs typeface="Meiryo UI" pitchFamily="34" charset="-120"/>
              </a:rPr>
              <a:t>渡し方：</a:t>
            </a:r>
            <a:pPr indent="0" marL="0">
              <a:buNone/>
            </a:pPr>
            <a:r>
              <a:rPr lang="en-US" sz="1050" dirty="0">
                <a:solidFill>
                  <a:srgbClr val="000000"/>
                </a:solidFill>
                <a:latin typeface="Meiryo UI" pitchFamily="34" charset="0"/>
                <a:ea typeface="Meiryo UI" pitchFamily="34" charset="-122"/>
                <a:cs typeface="Meiryo UI" pitchFamily="34" charset="-120"/>
              </a:rPr>
              <a:t>AIへの指示に固定で組み込む（検索漏れを防ぐ）</a:t>
            </a:r>
            <a:endParaRPr lang="en-US" sz="1050" dirty="0"/>
          </a:p>
        </p:txBody>
      </p:sp>
      <p:sp>
        <p:nvSpPr>
          <p:cNvPr id="20" name="Shape 15"/>
          <p:cNvSpPr/>
          <p:nvPr/>
        </p:nvSpPr>
        <p:spPr>
          <a:xfrm>
            <a:off x="6217920" y="2743200"/>
            <a:ext cx="5394960" cy="1234440"/>
          </a:xfrm>
          <a:prstGeom prst="roundRect">
            <a:avLst>
              <a:gd name="adj" fmla="val 4444"/>
            </a:avLst>
          </a:prstGeom>
          <a:solidFill>
            <a:srgbClr val="D9F2F1"/>
          </a:solidFill>
          <a:ln/>
        </p:spPr>
      </p:sp>
      <p:sp>
        <p:nvSpPr>
          <p:cNvPr id="21" name="Shape 16"/>
          <p:cNvSpPr/>
          <p:nvPr/>
        </p:nvSpPr>
        <p:spPr>
          <a:xfrm>
            <a:off x="6355080" y="2880360"/>
            <a:ext cx="411480" cy="411480"/>
          </a:xfrm>
          <a:prstGeom prst="ellipse">
            <a:avLst/>
          </a:prstGeom>
          <a:solidFill>
            <a:srgbClr val="FFFFFF"/>
          </a:solidFill>
          <a:ln/>
        </p:spPr>
      </p:sp>
      <p:pic>
        <p:nvPicPr>
          <p:cNvPr id="22" name="Image 3" descr="preencoded.png">    </p:cNvPr>
          <p:cNvPicPr>
            <a:picLocks noChangeAspect="1"/>
          </p:cNvPicPr>
          <p:nvPr/>
        </p:nvPicPr>
        <p:blipFill>
          <a:blip r:embed="rId4"/>
          <a:stretch>
            <a:fillRect/>
          </a:stretch>
        </p:blipFill>
        <p:spPr>
          <a:xfrm>
            <a:off x="6437376" y="2962656"/>
            <a:ext cx="246888" cy="246888"/>
          </a:xfrm>
          <a:prstGeom prst="rect">
            <a:avLst/>
          </a:prstGeom>
        </p:spPr>
      </p:pic>
      <p:sp>
        <p:nvSpPr>
          <p:cNvPr id="23" name="Text 17"/>
          <p:cNvSpPr txBox="1"/>
          <p:nvPr/>
        </p:nvSpPr>
        <p:spPr>
          <a:xfrm>
            <a:off x="6858000" y="2880360"/>
            <a:ext cx="4663440" cy="411480"/>
          </a:xfrm>
          <a:prstGeom prst="rect">
            <a:avLst/>
          </a:prstGeom>
          <a:noFill/>
          <a:ln/>
        </p:spPr>
        <p:txBody>
          <a:bodyPr wrap="square" lIns="508" tIns="508" rIns="508" bIns="508" rtlCol="0" anchor="ctr"/>
          <a:lstStyle/>
          <a:p>
            <a:pPr indent="0" marL="0">
              <a:buNone/>
            </a:pPr>
            <a:r>
              <a:rPr lang="en-US" sz="1350" b="1" dirty="0">
                <a:solidFill>
                  <a:srgbClr val="0E9F9A"/>
                </a:solidFill>
                <a:latin typeface="Meiryo UI" pitchFamily="34" charset="0"/>
                <a:ea typeface="Meiryo UI" pitchFamily="34" charset="-122"/>
                <a:cs typeface="Meiryo UI" pitchFamily="34" charset="-120"/>
              </a:rPr>
              <a:t>参考情報 → 必要な時に検索して参照（RAG）</a:t>
            </a:r>
            <a:endParaRPr lang="en-US" sz="1350" dirty="0"/>
          </a:p>
        </p:txBody>
      </p:sp>
      <p:sp>
        <p:nvSpPr>
          <p:cNvPr id="24" name="Text 18"/>
          <p:cNvSpPr txBox="1"/>
          <p:nvPr/>
        </p:nvSpPr>
        <p:spPr>
          <a:xfrm>
            <a:off x="6400800" y="3337560"/>
            <a:ext cx="5120640" cy="594360"/>
          </a:xfrm>
          <a:prstGeom prst="rect">
            <a:avLst/>
          </a:prstGeom>
          <a:noFill/>
          <a:ln/>
        </p:spPr>
        <p:txBody>
          <a:bodyPr wrap="square" lIns="254" tIns="254" rIns="254" bIns="254" rtlCol="0" anchor="t"/>
          <a:lstStyle/>
          <a:p>
            <a:pPr indent="0" marL="0">
              <a:buNone/>
            </a:pPr>
            <a:r>
              <a:rPr lang="en-US" sz="1050" b="1" dirty="0">
                <a:solidFill>
                  <a:srgbClr val="000000"/>
                </a:solidFill>
                <a:latin typeface="Meiryo UI" pitchFamily="34" charset="0"/>
                <a:ea typeface="Meiryo UI" pitchFamily="34" charset="-122"/>
                <a:cs typeface="Meiryo UI" pitchFamily="34" charset="-120"/>
              </a:rPr>
              <a:t>対象：</a:t>
            </a:r>
            <a:pPr indent="0" marL="0">
              <a:buNone/>
            </a:pPr>
            <a:r>
              <a:rPr lang="en-US" sz="1050" dirty="0">
                <a:solidFill>
                  <a:srgbClr val="000000"/>
                </a:solidFill>
                <a:latin typeface="Meiryo UI" pitchFamily="34" charset="0"/>
                <a:ea typeface="Meiryo UI" pitchFamily="34" charset="-122"/>
                <a:cs typeface="Meiryo UI" pitchFamily="34" charset="-120"/>
              </a:rPr>
              <a:t>過去の好事例、商品の背景情報、キャンペーン資料</a:t>
            </a:r>
            <a:endParaRPr lang="en-US" sz="1050" dirty="0"/>
          </a:p>
          <a:p>
            <a:pPr indent="0" marL="0">
              <a:buNone/>
            </a:pPr>
            <a:r>
              <a:rPr lang="en-US" sz="1050" b="1" dirty="0">
                <a:solidFill>
                  <a:srgbClr val="000000"/>
                </a:solidFill>
                <a:latin typeface="Meiryo UI" pitchFamily="34" charset="0"/>
                <a:ea typeface="Meiryo UI" pitchFamily="34" charset="-122"/>
                <a:cs typeface="Meiryo UI" pitchFamily="34" charset="-120"/>
              </a:rPr>
              <a:t>渡し方：</a:t>
            </a:r>
            <a:pPr indent="0" marL="0">
              <a:buNone/>
            </a:pPr>
            <a:r>
              <a:rPr lang="en-US" sz="1050" dirty="0">
                <a:solidFill>
                  <a:srgbClr val="000000"/>
                </a:solidFill>
                <a:latin typeface="Meiryo UI" pitchFamily="34" charset="0"/>
                <a:ea typeface="Meiryo UI" pitchFamily="34" charset="-122"/>
                <a:cs typeface="Meiryo UI" pitchFamily="34" charset="-120"/>
              </a:rPr>
              <a:t>ナレッジとして登録し、関連する部分だけを参照させる</a:t>
            </a:r>
            <a:endParaRPr lang="en-US" sz="1050" dirty="0"/>
          </a:p>
        </p:txBody>
      </p:sp>
      <p:sp>
        <p:nvSpPr>
          <p:cNvPr id="25" name="Text 19"/>
          <p:cNvSpPr txBox="1"/>
          <p:nvPr/>
        </p:nvSpPr>
        <p:spPr>
          <a:xfrm>
            <a:off x="548640" y="4206240"/>
            <a:ext cx="5486400" cy="320040"/>
          </a:xfrm>
          <a:prstGeom prst="rect">
            <a:avLst/>
          </a:prstGeom>
          <a:noFill/>
          <a:ln/>
        </p:spPr>
        <p:txBody>
          <a:bodyPr wrap="square" lIns="508" tIns="508" rIns="508" bIns="508"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参考情報の置き場所の選択肢</a:t>
            </a:r>
            <a:endParaRPr lang="en-US" sz="1300" dirty="0"/>
          </a:p>
        </p:txBody>
      </p:sp>
      <p:sp>
        <p:nvSpPr>
          <p:cNvPr id="26" name="Shape 20"/>
          <p:cNvSpPr/>
          <p:nvPr/>
        </p:nvSpPr>
        <p:spPr>
          <a:xfrm>
            <a:off x="548640" y="4572000"/>
            <a:ext cx="3611880" cy="1737360"/>
          </a:xfrm>
          <a:prstGeom prst="roundRect">
            <a:avLst>
              <a:gd name="adj" fmla="val 3158"/>
            </a:avLst>
          </a:prstGeom>
          <a:solidFill>
            <a:srgbClr val="E5F0FA"/>
          </a:solidFill>
          <a:ln/>
        </p:spPr>
      </p:sp>
      <p:pic>
        <p:nvPicPr>
          <p:cNvPr id="27" name="Image 4" descr="preencoded.png">    </p:cNvPr>
          <p:cNvPicPr>
            <a:picLocks noChangeAspect="1"/>
          </p:cNvPicPr>
          <p:nvPr/>
        </p:nvPicPr>
        <p:blipFill>
          <a:blip r:embed="rId5"/>
          <a:stretch>
            <a:fillRect/>
          </a:stretch>
        </p:blipFill>
        <p:spPr>
          <a:xfrm>
            <a:off x="731520" y="4709160"/>
            <a:ext cx="347472" cy="347472"/>
          </a:xfrm>
          <a:prstGeom prst="rect">
            <a:avLst/>
          </a:prstGeom>
        </p:spPr>
      </p:pic>
      <p:pic>
        <p:nvPicPr>
          <p:cNvPr id="28" name="Image 5" descr="preencoded.png">    </p:cNvPr>
          <p:cNvPicPr>
            <a:picLocks noChangeAspect="1"/>
          </p:cNvPicPr>
          <p:nvPr/>
        </p:nvPicPr>
        <p:blipFill>
          <a:blip r:embed="rId6"/>
          <a:stretch>
            <a:fillRect/>
          </a:stretch>
        </p:blipFill>
        <p:spPr>
          <a:xfrm>
            <a:off x="1188720" y="4709160"/>
            <a:ext cx="347472" cy="347472"/>
          </a:xfrm>
          <a:prstGeom prst="rect">
            <a:avLst/>
          </a:prstGeom>
        </p:spPr>
      </p:pic>
      <p:sp>
        <p:nvSpPr>
          <p:cNvPr id="29" name="Text 21"/>
          <p:cNvSpPr txBox="1"/>
          <p:nvPr/>
        </p:nvSpPr>
        <p:spPr>
          <a:xfrm>
            <a:off x="1645920" y="4709160"/>
            <a:ext cx="2286000" cy="347472"/>
          </a:xfrm>
          <a:prstGeom prst="rect">
            <a:avLst/>
          </a:prstGeom>
          <a:noFill/>
          <a:ln/>
        </p:spPr>
        <p:txBody>
          <a:bodyPr wrap="square" lIns="508" tIns="508" rIns="508" bIns="508" rtlCol="0" anchor="ctr"/>
          <a:lstStyle/>
          <a:p>
            <a:pPr indent="0" marL="0">
              <a:buNone/>
            </a:pPr>
            <a:r>
              <a:rPr lang="en-US" sz="1100" b="1" dirty="0">
                <a:solidFill>
                  <a:srgbClr val="0F6CBD"/>
                </a:solidFill>
                <a:latin typeface="Meiryo UI" pitchFamily="34" charset="0"/>
                <a:ea typeface="Meiryo UI" pitchFamily="34" charset="-122"/>
                <a:cs typeface="Meiryo UI" pitchFamily="34" charset="-120"/>
              </a:rPr>
              <a:t>M365に寄せる</a:t>
            </a:r>
            <a:endParaRPr lang="en-US" sz="1100" dirty="0"/>
          </a:p>
        </p:txBody>
      </p:sp>
      <p:sp>
        <p:nvSpPr>
          <p:cNvPr id="30" name="Text 22"/>
          <p:cNvSpPr txBox="1"/>
          <p:nvPr/>
        </p:nvSpPr>
        <p:spPr>
          <a:xfrm>
            <a:off x="731520" y="5138928"/>
            <a:ext cx="3291840" cy="320040"/>
          </a:xfrm>
          <a:prstGeom prst="rect">
            <a:avLst/>
          </a:prstGeom>
          <a:noFill/>
          <a:ln/>
        </p:spPr>
        <p:txBody>
          <a:bodyPr wrap="square" lIns="508" tIns="508" rIns="508" bIns="508" rtlCol="0" anchor="ctr"/>
          <a:lstStyle/>
          <a:p>
            <a:pPr indent="0" marL="0">
              <a:buNone/>
            </a:pPr>
            <a:r>
              <a:rPr lang="en-US" sz="1200" b="1" dirty="0">
                <a:solidFill>
                  <a:srgbClr val="1B2A49"/>
                </a:solidFill>
                <a:latin typeface="Meiryo UI" pitchFamily="34" charset="0"/>
                <a:ea typeface="Meiryo UI" pitchFamily="34" charset="-122"/>
                <a:cs typeface="Meiryo UI" pitchFamily="34" charset="-120"/>
              </a:rPr>
              <a:t>SharePoint＋Copilot Studio</a:t>
            </a:r>
            <a:endParaRPr lang="en-US" sz="1200" dirty="0"/>
          </a:p>
        </p:txBody>
      </p:sp>
      <p:sp>
        <p:nvSpPr>
          <p:cNvPr id="31" name="Text 23"/>
          <p:cNvSpPr txBox="1"/>
          <p:nvPr/>
        </p:nvSpPr>
        <p:spPr>
          <a:xfrm>
            <a:off x="731520" y="5486400"/>
            <a:ext cx="3291840" cy="731520"/>
          </a:xfrm>
          <a:prstGeom prst="rect">
            <a:avLst/>
          </a:prstGeom>
          <a:noFill/>
          <a:ln/>
        </p:spPr>
        <p:txBody>
          <a:bodyPr wrap="square" lIns="508" tIns="508" rIns="508" bIns="508" rtlCol="0" anchor="t"/>
          <a:lstStyle/>
          <a:p>
            <a:pPr indent="0" marL="0">
              <a:buNone/>
            </a:pPr>
            <a:r>
              <a:rPr lang="en-US" sz="1050" dirty="0">
                <a:solidFill>
                  <a:srgbClr val="2B2B2B"/>
                </a:solidFill>
                <a:latin typeface="Meiryo UI" pitchFamily="34" charset="0"/>
                <a:ea typeface="Meiryo UI" pitchFamily="34" charset="-122"/>
                <a:cs typeface="Meiryo UI" pitchFamily="34" charset="-120"/>
              </a:rPr>
              <a:t>SharePointのライブラリをエージェントのナレッジに設定する。資料はM365の外に出ない</a:t>
            </a:r>
            <a:endParaRPr lang="en-US" sz="1050" dirty="0"/>
          </a:p>
        </p:txBody>
      </p:sp>
      <p:sp>
        <p:nvSpPr>
          <p:cNvPr id="32" name="Shape 24"/>
          <p:cNvSpPr/>
          <p:nvPr/>
        </p:nvSpPr>
        <p:spPr>
          <a:xfrm>
            <a:off x="4279392" y="4572000"/>
            <a:ext cx="3611880" cy="1737360"/>
          </a:xfrm>
          <a:prstGeom prst="roundRect">
            <a:avLst>
              <a:gd name="adj" fmla="val 3158"/>
            </a:avLst>
          </a:prstGeom>
          <a:solidFill>
            <a:srgbClr val="E8F0FE"/>
          </a:solidFill>
          <a:ln/>
        </p:spPr>
      </p:sp>
      <p:pic>
        <p:nvPicPr>
          <p:cNvPr id="33" name="Image 6" descr="preencoded.png">    </p:cNvPr>
          <p:cNvPicPr>
            <a:picLocks noChangeAspect="1"/>
          </p:cNvPicPr>
          <p:nvPr/>
        </p:nvPicPr>
        <p:blipFill>
          <a:blip r:embed="rId7"/>
          <a:stretch>
            <a:fillRect/>
          </a:stretch>
        </p:blipFill>
        <p:spPr>
          <a:xfrm>
            <a:off x="4462272" y="4709160"/>
            <a:ext cx="347472" cy="347472"/>
          </a:xfrm>
          <a:prstGeom prst="rect">
            <a:avLst/>
          </a:prstGeom>
        </p:spPr>
      </p:pic>
      <p:pic>
        <p:nvPicPr>
          <p:cNvPr id="34" name="Image 7" descr="preencoded.png">    </p:cNvPr>
          <p:cNvPicPr>
            <a:picLocks noChangeAspect="1"/>
          </p:cNvPicPr>
          <p:nvPr/>
        </p:nvPicPr>
        <p:blipFill>
          <a:blip r:embed="rId8"/>
          <a:stretch>
            <a:fillRect/>
          </a:stretch>
        </p:blipFill>
        <p:spPr>
          <a:xfrm>
            <a:off x="4919472" y="4709160"/>
            <a:ext cx="347472" cy="347472"/>
          </a:xfrm>
          <a:prstGeom prst="rect">
            <a:avLst/>
          </a:prstGeom>
        </p:spPr>
      </p:pic>
      <p:sp>
        <p:nvSpPr>
          <p:cNvPr id="35" name="Text 25"/>
          <p:cNvSpPr txBox="1"/>
          <p:nvPr/>
        </p:nvSpPr>
        <p:spPr>
          <a:xfrm>
            <a:off x="5376672" y="4709160"/>
            <a:ext cx="2286000" cy="347472"/>
          </a:xfrm>
          <a:prstGeom prst="rect">
            <a:avLst/>
          </a:prstGeom>
          <a:noFill/>
          <a:ln/>
        </p:spPr>
        <p:txBody>
          <a:bodyPr wrap="square" lIns="508" tIns="508" rIns="508" bIns="508" rtlCol="0" anchor="ctr"/>
          <a:lstStyle/>
          <a:p>
            <a:pPr indent="0" marL="0">
              <a:buNone/>
            </a:pPr>
            <a:r>
              <a:rPr lang="en-US" sz="1100" b="1" dirty="0">
                <a:solidFill>
                  <a:srgbClr val="4285F4"/>
                </a:solidFill>
                <a:latin typeface="Meiryo UI" pitchFamily="34" charset="0"/>
                <a:ea typeface="Meiryo UI" pitchFamily="34" charset="-122"/>
                <a:cs typeface="Meiryo UI" pitchFamily="34" charset="-120"/>
              </a:rPr>
              <a:t>GCPに寄せる</a:t>
            </a:r>
            <a:endParaRPr lang="en-US" sz="1100" dirty="0"/>
          </a:p>
        </p:txBody>
      </p:sp>
      <p:sp>
        <p:nvSpPr>
          <p:cNvPr id="36" name="Text 26"/>
          <p:cNvSpPr txBox="1"/>
          <p:nvPr/>
        </p:nvSpPr>
        <p:spPr>
          <a:xfrm>
            <a:off x="4462272" y="5138928"/>
            <a:ext cx="3291840" cy="320040"/>
          </a:xfrm>
          <a:prstGeom prst="rect">
            <a:avLst/>
          </a:prstGeom>
          <a:noFill/>
          <a:ln/>
        </p:spPr>
        <p:txBody>
          <a:bodyPr wrap="square" lIns="508" tIns="508" rIns="508" bIns="508" rtlCol="0" anchor="ctr"/>
          <a:lstStyle/>
          <a:p>
            <a:pPr indent="0" marL="0">
              <a:buNone/>
            </a:pPr>
            <a:r>
              <a:rPr lang="en-US" sz="1200" b="1" dirty="0">
                <a:solidFill>
                  <a:srgbClr val="1B2A49"/>
                </a:solidFill>
                <a:latin typeface="Meiryo UI" pitchFamily="34" charset="0"/>
                <a:ea typeface="Meiryo UI" pitchFamily="34" charset="-122"/>
                <a:cs typeface="Meiryo UI" pitchFamily="34" charset="-120"/>
              </a:rPr>
              <a:t>Agent Platform／Gemini Ent.</a:t>
            </a:r>
            <a:endParaRPr lang="en-US" sz="1200" dirty="0"/>
          </a:p>
        </p:txBody>
      </p:sp>
      <p:sp>
        <p:nvSpPr>
          <p:cNvPr id="37" name="Text 27"/>
          <p:cNvSpPr txBox="1"/>
          <p:nvPr/>
        </p:nvSpPr>
        <p:spPr>
          <a:xfrm>
            <a:off x="4462272" y="5486400"/>
            <a:ext cx="3291840" cy="731520"/>
          </a:xfrm>
          <a:prstGeom prst="rect">
            <a:avLst/>
          </a:prstGeom>
          <a:noFill/>
          <a:ln/>
        </p:spPr>
        <p:txBody>
          <a:bodyPr wrap="square" lIns="508" tIns="508" rIns="508" bIns="508" rtlCol="0" anchor="t"/>
          <a:lstStyle/>
          <a:p>
            <a:pPr indent="0" marL="0">
              <a:buNone/>
            </a:pPr>
            <a:r>
              <a:rPr lang="en-US" sz="1050" dirty="0">
                <a:solidFill>
                  <a:srgbClr val="2B2B2B"/>
                </a:solidFill>
                <a:latin typeface="Meiryo UI" pitchFamily="34" charset="0"/>
                <a:ea typeface="Meiryo UI" pitchFamily="34" charset="-122"/>
                <a:cs typeface="Meiryo UI" pitchFamily="34" charset="-120"/>
              </a:rPr>
              <a:t>取り込み（インデックス化）か、コピーしないフェデレーション検索かを選べる</a:t>
            </a:r>
            <a:endParaRPr lang="en-US" sz="1050" dirty="0"/>
          </a:p>
        </p:txBody>
      </p:sp>
      <p:sp>
        <p:nvSpPr>
          <p:cNvPr id="38" name="Shape 28"/>
          <p:cNvSpPr/>
          <p:nvPr/>
        </p:nvSpPr>
        <p:spPr>
          <a:xfrm>
            <a:off x="8010144" y="4572000"/>
            <a:ext cx="3611880" cy="1737360"/>
          </a:xfrm>
          <a:prstGeom prst="roundRect">
            <a:avLst>
              <a:gd name="adj" fmla="val 3158"/>
            </a:avLst>
          </a:prstGeom>
          <a:solidFill>
            <a:srgbClr val="EEEAF8"/>
          </a:solidFill>
          <a:ln/>
        </p:spPr>
      </p:sp>
      <p:pic>
        <p:nvPicPr>
          <p:cNvPr id="39" name="Image 8" descr="preencoded.png">    </p:cNvPr>
          <p:cNvPicPr>
            <a:picLocks noChangeAspect="1"/>
          </p:cNvPicPr>
          <p:nvPr/>
        </p:nvPicPr>
        <p:blipFill>
          <a:blip r:embed="rId9"/>
          <a:stretch>
            <a:fillRect/>
          </a:stretch>
        </p:blipFill>
        <p:spPr>
          <a:xfrm>
            <a:off x="8193024" y="4709160"/>
            <a:ext cx="347472" cy="347472"/>
          </a:xfrm>
          <a:prstGeom prst="rect">
            <a:avLst/>
          </a:prstGeom>
        </p:spPr>
      </p:pic>
      <p:pic>
        <p:nvPicPr>
          <p:cNvPr id="40" name="Image 9" descr="preencoded.png">    </p:cNvPr>
          <p:cNvPicPr>
            <a:picLocks noChangeAspect="1"/>
          </p:cNvPicPr>
          <p:nvPr/>
        </p:nvPicPr>
        <p:blipFill>
          <a:blip r:embed="rId10"/>
          <a:stretch>
            <a:fillRect/>
          </a:stretch>
        </p:blipFill>
        <p:spPr>
          <a:xfrm>
            <a:off x="8650224" y="4709160"/>
            <a:ext cx="347472" cy="347472"/>
          </a:xfrm>
          <a:prstGeom prst="rect">
            <a:avLst/>
          </a:prstGeom>
        </p:spPr>
      </p:pic>
      <p:sp>
        <p:nvSpPr>
          <p:cNvPr id="41" name="Text 29"/>
          <p:cNvSpPr txBox="1"/>
          <p:nvPr/>
        </p:nvSpPr>
        <p:spPr>
          <a:xfrm>
            <a:off x="9107424" y="4709160"/>
            <a:ext cx="2286000" cy="347472"/>
          </a:xfrm>
          <a:prstGeom prst="rect">
            <a:avLst/>
          </a:prstGeom>
          <a:noFill/>
          <a:ln/>
        </p:spPr>
        <p:txBody>
          <a:bodyPr wrap="square" lIns="508" tIns="508" rIns="508" bIns="508" rtlCol="0" anchor="ctr"/>
          <a:lstStyle/>
          <a:p>
            <a:pPr indent="0" marL="0">
              <a:buNone/>
            </a:pPr>
            <a:r>
              <a:rPr lang="en-US" sz="1100" b="1" dirty="0">
                <a:solidFill>
                  <a:srgbClr val="6B4FBB"/>
                </a:solidFill>
                <a:latin typeface="Meiryo UI" pitchFamily="34" charset="0"/>
                <a:ea typeface="Meiryo UI" pitchFamily="34" charset="-122"/>
                <a:cs typeface="Meiryo UI" pitchFamily="34" charset="-120"/>
              </a:rPr>
              <a:t>ハイブリッド</a:t>
            </a:r>
            <a:endParaRPr lang="en-US" sz="1100" dirty="0"/>
          </a:p>
        </p:txBody>
      </p:sp>
      <p:sp>
        <p:nvSpPr>
          <p:cNvPr id="42" name="Text 30"/>
          <p:cNvSpPr txBox="1"/>
          <p:nvPr/>
        </p:nvSpPr>
        <p:spPr>
          <a:xfrm>
            <a:off x="8193024" y="5138928"/>
            <a:ext cx="3291840" cy="320040"/>
          </a:xfrm>
          <a:prstGeom prst="rect">
            <a:avLst/>
          </a:prstGeom>
          <a:noFill/>
          <a:ln/>
        </p:spPr>
        <p:txBody>
          <a:bodyPr wrap="square" lIns="508" tIns="508" rIns="508" bIns="508" rtlCol="0" anchor="ctr"/>
          <a:lstStyle/>
          <a:p>
            <a:pPr indent="0" marL="0">
              <a:buNone/>
            </a:pPr>
            <a:r>
              <a:rPr lang="en-US" sz="1200" b="1" dirty="0">
                <a:solidFill>
                  <a:srgbClr val="1B2A49"/>
                </a:solidFill>
                <a:latin typeface="Meiryo UI" pitchFamily="34" charset="0"/>
                <a:ea typeface="Meiryo UI" pitchFamily="34" charset="-122"/>
                <a:cs typeface="Meiryo UI" pitchFamily="34" charset="-120"/>
              </a:rPr>
              <a:t>資料はM365、数値はGCP</a:t>
            </a:r>
            <a:endParaRPr lang="en-US" sz="1200" dirty="0"/>
          </a:p>
        </p:txBody>
      </p:sp>
      <p:sp>
        <p:nvSpPr>
          <p:cNvPr id="43" name="Text 31"/>
          <p:cNvSpPr txBox="1"/>
          <p:nvPr/>
        </p:nvSpPr>
        <p:spPr>
          <a:xfrm>
            <a:off x="8193024" y="5486400"/>
            <a:ext cx="3291840" cy="731520"/>
          </a:xfrm>
          <a:prstGeom prst="rect">
            <a:avLst/>
          </a:prstGeom>
          <a:noFill/>
          <a:ln/>
        </p:spPr>
        <p:txBody>
          <a:bodyPr wrap="square" lIns="508" tIns="508" rIns="508" bIns="508" rtlCol="0" anchor="t"/>
          <a:lstStyle/>
          <a:p>
            <a:pPr indent="0" marL="0">
              <a:buNone/>
            </a:pPr>
            <a:r>
              <a:rPr lang="en-US" sz="1050" dirty="0">
                <a:solidFill>
                  <a:srgbClr val="2B2B2B"/>
                </a:solidFill>
                <a:latin typeface="Meiryo UI" pitchFamily="34" charset="0"/>
                <a:ea typeface="Meiryo UI" pitchFamily="34" charset="-122"/>
                <a:cs typeface="Meiryo UI" pitchFamily="34" charset="-120"/>
              </a:rPr>
              <a:t>ルール・資料はCopilot Studio側に置き、数値だけをAPIで取得する</a:t>
            </a:r>
            <a:endParaRPr lang="en-US" sz="10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548640"/>
          </a:xfrm>
          <a:prstGeom prst="rect">
            <a:avLst/>
          </a:prstGeom>
          <a:noFill/>
          <a:ln/>
        </p:spPr>
        <p:txBody>
          <a:bodyPr wrap="square" lIns="0" tIns="0" rIns="0" bIns="0" rtlCol="0" anchor="ctr"/>
          <a:lstStyle/>
          <a:p>
            <a:pPr indent="0" marL="0">
              <a:buNone/>
            </a:pPr>
            <a:r>
              <a:rPr lang="en-US" sz="2600" b="1" dirty="0">
                <a:solidFill>
                  <a:srgbClr val="1B2A49"/>
                </a:solidFill>
                <a:latin typeface="Meiryo UI" pitchFamily="34" charset="0"/>
                <a:ea typeface="Meiryo UI" pitchFamily="34" charset="-122"/>
                <a:cs typeface="Meiryo UI" pitchFamily="34" charset="-120"/>
              </a:rPr>
              <a:t>運用面の共通論点</a:t>
            </a:r>
            <a:endParaRPr lang="en-US" sz="2600" dirty="0"/>
          </a:p>
        </p:txBody>
      </p:sp>
      <p:sp>
        <p:nvSpPr>
          <p:cNvPr id="3" name="Text 1"/>
          <p:cNvSpPr txBox="1"/>
          <p:nvPr/>
        </p:nvSpPr>
        <p:spPr>
          <a:xfrm>
            <a:off x="548640" y="896112"/>
            <a:ext cx="11064240" cy="365760"/>
          </a:xfrm>
          <a:prstGeom prst="rect">
            <a:avLst/>
          </a:prstGeom>
          <a:noFill/>
          <a:ln/>
        </p:spPr>
        <p:txBody>
          <a:bodyPr wrap="square" lIns="0" tIns="0" rIns="0" bIns="0" rtlCol="0" anchor="ctr"/>
          <a:lstStyle/>
          <a:p>
            <a:pPr indent="0" marL="0">
              <a:buNone/>
            </a:pPr>
            <a:r>
              <a:rPr lang="en-US" sz="1400" dirty="0">
                <a:solidFill>
                  <a:srgbClr val="6B7280"/>
                </a:solidFill>
                <a:latin typeface="Meiryo UI" pitchFamily="34" charset="0"/>
                <a:ea typeface="Meiryo UI" pitchFamily="34" charset="-122"/>
                <a:cs typeface="Meiryo UI" pitchFamily="34" charset="-120"/>
              </a:rPr>
              <a:t>どのパターンを選んでも発生する、運用に関する検討事項</a:t>
            </a:r>
            <a:endParaRPr lang="en-US" sz="1400" dirty="0"/>
          </a:p>
        </p:txBody>
      </p:sp>
      <p:sp>
        <p:nvSpPr>
          <p:cNvPr id="4" name="Text 2"/>
          <p:cNvSpPr txBox="1"/>
          <p:nvPr/>
        </p:nvSpPr>
        <p:spPr>
          <a:xfrm>
            <a:off x="7498080" y="91440"/>
            <a:ext cx="4114800" cy="22860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3. 共通要素</a:t>
            </a:r>
            <a:endParaRPr lang="en-US" sz="900" dirty="0"/>
          </a:p>
        </p:txBody>
      </p:sp>
      <p:sp>
        <p:nvSpPr>
          <p:cNvPr id="5" name="Text 3"/>
          <p:cNvSpPr txBox="1"/>
          <p:nvPr/>
        </p:nvSpPr>
        <p:spPr>
          <a:xfrm>
            <a:off x="11247120" y="6446520"/>
            <a:ext cx="457200" cy="27432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17</a:t>
            </a:r>
            <a:endParaRPr lang="en-US" sz="900" dirty="0"/>
          </a:p>
        </p:txBody>
      </p:sp>
      <p:sp>
        <p:nvSpPr>
          <p:cNvPr id="6" name="Shape 4"/>
          <p:cNvSpPr/>
          <p:nvPr/>
        </p:nvSpPr>
        <p:spPr>
          <a:xfrm>
            <a:off x="548640" y="1417320"/>
            <a:ext cx="3566160" cy="2331720"/>
          </a:xfrm>
          <a:prstGeom prst="roundRect">
            <a:avLst>
              <a:gd name="adj" fmla="val 2353"/>
            </a:avLst>
          </a:prstGeom>
          <a:solidFill>
            <a:srgbClr val="F3F5F8"/>
          </a:solidFill>
          <a:ln/>
        </p:spPr>
      </p:sp>
      <p:sp>
        <p:nvSpPr>
          <p:cNvPr id="7" name="Shape 5"/>
          <p:cNvSpPr/>
          <p:nvPr/>
        </p:nvSpPr>
        <p:spPr>
          <a:xfrm>
            <a:off x="713232" y="1554480"/>
            <a:ext cx="457200" cy="457200"/>
          </a:xfrm>
          <a:prstGeom prst="ellipse">
            <a:avLst/>
          </a:prstGeom>
          <a:solidFill>
            <a:srgbClr val="FFFFFF"/>
          </a:solidFill>
          <a:ln/>
        </p:spPr>
      </p:sp>
      <p:pic>
        <p:nvPicPr>
          <p:cNvPr id="8" name="Image 0" descr="preencoded.png">    </p:cNvPr>
          <p:cNvPicPr>
            <a:picLocks noChangeAspect="1"/>
          </p:cNvPicPr>
          <p:nvPr/>
        </p:nvPicPr>
        <p:blipFill>
          <a:blip r:embed="rId1"/>
          <a:stretch>
            <a:fillRect/>
          </a:stretch>
        </p:blipFill>
        <p:spPr>
          <a:xfrm>
            <a:off x="804672" y="1645920"/>
            <a:ext cx="274320" cy="274320"/>
          </a:xfrm>
          <a:prstGeom prst="rect">
            <a:avLst/>
          </a:prstGeom>
        </p:spPr>
      </p:pic>
      <p:sp>
        <p:nvSpPr>
          <p:cNvPr id="9" name="Text 6"/>
          <p:cNvSpPr txBox="1"/>
          <p:nvPr/>
        </p:nvSpPr>
        <p:spPr>
          <a:xfrm>
            <a:off x="1261872" y="1554480"/>
            <a:ext cx="2743200" cy="457200"/>
          </a:xfrm>
          <a:prstGeom prst="rect">
            <a:avLst/>
          </a:prstGeom>
          <a:noFill/>
          <a:ln/>
        </p:spPr>
        <p:txBody>
          <a:bodyPr wrap="square" lIns="508" tIns="508" rIns="508" bIns="508"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プロンプト・ナレッジの更新</a:t>
            </a:r>
            <a:endParaRPr lang="en-US" sz="1300" dirty="0"/>
          </a:p>
        </p:txBody>
      </p:sp>
      <p:sp>
        <p:nvSpPr>
          <p:cNvPr id="10" name="Text 7"/>
          <p:cNvSpPr txBox="1"/>
          <p:nvPr/>
        </p:nvSpPr>
        <p:spPr>
          <a:xfrm>
            <a:off x="731520" y="2148840"/>
            <a:ext cx="3246120" cy="1508760"/>
          </a:xfrm>
          <a:prstGeom prst="rect">
            <a:avLst/>
          </a:prstGeom>
          <a:noFill/>
          <a:ln/>
        </p:spPr>
        <p:txBody>
          <a:bodyPr wrap="square" lIns="254" tIns="254" rIns="254" bIns="254" rtlCol="0" anchor="t"/>
          <a:lstStyle/>
          <a:p>
            <a:pPr marL="152400" indent="-152400">
              <a:spcAft>
                <a:spcPts val="600"/>
              </a:spcAft>
              <a:buSzPct val="100000"/>
              <a:buChar char="•"/>
            </a:pPr>
            <a:r>
              <a:rPr lang="en-US" sz="1200" dirty="0">
                <a:solidFill>
                  <a:srgbClr val="000000"/>
                </a:solidFill>
                <a:latin typeface="Meiryo UI" pitchFamily="34" charset="0"/>
                <a:ea typeface="Meiryo UI" pitchFamily="34" charset="-122"/>
                <a:cs typeface="Meiryo UI" pitchFamily="34" charset="-120"/>
              </a:rPr>
              <a:t>ガイドラインや好事例を誰がいつ更新するか</a:t>
            </a:r>
            <a:endParaRPr lang="en-US" sz="1200" dirty="0"/>
          </a:p>
          <a:p>
            <a:pPr marL="152400" indent="-152400">
              <a:spcAft>
                <a:spcPts val="600"/>
              </a:spcAft>
              <a:buSzPct val="100000"/>
              <a:buChar char="•"/>
            </a:pPr>
            <a:r>
              <a:rPr lang="en-US" sz="1200" dirty="0">
                <a:solidFill>
                  <a:srgbClr val="000000"/>
                </a:solidFill>
                <a:latin typeface="Meiryo UI" pitchFamily="34" charset="0"/>
                <a:ea typeface="Meiryo UI" pitchFamily="34" charset="-122"/>
                <a:cs typeface="Meiryo UI" pitchFamily="34" charset="-120"/>
              </a:rPr>
              <a:t>国別のルールの管理方法</a:t>
            </a:r>
            <a:endParaRPr lang="en-US" sz="1200" dirty="0"/>
          </a:p>
        </p:txBody>
      </p:sp>
      <p:sp>
        <p:nvSpPr>
          <p:cNvPr id="11" name="Shape 8"/>
          <p:cNvSpPr/>
          <p:nvPr/>
        </p:nvSpPr>
        <p:spPr>
          <a:xfrm>
            <a:off x="4297680" y="1417320"/>
            <a:ext cx="3566160" cy="2331720"/>
          </a:xfrm>
          <a:prstGeom prst="roundRect">
            <a:avLst>
              <a:gd name="adj" fmla="val 2353"/>
            </a:avLst>
          </a:prstGeom>
          <a:solidFill>
            <a:srgbClr val="F3F5F8"/>
          </a:solidFill>
          <a:ln/>
        </p:spPr>
      </p:sp>
      <p:sp>
        <p:nvSpPr>
          <p:cNvPr id="12" name="Shape 9"/>
          <p:cNvSpPr/>
          <p:nvPr/>
        </p:nvSpPr>
        <p:spPr>
          <a:xfrm>
            <a:off x="4462272" y="1554480"/>
            <a:ext cx="457200" cy="457200"/>
          </a:xfrm>
          <a:prstGeom prst="ellipse">
            <a:avLst/>
          </a:prstGeom>
          <a:solidFill>
            <a:srgbClr val="FFFFFF"/>
          </a:solidFill>
          <a:ln/>
        </p:spPr>
      </p:sp>
      <p:pic>
        <p:nvPicPr>
          <p:cNvPr id="13" name="Image 1" descr="preencoded.png">    </p:cNvPr>
          <p:cNvPicPr>
            <a:picLocks noChangeAspect="1"/>
          </p:cNvPicPr>
          <p:nvPr/>
        </p:nvPicPr>
        <p:blipFill>
          <a:blip r:embed="rId2"/>
          <a:stretch>
            <a:fillRect/>
          </a:stretch>
        </p:blipFill>
        <p:spPr>
          <a:xfrm>
            <a:off x="4553712" y="1645920"/>
            <a:ext cx="274320" cy="274320"/>
          </a:xfrm>
          <a:prstGeom prst="rect">
            <a:avLst/>
          </a:prstGeom>
        </p:spPr>
      </p:pic>
      <p:sp>
        <p:nvSpPr>
          <p:cNvPr id="14" name="Text 10"/>
          <p:cNvSpPr txBox="1"/>
          <p:nvPr/>
        </p:nvSpPr>
        <p:spPr>
          <a:xfrm>
            <a:off x="5010912" y="1554480"/>
            <a:ext cx="2743200" cy="457200"/>
          </a:xfrm>
          <a:prstGeom prst="rect">
            <a:avLst/>
          </a:prstGeom>
          <a:noFill/>
          <a:ln/>
        </p:spPr>
        <p:txBody>
          <a:bodyPr wrap="square" lIns="508" tIns="508" rIns="508" bIns="508"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出力品質の継続的な評価</a:t>
            </a:r>
            <a:endParaRPr lang="en-US" sz="1300" dirty="0"/>
          </a:p>
        </p:txBody>
      </p:sp>
      <p:sp>
        <p:nvSpPr>
          <p:cNvPr id="15" name="Text 11"/>
          <p:cNvSpPr txBox="1"/>
          <p:nvPr/>
        </p:nvSpPr>
        <p:spPr>
          <a:xfrm>
            <a:off x="4480560" y="2148840"/>
            <a:ext cx="3246120" cy="1508760"/>
          </a:xfrm>
          <a:prstGeom prst="rect">
            <a:avLst/>
          </a:prstGeom>
          <a:noFill/>
          <a:ln/>
        </p:spPr>
        <p:txBody>
          <a:bodyPr wrap="square" lIns="254" tIns="254" rIns="254" bIns="254" rtlCol="0" anchor="t"/>
          <a:lstStyle/>
          <a:p>
            <a:pPr marL="152400" indent="-152400">
              <a:spcAft>
                <a:spcPts val="600"/>
              </a:spcAft>
              <a:buSzPct val="100000"/>
              <a:buChar char="•"/>
            </a:pPr>
            <a:r>
              <a:rPr lang="en-US" sz="1200" dirty="0">
                <a:solidFill>
                  <a:srgbClr val="000000"/>
                </a:solidFill>
                <a:latin typeface="Meiryo UI" pitchFamily="34" charset="0"/>
                <a:ea typeface="Meiryo UI" pitchFamily="34" charset="-122"/>
                <a:cs typeface="Meiryo UI" pitchFamily="34" charset="-120"/>
              </a:rPr>
              <a:t>抜き取りレビューと評価基準（ルーブリック）</a:t>
            </a:r>
            <a:endParaRPr lang="en-US" sz="1200" dirty="0"/>
          </a:p>
          <a:p>
            <a:pPr marL="152400" indent="-152400">
              <a:spcAft>
                <a:spcPts val="600"/>
              </a:spcAft>
              <a:buSzPct val="100000"/>
              <a:buChar char="•"/>
            </a:pPr>
            <a:r>
              <a:rPr lang="en-US" sz="1200" dirty="0">
                <a:solidFill>
                  <a:srgbClr val="000000"/>
                </a:solidFill>
                <a:latin typeface="Meiryo UI" pitchFamily="34" charset="0"/>
                <a:ea typeface="Meiryo UI" pitchFamily="34" charset="-122"/>
                <a:cs typeface="Meiryo UI" pitchFamily="34" charset="-120"/>
              </a:rPr>
              <a:t>採用率・修正量などの指標を取るか</a:t>
            </a:r>
            <a:endParaRPr lang="en-US" sz="1200" dirty="0"/>
          </a:p>
        </p:txBody>
      </p:sp>
      <p:sp>
        <p:nvSpPr>
          <p:cNvPr id="16" name="Shape 12"/>
          <p:cNvSpPr/>
          <p:nvPr/>
        </p:nvSpPr>
        <p:spPr>
          <a:xfrm>
            <a:off x="8046720" y="1417320"/>
            <a:ext cx="3566160" cy="2331720"/>
          </a:xfrm>
          <a:prstGeom prst="roundRect">
            <a:avLst>
              <a:gd name="adj" fmla="val 2353"/>
            </a:avLst>
          </a:prstGeom>
          <a:solidFill>
            <a:srgbClr val="F3F5F8"/>
          </a:solidFill>
          <a:ln/>
        </p:spPr>
      </p:sp>
      <p:sp>
        <p:nvSpPr>
          <p:cNvPr id="17" name="Shape 13"/>
          <p:cNvSpPr/>
          <p:nvPr/>
        </p:nvSpPr>
        <p:spPr>
          <a:xfrm>
            <a:off x="8211312" y="1554480"/>
            <a:ext cx="457200" cy="457200"/>
          </a:xfrm>
          <a:prstGeom prst="ellipse">
            <a:avLst/>
          </a:prstGeom>
          <a:solidFill>
            <a:srgbClr val="FFFFFF"/>
          </a:solidFill>
          <a:ln/>
        </p:spPr>
      </p:sp>
      <p:pic>
        <p:nvPicPr>
          <p:cNvPr id="18" name="Image 2" descr="preencoded.png">    </p:cNvPr>
          <p:cNvPicPr>
            <a:picLocks noChangeAspect="1"/>
          </p:cNvPicPr>
          <p:nvPr/>
        </p:nvPicPr>
        <p:blipFill>
          <a:blip r:embed="rId3"/>
          <a:stretch>
            <a:fillRect/>
          </a:stretch>
        </p:blipFill>
        <p:spPr>
          <a:xfrm>
            <a:off x="8302752" y="1645920"/>
            <a:ext cx="274320" cy="274320"/>
          </a:xfrm>
          <a:prstGeom prst="rect">
            <a:avLst/>
          </a:prstGeom>
        </p:spPr>
      </p:pic>
      <p:sp>
        <p:nvSpPr>
          <p:cNvPr id="19" name="Text 14"/>
          <p:cNvSpPr txBox="1"/>
          <p:nvPr/>
        </p:nvSpPr>
        <p:spPr>
          <a:xfrm>
            <a:off x="8759952" y="1554480"/>
            <a:ext cx="2743200" cy="457200"/>
          </a:xfrm>
          <a:prstGeom prst="rect">
            <a:avLst/>
          </a:prstGeom>
          <a:noFill/>
          <a:ln/>
        </p:spPr>
        <p:txBody>
          <a:bodyPr wrap="square" lIns="508" tIns="508" rIns="508" bIns="508"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モデル更新による出力の変化</a:t>
            </a:r>
            <a:endParaRPr lang="en-US" sz="1300" dirty="0"/>
          </a:p>
        </p:txBody>
      </p:sp>
      <p:sp>
        <p:nvSpPr>
          <p:cNvPr id="20" name="Text 15"/>
          <p:cNvSpPr txBox="1"/>
          <p:nvPr/>
        </p:nvSpPr>
        <p:spPr>
          <a:xfrm>
            <a:off x="8229600" y="2148840"/>
            <a:ext cx="3246120" cy="1508760"/>
          </a:xfrm>
          <a:prstGeom prst="rect">
            <a:avLst/>
          </a:prstGeom>
          <a:noFill/>
          <a:ln/>
        </p:spPr>
        <p:txBody>
          <a:bodyPr wrap="square" lIns="254" tIns="254" rIns="254" bIns="254" rtlCol="0" anchor="t"/>
          <a:lstStyle/>
          <a:p>
            <a:pPr marL="152400" indent="-152400">
              <a:spcAft>
                <a:spcPts val="600"/>
              </a:spcAft>
              <a:buSzPct val="100000"/>
              <a:buChar char="•"/>
            </a:pPr>
            <a:r>
              <a:rPr lang="en-US" sz="1200" dirty="0">
                <a:solidFill>
                  <a:srgbClr val="000000"/>
                </a:solidFill>
                <a:latin typeface="Meiryo UI" pitchFamily="34" charset="0"/>
                <a:ea typeface="Meiryo UI" pitchFamily="34" charset="-122"/>
                <a:cs typeface="Meiryo UI" pitchFamily="34" charset="-120"/>
              </a:rPr>
              <a:t>プラットフォーム側のモデル更新で出力が変わる</a:t>
            </a:r>
            <a:endParaRPr lang="en-US" sz="1200" dirty="0"/>
          </a:p>
          <a:p>
            <a:pPr marL="152400" indent="-152400">
              <a:spcAft>
                <a:spcPts val="600"/>
              </a:spcAft>
              <a:buSzPct val="100000"/>
              <a:buChar char="•"/>
            </a:pPr>
            <a:r>
              <a:rPr lang="en-US" sz="1200" dirty="0">
                <a:solidFill>
                  <a:srgbClr val="000000"/>
                </a:solidFill>
                <a:latin typeface="Meiryo UI" pitchFamily="34" charset="0"/>
                <a:ea typeface="Meiryo UI" pitchFamily="34" charset="-122"/>
                <a:cs typeface="Meiryo UI" pitchFamily="34" charset="-120"/>
              </a:rPr>
              <a:t>定期的なテストケースでの確認</a:t>
            </a:r>
            <a:endParaRPr lang="en-US" sz="1200" dirty="0"/>
          </a:p>
        </p:txBody>
      </p:sp>
      <p:sp>
        <p:nvSpPr>
          <p:cNvPr id="21" name="Shape 16"/>
          <p:cNvSpPr/>
          <p:nvPr/>
        </p:nvSpPr>
        <p:spPr>
          <a:xfrm>
            <a:off x="548640" y="3904488"/>
            <a:ext cx="3566160" cy="2331720"/>
          </a:xfrm>
          <a:prstGeom prst="roundRect">
            <a:avLst>
              <a:gd name="adj" fmla="val 2353"/>
            </a:avLst>
          </a:prstGeom>
          <a:solidFill>
            <a:srgbClr val="F3F5F8"/>
          </a:solidFill>
          <a:ln/>
        </p:spPr>
      </p:sp>
      <p:sp>
        <p:nvSpPr>
          <p:cNvPr id="22" name="Shape 17"/>
          <p:cNvSpPr/>
          <p:nvPr/>
        </p:nvSpPr>
        <p:spPr>
          <a:xfrm>
            <a:off x="713232" y="4041648"/>
            <a:ext cx="457200" cy="457200"/>
          </a:xfrm>
          <a:prstGeom prst="ellipse">
            <a:avLst/>
          </a:prstGeom>
          <a:solidFill>
            <a:srgbClr val="FFFFFF"/>
          </a:solidFill>
          <a:ln/>
        </p:spPr>
      </p:sp>
      <p:pic>
        <p:nvPicPr>
          <p:cNvPr id="23" name="Image 3" descr="preencoded.png">    </p:cNvPr>
          <p:cNvPicPr>
            <a:picLocks noChangeAspect="1"/>
          </p:cNvPicPr>
          <p:nvPr/>
        </p:nvPicPr>
        <p:blipFill>
          <a:blip r:embed="rId4"/>
          <a:stretch>
            <a:fillRect/>
          </a:stretch>
        </p:blipFill>
        <p:spPr>
          <a:xfrm>
            <a:off x="804672" y="4133088"/>
            <a:ext cx="274320" cy="274320"/>
          </a:xfrm>
          <a:prstGeom prst="rect">
            <a:avLst/>
          </a:prstGeom>
        </p:spPr>
      </p:pic>
      <p:sp>
        <p:nvSpPr>
          <p:cNvPr id="24" name="Text 18"/>
          <p:cNvSpPr txBox="1"/>
          <p:nvPr/>
        </p:nvSpPr>
        <p:spPr>
          <a:xfrm>
            <a:off x="1261872" y="4041648"/>
            <a:ext cx="2743200" cy="457200"/>
          </a:xfrm>
          <a:prstGeom prst="rect">
            <a:avLst/>
          </a:prstGeom>
          <a:noFill/>
          <a:ln/>
        </p:spPr>
        <p:txBody>
          <a:bodyPr wrap="square" lIns="508" tIns="508" rIns="508" bIns="508"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障害時の切り戻し</a:t>
            </a:r>
            <a:endParaRPr lang="en-US" sz="1300" dirty="0"/>
          </a:p>
        </p:txBody>
      </p:sp>
      <p:sp>
        <p:nvSpPr>
          <p:cNvPr id="25" name="Text 19"/>
          <p:cNvSpPr txBox="1"/>
          <p:nvPr/>
        </p:nvSpPr>
        <p:spPr>
          <a:xfrm>
            <a:off x="731520" y="4636008"/>
            <a:ext cx="3246120" cy="1508760"/>
          </a:xfrm>
          <a:prstGeom prst="rect">
            <a:avLst/>
          </a:prstGeom>
          <a:noFill/>
          <a:ln/>
        </p:spPr>
        <p:txBody>
          <a:bodyPr wrap="square" lIns="254" tIns="254" rIns="254" bIns="254" rtlCol="0" anchor="t"/>
          <a:lstStyle/>
          <a:p>
            <a:pPr marL="152400" indent="-152400">
              <a:spcAft>
                <a:spcPts val="600"/>
              </a:spcAft>
              <a:buSzPct val="100000"/>
              <a:buChar char="•"/>
            </a:pPr>
            <a:r>
              <a:rPr lang="en-US" sz="1200" dirty="0">
                <a:solidFill>
                  <a:srgbClr val="000000"/>
                </a:solidFill>
                <a:latin typeface="Meiryo UI" pitchFamily="34" charset="0"/>
                <a:ea typeface="Meiryo UI" pitchFamily="34" charset="-122"/>
                <a:cs typeface="Meiryo UI" pitchFamily="34" charset="-120"/>
              </a:rPr>
              <a:t>生成・連携が止まったときに手作業へ戻す手順</a:t>
            </a:r>
            <a:endParaRPr lang="en-US" sz="1200" dirty="0"/>
          </a:p>
          <a:p>
            <a:pPr marL="152400" indent="-152400">
              <a:spcAft>
                <a:spcPts val="600"/>
              </a:spcAft>
              <a:buSzPct val="100000"/>
              <a:buChar char="•"/>
            </a:pPr>
            <a:r>
              <a:rPr lang="en-US" sz="1200" dirty="0">
                <a:solidFill>
                  <a:srgbClr val="000000"/>
                </a:solidFill>
                <a:latin typeface="Meiryo UI" pitchFamily="34" charset="0"/>
                <a:ea typeface="Meiryo UI" pitchFamily="34" charset="-122"/>
                <a:cs typeface="Meiryo UI" pitchFamily="34" charset="-120"/>
              </a:rPr>
              <a:t>エラーの通知先と対応者</a:t>
            </a:r>
            <a:endParaRPr lang="en-US" sz="1200" dirty="0"/>
          </a:p>
        </p:txBody>
      </p:sp>
      <p:sp>
        <p:nvSpPr>
          <p:cNvPr id="26" name="Shape 20"/>
          <p:cNvSpPr/>
          <p:nvPr/>
        </p:nvSpPr>
        <p:spPr>
          <a:xfrm>
            <a:off x="4297680" y="3904488"/>
            <a:ext cx="3566160" cy="2331720"/>
          </a:xfrm>
          <a:prstGeom prst="roundRect">
            <a:avLst>
              <a:gd name="adj" fmla="val 2353"/>
            </a:avLst>
          </a:prstGeom>
          <a:solidFill>
            <a:srgbClr val="F3F5F8"/>
          </a:solidFill>
          <a:ln/>
        </p:spPr>
      </p:sp>
      <p:sp>
        <p:nvSpPr>
          <p:cNvPr id="27" name="Shape 21"/>
          <p:cNvSpPr/>
          <p:nvPr/>
        </p:nvSpPr>
        <p:spPr>
          <a:xfrm>
            <a:off x="4462272" y="4041648"/>
            <a:ext cx="457200" cy="457200"/>
          </a:xfrm>
          <a:prstGeom prst="ellipse">
            <a:avLst/>
          </a:prstGeom>
          <a:solidFill>
            <a:srgbClr val="FFFFFF"/>
          </a:solidFill>
          <a:ln/>
        </p:spPr>
      </p:sp>
      <p:pic>
        <p:nvPicPr>
          <p:cNvPr id="28" name="Image 4" descr="preencoded.png">    </p:cNvPr>
          <p:cNvPicPr>
            <a:picLocks noChangeAspect="1"/>
          </p:cNvPicPr>
          <p:nvPr/>
        </p:nvPicPr>
        <p:blipFill>
          <a:blip r:embed="rId5"/>
          <a:stretch>
            <a:fillRect/>
          </a:stretch>
        </p:blipFill>
        <p:spPr>
          <a:xfrm>
            <a:off x="4553712" y="4133088"/>
            <a:ext cx="274320" cy="274320"/>
          </a:xfrm>
          <a:prstGeom prst="rect">
            <a:avLst/>
          </a:prstGeom>
        </p:spPr>
      </p:pic>
      <p:sp>
        <p:nvSpPr>
          <p:cNvPr id="29" name="Text 22"/>
          <p:cNvSpPr txBox="1"/>
          <p:nvPr/>
        </p:nvSpPr>
        <p:spPr>
          <a:xfrm>
            <a:off x="5010912" y="4041648"/>
            <a:ext cx="2743200" cy="457200"/>
          </a:xfrm>
          <a:prstGeom prst="rect">
            <a:avLst/>
          </a:prstGeom>
          <a:noFill/>
          <a:ln/>
        </p:spPr>
        <p:txBody>
          <a:bodyPr wrap="square" lIns="508" tIns="508" rIns="508" bIns="508"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利用ログ・監査</a:t>
            </a:r>
            <a:endParaRPr lang="en-US" sz="1300" dirty="0"/>
          </a:p>
        </p:txBody>
      </p:sp>
      <p:sp>
        <p:nvSpPr>
          <p:cNvPr id="30" name="Text 23"/>
          <p:cNvSpPr txBox="1"/>
          <p:nvPr/>
        </p:nvSpPr>
        <p:spPr>
          <a:xfrm>
            <a:off x="4480560" y="4636008"/>
            <a:ext cx="3246120" cy="1508760"/>
          </a:xfrm>
          <a:prstGeom prst="rect">
            <a:avLst/>
          </a:prstGeom>
          <a:noFill/>
          <a:ln/>
        </p:spPr>
        <p:txBody>
          <a:bodyPr wrap="square" lIns="254" tIns="254" rIns="254" bIns="254" rtlCol="0" anchor="t"/>
          <a:lstStyle/>
          <a:p>
            <a:pPr marL="152400" indent="-152400">
              <a:spcAft>
                <a:spcPts val="600"/>
              </a:spcAft>
              <a:buSzPct val="100000"/>
              <a:buChar char="•"/>
            </a:pPr>
            <a:r>
              <a:rPr lang="en-US" sz="1200" dirty="0">
                <a:solidFill>
                  <a:srgbClr val="000000"/>
                </a:solidFill>
                <a:latin typeface="Meiryo UI" pitchFamily="34" charset="0"/>
                <a:ea typeface="Meiryo UI" pitchFamily="34" charset="-122"/>
                <a:cs typeface="Meiryo UI" pitchFamily="34" charset="-120"/>
              </a:rPr>
              <a:t>誰が何を生成し、誰が承認したかの記録</a:t>
            </a:r>
            <a:endParaRPr lang="en-US" sz="1200" dirty="0"/>
          </a:p>
          <a:p>
            <a:pPr marL="152400" indent="-152400">
              <a:spcAft>
                <a:spcPts val="600"/>
              </a:spcAft>
              <a:buSzPct val="100000"/>
              <a:buChar char="•"/>
            </a:pPr>
            <a:r>
              <a:rPr lang="en-US" sz="1200" dirty="0">
                <a:solidFill>
                  <a:srgbClr val="000000"/>
                </a:solidFill>
                <a:latin typeface="Meiryo UI" pitchFamily="34" charset="0"/>
                <a:ea typeface="Meiryo UI" pitchFamily="34" charset="-122"/>
                <a:cs typeface="Meiryo UI" pitchFamily="34" charset="-120"/>
              </a:rPr>
              <a:t>生成物の保存期間</a:t>
            </a:r>
            <a:endParaRPr lang="en-US" sz="1200" dirty="0"/>
          </a:p>
        </p:txBody>
      </p:sp>
      <p:sp>
        <p:nvSpPr>
          <p:cNvPr id="31" name="Shape 24"/>
          <p:cNvSpPr/>
          <p:nvPr/>
        </p:nvSpPr>
        <p:spPr>
          <a:xfrm>
            <a:off x="8046720" y="3904488"/>
            <a:ext cx="3566160" cy="2331720"/>
          </a:xfrm>
          <a:prstGeom prst="roundRect">
            <a:avLst>
              <a:gd name="adj" fmla="val 2353"/>
            </a:avLst>
          </a:prstGeom>
          <a:solidFill>
            <a:srgbClr val="F3F5F8"/>
          </a:solidFill>
          <a:ln/>
        </p:spPr>
      </p:sp>
      <p:sp>
        <p:nvSpPr>
          <p:cNvPr id="32" name="Shape 25"/>
          <p:cNvSpPr/>
          <p:nvPr/>
        </p:nvSpPr>
        <p:spPr>
          <a:xfrm>
            <a:off x="8211312" y="4041648"/>
            <a:ext cx="457200" cy="457200"/>
          </a:xfrm>
          <a:prstGeom prst="ellipse">
            <a:avLst/>
          </a:prstGeom>
          <a:solidFill>
            <a:srgbClr val="FFFFFF"/>
          </a:solidFill>
          <a:ln/>
        </p:spPr>
      </p:sp>
      <p:pic>
        <p:nvPicPr>
          <p:cNvPr id="33" name="Image 5" descr="preencoded.png">    </p:cNvPr>
          <p:cNvPicPr>
            <a:picLocks noChangeAspect="1"/>
          </p:cNvPicPr>
          <p:nvPr/>
        </p:nvPicPr>
        <p:blipFill>
          <a:blip r:embed="rId6"/>
          <a:stretch>
            <a:fillRect/>
          </a:stretch>
        </p:blipFill>
        <p:spPr>
          <a:xfrm>
            <a:off x="8302752" y="4133088"/>
            <a:ext cx="274320" cy="274320"/>
          </a:xfrm>
          <a:prstGeom prst="rect">
            <a:avLst/>
          </a:prstGeom>
        </p:spPr>
      </p:pic>
      <p:sp>
        <p:nvSpPr>
          <p:cNvPr id="34" name="Text 26"/>
          <p:cNvSpPr txBox="1"/>
          <p:nvPr/>
        </p:nvSpPr>
        <p:spPr>
          <a:xfrm>
            <a:off x="8759952" y="4041648"/>
            <a:ext cx="2743200" cy="457200"/>
          </a:xfrm>
          <a:prstGeom prst="rect">
            <a:avLst/>
          </a:prstGeom>
          <a:noFill/>
          <a:ln/>
        </p:spPr>
        <p:txBody>
          <a:bodyPr wrap="square" lIns="508" tIns="508" rIns="508" bIns="508"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権限と機密情報</a:t>
            </a:r>
            <a:endParaRPr lang="en-US" sz="1300" dirty="0"/>
          </a:p>
        </p:txBody>
      </p:sp>
      <p:sp>
        <p:nvSpPr>
          <p:cNvPr id="35" name="Text 27"/>
          <p:cNvSpPr txBox="1"/>
          <p:nvPr/>
        </p:nvSpPr>
        <p:spPr>
          <a:xfrm>
            <a:off x="8229600" y="4636008"/>
            <a:ext cx="3246120" cy="1508760"/>
          </a:xfrm>
          <a:prstGeom prst="rect">
            <a:avLst/>
          </a:prstGeom>
          <a:noFill/>
          <a:ln/>
        </p:spPr>
        <p:txBody>
          <a:bodyPr wrap="square" lIns="254" tIns="254" rIns="254" bIns="254" rtlCol="0" anchor="t"/>
          <a:lstStyle/>
          <a:p>
            <a:pPr marL="152400" indent="-152400">
              <a:spcAft>
                <a:spcPts val="600"/>
              </a:spcAft>
              <a:buSzPct val="100000"/>
              <a:buChar char="•"/>
            </a:pPr>
            <a:r>
              <a:rPr lang="en-US" sz="1200" dirty="0">
                <a:solidFill>
                  <a:srgbClr val="000000"/>
                </a:solidFill>
                <a:latin typeface="Meiryo UI" pitchFamily="34" charset="0"/>
                <a:ea typeface="Meiryo UI" pitchFamily="34" charset="-122"/>
                <a:cs typeface="Meiryo UI" pitchFamily="34" charset="-120"/>
              </a:rPr>
              <a:t>AIが参照できる資料の範囲</a:t>
            </a:r>
            <a:endParaRPr lang="en-US" sz="1200" dirty="0"/>
          </a:p>
          <a:p>
            <a:pPr marL="152400" indent="-152400">
              <a:spcAft>
                <a:spcPts val="600"/>
              </a:spcAft>
              <a:buSzPct val="100000"/>
              <a:buChar char="•"/>
            </a:pPr>
            <a:r>
              <a:rPr lang="en-US" sz="1200" dirty="0">
                <a:solidFill>
                  <a:srgbClr val="000000"/>
                </a:solidFill>
                <a:latin typeface="Meiryo UI" pitchFamily="34" charset="0"/>
                <a:ea typeface="Meiryo UI" pitchFamily="34" charset="-122"/>
                <a:cs typeface="Meiryo UI" pitchFamily="34" charset="-120"/>
              </a:rPr>
              <a:t>国・部署ごとの権限の分け方</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548640"/>
          </a:xfrm>
          <a:prstGeom prst="rect">
            <a:avLst/>
          </a:prstGeom>
          <a:noFill/>
          <a:ln/>
        </p:spPr>
        <p:txBody>
          <a:bodyPr wrap="square" lIns="0" tIns="0" rIns="0" bIns="0" rtlCol="0" anchor="ctr"/>
          <a:lstStyle/>
          <a:p>
            <a:pPr indent="0" marL="0">
              <a:buNone/>
            </a:pPr>
            <a:r>
              <a:rPr lang="en-US" sz="2600" b="1" dirty="0">
                <a:solidFill>
                  <a:srgbClr val="1B2A49"/>
                </a:solidFill>
                <a:latin typeface="Meiryo UI" pitchFamily="34" charset="0"/>
                <a:ea typeface="Meiryo UI" pitchFamily="34" charset="-122"/>
                <a:cs typeface="Meiryo UI" pitchFamily="34" charset="-120"/>
              </a:rPr>
              <a:t>A1｜Copilot手動アシスト</a:t>
            </a:r>
            <a:endParaRPr lang="en-US" sz="2600" dirty="0"/>
          </a:p>
        </p:txBody>
      </p:sp>
      <p:sp>
        <p:nvSpPr>
          <p:cNvPr id="3" name="Text 1"/>
          <p:cNvSpPr txBox="1"/>
          <p:nvPr/>
        </p:nvSpPr>
        <p:spPr>
          <a:xfrm>
            <a:off x="548640" y="896112"/>
            <a:ext cx="11064240" cy="365760"/>
          </a:xfrm>
          <a:prstGeom prst="rect">
            <a:avLst/>
          </a:prstGeom>
          <a:noFill/>
          <a:ln/>
        </p:spPr>
        <p:txBody>
          <a:bodyPr wrap="square" lIns="0" tIns="0" rIns="0" bIns="0" rtlCol="0" anchor="ctr"/>
          <a:lstStyle/>
          <a:p>
            <a:pPr indent="0" marL="0">
              <a:buNone/>
            </a:pPr>
            <a:r>
              <a:rPr lang="en-US" sz="1400" dirty="0">
                <a:solidFill>
                  <a:srgbClr val="6B7280"/>
                </a:solidFill>
                <a:latin typeface="Meiryo UI" pitchFamily="34" charset="0"/>
                <a:ea typeface="Meiryo UI" pitchFamily="34" charset="-122"/>
                <a:cs typeface="Meiryo UI" pitchFamily="34" charset="-120"/>
              </a:rPr>
              <a:t>既存のM365 Copilotとプロンプト集だけで始める、最も手軽な構成</a:t>
            </a:r>
            <a:endParaRPr lang="en-US" sz="1400" dirty="0"/>
          </a:p>
        </p:txBody>
      </p:sp>
      <p:sp>
        <p:nvSpPr>
          <p:cNvPr id="4" name="Text 2"/>
          <p:cNvSpPr txBox="1"/>
          <p:nvPr/>
        </p:nvSpPr>
        <p:spPr>
          <a:xfrm>
            <a:off x="7498080" y="91440"/>
            <a:ext cx="4114800" cy="22860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4. 各パターンの詳細</a:t>
            </a:r>
            <a:endParaRPr lang="en-US" sz="900" dirty="0"/>
          </a:p>
        </p:txBody>
      </p:sp>
      <p:sp>
        <p:nvSpPr>
          <p:cNvPr id="5" name="Text 3"/>
          <p:cNvSpPr txBox="1"/>
          <p:nvPr/>
        </p:nvSpPr>
        <p:spPr>
          <a:xfrm>
            <a:off x="11247120" y="6446520"/>
            <a:ext cx="457200" cy="27432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18</a:t>
            </a:r>
            <a:endParaRPr lang="en-US" sz="900" dirty="0"/>
          </a:p>
        </p:txBody>
      </p:sp>
      <p:sp>
        <p:nvSpPr>
          <p:cNvPr id="6" name="Shape 4"/>
          <p:cNvSpPr/>
          <p:nvPr/>
        </p:nvSpPr>
        <p:spPr>
          <a:xfrm>
            <a:off x="548640" y="1371600"/>
            <a:ext cx="2103120" cy="347472"/>
          </a:xfrm>
          <a:prstGeom prst="roundRect">
            <a:avLst>
              <a:gd name="adj" fmla="val 50000"/>
            </a:avLst>
          </a:prstGeom>
          <a:solidFill>
            <a:srgbClr val="E5F0FA"/>
          </a:solidFill>
          <a:ln/>
        </p:spPr>
      </p:sp>
      <p:sp>
        <p:nvSpPr>
          <p:cNvPr id="7" name="Text 5"/>
          <p:cNvSpPr txBox="1"/>
          <p:nvPr/>
        </p:nvSpPr>
        <p:spPr>
          <a:xfrm>
            <a:off x="548640" y="1371600"/>
            <a:ext cx="2103120" cy="347472"/>
          </a:xfrm>
          <a:prstGeom prst="rect">
            <a:avLst/>
          </a:prstGeom>
          <a:noFill/>
          <a:ln/>
        </p:spPr>
        <p:txBody>
          <a:bodyPr wrap="square" lIns="0" tIns="0" rIns="0" bIns="0" rtlCol="0" anchor="ctr"/>
          <a:lstStyle/>
          <a:p>
            <a:pPr algn="ctr" indent="0" marL="0">
              <a:buNone/>
            </a:pPr>
            <a:r>
              <a:rPr lang="en-US" sz="950" dirty="0">
                <a:solidFill>
                  <a:srgbClr val="0F6CBD"/>
                </a:solidFill>
                <a:latin typeface="Meiryo UI" pitchFamily="34" charset="0"/>
                <a:ea typeface="Meiryo UI" pitchFamily="34" charset="-122"/>
                <a:cs typeface="Meiryo UI" pitchFamily="34" charset="-120"/>
              </a:rPr>
              <a:t>集約先  </a:t>
            </a:r>
            <a:pPr algn="ctr" indent="0" marL="0">
              <a:buNone/>
            </a:pPr>
            <a:r>
              <a:rPr lang="en-US" sz="1100" b="1" dirty="0">
                <a:solidFill>
                  <a:srgbClr val="0F6CBD"/>
                </a:solidFill>
                <a:latin typeface="Meiryo UI" pitchFamily="34" charset="0"/>
                <a:ea typeface="Meiryo UI" pitchFamily="34" charset="-122"/>
                <a:cs typeface="Meiryo UI" pitchFamily="34" charset="-120"/>
              </a:rPr>
              <a:t>M365に寄せる</a:t>
            </a:r>
            <a:endParaRPr lang="en-US" sz="950" dirty="0"/>
          </a:p>
        </p:txBody>
      </p:sp>
      <p:sp>
        <p:nvSpPr>
          <p:cNvPr id="8" name="Shape 6"/>
          <p:cNvSpPr/>
          <p:nvPr/>
        </p:nvSpPr>
        <p:spPr>
          <a:xfrm>
            <a:off x="2788920" y="1371600"/>
            <a:ext cx="2103120" cy="347472"/>
          </a:xfrm>
          <a:prstGeom prst="roundRect">
            <a:avLst>
              <a:gd name="adj" fmla="val 50000"/>
            </a:avLst>
          </a:prstGeom>
          <a:solidFill>
            <a:srgbClr val="F3F5F8"/>
          </a:solidFill>
          <a:ln/>
        </p:spPr>
      </p:sp>
      <p:sp>
        <p:nvSpPr>
          <p:cNvPr id="9" name="Text 7"/>
          <p:cNvSpPr txBox="1"/>
          <p:nvPr/>
        </p:nvSpPr>
        <p:spPr>
          <a:xfrm>
            <a:off x="2788920" y="1371600"/>
            <a:ext cx="2103120" cy="347472"/>
          </a:xfrm>
          <a:prstGeom prst="rect">
            <a:avLst/>
          </a:prstGeom>
          <a:noFill/>
          <a:ln/>
        </p:spPr>
        <p:txBody>
          <a:bodyPr wrap="square" lIns="0" tIns="0" rIns="0" bIns="0" rtlCol="0" anchor="ctr"/>
          <a:lstStyle/>
          <a:p>
            <a:pPr algn="ctr" indent="0" marL="0">
              <a:buNone/>
            </a:pPr>
            <a:r>
              <a:rPr lang="en-US" sz="950" dirty="0">
                <a:solidFill>
                  <a:srgbClr val="1B2A49"/>
                </a:solidFill>
                <a:latin typeface="Meiryo UI" pitchFamily="34" charset="0"/>
                <a:ea typeface="Meiryo UI" pitchFamily="34" charset="-122"/>
                <a:cs typeface="Meiryo UI" pitchFamily="34" charset="-120"/>
              </a:rPr>
              <a:t>管理基盤  </a:t>
            </a:r>
            <a:pPr algn="ctr" indent="0" marL="0">
              <a:buNone/>
            </a:pPr>
            <a:r>
              <a:rPr lang="en-US" sz="1100" b="1" dirty="0">
                <a:solidFill>
                  <a:srgbClr val="1B2A49"/>
                </a:solidFill>
                <a:latin typeface="Meiryo UI" pitchFamily="34" charset="0"/>
                <a:ea typeface="Meiryo UI" pitchFamily="34" charset="-122"/>
                <a:cs typeface="Meiryo UI" pitchFamily="34" charset="-120"/>
              </a:rPr>
              <a:t>Airtable</a:t>
            </a:r>
            <a:endParaRPr lang="en-US" sz="950" dirty="0"/>
          </a:p>
        </p:txBody>
      </p:sp>
      <p:sp>
        <p:nvSpPr>
          <p:cNvPr id="10" name="Shape 8"/>
          <p:cNvSpPr/>
          <p:nvPr/>
        </p:nvSpPr>
        <p:spPr>
          <a:xfrm>
            <a:off x="5029200" y="1371600"/>
            <a:ext cx="2103120" cy="347472"/>
          </a:xfrm>
          <a:prstGeom prst="roundRect">
            <a:avLst>
              <a:gd name="adj" fmla="val 50000"/>
            </a:avLst>
          </a:prstGeom>
          <a:solidFill>
            <a:srgbClr val="D9F2F1"/>
          </a:solidFill>
          <a:ln/>
        </p:spPr>
      </p:sp>
      <p:sp>
        <p:nvSpPr>
          <p:cNvPr id="11" name="Text 9"/>
          <p:cNvSpPr txBox="1"/>
          <p:nvPr/>
        </p:nvSpPr>
        <p:spPr>
          <a:xfrm>
            <a:off x="5029200" y="1371600"/>
            <a:ext cx="2103120" cy="347472"/>
          </a:xfrm>
          <a:prstGeom prst="rect">
            <a:avLst/>
          </a:prstGeom>
          <a:noFill/>
          <a:ln/>
        </p:spPr>
        <p:txBody>
          <a:bodyPr wrap="square" lIns="0" tIns="0" rIns="0" bIns="0" rtlCol="0" anchor="ctr"/>
          <a:lstStyle/>
          <a:p>
            <a:pPr algn="ctr" indent="0" marL="0">
              <a:buNone/>
            </a:pPr>
            <a:r>
              <a:rPr lang="en-US" sz="950" dirty="0">
                <a:solidFill>
                  <a:srgbClr val="0E9F9A"/>
                </a:solidFill>
                <a:latin typeface="Meiryo UI" pitchFamily="34" charset="0"/>
                <a:ea typeface="Meiryo UI" pitchFamily="34" charset="-122"/>
                <a:cs typeface="Meiryo UI" pitchFamily="34" charset="-120"/>
              </a:rPr>
              <a:t>自動化  </a:t>
            </a:r>
            <a:pPr algn="ctr" indent="0" marL="0">
              <a:buNone/>
            </a:pPr>
            <a:r>
              <a:rPr lang="en-US" sz="1100" b="1" dirty="0">
                <a:solidFill>
                  <a:srgbClr val="0E9F9A"/>
                </a:solidFill>
                <a:latin typeface="Meiryo UI" pitchFamily="34" charset="0"/>
                <a:ea typeface="Meiryo UI" pitchFamily="34" charset="-122"/>
                <a:cs typeface="Meiryo UI" pitchFamily="34" charset="-120"/>
              </a:rPr>
              <a:t>Step1</a:t>
            </a:r>
            <a:endParaRPr lang="en-US" sz="950" dirty="0"/>
          </a:p>
        </p:txBody>
      </p:sp>
      <p:sp>
        <p:nvSpPr>
          <p:cNvPr id="12" name="Shape 10"/>
          <p:cNvSpPr/>
          <p:nvPr/>
        </p:nvSpPr>
        <p:spPr>
          <a:xfrm>
            <a:off x="7269480" y="1371600"/>
            <a:ext cx="2103120" cy="347472"/>
          </a:xfrm>
          <a:prstGeom prst="roundRect">
            <a:avLst>
              <a:gd name="adj" fmla="val 50000"/>
            </a:avLst>
          </a:prstGeom>
          <a:solidFill>
            <a:srgbClr val="FDEBD3"/>
          </a:solidFill>
          <a:ln/>
        </p:spPr>
      </p:sp>
      <p:sp>
        <p:nvSpPr>
          <p:cNvPr id="13" name="Text 11"/>
          <p:cNvSpPr txBox="1"/>
          <p:nvPr/>
        </p:nvSpPr>
        <p:spPr>
          <a:xfrm>
            <a:off x="7269480" y="1371600"/>
            <a:ext cx="2103120" cy="347472"/>
          </a:xfrm>
          <a:prstGeom prst="rect">
            <a:avLst/>
          </a:prstGeom>
          <a:noFill/>
          <a:ln/>
        </p:spPr>
        <p:txBody>
          <a:bodyPr wrap="square" lIns="0" tIns="0" rIns="0" bIns="0" rtlCol="0" anchor="ctr"/>
          <a:lstStyle/>
          <a:p>
            <a:pPr algn="ctr" indent="0" marL="0">
              <a:buNone/>
            </a:pPr>
            <a:r>
              <a:rPr lang="en-US" sz="950" dirty="0">
                <a:solidFill>
                  <a:srgbClr val="E8912D"/>
                </a:solidFill>
                <a:latin typeface="Meiryo UI" pitchFamily="34" charset="0"/>
                <a:ea typeface="Meiryo UI" pitchFamily="34" charset="-122"/>
                <a:cs typeface="Meiryo UI" pitchFamily="34" charset="-120"/>
              </a:rPr>
              <a:t>難易度  </a:t>
            </a:r>
            <a:pPr algn="ctr" indent="0" marL="0">
              <a:buNone/>
            </a:pPr>
            <a:r>
              <a:rPr lang="en-US" sz="1100" b="1" dirty="0">
                <a:solidFill>
                  <a:srgbClr val="E8912D"/>
                </a:solidFill>
                <a:latin typeface="Meiryo UI" pitchFamily="34" charset="0"/>
                <a:ea typeface="Meiryo UI" pitchFamily="34" charset="-122"/>
                <a:cs typeface="Meiryo UI" pitchFamily="34" charset="-120"/>
              </a:rPr>
              <a:t>★☆☆☆☆</a:t>
            </a:r>
            <a:endParaRPr lang="en-US" sz="950" dirty="0"/>
          </a:p>
        </p:txBody>
      </p:sp>
      <p:sp>
        <p:nvSpPr>
          <p:cNvPr id="14" name="Shape 12"/>
          <p:cNvSpPr/>
          <p:nvPr/>
        </p:nvSpPr>
        <p:spPr>
          <a:xfrm>
            <a:off x="9509760" y="1371600"/>
            <a:ext cx="2103120" cy="347472"/>
          </a:xfrm>
          <a:prstGeom prst="roundRect">
            <a:avLst>
              <a:gd name="adj" fmla="val 50000"/>
            </a:avLst>
          </a:prstGeom>
          <a:solidFill>
            <a:srgbClr val="F3F5F8"/>
          </a:solidFill>
          <a:ln/>
        </p:spPr>
      </p:sp>
      <p:sp>
        <p:nvSpPr>
          <p:cNvPr id="15" name="Text 13"/>
          <p:cNvSpPr txBox="1"/>
          <p:nvPr/>
        </p:nvSpPr>
        <p:spPr>
          <a:xfrm>
            <a:off x="9509760" y="1371600"/>
            <a:ext cx="2103120" cy="347472"/>
          </a:xfrm>
          <a:prstGeom prst="rect">
            <a:avLst/>
          </a:prstGeom>
          <a:noFill/>
          <a:ln/>
        </p:spPr>
        <p:txBody>
          <a:bodyPr wrap="square" lIns="0" tIns="0" rIns="0" bIns="0" rtlCol="0" anchor="ctr"/>
          <a:lstStyle/>
          <a:p>
            <a:pPr algn="ctr" indent="0" marL="0">
              <a:buNone/>
            </a:pPr>
            <a:r>
              <a:rPr lang="en-US" sz="950" dirty="0">
                <a:solidFill>
                  <a:srgbClr val="1B2A49"/>
                </a:solidFill>
                <a:latin typeface="Meiryo UI" pitchFamily="34" charset="0"/>
                <a:ea typeface="Meiryo UI" pitchFamily="34" charset="-122"/>
                <a:cs typeface="Meiryo UI" pitchFamily="34" charset="-120"/>
              </a:rPr>
              <a:t>期間目安  </a:t>
            </a:r>
            <a:pPr algn="ctr" indent="0" marL="0">
              <a:buNone/>
            </a:pPr>
            <a:r>
              <a:rPr lang="en-US" sz="1100" b="1" dirty="0">
                <a:solidFill>
                  <a:srgbClr val="1B2A49"/>
                </a:solidFill>
                <a:latin typeface="Meiryo UI" pitchFamily="34" charset="0"/>
                <a:ea typeface="Meiryo UI" pitchFamily="34" charset="-122"/>
                <a:cs typeface="Meiryo UI" pitchFamily="34" charset="-120"/>
              </a:rPr>
              <a:t>〜1ヶ月</a:t>
            </a:r>
            <a:endParaRPr lang="en-US" sz="950" dirty="0"/>
          </a:p>
        </p:txBody>
      </p:sp>
      <p:sp>
        <p:nvSpPr>
          <p:cNvPr id="16" name="Shape 14"/>
          <p:cNvSpPr/>
          <p:nvPr/>
        </p:nvSpPr>
        <p:spPr>
          <a:xfrm>
            <a:off x="548640" y="1874520"/>
            <a:ext cx="6949440" cy="2514600"/>
          </a:xfrm>
          <a:prstGeom prst="roundRect">
            <a:avLst>
              <a:gd name="adj" fmla="val 1455"/>
            </a:avLst>
          </a:prstGeom>
          <a:solidFill>
            <a:srgbClr val="F3F5F8"/>
          </a:solidFill>
          <a:ln/>
        </p:spPr>
      </p:sp>
      <p:sp>
        <p:nvSpPr>
          <p:cNvPr id="17" name="Shape 15"/>
          <p:cNvSpPr/>
          <p:nvPr/>
        </p:nvSpPr>
        <p:spPr>
          <a:xfrm>
            <a:off x="731520" y="2011680"/>
            <a:ext cx="1920240" cy="566928"/>
          </a:xfrm>
          <a:prstGeom prst="roundRect">
            <a:avLst>
              <a:gd name="adj" fmla="val 12903"/>
            </a:avLst>
          </a:prstGeom>
          <a:solidFill>
            <a:srgbClr val="E3EAF5"/>
          </a:solidFill>
          <a:ln/>
        </p:spPr>
      </p:sp>
      <p:pic>
        <p:nvPicPr>
          <p:cNvPr id="18" name="Image 0" descr="preencoded.png">    </p:cNvPr>
          <p:cNvPicPr>
            <a:picLocks noChangeAspect="1"/>
          </p:cNvPicPr>
          <p:nvPr/>
        </p:nvPicPr>
        <p:blipFill>
          <a:blip r:embed="rId1"/>
          <a:stretch>
            <a:fillRect/>
          </a:stretch>
        </p:blipFill>
        <p:spPr>
          <a:xfrm>
            <a:off x="841248" y="2112264"/>
            <a:ext cx="365760" cy="365760"/>
          </a:xfrm>
          <a:prstGeom prst="rect">
            <a:avLst/>
          </a:prstGeom>
        </p:spPr>
      </p:pic>
      <p:sp>
        <p:nvSpPr>
          <p:cNvPr id="19" name="Text 16"/>
          <p:cNvSpPr txBox="1"/>
          <p:nvPr/>
        </p:nvSpPr>
        <p:spPr>
          <a:xfrm>
            <a:off x="1298448" y="2011680"/>
            <a:ext cx="1307592" cy="566928"/>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ポリシー</a:t>
            </a:r>
            <a:endParaRPr lang="en-US" sz="1050" dirty="0"/>
          </a:p>
          <a:p>
            <a:pPr algn="l" indent="0" marL="0">
              <a:buNone/>
            </a:pPr>
            <a:r>
              <a:rPr lang="en-US" sz="900" dirty="0">
                <a:solidFill>
                  <a:srgbClr val="6B7280"/>
                </a:solidFill>
                <a:latin typeface="Meiryo UI" pitchFamily="34" charset="0"/>
                <a:ea typeface="Meiryo UI" pitchFamily="34" charset="-122"/>
                <a:cs typeface="Meiryo UI" pitchFamily="34" charset="-120"/>
              </a:rPr>
              <a:t>Excel</a:t>
            </a:r>
            <a:endParaRPr lang="en-US" sz="1050" dirty="0"/>
          </a:p>
        </p:txBody>
      </p:sp>
      <p:sp>
        <p:nvSpPr>
          <p:cNvPr id="20" name="Shape 17"/>
          <p:cNvSpPr/>
          <p:nvPr/>
        </p:nvSpPr>
        <p:spPr>
          <a:xfrm>
            <a:off x="2697480" y="2295144"/>
            <a:ext cx="320040" cy="676656"/>
          </a:xfrm>
          <a:prstGeom prst="line">
            <a:avLst/>
          </a:prstGeom>
          <a:noFill/>
          <a:ln w="22225">
            <a:solidFill>
              <a:srgbClr val="9AA5B4"/>
            </a:solidFill>
            <a:prstDash val="solid"/>
            <a:tailEnd type="triangle"/>
          </a:ln>
        </p:spPr>
      </p:sp>
      <p:sp>
        <p:nvSpPr>
          <p:cNvPr id="21" name="Shape 18"/>
          <p:cNvSpPr/>
          <p:nvPr/>
        </p:nvSpPr>
        <p:spPr>
          <a:xfrm>
            <a:off x="731520" y="2697480"/>
            <a:ext cx="1920240" cy="566928"/>
          </a:xfrm>
          <a:prstGeom prst="roundRect">
            <a:avLst>
              <a:gd name="adj" fmla="val 12903"/>
            </a:avLst>
          </a:prstGeom>
          <a:solidFill>
            <a:srgbClr val="E3EAF5"/>
          </a:solidFill>
          <a:ln/>
        </p:spPr>
      </p:sp>
      <p:pic>
        <p:nvPicPr>
          <p:cNvPr id="22" name="Image 1" descr="preencoded.png">    </p:cNvPr>
          <p:cNvPicPr>
            <a:picLocks noChangeAspect="1"/>
          </p:cNvPicPr>
          <p:nvPr/>
        </p:nvPicPr>
        <p:blipFill>
          <a:blip r:embed="rId2"/>
          <a:stretch>
            <a:fillRect/>
          </a:stretch>
        </p:blipFill>
        <p:spPr>
          <a:xfrm>
            <a:off x="841248" y="2798064"/>
            <a:ext cx="365760" cy="365760"/>
          </a:xfrm>
          <a:prstGeom prst="rect">
            <a:avLst/>
          </a:prstGeom>
        </p:spPr>
      </p:pic>
      <p:sp>
        <p:nvSpPr>
          <p:cNvPr id="23" name="Text 19"/>
          <p:cNvSpPr txBox="1"/>
          <p:nvPr/>
        </p:nvSpPr>
        <p:spPr>
          <a:xfrm>
            <a:off x="1298448" y="2697480"/>
            <a:ext cx="1307592" cy="566928"/>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売上・在庫</a:t>
            </a:r>
            <a:endParaRPr lang="en-US" sz="1050" dirty="0"/>
          </a:p>
          <a:p>
            <a:pPr algn="l" indent="0" marL="0">
              <a:buNone/>
            </a:pPr>
            <a:r>
              <a:rPr lang="en-US" sz="900" dirty="0">
                <a:solidFill>
                  <a:srgbClr val="6B7280"/>
                </a:solidFill>
                <a:latin typeface="Meiryo UI" pitchFamily="34" charset="0"/>
                <a:ea typeface="Meiryo UI" pitchFamily="34" charset="-122"/>
                <a:cs typeface="Meiryo UI" pitchFamily="34" charset="-120"/>
              </a:rPr>
              <a:t>BQ出力ファイル</a:t>
            </a:r>
            <a:endParaRPr lang="en-US" sz="1050" dirty="0"/>
          </a:p>
        </p:txBody>
      </p:sp>
      <p:sp>
        <p:nvSpPr>
          <p:cNvPr id="24" name="Shape 20"/>
          <p:cNvSpPr/>
          <p:nvPr/>
        </p:nvSpPr>
        <p:spPr>
          <a:xfrm flipV="1">
            <a:off x="2697480" y="2971800"/>
            <a:ext cx="320040" cy="9144"/>
          </a:xfrm>
          <a:prstGeom prst="line">
            <a:avLst/>
          </a:prstGeom>
          <a:noFill/>
          <a:ln w="22225">
            <a:solidFill>
              <a:srgbClr val="9AA5B4"/>
            </a:solidFill>
            <a:prstDash val="solid"/>
            <a:tailEnd type="triangle"/>
          </a:ln>
        </p:spPr>
      </p:sp>
      <p:sp>
        <p:nvSpPr>
          <p:cNvPr id="25" name="Shape 21"/>
          <p:cNvSpPr/>
          <p:nvPr/>
        </p:nvSpPr>
        <p:spPr>
          <a:xfrm>
            <a:off x="731520" y="3383280"/>
            <a:ext cx="1920240" cy="566928"/>
          </a:xfrm>
          <a:prstGeom prst="roundRect">
            <a:avLst>
              <a:gd name="adj" fmla="val 12903"/>
            </a:avLst>
          </a:prstGeom>
          <a:solidFill>
            <a:srgbClr val="E3EAF5"/>
          </a:solidFill>
          <a:ln/>
        </p:spPr>
      </p:sp>
      <p:pic>
        <p:nvPicPr>
          <p:cNvPr id="26" name="Image 2" descr="preencoded.png">    </p:cNvPr>
          <p:cNvPicPr>
            <a:picLocks noChangeAspect="1"/>
          </p:cNvPicPr>
          <p:nvPr/>
        </p:nvPicPr>
        <p:blipFill>
          <a:blip r:embed="rId3"/>
          <a:stretch>
            <a:fillRect/>
          </a:stretch>
        </p:blipFill>
        <p:spPr>
          <a:xfrm>
            <a:off x="841248" y="3483864"/>
            <a:ext cx="365760" cy="365760"/>
          </a:xfrm>
          <a:prstGeom prst="rect">
            <a:avLst/>
          </a:prstGeom>
        </p:spPr>
      </p:pic>
      <p:sp>
        <p:nvSpPr>
          <p:cNvPr id="27" name="Text 22"/>
          <p:cNvSpPr txBox="1"/>
          <p:nvPr/>
        </p:nvSpPr>
        <p:spPr>
          <a:xfrm>
            <a:off x="1298448" y="3383280"/>
            <a:ext cx="1307592" cy="566928"/>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商品マスタ</a:t>
            </a:r>
            <a:endParaRPr lang="en-US" sz="1050" dirty="0"/>
          </a:p>
          <a:p>
            <a:pPr algn="l" indent="0" marL="0">
              <a:buNone/>
            </a:pPr>
            <a:r>
              <a:rPr lang="en-US" sz="900" dirty="0">
                <a:solidFill>
                  <a:srgbClr val="6B7280"/>
                </a:solidFill>
                <a:latin typeface="Meiryo UI" pitchFamily="34" charset="0"/>
                <a:ea typeface="Meiryo UI" pitchFamily="34" charset="-122"/>
                <a:cs typeface="Meiryo UI" pitchFamily="34" charset="-120"/>
              </a:rPr>
              <a:t>SharePoint</a:t>
            </a:r>
            <a:endParaRPr lang="en-US" sz="1050" dirty="0"/>
          </a:p>
        </p:txBody>
      </p:sp>
      <p:sp>
        <p:nvSpPr>
          <p:cNvPr id="28" name="Shape 23"/>
          <p:cNvSpPr/>
          <p:nvPr/>
        </p:nvSpPr>
        <p:spPr>
          <a:xfrm flipV="1">
            <a:off x="2697480" y="2971800"/>
            <a:ext cx="320040" cy="694944"/>
          </a:xfrm>
          <a:prstGeom prst="line">
            <a:avLst/>
          </a:prstGeom>
          <a:noFill/>
          <a:ln w="22225">
            <a:solidFill>
              <a:srgbClr val="9AA5B4"/>
            </a:solidFill>
            <a:prstDash val="solid"/>
            <a:tailEnd type="triangle"/>
          </a:ln>
        </p:spPr>
      </p:sp>
      <p:sp>
        <p:nvSpPr>
          <p:cNvPr id="29" name="Text 24"/>
          <p:cNvSpPr txBox="1"/>
          <p:nvPr/>
        </p:nvSpPr>
        <p:spPr>
          <a:xfrm>
            <a:off x="731520" y="4069080"/>
            <a:ext cx="1920240" cy="256032"/>
          </a:xfrm>
          <a:prstGeom prst="rect">
            <a:avLst/>
          </a:prstGeom>
          <a:noFill/>
          <a:ln/>
        </p:spPr>
        <p:txBody>
          <a:bodyPr wrap="square" lIns="508" tIns="508" rIns="508" bIns="508" rtlCol="0" anchor="t"/>
          <a:lstStyle/>
          <a:p>
            <a:pPr algn="ctr" indent="0" marL="0">
              <a:buNone/>
            </a:pPr>
            <a:r>
              <a:rPr lang="en-US" sz="900" b="1" dirty="0">
                <a:solidFill>
                  <a:srgbClr val="E8912D"/>
                </a:solidFill>
                <a:latin typeface="Meiryo UI" pitchFamily="34" charset="0"/>
                <a:ea typeface="Meiryo UI" pitchFamily="34" charset="-122"/>
                <a:cs typeface="Meiryo UI" pitchFamily="34" charset="-120"/>
              </a:rPr>
              <a:t>人が収集・添付</a:t>
            </a:r>
            <a:endParaRPr lang="en-US" sz="900" dirty="0"/>
          </a:p>
        </p:txBody>
      </p:sp>
      <p:sp>
        <p:nvSpPr>
          <p:cNvPr id="30" name="Shape 25"/>
          <p:cNvSpPr/>
          <p:nvPr/>
        </p:nvSpPr>
        <p:spPr>
          <a:xfrm>
            <a:off x="3063240" y="2194560"/>
            <a:ext cx="1828800" cy="1600200"/>
          </a:xfrm>
          <a:prstGeom prst="roundRect">
            <a:avLst>
              <a:gd name="adj" fmla="val 4571"/>
            </a:avLst>
          </a:prstGeom>
          <a:solidFill>
            <a:srgbClr val="0E9F9A"/>
          </a:solidFill>
          <a:ln/>
        </p:spPr>
      </p:sp>
      <p:sp>
        <p:nvSpPr>
          <p:cNvPr id="31" name="Shape 26"/>
          <p:cNvSpPr/>
          <p:nvPr/>
        </p:nvSpPr>
        <p:spPr>
          <a:xfrm>
            <a:off x="3648456" y="2304288"/>
            <a:ext cx="658368" cy="658368"/>
          </a:xfrm>
          <a:prstGeom prst="ellipse">
            <a:avLst/>
          </a:prstGeom>
          <a:solidFill>
            <a:srgbClr val="FFFFFF"/>
          </a:solidFill>
          <a:ln/>
        </p:spPr>
      </p:sp>
      <p:pic>
        <p:nvPicPr>
          <p:cNvPr id="32" name="Image 3" descr="preencoded.png">    </p:cNvPr>
          <p:cNvPicPr>
            <a:picLocks noChangeAspect="1"/>
          </p:cNvPicPr>
          <p:nvPr/>
        </p:nvPicPr>
        <p:blipFill>
          <a:blip r:embed="rId4"/>
          <a:stretch>
            <a:fillRect/>
          </a:stretch>
        </p:blipFill>
        <p:spPr>
          <a:xfrm>
            <a:off x="3749040" y="2404872"/>
            <a:ext cx="457200" cy="457200"/>
          </a:xfrm>
          <a:prstGeom prst="rect">
            <a:avLst/>
          </a:prstGeom>
        </p:spPr>
      </p:pic>
      <p:sp>
        <p:nvSpPr>
          <p:cNvPr id="33" name="Text 27"/>
          <p:cNvSpPr txBox="1"/>
          <p:nvPr/>
        </p:nvSpPr>
        <p:spPr>
          <a:xfrm>
            <a:off x="3108960" y="3008376"/>
            <a:ext cx="1737360" cy="731520"/>
          </a:xfrm>
          <a:prstGeom prst="rect">
            <a:avLst/>
          </a:prstGeom>
          <a:noFill/>
          <a:ln/>
        </p:spPr>
        <p:txBody>
          <a:bodyPr wrap="square" lIns="0" tIns="0" rIns="0" bIns="0" rtlCol="0" anchor="ctr"/>
          <a:lstStyle/>
          <a:p>
            <a:pPr algn="ctr" indent="0" marL="0">
              <a:buNone/>
            </a:pPr>
            <a:r>
              <a:rPr lang="en-US" sz="1050" b="1" dirty="0">
                <a:solidFill>
                  <a:srgbClr val="FFFFFF"/>
                </a:solidFill>
                <a:latin typeface="Meiryo UI" pitchFamily="34" charset="0"/>
                <a:ea typeface="Meiryo UI" pitchFamily="34" charset="-122"/>
                <a:cs typeface="Meiryo UI" pitchFamily="34" charset="-120"/>
              </a:rPr>
              <a:t>M365 Copilot</a:t>
            </a:r>
            <a:endParaRPr lang="en-US" sz="1050" dirty="0"/>
          </a:p>
          <a:p>
            <a:pPr algn="ctr" indent="0" marL="0">
              <a:buNone/>
            </a:pPr>
            <a:r>
              <a:rPr lang="en-US" sz="900" dirty="0">
                <a:solidFill>
                  <a:srgbClr val="E6F2F2"/>
                </a:solidFill>
                <a:latin typeface="Meiryo UI" pitchFamily="34" charset="0"/>
                <a:ea typeface="Meiryo UI" pitchFamily="34" charset="-122"/>
                <a:cs typeface="Meiryo UI" pitchFamily="34" charset="-120"/>
              </a:rPr>
              <a:t>プロンプト集＋</a:t>
            </a:r>
            <a:endParaRPr lang="en-US" sz="1050" dirty="0"/>
          </a:p>
          <a:p>
            <a:pPr algn="ctr" indent="0" marL="0">
              <a:buNone/>
            </a:pPr>
            <a:r>
              <a:rPr lang="en-US" sz="900" dirty="0">
                <a:solidFill>
                  <a:srgbClr val="E6F2F2"/>
                </a:solidFill>
                <a:latin typeface="Meiryo UI" pitchFamily="34" charset="0"/>
                <a:ea typeface="Meiryo UI" pitchFamily="34" charset="-122"/>
                <a:cs typeface="Meiryo UI" pitchFamily="34" charset="-120"/>
              </a:rPr>
              <a:t>ガイドラインMD</a:t>
            </a:r>
            <a:endParaRPr lang="en-US" sz="1050" dirty="0"/>
          </a:p>
        </p:txBody>
      </p:sp>
      <p:sp>
        <p:nvSpPr>
          <p:cNvPr id="34" name="Shape 28"/>
          <p:cNvSpPr/>
          <p:nvPr/>
        </p:nvSpPr>
        <p:spPr>
          <a:xfrm>
            <a:off x="4937760" y="2971800"/>
            <a:ext cx="320040" cy="0"/>
          </a:xfrm>
          <a:prstGeom prst="line">
            <a:avLst/>
          </a:prstGeom>
          <a:noFill/>
          <a:ln w="22225">
            <a:solidFill>
              <a:srgbClr val="9AA5B4"/>
            </a:solidFill>
            <a:prstDash val="solid"/>
            <a:tailEnd type="triangle"/>
          </a:ln>
        </p:spPr>
      </p:sp>
      <p:sp>
        <p:nvSpPr>
          <p:cNvPr id="35" name="Shape 29"/>
          <p:cNvSpPr/>
          <p:nvPr/>
        </p:nvSpPr>
        <p:spPr>
          <a:xfrm>
            <a:off x="5303520" y="2148840"/>
            <a:ext cx="2011680" cy="685800"/>
          </a:xfrm>
          <a:prstGeom prst="roundRect">
            <a:avLst>
              <a:gd name="adj" fmla="val 10667"/>
            </a:avLst>
          </a:prstGeom>
          <a:solidFill>
            <a:srgbClr val="FDEBD3"/>
          </a:solidFill>
          <a:ln/>
        </p:spPr>
      </p:sp>
      <p:pic>
        <p:nvPicPr>
          <p:cNvPr id="36" name="Image 4" descr="preencoded.png">    </p:cNvPr>
          <p:cNvPicPr>
            <a:picLocks noChangeAspect="1"/>
          </p:cNvPicPr>
          <p:nvPr/>
        </p:nvPicPr>
        <p:blipFill>
          <a:blip r:embed="rId5"/>
          <a:stretch>
            <a:fillRect/>
          </a:stretch>
        </p:blipFill>
        <p:spPr>
          <a:xfrm>
            <a:off x="5413248" y="2308860"/>
            <a:ext cx="365760" cy="365760"/>
          </a:xfrm>
          <a:prstGeom prst="rect">
            <a:avLst/>
          </a:prstGeom>
        </p:spPr>
      </p:pic>
      <p:sp>
        <p:nvSpPr>
          <p:cNvPr id="37" name="Text 30"/>
          <p:cNvSpPr txBox="1"/>
          <p:nvPr/>
        </p:nvSpPr>
        <p:spPr>
          <a:xfrm>
            <a:off x="5870448" y="2148840"/>
            <a:ext cx="1399032" cy="685800"/>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マーケター</a:t>
            </a:r>
            <a:endParaRPr lang="en-US" sz="1050" dirty="0"/>
          </a:p>
          <a:p>
            <a:pPr algn="l" indent="0" marL="0">
              <a:buNone/>
            </a:pPr>
            <a:r>
              <a:rPr lang="en-US" sz="900" dirty="0">
                <a:solidFill>
                  <a:srgbClr val="6B7280"/>
                </a:solidFill>
                <a:latin typeface="Meiryo UI" pitchFamily="34" charset="0"/>
                <a:ea typeface="Meiryo UI" pitchFamily="34" charset="-122"/>
                <a:cs typeface="Meiryo UI" pitchFamily="34" charset="-120"/>
              </a:rPr>
              <a:t>確認・修正</a:t>
            </a:r>
            <a:endParaRPr lang="en-US" sz="1050" dirty="0"/>
          </a:p>
        </p:txBody>
      </p:sp>
      <p:sp>
        <p:nvSpPr>
          <p:cNvPr id="38" name="Shape 31"/>
          <p:cNvSpPr/>
          <p:nvPr/>
        </p:nvSpPr>
        <p:spPr>
          <a:xfrm>
            <a:off x="6309360" y="2880360"/>
            <a:ext cx="0" cy="228600"/>
          </a:xfrm>
          <a:prstGeom prst="line">
            <a:avLst/>
          </a:prstGeom>
          <a:noFill/>
          <a:ln w="22225">
            <a:solidFill>
              <a:srgbClr val="9AA5B4"/>
            </a:solidFill>
            <a:prstDash val="solid"/>
            <a:tailEnd type="triangle"/>
          </a:ln>
        </p:spPr>
      </p:sp>
      <p:sp>
        <p:nvSpPr>
          <p:cNvPr id="39" name="Shape 32"/>
          <p:cNvSpPr/>
          <p:nvPr/>
        </p:nvSpPr>
        <p:spPr>
          <a:xfrm>
            <a:off x="5303520" y="3154680"/>
            <a:ext cx="2011680" cy="685800"/>
          </a:xfrm>
          <a:prstGeom prst="roundRect">
            <a:avLst>
              <a:gd name="adj" fmla="val 10667"/>
            </a:avLst>
          </a:prstGeom>
          <a:solidFill>
            <a:srgbClr val="FDEBD3"/>
          </a:solidFill>
          <a:ln/>
        </p:spPr>
      </p:sp>
      <p:pic>
        <p:nvPicPr>
          <p:cNvPr id="40" name="Image 5" descr="preencoded.png">    </p:cNvPr>
          <p:cNvPicPr>
            <a:picLocks noChangeAspect="1"/>
          </p:cNvPicPr>
          <p:nvPr/>
        </p:nvPicPr>
        <p:blipFill>
          <a:blip r:embed="rId6"/>
          <a:stretch>
            <a:fillRect/>
          </a:stretch>
        </p:blipFill>
        <p:spPr>
          <a:xfrm>
            <a:off x="5413248" y="3314700"/>
            <a:ext cx="365760" cy="365760"/>
          </a:xfrm>
          <a:prstGeom prst="rect">
            <a:avLst/>
          </a:prstGeom>
        </p:spPr>
      </p:pic>
      <p:sp>
        <p:nvSpPr>
          <p:cNvPr id="41" name="Text 33"/>
          <p:cNvSpPr txBox="1"/>
          <p:nvPr/>
        </p:nvSpPr>
        <p:spPr>
          <a:xfrm>
            <a:off x="5870448" y="3154680"/>
            <a:ext cx="1399032" cy="685800"/>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Airtable</a:t>
            </a:r>
            <a:endParaRPr lang="en-US" sz="1050" dirty="0"/>
          </a:p>
          <a:p>
            <a:pPr algn="l" indent="0" marL="0">
              <a:buNone/>
            </a:pPr>
            <a:r>
              <a:rPr lang="en-US" sz="900" dirty="0">
                <a:solidFill>
                  <a:srgbClr val="6B7280"/>
                </a:solidFill>
                <a:latin typeface="Meiryo UI" pitchFamily="34" charset="0"/>
                <a:ea typeface="Meiryo UI" pitchFamily="34" charset="-122"/>
                <a:cs typeface="Meiryo UI" pitchFamily="34" charset="-120"/>
              </a:rPr>
              <a:t>カードに手入力</a:t>
            </a:r>
            <a:endParaRPr lang="en-US" sz="1050" dirty="0"/>
          </a:p>
        </p:txBody>
      </p:sp>
      <p:sp>
        <p:nvSpPr>
          <p:cNvPr id="42" name="Shape 34"/>
          <p:cNvSpPr/>
          <p:nvPr/>
        </p:nvSpPr>
        <p:spPr>
          <a:xfrm>
            <a:off x="7680960" y="1874520"/>
            <a:ext cx="3931920" cy="2514600"/>
          </a:xfrm>
          <a:prstGeom prst="roundRect">
            <a:avLst>
              <a:gd name="adj" fmla="val 2182"/>
            </a:avLst>
          </a:prstGeom>
          <a:solidFill>
            <a:srgbClr val="E3EAF5"/>
          </a:solidFill>
          <a:ln/>
        </p:spPr>
      </p:sp>
      <p:sp>
        <p:nvSpPr>
          <p:cNvPr id="43" name="Shape 35"/>
          <p:cNvSpPr/>
          <p:nvPr/>
        </p:nvSpPr>
        <p:spPr>
          <a:xfrm>
            <a:off x="7818120" y="1993392"/>
            <a:ext cx="384048" cy="384048"/>
          </a:xfrm>
          <a:prstGeom prst="ellipse">
            <a:avLst/>
          </a:prstGeom>
          <a:solidFill>
            <a:srgbClr val="FFFFFF"/>
          </a:solidFill>
          <a:ln/>
        </p:spPr>
      </p:sp>
      <p:pic>
        <p:nvPicPr>
          <p:cNvPr id="44" name="Image 6" descr="preencoded.png">    </p:cNvPr>
          <p:cNvPicPr>
            <a:picLocks noChangeAspect="1"/>
          </p:cNvPicPr>
          <p:nvPr/>
        </p:nvPicPr>
        <p:blipFill>
          <a:blip r:embed="rId7"/>
          <a:stretch>
            <a:fillRect/>
          </a:stretch>
        </p:blipFill>
        <p:spPr>
          <a:xfrm>
            <a:off x="7894930" y="2070202"/>
            <a:ext cx="230429" cy="230429"/>
          </a:xfrm>
          <a:prstGeom prst="rect">
            <a:avLst/>
          </a:prstGeom>
        </p:spPr>
      </p:pic>
      <p:sp>
        <p:nvSpPr>
          <p:cNvPr id="45" name="Text 36"/>
          <p:cNvSpPr txBox="1"/>
          <p:nvPr/>
        </p:nvSpPr>
        <p:spPr>
          <a:xfrm>
            <a:off x="8275320" y="1993392"/>
            <a:ext cx="3246120" cy="384048"/>
          </a:xfrm>
          <a:prstGeom prst="rect">
            <a:avLst/>
          </a:prstGeom>
          <a:noFill/>
          <a:ln/>
        </p:spPr>
        <p:txBody>
          <a:bodyPr wrap="square" lIns="0" tIns="0" rIns="0" bIns="0"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必要な機能・準備</a:t>
            </a:r>
            <a:endParaRPr lang="en-US" sz="1300" dirty="0"/>
          </a:p>
        </p:txBody>
      </p:sp>
      <p:sp>
        <p:nvSpPr>
          <p:cNvPr id="46" name="Text 37"/>
          <p:cNvSpPr txBox="1"/>
          <p:nvPr/>
        </p:nvSpPr>
        <p:spPr>
          <a:xfrm>
            <a:off x="7863840" y="2478024"/>
            <a:ext cx="3611880" cy="1819656"/>
          </a:xfrm>
          <a:prstGeom prst="rect">
            <a:avLst/>
          </a:prstGeom>
          <a:noFill/>
          <a:ln/>
        </p:spPr>
        <p:txBody>
          <a:bodyPr wrap="square" lIns="254" tIns="254" rIns="254" bIns="254" rtlCol="0" anchor="t"/>
          <a:lstStyle/>
          <a:p>
            <a:pPr marL="152400" indent="-152400">
              <a:spcAft>
                <a:spcPts val="300"/>
              </a:spcAft>
              <a:buSzPct val="100000"/>
              <a:buChar char="•"/>
            </a:pPr>
            <a:r>
              <a:rPr lang="en-US" sz="1100" dirty="0">
                <a:solidFill>
                  <a:srgbClr val="2B2B2B"/>
                </a:solidFill>
                <a:latin typeface="Meiryo UI" pitchFamily="34" charset="0"/>
                <a:ea typeface="Meiryo UI" pitchFamily="34" charset="-122"/>
                <a:cs typeface="Meiryo UI" pitchFamily="34" charset="-120"/>
              </a:rPr>
              <a:t>M365 Copilot（導入済み）／Copilot Notebooks</a:t>
            </a:r>
            <a:endParaRPr lang="en-US" sz="1100" dirty="0"/>
          </a:p>
          <a:p>
            <a:pPr marL="152400" indent="-152400">
              <a:spcAft>
                <a:spcPts val="300"/>
              </a:spcAft>
              <a:buSzPct val="100000"/>
              <a:buChar char="•"/>
            </a:pPr>
            <a:r>
              <a:rPr lang="en-US" sz="1100" dirty="0">
                <a:solidFill>
                  <a:srgbClr val="2B2B2B"/>
                </a:solidFill>
                <a:latin typeface="Meiryo UI" pitchFamily="34" charset="0"/>
                <a:ea typeface="Meiryo UI" pitchFamily="34" charset="-122"/>
                <a:cs typeface="Meiryo UI" pitchFamily="34" charset="-120"/>
              </a:rPr>
              <a:t>SharePoint上のプロンプト集</a:t>
            </a:r>
            <a:endParaRPr lang="en-US" sz="1100" dirty="0"/>
          </a:p>
          <a:p>
            <a:pPr marL="152400" indent="-152400">
              <a:spcAft>
                <a:spcPts val="300"/>
              </a:spcAft>
              <a:buSzPct val="100000"/>
              <a:buChar char="•"/>
            </a:pPr>
            <a:r>
              <a:rPr lang="en-US" sz="1100" dirty="0">
                <a:solidFill>
                  <a:srgbClr val="2B2B2B"/>
                </a:solidFill>
                <a:latin typeface="Meiryo UI" pitchFamily="34" charset="0"/>
                <a:ea typeface="Meiryo UI" pitchFamily="34" charset="-122"/>
                <a:cs typeface="Meiryo UI" pitchFamily="34" charset="-120"/>
              </a:rPr>
              <a:t>ガイドラインのMD版</a:t>
            </a:r>
            <a:endParaRPr lang="en-US" sz="1100" dirty="0"/>
          </a:p>
          <a:p>
            <a:pPr marL="152400" indent="-152400">
              <a:spcAft>
                <a:spcPts val="300"/>
              </a:spcAft>
              <a:buSzPct val="100000"/>
              <a:buChar char="•"/>
            </a:pPr>
            <a:r>
              <a:rPr lang="en-US" sz="1100" dirty="0">
                <a:solidFill>
                  <a:srgbClr val="2B2B2B"/>
                </a:solidFill>
                <a:latin typeface="Meiryo UI" pitchFamily="34" charset="0"/>
                <a:ea typeface="Meiryo UI" pitchFamily="34" charset="-122"/>
                <a:cs typeface="Meiryo UI" pitchFamily="34" charset="-120"/>
              </a:rPr>
              <a:t>AI案の評価基準（ルーブリック）</a:t>
            </a:r>
            <a:endParaRPr lang="en-US" sz="1100" dirty="0"/>
          </a:p>
        </p:txBody>
      </p:sp>
      <p:sp>
        <p:nvSpPr>
          <p:cNvPr id="47" name="Shape 38"/>
          <p:cNvSpPr/>
          <p:nvPr/>
        </p:nvSpPr>
        <p:spPr>
          <a:xfrm>
            <a:off x="548640" y="4572000"/>
            <a:ext cx="3566160" cy="1783080"/>
          </a:xfrm>
          <a:prstGeom prst="roundRect">
            <a:avLst>
              <a:gd name="adj" fmla="val 3077"/>
            </a:avLst>
          </a:prstGeom>
          <a:solidFill>
            <a:srgbClr val="D9F2F1"/>
          </a:solidFill>
          <a:ln/>
        </p:spPr>
      </p:sp>
      <p:sp>
        <p:nvSpPr>
          <p:cNvPr id="48" name="Shape 39"/>
          <p:cNvSpPr/>
          <p:nvPr/>
        </p:nvSpPr>
        <p:spPr>
          <a:xfrm>
            <a:off x="685800" y="4690872"/>
            <a:ext cx="384048" cy="384048"/>
          </a:xfrm>
          <a:prstGeom prst="ellipse">
            <a:avLst/>
          </a:prstGeom>
          <a:solidFill>
            <a:srgbClr val="FFFFFF"/>
          </a:solidFill>
          <a:ln/>
        </p:spPr>
      </p:sp>
      <p:pic>
        <p:nvPicPr>
          <p:cNvPr id="49" name="Image 7" descr="preencoded.png">    </p:cNvPr>
          <p:cNvPicPr>
            <a:picLocks noChangeAspect="1"/>
          </p:cNvPicPr>
          <p:nvPr/>
        </p:nvPicPr>
        <p:blipFill>
          <a:blip r:embed="rId8"/>
          <a:stretch>
            <a:fillRect/>
          </a:stretch>
        </p:blipFill>
        <p:spPr>
          <a:xfrm>
            <a:off x="762610" y="4767682"/>
            <a:ext cx="230429" cy="230429"/>
          </a:xfrm>
          <a:prstGeom prst="rect">
            <a:avLst/>
          </a:prstGeom>
        </p:spPr>
      </p:pic>
      <p:sp>
        <p:nvSpPr>
          <p:cNvPr id="50" name="Text 40"/>
          <p:cNvSpPr txBox="1"/>
          <p:nvPr/>
        </p:nvSpPr>
        <p:spPr>
          <a:xfrm>
            <a:off x="1143000" y="4690872"/>
            <a:ext cx="2880360" cy="384048"/>
          </a:xfrm>
          <a:prstGeom prst="rect">
            <a:avLst/>
          </a:prstGeom>
          <a:noFill/>
          <a:ln/>
        </p:spPr>
        <p:txBody>
          <a:bodyPr wrap="square" lIns="0" tIns="0" rIns="0" bIns="0"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特徴</a:t>
            </a:r>
            <a:endParaRPr lang="en-US" sz="1300" dirty="0"/>
          </a:p>
        </p:txBody>
      </p:sp>
      <p:sp>
        <p:nvSpPr>
          <p:cNvPr id="51" name="Text 41"/>
          <p:cNvSpPr txBox="1"/>
          <p:nvPr/>
        </p:nvSpPr>
        <p:spPr>
          <a:xfrm>
            <a:off x="731520" y="5175504"/>
            <a:ext cx="3246120" cy="1088136"/>
          </a:xfrm>
          <a:prstGeom prst="rect">
            <a:avLst/>
          </a:prstGeom>
          <a:noFill/>
          <a:ln/>
        </p:spPr>
        <p:txBody>
          <a:bodyPr wrap="square" lIns="254" tIns="254" rIns="254" bIns="254" rtlCol="0" anchor="t"/>
          <a:lstStyle/>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追加の開発・ライセンスがほぼ不要</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すぐに試すことができる</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AIの品質とルールの妥当性を確認できる</a:t>
            </a:r>
            <a:endParaRPr lang="en-US" sz="1150" dirty="0"/>
          </a:p>
        </p:txBody>
      </p:sp>
      <p:sp>
        <p:nvSpPr>
          <p:cNvPr id="52" name="Shape 42"/>
          <p:cNvSpPr/>
          <p:nvPr/>
        </p:nvSpPr>
        <p:spPr>
          <a:xfrm>
            <a:off x="4297680" y="4572000"/>
            <a:ext cx="3566160" cy="1783080"/>
          </a:xfrm>
          <a:prstGeom prst="roundRect">
            <a:avLst>
              <a:gd name="adj" fmla="val 3077"/>
            </a:avLst>
          </a:prstGeom>
          <a:solidFill>
            <a:srgbClr val="FBE3E3"/>
          </a:solidFill>
          <a:ln/>
        </p:spPr>
      </p:sp>
      <p:sp>
        <p:nvSpPr>
          <p:cNvPr id="53" name="Shape 43"/>
          <p:cNvSpPr/>
          <p:nvPr/>
        </p:nvSpPr>
        <p:spPr>
          <a:xfrm>
            <a:off x="4434840" y="4690872"/>
            <a:ext cx="384048" cy="384048"/>
          </a:xfrm>
          <a:prstGeom prst="ellipse">
            <a:avLst/>
          </a:prstGeom>
          <a:solidFill>
            <a:srgbClr val="FFFFFF"/>
          </a:solidFill>
          <a:ln/>
        </p:spPr>
      </p:sp>
      <p:pic>
        <p:nvPicPr>
          <p:cNvPr id="54" name="Image 8" descr="preencoded.png">    </p:cNvPr>
          <p:cNvPicPr>
            <a:picLocks noChangeAspect="1"/>
          </p:cNvPicPr>
          <p:nvPr/>
        </p:nvPicPr>
        <p:blipFill>
          <a:blip r:embed="rId9"/>
          <a:stretch>
            <a:fillRect/>
          </a:stretch>
        </p:blipFill>
        <p:spPr>
          <a:xfrm>
            <a:off x="4511650" y="4767682"/>
            <a:ext cx="230429" cy="230429"/>
          </a:xfrm>
          <a:prstGeom prst="rect">
            <a:avLst/>
          </a:prstGeom>
        </p:spPr>
      </p:pic>
      <p:sp>
        <p:nvSpPr>
          <p:cNvPr id="55" name="Text 44"/>
          <p:cNvSpPr txBox="1"/>
          <p:nvPr/>
        </p:nvSpPr>
        <p:spPr>
          <a:xfrm>
            <a:off x="4892040" y="4690872"/>
            <a:ext cx="2880360" cy="384048"/>
          </a:xfrm>
          <a:prstGeom prst="rect">
            <a:avLst/>
          </a:prstGeom>
          <a:noFill/>
          <a:ln/>
        </p:spPr>
        <p:txBody>
          <a:bodyPr wrap="square" lIns="0" tIns="0" rIns="0" bIns="0"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留意点・制約</a:t>
            </a:r>
            <a:endParaRPr lang="en-US" sz="1300" dirty="0"/>
          </a:p>
        </p:txBody>
      </p:sp>
      <p:sp>
        <p:nvSpPr>
          <p:cNvPr id="56" name="Text 45"/>
          <p:cNvSpPr txBox="1"/>
          <p:nvPr/>
        </p:nvSpPr>
        <p:spPr>
          <a:xfrm>
            <a:off x="4480560" y="5175504"/>
            <a:ext cx="3246120" cy="1088136"/>
          </a:xfrm>
          <a:prstGeom prst="rect">
            <a:avLst/>
          </a:prstGeom>
          <a:noFill/>
          <a:ln/>
        </p:spPr>
        <p:txBody>
          <a:bodyPr wrap="square" lIns="254" tIns="254" rIns="254" bIns="254" rtlCol="0" anchor="t"/>
          <a:lstStyle/>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情報の収集・転記は手作業のまま</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使い方次第で品質差が残る</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業務効率化の効果は限定的</a:t>
            </a:r>
            <a:endParaRPr lang="en-US" sz="1150" dirty="0"/>
          </a:p>
        </p:txBody>
      </p:sp>
      <p:sp>
        <p:nvSpPr>
          <p:cNvPr id="57" name="Shape 46"/>
          <p:cNvSpPr/>
          <p:nvPr/>
        </p:nvSpPr>
        <p:spPr>
          <a:xfrm>
            <a:off x="8046720" y="4572000"/>
            <a:ext cx="3566160" cy="1783080"/>
          </a:xfrm>
          <a:prstGeom prst="roundRect">
            <a:avLst>
              <a:gd name="adj" fmla="val 3077"/>
            </a:avLst>
          </a:prstGeom>
          <a:solidFill>
            <a:srgbClr val="FDEBD3"/>
          </a:solidFill>
          <a:ln/>
        </p:spPr>
      </p:sp>
      <p:sp>
        <p:nvSpPr>
          <p:cNvPr id="58" name="Shape 47"/>
          <p:cNvSpPr/>
          <p:nvPr/>
        </p:nvSpPr>
        <p:spPr>
          <a:xfrm>
            <a:off x="8183880" y="4690872"/>
            <a:ext cx="384048" cy="384048"/>
          </a:xfrm>
          <a:prstGeom prst="ellipse">
            <a:avLst/>
          </a:prstGeom>
          <a:solidFill>
            <a:srgbClr val="FFFFFF"/>
          </a:solidFill>
          <a:ln/>
        </p:spPr>
      </p:sp>
      <p:pic>
        <p:nvPicPr>
          <p:cNvPr id="59" name="Image 9" descr="preencoded.png">    </p:cNvPr>
          <p:cNvPicPr>
            <a:picLocks noChangeAspect="1"/>
          </p:cNvPicPr>
          <p:nvPr/>
        </p:nvPicPr>
        <p:blipFill>
          <a:blip r:embed="rId10"/>
          <a:stretch>
            <a:fillRect/>
          </a:stretch>
        </p:blipFill>
        <p:spPr>
          <a:xfrm>
            <a:off x="8260690" y="4767682"/>
            <a:ext cx="230429" cy="230429"/>
          </a:xfrm>
          <a:prstGeom prst="rect">
            <a:avLst/>
          </a:prstGeom>
        </p:spPr>
      </p:pic>
      <p:sp>
        <p:nvSpPr>
          <p:cNvPr id="60" name="Text 48"/>
          <p:cNvSpPr txBox="1"/>
          <p:nvPr/>
        </p:nvSpPr>
        <p:spPr>
          <a:xfrm>
            <a:off x="8641080" y="4690872"/>
            <a:ext cx="2880360" cy="384048"/>
          </a:xfrm>
          <a:prstGeom prst="rect">
            <a:avLst/>
          </a:prstGeom>
          <a:noFill/>
          <a:ln/>
        </p:spPr>
        <p:txBody>
          <a:bodyPr wrap="square" lIns="0" tIns="0" rIns="0" bIns="0"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検討ポイント</a:t>
            </a:r>
            <a:endParaRPr lang="en-US" sz="1300" dirty="0"/>
          </a:p>
        </p:txBody>
      </p:sp>
      <p:sp>
        <p:nvSpPr>
          <p:cNvPr id="61" name="Text 49"/>
          <p:cNvSpPr txBox="1"/>
          <p:nvPr/>
        </p:nvSpPr>
        <p:spPr>
          <a:xfrm>
            <a:off x="8229600" y="5175504"/>
            <a:ext cx="3246120" cy="1088136"/>
          </a:xfrm>
          <a:prstGeom prst="rect">
            <a:avLst/>
          </a:prstGeom>
          <a:noFill/>
          <a:ln/>
        </p:spPr>
        <p:txBody>
          <a:bodyPr wrap="square" lIns="254" tIns="254" rIns="254" bIns="254" rtlCol="0" anchor="t"/>
          <a:lstStyle/>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プロンプト・評価基準の標準化</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添付資料の鮮度をどう保つか</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機密情報の扱いなどの利用ルール</a:t>
            </a:r>
            <a:endParaRPr lang="en-US" sz="1150" dirty="0"/>
          </a:p>
        </p:txBody>
      </p:sp>
      <p:sp>
        <p:nvSpPr>
          <p:cNvPr id="62" name="Text 50"/>
          <p:cNvSpPr txBox="1"/>
          <p:nvPr/>
        </p:nvSpPr>
        <p:spPr>
          <a:xfrm>
            <a:off x="548640" y="6400800"/>
            <a:ext cx="10515600" cy="228600"/>
          </a:xfrm>
          <a:prstGeom prst="rect">
            <a:avLst/>
          </a:prstGeom>
          <a:noFill/>
          <a:ln/>
        </p:spPr>
        <p:txBody>
          <a:bodyPr wrap="square" lIns="0" tIns="0" rIns="0" bIns="0" rtlCol="0" anchor="t"/>
          <a:lstStyle/>
          <a:p>
            <a:pPr indent="0" marL="0">
              <a:buNone/>
            </a:pPr>
            <a:r>
              <a:rPr lang="en-US" sz="800" dirty="0">
                <a:solidFill>
                  <a:srgbClr val="6B7280"/>
                </a:solidFill>
                <a:latin typeface="Meiryo UI" pitchFamily="34" charset="0"/>
                <a:ea typeface="Meiryo UI" pitchFamily="34" charset="-122"/>
                <a:cs typeface="Meiryo UI" pitchFamily="34" charset="-120"/>
              </a:rPr>
              <a:t>難易度（★）：開発量・必要なスキル・関係する部署やシステムの数から見た相対的な目安。期間：社内で内製し、PoC後に単独で構築した場合の概算</a:t>
            </a:r>
            <a:endParaRPr lang="en-US" sz="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548640"/>
          </a:xfrm>
          <a:prstGeom prst="rect">
            <a:avLst/>
          </a:prstGeom>
          <a:noFill/>
          <a:ln/>
        </p:spPr>
        <p:txBody>
          <a:bodyPr wrap="square" lIns="0" tIns="0" rIns="0" bIns="0" rtlCol="0" anchor="ctr"/>
          <a:lstStyle/>
          <a:p>
            <a:pPr indent="0" marL="0">
              <a:buNone/>
            </a:pPr>
            <a:r>
              <a:rPr lang="en-US" sz="2600" b="1" dirty="0">
                <a:solidFill>
                  <a:srgbClr val="1B2A49"/>
                </a:solidFill>
                <a:latin typeface="Meiryo UI" pitchFamily="34" charset="0"/>
                <a:ea typeface="Meiryo UI" pitchFamily="34" charset="-122"/>
                <a:cs typeface="Meiryo UI" pitchFamily="34" charset="-120"/>
              </a:rPr>
              <a:t>A2｜Copilot Agent Builder（簡易エージェント）</a:t>
            </a:r>
            <a:endParaRPr lang="en-US" sz="2600" dirty="0"/>
          </a:p>
        </p:txBody>
      </p:sp>
      <p:sp>
        <p:nvSpPr>
          <p:cNvPr id="3" name="Text 1"/>
          <p:cNvSpPr txBox="1"/>
          <p:nvPr/>
        </p:nvSpPr>
        <p:spPr>
          <a:xfrm>
            <a:off x="548640" y="896112"/>
            <a:ext cx="11064240" cy="365760"/>
          </a:xfrm>
          <a:prstGeom prst="rect">
            <a:avLst/>
          </a:prstGeom>
          <a:noFill/>
          <a:ln/>
        </p:spPr>
        <p:txBody>
          <a:bodyPr wrap="square" lIns="0" tIns="0" rIns="0" bIns="0" rtlCol="0" anchor="ctr"/>
          <a:lstStyle/>
          <a:p>
            <a:pPr indent="0" marL="0">
              <a:buNone/>
            </a:pPr>
            <a:r>
              <a:rPr lang="en-US" sz="1400" dirty="0">
                <a:solidFill>
                  <a:srgbClr val="6B7280"/>
                </a:solidFill>
                <a:latin typeface="Meiryo UI" pitchFamily="34" charset="0"/>
                <a:ea typeface="Meiryo UI" pitchFamily="34" charset="-122"/>
                <a:cs typeface="Meiryo UI" pitchFamily="34" charset="-120"/>
              </a:rPr>
              <a:t>M365 Copilotの標準機能で、指示とナレッジを固定した社内共通のエージェントを作る（デモ作成済み）</a:t>
            </a:r>
            <a:endParaRPr lang="en-US" sz="1400" dirty="0"/>
          </a:p>
        </p:txBody>
      </p:sp>
      <p:sp>
        <p:nvSpPr>
          <p:cNvPr id="4" name="Text 2"/>
          <p:cNvSpPr txBox="1"/>
          <p:nvPr/>
        </p:nvSpPr>
        <p:spPr>
          <a:xfrm>
            <a:off x="7498080" y="91440"/>
            <a:ext cx="4114800" cy="22860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4. 各パターンの詳細</a:t>
            </a:r>
            <a:endParaRPr lang="en-US" sz="900" dirty="0"/>
          </a:p>
        </p:txBody>
      </p:sp>
      <p:sp>
        <p:nvSpPr>
          <p:cNvPr id="5" name="Text 3"/>
          <p:cNvSpPr txBox="1"/>
          <p:nvPr/>
        </p:nvSpPr>
        <p:spPr>
          <a:xfrm>
            <a:off x="11247120" y="6446520"/>
            <a:ext cx="457200" cy="27432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19</a:t>
            </a:r>
            <a:endParaRPr lang="en-US" sz="900" dirty="0"/>
          </a:p>
        </p:txBody>
      </p:sp>
      <p:sp>
        <p:nvSpPr>
          <p:cNvPr id="6" name="Shape 4"/>
          <p:cNvSpPr/>
          <p:nvPr/>
        </p:nvSpPr>
        <p:spPr>
          <a:xfrm>
            <a:off x="548640" y="1371600"/>
            <a:ext cx="2103120" cy="347472"/>
          </a:xfrm>
          <a:prstGeom prst="roundRect">
            <a:avLst>
              <a:gd name="adj" fmla="val 50000"/>
            </a:avLst>
          </a:prstGeom>
          <a:solidFill>
            <a:srgbClr val="E5F0FA"/>
          </a:solidFill>
          <a:ln/>
        </p:spPr>
      </p:sp>
      <p:sp>
        <p:nvSpPr>
          <p:cNvPr id="7" name="Text 5"/>
          <p:cNvSpPr txBox="1"/>
          <p:nvPr/>
        </p:nvSpPr>
        <p:spPr>
          <a:xfrm>
            <a:off x="548640" y="1371600"/>
            <a:ext cx="2103120" cy="347472"/>
          </a:xfrm>
          <a:prstGeom prst="rect">
            <a:avLst/>
          </a:prstGeom>
          <a:noFill/>
          <a:ln/>
        </p:spPr>
        <p:txBody>
          <a:bodyPr wrap="square" lIns="0" tIns="0" rIns="0" bIns="0" rtlCol="0" anchor="ctr"/>
          <a:lstStyle/>
          <a:p>
            <a:pPr algn="ctr" indent="0" marL="0">
              <a:buNone/>
            </a:pPr>
            <a:r>
              <a:rPr lang="en-US" sz="950" dirty="0">
                <a:solidFill>
                  <a:srgbClr val="0F6CBD"/>
                </a:solidFill>
                <a:latin typeface="Meiryo UI" pitchFamily="34" charset="0"/>
                <a:ea typeface="Meiryo UI" pitchFamily="34" charset="-122"/>
                <a:cs typeface="Meiryo UI" pitchFamily="34" charset="-120"/>
              </a:rPr>
              <a:t>集約先  </a:t>
            </a:r>
            <a:pPr algn="ctr" indent="0" marL="0">
              <a:buNone/>
            </a:pPr>
            <a:r>
              <a:rPr lang="en-US" sz="1100" b="1" dirty="0">
                <a:solidFill>
                  <a:srgbClr val="0F6CBD"/>
                </a:solidFill>
                <a:latin typeface="Meiryo UI" pitchFamily="34" charset="0"/>
                <a:ea typeface="Meiryo UI" pitchFamily="34" charset="-122"/>
                <a:cs typeface="Meiryo UI" pitchFamily="34" charset="-120"/>
              </a:rPr>
              <a:t>M365に寄せる</a:t>
            </a:r>
            <a:endParaRPr lang="en-US" sz="950" dirty="0"/>
          </a:p>
        </p:txBody>
      </p:sp>
      <p:sp>
        <p:nvSpPr>
          <p:cNvPr id="8" name="Shape 6"/>
          <p:cNvSpPr/>
          <p:nvPr/>
        </p:nvSpPr>
        <p:spPr>
          <a:xfrm>
            <a:off x="2788920" y="1371600"/>
            <a:ext cx="2103120" cy="347472"/>
          </a:xfrm>
          <a:prstGeom prst="roundRect">
            <a:avLst>
              <a:gd name="adj" fmla="val 50000"/>
            </a:avLst>
          </a:prstGeom>
          <a:solidFill>
            <a:srgbClr val="F3F5F8"/>
          </a:solidFill>
          <a:ln/>
        </p:spPr>
      </p:sp>
      <p:sp>
        <p:nvSpPr>
          <p:cNvPr id="9" name="Text 7"/>
          <p:cNvSpPr txBox="1"/>
          <p:nvPr/>
        </p:nvSpPr>
        <p:spPr>
          <a:xfrm>
            <a:off x="2788920" y="1371600"/>
            <a:ext cx="2103120" cy="347472"/>
          </a:xfrm>
          <a:prstGeom prst="rect">
            <a:avLst/>
          </a:prstGeom>
          <a:noFill/>
          <a:ln/>
        </p:spPr>
        <p:txBody>
          <a:bodyPr wrap="square" lIns="0" tIns="0" rIns="0" bIns="0" rtlCol="0" anchor="ctr"/>
          <a:lstStyle/>
          <a:p>
            <a:pPr algn="ctr" indent="0" marL="0">
              <a:buNone/>
            </a:pPr>
            <a:r>
              <a:rPr lang="en-US" sz="950" dirty="0">
                <a:solidFill>
                  <a:srgbClr val="1B2A49"/>
                </a:solidFill>
                <a:latin typeface="Meiryo UI" pitchFamily="34" charset="0"/>
                <a:ea typeface="Meiryo UI" pitchFamily="34" charset="-122"/>
                <a:cs typeface="Meiryo UI" pitchFamily="34" charset="-120"/>
              </a:rPr>
              <a:t>管理基盤  </a:t>
            </a:r>
            <a:pPr algn="ctr" indent="0" marL="0">
              <a:buNone/>
            </a:pPr>
            <a:r>
              <a:rPr lang="en-US" sz="1100" b="1" dirty="0">
                <a:solidFill>
                  <a:srgbClr val="1B2A49"/>
                </a:solidFill>
                <a:latin typeface="Meiryo UI" pitchFamily="34" charset="0"/>
                <a:ea typeface="Meiryo UI" pitchFamily="34" charset="-122"/>
                <a:cs typeface="Meiryo UI" pitchFamily="34" charset="-120"/>
              </a:rPr>
              <a:t>Airtable</a:t>
            </a:r>
            <a:endParaRPr lang="en-US" sz="950" dirty="0"/>
          </a:p>
        </p:txBody>
      </p:sp>
      <p:sp>
        <p:nvSpPr>
          <p:cNvPr id="10" name="Shape 8"/>
          <p:cNvSpPr/>
          <p:nvPr/>
        </p:nvSpPr>
        <p:spPr>
          <a:xfrm>
            <a:off x="5029200" y="1371600"/>
            <a:ext cx="2103120" cy="347472"/>
          </a:xfrm>
          <a:prstGeom prst="roundRect">
            <a:avLst>
              <a:gd name="adj" fmla="val 50000"/>
            </a:avLst>
          </a:prstGeom>
          <a:solidFill>
            <a:srgbClr val="D9F2F1"/>
          </a:solidFill>
          <a:ln/>
        </p:spPr>
      </p:sp>
      <p:sp>
        <p:nvSpPr>
          <p:cNvPr id="11" name="Text 9"/>
          <p:cNvSpPr txBox="1"/>
          <p:nvPr/>
        </p:nvSpPr>
        <p:spPr>
          <a:xfrm>
            <a:off x="5029200" y="1371600"/>
            <a:ext cx="2103120" cy="347472"/>
          </a:xfrm>
          <a:prstGeom prst="rect">
            <a:avLst/>
          </a:prstGeom>
          <a:noFill/>
          <a:ln/>
        </p:spPr>
        <p:txBody>
          <a:bodyPr wrap="square" lIns="0" tIns="0" rIns="0" bIns="0" rtlCol="0" anchor="ctr"/>
          <a:lstStyle/>
          <a:p>
            <a:pPr algn="ctr" indent="0" marL="0">
              <a:buNone/>
            </a:pPr>
            <a:r>
              <a:rPr lang="en-US" sz="950" dirty="0">
                <a:solidFill>
                  <a:srgbClr val="0E9F9A"/>
                </a:solidFill>
                <a:latin typeface="Meiryo UI" pitchFamily="34" charset="0"/>
                <a:ea typeface="Meiryo UI" pitchFamily="34" charset="-122"/>
                <a:cs typeface="Meiryo UI" pitchFamily="34" charset="-120"/>
              </a:rPr>
              <a:t>自動化  </a:t>
            </a:r>
            <a:pPr algn="ctr" indent="0" marL="0">
              <a:buNone/>
            </a:pPr>
            <a:r>
              <a:rPr lang="en-US" sz="1100" b="1" dirty="0">
                <a:solidFill>
                  <a:srgbClr val="0E9F9A"/>
                </a:solidFill>
                <a:latin typeface="Meiryo UI" pitchFamily="34" charset="0"/>
                <a:ea typeface="Meiryo UI" pitchFamily="34" charset="-122"/>
                <a:cs typeface="Meiryo UI" pitchFamily="34" charset="-120"/>
              </a:rPr>
              <a:t>Step1〜2</a:t>
            </a:r>
            <a:endParaRPr lang="en-US" sz="950" dirty="0"/>
          </a:p>
        </p:txBody>
      </p:sp>
      <p:sp>
        <p:nvSpPr>
          <p:cNvPr id="12" name="Shape 10"/>
          <p:cNvSpPr/>
          <p:nvPr/>
        </p:nvSpPr>
        <p:spPr>
          <a:xfrm>
            <a:off x="7269480" y="1371600"/>
            <a:ext cx="2103120" cy="347472"/>
          </a:xfrm>
          <a:prstGeom prst="roundRect">
            <a:avLst>
              <a:gd name="adj" fmla="val 50000"/>
            </a:avLst>
          </a:prstGeom>
          <a:solidFill>
            <a:srgbClr val="FDEBD3"/>
          </a:solidFill>
          <a:ln/>
        </p:spPr>
      </p:sp>
      <p:sp>
        <p:nvSpPr>
          <p:cNvPr id="13" name="Text 11"/>
          <p:cNvSpPr txBox="1"/>
          <p:nvPr/>
        </p:nvSpPr>
        <p:spPr>
          <a:xfrm>
            <a:off x="7269480" y="1371600"/>
            <a:ext cx="2103120" cy="347472"/>
          </a:xfrm>
          <a:prstGeom prst="rect">
            <a:avLst/>
          </a:prstGeom>
          <a:noFill/>
          <a:ln/>
        </p:spPr>
        <p:txBody>
          <a:bodyPr wrap="square" lIns="0" tIns="0" rIns="0" bIns="0" rtlCol="0" anchor="ctr"/>
          <a:lstStyle/>
          <a:p>
            <a:pPr algn="ctr" indent="0" marL="0">
              <a:buNone/>
            </a:pPr>
            <a:r>
              <a:rPr lang="en-US" sz="950" dirty="0">
                <a:solidFill>
                  <a:srgbClr val="E8912D"/>
                </a:solidFill>
                <a:latin typeface="Meiryo UI" pitchFamily="34" charset="0"/>
                <a:ea typeface="Meiryo UI" pitchFamily="34" charset="-122"/>
                <a:cs typeface="Meiryo UI" pitchFamily="34" charset="-120"/>
              </a:rPr>
              <a:t>難易度  </a:t>
            </a:r>
            <a:pPr algn="ctr" indent="0" marL="0">
              <a:buNone/>
            </a:pPr>
            <a:r>
              <a:rPr lang="en-US" sz="1100" b="1" dirty="0">
                <a:solidFill>
                  <a:srgbClr val="E8912D"/>
                </a:solidFill>
                <a:latin typeface="Meiryo UI" pitchFamily="34" charset="0"/>
                <a:ea typeface="Meiryo UI" pitchFamily="34" charset="-122"/>
                <a:cs typeface="Meiryo UI" pitchFamily="34" charset="-120"/>
              </a:rPr>
              <a:t>★☆☆☆☆</a:t>
            </a:r>
            <a:endParaRPr lang="en-US" sz="950" dirty="0"/>
          </a:p>
        </p:txBody>
      </p:sp>
      <p:sp>
        <p:nvSpPr>
          <p:cNvPr id="14" name="Shape 12"/>
          <p:cNvSpPr/>
          <p:nvPr/>
        </p:nvSpPr>
        <p:spPr>
          <a:xfrm>
            <a:off x="9509760" y="1371600"/>
            <a:ext cx="2103120" cy="347472"/>
          </a:xfrm>
          <a:prstGeom prst="roundRect">
            <a:avLst>
              <a:gd name="adj" fmla="val 50000"/>
            </a:avLst>
          </a:prstGeom>
          <a:solidFill>
            <a:srgbClr val="F3F5F8"/>
          </a:solidFill>
          <a:ln/>
        </p:spPr>
      </p:sp>
      <p:sp>
        <p:nvSpPr>
          <p:cNvPr id="15" name="Text 13"/>
          <p:cNvSpPr txBox="1"/>
          <p:nvPr/>
        </p:nvSpPr>
        <p:spPr>
          <a:xfrm>
            <a:off x="9509760" y="1371600"/>
            <a:ext cx="2103120" cy="347472"/>
          </a:xfrm>
          <a:prstGeom prst="rect">
            <a:avLst/>
          </a:prstGeom>
          <a:noFill/>
          <a:ln/>
        </p:spPr>
        <p:txBody>
          <a:bodyPr wrap="square" lIns="0" tIns="0" rIns="0" bIns="0" rtlCol="0" anchor="ctr"/>
          <a:lstStyle/>
          <a:p>
            <a:pPr algn="ctr" indent="0" marL="0">
              <a:buNone/>
            </a:pPr>
            <a:r>
              <a:rPr lang="en-US" sz="950" dirty="0">
                <a:solidFill>
                  <a:srgbClr val="1B2A49"/>
                </a:solidFill>
                <a:latin typeface="Meiryo UI" pitchFamily="34" charset="0"/>
                <a:ea typeface="Meiryo UI" pitchFamily="34" charset="-122"/>
                <a:cs typeface="Meiryo UI" pitchFamily="34" charset="-120"/>
              </a:rPr>
              <a:t>期間目安  </a:t>
            </a:r>
            <a:pPr algn="ctr" indent="0" marL="0">
              <a:buNone/>
            </a:pPr>
            <a:r>
              <a:rPr lang="en-US" sz="1100" b="1" dirty="0">
                <a:solidFill>
                  <a:srgbClr val="1B2A49"/>
                </a:solidFill>
                <a:latin typeface="Meiryo UI" pitchFamily="34" charset="0"/>
                <a:ea typeface="Meiryo UI" pitchFamily="34" charset="-122"/>
                <a:cs typeface="Meiryo UI" pitchFamily="34" charset="-120"/>
              </a:rPr>
              <a:t>〜1ヶ月</a:t>
            </a:r>
            <a:endParaRPr lang="en-US" sz="950" dirty="0"/>
          </a:p>
        </p:txBody>
      </p:sp>
      <p:sp>
        <p:nvSpPr>
          <p:cNvPr id="16" name="Shape 14"/>
          <p:cNvSpPr/>
          <p:nvPr/>
        </p:nvSpPr>
        <p:spPr>
          <a:xfrm>
            <a:off x="548640" y="1874520"/>
            <a:ext cx="6949440" cy="2514600"/>
          </a:xfrm>
          <a:prstGeom prst="roundRect">
            <a:avLst>
              <a:gd name="adj" fmla="val 1455"/>
            </a:avLst>
          </a:prstGeom>
          <a:solidFill>
            <a:srgbClr val="F3F5F8"/>
          </a:solidFill>
          <a:ln/>
        </p:spPr>
      </p:sp>
      <p:sp>
        <p:nvSpPr>
          <p:cNvPr id="17" name="Shape 15"/>
          <p:cNvSpPr/>
          <p:nvPr/>
        </p:nvSpPr>
        <p:spPr>
          <a:xfrm>
            <a:off x="731520" y="2011680"/>
            <a:ext cx="1920240" cy="566928"/>
          </a:xfrm>
          <a:prstGeom prst="roundRect">
            <a:avLst>
              <a:gd name="adj" fmla="val 12903"/>
            </a:avLst>
          </a:prstGeom>
          <a:solidFill>
            <a:srgbClr val="E3EAF5"/>
          </a:solidFill>
          <a:ln/>
        </p:spPr>
      </p:sp>
      <p:pic>
        <p:nvPicPr>
          <p:cNvPr id="18" name="Image 0" descr="preencoded.png">    </p:cNvPr>
          <p:cNvPicPr>
            <a:picLocks noChangeAspect="1"/>
          </p:cNvPicPr>
          <p:nvPr/>
        </p:nvPicPr>
        <p:blipFill>
          <a:blip r:embed="rId1"/>
          <a:stretch>
            <a:fillRect/>
          </a:stretch>
        </p:blipFill>
        <p:spPr>
          <a:xfrm>
            <a:off x="841248" y="2112264"/>
            <a:ext cx="365760" cy="365760"/>
          </a:xfrm>
          <a:prstGeom prst="rect">
            <a:avLst/>
          </a:prstGeom>
        </p:spPr>
      </p:pic>
      <p:sp>
        <p:nvSpPr>
          <p:cNvPr id="19" name="Text 16"/>
          <p:cNvSpPr txBox="1"/>
          <p:nvPr/>
        </p:nvSpPr>
        <p:spPr>
          <a:xfrm>
            <a:off x="1298448" y="2011680"/>
            <a:ext cx="1307592" cy="566928"/>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ポリシー・商品資料</a:t>
            </a:r>
            <a:endParaRPr lang="en-US" sz="1050" dirty="0"/>
          </a:p>
          <a:p>
            <a:pPr algn="l" indent="0" marL="0">
              <a:buNone/>
            </a:pPr>
            <a:r>
              <a:rPr lang="en-US" sz="900" dirty="0">
                <a:solidFill>
                  <a:srgbClr val="6B7280"/>
                </a:solidFill>
                <a:latin typeface="Meiryo UI" pitchFamily="34" charset="0"/>
                <a:ea typeface="Meiryo UI" pitchFamily="34" charset="-122"/>
                <a:cs typeface="Meiryo UI" pitchFamily="34" charset="-120"/>
              </a:rPr>
              <a:t>SharePoint</a:t>
            </a:r>
            <a:endParaRPr lang="en-US" sz="1050" dirty="0"/>
          </a:p>
        </p:txBody>
      </p:sp>
      <p:sp>
        <p:nvSpPr>
          <p:cNvPr id="20" name="Shape 17"/>
          <p:cNvSpPr/>
          <p:nvPr/>
        </p:nvSpPr>
        <p:spPr>
          <a:xfrm>
            <a:off x="2697480" y="2295144"/>
            <a:ext cx="320040" cy="676656"/>
          </a:xfrm>
          <a:prstGeom prst="line">
            <a:avLst/>
          </a:prstGeom>
          <a:noFill/>
          <a:ln w="22225">
            <a:solidFill>
              <a:srgbClr val="9AA5B4"/>
            </a:solidFill>
            <a:prstDash val="solid"/>
            <a:tailEnd type="triangle"/>
          </a:ln>
        </p:spPr>
      </p:sp>
      <p:sp>
        <p:nvSpPr>
          <p:cNvPr id="21" name="Shape 18"/>
          <p:cNvSpPr/>
          <p:nvPr/>
        </p:nvSpPr>
        <p:spPr>
          <a:xfrm>
            <a:off x="731520" y="2697480"/>
            <a:ext cx="1920240" cy="566928"/>
          </a:xfrm>
          <a:prstGeom prst="roundRect">
            <a:avLst>
              <a:gd name="adj" fmla="val 12903"/>
            </a:avLst>
          </a:prstGeom>
          <a:solidFill>
            <a:srgbClr val="E3EAF5"/>
          </a:solidFill>
          <a:ln/>
        </p:spPr>
      </p:sp>
      <p:pic>
        <p:nvPicPr>
          <p:cNvPr id="22" name="Image 1" descr="preencoded.png">    </p:cNvPr>
          <p:cNvPicPr>
            <a:picLocks noChangeAspect="1"/>
          </p:cNvPicPr>
          <p:nvPr/>
        </p:nvPicPr>
        <p:blipFill>
          <a:blip r:embed="rId2"/>
          <a:stretch>
            <a:fillRect/>
          </a:stretch>
        </p:blipFill>
        <p:spPr>
          <a:xfrm>
            <a:off x="841248" y="2798064"/>
            <a:ext cx="365760" cy="365760"/>
          </a:xfrm>
          <a:prstGeom prst="rect">
            <a:avLst/>
          </a:prstGeom>
        </p:spPr>
      </p:pic>
      <p:sp>
        <p:nvSpPr>
          <p:cNvPr id="23" name="Text 19"/>
          <p:cNvSpPr txBox="1"/>
          <p:nvPr/>
        </p:nvSpPr>
        <p:spPr>
          <a:xfrm>
            <a:off x="1298448" y="2697480"/>
            <a:ext cx="1307592" cy="566928"/>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ガイドライン</a:t>
            </a:r>
            <a:endParaRPr lang="en-US" sz="1050" dirty="0"/>
          </a:p>
          <a:p>
            <a:pPr algn="l" indent="0" marL="0">
              <a:buNone/>
            </a:pPr>
            <a:r>
              <a:rPr lang="en-US" sz="900" dirty="0">
                <a:solidFill>
                  <a:srgbClr val="6B7280"/>
                </a:solidFill>
                <a:latin typeface="Meiryo UI" pitchFamily="34" charset="0"/>
                <a:ea typeface="Meiryo UI" pitchFamily="34" charset="-122"/>
                <a:cs typeface="Meiryo UI" pitchFamily="34" charset="-120"/>
              </a:rPr>
              <a:t>MD（SharePoint）</a:t>
            </a:r>
            <a:endParaRPr lang="en-US" sz="1050" dirty="0"/>
          </a:p>
        </p:txBody>
      </p:sp>
      <p:sp>
        <p:nvSpPr>
          <p:cNvPr id="24" name="Shape 20"/>
          <p:cNvSpPr/>
          <p:nvPr/>
        </p:nvSpPr>
        <p:spPr>
          <a:xfrm flipV="1">
            <a:off x="2697480" y="2971800"/>
            <a:ext cx="320040" cy="9144"/>
          </a:xfrm>
          <a:prstGeom prst="line">
            <a:avLst/>
          </a:prstGeom>
          <a:noFill/>
          <a:ln w="22225">
            <a:solidFill>
              <a:srgbClr val="9AA5B4"/>
            </a:solidFill>
            <a:prstDash val="solid"/>
            <a:tailEnd type="triangle"/>
          </a:ln>
        </p:spPr>
      </p:sp>
      <p:sp>
        <p:nvSpPr>
          <p:cNvPr id="25" name="Shape 21"/>
          <p:cNvSpPr/>
          <p:nvPr/>
        </p:nvSpPr>
        <p:spPr>
          <a:xfrm>
            <a:off x="731520" y="3383280"/>
            <a:ext cx="1920240" cy="566928"/>
          </a:xfrm>
          <a:prstGeom prst="roundRect">
            <a:avLst>
              <a:gd name="adj" fmla="val 12903"/>
            </a:avLst>
          </a:prstGeom>
          <a:solidFill>
            <a:srgbClr val="E3EAF5"/>
          </a:solidFill>
          <a:ln/>
        </p:spPr>
      </p:sp>
      <p:pic>
        <p:nvPicPr>
          <p:cNvPr id="26" name="Image 2" descr="preencoded.png">    </p:cNvPr>
          <p:cNvPicPr>
            <a:picLocks noChangeAspect="1"/>
          </p:cNvPicPr>
          <p:nvPr/>
        </p:nvPicPr>
        <p:blipFill>
          <a:blip r:embed="rId3"/>
          <a:stretch>
            <a:fillRect/>
          </a:stretch>
        </p:blipFill>
        <p:spPr>
          <a:xfrm>
            <a:off x="841248" y="3483864"/>
            <a:ext cx="365760" cy="365760"/>
          </a:xfrm>
          <a:prstGeom prst="rect">
            <a:avLst/>
          </a:prstGeom>
        </p:spPr>
      </p:pic>
      <p:sp>
        <p:nvSpPr>
          <p:cNvPr id="27" name="Text 22"/>
          <p:cNvSpPr txBox="1"/>
          <p:nvPr/>
        </p:nvSpPr>
        <p:spPr>
          <a:xfrm>
            <a:off x="1298448" y="3383280"/>
            <a:ext cx="1307592" cy="566928"/>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売上・在庫</a:t>
            </a:r>
            <a:endParaRPr lang="en-US" sz="1050" dirty="0"/>
          </a:p>
          <a:p>
            <a:pPr algn="l" indent="0" marL="0">
              <a:buNone/>
            </a:pPr>
            <a:r>
              <a:rPr lang="en-US" sz="900" dirty="0">
                <a:solidFill>
                  <a:srgbClr val="6B7280"/>
                </a:solidFill>
                <a:latin typeface="Meiryo UI" pitchFamily="34" charset="0"/>
                <a:ea typeface="Meiryo UI" pitchFamily="34" charset="-122"/>
                <a:cs typeface="Meiryo UI" pitchFamily="34" charset="-120"/>
              </a:rPr>
              <a:t>SharePoint上のファイル</a:t>
            </a:r>
            <a:endParaRPr lang="en-US" sz="1050" dirty="0"/>
          </a:p>
        </p:txBody>
      </p:sp>
      <p:sp>
        <p:nvSpPr>
          <p:cNvPr id="28" name="Shape 23"/>
          <p:cNvSpPr/>
          <p:nvPr/>
        </p:nvSpPr>
        <p:spPr>
          <a:xfrm flipV="1">
            <a:off x="2697480" y="2971800"/>
            <a:ext cx="320040" cy="694944"/>
          </a:xfrm>
          <a:prstGeom prst="line">
            <a:avLst/>
          </a:prstGeom>
          <a:noFill/>
          <a:ln w="22225">
            <a:solidFill>
              <a:srgbClr val="9AA5B4"/>
            </a:solidFill>
            <a:prstDash val="solid"/>
            <a:tailEnd type="triangle"/>
          </a:ln>
        </p:spPr>
      </p:sp>
      <p:sp>
        <p:nvSpPr>
          <p:cNvPr id="29" name="Text 24"/>
          <p:cNvSpPr txBox="1"/>
          <p:nvPr/>
        </p:nvSpPr>
        <p:spPr>
          <a:xfrm>
            <a:off x="731520" y="4069080"/>
            <a:ext cx="1920240" cy="256032"/>
          </a:xfrm>
          <a:prstGeom prst="rect">
            <a:avLst/>
          </a:prstGeom>
          <a:noFill/>
          <a:ln/>
        </p:spPr>
        <p:txBody>
          <a:bodyPr wrap="square" lIns="508" tIns="508" rIns="508" bIns="508" rtlCol="0" anchor="t"/>
          <a:lstStyle/>
          <a:p>
            <a:pPr algn="ctr" indent="0" marL="0">
              <a:buNone/>
            </a:pPr>
            <a:r>
              <a:rPr lang="en-US" sz="900" b="1" dirty="0">
                <a:solidFill>
                  <a:srgbClr val="0E9F9A"/>
                </a:solidFill>
                <a:latin typeface="Meiryo UI" pitchFamily="34" charset="0"/>
                <a:ea typeface="Meiryo UI" pitchFamily="34" charset="-122"/>
                <a:cs typeface="Meiryo UI" pitchFamily="34" charset="-120"/>
              </a:rPr>
              <a:t>ナレッジとして参照</a:t>
            </a:r>
            <a:endParaRPr lang="en-US" sz="900" dirty="0"/>
          </a:p>
        </p:txBody>
      </p:sp>
      <p:sp>
        <p:nvSpPr>
          <p:cNvPr id="30" name="Shape 25"/>
          <p:cNvSpPr/>
          <p:nvPr/>
        </p:nvSpPr>
        <p:spPr>
          <a:xfrm>
            <a:off x="3063240" y="2194560"/>
            <a:ext cx="1920240" cy="1600200"/>
          </a:xfrm>
          <a:prstGeom prst="roundRect">
            <a:avLst>
              <a:gd name="adj" fmla="val 4571"/>
            </a:avLst>
          </a:prstGeom>
          <a:solidFill>
            <a:srgbClr val="0E9F9A"/>
          </a:solidFill>
          <a:ln/>
        </p:spPr>
      </p:sp>
      <p:sp>
        <p:nvSpPr>
          <p:cNvPr id="31" name="Shape 26"/>
          <p:cNvSpPr/>
          <p:nvPr/>
        </p:nvSpPr>
        <p:spPr>
          <a:xfrm>
            <a:off x="3694176" y="2304288"/>
            <a:ext cx="658368" cy="658368"/>
          </a:xfrm>
          <a:prstGeom prst="ellipse">
            <a:avLst/>
          </a:prstGeom>
          <a:solidFill>
            <a:srgbClr val="FFFFFF"/>
          </a:solidFill>
          <a:ln/>
        </p:spPr>
      </p:sp>
      <p:pic>
        <p:nvPicPr>
          <p:cNvPr id="32" name="Image 3" descr="preencoded.png">    </p:cNvPr>
          <p:cNvPicPr>
            <a:picLocks noChangeAspect="1"/>
          </p:cNvPicPr>
          <p:nvPr/>
        </p:nvPicPr>
        <p:blipFill>
          <a:blip r:embed="rId4"/>
          <a:stretch>
            <a:fillRect/>
          </a:stretch>
        </p:blipFill>
        <p:spPr>
          <a:xfrm>
            <a:off x="3794760" y="2404872"/>
            <a:ext cx="457200" cy="457200"/>
          </a:xfrm>
          <a:prstGeom prst="rect">
            <a:avLst/>
          </a:prstGeom>
        </p:spPr>
      </p:pic>
      <p:sp>
        <p:nvSpPr>
          <p:cNvPr id="33" name="Text 27"/>
          <p:cNvSpPr txBox="1"/>
          <p:nvPr/>
        </p:nvSpPr>
        <p:spPr>
          <a:xfrm>
            <a:off x="3108960" y="3008376"/>
            <a:ext cx="1828800" cy="731520"/>
          </a:xfrm>
          <a:prstGeom prst="rect">
            <a:avLst/>
          </a:prstGeom>
          <a:noFill/>
          <a:ln/>
        </p:spPr>
        <p:txBody>
          <a:bodyPr wrap="square" lIns="0" tIns="0" rIns="0" bIns="0" rtlCol="0" anchor="ctr"/>
          <a:lstStyle/>
          <a:p>
            <a:pPr algn="ctr" indent="0" marL="0">
              <a:buNone/>
            </a:pPr>
            <a:r>
              <a:rPr lang="en-US" sz="1050" b="1" dirty="0">
                <a:solidFill>
                  <a:srgbClr val="FFFFFF"/>
                </a:solidFill>
                <a:latin typeface="Meiryo UI" pitchFamily="34" charset="0"/>
                <a:ea typeface="Meiryo UI" pitchFamily="34" charset="-122"/>
                <a:cs typeface="Meiryo UI" pitchFamily="34" charset="-120"/>
              </a:rPr>
              <a:t>Agent Builder</a:t>
            </a:r>
            <a:endParaRPr lang="en-US" sz="1050" dirty="0"/>
          </a:p>
          <a:p>
            <a:pPr algn="ctr" indent="0" marL="0">
              <a:buNone/>
            </a:pPr>
            <a:r>
              <a:rPr lang="en-US" sz="900" dirty="0">
                <a:solidFill>
                  <a:srgbClr val="E6F2F2"/>
                </a:solidFill>
                <a:latin typeface="Meiryo UI" pitchFamily="34" charset="0"/>
                <a:ea typeface="Meiryo UI" pitchFamily="34" charset="-122"/>
                <a:cs typeface="Meiryo UI" pitchFamily="34" charset="-120"/>
              </a:rPr>
              <a:t>指示・ナレッジを</a:t>
            </a:r>
            <a:endParaRPr lang="en-US" sz="1050" dirty="0"/>
          </a:p>
          <a:p>
            <a:pPr algn="ctr" indent="0" marL="0">
              <a:buNone/>
            </a:pPr>
            <a:r>
              <a:rPr lang="en-US" sz="900" dirty="0">
                <a:solidFill>
                  <a:srgbClr val="E6F2F2"/>
                </a:solidFill>
                <a:latin typeface="Meiryo UI" pitchFamily="34" charset="0"/>
                <a:ea typeface="Meiryo UI" pitchFamily="34" charset="-122"/>
                <a:cs typeface="Meiryo UI" pitchFamily="34" charset="-120"/>
              </a:rPr>
              <a:t>固定したエージェント</a:t>
            </a:r>
            <a:endParaRPr lang="en-US" sz="1050" dirty="0"/>
          </a:p>
        </p:txBody>
      </p:sp>
      <p:sp>
        <p:nvSpPr>
          <p:cNvPr id="34" name="Shape 28"/>
          <p:cNvSpPr/>
          <p:nvPr/>
        </p:nvSpPr>
        <p:spPr>
          <a:xfrm>
            <a:off x="5029200" y="2487168"/>
            <a:ext cx="274320" cy="0"/>
          </a:xfrm>
          <a:prstGeom prst="line">
            <a:avLst/>
          </a:prstGeom>
          <a:noFill/>
          <a:ln w="22225">
            <a:solidFill>
              <a:srgbClr val="9AA5B4"/>
            </a:solidFill>
            <a:prstDash val="solid"/>
            <a:headEnd type="triangle"/>
            <a:tailEnd type="triangle"/>
          </a:ln>
        </p:spPr>
      </p:sp>
      <p:sp>
        <p:nvSpPr>
          <p:cNvPr id="35" name="Shape 29"/>
          <p:cNvSpPr/>
          <p:nvPr/>
        </p:nvSpPr>
        <p:spPr>
          <a:xfrm>
            <a:off x="5349240" y="2103120"/>
            <a:ext cx="1965960" cy="731520"/>
          </a:xfrm>
          <a:prstGeom prst="roundRect">
            <a:avLst>
              <a:gd name="adj" fmla="val 10000"/>
            </a:avLst>
          </a:prstGeom>
          <a:solidFill>
            <a:srgbClr val="FDEBD3"/>
          </a:solidFill>
          <a:ln/>
        </p:spPr>
      </p:sp>
      <p:pic>
        <p:nvPicPr>
          <p:cNvPr id="36" name="Image 4" descr="preencoded.png">    </p:cNvPr>
          <p:cNvPicPr>
            <a:picLocks noChangeAspect="1"/>
          </p:cNvPicPr>
          <p:nvPr/>
        </p:nvPicPr>
        <p:blipFill>
          <a:blip r:embed="rId5"/>
          <a:stretch>
            <a:fillRect/>
          </a:stretch>
        </p:blipFill>
        <p:spPr>
          <a:xfrm>
            <a:off x="5458968" y="2286000"/>
            <a:ext cx="365760" cy="365760"/>
          </a:xfrm>
          <a:prstGeom prst="rect">
            <a:avLst/>
          </a:prstGeom>
        </p:spPr>
      </p:pic>
      <p:sp>
        <p:nvSpPr>
          <p:cNvPr id="37" name="Text 30"/>
          <p:cNvSpPr txBox="1"/>
          <p:nvPr/>
        </p:nvSpPr>
        <p:spPr>
          <a:xfrm>
            <a:off x="5916168" y="2103120"/>
            <a:ext cx="1353312" cy="731520"/>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マーケター</a:t>
            </a:r>
            <a:endParaRPr lang="en-US" sz="1050" dirty="0"/>
          </a:p>
          <a:p>
            <a:pPr algn="l" indent="0" marL="0">
              <a:buNone/>
            </a:pPr>
            <a:r>
              <a:rPr lang="en-US" sz="900" dirty="0">
                <a:solidFill>
                  <a:srgbClr val="6B7280"/>
                </a:solidFill>
                <a:latin typeface="Meiryo UI" pitchFamily="34" charset="0"/>
                <a:ea typeface="Meiryo UI" pitchFamily="34" charset="-122"/>
                <a:cs typeface="Meiryo UI" pitchFamily="34" charset="-120"/>
              </a:rPr>
              <a:t>Copilot Chat／Teams</a:t>
            </a:r>
            <a:endParaRPr lang="en-US" sz="1050" dirty="0"/>
          </a:p>
        </p:txBody>
      </p:sp>
      <p:sp>
        <p:nvSpPr>
          <p:cNvPr id="38" name="Shape 31"/>
          <p:cNvSpPr/>
          <p:nvPr/>
        </p:nvSpPr>
        <p:spPr>
          <a:xfrm>
            <a:off x="6327648" y="2880360"/>
            <a:ext cx="0" cy="274320"/>
          </a:xfrm>
          <a:prstGeom prst="line">
            <a:avLst/>
          </a:prstGeom>
          <a:noFill/>
          <a:ln w="22225">
            <a:solidFill>
              <a:srgbClr val="9AA5B4"/>
            </a:solidFill>
            <a:prstDash val="solid"/>
            <a:tailEnd type="triangle"/>
          </a:ln>
        </p:spPr>
      </p:sp>
      <p:sp>
        <p:nvSpPr>
          <p:cNvPr id="39" name="Shape 32"/>
          <p:cNvSpPr/>
          <p:nvPr/>
        </p:nvSpPr>
        <p:spPr>
          <a:xfrm>
            <a:off x="5349240" y="3200400"/>
            <a:ext cx="1965960" cy="731520"/>
          </a:xfrm>
          <a:prstGeom prst="roundRect">
            <a:avLst>
              <a:gd name="adj" fmla="val 10000"/>
            </a:avLst>
          </a:prstGeom>
          <a:solidFill>
            <a:srgbClr val="FDEBD3"/>
          </a:solidFill>
          <a:ln/>
        </p:spPr>
      </p:sp>
      <p:pic>
        <p:nvPicPr>
          <p:cNvPr id="40" name="Image 5" descr="preencoded.png">    </p:cNvPr>
          <p:cNvPicPr>
            <a:picLocks noChangeAspect="1"/>
          </p:cNvPicPr>
          <p:nvPr/>
        </p:nvPicPr>
        <p:blipFill>
          <a:blip r:embed="rId6"/>
          <a:stretch>
            <a:fillRect/>
          </a:stretch>
        </p:blipFill>
        <p:spPr>
          <a:xfrm>
            <a:off x="5458968" y="3383280"/>
            <a:ext cx="365760" cy="365760"/>
          </a:xfrm>
          <a:prstGeom prst="rect">
            <a:avLst/>
          </a:prstGeom>
        </p:spPr>
      </p:pic>
      <p:sp>
        <p:nvSpPr>
          <p:cNvPr id="41" name="Text 33"/>
          <p:cNvSpPr txBox="1"/>
          <p:nvPr/>
        </p:nvSpPr>
        <p:spPr>
          <a:xfrm>
            <a:off x="5916168" y="3200400"/>
            <a:ext cx="1353312" cy="731520"/>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Airtable</a:t>
            </a:r>
            <a:endParaRPr lang="en-US" sz="1050" dirty="0"/>
          </a:p>
          <a:p>
            <a:pPr algn="l" indent="0" marL="0">
              <a:buNone/>
            </a:pPr>
            <a:r>
              <a:rPr lang="en-US" sz="900" dirty="0">
                <a:solidFill>
                  <a:srgbClr val="6B7280"/>
                </a:solidFill>
                <a:latin typeface="Meiryo UI" pitchFamily="34" charset="0"/>
                <a:ea typeface="Meiryo UI" pitchFamily="34" charset="-122"/>
                <a:cs typeface="Meiryo UI" pitchFamily="34" charset="-120"/>
              </a:rPr>
              <a:t>カードに転記</a:t>
            </a:r>
            <a:endParaRPr lang="en-US" sz="1050" dirty="0"/>
          </a:p>
        </p:txBody>
      </p:sp>
      <p:sp>
        <p:nvSpPr>
          <p:cNvPr id="42" name="Shape 34"/>
          <p:cNvSpPr/>
          <p:nvPr/>
        </p:nvSpPr>
        <p:spPr>
          <a:xfrm>
            <a:off x="7680960" y="1874520"/>
            <a:ext cx="3931920" cy="2514600"/>
          </a:xfrm>
          <a:prstGeom prst="roundRect">
            <a:avLst>
              <a:gd name="adj" fmla="val 2182"/>
            </a:avLst>
          </a:prstGeom>
          <a:solidFill>
            <a:srgbClr val="E3EAF5"/>
          </a:solidFill>
          <a:ln/>
        </p:spPr>
      </p:sp>
      <p:sp>
        <p:nvSpPr>
          <p:cNvPr id="43" name="Shape 35"/>
          <p:cNvSpPr/>
          <p:nvPr/>
        </p:nvSpPr>
        <p:spPr>
          <a:xfrm>
            <a:off x="7818120" y="1993392"/>
            <a:ext cx="384048" cy="384048"/>
          </a:xfrm>
          <a:prstGeom prst="ellipse">
            <a:avLst/>
          </a:prstGeom>
          <a:solidFill>
            <a:srgbClr val="FFFFFF"/>
          </a:solidFill>
          <a:ln/>
        </p:spPr>
      </p:sp>
      <p:pic>
        <p:nvPicPr>
          <p:cNvPr id="44" name="Image 6" descr="preencoded.png">    </p:cNvPr>
          <p:cNvPicPr>
            <a:picLocks noChangeAspect="1"/>
          </p:cNvPicPr>
          <p:nvPr/>
        </p:nvPicPr>
        <p:blipFill>
          <a:blip r:embed="rId7"/>
          <a:stretch>
            <a:fillRect/>
          </a:stretch>
        </p:blipFill>
        <p:spPr>
          <a:xfrm>
            <a:off x="7894930" y="2070202"/>
            <a:ext cx="230429" cy="230429"/>
          </a:xfrm>
          <a:prstGeom prst="rect">
            <a:avLst/>
          </a:prstGeom>
        </p:spPr>
      </p:pic>
      <p:sp>
        <p:nvSpPr>
          <p:cNvPr id="45" name="Text 36"/>
          <p:cNvSpPr txBox="1"/>
          <p:nvPr/>
        </p:nvSpPr>
        <p:spPr>
          <a:xfrm>
            <a:off x="8275320" y="1993392"/>
            <a:ext cx="3246120" cy="384048"/>
          </a:xfrm>
          <a:prstGeom prst="rect">
            <a:avLst/>
          </a:prstGeom>
          <a:noFill/>
          <a:ln/>
        </p:spPr>
        <p:txBody>
          <a:bodyPr wrap="square" lIns="0" tIns="0" rIns="0" bIns="0"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必要な機能・準備</a:t>
            </a:r>
            <a:endParaRPr lang="en-US" sz="1300" dirty="0"/>
          </a:p>
        </p:txBody>
      </p:sp>
      <p:sp>
        <p:nvSpPr>
          <p:cNvPr id="46" name="Text 37"/>
          <p:cNvSpPr txBox="1"/>
          <p:nvPr/>
        </p:nvSpPr>
        <p:spPr>
          <a:xfrm>
            <a:off x="7863840" y="2478024"/>
            <a:ext cx="3611880" cy="1819656"/>
          </a:xfrm>
          <a:prstGeom prst="rect">
            <a:avLst/>
          </a:prstGeom>
          <a:noFill/>
          <a:ln/>
        </p:spPr>
        <p:txBody>
          <a:bodyPr wrap="square" lIns="254" tIns="254" rIns="254" bIns="254" rtlCol="0" anchor="t"/>
          <a:lstStyle/>
          <a:p>
            <a:pPr marL="152400" indent="-152400">
              <a:spcAft>
                <a:spcPts val="300"/>
              </a:spcAft>
              <a:buSzPct val="100000"/>
              <a:buChar char="•"/>
            </a:pPr>
            <a:r>
              <a:rPr lang="en-US" sz="1100" dirty="0">
                <a:solidFill>
                  <a:srgbClr val="2B2B2B"/>
                </a:solidFill>
                <a:latin typeface="Meiryo UI" pitchFamily="34" charset="0"/>
                <a:ea typeface="Meiryo UI" pitchFamily="34" charset="-122"/>
                <a:cs typeface="Meiryo UI" pitchFamily="34" charset="-120"/>
              </a:rPr>
              <a:t>M365 Copilot（導入済み。追加ライセンス不要）</a:t>
            </a:r>
            <a:endParaRPr lang="en-US" sz="1100" dirty="0"/>
          </a:p>
          <a:p>
            <a:pPr marL="152400" indent="-152400">
              <a:spcAft>
                <a:spcPts val="300"/>
              </a:spcAft>
              <a:buSzPct val="100000"/>
              <a:buChar char="•"/>
            </a:pPr>
            <a:r>
              <a:rPr lang="en-US" sz="1100" dirty="0">
                <a:solidFill>
                  <a:srgbClr val="2B2B2B"/>
                </a:solidFill>
                <a:latin typeface="Meiryo UI" pitchFamily="34" charset="0"/>
                <a:ea typeface="Meiryo UI" pitchFamily="34" charset="-122"/>
                <a:cs typeface="Meiryo UI" pitchFamily="34" charset="-120"/>
              </a:rPr>
              <a:t>指示（プロンプト）とナレッジの設定</a:t>
            </a:r>
            <a:endParaRPr lang="en-US" sz="1100" dirty="0"/>
          </a:p>
          <a:p>
            <a:pPr marL="152400" indent="-152400">
              <a:spcAft>
                <a:spcPts val="300"/>
              </a:spcAft>
              <a:buSzPct val="100000"/>
              <a:buChar char="•"/>
            </a:pPr>
            <a:r>
              <a:rPr lang="en-US" sz="1100" dirty="0">
                <a:solidFill>
                  <a:srgbClr val="2B2B2B"/>
                </a:solidFill>
                <a:latin typeface="Meiryo UI" pitchFamily="34" charset="0"/>
                <a:ea typeface="Meiryo UI" pitchFamily="34" charset="-122"/>
                <a:cs typeface="Meiryo UI" pitchFamily="34" charset="-120"/>
              </a:rPr>
              <a:t>ナレッジ：SharePoint（最大100のファイル・フォルダ・サイト）、アップロードしたファイル、Webサイト</a:t>
            </a:r>
            <a:endParaRPr lang="en-US" sz="1100" dirty="0"/>
          </a:p>
          <a:p>
            <a:pPr marL="152400" indent="-152400">
              <a:spcAft>
                <a:spcPts val="300"/>
              </a:spcAft>
              <a:buSzPct val="100000"/>
              <a:buChar char="•"/>
            </a:pPr>
            <a:r>
              <a:rPr lang="en-US" sz="1100" dirty="0">
                <a:solidFill>
                  <a:srgbClr val="2B2B2B"/>
                </a:solidFill>
                <a:latin typeface="Meiryo UI" pitchFamily="34" charset="0"/>
                <a:ea typeface="Meiryo UI" pitchFamily="34" charset="-122"/>
                <a:cs typeface="Meiryo UI" pitchFamily="34" charset="-120"/>
              </a:rPr>
              <a:t>数値データはSharePointにファイルとして置く</a:t>
            </a:r>
            <a:endParaRPr lang="en-US" sz="1100" dirty="0"/>
          </a:p>
          <a:p>
            <a:pPr marL="152400" indent="-152400">
              <a:spcAft>
                <a:spcPts val="300"/>
              </a:spcAft>
              <a:buSzPct val="100000"/>
              <a:buChar char="•"/>
            </a:pPr>
            <a:r>
              <a:rPr lang="en-US" sz="1100" dirty="0">
                <a:solidFill>
                  <a:srgbClr val="2B2B2B"/>
                </a:solidFill>
                <a:latin typeface="Meiryo UI" pitchFamily="34" charset="0"/>
                <a:ea typeface="Meiryo UI" pitchFamily="34" charset="-122"/>
                <a:cs typeface="Meiryo UI" pitchFamily="34" charset="-120"/>
              </a:rPr>
              <a:t>エージェントの共有（参照は利用者の権限の範囲）</a:t>
            </a:r>
            <a:endParaRPr lang="en-US" sz="1100" dirty="0"/>
          </a:p>
        </p:txBody>
      </p:sp>
      <p:sp>
        <p:nvSpPr>
          <p:cNvPr id="47" name="Shape 38"/>
          <p:cNvSpPr/>
          <p:nvPr/>
        </p:nvSpPr>
        <p:spPr>
          <a:xfrm>
            <a:off x="548640" y="4572000"/>
            <a:ext cx="3566160" cy="1783080"/>
          </a:xfrm>
          <a:prstGeom prst="roundRect">
            <a:avLst>
              <a:gd name="adj" fmla="val 3077"/>
            </a:avLst>
          </a:prstGeom>
          <a:solidFill>
            <a:srgbClr val="D9F2F1"/>
          </a:solidFill>
          <a:ln/>
        </p:spPr>
      </p:sp>
      <p:sp>
        <p:nvSpPr>
          <p:cNvPr id="48" name="Shape 39"/>
          <p:cNvSpPr/>
          <p:nvPr/>
        </p:nvSpPr>
        <p:spPr>
          <a:xfrm>
            <a:off x="685800" y="4690872"/>
            <a:ext cx="384048" cy="384048"/>
          </a:xfrm>
          <a:prstGeom prst="ellipse">
            <a:avLst/>
          </a:prstGeom>
          <a:solidFill>
            <a:srgbClr val="FFFFFF"/>
          </a:solidFill>
          <a:ln/>
        </p:spPr>
      </p:sp>
      <p:pic>
        <p:nvPicPr>
          <p:cNvPr id="49" name="Image 7" descr="preencoded.png">    </p:cNvPr>
          <p:cNvPicPr>
            <a:picLocks noChangeAspect="1"/>
          </p:cNvPicPr>
          <p:nvPr/>
        </p:nvPicPr>
        <p:blipFill>
          <a:blip r:embed="rId8"/>
          <a:stretch>
            <a:fillRect/>
          </a:stretch>
        </p:blipFill>
        <p:spPr>
          <a:xfrm>
            <a:off x="762610" y="4767682"/>
            <a:ext cx="230429" cy="230429"/>
          </a:xfrm>
          <a:prstGeom prst="rect">
            <a:avLst/>
          </a:prstGeom>
        </p:spPr>
      </p:pic>
      <p:sp>
        <p:nvSpPr>
          <p:cNvPr id="50" name="Text 40"/>
          <p:cNvSpPr txBox="1"/>
          <p:nvPr/>
        </p:nvSpPr>
        <p:spPr>
          <a:xfrm>
            <a:off x="1143000" y="4690872"/>
            <a:ext cx="2880360" cy="384048"/>
          </a:xfrm>
          <a:prstGeom prst="rect">
            <a:avLst/>
          </a:prstGeom>
          <a:noFill/>
          <a:ln/>
        </p:spPr>
        <p:txBody>
          <a:bodyPr wrap="square" lIns="0" tIns="0" rIns="0" bIns="0"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特徴</a:t>
            </a:r>
            <a:endParaRPr lang="en-US" sz="1300" dirty="0"/>
          </a:p>
        </p:txBody>
      </p:sp>
      <p:sp>
        <p:nvSpPr>
          <p:cNvPr id="51" name="Text 41"/>
          <p:cNvSpPr txBox="1"/>
          <p:nvPr/>
        </p:nvSpPr>
        <p:spPr>
          <a:xfrm>
            <a:off x="731520" y="5175504"/>
            <a:ext cx="3246120" cy="1088136"/>
          </a:xfrm>
          <a:prstGeom prst="rect">
            <a:avLst/>
          </a:prstGeom>
          <a:noFill/>
          <a:ln/>
        </p:spPr>
        <p:txBody>
          <a:bodyPr wrap="square" lIns="254" tIns="254" rIns="254" bIns="254" rtlCol="0" anchor="t"/>
          <a:lstStyle/>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すぐに作れて、デモを作成済み</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指示とナレッジを固定でき、A1より品質が揃う</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追加コストがかからない</a:t>
            </a:r>
            <a:endParaRPr lang="en-US" sz="1150" dirty="0"/>
          </a:p>
        </p:txBody>
      </p:sp>
      <p:sp>
        <p:nvSpPr>
          <p:cNvPr id="52" name="Shape 42"/>
          <p:cNvSpPr/>
          <p:nvPr/>
        </p:nvSpPr>
        <p:spPr>
          <a:xfrm>
            <a:off x="4297680" y="4572000"/>
            <a:ext cx="3566160" cy="1783080"/>
          </a:xfrm>
          <a:prstGeom prst="roundRect">
            <a:avLst>
              <a:gd name="adj" fmla="val 3077"/>
            </a:avLst>
          </a:prstGeom>
          <a:solidFill>
            <a:srgbClr val="FBE3E3"/>
          </a:solidFill>
          <a:ln/>
        </p:spPr>
      </p:sp>
      <p:sp>
        <p:nvSpPr>
          <p:cNvPr id="53" name="Shape 43"/>
          <p:cNvSpPr/>
          <p:nvPr/>
        </p:nvSpPr>
        <p:spPr>
          <a:xfrm>
            <a:off x="4434840" y="4690872"/>
            <a:ext cx="384048" cy="384048"/>
          </a:xfrm>
          <a:prstGeom prst="ellipse">
            <a:avLst/>
          </a:prstGeom>
          <a:solidFill>
            <a:srgbClr val="FFFFFF"/>
          </a:solidFill>
          <a:ln/>
        </p:spPr>
      </p:sp>
      <p:pic>
        <p:nvPicPr>
          <p:cNvPr id="54" name="Image 8" descr="preencoded.png">    </p:cNvPr>
          <p:cNvPicPr>
            <a:picLocks noChangeAspect="1"/>
          </p:cNvPicPr>
          <p:nvPr/>
        </p:nvPicPr>
        <p:blipFill>
          <a:blip r:embed="rId9"/>
          <a:stretch>
            <a:fillRect/>
          </a:stretch>
        </p:blipFill>
        <p:spPr>
          <a:xfrm>
            <a:off x="4511650" y="4767682"/>
            <a:ext cx="230429" cy="230429"/>
          </a:xfrm>
          <a:prstGeom prst="rect">
            <a:avLst/>
          </a:prstGeom>
        </p:spPr>
      </p:pic>
      <p:sp>
        <p:nvSpPr>
          <p:cNvPr id="55" name="Text 44"/>
          <p:cNvSpPr txBox="1"/>
          <p:nvPr/>
        </p:nvSpPr>
        <p:spPr>
          <a:xfrm>
            <a:off x="4892040" y="4690872"/>
            <a:ext cx="2880360" cy="384048"/>
          </a:xfrm>
          <a:prstGeom prst="rect">
            <a:avLst/>
          </a:prstGeom>
          <a:noFill/>
          <a:ln/>
        </p:spPr>
        <p:txBody>
          <a:bodyPr wrap="square" lIns="0" tIns="0" rIns="0" bIns="0"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留意点・制約</a:t>
            </a:r>
            <a:endParaRPr lang="en-US" sz="1300" dirty="0"/>
          </a:p>
        </p:txBody>
      </p:sp>
      <p:sp>
        <p:nvSpPr>
          <p:cNvPr id="56" name="Text 45"/>
          <p:cNvSpPr txBox="1"/>
          <p:nvPr/>
        </p:nvSpPr>
        <p:spPr>
          <a:xfrm>
            <a:off x="4480560" y="5175504"/>
            <a:ext cx="3246120" cy="1088136"/>
          </a:xfrm>
          <a:prstGeom prst="rect">
            <a:avLst/>
          </a:prstGeom>
          <a:noFill/>
          <a:ln/>
        </p:spPr>
        <p:txBody>
          <a:bodyPr wrap="square" lIns="254" tIns="254" rIns="254" bIns="254" rtlCol="0" anchor="t"/>
          <a:lstStyle/>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Q&amp;A型で、レコード作成やワークフロー起動などのアクションはできない</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バージョン管理・環境分離などの管理機能がない</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自動起案やAirtableへの書き戻しはできない</a:t>
            </a:r>
            <a:endParaRPr lang="en-US" sz="1150" dirty="0"/>
          </a:p>
        </p:txBody>
      </p:sp>
      <p:sp>
        <p:nvSpPr>
          <p:cNvPr id="57" name="Shape 46"/>
          <p:cNvSpPr/>
          <p:nvPr/>
        </p:nvSpPr>
        <p:spPr>
          <a:xfrm>
            <a:off x="8046720" y="4572000"/>
            <a:ext cx="3566160" cy="1783080"/>
          </a:xfrm>
          <a:prstGeom prst="roundRect">
            <a:avLst>
              <a:gd name="adj" fmla="val 3077"/>
            </a:avLst>
          </a:prstGeom>
          <a:solidFill>
            <a:srgbClr val="FDEBD3"/>
          </a:solidFill>
          <a:ln/>
        </p:spPr>
      </p:sp>
      <p:sp>
        <p:nvSpPr>
          <p:cNvPr id="58" name="Shape 47"/>
          <p:cNvSpPr/>
          <p:nvPr/>
        </p:nvSpPr>
        <p:spPr>
          <a:xfrm>
            <a:off x="8183880" y="4690872"/>
            <a:ext cx="384048" cy="384048"/>
          </a:xfrm>
          <a:prstGeom prst="ellipse">
            <a:avLst/>
          </a:prstGeom>
          <a:solidFill>
            <a:srgbClr val="FFFFFF"/>
          </a:solidFill>
          <a:ln/>
        </p:spPr>
      </p:sp>
      <p:pic>
        <p:nvPicPr>
          <p:cNvPr id="59" name="Image 9" descr="preencoded.png">    </p:cNvPr>
          <p:cNvPicPr>
            <a:picLocks noChangeAspect="1"/>
          </p:cNvPicPr>
          <p:nvPr/>
        </p:nvPicPr>
        <p:blipFill>
          <a:blip r:embed="rId10"/>
          <a:stretch>
            <a:fillRect/>
          </a:stretch>
        </p:blipFill>
        <p:spPr>
          <a:xfrm>
            <a:off x="8260690" y="4767682"/>
            <a:ext cx="230429" cy="230429"/>
          </a:xfrm>
          <a:prstGeom prst="rect">
            <a:avLst/>
          </a:prstGeom>
        </p:spPr>
      </p:pic>
      <p:sp>
        <p:nvSpPr>
          <p:cNvPr id="60" name="Text 48"/>
          <p:cNvSpPr txBox="1"/>
          <p:nvPr/>
        </p:nvSpPr>
        <p:spPr>
          <a:xfrm>
            <a:off x="8641080" y="4690872"/>
            <a:ext cx="2880360" cy="384048"/>
          </a:xfrm>
          <a:prstGeom prst="rect">
            <a:avLst/>
          </a:prstGeom>
          <a:noFill/>
          <a:ln/>
        </p:spPr>
        <p:txBody>
          <a:bodyPr wrap="square" lIns="0" tIns="0" rIns="0" bIns="0"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検討ポイント</a:t>
            </a:r>
            <a:endParaRPr lang="en-US" sz="1300" dirty="0"/>
          </a:p>
        </p:txBody>
      </p:sp>
      <p:sp>
        <p:nvSpPr>
          <p:cNvPr id="61" name="Text 49"/>
          <p:cNvSpPr txBox="1"/>
          <p:nvPr/>
        </p:nvSpPr>
        <p:spPr>
          <a:xfrm>
            <a:off x="8229600" y="5175504"/>
            <a:ext cx="3246120" cy="1088136"/>
          </a:xfrm>
          <a:prstGeom prst="rect">
            <a:avLst/>
          </a:prstGeom>
          <a:noFill/>
          <a:ln/>
        </p:spPr>
        <p:txBody>
          <a:bodyPr wrap="square" lIns="254" tIns="254" rIns="254" bIns="254" rtlCol="0" anchor="t"/>
          <a:lstStyle/>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数値データのファイルをどう最新に保つか</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ナレッジ検索の参照精度</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高度な要件が出た場合のA3（Copilot Studio）への移行（作り直しが必要）</a:t>
            </a:r>
            <a:endParaRPr lang="en-US" sz="1150" dirty="0"/>
          </a:p>
        </p:txBody>
      </p:sp>
      <p:sp>
        <p:nvSpPr>
          <p:cNvPr id="62" name="Text 50"/>
          <p:cNvSpPr txBox="1"/>
          <p:nvPr/>
        </p:nvSpPr>
        <p:spPr>
          <a:xfrm>
            <a:off x="548640" y="6400800"/>
            <a:ext cx="10515600" cy="228600"/>
          </a:xfrm>
          <a:prstGeom prst="rect">
            <a:avLst/>
          </a:prstGeom>
          <a:noFill/>
          <a:ln/>
        </p:spPr>
        <p:txBody>
          <a:bodyPr wrap="square" lIns="0" tIns="0" rIns="0" bIns="0" rtlCol="0" anchor="t"/>
          <a:lstStyle/>
          <a:p>
            <a:pPr indent="0" marL="0">
              <a:buNone/>
            </a:pPr>
            <a:r>
              <a:rPr lang="en-US" sz="800" dirty="0">
                <a:solidFill>
                  <a:srgbClr val="6B7280"/>
                </a:solidFill>
                <a:latin typeface="Meiryo UI" pitchFamily="34" charset="0"/>
                <a:ea typeface="Meiryo UI" pitchFamily="34" charset="-122"/>
                <a:cs typeface="Meiryo UI" pitchFamily="34" charset="-120"/>
              </a:rPr>
              <a:t>難易度（★）：開発量・必要なスキル・関係する部署やシステムの数から見た相対的な目安。期間：社内で内製し、PoC後に単独で構築した場合の概算</a:t>
            </a:r>
            <a:endParaRPr lang="en-US" sz="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548640"/>
          </a:xfrm>
          <a:prstGeom prst="rect">
            <a:avLst/>
          </a:prstGeom>
          <a:noFill/>
          <a:ln/>
        </p:spPr>
        <p:txBody>
          <a:bodyPr wrap="square" lIns="0" tIns="0" rIns="0" bIns="0" rtlCol="0" anchor="ctr"/>
          <a:lstStyle/>
          <a:p>
            <a:pPr indent="0" marL="0">
              <a:buNone/>
            </a:pPr>
            <a:r>
              <a:rPr lang="en-US" sz="2600" b="1" dirty="0">
                <a:solidFill>
                  <a:srgbClr val="1B2A49"/>
                </a:solidFill>
                <a:latin typeface="Meiryo UI" pitchFamily="34" charset="0"/>
                <a:ea typeface="Meiryo UI" pitchFamily="34" charset="-122"/>
                <a:cs typeface="Meiryo UI" pitchFamily="34" charset="-120"/>
              </a:rPr>
              <a:t>A3｜Copilot Studioエージェント</a:t>
            </a:r>
            <a:endParaRPr lang="en-US" sz="2600" dirty="0"/>
          </a:p>
        </p:txBody>
      </p:sp>
      <p:sp>
        <p:nvSpPr>
          <p:cNvPr id="3" name="Text 1"/>
          <p:cNvSpPr txBox="1"/>
          <p:nvPr/>
        </p:nvSpPr>
        <p:spPr>
          <a:xfrm>
            <a:off x="548640" y="896112"/>
            <a:ext cx="11064240" cy="365760"/>
          </a:xfrm>
          <a:prstGeom prst="rect">
            <a:avLst/>
          </a:prstGeom>
          <a:noFill/>
          <a:ln/>
        </p:spPr>
        <p:txBody>
          <a:bodyPr wrap="square" lIns="0" tIns="0" rIns="0" bIns="0" rtlCol="0" anchor="ctr"/>
          <a:lstStyle/>
          <a:p>
            <a:pPr indent="0" marL="0">
              <a:buNone/>
            </a:pPr>
            <a:r>
              <a:rPr lang="en-US" sz="1400" dirty="0">
                <a:solidFill>
                  <a:srgbClr val="6B7280"/>
                </a:solidFill>
                <a:latin typeface="Meiryo UI" pitchFamily="34" charset="0"/>
                <a:ea typeface="Meiryo UI" pitchFamily="34" charset="-122"/>
                <a:cs typeface="Meiryo UI" pitchFamily="34" charset="-120"/>
              </a:rPr>
              <a:t>数値データをM365へ自動で連携し、社内共通のエージェントにTeamsから依頼する</a:t>
            </a:r>
            <a:endParaRPr lang="en-US" sz="1400" dirty="0"/>
          </a:p>
        </p:txBody>
      </p:sp>
      <p:sp>
        <p:nvSpPr>
          <p:cNvPr id="4" name="Text 2"/>
          <p:cNvSpPr txBox="1"/>
          <p:nvPr/>
        </p:nvSpPr>
        <p:spPr>
          <a:xfrm>
            <a:off x="7498080" y="91440"/>
            <a:ext cx="4114800" cy="22860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4. 各パターンの詳細</a:t>
            </a:r>
            <a:endParaRPr lang="en-US" sz="900" dirty="0"/>
          </a:p>
        </p:txBody>
      </p:sp>
      <p:sp>
        <p:nvSpPr>
          <p:cNvPr id="5" name="Text 3"/>
          <p:cNvSpPr txBox="1"/>
          <p:nvPr/>
        </p:nvSpPr>
        <p:spPr>
          <a:xfrm>
            <a:off x="11247120" y="6446520"/>
            <a:ext cx="457200" cy="27432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20</a:t>
            </a:r>
            <a:endParaRPr lang="en-US" sz="900" dirty="0"/>
          </a:p>
        </p:txBody>
      </p:sp>
      <p:sp>
        <p:nvSpPr>
          <p:cNvPr id="6" name="Shape 4"/>
          <p:cNvSpPr/>
          <p:nvPr/>
        </p:nvSpPr>
        <p:spPr>
          <a:xfrm>
            <a:off x="548640" y="1371600"/>
            <a:ext cx="2103120" cy="347472"/>
          </a:xfrm>
          <a:prstGeom prst="roundRect">
            <a:avLst>
              <a:gd name="adj" fmla="val 50000"/>
            </a:avLst>
          </a:prstGeom>
          <a:solidFill>
            <a:srgbClr val="E5F0FA"/>
          </a:solidFill>
          <a:ln/>
        </p:spPr>
      </p:sp>
      <p:sp>
        <p:nvSpPr>
          <p:cNvPr id="7" name="Text 5"/>
          <p:cNvSpPr txBox="1"/>
          <p:nvPr/>
        </p:nvSpPr>
        <p:spPr>
          <a:xfrm>
            <a:off x="548640" y="1371600"/>
            <a:ext cx="2103120" cy="347472"/>
          </a:xfrm>
          <a:prstGeom prst="rect">
            <a:avLst/>
          </a:prstGeom>
          <a:noFill/>
          <a:ln/>
        </p:spPr>
        <p:txBody>
          <a:bodyPr wrap="square" lIns="0" tIns="0" rIns="0" bIns="0" rtlCol="0" anchor="ctr"/>
          <a:lstStyle/>
          <a:p>
            <a:pPr algn="ctr" indent="0" marL="0">
              <a:buNone/>
            </a:pPr>
            <a:r>
              <a:rPr lang="en-US" sz="950" dirty="0">
                <a:solidFill>
                  <a:srgbClr val="0F6CBD"/>
                </a:solidFill>
                <a:latin typeface="Meiryo UI" pitchFamily="34" charset="0"/>
                <a:ea typeface="Meiryo UI" pitchFamily="34" charset="-122"/>
                <a:cs typeface="Meiryo UI" pitchFamily="34" charset="-120"/>
              </a:rPr>
              <a:t>集約先  </a:t>
            </a:r>
            <a:pPr algn="ctr" indent="0" marL="0">
              <a:buNone/>
            </a:pPr>
            <a:r>
              <a:rPr lang="en-US" sz="1100" b="1" dirty="0">
                <a:solidFill>
                  <a:srgbClr val="0F6CBD"/>
                </a:solidFill>
                <a:latin typeface="Meiryo UI" pitchFamily="34" charset="0"/>
                <a:ea typeface="Meiryo UI" pitchFamily="34" charset="-122"/>
                <a:cs typeface="Meiryo UI" pitchFamily="34" charset="-120"/>
              </a:rPr>
              <a:t>M365に寄せる</a:t>
            </a:r>
            <a:endParaRPr lang="en-US" sz="950" dirty="0"/>
          </a:p>
        </p:txBody>
      </p:sp>
      <p:sp>
        <p:nvSpPr>
          <p:cNvPr id="8" name="Shape 6"/>
          <p:cNvSpPr/>
          <p:nvPr/>
        </p:nvSpPr>
        <p:spPr>
          <a:xfrm>
            <a:off x="2788920" y="1371600"/>
            <a:ext cx="2103120" cy="347472"/>
          </a:xfrm>
          <a:prstGeom prst="roundRect">
            <a:avLst>
              <a:gd name="adj" fmla="val 50000"/>
            </a:avLst>
          </a:prstGeom>
          <a:solidFill>
            <a:srgbClr val="F3F5F8"/>
          </a:solidFill>
          <a:ln/>
        </p:spPr>
      </p:sp>
      <p:sp>
        <p:nvSpPr>
          <p:cNvPr id="9" name="Text 7"/>
          <p:cNvSpPr txBox="1"/>
          <p:nvPr/>
        </p:nvSpPr>
        <p:spPr>
          <a:xfrm>
            <a:off x="2788920" y="1371600"/>
            <a:ext cx="2103120" cy="347472"/>
          </a:xfrm>
          <a:prstGeom prst="rect">
            <a:avLst/>
          </a:prstGeom>
          <a:noFill/>
          <a:ln/>
        </p:spPr>
        <p:txBody>
          <a:bodyPr wrap="square" lIns="0" tIns="0" rIns="0" bIns="0" rtlCol="0" anchor="ctr"/>
          <a:lstStyle/>
          <a:p>
            <a:pPr algn="ctr" indent="0" marL="0">
              <a:buNone/>
            </a:pPr>
            <a:r>
              <a:rPr lang="en-US" sz="950" dirty="0">
                <a:solidFill>
                  <a:srgbClr val="1B2A49"/>
                </a:solidFill>
                <a:latin typeface="Meiryo UI" pitchFamily="34" charset="0"/>
                <a:ea typeface="Meiryo UI" pitchFamily="34" charset="-122"/>
                <a:cs typeface="Meiryo UI" pitchFamily="34" charset="-120"/>
              </a:rPr>
              <a:t>管理基盤  </a:t>
            </a:r>
            <a:pPr algn="ctr" indent="0" marL="0">
              <a:buNone/>
            </a:pPr>
            <a:r>
              <a:rPr lang="en-US" sz="1100" b="1" dirty="0">
                <a:solidFill>
                  <a:srgbClr val="1B2A49"/>
                </a:solidFill>
                <a:latin typeface="Meiryo UI" pitchFamily="34" charset="0"/>
                <a:ea typeface="Meiryo UI" pitchFamily="34" charset="-122"/>
                <a:cs typeface="Meiryo UI" pitchFamily="34" charset="-120"/>
              </a:rPr>
              <a:t>Airtable</a:t>
            </a:r>
            <a:endParaRPr lang="en-US" sz="950" dirty="0"/>
          </a:p>
        </p:txBody>
      </p:sp>
      <p:sp>
        <p:nvSpPr>
          <p:cNvPr id="10" name="Shape 8"/>
          <p:cNvSpPr/>
          <p:nvPr/>
        </p:nvSpPr>
        <p:spPr>
          <a:xfrm>
            <a:off x="5029200" y="1371600"/>
            <a:ext cx="2103120" cy="347472"/>
          </a:xfrm>
          <a:prstGeom prst="roundRect">
            <a:avLst>
              <a:gd name="adj" fmla="val 50000"/>
            </a:avLst>
          </a:prstGeom>
          <a:solidFill>
            <a:srgbClr val="D9F2F1"/>
          </a:solidFill>
          <a:ln/>
        </p:spPr>
      </p:sp>
      <p:sp>
        <p:nvSpPr>
          <p:cNvPr id="11" name="Text 9"/>
          <p:cNvSpPr txBox="1"/>
          <p:nvPr/>
        </p:nvSpPr>
        <p:spPr>
          <a:xfrm>
            <a:off x="5029200" y="1371600"/>
            <a:ext cx="2103120" cy="347472"/>
          </a:xfrm>
          <a:prstGeom prst="rect">
            <a:avLst/>
          </a:prstGeom>
          <a:noFill/>
          <a:ln/>
        </p:spPr>
        <p:txBody>
          <a:bodyPr wrap="square" lIns="0" tIns="0" rIns="0" bIns="0" rtlCol="0" anchor="ctr"/>
          <a:lstStyle/>
          <a:p>
            <a:pPr algn="ctr" indent="0" marL="0">
              <a:buNone/>
            </a:pPr>
            <a:r>
              <a:rPr lang="en-US" sz="950" dirty="0">
                <a:solidFill>
                  <a:srgbClr val="0E9F9A"/>
                </a:solidFill>
                <a:latin typeface="Meiryo UI" pitchFamily="34" charset="0"/>
                <a:ea typeface="Meiryo UI" pitchFamily="34" charset="-122"/>
                <a:cs typeface="Meiryo UI" pitchFamily="34" charset="-120"/>
              </a:rPr>
              <a:t>自動化  </a:t>
            </a:r>
            <a:pPr algn="ctr" indent="0" marL="0">
              <a:buNone/>
            </a:pPr>
            <a:r>
              <a:rPr lang="en-US" sz="1100" b="1" dirty="0">
                <a:solidFill>
                  <a:srgbClr val="0E9F9A"/>
                </a:solidFill>
                <a:latin typeface="Meiryo UI" pitchFamily="34" charset="0"/>
                <a:ea typeface="Meiryo UI" pitchFamily="34" charset="-122"/>
                <a:cs typeface="Meiryo UI" pitchFamily="34" charset="-120"/>
              </a:rPr>
              <a:t>Step2</a:t>
            </a:r>
            <a:endParaRPr lang="en-US" sz="950" dirty="0"/>
          </a:p>
        </p:txBody>
      </p:sp>
      <p:sp>
        <p:nvSpPr>
          <p:cNvPr id="12" name="Shape 10"/>
          <p:cNvSpPr/>
          <p:nvPr/>
        </p:nvSpPr>
        <p:spPr>
          <a:xfrm>
            <a:off x="7269480" y="1371600"/>
            <a:ext cx="2103120" cy="347472"/>
          </a:xfrm>
          <a:prstGeom prst="roundRect">
            <a:avLst>
              <a:gd name="adj" fmla="val 50000"/>
            </a:avLst>
          </a:prstGeom>
          <a:solidFill>
            <a:srgbClr val="FDEBD3"/>
          </a:solidFill>
          <a:ln/>
        </p:spPr>
      </p:sp>
      <p:sp>
        <p:nvSpPr>
          <p:cNvPr id="13" name="Text 11"/>
          <p:cNvSpPr txBox="1"/>
          <p:nvPr/>
        </p:nvSpPr>
        <p:spPr>
          <a:xfrm>
            <a:off x="7269480" y="1371600"/>
            <a:ext cx="2103120" cy="347472"/>
          </a:xfrm>
          <a:prstGeom prst="rect">
            <a:avLst/>
          </a:prstGeom>
          <a:noFill/>
          <a:ln/>
        </p:spPr>
        <p:txBody>
          <a:bodyPr wrap="square" lIns="0" tIns="0" rIns="0" bIns="0" rtlCol="0" anchor="ctr"/>
          <a:lstStyle/>
          <a:p>
            <a:pPr algn="ctr" indent="0" marL="0">
              <a:buNone/>
            </a:pPr>
            <a:r>
              <a:rPr lang="en-US" sz="950" dirty="0">
                <a:solidFill>
                  <a:srgbClr val="E8912D"/>
                </a:solidFill>
                <a:latin typeface="Meiryo UI" pitchFamily="34" charset="0"/>
                <a:ea typeface="Meiryo UI" pitchFamily="34" charset="-122"/>
                <a:cs typeface="Meiryo UI" pitchFamily="34" charset="-120"/>
              </a:rPr>
              <a:t>難易度  </a:t>
            </a:r>
            <a:pPr algn="ctr" indent="0" marL="0">
              <a:buNone/>
            </a:pPr>
            <a:r>
              <a:rPr lang="en-US" sz="1100" b="1" dirty="0">
                <a:solidFill>
                  <a:srgbClr val="E8912D"/>
                </a:solidFill>
                <a:latin typeface="Meiryo UI" pitchFamily="34" charset="0"/>
                <a:ea typeface="Meiryo UI" pitchFamily="34" charset="-122"/>
                <a:cs typeface="Meiryo UI" pitchFamily="34" charset="-120"/>
              </a:rPr>
              <a:t>★★☆☆☆</a:t>
            </a:r>
            <a:endParaRPr lang="en-US" sz="950" dirty="0"/>
          </a:p>
        </p:txBody>
      </p:sp>
      <p:sp>
        <p:nvSpPr>
          <p:cNvPr id="14" name="Shape 12"/>
          <p:cNvSpPr/>
          <p:nvPr/>
        </p:nvSpPr>
        <p:spPr>
          <a:xfrm>
            <a:off x="9509760" y="1371600"/>
            <a:ext cx="2103120" cy="347472"/>
          </a:xfrm>
          <a:prstGeom prst="roundRect">
            <a:avLst>
              <a:gd name="adj" fmla="val 50000"/>
            </a:avLst>
          </a:prstGeom>
          <a:solidFill>
            <a:srgbClr val="F3F5F8"/>
          </a:solidFill>
          <a:ln/>
        </p:spPr>
      </p:sp>
      <p:sp>
        <p:nvSpPr>
          <p:cNvPr id="15" name="Text 13"/>
          <p:cNvSpPr txBox="1"/>
          <p:nvPr/>
        </p:nvSpPr>
        <p:spPr>
          <a:xfrm>
            <a:off x="9509760" y="1371600"/>
            <a:ext cx="2103120" cy="347472"/>
          </a:xfrm>
          <a:prstGeom prst="rect">
            <a:avLst/>
          </a:prstGeom>
          <a:noFill/>
          <a:ln/>
        </p:spPr>
        <p:txBody>
          <a:bodyPr wrap="square" lIns="0" tIns="0" rIns="0" bIns="0" rtlCol="0" anchor="ctr"/>
          <a:lstStyle/>
          <a:p>
            <a:pPr algn="ctr" indent="0" marL="0">
              <a:buNone/>
            </a:pPr>
            <a:r>
              <a:rPr lang="en-US" sz="950" dirty="0">
                <a:solidFill>
                  <a:srgbClr val="1B2A49"/>
                </a:solidFill>
                <a:latin typeface="Meiryo UI" pitchFamily="34" charset="0"/>
                <a:ea typeface="Meiryo UI" pitchFamily="34" charset="-122"/>
                <a:cs typeface="Meiryo UI" pitchFamily="34" charset="-120"/>
              </a:rPr>
              <a:t>期間目安  </a:t>
            </a:r>
            <a:pPr algn="ctr" indent="0" marL="0">
              <a:buNone/>
            </a:pPr>
            <a:r>
              <a:rPr lang="en-US" sz="1100" b="1" dirty="0">
                <a:solidFill>
                  <a:srgbClr val="1B2A49"/>
                </a:solidFill>
                <a:latin typeface="Meiryo UI" pitchFamily="34" charset="0"/>
                <a:ea typeface="Meiryo UI" pitchFamily="34" charset="-122"/>
                <a:cs typeface="Meiryo UI" pitchFamily="34" charset="-120"/>
              </a:rPr>
              <a:t>2〜3ヶ月</a:t>
            </a:r>
            <a:endParaRPr lang="en-US" sz="950" dirty="0"/>
          </a:p>
        </p:txBody>
      </p:sp>
      <p:sp>
        <p:nvSpPr>
          <p:cNvPr id="16" name="Shape 14"/>
          <p:cNvSpPr/>
          <p:nvPr/>
        </p:nvSpPr>
        <p:spPr>
          <a:xfrm>
            <a:off x="548640" y="1874520"/>
            <a:ext cx="6949440" cy="2514600"/>
          </a:xfrm>
          <a:prstGeom prst="roundRect">
            <a:avLst>
              <a:gd name="adj" fmla="val 1455"/>
            </a:avLst>
          </a:prstGeom>
          <a:solidFill>
            <a:srgbClr val="F3F5F8"/>
          </a:solidFill>
          <a:ln/>
        </p:spPr>
      </p:sp>
      <p:sp>
        <p:nvSpPr>
          <p:cNvPr id="17" name="Shape 15"/>
          <p:cNvSpPr/>
          <p:nvPr/>
        </p:nvSpPr>
        <p:spPr>
          <a:xfrm>
            <a:off x="731520" y="2011680"/>
            <a:ext cx="1691640" cy="566928"/>
          </a:xfrm>
          <a:prstGeom prst="roundRect">
            <a:avLst>
              <a:gd name="adj" fmla="val 12903"/>
            </a:avLst>
          </a:prstGeom>
          <a:solidFill>
            <a:srgbClr val="E3EAF5"/>
          </a:solidFill>
          <a:ln/>
        </p:spPr>
      </p:sp>
      <p:pic>
        <p:nvPicPr>
          <p:cNvPr id="18" name="Image 0" descr="preencoded.png">    </p:cNvPr>
          <p:cNvPicPr>
            <a:picLocks noChangeAspect="1"/>
          </p:cNvPicPr>
          <p:nvPr/>
        </p:nvPicPr>
        <p:blipFill>
          <a:blip r:embed="rId1"/>
          <a:stretch>
            <a:fillRect/>
          </a:stretch>
        </p:blipFill>
        <p:spPr>
          <a:xfrm>
            <a:off x="841248" y="2112264"/>
            <a:ext cx="365760" cy="365760"/>
          </a:xfrm>
          <a:prstGeom prst="rect">
            <a:avLst/>
          </a:prstGeom>
        </p:spPr>
      </p:pic>
      <p:sp>
        <p:nvSpPr>
          <p:cNvPr id="19" name="Text 16"/>
          <p:cNvSpPr txBox="1"/>
          <p:nvPr/>
        </p:nvSpPr>
        <p:spPr>
          <a:xfrm>
            <a:off x="1298448" y="2011680"/>
            <a:ext cx="1078992" cy="566928"/>
          </a:xfrm>
          <a:prstGeom prst="rect">
            <a:avLst/>
          </a:prstGeom>
          <a:noFill/>
          <a:ln/>
        </p:spPr>
        <p:txBody>
          <a:bodyPr wrap="square" lIns="0" tIns="0" rIns="0" bIns="0" rtlCol="0" anchor="ctr"/>
          <a:lstStyle/>
          <a:p>
            <a:pPr algn="l" indent="0" marL="0">
              <a:buNone/>
            </a:pPr>
            <a:r>
              <a:rPr lang="en-US" sz="1000" b="1" dirty="0">
                <a:solidFill>
                  <a:srgbClr val="1B2A49"/>
                </a:solidFill>
                <a:latin typeface="Meiryo UI" pitchFamily="34" charset="0"/>
                <a:ea typeface="Meiryo UI" pitchFamily="34" charset="-122"/>
                <a:cs typeface="Meiryo UI" pitchFamily="34" charset="-120"/>
              </a:rPr>
              <a:t>売上・在庫</a:t>
            </a:r>
            <a:endParaRPr lang="en-US" sz="1000" dirty="0"/>
          </a:p>
          <a:p>
            <a:pPr algn="l" indent="0" marL="0">
              <a:buNone/>
            </a:pPr>
            <a:r>
              <a:rPr lang="en-US" sz="850" dirty="0">
                <a:solidFill>
                  <a:srgbClr val="6B7280"/>
                </a:solidFill>
                <a:latin typeface="Meiryo UI" pitchFamily="34" charset="0"/>
                <a:ea typeface="Meiryo UI" pitchFamily="34" charset="-122"/>
                <a:cs typeface="Meiryo UI" pitchFamily="34" charset="-120"/>
              </a:rPr>
              <a:t>GCS</a:t>
            </a:r>
            <a:endParaRPr lang="en-US" sz="1000" dirty="0"/>
          </a:p>
        </p:txBody>
      </p:sp>
      <p:sp>
        <p:nvSpPr>
          <p:cNvPr id="20" name="Shape 17"/>
          <p:cNvSpPr/>
          <p:nvPr/>
        </p:nvSpPr>
        <p:spPr>
          <a:xfrm>
            <a:off x="2468880" y="2295144"/>
            <a:ext cx="182880" cy="0"/>
          </a:xfrm>
          <a:prstGeom prst="line">
            <a:avLst/>
          </a:prstGeom>
          <a:noFill/>
          <a:ln w="22225">
            <a:solidFill>
              <a:srgbClr val="9AA5B4"/>
            </a:solidFill>
            <a:prstDash val="solid"/>
            <a:tailEnd type="triangle"/>
          </a:ln>
        </p:spPr>
      </p:sp>
      <p:sp>
        <p:nvSpPr>
          <p:cNvPr id="21" name="Shape 18"/>
          <p:cNvSpPr/>
          <p:nvPr/>
        </p:nvSpPr>
        <p:spPr>
          <a:xfrm>
            <a:off x="731520" y="2697480"/>
            <a:ext cx="1691640" cy="566928"/>
          </a:xfrm>
          <a:prstGeom prst="roundRect">
            <a:avLst>
              <a:gd name="adj" fmla="val 12903"/>
            </a:avLst>
          </a:prstGeom>
          <a:solidFill>
            <a:srgbClr val="E3EAF5"/>
          </a:solidFill>
          <a:ln/>
        </p:spPr>
      </p:sp>
      <p:pic>
        <p:nvPicPr>
          <p:cNvPr id="22" name="Image 1" descr="preencoded.png">    </p:cNvPr>
          <p:cNvPicPr>
            <a:picLocks noChangeAspect="1"/>
          </p:cNvPicPr>
          <p:nvPr/>
        </p:nvPicPr>
        <p:blipFill>
          <a:blip r:embed="rId2"/>
          <a:stretch>
            <a:fillRect/>
          </a:stretch>
        </p:blipFill>
        <p:spPr>
          <a:xfrm>
            <a:off x="841248" y="2798064"/>
            <a:ext cx="365760" cy="365760"/>
          </a:xfrm>
          <a:prstGeom prst="rect">
            <a:avLst/>
          </a:prstGeom>
        </p:spPr>
      </p:pic>
      <p:sp>
        <p:nvSpPr>
          <p:cNvPr id="23" name="Text 19"/>
          <p:cNvSpPr txBox="1"/>
          <p:nvPr/>
        </p:nvSpPr>
        <p:spPr>
          <a:xfrm>
            <a:off x="1298448" y="2697480"/>
            <a:ext cx="1078992" cy="566928"/>
          </a:xfrm>
          <a:prstGeom prst="rect">
            <a:avLst/>
          </a:prstGeom>
          <a:noFill/>
          <a:ln/>
        </p:spPr>
        <p:txBody>
          <a:bodyPr wrap="square" lIns="0" tIns="0" rIns="0" bIns="0" rtlCol="0" anchor="ctr"/>
          <a:lstStyle/>
          <a:p>
            <a:pPr algn="l" indent="0" marL="0">
              <a:buNone/>
            </a:pPr>
            <a:r>
              <a:rPr lang="en-US" sz="1000" b="1" dirty="0">
                <a:solidFill>
                  <a:srgbClr val="1B2A49"/>
                </a:solidFill>
                <a:latin typeface="Meiryo UI" pitchFamily="34" charset="0"/>
                <a:ea typeface="Meiryo UI" pitchFamily="34" charset="-122"/>
                <a:cs typeface="Meiryo UI" pitchFamily="34" charset="-120"/>
              </a:rPr>
              <a:t>商品マスタ</a:t>
            </a:r>
            <a:endParaRPr lang="en-US" sz="1000" dirty="0"/>
          </a:p>
          <a:p>
            <a:pPr algn="l" indent="0" marL="0">
              <a:buNone/>
            </a:pPr>
            <a:r>
              <a:rPr lang="en-US" sz="850" dirty="0">
                <a:solidFill>
                  <a:srgbClr val="6B7280"/>
                </a:solidFill>
                <a:latin typeface="Meiryo UI" pitchFamily="34" charset="0"/>
                <a:ea typeface="Meiryo UI" pitchFamily="34" charset="-122"/>
                <a:cs typeface="Meiryo UI" pitchFamily="34" charset="-120"/>
              </a:rPr>
              <a:t>SharePoint</a:t>
            </a:r>
            <a:endParaRPr lang="en-US" sz="1000" dirty="0"/>
          </a:p>
        </p:txBody>
      </p:sp>
      <p:sp>
        <p:nvSpPr>
          <p:cNvPr id="24" name="Shape 20"/>
          <p:cNvSpPr/>
          <p:nvPr/>
        </p:nvSpPr>
        <p:spPr>
          <a:xfrm>
            <a:off x="2468880" y="2980944"/>
            <a:ext cx="182880" cy="0"/>
          </a:xfrm>
          <a:prstGeom prst="line">
            <a:avLst/>
          </a:prstGeom>
          <a:noFill/>
          <a:ln w="22225">
            <a:solidFill>
              <a:srgbClr val="9AA5B4"/>
            </a:solidFill>
            <a:prstDash val="solid"/>
            <a:tailEnd type="triangle"/>
          </a:ln>
        </p:spPr>
      </p:sp>
      <p:sp>
        <p:nvSpPr>
          <p:cNvPr id="25" name="Shape 21"/>
          <p:cNvSpPr/>
          <p:nvPr/>
        </p:nvSpPr>
        <p:spPr>
          <a:xfrm>
            <a:off x="731520" y="3383280"/>
            <a:ext cx="1691640" cy="566928"/>
          </a:xfrm>
          <a:prstGeom prst="roundRect">
            <a:avLst>
              <a:gd name="adj" fmla="val 12903"/>
            </a:avLst>
          </a:prstGeom>
          <a:solidFill>
            <a:srgbClr val="E3EAF5"/>
          </a:solidFill>
          <a:ln/>
        </p:spPr>
      </p:sp>
      <p:pic>
        <p:nvPicPr>
          <p:cNvPr id="26" name="Image 2" descr="preencoded.png">    </p:cNvPr>
          <p:cNvPicPr>
            <a:picLocks noChangeAspect="1"/>
          </p:cNvPicPr>
          <p:nvPr/>
        </p:nvPicPr>
        <p:blipFill>
          <a:blip r:embed="rId3"/>
          <a:stretch>
            <a:fillRect/>
          </a:stretch>
        </p:blipFill>
        <p:spPr>
          <a:xfrm>
            <a:off x="841248" y="3483864"/>
            <a:ext cx="365760" cy="365760"/>
          </a:xfrm>
          <a:prstGeom prst="rect">
            <a:avLst/>
          </a:prstGeom>
        </p:spPr>
      </p:pic>
      <p:sp>
        <p:nvSpPr>
          <p:cNvPr id="27" name="Text 22"/>
          <p:cNvSpPr txBox="1"/>
          <p:nvPr/>
        </p:nvSpPr>
        <p:spPr>
          <a:xfrm>
            <a:off x="1298448" y="3383280"/>
            <a:ext cx="1078992" cy="566928"/>
          </a:xfrm>
          <a:prstGeom prst="rect">
            <a:avLst/>
          </a:prstGeom>
          <a:noFill/>
          <a:ln/>
        </p:spPr>
        <p:txBody>
          <a:bodyPr wrap="square" lIns="0" tIns="0" rIns="0" bIns="0" rtlCol="0" anchor="ctr"/>
          <a:lstStyle/>
          <a:p>
            <a:pPr algn="l" indent="0" marL="0">
              <a:buNone/>
            </a:pPr>
            <a:r>
              <a:rPr lang="en-US" sz="1000" b="1" dirty="0">
                <a:solidFill>
                  <a:srgbClr val="1B2A49"/>
                </a:solidFill>
                <a:latin typeface="Meiryo UI" pitchFamily="34" charset="0"/>
                <a:ea typeface="Meiryo UI" pitchFamily="34" charset="-122"/>
                <a:cs typeface="Meiryo UI" pitchFamily="34" charset="-120"/>
              </a:rPr>
              <a:t>ポリシー・資料</a:t>
            </a:r>
            <a:endParaRPr lang="en-US" sz="1000" dirty="0"/>
          </a:p>
          <a:p>
            <a:pPr algn="l" indent="0" marL="0">
              <a:buNone/>
            </a:pPr>
            <a:r>
              <a:rPr lang="en-US" sz="850" dirty="0">
                <a:solidFill>
                  <a:srgbClr val="6B7280"/>
                </a:solidFill>
                <a:latin typeface="Meiryo UI" pitchFamily="34" charset="0"/>
                <a:ea typeface="Meiryo UI" pitchFamily="34" charset="-122"/>
                <a:cs typeface="Meiryo UI" pitchFamily="34" charset="-120"/>
              </a:rPr>
              <a:t>SharePoint</a:t>
            </a:r>
            <a:endParaRPr lang="en-US" sz="1000" dirty="0"/>
          </a:p>
        </p:txBody>
      </p:sp>
      <p:sp>
        <p:nvSpPr>
          <p:cNvPr id="28" name="Shape 23"/>
          <p:cNvSpPr/>
          <p:nvPr/>
        </p:nvSpPr>
        <p:spPr>
          <a:xfrm>
            <a:off x="2468880" y="3666744"/>
            <a:ext cx="182880" cy="0"/>
          </a:xfrm>
          <a:prstGeom prst="line">
            <a:avLst/>
          </a:prstGeom>
          <a:noFill/>
          <a:ln w="22225">
            <a:solidFill>
              <a:srgbClr val="9AA5B4"/>
            </a:solidFill>
            <a:prstDash val="solid"/>
            <a:tailEnd type="triangle"/>
          </a:ln>
        </p:spPr>
      </p:sp>
      <p:sp>
        <p:nvSpPr>
          <p:cNvPr id="29" name="Shape 24"/>
          <p:cNvSpPr/>
          <p:nvPr/>
        </p:nvSpPr>
        <p:spPr>
          <a:xfrm>
            <a:off x="2697480" y="2011680"/>
            <a:ext cx="1234440" cy="1938528"/>
          </a:xfrm>
          <a:prstGeom prst="roundRect">
            <a:avLst>
              <a:gd name="adj" fmla="val 5926"/>
            </a:avLst>
          </a:prstGeom>
          <a:solidFill>
            <a:srgbClr val="D9F2F1"/>
          </a:solidFill>
          <a:ln/>
        </p:spPr>
      </p:sp>
      <p:pic>
        <p:nvPicPr>
          <p:cNvPr id="30" name="Image 3" descr="preencoded.png">    </p:cNvPr>
          <p:cNvPicPr>
            <a:picLocks noChangeAspect="1"/>
          </p:cNvPicPr>
          <p:nvPr/>
        </p:nvPicPr>
        <p:blipFill>
          <a:blip r:embed="rId4"/>
          <a:stretch>
            <a:fillRect/>
          </a:stretch>
        </p:blipFill>
        <p:spPr>
          <a:xfrm>
            <a:off x="3086100" y="2139696"/>
            <a:ext cx="457200" cy="457200"/>
          </a:xfrm>
          <a:prstGeom prst="rect">
            <a:avLst/>
          </a:prstGeom>
        </p:spPr>
      </p:pic>
      <p:sp>
        <p:nvSpPr>
          <p:cNvPr id="31" name="Text 25"/>
          <p:cNvSpPr txBox="1"/>
          <p:nvPr/>
        </p:nvSpPr>
        <p:spPr>
          <a:xfrm>
            <a:off x="2743200" y="2633472"/>
            <a:ext cx="1143000" cy="1261872"/>
          </a:xfrm>
          <a:prstGeom prst="rect">
            <a:avLst/>
          </a:prstGeom>
          <a:noFill/>
          <a:ln/>
        </p:spPr>
        <p:txBody>
          <a:bodyPr wrap="square" lIns="0" tIns="0" rIns="0" bIns="0" rtlCol="0" anchor="ctr"/>
          <a:lstStyle/>
          <a:p>
            <a:pPr algn="ctr" indent="0" marL="0">
              <a:buNone/>
            </a:pPr>
            <a:r>
              <a:rPr lang="en-US" sz="1000" b="1" dirty="0">
                <a:solidFill>
                  <a:srgbClr val="1B2A49"/>
                </a:solidFill>
                <a:latin typeface="Meiryo UI" pitchFamily="34" charset="0"/>
                <a:ea typeface="Meiryo UI" pitchFamily="34" charset="-122"/>
                <a:cs typeface="Meiryo UI" pitchFamily="34" charset="-120"/>
              </a:rPr>
              <a:t>自動同期</a:t>
            </a:r>
            <a:endParaRPr lang="en-US" sz="1000" dirty="0"/>
          </a:p>
          <a:p>
            <a:pPr algn="ctr" indent="0" marL="0">
              <a:buNone/>
            </a:pPr>
            <a:r>
              <a:rPr lang="en-US" sz="850" dirty="0">
                <a:solidFill>
                  <a:srgbClr val="6B7280"/>
                </a:solidFill>
                <a:latin typeface="Meiryo UI" pitchFamily="34" charset="0"/>
                <a:ea typeface="Meiryo UI" pitchFamily="34" charset="-122"/>
                <a:cs typeface="Meiryo UI" pitchFamily="34" charset="-120"/>
              </a:rPr>
              <a:t>Power Automate／スクリプト</a:t>
            </a:r>
            <a:endParaRPr lang="en-US" sz="1000" dirty="0"/>
          </a:p>
        </p:txBody>
      </p:sp>
      <p:sp>
        <p:nvSpPr>
          <p:cNvPr id="32" name="Shape 26"/>
          <p:cNvSpPr/>
          <p:nvPr/>
        </p:nvSpPr>
        <p:spPr>
          <a:xfrm>
            <a:off x="3977640" y="2980944"/>
            <a:ext cx="182880" cy="0"/>
          </a:xfrm>
          <a:prstGeom prst="line">
            <a:avLst/>
          </a:prstGeom>
          <a:noFill/>
          <a:ln w="22225">
            <a:solidFill>
              <a:srgbClr val="9AA5B4"/>
            </a:solidFill>
            <a:prstDash val="solid"/>
            <a:tailEnd type="triangle"/>
          </a:ln>
        </p:spPr>
      </p:sp>
      <p:sp>
        <p:nvSpPr>
          <p:cNvPr id="33" name="Shape 27"/>
          <p:cNvSpPr/>
          <p:nvPr/>
        </p:nvSpPr>
        <p:spPr>
          <a:xfrm>
            <a:off x="4206240" y="2011680"/>
            <a:ext cx="1280160" cy="1938528"/>
          </a:xfrm>
          <a:prstGeom prst="roundRect">
            <a:avLst>
              <a:gd name="adj" fmla="val 5714"/>
            </a:avLst>
          </a:prstGeom>
          <a:solidFill>
            <a:srgbClr val="E3EAF5"/>
          </a:solidFill>
          <a:ln/>
        </p:spPr>
      </p:sp>
      <p:pic>
        <p:nvPicPr>
          <p:cNvPr id="34" name="Image 4" descr="preencoded.png">    </p:cNvPr>
          <p:cNvPicPr>
            <a:picLocks noChangeAspect="1"/>
          </p:cNvPicPr>
          <p:nvPr/>
        </p:nvPicPr>
        <p:blipFill>
          <a:blip r:embed="rId5"/>
          <a:stretch>
            <a:fillRect/>
          </a:stretch>
        </p:blipFill>
        <p:spPr>
          <a:xfrm>
            <a:off x="4617720" y="2139696"/>
            <a:ext cx="457200" cy="457200"/>
          </a:xfrm>
          <a:prstGeom prst="rect">
            <a:avLst/>
          </a:prstGeom>
        </p:spPr>
      </p:pic>
      <p:sp>
        <p:nvSpPr>
          <p:cNvPr id="35" name="Text 28"/>
          <p:cNvSpPr txBox="1"/>
          <p:nvPr/>
        </p:nvSpPr>
        <p:spPr>
          <a:xfrm>
            <a:off x="4251960" y="2633472"/>
            <a:ext cx="1188720" cy="1261872"/>
          </a:xfrm>
          <a:prstGeom prst="rect">
            <a:avLst/>
          </a:prstGeom>
          <a:noFill/>
          <a:ln/>
        </p:spPr>
        <p:txBody>
          <a:bodyPr wrap="square" lIns="0" tIns="0" rIns="0" bIns="0" rtlCol="0" anchor="ctr"/>
          <a:lstStyle/>
          <a:p>
            <a:pPr algn="ctr" indent="0" marL="0">
              <a:buNone/>
            </a:pPr>
            <a:r>
              <a:rPr lang="en-US" sz="1000" b="1" dirty="0">
                <a:solidFill>
                  <a:srgbClr val="1B2A49"/>
                </a:solidFill>
                <a:latin typeface="Meiryo UI" pitchFamily="34" charset="0"/>
                <a:ea typeface="Meiryo UI" pitchFamily="34" charset="-122"/>
                <a:cs typeface="Meiryo UI" pitchFamily="34" charset="-120"/>
              </a:rPr>
              <a:t>データ基盤</a:t>
            </a:r>
            <a:endParaRPr lang="en-US" sz="1000" dirty="0"/>
          </a:p>
          <a:p>
            <a:pPr algn="ctr" indent="0" marL="0">
              <a:buNone/>
            </a:pPr>
            <a:r>
              <a:rPr lang="en-US" sz="850" dirty="0">
                <a:solidFill>
                  <a:srgbClr val="6B7280"/>
                </a:solidFill>
                <a:latin typeface="Meiryo UI" pitchFamily="34" charset="0"/>
                <a:ea typeface="Meiryo UI" pitchFamily="34" charset="-122"/>
                <a:cs typeface="Meiryo UI" pitchFamily="34" charset="-120"/>
              </a:rPr>
              <a:t>Dataverse／SharePoint</a:t>
            </a:r>
            <a:endParaRPr lang="en-US" sz="1000" dirty="0"/>
          </a:p>
        </p:txBody>
      </p:sp>
      <p:sp>
        <p:nvSpPr>
          <p:cNvPr id="36" name="Shape 29"/>
          <p:cNvSpPr/>
          <p:nvPr/>
        </p:nvSpPr>
        <p:spPr>
          <a:xfrm>
            <a:off x="5532120" y="2423160"/>
            <a:ext cx="182880" cy="0"/>
          </a:xfrm>
          <a:prstGeom prst="line">
            <a:avLst/>
          </a:prstGeom>
          <a:noFill/>
          <a:ln w="22225">
            <a:solidFill>
              <a:srgbClr val="9AA5B4"/>
            </a:solidFill>
            <a:prstDash val="solid"/>
            <a:tailEnd type="triangle"/>
          </a:ln>
        </p:spPr>
      </p:sp>
      <p:sp>
        <p:nvSpPr>
          <p:cNvPr id="37" name="Shape 30"/>
          <p:cNvSpPr/>
          <p:nvPr/>
        </p:nvSpPr>
        <p:spPr>
          <a:xfrm>
            <a:off x="5760720" y="2011680"/>
            <a:ext cx="1554480" cy="822960"/>
          </a:xfrm>
          <a:prstGeom prst="roundRect">
            <a:avLst>
              <a:gd name="adj" fmla="val 8889"/>
            </a:avLst>
          </a:prstGeom>
          <a:solidFill>
            <a:srgbClr val="0E9F9A"/>
          </a:solidFill>
          <a:ln/>
        </p:spPr>
      </p:sp>
      <p:sp>
        <p:nvSpPr>
          <p:cNvPr id="38" name="Shape 31"/>
          <p:cNvSpPr/>
          <p:nvPr/>
        </p:nvSpPr>
        <p:spPr>
          <a:xfrm>
            <a:off x="5833872" y="2167128"/>
            <a:ext cx="512064" cy="512064"/>
          </a:xfrm>
          <a:prstGeom prst="ellipse">
            <a:avLst/>
          </a:prstGeom>
          <a:solidFill>
            <a:srgbClr val="FFFFFF"/>
          </a:solidFill>
          <a:ln/>
        </p:spPr>
      </p:sp>
      <p:pic>
        <p:nvPicPr>
          <p:cNvPr id="39" name="Image 5" descr="preencoded.png">    </p:cNvPr>
          <p:cNvPicPr>
            <a:picLocks noChangeAspect="1"/>
          </p:cNvPicPr>
          <p:nvPr/>
        </p:nvPicPr>
        <p:blipFill>
          <a:blip r:embed="rId6"/>
          <a:stretch>
            <a:fillRect/>
          </a:stretch>
        </p:blipFill>
        <p:spPr>
          <a:xfrm>
            <a:off x="5907024" y="2240280"/>
            <a:ext cx="365760" cy="365760"/>
          </a:xfrm>
          <a:prstGeom prst="rect">
            <a:avLst/>
          </a:prstGeom>
        </p:spPr>
      </p:pic>
      <p:sp>
        <p:nvSpPr>
          <p:cNvPr id="40" name="Text 32"/>
          <p:cNvSpPr txBox="1"/>
          <p:nvPr/>
        </p:nvSpPr>
        <p:spPr>
          <a:xfrm>
            <a:off x="6492240" y="2011680"/>
            <a:ext cx="777240" cy="822960"/>
          </a:xfrm>
          <a:prstGeom prst="rect">
            <a:avLst/>
          </a:prstGeom>
          <a:noFill/>
          <a:ln/>
        </p:spPr>
        <p:txBody>
          <a:bodyPr wrap="square" lIns="0" tIns="0" rIns="0" bIns="0" rtlCol="0" anchor="ctr"/>
          <a:lstStyle/>
          <a:p>
            <a:pPr algn="l" indent="0" marL="0">
              <a:buNone/>
            </a:pPr>
            <a:r>
              <a:rPr lang="en-US" sz="1000" b="1" dirty="0">
                <a:solidFill>
                  <a:srgbClr val="FFFFFF"/>
                </a:solidFill>
                <a:latin typeface="Meiryo UI" pitchFamily="34" charset="0"/>
                <a:ea typeface="Meiryo UI" pitchFamily="34" charset="-122"/>
                <a:cs typeface="Meiryo UI" pitchFamily="34" charset="-120"/>
              </a:rPr>
              <a:t>Copilot Studio</a:t>
            </a:r>
            <a:endParaRPr lang="en-US" sz="1000" dirty="0"/>
          </a:p>
          <a:p>
            <a:pPr algn="l" indent="0" marL="0">
              <a:buNone/>
            </a:pPr>
            <a:r>
              <a:rPr lang="en-US" sz="900" dirty="0">
                <a:solidFill>
                  <a:srgbClr val="E6F2F2"/>
                </a:solidFill>
                <a:latin typeface="Meiryo UI" pitchFamily="34" charset="0"/>
                <a:ea typeface="Meiryo UI" pitchFamily="34" charset="-122"/>
                <a:cs typeface="Meiryo UI" pitchFamily="34" charset="-120"/>
              </a:rPr>
              <a:t>エージェント</a:t>
            </a:r>
            <a:endParaRPr lang="en-US" sz="1000" dirty="0"/>
          </a:p>
        </p:txBody>
      </p:sp>
      <p:sp>
        <p:nvSpPr>
          <p:cNvPr id="41" name="Shape 33"/>
          <p:cNvSpPr/>
          <p:nvPr/>
        </p:nvSpPr>
        <p:spPr>
          <a:xfrm>
            <a:off x="6537960" y="2852928"/>
            <a:ext cx="0" cy="164592"/>
          </a:xfrm>
          <a:prstGeom prst="line">
            <a:avLst/>
          </a:prstGeom>
          <a:noFill/>
          <a:ln w="22225">
            <a:solidFill>
              <a:srgbClr val="9AA5B4"/>
            </a:solidFill>
            <a:prstDash val="solid"/>
            <a:headEnd type="triangle"/>
            <a:tailEnd type="triangle"/>
          </a:ln>
        </p:spPr>
      </p:sp>
      <p:sp>
        <p:nvSpPr>
          <p:cNvPr id="42" name="Shape 34"/>
          <p:cNvSpPr/>
          <p:nvPr/>
        </p:nvSpPr>
        <p:spPr>
          <a:xfrm>
            <a:off x="5760720" y="3035808"/>
            <a:ext cx="1554480" cy="411480"/>
          </a:xfrm>
          <a:prstGeom prst="roundRect">
            <a:avLst>
              <a:gd name="adj" fmla="val 17778"/>
            </a:avLst>
          </a:prstGeom>
          <a:solidFill>
            <a:srgbClr val="FDEBD3"/>
          </a:solidFill>
          <a:ln/>
        </p:spPr>
      </p:sp>
      <p:pic>
        <p:nvPicPr>
          <p:cNvPr id="43" name="Image 6" descr="preencoded.png">    </p:cNvPr>
          <p:cNvPicPr>
            <a:picLocks noChangeAspect="1"/>
          </p:cNvPicPr>
          <p:nvPr/>
        </p:nvPicPr>
        <p:blipFill>
          <a:blip r:embed="rId7"/>
          <a:stretch>
            <a:fillRect/>
          </a:stretch>
        </p:blipFill>
        <p:spPr>
          <a:xfrm>
            <a:off x="5870448" y="3113532"/>
            <a:ext cx="256032" cy="256032"/>
          </a:xfrm>
          <a:prstGeom prst="rect">
            <a:avLst/>
          </a:prstGeom>
        </p:spPr>
      </p:pic>
      <p:sp>
        <p:nvSpPr>
          <p:cNvPr id="44" name="Text 35"/>
          <p:cNvSpPr txBox="1"/>
          <p:nvPr/>
        </p:nvSpPr>
        <p:spPr>
          <a:xfrm>
            <a:off x="6217920" y="3035808"/>
            <a:ext cx="1051560" cy="411480"/>
          </a:xfrm>
          <a:prstGeom prst="rect">
            <a:avLst/>
          </a:prstGeom>
          <a:noFill/>
          <a:ln/>
        </p:spPr>
        <p:txBody>
          <a:bodyPr wrap="square" lIns="0" tIns="0" rIns="0" bIns="0" rtlCol="0" anchor="ctr"/>
          <a:lstStyle/>
          <a:p>
            <a:pPr algn="l" indent="0" marL="0">
              <a:buNone/>
            </a:pPr>
            <a:r>
              <a:rPr lang="en-US" sz="950" b="1" dirty="0">
                <a:solidFill>
                  <a:srgbClr val="1B2A49"/>
                </a:solidFill>
                <a:latin typeface="Meiryo UI" pitchFamily="34" charset="0"/>
                <a:ea typeface="Meiryo UI" pitchFamily="34" charset="-122"/>
                <a:cs typeface="Meiryo UI" pitchFamily="34" charset="-120"/>
              </a:rPr>
              <a:t>Teamsで対話</a:t>
            </a:r>
            <a:endParaRPr lang="en-US" sz="950" dirty="0"/>
          </a:p>
        </p:txBody>
      </p:sp>
      <p:sp>
        <p:nvSpPr>
          <p:cNvPr id="45" name="Shape 36"/>
          <p:cNvSpPr/>
          <p:nvPr/>
        </p:nvSpPr>
        <p:spPr>
          <a:xfrm>
            <a:off x="6537960" y="3465576"/>
            <a:ext cx="0" cy="73152"/>
          </a:xfrm>
          <a:prstGeom prst="line">
            <a:avLst/>
          </a:prstGeom>
          <a:noFill/>
          <a:ln w="22225">
            <a:solidFill>
              <a:srgbClr val="9AA5B4"/>
            </a:solidFill>
            <a:prstDash val="solid"/>
            <a:tailEnd type="triangle"/>
          </a:ln>
        </p:spPr>
      </p:sp>
      <p:sp>
        <p:nvSpPr>
          <p:cNvPr id="46" name="Shape 37"/>
          <p:cNvSpPr/>
          <p:nvPr/>
        </p:nvSpPr>
        <p:spPr>
          <a:xfrm>
            <a:off x="5760720" y="3538728"/>
            <a:ext cx="1554480" cy="411480"/>
          </a:xfrm>
          <a:prstGeom prst="roundRect">
            <a:avLst>
              <a:gd name="adj" fmla="val 17778"/>
            </a:avLst>
          </a:prstGeom>
          <a:solidFill>
            <a:srgbClr val="FDEBD3"/>
          </a:solidFill>
          <a:ln/>
        </p:spPr>
      </p:sp>
      <p:pic>
        <p:nvPicPr>
          <p:cNvPr id="47" name="Image 7" descr="preencoded.png">    </p:cNvPr>
          <p:cNvPicPr>
            <a:picLocks noChangeAspect="1"/>
          </p:cNvPicPr>
          <p:nvPr/>
        </p:nvPicPr>
        <p:blipFill>
          <a:blip r:embed="rId8"/>
          <a:stretch>
            <a:fillRect/>
          </a:stretch>
        </p:blipFill>
        <p:spPr>
          <a:xfrm>
            <a:off x="5870448" y="3616452"/>
            <a:ext cx="256032" cy="256032"/>
          </a:xfrm>
          <a:prstGeom prst="rect">
            <a:avLst/>
          </a:prstGeom>
        </p:spPr>
      </p:pic>
      <p:sp>
        <p:nvSpPr>
          <p:cNvPr id="48" name="Text 38"/>
          <p:cNvSpPr txBox="1"/>
          <p:nvPr/>
        </p:nvSpPr>
        <p:spPr>
          <a:xfrm>
            <a:off x="6217920" y="3538728"/>
            <a:ext cx="1051560" cy="411480"/>
          </a:xfrm>
          <a:prstGeom prst="rect">
            <a:avLst/>
          </a:prstGeom>
          <a:noFill/>
          <a:ln/>
        </p:spPr>
        <p:txBody>
          <a:bodyPr wrap="square" lIns="0" tIns="0" rIns="0" bIns="0" rtlCol="0" anchor="ctr"/>
          <a:lstStyle/>
          <a:p>
            <a:pPr algn="l" indent="0" marL="0">
              <a:buNone/>
            </a:pPr>
            <a:r>
              <a:rPr lang="en-US" sz="950" b="1" dirty="0">
                <a:solidFill>
                  <a:srgbClr val="1B2A49"/>
                </a:solidFill>
                <a:latin typeface="Meiryo UI" pitchFamily="34" charset="0"/>
                <a:ea typeface="Meiryo UI" pitchFamily="34" charset="-122"/>
                <a:cs typeface="Meiryo UI" pitchFamily="34" charset="-120"/>
              </a:rPr>
              <a:t>Airtableへ入力</a:t>
            </a:r>
            <a:endParaRPr lang="en-US" sz="950" dirty="0"/>
          </a:p>
        </p:txBody>
      </p:sp>
      <p:sp>
        <p:nvSpPr>
          <p:cNvPr id="49" name="Shape 39"/>
          <p:cNvSpPr/>
          <p:nvPr/>
        </p:nvSpPr>
        <p:spPr>
          <a:xfrm>
            <a:off x="7680960" y="1874520"/>
            <a:ext cx="3931920" cy="2514600"/>
          </a:xfrm>
          <a:prstGeom prst="roundRect">
            <a:avLst>
              <a:gd name="adj" fmla="val 2182"/>
            </a:avLst>
          </a:prstGeom>
          <a:solidFill>
            <a:srgbClr val="E3EAF5"/>
          </a:solidFill>
          <a:ln/>
        </p:spPr>
      </p:sp>
      <p:sp>
        <p:nvSpPr>
          <p:cNvPr id="50" name="Shape 40"/>
          <p:cNvSpPr/>
          <p:nvPr/>
        </p:nvSpPr>
        <p:spPr>
          <a:xfrm>
            <a:off x="7818120" y="1993392"/>
            <a:ext cx="384048" cy="384048"/>
          </a:xfrm>
          <a:prstGeom prst="ellipse">
            <a:avLst/>
          </a:prstGeom>
          <a:solidFill>
            <a:srgbClr val="FFFFFF"/>
          </a:solidFill>
          <a:ln/>
        </p:spPr>
      </p:sp>
      <p:pic>
        <p:nvPicPr>
          <p:cNvPr id="51" name="Image 8" descr="preencoded.png">    </p:cNvPr>
          <p:cNvPicPr>
            <a:picLocks noChangeAspect="1"/>
          </p:cNvPicPr>
          <p:nvPr/>
        </p:nvPicPr>
        <p:blipFill>
          <a:blip r:embed="rId9"/>
          <a:stretch>
            <a:fillRect/>
          </a:stretch>
        </p:blipFill>
        <p:spPr>
          <a:xfrm>
            <a:off x="7894930" y="2070202"/>
            <a:ext cx="230429" cy="230429"/>
          </a:xfrm>
          <a:prstGeom prst="rect">
            <a:avLst/>
          </a:prstGeom>
        </p:spPr>
      </p:pic>
      <p:sp>
        <p:nvSpPr>
          <p:cNvPr id="52" name="Text 41"/>
          <p:cNvSpPr txBox="1"/>
          <p:nvPr/>
        </p:nvSpPr>
        <p:spPr>
          <a:xfrm>
            <a:off x="8275320" y="1993392"/>
            <a:ext cx="3246120" cy="384048"/>
          </a:xfrm>
          <a:prstGeom prst="rect">
            <a:avLst/>
          </a:prstGeom>
          <a:noFill/>
          <a:ln/>
        </p:spPr>
        <p:txBody>
          <a:bodyPr wrap="square" lIns="0" tIns="0" rIns="0" bIns="0"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必要な機能・準備</a:t>
            </a:r>
            <a:endParaRPr lang="en-US" sz="1300" dirty="0"/>
          </a:p>
        </p:txBody>
      </p:sp>
      <p:sp>
        <p:nvSpPr>
          <p:cNvPr id="53" name="Text 42"/>
          <p:cNvSpPr txBox="1"/>
          <p:nvPr/>
        </p:nvSpPr>
        <p:spPr>
          <a:xfrm>
            <a:off x="7863840" y="2478024"/>
            <a:ext cx="3611880" cy="1819656"/>
          </a:xfrm>
          <a:prstGeom prst="rect">
            <a:avLst/>
          </a:prstGeom>
          <a:noFill/>
          <a:ln/>
        </p:spPr>
        <p:txBody>
          <a:bodyPr wrap="square" lIns="254" tIns="254" rIns="254" bIns="254" rtlCol="0" anchor="t"/>
          <a:lstStyle/>
          <a:p>
            <a:pPr marL="152400" indent="-152400">
              <a:spcAft>
                <a:spcPts val="300"/>
              </a:spcAft>
              <a:buSzPct val="100000"/>
              <a:buChar char="•"/>
            </a:pPr>
            <a:r>
              <a:rPr lang="en-US" sz="1100" dirty="0">
                <a:solidFill>
                  <a:srgbClr val="2B2B2B"/>
                </a:solidFill>
                <a:latin typeface="Meiryo UI" pitchFamily="34" charset="0"/>
                <a:ea typeface="Meiryo UI" pitchFamily="34" charset="-122"/>
                <a:cs typeface="Meiryo UI" pitchFamily="34" charset="-120"/>
              </a:rPr>
              <a:t>Copilot Studio（エージェント作成・Teams公開）</a:t>
            </a:r>
            <a:endParaRPr lang="en-US" sz="1100" dirty="0"/>
          </a:p>
          <a:p>
            <a:pPr marL="152400" indent="-152400">
              <a:spcAft>
                <a:spcPts val="300"/>
              </a:spcAft>
              <a:buSzPct val="100000"/>
              <a:buChar char="•"/>
            </a:pPr>
            <a:r>
              <a:rPr lang="en-US" sz="1100" dirty="0">
                <a:solidFill>
                  <a:srgbClr val="2B2B2B"/>
                </a:solidFill>
                <a:latin typeface="Meiryo UI" pitchFamily="34" charset="0"/>
                <a:ea typeface="Meiryo UI" pitchFamily="34" charset="-122"/>
                <a:cs typeface="Meiryo UI" pitchFamily="34" charset="-120"/>
              </a:rPr>
              <a:t>Power Automate Premium（HTTP・Airtableコネクタ）</a:t>
            </a:r>
            <a:endParaRPr lang="en-US" sz="1100" dirty="0"/>
          </a:p>
          <a:p>
            <a:pPr marL="152400" indent="-152400">
              <a:spcAft>
                <a:spcPts val="300"/>
              </a:spcAft>
              <a:buSzPct val="100000"/>
              <a:buChar char="•"/>
            </a:pPr>
            <a:r>
              <a:rPr lang="en-US" sz="1100" dirty="0">
                <a:solidFill>
                  <a:srgbClr val="2B2B2B"/>
                </a:solidFill>
                <a:latin typeface="Meiryo UI" pitchFamily="34" charset="0"/>
                <a:ea typeface="Meiryo UI" pitchFamily="34" charset="-122"/>
                <a:cs typeface="Meiryo UI" pitchFamily="34" charset="-120"/>
              </a:rPr>
              <a:t>Dataverse または SharePointリスト</a:t>
            </a:r>
            <a:endParaRPr lang="en-US" sz="1100" dirty="0"/>
          </a:p>
          <a:p>
            <a:pPr marL="152400" indent="-152400">
              <a:spcAft>
                <a:spcPts val="300"/>
              </a:spcAft>
              <a:buSzPct val="100000"/>
              <a:buChar char="•"/>
            </a:pPr>
            <a:r>
              <a:rPr lang="en-US" sz="1100" dirty="0">
                <a:solidFill>
                  <a:srgbClr val="2B2B2B"/>
                </a:solidFill>
                <a:latin typeface="Meiryo UI" pitchFamily="34" charset="0"/>
                <a:ea typeface="Meiryo UI" pitchFamily="34" charset="-122"/>
                <a:cs typeface="Meiryo UI" pitchFamily="34" charset="-120"/>
              </a:rPr>
              <a:t>GCP→M365の転送（共通要素①）</a:t>
            </a:r>
            <a:endParaRPr lang="en-US" sz="1100" dirty="0"/>
          </a:p>
        </p:txBody>
      </p:sp>
      <p:sp>
        <p:nvSpPr>
          <p:cNvPr id="54" name="Shape 43"/>
          <p:cNvSpPr/>
          <p:nvPr/>
        </p:nvSpPr>
        <p:spPr>
          <a:xfrm>
            <a:off x="548640" y="4572000"/>
            <a:ext cx="3566160" cy="1783080"/>
          </a:xfrm>
          <a:prstGeom prst="roundRect">
            <a:avLst>
              <a:gd name="adj" fmla="val 3077"/>
            </a:avLst>
          </a:prstGeom>
          <a:solidFill>
            <a:srgbClr val="D9F2F1"/>
          </a:solidFill>
          <a:ln/>
        </p:spPr>
      </p:sp>
      <p:sp>
        <p:nvSpPr>
          <p:cNvPr id="55" name="Shape 44"/>
          <p:cNvSpPr/>
          <p:nvPr/>
        </p:nvSpPr>
        <p:spPr>
          <a:xfrm>
            <a:off x="685800" y="4690872"/>
            <a:ext cx="384048" cy="384048"/>
          </a:xfrm>
          <a:prstGeom prst="ellipse">
            <a:avLst/>
          </a:prstGeom>
          <a:solidFill>
            <a:srgbClr val="FFFFFF"/>
          </a:solidFill>
          <a:ln/>
        </p:spPr>
      </p:sp>
      <p:pic>
        <p:nvPicPr>
          <p:cNvPr id="56" name="Image 9" descr="preencoded.png">    </p:cNvPr>
          <p:cNvPicPr>
            <a:picLocks noChangeAspect="1"/>
          </p:cNvPicPr>
          <p:nvPr/>
        </p:nvPicPr>
        <p:blipFill>
          <a:blip r:embed="rId10"/>
          <a:stretch>
            <a:fillRect/>
          </a:stretch>
        </p:blipFill>
        <p:spPr>
          <a:xfrm>
            <a:off x="762610" y="4767682"/>
            <a:ext cx="230429" cy="230429"/>
          </a:xfrm>
          <a:prstGeom prst="rect">
            <a:avLst/>
          </a:prstGeom>
        </p:spPr>
      </p:pic>
      <p:sp>
        <p:nvSpPr>
          <p:cNvPr id="57" name="Text 45"/>
          <p:cNvSpPr txBox="1"/>
          <p:nvPr/>
        </p:nvSpPr>
        <p:spPr>
          <a:xfrm>
            <a:off x="1143000" y="4690872"/>
            <a:ext cx="2880360" cy="384048"/>
          </a:xfrm>
          <a:prstGeom prst="rect">
            <a:avLst/>
          </a:prstGeom>
          <a:noFill/>
          <a:ln/>
        </p:spPr>
        <p:txBody>
          <a:bodyPr wrap="square" lIns="0" tIns="0" rIns="0" bIns="0"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特徴</a:t>
            </a:r>
            <a:endParaRPr lang="en-US" sz="1300" dirty="0"/>
          </a:p>
        </p:txBody>
      </p:sp>
      <p:sp>
        <p:nvSpPr>
          <p:cNvPr id="58" name="Text 46"/>
          <p:cNvSpPr txBox="1"/>
          <p:nvPr/>
        </p:nvSpPr>
        <p:spPr>
          <a:xfrm>
            <a:off x="731520" y="5175504"/>
            <a:ext cx="3246120" cy="1088136"/>
          </a:xfrm>
          <a:prstGeom prst="rect">
            <a:avLst/>
          </a:prstGeom>
          <a:noFill/>
          <a:ln/>
        </p:spPr>
        <p:txBody>
          <a:bodyPr wrap="square" lIns="254" tIns="254" rIns="254" bIns="254" rtlCol="0" anchor="t"/>
          <a:lstStyle/>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最新のデータを自動で参照できる</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全員が同じエージェントを使い、品質が揃う</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Teamsから使え、業務の変化が小さい</a:t>
            </a:r>
            <a:endParaRPr lang="en-US" sz="1150" dirty="0"/>
          </a:p>
        </p:txBody>
      </p:sp>
      <p:sp>
        <p:nvSpPr>
          <p:cNvPr id="59" name="Shape 47"/>
          <p:cNvSpPr/>
          <p:nvPr/>
        </p:nvSpPr>
        <p:spPr>
          <a:xfrm>
            <a:off x="4297680" y="4572000"/>
            <a:ext cx="3566160" cy="1783080"/>
          </a:xfrm>
          <a:prstGeom prst="roundRect">
            <a:avLst>
              <a:gd name="adj" fmla="val 3077"/>
            </a:avLst>
          </a:prstGeom>
          <a:solidFill>
            <a:srgbClr val="FBE3E3"/>
          </a:solidFill>
          <a:ln/>
        </p:spPr>
      </p:sp>
      <p:sp>
        <p:nvSpPr>
          <p:cNvPr id="60" name="Shape 48"/>
          <p:cNvSpPr/>
          <p:nvPr/>
        </p:nvSpPr>
        <p:spPr>
          <a:xfrm>
            <a:off x="4434840" y="4690872"/>
            <a:ext cx="384048" cy="384048"/>
          </a:xfrm>
          <a:prstGeom prst="ellipse">
            <a:avLst/>
          </a:prstGeom>
          <a:solidFill>
            <a:srgbClr val="FFFFFF"/>
          </a:solidFill>
          <a:ln/>
        </p:spPr>
      </p:sp>
      <p:pic>
        <p:nvPicPr>
          <p:cNvPr id="61" name="Image 10" descr="preencoded.png">    </p:cNvPr>
          <p:cNvPicPr>
            <a:picLocks noChangeAspect="1"/>
          </p:cNvPicPr>
          <p:nvPr/>
        </p:nvPicPr>
        <p:blipFill>
          <a:blip r:embed="rId11"/>
          <a:stretch>
            <a:fillRect/>
          </a:stretch>
        </p:blipFill>
        <p:spPr>
          <a:xfrm>
            <a:off x="4511650" y="4767682"/>
            <a:ext cx="230429" cy="230429"/>
          </a:xfrm>
          <a:prstGeom prst="rect">
            <a:avLst/>
          </a:prstGeom>
        </p:spPr>
      </p:pic>
      <p:sp>
        <p:nvSpPr>
          <p:cNvPr id="62" name="Text 49"/>
          <p:cNvSpPr txBox="1"/>
          <p:nvPr/>
        </p:nvSpPr>
        <p:spPr>
          <a:xfrm>
            <a:off x="4892040" y="4690872"/>
            <a:ext cx="2880360" cy="384048"/>
          </a:xfrm>
          <a:prstGeom prst="rect">
            <a:avLst/>
          </a:prstGeom>
          <a:noFill/>
          <a:ln/>
        </p:spPr>
        <p:txBody>
          <a:bodyPr wrap="square" lIns="0" tIns="0" rIns="0" bIns="0"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留意点・制約</a:t>
            </a:r>
            <a:endParaRPr lang="en-US" sz="1300" dirty="0"/>
          </a:p>
        </p:txBody>
      </p:sp>
      <p:sp>
        <p:nvSpPr>
          <p:cNvPr id="63" name="Text 50"/>
          <p:cNvSpPr txBox="1"/>
          <p:nvPr/>
        </p:nvSpPr>
        <p:spPr>
          <a:xfrm>
            <a:off x="4480560" y="5175504"/>
            <a:ext cx="3246120" cy="1088136"/>
          </a:xfrm>
          <a:prstGeom prst="rect">
            <a:avLst/>
          </a:prstGeom>
          <a:noFill/>
          <a:ln/>
        </p:spPr>
        <p:txBody>
          <a:bodyPr wrap="square" lIns="254" tIns="254" rIns="254" bIns="254" rtlCol="0" anchor="t"/>
          <a:lstStyle/>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Airtableとの二重管理（同期の設計）</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転送した数値の扱いの精度は検証が必要</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Copilot Studioの利用量に応じた課金</a:t>
            </a:r>
            <a:endParaRPr lang="en-US" sz="1150" dirty="0"/>
          </a:p>
        </p:txBody>
      </p:sp>
      <p:sp>
        <p:nvSpPr>
          <p:cNvPr id="64" name="Shape 51"/>
          <p:cNvSpPr/>
          <p:nvPr/>
        </p:nvSpPr>
        <p:spPr>
          <a:xfrm>
            <a:off x="8046720" y="4572000"/>
            <a:ext cx="3566160" cy="1783080"/>
          </a:xfrm>
          <a:prstGeom prst="roundRect">
            <a:avLst>
              <a:gd name="adj" fmla="val 3077"/>
            </a:avLst>
          </a:prstGeom>
          <a:solidFill>
            <a:srgbClr val="FDEBD3"/>
          </a:solidFill>
          <a:ln/>
        </p:spPr>
      </p:sp>
      <p:sp>
        <p:nvSpPr>
          <p:cNvPr id="65" name="Shape 52"/>
          <p:cNvSpPr/>
          <p:nvPr/>
        </p:nvSpPr>
        <p:spPr>
          <a:xfrm>
            <a:off x="8183880" y="4690872"/>
            <a:ext cx="384048" cy="384048"/>
          </a:xfrm>
          <a:prstGeom prst="ellipse">
            <a:avLst/>
          </a:prstGeom>
          <a:solidFill>
            <a:srgbClr val="FFFFFF"/>
          </a:solidFill>
          <a:ln/>
        </p:spPr>
      </p:sp>
      <p:pic>
        <p:nvPicPr>
          <p:cNvPr id="66" name="Image 11" descr="preencoded.png">    </p:cNvPr>
          <p:cNvPicPr>
            <a:picLocks noChangeAspect="1"/>
          </p:cNvPicPr>
          <p:nvPr/>
        </p:nvPicPr>
        <p:blipFill>
          <a:blip r:embed="rId12"/>
          <a:stretch>
            <a:fillRect/>
          </a:stretch>
        </p:blipFill>
        <p:spPr>
          <a:xfrm>
            <a:off x="8260690" y="4767682"/>
            <a:ext cx="230429" cy="230429"/>
          </a:xfrm>
          <a:prstGeom prst="rect">
            <a:avLst/>
          </a:prstGeom>
        </p:spPr>
      </p:pic>
      <p:sp>
        <p:nvSpPr>
          <p:cNvPr id="67" name="Text 53"/>
          <p:cNvSpPr txBox="1"/>
          <p:nvPr/>
        </p:nvSpPr>
        <p:spPr>
          <a:xfrm>
            <a:off x="8641080" y="4690872"/>
            <a:ext cx="2880360" cy="384048"/>
          </a:xfrm>
          <a:prstGeom prst="rect">
            <a:avLst/>
          </a:prstGeom>
          <a:noFill/>
          <a:ln/>
        </p:spPr>
        <p:txBody>
          <a:bodyPr wrap="square" lIns="0" tIns="0" rIns="0" bIns="0"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検討ポイント</a:t>
            </a:r>
            <a:endParaRPr lang="en-US" sz="1300" dirty="0"/>
          </a:p>
        </p:txBody>
      </p:sp>
      <p:sp>
        <p:nvSpPr>
          <p:cNvPr id="68" name="Text 54"/>
          <p:cNvSpPr txBox="1"/>
          <p:nvPr/>
        </p:nvSpPr>
        <p:spPr>
          <a:xfrm>
            <a:off x="8229600" y="5175504"/>
            <a:ext cx="3246120" cy="1088136"/>
          </a:xfrm>
          <a:prstGeom prst="rect">
            <a:avLst/>
          </a:prstGeom>
          <a:noFill/>
          <a:ln/>
        </p:spPr>
        <p:txBody>
          <a:bodyPr wrap="square" lIns="254" tIns="254" rIns="254" bIns="254" rtlCol="0" anchor="t"/>
          <a:lstStyle/>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数値をどの粒度に集計して渡すか</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国別ポリシーの切り替え方法</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エージェントの管理者・更新体制</a:t>
            </a:r>
            <a:endParaRPr lang="en-US" sz="1150" dirty="0"/>
          </a:p>
        </p:txBody>
      </p:sp>
      <p:sp>
        <p:nvSpPr>
          <p:cNvPr id="69" name="Text 55"/>
          <p:cNvSpPr txBox="1"/>
          <p:nvPr/>
        </p:nvSpPr>
        <p:spPr>
          <a:xfrm>
            <a:off x="548640" y="6400800"/>
            <a:ext cx="10515600" cy="228600"/>
          </a:xfrm>
          <a:prstGeom prst="rect">
            <a:avLst/>
          </a:prstGeom>
          <a:noFill/>
          <a:ln/>
        </p:spPr>
        <p:txBody>
          <a:bodyPr wrap="square" lIns="0" tIns="0" rIns="0" bIns="0" rtlCol="0" anchor="t"/>
          <a:lstStyle/>
          <a:p>
            <a:pPr indent="0" marL="0">
              <a:buNone/>
            </a:pPr>
            <a:r>
              <a:rPr lang="en-US" sz="800" dirty="0">
                <a:solidFill>
                  <a:srgbClr val="6B7280"/>
                </a:solidFill>
                <a:latin typeface="Meiryo UI" pitchFamily="34" charset="0"/>
                <a:ea typeface="Meiryo UI" pitchFamily="34" charset="-122"/>
                <a:cs typeface="Meiryo UI" pitchFamily="34" charset="-120"/>
              </a:rPr>
              <a:t>難易度（★）：開発量・必要なスキル・関係する部署やシステムの数から見た相対的な目安。期間：社内で内製し、PoC後に単独で構築した場合の概算</a:t>
            </a:r>
            <a:endParaRPr lang="en-US" sz="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548640"/>
          </a:xfrm>
          <a:prstGeom prst="rect">
            <a:avLst/>
          </a:prstGeom>
          <a:noFill/>
          <a:ln/>
        </p:spPr>
        <p:txBody>
          <a:bodyPr wrap="square" lIns="0" tIns="0" rIns="0" bIns="0" rtlCol="0" anchor="ctr"/>
          <a:lstStyle/>
          <a:p>
            <a:pPr indent="0" marL="0">
              <a:buNone/>
            </a:pPr>
            <a:r>
              <a:rPr lang="en-US" sz="2600" b="1" dirty="0">
                <a:solidFill>
                  <a:srgbClr val="1B2A49"/>
                </a:solidFill>
                <a:latin typeface="Meiryo UI" pitchFamily="34" charset="0"/>
                <a:ea typeface="Meiryo UI" pitchFamily="34" charset="-122"/>
                <a:cs typeface="Meiryo UI" pitchFamily="34" charset="-120"/>
              </a:rPr>
              <a:t>A4｜Power Automateで自動起案</a:t>
            </a:r>
            <a:endParaRPr lang="en-US" sz="2600" dirty="0"/>
          </a:p>
        </p:txBody>
      </p:sp>
      <p:sp>
        <p:nvSpPr>
          <p:cNvPr id="3" name="Text 1"/>
          <p:cNvSpPr txBox="1"/>
          <p:nvPr/>
        </p:nvSpPr>
        <p:spPr>
          <a:xfrm>
            <a:off x="548640" y="896112"/>
            <a:ext cx="11064240" cy="365760"/>
          </a:xfrm>
          <a:prstGeom prst="rect">
            <a:avLst/>
          </a:prstGeom>
          <a:noFill/>
          <a:ln/>
        </p:spPr>
        <p:txBody>
          <a:bodyPr wrap="square" lIns="0" tIns="0" rIns="0" bIns="0" rtlCol="0" anchor="ctr"/>
          <a:lstStyle/>
          <a:p>
            <a:pPr indent="0" marL="0">
              <a:buNone/>
            </a:pPr>
            <a:r>
              <a:rPr lang="en-US" sz="1400" dirty="0">
                <a:solidFill>
                  <a:srgbClr val="6B7280"/>
                </a:solidFill>
                <a:latin typeface="Meiryo UI" pitchFamily="34" charset="0"/>
                <a:ea typeface="Meiryo UI" pitchFamily="34" charset="-122"/>
                <a:cs typeface="Meiryo UI" pitchFamily="34" charset="-120"/>
              </a:rPr>
              <a:t>Airtableを使ったまま、M365側の処理で配信カードの下書きを自動で作成する</a:t>
            </a:r>
            <a:endParaRPr lang="en-US" sz="1400" dirty="0"/>
          </a:p>
        </p:txBody>
      </p:sp>
      <p:sp>
        <p:nvSpPr>
          <p:cNvPr id="4" name="Text 2"/>
          <p:cNvSpPr txBox="1"/>
          <p:nvPr/>
        </p:nvSpPr>
        <p:spPr>
          <a:xfrm>
            <a:off x="7498080" y="91440"/>
            <a:ext cx="4114800" cy="22860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4. 各パターンの詳細</a:t>
            </a:r>
            <a:endParaRPr lang="en-US" sz="900" dirty="0"/>
          </a:p>
        </p:txBody>
      </p:sp>
      <p:sp>
        <p:nvSpPr>
          <p:cNvPr id="5" name="Text 3"/>
          <p:cNvSpPr txBox="1"/>
          <p:nvPr/>
        </p:nvSpPr>
        <p:spPr>
          <a:xfrm>
            <a:off x="11247120" y="6446520"/>
            <a:ext cx="457200" cy="27432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21</a:t>
            </a:r>
            <a:endParaRPr lang="en-US" sz="900" dirty="0"/>
          </a:p>
        </p:txBody>
      </p:sp>
      <p:sp>
        <p:nvSpPr>
          <p:cNvPr id="6" name="Shape 4"/>
          <p:cNvSpPr/>
          <p:nvPr/>
        </p:nvSpPr>
        <p:spPr>
          <a:xfrm>
            <a:off x="548640" y="1371600"/>
            <a:ext cx="2103120" cy="347472"/>
          </a:xfrm>
          <a:prstGeom prst="roundRect">
            <a:avLst>
              <a:gd name="adj" fmla="val 50000"/>
            </a:avLst>
          </a:prstGeom>
          <a:solidFill>
            <a:srgbClr val="E5F0FA"/>
          </a:solidFill>
          <a:ln/>
        </p:spPr>
      </p:sp>
      <p:sp>
        <p:nvSpPr>
          <p:cNvPr id="7" name="Text 5"/>
          <p:cNvSpPr txBox="1"/>
          <p:nvPr/>
        </p:nvSpPr>
        <p:spPr>
          <a:xfrm>
            <a:off x="548640" y="1371600"/>
            <a:ext cx="2103120" cy="347472"/>
          </a:xfrm>
          <a:prstGeom prst="rect">
            <a:avLst/>
          </a:prstGeom>
          <a:noFill/>
          <a:ln/>
        </p:spPr>
        <p:txBody>
          <a:bodyPr wrap="square" lIns="0" tIns="0" rIns="0" bIns="0" rtlCol="0" anchor="ctr"/>
          <a:lstStyle/>
          <a:p>
            <a:pPr algn="ctr" indent="0" marL="0">
              <a:buNone/>
            </a:pPr>
            <a:r>
              <a:rPr lang="en-US" sz="950" dirty="0">
                <a:solidFill>
                  <a:srgbClr val="0F6CBD"/>
                </a:solidFill>
                <a:latin typeface="Meiryo UI" pitchFamily="34" charset="0"/>
                <a:ea typeface="Meiryo UI" pitchFamily="34" charset="-122"/>
                <a:cs typeface="Meiryo UI" pitchFamily="34" charset="-120"/>
              </a:rPr>
              <a:t>集約先  </a:t>
            </a:r>
            <a:pPr algn="ctr" indent="0" marL="0">
              <a:buNone/>
            </a:pPr>
            <a:r>
              <a:rPr lang="en-US" sz="1100" b="1" dirty="0">
                <a:solidFill>
                  <a:srgbClr val="0F6CBD"/>
                </a:solidFill>
                <a:latin typeface="Meiryo UI" pitchFamily="34" charset="0"/>
                <a:ea typeface="Meiryo UI" pitchFamily="34" charset="-122"/>
                <a:cs typeface="Meiryo UI" pitchFamily="34" charset="-120"/>
              </a:rPr>
              <a:t>M365に寄せる</a:t>
            </a:r>
            <a:endParaRPr lang="en-US" sz="950" dirty="0"/>
          </a:p>
        </p:txBody>
      </p:sp>
      <p:sp>
        <p:nvSpPr>
          <p:cNvPr id="8" name="Shape 6"/>
          <p:cNvSpPr/>
          <p:nvPr/>
        </p:nvSpPr>
        <p:spPr>
          <a:xfrm>
            <a:off x="2788920" y="1371600"/>
            <a:ext cx="2103120" cy="347472"/>
          </a:xfrm>
          <a:prstGeom prst="roundRect">
            <a:avLst>
              <a:gd name="adj" fmla="val 50000"/>
            </a:avLst>
          </a:prstGeom>
          <a:solidFill>
            <a:srgbClr val="F3F5F8"/>
          </a:solidFill>
          <a:ln/>
        </p:spPr>
      </p:sp>
      <p:sp>
        <p:nvSpPr>
          <p:cNvPr id="9" name="Text 7"/>
          <p:cNvSpPr txBox="1"/>
          <p:nvPr/>
        </p:nvSpPr>
        <p:spPr>
          <a:xfrm>
            <a:off x="2788920" y="1371600"/>
            <a:ext cx="2103120" cy="347472"/>
          </a:xfrm>
          <a:prstGeom prst="rect">
            <a:avLst/>
          </a:prstGeom>
          <a:noFill/>
          <a:ln/>
        </p:spPr>
        <p:txBody>
          <a:bodyPr wrap="square" lIns="0" tIns="0" rIns="0" bIns="0" rtlCol="0" anchor="ctr"/>
          <a:lstStyle/>
          <a:p>
            <a:pPr algn="ctr" indent="0" marL="0">
              <a:buNone/>
            </a:pPr>
            <a:r>
              <a:rPr lang="en-US" sz="950" dirty="0">
                <a:solidFill>
                  <a:srgbClr val="1B2A49"/>
                </a:solidFill>
                <a:latin typeface="Meiryo UI" pitchFamily="34" charset="0"/>
                <a:ea typeface="Meiryo UI" pitchFamily="34" charset="-122"/>
                <a:cs typeface="Meiryo UI" pitchFamily="34" charset="-120"/>
              </a:rPr>
              <a:t>管理基盤  </a:t>
            </a:r>
            <a:pPr algn="ctr" indent="0" marL="0">
              <a:buNone/>
            </a:pPr>
            <a:r>
              <a:rPr lang="en-US" sz="1100" b="1" dirty="0">
                <a:solidFill>
                  <a:srgbClr val="1B2A49"/>
                </a:solidFill>
                <a:latin typeface="Meiryo UI" pitchFamily="34" charset="0"/>
                <a:ea typeface="Meiryo UI" pitchFamily="34" charset="-122"/>
                <a:cs typeface="Meiryo UI" pitchFamily="34" charset="-120"/>
              </a:rPr>
              <a:t>Airtable</a:t>
            </a:r>
            <a:endParaRPr lang="en-US" sz="950" dirty="0"/>
          </a:p>
        </p:txBody>
      </p:sp>
      <p:sp>
        <p:nvSpPr>
          <p:cNvPr id="10" name="Shape 8"/>
          <p:cNvSpPr/>
          <p:nvPr/>
        </p:nvSpPr>
        <p:spPr>
          <a:xfrm>
            <a:off x="5029200" y="1371600"/>
            <a:ext cx="2103120" cy="347472"/>
          </a:xfrm>
          <a:prstGeom prst="roundRect">
            <a:avLst>
              <a:gd name="adj" fmla="val 50000"/>
            </a:avLst>
          </a:prstGeom>
          <a:solidFill>
            <a:srgbClr val="D9F2F1"/>
          </a:solidFill>
          <a:ln/>
        </p:spPr>
      </p:sp>
      <p:sp>
        <p:nvSpPr>
          <p:cNvPr id="11" name="Text 9"/>
          <p:cNvSpPr txBox="1"/>
          <p:nvPr/>
        </p:nvSpPr>
        <p:spPr>
          <a:xfrm>
            <a:off x="5029200" y="1371600"/>
            <a:ext cx="2103120" cy="347472"/>
          </a:xfrm>
          <a:prstGeom prst="rect">
            <a:avLst/>
          </a:prstGeom>
          <a:noFill/>
          <a:ln/>
        </p:spPr>
        <p:txBody>
          <a:bodyPr wrap="square" lIns="0" tIns="0" rIns="0" bIns="0" rtlCol="0" anchor="ctr"/>
          <a:lstStyle/>
          <a:p>
            <a:pPr algn="ctr" indent="0" marL="0">
              <a:buNone/>
            </a:pPr>
            <a:r>
              <a:rPr lang="en-US" sz="950" dirty="0">
                <a:solidFill>
                  <a:srgbClr val="0E9F9A"/>
                </a:solidFill>
                <a:latin typeface="Meiryo UI" pitchFamily="34" charset="0"/>
                <a:ea typeface="Meiryo UI" pitchFamily="34" charset="-122"/>
                <a:cs typeface="Meiryo UI" pitchFamily="34" charset="-120"/>
              </a:rPr>
              <a:t>自動化  </a:t>
            </a:r>
            <a:pPr algn="ctr" indent="0" marL="0">
              <a:buNone/>
            </a:pPr>
            <a:r>
              <a:rPr lang="en-US" sz="1100" b="1" dirty="0">
                <a:solidFill>
                  <a:srgbClr val="0E9F9A"/>
                </a:solidFill>
                <a:latin typeface="Meiryo UI" pitchFamily="34" charset="0"/>
                <a:ea typeface="Meiryo UI" pitchFamily="34" charset="-122"/>
                <a:cs typeface="Meiryo UI" pitchFamily="34" charset="-120"/>
              </a:rPr>
              <a:t>Step3</a:t>
            </a:r>
            <a:endParaRPr lang="en-US" sz="950" dirty="0"/>
          </a:p>
        </p:txBody>
      </p:sp>
      <p:sp>
        <p:nvSpPr>
          <p:cNvPr id="12" name="Shape 10"/>
          <p:cNvSpPr/>
          <p:nvPr/>
        </p:nvSpPr>
        <p:spPr>
          <a:xfrm>
            <a:off x="7269480" y="1371600"/>
            <a:ext cx="2103120" cy="347472"/>
          </a:xfrm>
          <a:prstGeom prst="roundRect">
            <a:avLst>
              <a:gd name="adj" fmla="val 50000"/>
            </a:avLst>
          </a:prstGeom>
          <a:solidFill>
            <a:srgbClr val="FDEBD3"/>
          </a:solidFill>
          <a:ln/>
        </p:spPr>
      </p:sp>
      <p:sp>
        <p:nvSpPr>
          <p:cNvPr id="13" name="Text 11"/>
          <p:cNvSpPr txBox="1"/>
          <p:nvPr/>
        </p:nvSpPr>
        <p:spPr>
          <a:xfrm>
            <a:off x="7269480" y="1371600"/>
            <a:ext cx="2103120" cy="347472"/>
          </a:xfrm>
          <a:prstGeom prst="rect">
            <a:avLst/>
          </a:prstGeom>
          <a:noFill/>
          <a:ln/>
        </p:spPr>
        <p:txBody>
          <a:bodyPr wrap="square" lIns="0" tIns="0" rIns="0" bIns="0" rtlCol="0" anchor="ctr"/>
          <a:lstStyle/>
          <a:p>
            <a:pPr algn="ctr" indent="0" marL="0">
              <a:buNone/>
            </a:pPr>
            <a:r>
              <a:rPr lang="en-US" sz="950" dirty="0">
                <a:solidFill>
                  <a:srgbClr val="E8912D"/>
                </a:solidFill>
                <a:latin typeface="Meiryo UI" pitchFamily="34" charset="0"/>
                <a:ea typeface="Meiryo UI" pitchFamily="34" charset="-122"/>
                <a:cs typeface="Meiryo UI" pitchFamily="34" charset="-120"/>
              </a:rPr>
              <a:t>難易度  </a:t>
            </a:r>
            <a:pPr algn="ctr" indent="0" marL="0">
              <a:buNone/>
            </a:pPr>
            <a:r>
              <a:rPr lang="en-US" sz="1100" b="1" dirty="0">
                <a:solidFill>
                  <a:srgbClr val="E8912D"/>
                </a:solidFill>
                <a:latin typeface="Meiryo UI" pitchFamily="34" charset="0"/>
                <a:ea typeface="Meiryo UI" pitchFamily="34" charset="-122"/>
                <a:cs typeface="Meiryo UI" pitchFamily="34" charset="-120"/>
              </a:rPr>
              <a:t>★★★☆☆</a:t>
            </a:r>
            <a:endParaRPr lang="en-US" sz="950" dirty="0"/>
          </a:p>
        </p:txBody>
      </p:sp>
      <p:sp>
        <p:nvSpPr>
          <p:cNvPr id="14" name="Shape 12"/>
          <p:cNvSpPr/>
          <p:nvPr/>
        </p:nvSpPr>
        <p:spPr>
          <a:xfrm>
            <a:off x="9509760" y="1371600"/>
            <a:ext cx="2103120" cy="347472"/>
          </a:xfrm>
          <a:prstGeom prst="roundRect">
            <a:avLst>
              <a:gd name="adj" fmla="val 50000"/>
            </a:avLst>
          </a:prstGeom>
          <a:solidFill>
            <a:srgbClr val="F3F5F8"/>
          </a:solidFill>
          <a:ln/>
        </p:spPr>
      </p:sp>
      <p:sp>
        <p:nvSpPr>
          <p:cNvPr id="15" name="Text 13"/>
          <p:cNvSpPr txBox="1"/>
          <p:nvPr/>
        </p:nvSpPr>
        <p:spPr>
          <a:xfrm>
            <a:off x="9509760" y="1371600"/>
            <a:ext cx="2103120" cy="347472"/>
          </a:xfrm>
          <a:prstGeom prst="rect">
            <a:avLst/>
          </a:prstGeom>
          <a:noFill/>
          <a:ln/>
        </p:spPr>
        <p:txBody>
          <a:bodyPr wrap="square" lIns="0" tIns="0" rIns="0" bIns="0" rtlCol="0" anchor="ctr"/>
          <a:lstStyle/>
          <a:p>
            <a:pPr algn="ctr" indent="0" marL="0">
              <a:buNone/>
            </a:pPr>
            <a:r>
              <a:rPr lang="en-US" sz="950" dirty="0">
                <a:solidFill>
                  <a:srgbClr val="1B2A49"/>
                </a:solidFill>
                <a:latin typeface="Meiryo UI" pitchFamily="34" charset="0"/>
                <a:ea typeface="Meiryo UI" pitchFamily="34" charset="-122"/>
                <a:cs typeface="Meiryo UI" pitchFamily="34" charset="-120"/>
              </a:rPr>
              <a:t>期間目安  </a:t>
            </a:r>
            <a:pPr algn="ctr" indent="0" marL="0">
              <a:buNone/>
            </a:pPr>
            <a:r>
              <a:rPr lang="en-US" sz="1100" b="1" dirty="0">
                <a:solidFill>
                  <a:srgbClr val="1B2A49"/>
                </a:solidFill>
                <a:latin typeface="Meiryo UI" pitchFamily="34" charset="0"/>
                <a:ea typeface="Meiryo UI" pitchFamily="34" charset="-122"/>
                <a:cs typeface="Meiryo UI" pitchFamily="34" charset="-120"/>
              </a:rPr>
              <a:t>3〜4ヶ月</a:t>
            </a:r>
            <a:endParaRPr lang="en-US" sz="950" dirty="0"/>
          </a:p>
        </p:txBody>
      </p:sp>
      <p:sp>
        <p:nvSpPr>
          <p:cNvPr id="16" name="Shape 14"/>
          <p:cNvSpPr/>
          <p:nvPr/>
        </p:nvSpPr>
        <p:spPr>
          <a:xfrm>
            <a:off x="548640" y="1874520"/>
            <a:ext cx="6949440" cy="2514600"/>
          </a:xfrm>
          <a:prstGeom prst="roundRect">
            <a:avLst>
              <a:gd name="adj" fmla="val 1455"/>
            </a:avLst>
          </a:prstGeom>
          <a:solidFill>
            <a:srgbClr val="F3F5F8"/>
          </a:solidFill>
          <a:ln/>
        </p:spPr>
      </p:sp>
      <p:sp>
        <p:nvSpPr>
          <p:cNvPr id="17" name="Shape 15"/>
          <p:cNvSpPr/>
          <p:nvPr/>
        </p:nvSpPr>
        <p:spPr>
          <a:xfrm>
            <a:off x="731520" y="2057400"/>
            <a:ext cx="2011680" cy="731520"/>
          </a:xfrm>
          <a:prstGeom prst="roundRect">
            <a:avLst>
              <a:gd name="adj" fmla="val 10000"/>
            </a:avLst>
          </a:prstGeom>
          <a:solidFill>
            <a:srgbClr val="D9F2F1"/>
          </a:solidFill>
          <a:ln/>
        </p:spPr>
      </p:sp>
      <p:pic>
        <p:nvPicPr>
          <p:cNvPr id="18" name="Image 0" descr="preencoded.png">    </p:cNvPr>
          <p:cNvPicPr>
            <a:picLocks noChangeAspect="1"/>
          </p:cNvPicPr>
          <p:nvPr/>
        </p:nvPicPr>
        <p:blipFill>
          <a:blip r:embed="rId1"/>
          <a:stretch>
            <a:fillRect/>
          </a:stretch>
        </p:blipFill>
        <p:spPr>
          <a:xfrm>
            <a:off x="841248" y="2240280"/>
            <a:ext cx="365760" cy="365760"/>
          </a:xfrm>
          <a:prstGeom prst="rect">
            <a:avLst/>
          </a:prstGeom>
        </p:spPr>
      </p:pic>
      <p:sp>
        <p:nvSpPr>
          <p:cNvPr id="19" name="Text 16"/>
          <p:cNvSpPr txBox="1"/>
          <p:nvPr/>
        </p:nvSpPr>
        <p:spPr>
          <a:xfrm>
            <a:off x="1298448" y="2057400"/>
            <a:ext cx="1399032" cy="731520"/>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トリガー</a:t>
            </a:r>
            <a:endParaRPr lang="en-US" sz="1050" dirty="0"/>
          </a:p>
          <a:p>
            <a:pPr algn="l" indent="0" marL="0">
              <a:buNone/>
            </a:pPr>
            <a:r>
              <a:rPr lang="en-US" sz="900" dirty="0">
                <a:solidFill>
                  <a:srgbClr val="6B7280"/>
                </a:solidFill>
                <a:latin typeface="Meiryo UI" pitchFamily="34" charset="0"/>
                <a:ea typeface="Meiryo UI" pitchFamily="34" charset="-122"/>
                <a:cs typeface="Meiryo UI" pitchFamily="34" charset="-120"/>
              </a:rPr>
              <a:t>カード作成／夜間</a:t>
            </a:r>
            <a:endParaRPr lang="en-US" sz="1050" dirty="0"/>
          </a:p>
        </p:txBody>
      </p:sp>
      <p:sp>
        <p:nvSpPr>
          <p:cNvPr id="20" name="Shape 17"/>
          <p:cNvSpPr/>
          <p:nvPr/>
        </p:nvSpPr>
        <p:spPr>
          <a:xfrm>
            <a:off x="2788920" y="2423160"/>
            <a:ext cx="182880" cy="0"/>
          </a:xfrm>
          <a:prstGeom prst="line">
            <a:avLst/>
          </a:prstGeom>
          <a:noFill/>
          <a:ln w="22225">
            <a:solidFill>
              <a:srgbClr val="9AA5B4"/>
            </a:solidFill>
            <a:prstDash val="solid"/>
            <a:tailEnd type="triangle"/>
          </a:ln>
        </p:spPr>
      </p:sp>
      <p:sp>
        <p:nvSpPr>
          <p:cNvPr id="21" name="Shape 18"/>
          <p:cNvSpPr/>
          <p:nvPr/>
        </p:nvSpPr>
        <p:spPr>
          <a:xfrm>
            <a:off x="3017520" y="2057400"/>
            <a:ext cx="2011680" cy="731520"/>
          </a:xfrm>
          <a:prstGeom prst="roundRect">
            <a:avLst>
              <a:gd name="adj" fmla="val 10000"/>
            </a:avLst>
          </a:prstGeom>
          <a:solidFill>
            <a:srgbClr val="D9F2F1"/>
          </a:solidFill>
          <a:ln/>
        </p:spPr>
      </p:sp>
      <p:pic>
        <p:nvPicPr>
          <p:cNvPr id="22" name="Image 1" descr="preencoded.png">    </p:cNvPr>
          <p:cNvPicPr>
            <a:picLocks noChangeAspect="1"/>
          </p:cNvPicPr>
          <p:nvPr/>
        </p:nvPicPr>
        <p:blipFill>
          <a:blip r:embed="rId2"/>
          <a:stretch>
            <a:fillRect/>
          </a:stretch>
        </p:blipFill>
        <p:spPr>
          <a:xfrm>
            <a:off x="3127248" y="2240280"/>
            <a:ext cx="365760" cy="365760"/>
          </a:xfrm>
          <a:prstGeom prst="rect">
            <a:avLst/>
          </a:prstGeom>
        </p:spPr>
      </p:pic>
      <p:sp>
        <p:nvSpPr>
          <p:cNvPr id="23" name="Text 19"/>
          <p:cNvSpPr txBox="1"/>
          <p:nvPr/>
        </p:nvSpPr>
        <p:spPr>
          <a:xfrm>
            <a:off x="3584448" y="2057400"/>
            <a:ext cx="1399032" cy="731520"/>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Power Automate</a:t>
            </a:r>
            <a:endParaRPr lang="en-US" sz="1050" dirty="0"/>
          </a:p>
          <a:p>
            <a:pPr algn="l" indent="0" marL="0">
              <a:buNone/>
            </a:pPr>
            <a:r>
              <a:rPr lang="en-US" sz="900" dirty="0">
                <a:solidFill>
                  <a:srgbClr val="6B7280"/>
                </a:solidFill>
                <a:latin typeface="Meiryo UI" pitchFamily="34" charset="0"/>
                <a:ea typeface="Meiryo UI" pitchFamily="34" charset="-122"/>
                <a:cs typeface="Meiryo UI" pitchFamily="34" charset="-120"/>
              </a:rPr>
              <a:t>データ取得・スコア</a:t>
            </a:r>
            <a:endParaRPr lang="en-US" sz="1050" dirty="0"/>
          </a:p>
        </p:txBody>
      </p:sp>
      <p:sp>
        <p:nvSpPr>
          <p:cNvPr id="24" name="Shape 20"/>
          <p:cNvSpPr/>
          <p:nvPr/>
        </p:nvSpPr>
        <p:spPr>
          <a:xfrm>
            <a:off x="5074920" y="2423160"/>
            <a:ext cx="182880" cy="0"/>
          </a:xfrm>
          <a:prstGeom prst="line">
            <a:avLst/>
          </a:prstGeom>
          <a:noFill/>
          <a:ln w="22225">
            <a:solidFill>
              <a:srgbClr val="9AA5B4"/>
            </a:solidFill>
            <a:prstDash val="solid"/>
            <a:tailEnd type="triangle"/>
          </a:ln>
        </p:spPr>
      </p:sp>
      <p:sp>
        <p:nvSpPr>
          <p:cNvPr id="25" name="Shape 21"/>
          <p:cNvSpPr/>
          <p:nvPr/>
        </p:nvSpPr>
        <p:spPr>
          <a:xfrm>
            <a:off x="5303520" y="2057400"/>
            <a:ext cx="2011680" cy="731520"/>
          </a:xfrm>
          <a:prstGeom prst="roundRect">
            <a:avLst>
              <a:gd name="adj" fmla="val 10000"/>
            </a:avLst>
          </a:prstGeom>
          <a:solidFill>
            <a:srgbClr val="0E9F9A"/>
          </a:solidFill>
          <a:ln/>
        </p:spPr>
      </p:sp>
      <p:sp>
        <p:nvSpPr>
          <p:cNvPr id="26" name="Shape 22"/>
          <p:cNvSpPr/>
          <p:nvPr/>
        </p:nvSpPr>
        <p:spPr>
          <a:xfrm>
            <a:off x="5376672" y="2167128"/>
            <a:ext cx="512064" cy="512064"/>
          </a:xfrm>
          <a:prstGeom prst="ellipse">
            <a:avLst/>
          </a:prstGeom>
          <a:solidFill>
            <a:srgbClr val="FFFFFF"/>
          </a:solidFill>
          <a:ln/>
        </p:spPr>
      </p:sp>
      <p:pic>
        <p:nvPicPr>
          <p:cNvPr id="27" name="Image 2" descr="preencoded.png">    </p:cNvPr>
          <p:cNvPicPr>
            <a:picLocks noChangeAspect="1"/>
          </p:cNvPicPr>
          <p:nvPr/>
        </p:nvPicPr>
        <p:blipFill>
          <a:blip r:embed="rId3"/>
          <a:stretch>
            <a:fillRect/>
          </a:stretch>
        </p:blipFill>
        <p:spPr>
          <a:xfrm>
            <a:off x="5449824" y="2240280"/>
            <a:ext cx="365760" cy="365760"/>
          </a:xfrm>
          <a:prstGeom prst="rect">
            <a:avLst/>
          </a:prstGeom>
        </p:spPr>
      </p:pic>
      <p:sp>
        <p:nvSpPr>
          <p:cNvPr id="28" name="Text 23"/>
          <p:cNvSpPr txBox="1"/>
          <p:nvPr/>
        </p:nvSpPr>
        <p:spPr>
          <a:xfrm>
            <a:off x="6035040" y="2057400"/>
            <a:ext cx="1234440" cy="731520"/>
          </a:xfrm>
          <a:prstGeom prst="rect">
            <a:avLst/>
          </a:prstGeom>
          <a:noFill/>
          <a:ln/>
        </p:spPr>
        <p:txBody>
          <a:bodyPr wrap="square" lIns="0" tIns="0" rIns="0" bIns="0" rtlCol="0" anchor="ctr"/>
          <a:lstStyle/>
          <a:p>
            <a:pPr algn="l" indent="0" marL="0">
              <a:buNone/>
            </a:pPr>
            <a:r>
              <a:rPr lang="en-US" sz="1050" b="1" dirty="0">
                <a:solidFill>
                  <a:srgbClr val="FFFFFF"/>
                </a:solidFill>
                <a:latin typeface="Meiryo UI" pitchFamily="34" charset="0"/>
                <a:ea typeface="Meiryo UI" pitchFamily="34" charset="-122"/>
                <a:cs typeface="Meiryo UI" pitchFamily="34" charset="-120"/>
              </a:rPr>
              <a:t>AI生成</a:t>
            </a:r>
            <a:endParaRPr lang="en-US" sz="1050" dirty="0"/>
          </a:p>
          <a:p>
            <a:pPr algn="l" indent="0" marL="0">
              <a:buNone/>
            </a:pPr>
            <a:r>
              <a:rPr lang="en-US" sz="900" dirty="0">
                <a:solidFill>
                  <a:srgbClr val="E6F2F2"/>
                </a:solidFill>
                <a:latin typeface="Meiryo UI" pitchFamily="34" charset="0"/>
                <a:ea typeface="Meiryo UI" pitchFamily="34" charset="-122"/>
                <a:cs typeface="Meiryo UI" pitchFamily="34" charset="-120"/>
              </a:rPr>
              <a:t>AI Builder／Copilot Studio</a:t>
            </a:r>
            <a:endParaRPr lang="en-US" sz="1050" dirty="0"/>
          </a:p>
        </p:txBody>
      </p:sp>
      <p:sp>
        <p:nvSpPr>
          <p:cNvPr id="29" name="Shape 24"/>
          <p:cNvSpPr/>
          <p:nvPr/>
        </p:nvSpPr>
        <p:spPr>
          <a:xfrm>
            <a:off x="6309360" y="2834640"/>
            <a:ext cx="0" cy="365760"/>
          </a:xfrm>
          <a:prstGeom prst="line">
            <a:avLst/>
          </a:prstGeom>
          <a:noFill/>
          <a:ln w="22225">
            <a:solidFill>
              <a:srgbClr val="9AA5B4"/>
            </a:solidFill>
            <a:prstDash val="solid"/>
            <a:tailEnd type="triangle"/>
          </a:ln>
        </p:spPr>
      </p:sp>
      <p:sp>
        <p:nvSpPr>
          <p:cNvPr id="30" name="Shape 25"/>
          <p:cNvSpPr/>
          <p:nvPr/>
        </p:nvSpPr>
        <p:spPr>
          <a:xfrm>
            <a:off x="5303520" y="3246120"/>
            <a:ext cx="2011680" cy="731520"/>
          </a:xfrm>
          <a:prstGeom prst="roundRect">
            <a:avLst>
              <a:gd name="adj" fmla="val 10000"/>
            </a:avLst>
          </a:prstGeom>
          <a:solidFill>
            <a:srgbClr val="D9F2F1"/>
          </a:solidFill>
          <a:ln/>
        </p:spPr>
      </p:sp>
      <p:pic>
        <p:nvPicPr>
          <p:cNvPr id="31" name="Image 3" descr="preencoded.png">    </p:cNvPr>
          <p:cNvPicPr>
            <a:picLocks noChangeAspect="1"/>
          </p:cNvPicPr>
          <p:nvPr/>
        </p:nvPicPr>
        <p:blipFill>
          <a:blip r:embed="rId4"/>
          <a:stretch>
            <a:fillRect/>
          </a:stretch>
        </p:blipFill>
        <p:spPr>
          <a:xfrm>
            <a:off x="5413248" y="3429000"/>
            <a:ext cx="365760" cy="365760"/>
          </a:xfrm>
          <a:prstGeom prst="rect">
            <a:avLst/>
          </a:prstGeom>
        </p:spPr>
      </p:pic>
      <p:sp>
        <p:nvSpPr>
          <p:cNvPr id="32" name="Text 26"/>
          <p:cNvSpPr txBox="1"/>
          <p:nvPr/>
        </p:nvSpPr>
        <p:spPr>
          <a:xfrm>
            <a:off x="5870448" y="3246120"/>
            <a:ext cx="1399032" cy="731520"/>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Airtable</a:t>
            </a:r>
            <a:endParaRPr lang="en-US" sz="1050" dirty="0"/>
          </a:p>
          <a:p>
            <a:pPr algn="l" indent="0" marL="0">
              <a:buNone/>
            </a:pPr>
            <a:r>
              <a:rPr lang="en-US" sz="900" dirty="0">
                <a:solidFill>
                  <a:srgbClr val="6B7280"/>
                </a:solidFill>
                <a:latin typeface="Meiryo UI" pitchFamily="34" charset="0"/>
                <a:ea typeface="Meiryo UI" pitchFamily="34" charset="-122"/>
                <a:cs typeface="Meiryo UI" pitchFamily="34" charset="-120"/>
              </a:rPr>
              <a:t>下書きを書き戻し</a:t>
            </a:r>
            <a:endParaRPr lang="en-US" sz="1050" dirty="0"/>
          </a:p>
        </p:txBody>
      </p:sp>
      <p:sp>
        <p:nvSpPr>
          <p:cNvPr id="33" name="Shape 27"/>
          <p:cNvSpPr/>
          <p:nvPr/>
        </p:nvSpPr>
        <p:spPr>
          <a:xfrm flipH="1">
            <a:off x="5074920" y="3611880"/>
            <a:ext cx="182880" cy="0"/>
          </a:xfrm>
          <a:prstGeom prst="line">
            <a:avLst/>
          </a:prstGeom>
          <a:noFill/>
          <a:ln w="22225">
            <a:solidFill>
              <a:srgbClr val="9AA5B4"/>
            </a:solidFill>
            <a:prstDash val="solid"/>
            <a:tailEnd type="triangle"/>
          </a:ln>
        </p:spPr>
      </p:sp>
      <p:sp>
        <p:nvSpPr>
          <p:cNvPr id="34" name="Shape 28"/>
          <p:cNvSpPr/>
          <p:nvPr/>
        </p:nvSpPr>
        <p:spPr>
          <a:xfrm>
            <a:off x="3017520" y="3246120"/>
            <a:ext cx="2011680" cy="731520"/>
          </a:xfrm>
          <a:prstGeom prst="roundRect">
            <a:avLst>
              <a:gd name="adj" fmla="val 10000"/>
            </a:avLst>
          </a:prstGeom>
          <a:solidFill>
            <a:srgbClr val="FDEBD3"/>
          </a:solidFill>
          <a:ln/>
        </p:spPr>
      </p:sp>
      <p:pic>
        <p:nvPicPr>
          <p:cNvPr id="35" name="Image 4" descr="preencoded.png">    </p:cNvPr>
          <p:cNvPicPr>
            <a:picLocks noChangeAspect="1"/>
          </p:cNvPicPr>
          <p:nvPr/>
        </p:nvPicPr>
        <p:blipFill>
          <a:blip r:embed="rId5"/>
          <a:stretch>
            <a:fillRect/>
          </a:stretch>
        </p:blipFill>
        <p:spPr>
          <a:xfrm>
            <a:off x="3127248" y="3429000"/>
            <a:ext cx="365760" cy="365760"/>
          </a:xfrm>
          <a:prstGeom prst="rect">
            <a:avLst/>
          </a:prstGeom>
        </p:spPr>
      </p:pic>
      <p:sp>
        <p:nvSpPr>
          <p:cNvPr id="36" name="Text 29"/>
          <p:cNvSpPr txBox="1"/>
          <p:nvPr/>
        </p:nvSpPr>
        <p:spPr>
          <a:xfrm>
            <a:off x="3584448" y="3246120"/>
            <a:ext cx="1399032" cy="731520"/>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Teams通知</a:t>
            </a:r>
            <a:endParaRPr lang="en-US" sz="1050" dirty="0"/>
          </a:p>
          <a:p>
            <a:pPr algn="l" indent="0" marL="0">
              <a:buNone/>
            </a:pPr>
            <a:r>
              <a:rPr lang="en-US" sz="900" dirty="0">
                <a:solidFill>
                  <a:srgbClr val="6B7280"/>
                </a:solidFill>
                <a:latin typeface="Meiryo UI" pitchFamily="34" charset="0"/>
                <a:ea typeface="Meiryo UI" pitchFamily="34" charset="-122"/>
                <a:cs typeface="Meiryo UI" pitchFamily="34" charset="-120"/>
              </a:rPr>
              <a:t>人がレビュー・承認</a:t>
            </a:r>
            <a:endParaRPr lang="en-US" sz="1050" dirty="0"/>
          </a:p>
        </p:txBody>
      </p:sp>
      <p:sp>
        <p:nvSpPr>
          <p:cNvPr id="37" name="Shape 30"/>
          <p:cNvSpPr/>
          <p:nvPr/>
        </p:nvSpPr>
        <p:spPr>
          <a:xfrm>
            <a:off x="731520" y="3246120"/>
            <a:ext cx="2011680" cy="731520"/>
          </a:xfrm>
          <a:prstGeom prst="roundRect">
            <a:avLst>
              <a:gd name="adj" fmla="val 10000"/>
            </a:avLst>
          </a:prstGeom>
          <a:solidFill>
            <a:srgbClr val="E3EAF5"/>
          </a:solidFill>
          <a:ln/>
        </p:spPr>
      </p:sp>
      <p:pic>
        <p:nvPicPr>
          <p:cNvPr id="38" name="Image 5" descr="preencoded.png">    </p:cNvPr>
          <p:cNvPicPr>
            <a:picLocks noChangeAspect="1"/>
          </p:cNvPicPr>
          <p:nvPr/>
        </p:nvPicPr>
        <p:blipFill>
          <a:blip r:embed="rId6"/>
          <a:stretch>
            <a:fillRect/>
          </a:stretch>
        </p:blipFill>
        <p:spPr>
          <a:xfrm>
            <a:off x="841248" y="3429000"/>
            <a:ext cx="365760" cy="365760"/>
          </a:xfrm>
          <a:prstGeom prst="rect">
            <a:avLst/>
          </a:prstGeom>
        </p:spPr>
      </p:pic>
      <p:sp>
        <p:nvSpPr>
          <p:cNvPr id="39" name="Text 31"/>
          <p:cNvSpPr txBox="1"/>
          <p:nvPr/>
        </p:nvSpPr>
        <p:spPr>
          <a:xfrm>
            <a:off x="1298448" y="3246120"/>
            <a:ext cx="1399032" cy="731520"/>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データ基盤</a:t>
            </a:r>
            <a:endParaRPr lang="en-US" sz="1050" dirty="0"/>
          </a:p>
          <a:p>
            <a:pPr algn="l" indent="0" marL="0">
              <a:buNone/>
            </a:pPr>
            <a:r>
              <a:rPr lang="en-US" sz="900" dirty="0">
                <a:solidFill>
                  <a:srgbClr val="6B7280"/>
                </a:solidFill>
                <a:latin typeface="Meiryo UI" pitchFamily="34" charset="0"/>
                <a:ea typeface="Meiryo UI" pitchFamily="34" charset="-122"/>
                <a:cs typeface="Meiryo UI" pitchFamily="34" charset="-120"/>
              </a:rPr>
              <a:t>A3で構築したもの</a:t>
            </a:r>
            <a:endParaRPr lang="en-US" sz="1050" dirty="0"/>
          </a:p>
        </p:txBody>
      </p:sp>
      <p:sp>
        <p:nvSpPr>
          <p:cNvPr id="40" name="Shape 32"/>
          <p:cNvSpPr/>
          <p:nvPr/>
        </p:nvSpPr>
        <p:spPr>
          <a:xfrm flipV="1">
            <a:off x="2788920" y="2834640"/>
            <a:ext cx="365760" cy="548640"/>
          </a:xfrm>
          <a:prstGeom prst="line">
            <a:avLst/>
          </a:prstGeom>
          <a:noFill/>
          <a:ln w="22225">
            <a:solidFill>
              <a:srgbClr val="9AA5B4"/>
            </a:solidFill>
            <a:prstDash val="solid"/>
            <a:tailEnd type="triangle"/>
          </a:ln>
        </p:spPr>
      </p:sp>
      <p:sp>
        <p:nvSpPr>
          <p:cNvPr id="41" name="Shape 33"/>
          <p:cNvSpPr/>
          <p:nvPr/>
        </p:nvSpPr>
        <p:spPr>
          <a:xfrm>
            <a:off x="7680960" y="1874520"/>
            <a:ext cx="3931920" cy="2514600"/>
          </a:xfrm>
          <a:prstGeom prst="roundRect">
            <a:avLst>
              <a:gd name="adj" fmla="val 2182"/>
            </a:avLst>
          </a:prstGeom>
          <a:solidFill>
            <a:srgbClr val="E3EAF5"/>
          </a:solidFill>
          <a:ln/>
        </p:spPr>
      </p:sp>
      <p:sp>
        <p:nvSpPr>
          <p:cNvPr id="42" name="Shape 34"/>
          <p:cNvSpPr/>
          <p:nvPr/>
        </p:nvSpPr>
        <p:spPr>
          <a:xfrm>
            <a:off x="7818120" y="1993392"/>
            <a:ext cx="384048" cy="384048"/>
          </a:xfrm>
          <a:prstGeom prst="ellipse">
            <a:avLst/>
          </a:prstGeom>
          <a:solidFill>
            <a:srgbClr val="FFFFFF"/>
          </a:solidFill>
          <a:ln/>
        </p:spPr>
      </p:sp>
      <p:pic>
        <p:nvPicPr>
          <p:cNvPr id="43" name="Image 6" descr="preencoded.png">    </p:cNvPr>
          <p:cNvPicPr>
            <a:picLocks noChangeAspect="1"/>
          </p:cNvPicPr>
          <p:nvPr/>
        </p:nvPicPr>
        <p:blipFill>
          <a:blip r:embed="rId7"/>
          <a:stretch>
            <a:fillRect/>
          </a:stretch>
        </p:blipFill>
        <p:spPr>
          <a:xfrm>
            <a:off x="7894930" y="2070202"/>
            <a:ext cx="230429" cy="230429"/>
          </a:xfrm>
          <a:prstGeom prst="rect">
            <a:avLst/>
          </a:prstGeom>
        </p:spPr>
      </p:pic>
      <p:sp>
        <p:nvSpPr>
          <p:cNvPr id="44" name="Text 35"/>
          <p:cNvSpPr txBox="1"/>
          <p:nvPr/>
        </p:nvSpPr>
        <p:spPr>
          <a:xfrm>
            <a:off x="8275320" y="1993392"/>
            <a:ext cx="3246120" cy="384048"/>
          </a:xfrm>
          <a:prstGeom prst="rect">
            <a:avLst/>
          </a:prstGeom>
          <a:noFill/>
          <a:ln/>
        </p:spPr>
        <p:txBody>
          <a:bodyPr wrap="square" lIns="0" tIns="0" rIns="0" bIns="0"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必要な機能・準備</a:t>
            </a:r>
            <a:endParaRPr lang="en-US" sz="1300" dirty="0"/>
          </a:p>
        </p:txBody>
      </p:sp>
      <p:sp>
        <p:nvSpPr>
          <p:cNvPr id="45" name="Text 36"/>
          <p:cNvSpPr txBox="1"/>
          <p:nvPr/>
        </p:nvSpPr>
        <p:spPr>
          <a:xfrm>
            <a:off x="7863840" y="2478024"/>
            <a:ext cx="3611880" cy="1819656"/>
          </a:xfrm>
          <a:prstGeom prst="rect">
            <a:avLst/>
          </a:prstGeom>
          <a:noFill/>
          <a:ln/>
        </p:spPr>
        <p:txBody>
          <a:bodyPr wrap="square" lIns="254" tIns="254" rIns="254" bIns="254" rtlCol="0" anchor="t"/>
          <a:lstStyle/>
          <a:p>
            <a:pPr marL="152400" indent="-152400">
              <a:spcAft>
                <a:spcPts val="300"/>
              </a:spcAft>
              <a:buSzPct val="100000"/>
              <a:buChar char="•"/>
            </a:pPr>
            <a:r>
              <a:rPr lang="en-US" sz="1100" dirty="0">
                <a:solidFill>
                  <a:srgbClr val="2B2B2B"/>
                </a:solidFill>
                <a:latin typeface="Meiryo UI" pitchFamily="34" charset="0"/>
                <a:ea typeface="Meiryo UI" pitchFamily="34" charset="-122"/>
                <a:cs typeface="Meiryo UI" pitchFamily="34" charset="-120"/>
              </a:rPr>
              <a:t>A3の一式（データ基盤・ナレッジ）</a:t>
            </a:r>
            <a:endParaRPr lang="en-US" sz="1100" dirty="0"/>
          </a:p>
          <a:p>
            <a:pPr marL="152400" indent="-152400">
              <a:spcAft>
                <a:spcPts val="300"/>
              </a:spcAft>
              <a:buSzPct val="100000"/>
              <a:buChar char="•"/>
            </a:pPr>
            <a:r>
              <a:rPr lang="en-US" sz="1100" dirty="0">
                <a:solidFill>
                  <a:srgbClr val="2B2B2B"/>
                </a:solidFill>
                <a:latin typeface="Meiryo UI" pitchFamily="34" charset="0"/>
                <a:ea typeface="Meiryo UI" pitchFamily="34" charset="-122"/>
                <a:cs typeface="Meiryo UI" pitchFamily="34" charset="-120"/>
              </a:rPr>
              <a:t>起案フロー（Airtableとの連携はHTTP＋PAT）</a:t>
            </a:r>
            <a:endParaRPr lang="en-US" sz="1100" dirty="0"/>
          </a:p>
          <a:p>
            <a:pPr marL="152400" indent="-152400">
              <a:spcAft>
                <a:spcPts val="300"/>
              </a:spcAft>
              <a:buSzPct val="100000"/>
              <a:buChar char="•"/>
            </a:pPr>
            <a:r>
              <a:rPr lang="en-US" sz="1100" dirty="0">
                <a:solidFill>
                  <a:srgbClr val="2B2B2B"/>
                </a:solidFill>
                <a:latin typeface="Meiryo UI" pitchFamily="34" charset="0"/>
                <a:ea typeface="Meiryo UI" pitchFamily="34" charset="-122"/>
                <a:cs typeface="Meiryo UI" pitchFamily="34" charset="-120"/>
              </a:rPr>
              <a:t>AI BuilderのプロンプトまたはCopilot Studioの呼び出し</a:t>
            </a:r>
            <a:endParaRPr lang="en-US" sz="1100" dirty="0"/>
          </a:p>
          <a:p>
            <a:pPr marL="152400" indent="-152400">
              <a:spcAft>
                <a:spcPts val="300"/>
              </a:spcAft>
              <a:buSzPct val="100000"/>
              <a:buChar char="•"/>
            </a:pPr>
            <a:r>
              <a:rPr lang="en-US" sz="1100" dirty="0">
                <a:solidFill>
                  <a:srgbClr val="2B2B2B"/>
                </a:solidFill>
                <a:latin typeface="Meiryo UI" pitchFamily="34" charset="0"/>
                <a:ea typeface="Meiryo UI" pitchFamily="34" charset="-122"/>
                <a:cs typeface="Meiryo UI" pitchFamily="34" charset="-120"/>
              </a:rPr>
              <a:t>商品スコアリングのロジック</a:t>
            </a:r>
            <a:endParaRPr lang="en-US" sz="1100" dirty="0"/>
          </a:p>
          <a:p>
            <a:pPr marL="152400" indent="-152400">
              <a:spcAft>
                <a:spcPts val="300"/>
              </a:spcAft>
              <a:buSzPct val="100000"/>
              <a:buChar char="•"/>
            </a:pPr>
            <a:r>
              <a:rPr lang="en-US" sz="1100" dirty="0">
                <a:solidFill>
                  <a:srgbClr val="2B2B2B"/>
                </a:solidFill>
                <a:latin typeface="Meiryo UI" pitchFamily="34" charset="0"/>
                <a:ea typeface="Meiryo UI" pitchFamily="34" charset="-122"/>
                <a:cs typeface="Meiryo UI" pitchFamily="34" charset="-120"/>
              </a:rPr>
              <a:t>Teams承認フローとエラー通知</a:t>
            </a:r>
            <a:endParaRPr lang="en-US" sz="1100" dirty="0"/>
          </a:p>
        </p:txBody>
      </p:sp>
      <p:sp>
        <p:nvSpPr>
          <p:cNvPr id="46" name="Shape 37"/>
          <p:cNvSpPr/>
          <p:nvPr/>
        </p:nvSpPr>
        <p:spPr>
          <a:xfrm>
            <a:off x="548640" y="4572000"/>
            <a:ext cx="3566160" cy="1783080"/>
          </a:xfrm>
          <a:prstGeom prst="roundRect">
            <a:avLst>
              <a:gd name="adj" fmla="val 3077"/>
            </a:avLst>
          </a:prstGeom>
          <a:solidFill>
            <a:srgbClr val="D9F2F1"/>
          </a:solidFill>
          <a:ln/>
        </p:spPr>
      </p:sp>
      <p:sp>
        <p:nvSpPr>
          <p:cNvPr id="47" name="Shape 38"/>
          <p:cNvSpPr/>
          <p:nvPr/>
        </p:nvSpPr>
        <p:spPr>
          <a:xfrm>
            <a:off x="685800" y="4690872"/>
            <a:ext cx="384048" cy="384048"/>
          </a:xfrm>
          <a:prstGeom prst="ellipse">
            <a:avLst/>
          </a:prstGeom>
          <a:solidFill>
            <a:srgbClr val="FFFFFF"/>
          </a:solidFill>
          <a:ln/>
        </p:spPr>
      </p:sp>
      <p:pic>
        <p:nvPicPr>
          <p:cNvPr id="48" name="Image 7" descr="preencoded.png">    </p:cNvPr>
          <p:cNvPicPr>
            <a:picLocks noChangeAspect="1"/>
          </p:cNvPicPr>
          <p:nvPr/>
        </p:nvPicPr>
        <p:blipFill>
          <a:blip r:embed="rId8"/>
          <a:stretch>
            <a:fillRect/>
          </a:stretch>
        </p:blipFill>
        <p:spPr>
          <a:xfrm>
            <a:off x="762610" y="4767682"/>
            <a:ext cx="230429" cy="230429"/>
          </a:xfrm>
          <a:prstGeom prst="rect">
            <a:avLst/>
          </a:prstGeom>
        </p:spPr>
      </p:pic>
      <p:sp>
        <p:nvSpPr>
          <p:cNvPr id="49" name="Text 39"/>
          <p:cNvSpPr txBox="1"/>
          <p:nvPr/>
        </p:nvSpPr>
        <p:spPr>
          <a:xfrm>
            <a:off x="1143000" y="4690872"/>
            <a:ext cx="2880360" cy="384048"/>
          </a:xfrm>
          <a:prstGeom prst="rect">
            <a:avLst/>
          </a:prstGeom>
          <a:noFill/>
          <a:ln/>
        </p:spPr>
        <p:txBody>
          <a:bodyPr wrap="square" lIns="0" tIns="0" rIns="0" bIns="0"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特徴</a:t>
            </a:r>
            <a:endParaRPr lang="en-US" sz="1300" dirty="0"/>
          </a:p>
        </p:txBody>
      </p:sp>
      <p:sp>
        <p:nvSpPr>
          <p:cNvPr id="50" name="Text 40"/>
          <p:cNvSpPr txBox="1"/>
          <p:nvPr/>
        </p:nvSpPr>
        <p:spPr>
          <a:xfrm>
            <a:off x="731520" y="5175504"/>
            <a:ext cx="3246120" cy="1088136"/>
          </a:xfrm>
          <a:prstGeom prst="rect">
            <a:avLst/>
          </a:prstGeom>
          <a:noFill/>
          <a:ln/>
        </p:spPr>
        <p:txBody>
          <a:bodyPr wrap="square" lIns="254" tIns="254" rIns="254" bIns="254" rtlCol="0" anchor="t"/>
          <a:lstStyle/>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「作る」から「選ぶ・直す」業務に変わる</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すべてのカードが同じ基準で起案される</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毎日×複数国の量に対応できる</a:t>
            </a:r>
            <a:endParaRPr lang="en-US" sz="1150" dirty="0"/>
          </a:p>
        </p:txBody>
      </p:sp>
      <p:sp>
        <p:nvSpPr>
          <p:cNvPr id="51" name="Shape 41"/>
          <p:cNvSpPr/>
          <p:nvPr/>
        </p:nvSpPr>
        <p:spPr>
          <a:xfrm>
            <a:off x="4297680" y="4572000"/>
            <a:ext cx="3566160" cy="1783080"/>
          </a:xfrm>
          <a:prstGeom prst="roundRect">
            <a:avLst>
              <a:gd name="adj" fmla="val 3077"/>
            </a:avLst>
          </a:prstGeom>
          <a:solidFill>
            <a:srgbClr val="FBE3E3"/>
          </a:solidFill>
          <a:ln/>
        </p:spPr>
      </p:sp>
      <p:sp>
        <p:nvSpPr>
          <p:cNvPr id="52" name="Shape 42"/>
          <p:cNvSpPr/>
          <p:nvPr/>
        </p:nvSpPr>
        <p:spPr>
          <a:xfrm>
            <a:off x="4434840" y="4690872"/>
            <a:ext cx="384048" cy="384048"/>
          </a:xfrm>
          <a:prstGeom prst="ellipse">
            <a:avLst/>
          </a:prstGeom>
          <a:solidFill>
            <a:srgbClr val="FFFFFF"/>
          </a:solidFill>
          <a:ln/>
        </p:spPr>
      </p:sp>
      <p:pic>
        <p:nvPicPr>
          <p:cNvPr id="53" name="Image 8" descr="preencoded.png">    </p:cNvPr>
          <p:cNvPicPr>
            <a:picLocks noChangeAspect="1"/>
          </p:cNvPicPr>
          <p:nvPr/>
        </p:nvPicPr>
        <p:blipFill>
          <a:blip r:embed="rId9"/>
          <a:stretch>
            <a:fillRect/>
          </a:stretch>
        </p:blipFill>
        <p:spPr>
          <a:xfrm>
            <a:off x="4511650" y="4767682"/>
            <a:ext cx="230429" cy="230429"/>
          </a:xfrm>
          <a:prstGeom prst="rect">
            <a:avLst/>
          </a:prstGeom>
        </p:spPr>
      </p:pic>
      <p:sp>
        <p:nvSpPr>
          <p:cNvPr id="54" name="Text 43"/>
          <p:cNvSpPr txBox="1"/>
          <p:nvPr/>
        </p:nvSpPr>
        <p:spPr>
          <a:xfrm>
            <a:off x="4892040" y="4690872"/>
            <a:ext cx="2880360" cy="384048"/>
          </a:xfrm>
          <a:prstGeom prst="rect">
            <a:avLst/>
          </a:prstGeom>
          <a:noFill/>
          <a:ln/>
        </p:spPr>
        <p:txBody>
          <a:bodyPr wrap="square" lIns="0" tIns="0" rIns="0" bIns="0"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留意点・制約</a:t>
            </a:r>
            <a:endParaRPr lang="en-US" sz="1300" dirty="0"/>
          </a:p>
        </p:txBody>
      </p:sp>
      <p:sp>
        <p:nvSpPr>
          <p:cNvPr id="55" name="Text 44"/>
          <p:cNvSpPr txBox="1"/>
          <p:nvPr/>
        </p:nvSpPr>
        <p:spPr>
          <a:xfrm>
            <a:off x="4480560" y="5175504"/>
            <a:ext cx="3246120" cy="1088136"/>
          </a:xfrm>
          <a:prstGeom prst="rect">
            <a:avLst/>
          </a:prstGeom>
          <a:noFill/>
          <a:ln/>
        </p:spPr>
        <p:txBody>
          <a:bodyPr wrap="square" lIns="254" tIns="254" rIns="254" bIns="254" rtlCol="0" anchor="t"/>
          <a:lstStyle/>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Airtable連携が複雑になり、障害点が増える</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Airtable側の項目変更に弱い</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システムをまたぐ権限・監査</a:t>
            </a:r>
            <a:endParaRPr lang="en-US" sz="1150" dirty="0"/>
          </a:p>
        </p:txBody>
      </p:sp>
      <p:sp>
        <p:nvSpPr>
          <p:cNvPr id="56" name="Shape 45"/>
          <p:cNvSpPr/>
          <p:nvPr/>
        </p:nvSpPr>
        <p:spPr>
          <a:xfrm>
            <a:off x="8046720" y="4572000"/>
            <a:ext cx="3566160" cy="1783080"/>
          </a:xfrm>
          <a:prstGeom prst="roundRect">
            <a:avLst>
              <a:gd name="adj" fmla="val 3077"/>
            </a:avLst>
          </a:prstGeom>
          <a:solidFill>
            <a:srgbClr val="FDEBD3"/>
          </a:solidFill>
          <a:ln/>
        </p:spPr>
      </p:sp>
      <p:sp>
        <p:nvSpPr>
          <p:cNvPr id="57" name="Shape 46"/>
          <p:cNvSpPr/>
          <p:nvPr/>
        </p:nvSpPr>
        <p:spPr>
          <a:xfrm>
            <a:off x="8183880" y="4690872"/>
            <a:ext cx="384048" cy="384048"/>
          </a:xfrm>
          <a:prstGeom prst="ellipse">
            <a:avLst/>
          </a:prstGeom>
          <a:solidFill>
            <a:srgbClr val="FFFFFF"/>
          </a:solidFill>
          <a:ln/>
        </p:spPr>
      </p:sp>
      <p:pic>
        <p:nvPicPr>
          <p:cNvPr id="58" name="Image 9" descr="preencoded.png">    </p:cNvPr>
          <p:cNvPicPr>
            <a:picLocks noChangeAspect="1"/>
          </p:cNvPicPr>
          <p:nvPr/>
        </p:nvPicPr>
        <p:blipFill>
          <a:blip r:embed="rId10"/>
          <a:stretch>
            <a:fillRect/>
          </a:stretch>
        </p:blipFill>
        <p:spPr>
          <a:xfrm>
            <a:off x="8260690" y="4767682"/>
            <a:ext cx="230429" cy="230429"/>
          </a:xfrm>
          <a:prstGeom prst="rect">
            <a:avLst/>
          </a:prstGeom>
        </p:spPr>
      </p:pic>
      <p:sp>
        <p:nvSpPr>
          <p:cNvPr id="59" name="Text 47"/>
          <p:cNvSpPr txBox="1"/>
          <p:nvPr/>
        </p:nvSpPr>
        <p:spPr>
          <a:xfrm>
            <a:off x="8641080" y="4690872"/>
            <a:ext cx="2880360" cy="384048"/>
          </a:xfrm>
          <a:prstGeom prst="rect">
            <a:avLst/>
          </a:prstGeom>
          <a:noFill/>
          <a:ln/>
        </p:spPr>
        <p:txBody>
          <a:bodyPr wrap="square" lIns="0" tIns="0" rIns="0" bIns="0"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検討ポイント</a:t>
            </a:r>
            <a:endParaRPr lang="en-US" sz="1300" dirty="0"/>
          </a:p>
        </p:txBody>
      </p:sp>
      <p:sp>
        <p:nvSpPr>
          <p:cNvPr id="60" name="Text 48"/>
          <p:cNvSpPr txBox="1"/>
          <p:nvPr/>
        </p:nvSpPr>
        <p:spPr>
          <a:xfrm>
            <a:off x="8229600" y="5175504"/>
            <a:ext cx="3246120" cy="1088136"/>
          </a:xfrm>
          <a:prstGeom prst="rect">
            <a:avLst/>
          </a:prstGeom>
          <a:noFill/>
          <a:ln/>
        </p:spPr>
        <p:txBody>
          <a:bodyPr wrap="square" lIns="254" tIns="254" rIns="254" bIns="254" rtlCol="0" anchor="t"/>
          <a:lstStyle/>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起動の方式（定期確認か即時送信か）→個別論点</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何日前に、どの単位で生成するか</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人のレビューを必須にする範囲</a:t>
            </a:r>
            <a:endParaRPr lang="en-US" sz="1150" dirty="0"/>
          </a:p>
        </p:txBody>
      </p:sp>
      <p:sp>
        <p:nvSpPr>
          <p:cNvPr id="61" name="Text 49"/>
          <p:cNvSpPr txBox="1"/>
          <p:nvPr/>
        </p:nvSpPr>
        <p:spPr>
          <a:xfrm>
            <a:off x="548640" y="6400800"/>
            <a:ext cx="10515600" cy="228600"/>
          </a:xfrm>
          <a:prstGeom prst="rect">
            <a:avLst/>
          </a:prstGeom>
          <a:noFill/>
          <a:ln/>
        </p:spPr>
        <p:txBody>
          <a:bodyPr wrap="square" lIns="0" tIns="0" rIns="0" bIns="0" rtlCol="0" anchor="t"/>
          <a:lstStyle/>
          <a:p>
            <a:pPr indent="0" marL="0">
              <a:buNone/>
            </a:pPr>
            <a:r>
              <a:rPr lang="en-US" sz="800" dirty="0">
                <a:solidFill>
                  <a:srgbClr val="6B7280"/>
                </a:solidFill>
                <a:latin typeface="Meiryo UI" pitchFamily="34" charset="0"/>
                <a:ea typeface="Meiryo UI" pitchFamily="34" charset="-122"/>
                <a:cs typeface="Meiryo UI" pitchFamily="34" charset="-120"/>
              </a:rPr>
              <a:t>難易度（★）：開発量・必要なスキル・関係する部署やシステムの数から見た相対的な目安。期間：社内で内製し、PoC後に単独で構築した場合の概算</a:t>
            </a:r>
            <a:endParaRPr lang="en-US" sz="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548640"/>
          </a:xfrm>
          <a:prstGeom prst="rect">
            <a:avLst/>
          </a:prstGeom>
          <a:noFill/>
          <a:ln/>
        </p:spPr>
        <p:txBody>
          <a:bodyPr wrap="square" lIns="0" tIns="0" rIns="0" bIns="0" rtlCol="0" anchor="ctr"/>
          <a:lstStyle/>
          <a:p>
            <a:pPr indent="0" marL="0">
              <a:buNone/>
            </a:pPr>
            <a:r>
              <a:rPr lang="en-US" sz="2600" b="1" dirty="0">
                <a:solidFill>
                  <a:srgbClr val="1B2A49"/>
                </a:solidFill>
                <a:latin typeface="Meiryo UI" pitchFamily="34" charset="0"/>
                <a:ea typeface="Meiryo UI" pitchFamily="34" charset="-122"/>
                <a:cs typeface="Meiryo UI" pitchFamily="34" charset="-120"/>
              </a:rPr>
              <a:t>A5｜Microsoft Listsに移行</a:t>
            </a:r>
            <a:endParaRPr lang="en-US" sz="2600" dirty="0"/>
          </a:p>
        </p:txBody>
      </p:sp>
      <p:sp>
        <p:nvSpPr>
          <p:cNvPr id="3" name="Text 1"/>
          <p:cNvSpPr txBox="1"/>
          <p:nvPr/>
        </p:nvSpPr>
        <p:spPr>
          <a:xfrm>
            <a:off x="548640" y="896112"/>
            <a:ext cx="11064240" cy="365760"/>
          </a:xfrm>
          <a:prstGeom prst="rect">
            <a:avLst/>
          </a:prstGeom>
          <a:noFill/>
          <a:ln/>
        </p:spPr>
        <p:txBody>
          <a:bodyPr wrap="square" lIns="0" tIns="0" rIns="0" bIns="0" rtlCol="0" anchor="ctr"/>
          <a:lstStyle/>
          <a:p>
            <a:pPr indent="0" marL="0">
              <a:buNone/>
            </a:pPr>
            <a:r>
              <a:rPr lang="en-US" sz="1400" dirty="0">
                <a:solidFill>
                  <a:srgbClr val="6B7280"/>
                </a:solidFill>
                <a:latin typeface="Meiryo UI" pitchFamily="34" charset="0"/>
                <a:ea typeface="Meiryo UI" pitchFamily="34" charset="-122"/>
                <a:cs typeface="Meiryo UI" pitchFamily="34" charset="-120"/>
              </a:rPr>
              <a:t>配信カードをMicrosoft Listsに移し、標準のカレンダービューでAirtableに近い運用をM365上で行う</a:t>
            </a:r>
            <a:endParaRPr lang="en-US" sz="1400" dirty="0"/>
          </a:p>
        </p:txBody>
      </p:sp>
      <p:sp>
        <p:nvSpPr>
          <p:cNvPr id="4" name="Text 2"/>
          <p:cNvSpPr txBox="1"/>
          <p:nvPr/>
        </p:nvSpPr>
        <p:spPr>
          <a:xfrm>
            <a:off x="7498080" y="91440"/>
            <a:ext cx="4114800" cy="22860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4. 各パターンの詳細</a:t>
            </a:r>
            <a:endParaRPr lang="en-US" sz="900" dirty="0"/>
          </a:p>
        </p:txBody>
      </p:sp>
      <p:sp>
        <p:nvSpPr>
          <p:cNvPr id="5" name="Text 3"/>
          <p:cNvSpPr txBox="1"/>
          <p:nvPr/>
        </p:nvSpPr>
        <p:spPr>
          <a:xfrm>
            <a:off x="11247120" y="6446520"/>
            <a:ext cx="457200" cy="27432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22</a:t>
            </a:r>
            <a:endParaRPr lang="en-US" sz="900" dirty="0"/>
          </a:p>
        </p:txBody>
      </p:sp>
      <p:sp>
        <p:nvSpPr>
          <p:cNvPr id="6" name="Shape 4"/>
          <p:cNvSpPr/>
          <p:nvPr/>
        </p:nvSpPr>
        <p:spPr>
          <a:xfrm>
            <a:off x="548640" y="1371600"/>
            <a:ext cx="2103120" cy="347472"/>
          </a:xfrm>
          <a:prstGeom prst="roundRect">
            <a:avLst>
              <a:gd name="adj" fmla="val 50000"/>
            </a:avLst>
          </a:prstGeom>
          <a:solidFill>
            <a:srgbClr val="E5F0FA"/>
          </a:solidFill>
          <a:ln/>
        </p:spPr>
      </p:sp>
      <p:sp>
        <p:nvSpPr>
          <p:cNvPr id="7" name="Text 5"/>
          <p:cNvSpPr txBox="1"/>
          <p:nvPr/>
        </p:nvSpPr>
        <p:spPr>
          <a:xfrm>
            <a:off x="548640" y="1371600"/>
            <a:ext cx="2103120" cy="347472"/>
          </a:xfrm>
          <a:prstGeom prst="rect">
            <a:avLst/>
          </a:prstGeom>
          <a:noFill/>
          <a:ln/>
        </p:spPr>
        <p:txBody>
          <a:bodyPr wrap="square" lIns="0" tIns="0" rIns="0" bIns="0" rtlCol="0" anchor="ctr"/>
          <a:lstStyle/>
          <a:p>
            <a:pPr algn="ctr" indent="0" marL="0">
              <a:buNone/>
            </a:pPr>
            <a:r>
              <a:rPr lang="en-US" sz="950" dirty="0">
                <a:solidFill>
                  <a:srgbClr val="0F6CBD"/>
                </a:solidFill>
                <a:latin typeface="Meiryo UI" pitchFamily="34" charset="0"/>
                <a:ea typeface="Meiryo UI" pitchFamily="34" charset="-122"/>
                <a:cs typeface="Meiryo UI" pitchFamily="34" charset="-120"/>
              </a:rPr>
              <a:t>集約先  </a:t>
            </a:r>
            <a:pPr algn="ctr" indent="0" marL="0">
              <a:buNone/>
            </a:pPr>
            <a:r>
              <a:rPr lang="en-US" sz="1100" b="1" dirty="0">
                <a:solidFill>
                  <a:srgbClr val="0F6CBD"/>
                </a:solidFill>
                <a:latin typeface="Meiryo UI" pitchFamily="34" charset="0"/>
                <a:ea typeface="Meiryo UI" pitchFamily="34" charset="-122"/>
                <a:cs typeface="Meiryo UI" pitchFamily="34" charset="-120"/>
              </a:rPr>
              <a:t>M365に寄せる</a:t>
            </a:r>
            <a:endParaRPr lang="en-US" sz="950" dirty="0"/>
          </a:p>
        </p:txBody>
      </p:sp>
      <p:sp>
        <p:nvSpPr>
          <p:cNvPr id="8" name="Shape 6"/>
          <p:cNvSpPr/>
          <p:nvPr/>
        </p:nvSpPr>
        <p:spPr>
          <a:xfrm>
            <a:off x="2788920" y="1371600"/>
            <a:ext cx="2103120" cy="347472"/>
          </a:xfrm>
          <a:prstGeom prst="roundRect">
            <a:avLst>
              <a:gd name="adj" fmla="val 50000"/>
            </a:avLst>
          </a:prstGeom>
          <a:solidFill>
            <a:srgbClr val="F3F5F8"/>
          </a:solidFill>
          <a:ln/>
        </p:spPr>
      </p:sp>
      <p:sp>
        <p:nvSpPr>
          <p:cNvPr id="9" name="Text 7"/>
          <p:cNvSpPr txBox="1"/>
          <p:nvPr/>
        </p:nvSpPr>
        <p:spPr>
          <a:xfrm>
            <a:off x="2788920" y="1371600"/>
            <a:ext cx="2103120" cy="347472"/>
          </a:xfrm>
          <a:prstGeom prst="rect">
            <a:avLst/>
          </a:prstGeom>
          <a:noFill/>
          <a:ln/>
        </p:spPr>
        <p:txBody>
          <a:bodyPr wrap="square" lIns="0" tIns="0" rIns="0" bIns="0" rtlCol="0" anchor="ctr"/>
          <a:lstStyle/>
          <a:p>
            <a:pPr algn="ctr" indent="0" marL="0">
              <a:buNone/>
            </a:pPr>
            <a:r>
              <a:rPr lang="en-US" sz="950" dirty="0">
                <a:solidFill>
                  <a:srgbClr val="1B2A49"/>
                </a:solidFill>
                <a:latin typeface="Meiryo UI" pitchFamily="34" charset="0"/>
                <a:ea typeface="Meiryo UI" pitchFamily="34" charset="-122"/>
                <a:cs typeface="Meiryo UI" pitchFamily="34" charset="-120"/>
              </a:rPr>
              <a:t>管理基盤  </a:t>
            </a:r>
            <a:pPr algn="ctr" indent="0" marL="0">
              <a:buNone/>
            </a:pPr>
            <a:r>
              <a:rPr lang="en-US" sz="1100" b="1" dirty="0">
                <a:solidFill>
                  <a:srgbClr val="1B2A49"/>
                </a:solidFill>
                <a:latin typeface="Meiryo UI" pitchFamily="34" charset="0"/>
                <a:ea typeface="Meiryo UI" pitchFamily="34" charset="-122"/>
                <a:cs typeface="Meiryo UI" pitchFamily="34" charset="-120"/>
              </a:rPr>
              <a:t>Microsoft Lists</a:t>
            </a:r>
            <a:endParaRPr lang="en-US" sz="950" dirty="0"/>
          </a:p>
        </p:txBody>
      </p:sp>
      <p:sp>
        <p:nvSpPr>
          <p:cNvPr id="10" name="Shape 8"/>
          <p:cNvSpPr/>
          <p:nvPr/>
        </p:nvSpPr>
        <p:spPr>
          <a:xfrm>
            <a:off x="5029200" y="1371600"/>
            <a:ext cx="2103120" cy="347472"/>
          </a:xfrm>
          <a:prstGeom prst="roundRect">
            <a:avLst>
              <a:gd name="adj" fmla="val 50000"/>
            </a:avLst>
          </a:prstGeom>
          <a:solidFill>
            <a:srgbClr val="D9F2F1"/>
          </a:solidFill>
          <a:ln/>
        </p:spPr>
      </p:sp>
      <p:sp>
        <p:nvSpPr>
          <p:cNvPr id="11" name="Text 9"/>
          <p:cNvSpPr txBox="1"/>
          <p:nvPr/>
        </p:nvSpPr>
        <p:spPr>
          <a:xfrm>
            <a:off x="5029200" y="1371600"/>
            <a:ext cx="2103120" cy="347472"/>
          </a:xfrm>
          <a:prstGeom prst="rect">
            <a:avLst/>
          </a:prstGeom>
          <a:noFill/>
          <a:ln/>
        </p:spPr>
        <p:txBody>
          <a:bodyPr wrap="square" lIns="0" tIns="0" rIns="0" bIns="0" rtlCol="0" anchor="ctr"/>
          <a:lstStyle/>
          <a:p>
            <a:pPr algn="ctr" indent="0" marL="0">
              <a:buNone/>
            </a:pPr>
            <a:r>
              <a:rPr lang="en-US" sz="950" dirty="0">
                <a:solidFill>
                  <a:srgbClr val="0E9F9A"/>
                </a:solidFill>
                <a:latin typeface="Meiryo UI" pitchFamily="34" charset="0"/>
                <a:ea typeface="Meiryo UI" pitchFamily="34" charset="-122"/>
                <a:cs typeface="Meiryo UI" pitchFamily="34" charset="-120"/>
              </a:rPr>
              <a:t>自動化  </a:t>
            </a:r>
            <a:pPr algn="ctr" indent="0" marL="0">
              <a:buNone/>
            </a:pPr>
            <a:r>
              <a:rPr lang="en-US" sz="1100" b="1" dirty="0">
                <a:solidFill>
                  <a:srgbClr val="0E9F9A"/>
                </a:solidFill>
                <a:latin typeface="Meiryo UI" pitchFamily="34" charset="0"/>
                <a:ea typeface="Meiryo UI" pitchFamily="34" charset="-122"/>
                <a:cs typeface="Meiryo UI" pitchFamily="34" charset="-120"/>
              </a:rPr>
              <a:t>Step2〜3</a:t>
            </a:r>
            <a:endParaRPr lang="en-US" sz="950" dirty="0"/>
          </a:p>
        </p:txBody>
      </p:sp>
      <p:sp>
        <p:nvSpPr>
          <p:cNvPr id="12" name="Shape 10"/>
          <p:cNvSpPr/>
          <p:nvPr/>
        </p:nvSpPr>
        <p:spPr>
          <a:xfrm>
            <a:off x="7269480" y="1371600"/>
            <a:ext cx="2103120" cy="347472"/>
          </a:xfrm>
          <a:prstGeom prst="roundRect">
            <a:avLst>
              <a:gd name="adj" fmla="val 50000"/>
            </a:avLst>
          </a:prstGeom>
          <a:solidFill>
            <a:srgbClr val="FDEBD3"/>
          </a:solidFill>
          <a:ln/>
        </p:spPr>
      </p:sp>
      <p:sp>
        <p:nvSpPr>
          <p:cNvPr id="13" name="Text 11"/>
          <p:cNvSpPr txBox="1"/>
          <p:nvPr/>
        </p:nvSpPr>
        <p:spPr>
          <a:xfrm>
            <a:off x="7269480" y="1371600"/>
            <a:ext cx="2103120" cy="347472"/>
          </a:xfrm>
          <a:prstGeom prst="rect">
            <a:avLst/>
          </a:prstGeom>
          <a:noFill/>
          <a:ln/>
        </p:spPr>
        <p:txBody>
          <a:bodyPr wrap="square" lIns="0" tIns="0" rIns="0" bIns="0" rtlCol="0" anchor="ctr"/>
          <a:lstStyle/>
          <a:p>
            <a:pPr algn="ctr" indent="0" marL="0">
              <a:buNone/>
            </a:pPr>
            <a:r>
              <a:rPr lang="en-US" sz="950" dirty="0">
                <a:solidFill>
                  <a:srgbClr val="E8912D"/>
                </a:solidFill>
                <a:latin typeface="Meiryo UI" pitchFamily="34" charset="0"/>
                <a:ea typeface="Meiryo UI" pitchFamily="34" charset="-122"/>
                <a:cs typeface="Meiryo UI" pitchFamily="34" charset="-120"/>
              </a:rPr>
              <a:t>難易度  </a:t>
            </a:r>
            <a:pPr algn="ctr" indent="0" marL="0">
              <a:buNone/>
            </a:pPr>
            <a:r>
              <a:rPr lang="en-US" sz="1100" b="1" dirty="0">
                <a:solidFill>
                  <a:srgbClr val="E8912D"/>
                </a:solidFill>
                <a:latin typeface="Meiryo UI" pitchFamily="34" charset="0"/>
                <a:ea typeface="Meiryo UI" pitchFamily="34" charset="-122"/>
                <a:cs typeface="Meiryo UI" pitchFamily="34" charset="-120"/>
              </a:rPr>
              <a:t>★★☆☆☆</a:t>
            </a:r>
            <a:endParaRPr lang="en-US" sz="950" dirty="0"/>
          </a:p>
        </p:txBody>
      </p:sp>
      <p:sp>
        <p:nvSpPr>
          <p:cNvPr id="14" name="Shape 12"/>
          <p:cNvSpPr/>
          <p:nvPr/>
        </p:nvSpPr>
        <p:spPr>
          <a:xfrm>
            <a:off x="9509760" y="1371600"/>
            <a:ext cx="2103120" cy="347472"/>
          </a:xfrm>
          <a:prstGeom prst="roundRect">
            <a:avLst>
              <a:gd name="adj" fmla="val 50000"/>
            </a:avLst>
          </a:prstGeom>
          <a:solidFill>
            <a:srgbClr val="F3F5F8"/>
          </a:solidFill>
          <a:ln/>
        </p:spPr>
      </p:sp>
      <p:sp>
        <p:nvSpPr>
          <p:cNvPr id="15" name="Text 13"/>
          <p:cNvSpPr txBox="1"/>
          <p:nvPr/>
        </p:nvSpPr>
        <p:spPr>
          <a:xfrm>
            <a:off x="9509760" y="1371600"/>
            <a:ext cx="2103120" cy="347472"/>
          </a:xfrm>
          <a:prstGeom prst="rect">
            <a:avLst/>
          </a:prstGeom>
          <a:noFill/>
          <a:ln/>
        </p:spPr>
        <p:txBody>
          <a:bodyPr wrap="square" lIns="0" tIns="0" rIns="0" bIns="0" rtlCol="0" anchor="ctr"/>
          <a:lstStyle/>
          <a:p>
            <a:pPr algn="ctr" indent="0" marL="0">
              <a:buNone/>
            </a:pPr>
            <a:r>
              <a:rPr lang="en-US" sz="950" dirty="0">
                <a:solidFill>
                  <a:srgbClr val="1B2A49"/>
                </a:solidFill>
                <a:latin typeface="Meiryo UI" pitchFamily="34" charset="0"/>
                <a:ea typeface="Meiryo UI" pitchFamily="34" charset="-122"/>
                <a:cs typeface="Meiryo UI" pitchFamily="34" charset="-120"/>
              </a:rPr>
              <a:t>期間目安  </a:t>
            </a:r>
            <a:pPr algn="ctr" indent="0" marL="0">
              <a:buNone/>
            </a:pPr>
            <a:r>
              <a:rPr lang="en-US" sz="1100" b="1" dirty="0">
                <a:solidFill>
                  <a:srgbClr val="1B2A49"/>
                </a:solidFill>
                <a:latin typeface="Meiryo UI" pitchFamily="34" charset="0"/>
                <a:ea typeface="Meiryo UI" pitchFamily="34" charset="-122"/>
                <a:cs typeface="Meiryo UI" pitchFamily="34" charset="-120"/>
              </a:rPr>
              <a:t>1〜3ヶ月</a:t>
            </a:r>
            <a:endParaRPr lang="en-US" sz="950" dirty="0"/>
          </a:p>
        </p:txBody>
      </p:sp>
      <p:sp>
        <p:nvSpPr>
          <p:cNvPr id="16" name="Shape 14"/>
          <p:cNvSpPr/>
          <p:nvPr/>
        </p:nvSpPr>
        <p:spPr>
          <a:xfrm>
            <a:off x="548640" y="1874520"/>
            <a:ext cx="6949440" cy="2514600"/>
          </a:xfrm>
          <a:prstGeom prst="roundRect">
            <a:avLst>
              <a:gd name="adj" fmla="val 1455"/>
            </a:avLst>
          </a:prstGeom>
          <a:solidFill>
            <a:srgbClr val="F3F5F8"/>
          </a:solidFill>
          <a:ln/>
        </p:spPr>
      </p:sp>
      <p:sp>
        <p:nvSpPr>
          <p:cNvPr id="17" name="Shape 15"/>
          <p:cNvSpPr/>
          <p:nvPr/>
        </p:nvSpPr>
        <p:spPr>
          <a:xfrm>
            <a:off x="731520" y="2057400"/>
            <a:ext cx="2148840" cy="914400"/>
          </a:xfrm>
          <a:prstGeom prst="roundRect">
            <a:avLst>
              <a:gd name="adj" fmla="val 8000"/>
            </a:avLst>
          </a:prstGeom>
          <a:solidFill>
            <a:srgbClr val="FDEBD3"/>
          </a:solidFill>
          <a:ln/>
        </p:spPr>
      </p:sp>
      <p:pic>
        <p:nvPicPr>
          <p:cNvPr id="18" name="Image 0" descr="preencoded.png">    </p:cNvPr>
          <p:cNvPicPr>
            <a:picLocks noChangeAspect="1"/>
          </p:cNvPicPr>
          <p:nvPr/>
        </p:nvPicPr>
        <p:blipFill>
          <a:blip r:embed="rId1"/>
          <a:stretch>
            <a:fillRect/>
          </a:stretch>
        </p:blipFill>
        <p:spPr>
          <a:xfrm>
            <a:off x="841248" y="2331720"/>
            <a:ext cx="365760" cy="365760"/>
          </a:xfrm>
          <a:prstGeom prst="rect">
            <a:avLst/>
          </a:prstGeom>
        </p:spPr>
      </p:pic>
      <p:sp>
        <p:nvSpPr>
          <p:cNvPr id="19" name="Text 16"/>
          <p:cNvSpPr txBox="1"/>
          <p:nvPr/>
        </p:nvSpPr>
        <p:spPr>
          <a:xfrm>
            <a:off x="1298448" y="2057400"/>
            <a:ext cx="1536192" cy="914400"/>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Microsoft Lists</a:t>
            </a:r>
            <a:endParaRPr lang="en-US" sz="1050" dirty="0"/>
          </a:p>
          <a:p>
            <a:pPr algn="l" indent="0" marL="0">
              <a:buNone/>
            </a:pPr>
            <a:r>
              <a:rPr lang="en-US" sz="900" dirty="0">
                <a:solidFill>
                  <a:srgbClr val="6B7280"/>
                </a:solidFill>
                <a:latin typeface="Meiryo UI" pitchFamily="34" charset="0"/>
                <a:ea typeface="Meiryo UI" pitchFamily="34" charset="-122"/>
                <a:cs typeface="Meiryo UI" pitchFamily="34" charset="-120"/>
              </a:rPr>
              <a:t>配信カード</a:t>
            </a:r>
            <a:endParaRPr lang="en-US" sz="1050" dirty="0"/>
          </a:p>
          <a:p>
            <a:pPr algn="l" indent="0" marL="0">
              <a:buNone/>
            </a:pPr>
            <a:r>
              <a:rPr lang="en-US" sz="900" dirty="0">
                <a:solidFill>
                  <a:srgbClr val="6B7280"/>
                </a:solidFill>
                <a:latin typeface="Meiryo UI" pitchFamily="34" charset="0"/>
                <a:ea typeface="Meiryo UI" pitchFamily="34" charset="-122"/>
                <a:cs typeface="Meiryo UI" pitchFamily="34" charset="-120"/>
              </a:rPr>
              <a:t>カレンダー／ボード表示</a:t>
            </a:r>
            <a:endParaRPr lang="en-US" sz="1050" dirty="0"/>
          </a:p>
        </p:txBody>
      </p:sp>
      <p:sp>
        <p:nvSpPr>
          <p:cNvPr id="20" name="Shape 17"/>
          <p:cNvSpPr/>
          <p:nvPr/>
        </p:nvSpPr>
        <p:spPr>
          <a:xfrm>
            <a:off x="2926080" y="2514600"/>
            <a:ext cx="228600" cy="0"/>
          </a:xfrm>
          <a:prstGeom prst="line">
            <a:avLst/>
          </a:prstGeom>
          <a:noFill/>
          <a:ln w="22225">
            <a:solidFill>
              <a:srgbClr val="9AA5B4"/>
            </a:solidFill>
            <a:prstDash val="solid"/>
            <a:headEnd type="triangle"/>
            <a:tailEnd type="triangle"/>
          </a:ln>
        </p:spPr>
      </p:sp>
      <p:sp>
        <p:nvSpPr>
          <p:cNvPr id="21" name="Shape 18"/>
          <p:cNvSpPr/>
          <p:nvPr/>
        </p:nvSpPr>
        <p:spPr>
          <a:xfrm>
            <a:off x="3200400" y="2057400"/>
            <a:ext cx="2011680" cy="914400"/>
          </a:xfrm>
          <a:prstGeom prst="roundRect">
            <a:avLst>
              <a:gd name="adj" fmla="val 8000"/>
            </a:avLst>
          </a:prstGeom>
          <a:solidFill>
            <a:srgbClr val="D9F2F1"/>
          </a:solidFill>
          <a:ln/>
        </p:spPr>
      </p:sp>
      <p:pic>
        <p:nvPicPr>
          <p:cNvPr id="22" name="Image 1" descr="preencoded.png">    </p:cNvPr>
          <p:cNvPicPr>
            <a:picLocks noChangeAspect="1"/>
          </p:cNvPicPr>
          <p:nvPr/>
        </p:nvPicPr>
        <p:blipFill>
          <a:blip r:embed="rId2"/>
          <a:stretch>
            <a:fillRect/>
          </a:stretch>
        </p:blipFill>
        <p:spPr>
          <a:xfrm>
            <a:off x="3310128" y="2331720"/>
            <a:ext cx="365760" cy="365760"/>
          </a:xfrm>
          <a:prstGeom prst="rect">
            <a:avLst/>
          </a:prstGeom>
        </p:spPr>
      </p:pic>
      <p:sp>
        <p:nvSpPr>
          <p:cNvPr id="23" name="Text 19"/>
          <p:cNvSpPr txBox="1"/>
          <p:nvPr/>
        </p:nvSpPr>
        <p:spPr>
          <a:xfrm>
            <a:off x="3767328" y="2057400"/>
            <a:ext cx="1399032" cy="914400"/>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Power Automate</a:t>
            </a:r>
            <a:endParaRPr lang="en-US" sz="1050" dirty="0"/>
          </a:p>
          <a:p>
            <a:pPr algn="l" indent="0" marL="0">
              <a:buNone/>
            </a:pPr>
            <a:r>
              <a:rPr lang="en-US" sz="900" dirty="0">
                <a:solidFill>
                  <a:srgbClr val="6B7280"/>
                </a:solidFill>
                <a:latin typeface="Meiryo UI" pitchFamily="34" charset="0"/>
                <a:ea typeface="Meiryo UI" pitchFamily="34" charset="-122"/>
                <a:cs typeface="Meiryo UI" pitchFamily="34" charset="-120"/>
              </a:rPr>
              <a:t>起案フロー</a:t>
            </a:r>
            <a:endParaRPr lang="en-US" sz="1050" dirty="0"/>
          </a:p>
          <a:p>
            <a:pPr algn="l" indent="0" marL="0">
              <a:buNone/>
            </a:pPr>
            <a:r>
              <a:rPr lang="en-US" sz="900" dirty="0">
                <a:solidFill>
                  <a:srgbClr val="6B7280"/>
                </a:solidFill>
                <a:latin typeface="Meiryo UI" pitchFamily="34" charset="0"/>
                <a:ea typeface="Meiryo UI" pitchFamily="34" charset="-122"/>
                <a:cs typeface="Meiryo UI" pitchFamily="34" charset="-120"/>
              </a:rPr>
              <a:t>（SharePointは標準）</a:t>
            </a:r>
            <a:endParaRPr lang="en-US" sz="1050" dirty="0"/>
          </a:p>
        </p:txBody>
      </p:sp>
      <p:sp>
        <p:nvSpPr>
          <p:cNvPr id="24" name="Shape 20"/>
          <p:cNvSpPr/>
          <p:nvPr/>
        </p:nvSpPr>
        <p:spPr>
          <a:xfrm>
            <a:off x="5257800" y="2514600"/>
            <a:ext cx="228600" cy="0"/>
          </a:xfrm>
          <a:prstGeom prst="line">
            <a:avLst/>
          </a:prstGeom>
          <a:noFill/>
          <a:ln w="22225">
            <a:solidFill>
              <a:srgbClr val="9AA5B4"/>
            </a:solidFill>
            <a:prstDash val="solid"/>
            <a:headEnd type="triangle"/>
            <a:tailEnd type="triangle"/>
          </a:ln>
        </p:spPr>
      </p:sp>
      <p:sp>
        <p:nvSpPr>
          <p:cNvPr id="25" name="Shape 21"/>
          <p:cNvSpPr/>
          <p:nvPr/>
        </p:nvSpPr>
        <p:spPr>
          <a:xfrm>
            <a:off x="5532120" y="2057400"/>
            <a:ext cx="1783080" cy="914400"/>
          </a:xfrm>
          <a:prstGeom prst="roundRect">
            <a:avLst>
              <a:gd name="adj" fmla="val 8000"/>
            </a:avLst>
          </a:prstGeom>
          <a:solidFill>
            <a:srgbClr val="0E9F9A"/>
          </a:solidFill>
          <a:ln/>
        </p:spPr>
      </p:sp>
      <p:sp>
        <p:nvSpPr>
          <p:cNvPr id="26" name="Shape 22"/>
          <p:cNvSpPr/>
          <p:nvPr/>
        </p:nvSpPr>
        <p:spPr>
          <a:xfrm>
            <a:off x="5605272" y="2258568"/>
            <a:ext cx="512064" cy="512064"/>
          </a:xfrm>
          <a:prstGeom prst="ellipse">
            <a:avLst/>
          </a:prstGeom>
          <a:solidFill>
            <a:srgbClr val="FFFFFF"/>
          </a:solidFill>
          <a:ln/>
        </p:spPr>
      </p:sp>
      <p:pic>
        <p:nvPicPr>
          <p:cNvPr id="27" name="Image 2" descr="preencoded.png">    </p:cNvPr>
          <p:cNvPicPr>
            <a:picLocks noChangeAspect="1"/>
          </p:cNvPicPr>
          <p:nvPr/>
        </p:nvPicPr>
        <p:blipFill>
          <a:blip r:embed="rId3"/>
          <a:stretch>
            <a:fillRect/>
          </a:stretch>
        </p:blipFill>
        <p:spPr>
          <a:xfrm>
            <a:off x="5678424" y="2331720"/>
            <a:ext cx="365760" cy="365760"/>
          </a:xfrm>
          <a:prstGeom prst="rect">
            <a:avLst/>
          </a:prstGeom>
        </p:spPr>
      </p:pic>
      <p:sp>
        <p:nvSpPr>
          <p:cNvPr id="28" name="Text 23"/>
          <p:cNvSpPr txBox="1"/>
          <p:nvPr/>
        </p:nvSpPr>
        <p:spPr>
          <a:xfrm>
            <a:off x="6263640" y="2057400"/>
            <a:ext cx="1005840" cy="914400"/>
          </a:xfrm>
          <a:prstGeom prst="rect">
            <a:avLst/>
          </a:prstGeom>
          <a:noFill/>
          <a:ln/>
        </p:spPr>
        <p:txBody>
          <a:bodyPr wrap="square" lIns="0" tIns="0" rIns="0" bIns="0" rtlCol="0" anchor="ctr"/>
          <a:lstStyle/>
          <a:p>
            <a:pPr algn="l" indent="0" marL="0">
              <a:buNone/>
            </a:pPr>
            <a:r>
              <a:rPr lang="en-US" sz="1050" b="1" dirty="0">
                <a:solidFill>
                  <a:srgbClr val="FFFFFF"/>
                </a:solidFill>
                <a:latin typeface="Meiryo UI" pitchFamily="34" charset="0"/>
                <a:ea typeface="Meiryo UI" pitchFamily="34" charset="-122"/>
                <a:cs typeface="Meiryo UI" pitchFamily="34" charset="-120"/>
              </a:rPr>
              <a:t>Copilot Studio</a:t>
            </a:r>
            <a:endParaRPr lang="en-US" sz="1050" dirty="0"/>
          </a:p>
          <a:p>
            <a:pPr algn="l" indent="0" marL="0">
              <a:buNone/>
            </a:pPr>
            <a:r>
              <a:rPr lang="en-US" sz="900" dirty="0">
                <a:solidFill>
                  <a:srgbClr val="E6F2F2"/>
                </a:solidFill>
                <a:latin typeface="Meiryo UI" pitchFamily="34" charset="0"/>
                <a:ea typeface="Meiryo UI" pitchFamily="34" charset="-122"/>
                <a:cs typeface="Meiryo UI" pitchFamily="34" charset="-120"/>
              </a:rPr>
              <a:t>AI Builder</a:t>
            </a:r>
            <a:endParaRPr lang="en-US" sz="1050" dirty="0"/>
          </a:p>
        </p:txBody>
      </p:sp>
      <p:sp>
        <p:nvSpPr>
          <p:cNvPr id="29" name="Shape 24"/>
          <p:cNvSpPr/>
          <p:nvPr/>
        </p:nvSpPr>
        <p:spPr>
          <a:xfrm>
            <a:off x="1801368" y="3017520"/>
            <a:ext cx="0" cy="274320"/>
          </a:xfrm>
          <a:prstGeom prst="line">
            <a:avLst/>
          </a:prstGeom>
          <a:noFill/>
          <a:ln w="22225">
            <a:solidFill>
              <a:srgbClr val="9AA5B4"/>
            </a:solidFill>
            <a:prstDash val="solid"/>
            <a:headEnd type="triangle"/>
            <a:tailEnd type="triangle"/>
          </a:ln>
        </p:spPr>
      </p:sp>
      <p:sp>
        <p:nvSpPr>
          <p:cNvPr id="30" name="Shape 25"/>
          <p:cNvSpPr/>
          <p:nvPr/>
        </p:nvSpPr>
        <p:spPr>
          <a:xfrm>
            <a:off x="731520" y="3337560"/>
            <a:ext cx="2148840" cy="685800"/>
          </a:xfrm>
          <a:prstGeom prst="roundRect">
            <a:avLst>
              <a:gd name="adj" fmla="val 10667"/>
            </a:avLst>
          </a:prstGeom>
          <a:solidFill>
            <a:srgbClr val="FDEBD3"/>
          </a:solidFill>
          <a:ln/>
        </p:spPr>
      </p:sp>
      <p:pic>
        <p:nvPicPr>
          <p:cNvPr id="31" name="Image 3" descr="preencoded.png">    </p:cNvPr>
          <p:cNvPicPr>
            <a:picLocks noChangeAspect="1"/>
          </p:cNvPicPr>
          <p:nvPr/>
        </p:nvPicPr>
        <p:blipFill>
          <a:blip r:embed="rId4"/>
          <a:stretch>
            <a:fillRect/>
          </a:stretch>
        </p:blipFill>
        <p:spPr>
          <a:xfrm>
            <a:off x="841248" y="3497580"/>
            <a:ext cx="365760" cy="365760"/>
          </a:xfrm>
          <a:prstGeom prst="rect">
            <a:avLst/>
          </a:prstGeom>
        </p:spPr>
      </p:pic>
      <p:sp>
        <p:nvSpPr>
          <p:cNvPr id="32" name="Text 26"/>
          <p:cNvSpPr txBox="1"/>
          <p:nvPr/>
        </p:nvSpPr>
        <p:spPr>
          <a:xfrm>
            <a:off x="1298448" y="3337560"/>
            <a:ext cx="1536192" cy="685800"/>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Teams</a:t>
            </a:r>
            <a:endParaRPr lang="en-US" sz="1050" dirty="0"/>
          </a:p>
          <a:p>
            <a:pPr algn="l" indent="0" marL="0">
              <a:buNone/>
            </a:pPr>
            <a:r>
              <a:rPr lang="en-US" sz="900" dirty="0">
                <a:solidFill>
                  <a:srgbClr val="6B7280"/>
                </a:solidFill>
                <a:latin typeface="Meiryo UI" pitchFamily="34" charset="0"/>
                <a:ea typeface="Meiryo UI" pitchFamily="34" charset="-122"/>
                <a:cs typeface="Meiryo UI" pitchFamily="34" charset="-120"/>
              </a:rPr>
              <a:t>タブでカレンダー表示</a:t>
            </a:r>
            <a:endParaRPr lang="en-US" sz="1050" dirty="0"/>
          </a:p>
        </p:txBody>
      </p:sp>
      <p:sp>
        <p:nvSpPr>
          <p:cNvPr id="33" name="Shape 27"/>
          <p:cNvSpPr/>
          <p:nvPr/>
        </p:nvSpPr>
        <p:spPr>
          <a:xfrm>
            <a:off x="3200400" y="3337560"/>
            <a:ext cx="2011680" cy="685800"/>
          </a:xfrm>
          <a:prstGeom prst="roundRect">
            <a:avLst>
              <a:gd name="adj" fmla="val 10667"/>
            </a:avLst>
          </a:prstGeom>
          <a:solidFill>
            <a:srgbClr val="E3EAF5"/>
          </a:solidFill>
          <a:ln/>
        </p:spPr>
      </p:sp>
      <p:pic>
        <p:nvPicPr>
          <p:cNvPr id="34" name="Image 4" descr="preencoded.png">    </p:cNvPr>
          <p:cNvPicPr>
            <a:picLocks noChangeAspect="1"/>
          </p:cNvPicPr>
          <p:nvPr/>
        </p:nvPicPr>
        <p:blipFill>
          <a:blip r:embed="rId5"/>
          <a:stretch>
            <a:fillRect/>
          </a:stretch>
        </p:blipFill>
        <p:spPr>
          <a:xfrm>
            <a:off x="3310128" y="3497580"/>
            <a:ext cx="365760" cy="365760"/>
          </a:xfrm>
          <a:prstGeom prst="rect">
            <a:avLst/>
          </a:prstGeom>
        </p:spPr>
      </p:pic>
      <p:sp>
        <p:nvSpPr>
          <p:cNvPr id="35" name="Text 28"/>
          <p:cNvSpPr txBox="1"/>
          <p:nvPr/>
        </p:nvSpPr>
        <p:spPr>
          <a:xfrm>
            <a:off x="3767328" y="3337560"/>
            <a:ext cx="1399032" cy="685800"/>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SharePoint</a:t>
            </a:r>
            <a:endParaRPr lang="en-US" sz="1050" dirty="0"/>
          </a:p>
          <a:p>
            <a:pPr algn="l" indent="0" marL="0">
              <a:buNone/>
            </a:pPr>
            <a:r>
              <a:rPr lang="en-US" sz="900" dirty="0">
                <a:solidFill>
                  <a:srgbClr val="6B7280"/>
                </a:solidFill>
                <a:latin typeface="Meiryo UI" pitchFamily="34" charset="0"/>
                <a:ea typeface="Meiryo UI" pitchFamily="34" charset="-122"/>
                <a:cs typeface="Meiryo UI" pitchFamily="34" charset="-120"/>
              </a:rPr>
              <a:t>資料・ガイドライン</a:t>
            </a:r>
            <a:endParaRPr lang="en-US" sz="1050" dirty="0"/>
          </a:p>
        </p:txBody>
      </p:sp>
      <p:sp>
        <p:nvSpPr>
          <p:cNvPr id="36" name="Shape 29"/>
          <p:cNvSpPr/>
          <p:nvPr/>
        </p:nvSpPr>
        <p:spPr>
          <a:xfrm flipV="1">
            <a:off x="4663440" y="3017520"/>
            <a:ext cx="0" cy="274320"/>
          </a:xfrm>
          <a:prstGeom prst="line">
            <a:avLst/>
          </a:prstGeom>
          <a:noFill/>
          <a:ln w="22225">
            <a:solidFill>
              <a:srgbClr val="9AA5B4"/>
            </a:solidFill>
            <a:prstDash val="solid"/>
            <a:tailEnd type="triangle"/>
          </a:ln>
        </p:spPr>
      </p:sp>
      <p:sp>
        <p:nvSpPr>
          <p:cNvPr id="37" name="Shape 30"/>
          <p:cNvSpPr/>
          <p:nvPr/>
        </p:nvSpPr>
        <p:spPr>
          <a:xfrm>
            <a:off x="5532120" y="3337560"/>
            <a:ext cx="1783080" cy="685800"/>
          </a:xfrm>
          <a:prstGeom prst="roundRect">
            <a:avLst>
              <a:gd name="adj" fmla="val 10667"/>
            </a:avLst>
          </a:prstGeom>
          <a:solidFill>
            <a:srgbClr val="E3EAF5"/>
          </a:solidFill>
          <a:ln/>
        </p:spPr>
      </p:sp>
      <p:pic>
        <p:nvPicPr>
          <p:cNvPr id="38" name="Image 5" descr="preencoded.png">    </p:cNvPr>
          <p:cNvPicPr>
            <a:picLocks noChangeAspect="1"/>
          </p:cNvPicPr>
          <p:nvPr/>
        </p:nvPicPr>
        <p:blipFill>
          <a:blip r:embed="rId6"/>
          <a:stretch>
            <a:fillRect/>
          </a:stretch>
        </p:blipFill>
        <p:spPr>
          <a:xfrm>
            <a:off x="5641848" y="3497580"/>
            <a:ext cx="365760" cy="365760"/>
          </a:xfrm>
          <a:prstGeom prst="rect">
            <a:avLst/>
          </a:prstGeom>
        </p:spPr>
      </p:pic>
      <p:sp>
        <p:nvSpPr>
          <p:cNvPr id="39" name="Text 31"/>
          <p:cNvSpPr txBox="1"/>
          <p:nvPr/>
        </p:nvSpPr>
        <p:spPr>
          <a:xfrm>
            <a:off x="6099048" y="3337560"/>
            <a:ext cx="1170432" cy="685800"/>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数値データ</a:t>
            </a:r>
            <a:endParaRPr lang="en-US" sz="1050" dirty="0"/>
          </a:p>
          <a:p>
            <a:pPr algn="l" indent="0" marL="0">
              <a:buNone/>
            </a:pPr>
            <a:r>
              <a:rPr lang="en-US" sz="900" dirty="0">
                <a:solidFill>
                  <a:srgbClr val="6B7280"/>
                </a:solidFill>
                <a:latin typeface="Meiryo UI" pitchFamily="34" charset="0"/>
                <a:ea typeface="Meiryo UI" pitchFamily="34" charset="-122"/>
                <a:cs typeface="Meiryo UI" pitchFamily="34" charset="-120"/>
              </a:rPr>
              <a:t>GCSから転送</a:t>
            </a:r>
            <a:endParaRPr lang="en-US" sz="1050" dirty="0"/>
          </a:p>
        </p:txBody>
      </p:sp>
      <p:sp>
        <p:nvSpPr>
          <p:cNvPr id="40" name="Shape 32"/>
          <p:cNvSpPr/>
          <p:nvPr/>
        </p:nvSpPr>
        <p:spPr>
          <a:xfrm flipV="1">
            <a:off x="6419088" y="3017520"/>
            <a:ext cx="0" cy="274320"/>
          </a:xfrm>
          <a:prstGeom prst="line">
            <a:avLst/>
          </a:prstGeom>
          <a:noFill/>
          <a:ln w="22225">
            <a:solidFill>
              <a:srgbClr val="9AA5B4"/>
            </a:solidFill>
            <a:prstDash val="solid"/>
            <a:tailEnd type="triangle"/>
          </a:ln>
        </p:spPr>
      </p:sp>
      <p:sp>
        <p:nvSpPr>
          <p:cNvPr id="41" name="Shape 33"/>
          <p:cNvSpPr/>
          <p:nvPr/>
        </p:nvSpPr>
        <p:spPr>
          <a:xfrm>
            <a:off x="7680960" y="1874520"/>
            <a:ext cx="3931920" cy="2514600"/>
          </a:xfrm>
          <a:prstGeom prst="roundRect">
            <a:avLst>
              <a:gd name="adj" fmla="val 2182"/>
            </a:avLst>
          </a:prstGeom>
          <a:solidFill>
            <a:srgbClr val="E3EAF5"/>
          </a:solidFill>
          <a:ln/>
        </p:spPr>
      </p:sp>
      <p:sp>
        <p:nvSpPr>
          <p:cNvPr id="42" name="Shape 34"/>
          <p:cNvSpPr/>
          <p:nvPr/>
        </p:nvSpPr>
        <p:spPr>
          <a:xfrm>
            <a:off x="7818120" y="1993392"/>
            <a:ext cx="384048" cy="384048"/>
          </a:xfrm>
          <a:prstGeom prst="ellipse">
            <a:avLst/>
          </a:prstGeom>
          <a:solidFill>
            <a:srgbClr val="FFFFFF"/>
          </a:solidFill>
          <a:ln/>
        </p:spPr>
      </p:sp>
      <p:pic>
        <p:nvPicPr>
          <p:cNvPr id="43" name="Image 6" descr="preencoded.png">    </p:cNvPr>
          <p:cNvPicPr>
            <a:picLocks noChangeAspect="1"/>
          </p:cNvPicPr>
          <p:nvPr/>
        </p:nvPicPr>
        <p:blipFill>
          <a:blip r:embed="rId7"/>
          <a:stretch>
            <a:fillRect/>
          </a:stretch>
        </p:blipFill>
        <p:spPr>
          <a:xfrm>
            <a:off x="7894930" y="2070202"/>
            <a:ext cx="230429" cy="230429"/>
          </a:xfrm>
          <a:prstGeom prst="rect">
            <a:avLst/>
          </a:prstGeom>
        </p:spPr>
      </p:pic>
      <p:sp>
        <p:nvSpPr>
          <p:cNvPr id="44" name="Text 35"/>
          <p:cNvSpPr txBox="1"/>
          <p:nvPr/>
        </p:nvSpPr>
        <p:spPr>
          <a:xfrm>
            <a:off x="8275320" y="1993392"/>
            <a:ext cx="3246120" cy="384048"/>
          </a:xfrm>
          <a:prstGeom prst="rect">
            <a:avLst/>
          </a:prstGeom>
          <a:noFill/>
          <a:ln/>
        </p:spPr>
        <p:txBody>
          <a:bodyPr wrap="square" lIns="0" tIns="0" rIns="0" bIns="0"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必要な機能・準備</a:t>
            </a:r>
            <a:endParaRPr lang="en-US" sz="1300" dirty="0"/>
          </a:p>
        </p:txBody>
      </p:sp>
      <p:sp>
        <p:nvSpPr>
          <p:cNvPr id="45" name="Text 36"/>
          <p:cNvSpPr txBox="1"/>
          <p:nvPr/>
        </p:nvSpPr>
        <p:spPr>
          <a:xfrm>
            <a:off x="7863840" y="2478024"/>
            <a:ext cx="3611880" cy="1819656"/>
          </a:xfrm>
          <a:prstGeom prst="rect">
            <a:avLst/>
          </a:prstGeom>
          <a:noFill/>
          <a:ln/>
        </p:spPr>
        <p:txBody>
          <a:bodyPr wrap="square" lIns="254" tIns="254" rIns="254" bIns="254" rtlCol="0" anchor="t"/>
          <a:lstStyle/>
          <a:p>
            <a:pPr marL="152400" indent="-152400">
              <a:spcAft>
                <a:spcPts val="300"/>
              </a:spcAft>
              <a:buSzPct val="100000"/>
              <a:buChar char="•"/>
            </a:pPr>
            <a:r>
              <a:rPr lang="en-US" sz="1100" dirty="0">
                <a:solidFill>
                  <a:srgbClr val="2B2B2B"/>
                </a:solidFill>
                <a:latin typeface="Meiryo UI" pitchFamily="34" charset="0"/>
                <a:ea typeface="Meiryo UI" pitchFamily="34" charset="-122"/>
                <a:cs typeface="Meiryo UI" pitchFamily="34" charset="-120"/>
              </a:rPr>
              <a:t>Microsoft Lists（カレンダー・ボード・グリッドビュー）</a:t>
            </a:r>
            <a:endParaRPr lang="en-US" sz="1100" dirty="0"/>
          </a:p>
          <a:p>
            <a:pPr marL="152400" indent="-152400">
              <a:spcAft>
                <a:spcPts val="300"/>
              </a:spcAft>
              <a:buSzPct val="100000"/>
              <a:buChar char="•"/>
            </a:pPr>
            <a:r>
              <a:rPr lang="en-US" sz="1100" dirty="0">
                <a:solidFill>
                  <a:srgbClr val="2B2B2B"/>
                </a:solidFill>
                <a:latin typeface="Meiryo UI" pitchFamily="34" charset="0"/>
                <a:ea typeface="Meiryo UI" pitchFamily="34" charset="-122"/>
                <a:cs typeface="Meiryo UI" pitchFamily="34" charset="-120"/>
              </a:rPr>
              <a:t>列の設計（インデックス、商品とのルックアップ）</a:t>
            </a:r>
            <a:endParaRPr lang="en-US" sz="1100" dirty="0"/>
          </a:p>
          <a:p>
            <a:pPr marL="152400" indent="-152400">
              <a:spcAft>
                <a:spcPts val="300"/>
              </a:spcAft>
              <a:buSzPct val="100000"/>
              <a:buChar char="•"/>
            </a:pPr>
            <a:r>
              <a:rPr lang="en-US" sz="1100" dirty="0">
                <a:solidFill>
                  <a:srgbClr val="2B2B2B"/>
                </a:solidFill>
                <a:latin typeface="Meiryo UI" pitchFamily="34" charset="0"/>
                <a:ea typeface="Meiryo UI" pitchFamily="34" charset="-122"/>
                <a:cs typeface="Meiryo UI" pitchFamily="34" charset="-120"/>
              </a:rPr>
              <a:t>Power Automate（SharePointコネクタは標準）</a:t>
            </a:r>
            <a:endParaRPr lang="en-US" sz="1100" dirty="0"/>
          </a:p>
          <a:p>
            <a:pPr marL="152400" indent="-152400">
              <a:spcAft>
                <a:spcPts val="300"/>
              </a:spcAft>
              <a:buSzPct val="100000"/>
              <a:buChar char="•"/>
            </a:pPr>
            <a:r>
              <a:rPr lang="en-US" sz="1100" dirty="0">
                <a:solidFill>
                  <a:srgbClr val="2B2B2B"/>
                </a:solidFill>
                <a:latin typeface="Meiryo UI" pitchFamily="34" charset="0"/>
                <a:ea typeface="Meiryo UI" pitchFamily="34" charset="-122"/>
                <a:cs typeface="Meiryo UI" pitchFamily="34" charset="-120"/>
              </a:rPr>
              <a:t>生成部分：AI BuilderまたはCopilot Studio</a:t>
            </a:r>
            <a:endParaRPr lang="en-US" sz="1100" dirty="0"/>
          </a:p>
          <a:p>
            <a:pPr marL="152400" indent="-152400">
              <a:spcAft>
                <a:spcPts val="300"/>
              </a:spcAft>
              <a:buSzPct val="100000"/>
              <a:buChar char="•"/>
            </a:pPr>
            <a:r>
              <a:rPr lang="en-US" sz="1100" dirty="0">
                <a:solidFill>
                  <a:srgbClr val="2B2B2B"/>
                </a:solidFill>
                <a:latin typeface="Meiryo UI" pitchFamily="34" charset="0"/>
                <a:ea typeface="Meiryo UI" pitchFamily="34" charset="-122"/>
                <a:cs typeface="Meiryo UI" pitchFamily="34" charset="-120"/>
              </a:rPr>
              <a:t>Airtableからのデータ移行</a:t>
            </a:r>
            <a:endParaRPr lang="en-US" sz="1100" dirty="0"/>
          </a:p>
        </p:txBody>
      </p:sp>
      <p:sp>
        <p:nvSpPr>
          <p:cNvPr id="46" name="Shape 37"/>
          <p:cNvSpPr/>
          <p:nvPr/>
        </p:nvSpPr>
        <p:spPr>
          <a:xfrm>
            <a:off x="548640" y="4572000"/>
            <a:ext cx="3566160" cy="1783080"/>
          </a:xfrm>
          <a:prstGeom prst="roundRect">
            <a:avLst>
              <a:gd name="adj" fmla="val 3077"/>
            </a:avLst>
          </a:prstGeom>
          <a:solidFill>
            <a:srgbClr val="D9F2F1"/>
          </a:solidFill>
          <a:ln/>
        </p:spPr>
      </p:sp>
      <p:sp>
        <p:nvSpPr>
          <p:cNvPr id="47" name="Shape 38"/>
          <p:cNvSpPr/>
          <p:nvPr/>
        </p:nvSpPr>
        <p:spPr>
          <a:xfrm>
            <a:off x="685800" y="4690872"/>
            <a:ext cx="384048" cy="384048"/>
          </a:xfrm>
          <a:prstGeom prst="ellipse">
            <a:avLst/>
          </a:prstGeom>
          <a:solidFill>
            <a:srgbClr val="FFFFFF"/>
          </a:solidFill>
          <a:ln/>
        </p:spPr>
      </p:sp>
      <p:pic>
        <p:nvPicPr>
          <p:cNvPr id="48" name="Image 7" descr="preencoded.png">    </p:cNvPr>
          <p:cNvPicPr>
            <a:picLocks noChangeAspect="1"/>
          </p:cNvPicPr>
          <p:nvPr/>
        </p:nvPicPr>
        <p:blipFill>
          <a:blip r:embed="rId8"/>
          <a:stretch>
            <a:fillRect/>
          </a:stretch>
        </p:blipFill>
        <p:spPr>
          <a:xfrm>
            <a:off x="762610" y="4767682"/>
            <a:ext cx="230429" cy="230429"/>
          </a:xfrm>
          <a:prstGeom prst="rect">
            <a:avLst/>
          </a:prstGeom>
        </p:spPr>
      </p:pic>
      <p:sp>
        <p:nvSpPr>
          <p:cNvPr id="49" name="Text 39"/>
          <p:cNvSpPr txBox="1"/>
          <p:nvPr/>
        </p:nvSpPr>
        <p:spPr>
          <a:xfrm>
            <a:off x="1143000" y="4690872"/>
            <a:ext cx="2880360" cy="384048"/>
          </a:xfrm>
          <a:prstGeom prst="rect">
            <a:avLst/>
          </a:prstGeom>
          <a:noFill/>
          <a:ln/>
        </p:spPr>
        <p:txBody>
          <a:bodyPr wrap="square" lIns="0" tIns="0" rIns="0" bIns="0"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特徴</a:t>
            </a:r>
            <a:endParaRPr lang="en-US" sz="1300" dirty="0"/>
          </a:p>
        </p:txBody>
      </p:sp>
      <p:sp>
        <p:nvSpPr>
          <p:cNvPr id="50" name="Text 40"/>
          <p:cNvSpPr txBox="1"/>
          <p:nvPr/>
        </p:nvSpPr>
        <p:spPr>
          <a:xfrm>
            <a:off x="731520" y="5175504"/>
            <a:ext cx="3246120" cy="1088136"/>
          </a:xfrm>
          <a:prstGeom prst="rect">
            <a:avLst/>
          </a:prstGeom>
          <a:noFill/>
          <a:ln/>
        </p:spPr>
        <p:txBody>
          <a:bodyPr wrap="square" lIns="254" tIns="254" rIns="254" bIns="254" rtlCol="0" anchor="t"/>
          <a:lstStyle/>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追加ライセンスなしでカレンダー表示ができる（ドラッグで日付変更も可）</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Teamsのタブ表示や、SharePointの資料と同じ場所での管理ができる</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開発をほぼ必要としない</a:t>
            </a:r>
            <a:endParaRPr lang="en-US" sz="1150" dirty="0"/>
          </a:p>
        </p:txBody>
      </p:sp>
      <p:sp>
        <p:nvSpPr>
          <p:cNvPr id="51" name="Shape 41"/>
          <p:cNvSpPr/>
          <p:nvPr/>
        </p:nvSpPr>
        <p:spPr>
          <a:xfrm>
            <a:off x="4297680" y="4572000"/>
            <a:ext cx="3566160" cy="1783080"/>
          </a:xfrm>
          <a:prstGeom prst="roundRect">
            <a:avLst>
              <a:gd name="adj" fmla="val 3077"/>
            </a:avLst>
          </a:prstGeom>
          <a:solidFill>
            <a:srgbClr val="FBE3E3"/>
          </a:solidFill>
          <a:ln/>
        </p:spPr>
      </p:sp>
      <p:sp>
        <p:nvSpPr>
          <p:cNvPr id="52" name="Shape 42"/>
          <p:cNvSpPr/>
          <p:nvPr/>
        </p:nvSpPr>
        <p:spPr>
          <a:xfrm>
            <a:off x="4434840" y="4690872"/>
            <a:ext cx="384048" cy="384048"/>
          </a:xfrm>
          <a:prstGeom prst="ellipse">
            <a:avLst/>
          </a:prstGeom>
          <a:solidFill>
            <a:srgbClr val="FFFFFF"/>
          </a:solidFill>
          <a:ln/>
        </p:spPr>
      </p:sp>
      <p:pic>
        <p:nvPicPr>
          <p:cNvPr id="53" name="Image 8" descr="preencoded.png">    </p:cNvPr>
          <p:cNvPicPr>
            <a:picLocks noChangeAspect="1"/>
          </p:cNvPicPr>
          <p:nvPr/>
        </p:nvPicPr>
        <p:blipFill>
          <a:blip r:embed="rId9"/>
          <a:stretch>
            <a:fillRect/>
          </a:stretch>
        </p:blipFill>
        <p:spPr>
          <a:xfrm>
            <a:off x="4511650" y="4767682"/>
            <a:ext cx="230429" cy="230429"/>
          </a:xfrm>
          <a:prstGeom prst="rect">
            <a:avLst/>
          </a:prstGeom>
        </p:spPr>
      </p:pic>
      <p:sp>
        <p:nvSpPr>
          <p:cNvPr id="54" name="Text 43"/>
          <p:cNvSpPr txBox="1"/>
          <p:nvPr/>
        </p:nvSpPr>
        <p:spPr>
          <a:xfrm>
            <a:off x="4892040" y="4690872"/>
            <a:ext cx="2880360" cy="384048"/>
          </a:xfrm>
          <a:prstGeom prst="rect">
            <a:avLst/>
          </a:prstGeom>
          <a:noFill/>
          <a:ln/>
        </p:spPr>
        <p:txBody>
          <a:bodyPr wrap="square" lIns="0" tIns="0" rIns="0" bIns="0"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留意点・制約</a:t>
            </a:r>
            <a:endParaRPr lang="en-US" sz="1300" dirty="0"/>
          </a:p>
        </p:txBody>
      </p:sp>
      <p:sp>
        <p:nvSpPr>
          <p:cNvPr id="55" name="Text 44"/>
          <p:cNvSpPr txBox="1"/>
          <p:nvPr/>
        </p:nvSpPr>
        <p:spPr>
          <a:xfrm>
            <a:off x="4480560" y="5175504"/>
            <a:ext cx="3246120" cy="1088136"/>
          </a:xfrm>
          <a:prstGeom prst="rect">
            <a:avLst/>
          </a:prstGeom>
          <a:noFill/>
          <a:ln/>
        </p:spPr>
        <p:txBody>
          <a:bodyPr wrap="square" lIns="254" tIns="254" rIns="254" bIns="254" rtlCol="0" anchor="t"/>
          <a:lstStyle/>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1つのビューで扱えるのは5,000件まで（インデックス・アーカイブの設計が必要）</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リレーション・集計はAirtableより弱い</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入力制御や画面の作り込みには限界がある</a:t>
            </a:r>
            <a:endParaRPr lang="en-US" sz="1150" dirty="0"/>
          </a:p>
        </p:txBody>
      </p:sp>
      <p:sp>
        <p:nvSpPr>
          <p:cNvPr id="56" name="Shape 45"/>
          <p:cNvSpPr/>
          <p:nvPr/>
        </p:nvSpPr>
        <p:spPr>
          <a:xfrm>
            <a:off x="8046720" y="4572000"/>
            <a:ext cx="3566160" cy="1783080"/>
          </a:xfrm>
          <a:prstGeom prst="roundRect">
            <a:avLst>
              <a:gd name="adj" fmla="val 3077"/>
            </a:avLst>
          </a:prstGeom>
          <a:solidFill>
            <a:srgbClr val="FDEBD3"/>
          </a:solidFill>
          <a:ln/>
        </p:spPr>
      </p:sp>
      <p:sp>
        <p:nvSpPr>
          <p:cNvPr id="57" name="Shape 46"/>
          <p:cNvSpPr/>
          <p:nvPr/>
        </p:nvSpPr>
        <p:spPr>
          <a:xfrm>
            <a:off x="8183880" y="4690872"/>
            <a:ext cx="384048" cy="384048"/>
          </a:xfrm>
          <a:prstGeom prst="ellipse">
            <a:avLst/>
          </a:prstGeom>
          <a:solidFill>
            <a:srgbClr val="FFFFFF"/>
          </a:solidFill>
          <a:ln/>
        </p:spPr>
      </p:sp>
      <p:pic>
        <p:nvPicPr>
          <p:cNvPr id="58" name="Image 9" descr="preencoded.png">    </p:cNvPr>
          <p:cNvPicPr>
            <a:picLocks noChangeAspect="1"/>
          </p:cNvPicPr>
          <p:nvPr/>
        </p:nvPicPr>
        <p:blipFill>
          <a:blip r:embed="rId10"/>
          <a:stretch>
            <a:fillRect/>
          </a:stretch>
        </p:blipFill>
        <p:spPr>
          <a:xfrm>
            <a:off x="8260690" y="4767682"/>
            <a:ext cx="230429" cy="230429"/>
          </a:xfrm>
          <a:prstGeom prst="rect">
            <a:avLst/>
          </a:prstGeom>
        </p:spPr>
      </p:pic>
      <p:sp>
        <p:nvSpPr>
          <p:cNvPr id="59" name="Text 47"/>
          <p:cNvSpPr txBox="1"/>
          <p:nvPr/>
        </p:nvSpPr>
        <p:spPr>
          <a:xfrm>
            <a:off x="8641080" y="4690872"/>
            <a:ext cx="2880360" cy="384048"/>
          </a:xfrm>
          <a:prstGeom prst="rect">
            <a:avLst/>
          </a:prstGeom>
          <a:noFill/>
          <a:ln/>
        </p:spPr>
        <p:txBody>
          <a:bodyPr wrap="square" lIns="0" tIns="0" rIns="0" bIns="0"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検討ポイント</a:t>
            </a:r>
            <a:endParaRPr lang="en-US" sz="1300" dirty="0"/>
          </a:p>
        </p:txBody>
      </p:sp>
      <p:sp>
        <p:nvSpPr>
          <p:cNvPr id="60" name="Text 48"/>
          <p:cNvSpPr txBox="1"/>
          <p:nvPr/>
        </p:nvSpPr>
        <p:spPr>
          <a:xfrm>
            <a:off x="8229600" y="5175504"/>
            <a:ext cx="3246120" cy="1088136"/>
          </a:xfrm>
          <a:prstGeom prst="rect">
            <a:avLst/>
          </a:prstGeom>
          <a:noFill/>
          <a:ln/>
        </p:spPr>
        <p:txBody>
          <a:bodyPr wrap="square" lIns="254" tIns="254" rIns="254" bIns="254" rtlCol="0" anchor="t"/>
          <a:lstStyle/>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配信カードの年間件数（国×チャネル×日）と保存期間</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商品マスタとの紐付け方</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国別の権限・ビューの設計</a:t>
            </a:r>
            <a:endParaRPr lang="en-US" sz="1150" dirty="0"/>
          </a:p>
        </p:txBody>
      </p:sp>
      <p:sp>
        <p:nvSpPr>
          <p:cNvPr id="61" name="Text 49"/>
          <p:cNvSpPr txBox="1"/>
          <p:nvPr/>
        </p:nvSpPr>
        <p:spPr>
          <a:xfrm>
            <a:off x="548640" y="6400800"/>
            <a:ext cx="10515600" cy="228600"/>
          </a:xfrm>
          <a:prstGeom prst="rect">
            <a:avLst/>
          </a:prstGeom>
          <a:noFill/>
          <a:ln/>
        </p:spPr>
        <p:txBody>
          <a:bodyPr wrap="square" lIns="0" tIns="0" rIns="0" bIns="0" rtlCol="0" anchor="t"/>
          <a:lstStyle/>
          <a:p>
            <a:pPr indent="0" marL="0">
              <a:buNone/>
            </a:pPr>
            <a:r>
              <a:rPr lang="en-US" sz="800" dirty="0">
                <a:solidFill>
                  <a:srgbClr val="6B7280"/>
                </a:solidFill>
                <a:latin typeface="Meiryo UI" pitchFamily="34" charset="0"/>
                <a:ea typeface="Meiryo UI" pitchFamily="34" charset="-122"/>
                <a:cs typeface="Meiryo UI" pitchFamily="34" charset="-120"/>
              </a:rPr>
              <a:t>難易度（★）：開発量・必要なスキル・関係する部署やシステムの数から見た相対的な目安。期間：社内で内製し、PoC後に単独で構築した場合の概算</a:t>
            </a:r>
            <a:endParaRPr lang="en-US" sz="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548640"/>
          </a:xfrm>
          <a:prstGeom prst="rect">
            <a:avLst/>
          </a:prstGeom>
          <a:noFill/>
          <a:ln/>
        </p:spPr>
        <p:txBody>
          <a:bodyPr wrap="square" lIns="0" tIns="0" rIns="0" bIns="0" rtlCol="0" anchor="ctr"/>
          <a:lstStyle/>
          <a:p>
            <a:pPr indent="0" marL="0">
              <a:buNone/>
            </a:pPr>
            <a:r>
              <a:rPr lang="en-US" sz="2600" b="1" dirty="0">
                <a:solidFill>
                  <a:srgbClr val="1B2A49"/>
                </a:solidFill>
                <a:latin typeface="Meiryo UI" pitchFamily="34" charset="0"/>
                <a:ea typeface="Meiryo UI" pitchFamily="34" charset="-122"/>
                <a:cs typeface="Meiryo UI" pitchFamily="34" charset="-120"/>
              </a:rPr>
              <a:t>A6｜Power Apps code apps（TypeScript）</a:t>
            </a:r>
            <a:endParaRPr lang="en-US" sz="2600" dirty="0"/>
          </a:p>
        </p:txBody>
      </p:sp>
      <p:sp>
        <p:nvSpPr>
          <p:cNvPr id="3" name="Text 1"/>
          <p:cNvSpPr txBox="1"/>
          <p:nvPr/>
        </p:nvSpPr>
        <p:spPr>
          <a:xfrm>
            <a:off x="548640" y="896112"/>
            <a:ext cx="11064240" cy="365760"/>
          </a:xfrm>
          <a:prstGeom prst="rect">
            <a:avLst/>
          </a:prstGeom>
          <a:noFill/>
          <a:ln/>
        </p:spPr>
        <p:txBody>
          <a:bodyPr wrap="square" lIns="0" tIns="0" rIns="0" bIns="0" rtlCol="0" anchor="ctr"/>
          <a:lstStyle/>
          <a:p>
            <a:pPr indent="0" marL="0">
              <a:buNone/>
            </a:pPr>
            <a:r>
              <a:rPr lang="en-US" sz="1400" dirty="0">
                <a:solidFill>
                  <a:srgbClr val="6B7280"/>
                </a:solidFill>
                <a:latin typeface="Meiryo UI" pitchFamily="34" charset="0"/>
                <a:ea typeface="Meiryo UI" pitchFamily="34" charset="-122"/>
                <a:cs typeface="Meiryo UI" pitchFamily="34" charset="-120"/>
              </a:rPr>
              <a:t>React・TypeScriptで配信管理アプリを開発し、Power Platform上で動かす（Azureは不要）</a:t>
            </a:r>
            <a:endParaRPr lang="en-US" sz="1400" dirty="0"/>
          </a:p>
        </p:txBody>
      </p:sp>
      <p:sp>
        <p:nvSpPr>
          <p:cNvPr id="4" name="Text 2"/>
          <p:cNvSpPr txBox="1"/>
          <p:nvPr/>
        </p:nvSpPr>
        <p:spPr>
          <a:xfrm>
            <a:off x="7498080" y="91440"/>
            <a:ext cx="4114800" cy="22860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4. 各パターンの詳細</a:t>
            </a:r>
            <a:endParaRPr lang="en-US" sz="900" dirty="0"/>
          </a:p>
        </p:txBody>
      </p:sp>
      <p:sp>
        <p:nvSpPr>
          <p:cNvPr id="5" name="Text 3"/>
          <p:cNvSpPr txBox="1"/>
          <p:nvPr/>
        </p:nvSpPr>
        <p:spPr>
          <a:xfrm>
            <a:off x="11247120" y="6446520"/>
            <a:ext cx="457200" cy="27432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23</a:t>
            </a:r>
            <a:endParaRPr lang="en-US" sz="900" dirty="0"/>
          </a:p>
        </p:txBody>
      </p:sp>
      <p:sp>
        <p:nvSpPr>
          <p:cNvPr id="6" name="Shape 4"/>
          <p:cNvSpPr/>
          <p:nvPr/>
        </p:nvSpPr>
        <p:spPr>
          <a:xfrm>
            <a:off x="548640" y="1371600"/>
            <a:ext cx="2103120" cy="347472"/>
          </a:xfrm>
          <a:prstGeom prst="roundRect">
            <a:avLst>
              <a:gd name="adj" fmla="val 50000"/>
            </a:avLst>
          </a:prstGeom>
          <a:solidFill>
            <a:srgbClr val="E5F0FA"/>
          </a:solidFill>
          <a:ln/>
        </p:spPr>
      </p:sp>
      <p:sp>
        <p:nvSpPr>
          <p:cNvPr id="7" name="Text 5"/>
          <p:cNvSpPr txBox="1"/>
          <p:nvPr/>
        </p:nvSpPr>
        <p:spPr>
          <a:xfrm>
            <a:off x="548640" y="1371600"/>
            <a:ext cx="2103120" cy="347472"/>
          </a:xfrm>
          <a:prstGeom prst="rect">
            <a:avLst/>
          </a:prstGeom>
          <a:noFill/>
          <a:ln/>
        </p:spPr>
        <p:txBody>
          <a:bodyPr wrap="square" lIns="0" tIns="0" rIns="0" bIns="0" rtlCol="0" anchor="ctr"/>
          <a:lstStyle/>
          <a:p>
            <a:pPr algn="ctr" indent="0" marL="0">
              <a:buNone/>
            </a:pPr>
            <a:r>
              <a:rPr lang="en-US" sz="950" dirty="0">
                <a:solidFill>
                  <a:srgbClr val="0F6CBD"/>
                </a:solidFill>
                <a:latin typeface="Meiryo UI" pitchFamily="34" charset="0"/>
                <a:ea typeface="Meiryo UI" pitchFamily="34" charset="-122"/>
                <a:cs typeface="Meiryo UI" pitchFamily="34" charset="-120"/>
              </a:rPr>
              <a:t>集約先  </a:t>
            </a:r>
            <a:pPr algn="ctr" indent="0" marL="0">
              <a:buNone/>
            </a:pPr>
            <a:r>
              <a:rPr lang="en-US" sz="1100" b="1" dirty="0">
                <a:solidFill>
                  <a:srgbClr val="0F6CBD"/>
                </a:solidFill>
                <a:latin typeface="Meiryo UI" pitchFamily="34" charset="0"/>
                <a:ea typeface="Meiryo UI" pitchFamily="34" charset="-122"/>
                <a:cs typeface="Meiryo UI" pitchFamily="34" charset="-120"/>
              </a:rPr>
              <a:t>M365に寄せる</a:t>
            </a:r>
            <a:endParaRPr lang="en-US" sz="950" dirty="0"/>
          </a:p>
        </p:txBody>
      </p:sp>
      <p:sp>
        <p:nvSpPr>
          <p:cNvPr id="8" name="Shape 6"/>
          <p:cNvSpPr/>
          <p:nvPr/>
        </p:nvSpPr>
        <p:spPr>
          <a:xfrm>
            <a:off x="2788920" y="1371600"/>
            <a:ext cx="2103120" cy="347472"/>
          </a:xfrm>
          <a:prstGeom prst="roundRect">
            <a:avLst>
              <a:gd name="adj" fmla="val 50000"/>
            </a:avLst>
          </a:prstGeom>
          <a:solidFill>
            <a:srgbClr val="F3F5F8"/>
          </a:solidFill>
          <a:ln/>
        </p:spPr>
      </p:sp>
      <p:sp>
        <p:nvSpPr>
          <p:cNvPr id="9" name="Text 7"/>
          <p:cNvSpPr txBox="1"/>
          <p:nvPr/>
        </p:nvSpPr>
        <p:spPr>
          <a:xfrm>
            <a:off x="2788920" y="1371600"/>
            <a:ext cx="2103120" cy="347472"/>
          </a:xfrm>
          <a:prstGeom prst="rect">
            <a:avLst/>
          </a:prstGeom>
          <a:noFill/>
          <a:ln/>
        </p:spPr>
        <p:txBody>
          <a:bodyPr wrap="square" lIns="0" tIns="0" rIns="0" bIns="0" rtlCol="0" anchor="ctr"/>
          <a:lstStyle/>
          <a:p>
            <a:pPr algn="ctr" indent="0" marL="0">
              <a:buNone/>
            </a:pPr>
            <a:r>
              <a:rPr lang="en-US" sz="950" dirty="0">
                <a:solidFill>
                  <a:srgbClr val="1B2A49"/>
                </a:solidFill>
                <a:latin typeface="Meiryo UI" pitchFamily="34" charset="0"/>
                <a:ea typeface="Meiryo UI" pitchFamily="34" charset="-122"/>
                <a:cs typeface="Meiryo UI" pitchFamily="34" charset="-120"/>
              </a:rPr>
              <a:t>管理基盤  </a:t>
            </a:r>
            <a:pPr algn="ctr" indent="0" marL="0">
              <a:buNone/>
            </a:pPr>
            <a:r>
              <a:rPr lang="en-US" sz="1100" b="1" dirty="0">
                <a:solidFill>
                  <a:srgbClr val="1B2A49"/>
                </a:solidFill>
                <a:latin typeface="Meiryo UI" pitchFamily="34" charset="0"/>
                <a:ea typeface="Meiryo UI" pitchFamily="34" charset="-122"/>
                <a:cs typeface="Meiryo UI" pitchFamily="34" charset="-120"/>
              </a:rPr>
              <a:t>Power Apps</a:t>
            </a:r>
            <a:endParaRPr lang="en-US" sz="950" dirty="0"/>
          </a:p>
        </p:txBody>
      </p:sp>
      <p:sp>
        <p:nvSpPr>
          <p:cNvPr id="10" name="Shape 8"/>
          <p:cNvSpPr/>
          <p:nvPr/>
        </p:nvSpPr>
        <p:spPr>
          <a:xfrm>
            <a:off x="5029200" y="1371600"/>
            <a:ext cx="2103120" cy="347472"/>
          </a:xfrm>
          <a:prstGeom prst="roundRect">
            <a:avLst>
              <a:gd name="adj" fmla="val 50000"/>
            </a:avLst>
          </a:prstGeom>
          <a:solidFill>
            <a:srgbClr val="D9F2F1"/>
          </a:solidFill>
          <a:ln/>
        </p:spPr>
      </p:sp>
      <p:sp>
        <p:nvSpPr>
          <p:cNvPr id="11" name="Text 9"/>
          <p:cNvSpPr txBox="1"/>
          <p:nvPr/>
        </p:nvSpPr>
        <p:spPr>
          <a:xfrm>
            <a:off x="5029200" y="1371600"/>
            <a:ext cx="2103120" cy="347472"/>
          </a:xfrm>
          <a:prstGeom prst="rect">
            <a:avLst/>
          </a:prstGeom>
          <a:noFill/>
          <a:ln/>
        </p:spPr>
        <p:txBody>
          <a:bodyPr wrap="square" lIns="0" tIns="0" rIns="0" bIns="0" rtlCol="0" anchor="ctr"/>
          <a:lstStyle/>
          <a:p>
            <a:pPr algn="ctr" indent="0" marL="0">
              <a:buNone/>
            </a:pPr>
            <a:r>
              <a:rPr lang="en-US" sz="950" dirty="0">
                <a:solidFill>
                  <a:srgbClr val="0E9F9A"/>
                </a:solidFill>
                <a:latin typeface="Meiryo UI" pitchFamily="34" charset="0"/>
                <a:ea typeface="Meiryo UI" pitchFamily="34" charset="-122"/>
                <a:cs typeface="Meiryo UI" pitchFamily="34" charset="-120"/>
              </a:rPr>
              <a:t>自動化  </a:t>
            </a:r>
            <a:pPr algn="ctr" indent="0" marL="0">
              <a:buNone/>
            </a:pPr>
            <a:r>
              <a:rPr lang="en-US" sz="1100" b="1" dirty="0">
                <a:solidFill>
                  <a:srgbClr val="0E9F9A"/>
                </a:solidFill>
                <a:latin typeface="Meiryo UI" pitchFamily="34" charset="0"/>
                <a:ea typeface="Meiryo UI" pitchFamily="34" charset="-122"/>
                <a:cs typeface="Meiryo UI" pitchFamily="34" charset="-120"/>
              </a:rPr>
              <a:t>Step3〜4</a:t>
            </a:r>
            <a:endParaRPr lang="en-US" sz="950" dirty="0"/>
          </a:p>
        </p:txBody>
      </p:sp>
      <p:sp>
        <p:nvSpPr>
          <p:cNvPr id="12" name="Shape 10"/>
          <p:cNvSpPr/>
          <p:nvPr/>
        </p:nvSpPr>
        <p:spPr>
          <a:xfrm>
            <a:off x="7269480" y="1371600"/>
            <a:ext cx="2103120" cy="347472"/>
          </a:xfrm>
          <a:prstGeom prst="roundRect">
            <a:avLst>
              <a:gd name="adj" fmla="val 50000"/>
            </a:avLst>
          </a:prstGeom>
          <a:solidFill>
            <a:srgbClr val="FDEBD3"/>
          </a:solidFill>
          <a:ln/>
        </p:spPr>
      </p:sp>
      <p:sp>
        <p:nvSpPr>
          <p:cNvPr id="13" name="Text 11"/>
          <p:cNvSpPr txBox="1"/>
          <p:nvPr/>
        </p:nvSpPr>
        <p:spPr>
          <a:xfrm>
            <a:off x="7269480" y="1371600"/>
            <a:ext cx="2103120" cy="347472"/>
          </a:xfrm>
          <a:prstGeom prst="rect">
            <a:avLst/>
          </a:prstGeom>
          <a:noFill/>
          <a:ln/>
        </p:spPr>
        <p:txBody>
          <a:bodyPr wrap="square" lIns="0" tIns="0" rIns="0" bIns="0" rtlCol="0" anchor="ctr"/>
          <a:lstStyle/>
          <a:p>
            <a:pPr algn="ctr" indent="0" marL="0">
              <a:buNone/>
            </a:pPr>
            <a:r>
              <a:rPr lang="en-US" sz="950" dirty="0">
                <a:solidFill>
                  <a:srgbClr val="E8912D"/>
                </a:solidFill>
                <a:latin typeface="Meiryo UI" pitchFamily="34" charset="0"/>
                <a:ea typeface="Meiryo UI" pitchFamily="34" charset="-122"/>
                <a:cs typeface="Meiryo UI" pitchFamily="34" charset="-120"/>
              </a:rPr>
              <a:t>難易度  </a:t>
            </a:r>
            <a:pPr algn="ctr" indent="0" marL="0">
              <a:buNone/>
            </a:pPr>
            <a:r>
              <a:rPr lang="en-US" sz="1100" b="1" dirty="0">
                <a:solidFill>
                  <a:srgbClr val="E8912D"/>
                </a:solidFill>
                <a:latin typeface="Meiryo UI" pitchFamily="34" charset="0"/>
                <a:ea typeface="Meiryo UI" pitchFamily="34" charset="-122"/>
                <a:cs typeface="Meiryo UI" pitchFamily="34" charset="-120"/>
              </a:rPr>
              <a:t>★★★★☆</a:t>
            </a:r>
            <a:endParaRPr lang="en-US" sz="950" dirty="0"/>
          </a:p>
        </p:txBody>
      </p:sp>
      <p:sp>
        <p:nvSpPr>
          <p:cNvPr id="14" name="Shape 12"/>
          <p:cNvSpPr/>
          <p:nvPr/>
        </p:nvSpPr>
        <p:spPr>
          <a:xfrm>
            <a:off x="9509760" y="1371600"/>
            <a:ext cx="2103120" cy="347472"/>
          </a:xfrm>
          <a:prstGeom prst="roundRect">
            <a:avLst>
              <a:gd name="adj" fmla="val 50000"/>
            </a:avLst>
          </a:prstGeom>
          <a:solidFill>
            <a:srgbClr val="F3F5F8"/>
          </a:solidFill>
          <a:ln/>
        </p:spPr>
      </p:sp>
      <p:sp>
        <p:nvSpPr>
          <p:cNvPr id="15" name="Text 13"/>
          <p:cNvSpPr txBox="1"/>
          <p:nvPr/>
        </p:nvSpPr>
        <p:spPr>
          <a:xfrm>
            <a:off x="9509760" y="1371600"/>
            <a:ext cx="2103120" cy="347472"/>
          </a:xfrm>
          <a:prstGeom prst="rect">
            <a:avLst/>
          </a:prstGeom>
          <a:noFill/>
          <a:ln/>
        </p:spPr>
        <p:txBody>
          <a:bodyPr wrap="square" lIns="0" tIns="0" rIns="0" bIns="0" rtlCol="0" anchor="ctr"/>
          <a:lstStyle/>
          <a:p>
            <a:pPr algn="ctr" indent="0" marL="0">
              <a:buNone/>
            </a:pPr>
            <a:r>
              <a:rPr lang="en-US" sz="950" dirty="0">
                <a:solidFill>
                  <a:srgbClr val="1B2A49"/>
                </a:solidFill>
                <a:latin typeface="Meiryo UI" pitchFamily="34" charset="0"/>
                <a:ea typeface="Meiryo UI" pitchFamily="34" charset="-122"/>
                <a:cs typeface="Meiryo UI" pitchFamily="34" charset="-120"/>
              </a:rPr>
              <a:t>期間目安  </a:t>
            </a:r>
            <a:pPr algn="ctr" indent="0" marL="0">
              <a:buNone/>
            </a:pPr>
            <a:r>
              <a:rPr lang="en-US" sz="1100" b="1" dirty="0">
                <a:solidFill>
                  <a:srgbClr val="1B2A49"/>
                </a:solidFill>
                <a:latin typeface="Meiryo UI" pitchFamily="34" charset="0"/>
                <a:ea typeface="Meiryo UI" pitchFamily="34" charset="-122"/>
                <a:cs typeface="Meiryo UI" pitchFamily="34" charset="-120"/>
              </a:rPr>
              <a:t>3〜5ヶ月</a:t>
            </a:r>
            <a:endParaRPr lang="en-US" sz="950" dirty="0"/>
          </a:p>
        </p:txBody>
      </p:sp>
      <p:sp>
        <p:nvSpPr>
          <p:cNvPr id="16" name="Shape 14"/>
          <p:cNvSpPr/>
          <p:nvPr/>
        </p:nvSpPr>
        <p:spPr>
          <a:xfrm>
            <a:off x="548640" y="1874520"/>
            <a:ext cx="6949440" cy="2514600"/>
          </a:xfrm>
          <a:prstGeom prst="roundRect">
            <a:avLst>
              <a:gd name="adj" fmla="val 1455"/>
            </a:avLst>
          </a:prstGeom>
          <a:solidFill>
            <a:srgbClr val="F3F5F8"/>
          </a:solidFill>
          <a:ln/>
        </p:spPr>
      </p:sp>
      <p:sp>
        <p:nvSpPr>
          <p:cNvPr id="17" name="Shape 15"/>
          <p:cNvSpPr/>
          <p:nvPr/>
        </p:nvSpPr>
        <p:spPr>
          <a:xfrm>
            <a:off x="640080" y="1938528"/>
            <a:ext cx="6766560" cy="2377440"/>
          </a:xfrm>
          <a:prstGeom prst="roundRect">
            <a:avLst>
              <a:gd name="adj" fmla="val 1923"/>
            </a:avLst>
          </a:prstGeom>
          <a:solidFill>
            <a:srgbClr val="FFFFFF"/>
          </a:solidFill>
          <a:ln w="12700">
            <a:solidFill>
              <a:srgbClr val="0F6CBD"/>
            </a:solidFill>
            <a:prstDash val="dash"/>
          </a:ln>
        </p:spPr>
      </p:sp>
      <p:sp>
        <p:nvSpPr>
          <p:cNvPr id="18" name="Text 16"/>
          <p:cNvSpPr txBox="1"/>
          <p:nvPr/>
        </p:nvSpPr>
        <p:spPr>
          <a:xfrm>
            <a:off x="713232" y="1956816"/>
            <a:ext cx="1828800" cy="237744"/>
          </a:xfrm>
          <a:prstGeom prst="rect">
            <a:avLst/>
          </a:prstGeom>
          <a:noFill/>
          <a:ln/>
        </p:spPr>
        <p:txBody>
          <a:bodyPr wrap="square" lIns="0" tIns="0" rIns="0" bIns="0" rtlCol="0" anchor="ctr"/>
          <a:lstStyle/>
          <a:p>
            <a:pPr indent="0" marL="0">
              <a:buNone/>
            </a:pPr>
            <a:r>
              <a:rPr lang="en-US" sz="900" b="1" dirty="0">
                <a:solidFill>
                  <a:srgbClr val="0F6CBD"/>
                </a:solidFill>
                <a:latin typeface="Meiryo UI" pitchFamily="34" charset="0"/>
                <a:ea typeface="Meiryo UI" pitchFamily="34" charset="-122"/>
                <a:cs typeface="Meiryo UI" pitchFamily="34" charset="-120"/>
              </a:rPr>
              <a:t>Power Platform（M365）</a:t>
            </a:r>
            <a:endParaRPr lang="en-US" sz="900" dirty="0"/>
          </a:p>
        </p:txBody>
      </p:sp>
      <p:sp>
        <p:nvSpPr>
          <p:cNvPr id="19" name="Shape 17"/>
          <p:cNvSpPr/>
          <p:nvPr/>
        </p:nvSpPr>
        <p:spPr>
          <a:xfrm>
            <a:off x="777240" y="2286000"/>
            <a:ext cx="2103120" cy="868680"/>
          </a:xfrm>
          <a:prstGeom prst="roundRect">
            <a:avLst>
              <a:gd name="adj" fmla="val 8421"/>
            </a:avLst>
          </a:prstGeom>
          <a:solidFill>
            <a:srgbClr val="FDEBD3"/>
          </a:solidFill>
          <a:ln/>
        </p:spPr>
      </p:sp>
      <p:pic>
        <p:nvPicPr>
          <p:cNvPr id="20" name="Image 0" descr="preencoded.png">    </p:cNvPr>
          <p:cNvPicPr>
            <a:picLocks noChangeAspect="1"/>
          </p:cNvPicPr>
          <p:nvPr/>
        </p:nvPicPr>
        <p:blipFill>
          <a:blip r:embed="rId1"/>
          <a:stretch>
            <a:fillRect/>
          </a:stretch>
        </p:blipFill>
        <p:spPr>
          <a:xfrm>
            <a:off x="886968" y="2537460"/>
            <a:ext cx="365760" cy="365760"/>
          </a:xfrm>
          <a:prstGeom prst="rect">
            <a:avLst/>
          </a:prstGeom>
        </p:spPr>
      </p:pic>
      <p:sp>
        <p:nvSpPr>
          <p:cNvPr id="21" name="Text 18"/>
          <p:cNvSpPr txBox="1"/>
          <p:nvPr/>
        </p:nvSpPr>
        <p:spPr>
          <a:xfrm>
            <a:off x="1344168" y="2286000"/>
            <a:ext cx="1490472" cy="868680"/>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code app</a:t>
            </a:r>
            <a:endParaRPr lang="en-US" sz="1050" dirty="0"/>
          </a:p>
          <a:p>
            <a:pPr algn="l" indent="0" marL="0">
              <a:buNone/>
            </a:pPr>
            <a:r>
              <a:rPr lang="en-US" sz="900" dirty="0">
                <a:solidFill>
                  <a:srgbClr val="6B7280"/>
                </a:solidFill>
                <a:latin typeface="Meiryo UI" pitchFamily="34" charset="0"/>
                <a:ea typeface="Meiryo UI" pitchFamily="34" charset="-122"/>
                <a:cs typeface="Meiryo UI" pitchFamily="34" charset="-120"/>
              </a:rPr>
              <a:t>React＋TypeScript</a:t>
            </a:r>
            <a:endParaRPr lang="en-US" sz="1050" dirty="0"/>
          </a:p>
          <a:p>
            <a:pPr algn="l" indent="0" marL="0">
              <a:buNone/>
            </a:pPr>
            <a:r>
              <a:rPr lang="en-US" sz="900" dirty="0">
                <a:solidFill>
                  <a:srgbClr val="6B7280"/>
                </a:solidFill>
                <a:latin typeface="Meiryo UI" pitchFamily="34" charset="0"/>
                <a:ea typeface="Meiryo UI" pitchFamily="34" charset="-122"/>
                <a:cs typeface="Meiryo UI" pitchFamily="34" charset="-120"/>
              </a:rPr>
              <a:t>カレンダーUI</a:t>
            </a:r>
            <a:endParaRPr lang="en-US" sz="1050" dirty="0"/>
          </a:p>
        </p:txBody>
      </p:sp>
      <p:sp>
        <p:nvSpPr>
          <p:cNvPr id="22" name="Shape 19"/>
          <p:cNvSpPr/>
          <p:nvPr/>
        </p:nvSpPr>
        <p:spPr>
          <a:xfrm>
            <a:off x="2926080" y="2715768"/>
            <a:ext cx="228600" cy="0"/>
          </a:xfrm>
          <a:prstGeom prst="line">
            <a:avLst/>
          </a:prstGeom>
          <a:noFill/>
          <a:ln w="22225">
            <a:solidFill>
              <a:srgbClr val="9AA5B4"/>
            </a:solidFill>
            <a:prstDash val="solid"/>
            <a:headEnd type="triangle"/>
            <a:tailEnd type="triangle"/>
          </a:ln>
        </p:spPr>
      </p:sp>
      <p:sp>
        <p:nvSpPr>
          <p:cNvPr id="23" name="Shape 20"/>
          <p:cNvSpPr/>
          <p:nvPr/>
        </p:nvSpPr>
        <p:spPr>
          <a:xfrm>
            <a:off x="3200400" y="2286000"/>
            <a:ext cx="1920240" cy="868680"/>
          </a:xfrm>
          <a:prstGeom prst="roundRect">
            <a:avLst>
              <a:gd name="adj" fmla="val 8421"/>
            </a:avLst>
          </a:prstGeom>
          <a:solidFill>
            <a:srgbClr val="D9F2F1"/>
          </a:solidFill>
          <a:ln/>
        </p:spPr>
      </p:sp>
      <p:pic>
        <p:nvPicPr>
          <p:cNvPr id="24" name="Image 1" descr="preencoded.png">    </p:cNvPr>
          <p:cNvPicPr>
            <a:picLocks noChangeAspect="1"/>
          </p:cNvPicPr>
          <p:nvPr/>
        </p:nvPicPr>
        <p:blipFill>
          <a:blip r:embed="rId2"/>
          <a:stretch>
            <a:fillRect/>
          </a:stretch>
        </p:blipFill>
        <p:spPr>
          <a:xfrm>
            <a:off x="3310128" y="2537460"/>
            <a:ext cx="365760" cy="365760"/>
          </a:xfrm>
          <a:prstGeom prst="rect">
            <a:avLst/>
          </a:prstGeom>
        </p:spPr>
      </p:pic>
      <p:sp>
        <p:nvSpPr>
          <p:cNvPr id="25" name="Text 21"/>
          <p:cNvSpPr txBox="1"/>
          <p:nvPr/>
        </p:nvSpPr>
        <p:spPr>
          <a:xfrm>
            <a:off x="3767328" y="2286000"/>
            <a:ext cx="1307592" cy="868680"/>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コネクタ</a:t>
            </a:r>
            <a:endParaRPr lang="en-US" sz="1050" dirty="0"/>
          </a:p>
          <a:p>
            <a:pPr algn="l" indent="0" marL="0">
              <a:buNone/>
            </a:pPr>
            <a:r>
              <a:rPr lang="en-US" sz="900" dirty="0">
                <a:solidFill>
                  <a:srgbClr val="6B7280"/>
                </a:solidFill>
                <a:latin typeface="Meiryo UI" pitchFamily="34" charset="0"/>
                <a:ea typeface="Meiryo UI" pitchFamily="34" charset="-122"/>
                <a:cs typeface="Meiryo UI" pitchFamily="34" charset="-120"/>
              </a:rPr>
              <a:t>1,500以上を</a:t>
            </a:r>
            <a:endParaRPr lang="en-US" sz="1050" dirty="0"/>
          </a:p>
          <a:p>
            <a:pPr algn="l" indent="0" marL="0">
              <a:buNone/>
            </a:pPr>
            <a:r>
              <a:rPr lang="en-US" sz="900" dirty="0">
                <a:solidFill>
                  <a:srgbClr val="6B7280"/>
                </a:solidFill>
                <a:latin typeface="Meiryo UI" pitchFamily="34" charset="0"/>
                <a:ea typeface="Meiryo UI" pitchFamily="34" charset="-122"/>
                <a:cs typeface="Meiryo UI" pitchFamily="34" charset="-120"/>
              </a:rPr>
              <a:t>コードから利用</a:t>
            </a:r>
            <a:endParaRPr lang="en-US" sz="1050" dirty="0"/>
          </a:p>
        </p:txBody>
      </p:sp>
      <p:sp>
        <p:nvSpPr>
          <p:cNvPr id="26" name="Shape 22"/>
          <p:cNvSpPr/>
          <p:nvPr/>
        </p:nvSpPr>
        <p:spPr>
          <a:xfrm>
            <a:off x="5166360" y="2715768"/>
            <a:ext cx="228600" cy="0"/>
          </a:xfrm>
          <a:prstGeom prst="line">
            <a:avLst/>
          </a:prstGeom>
          <a:noFill/>
          <a:ln w="22225">
            <a:solidFill>
              <a:srgbClr val="9AA5B4"/>
            </a:solidFill>
            <a:prstDash val="solid"/>
            <a:headEnd type="triangle"/>
            <a:tailEnd type="triangle"/>
          </a:ln>
        </p:spPr>
      </p:sp>
      <p:sp>
        <p:nvSpPr>
          <p:cNvPr id="27" name="Shape 23"/>
          <p:cNvSpPr/>
          <p:nvPr/>
        </p:nvSpPr>
        <p:spPr>
          <a:xfrm>
            <a:off x="5440680" y="2286000"/>
            <a:ext cx="1828800" cy="868680"/>
          </a:xfrm>
          <a:prstGeom prst="roundRect">
            <a:avLst>
              <a:gd name="adj" fmla="val 8421"/>
            </a:avLst>
          </a:prstGeom>
          <a:solidFill>
            <a:srgbClr val="0E9F9A"/>
          </a:solidFill>
          <a:ln/>
        </p:spPr>
      </p:sp>
      <p:sp>
        <p:nvSpPr>
          <p:cNvPr id="28" name="Shape 24"/>
          <p:cNvSpPr/>
          <p:nvPr/>
        </p:nvSpPr>
        <p:spPr>
          <a:xfrm>
            <a:off x="5513832" y="2464308"/>
            <a:ext cx="512064" cy="512064"/>
          </a:xfrm>
          <a:prstGeom prst="ellipse">
            <a:avLst/>
          </a:prstGeom>
          <a:solidFill>
            <a:srgbClr val="FFFFFF"/>
          </a:solidFill>
          <a:ln/>
        </p:spPr>
      </p:sp>
      <p:pic>
        <p:nvPicPr>
          <p:cNvPr id="29" name="Image 2" descr="preencoded.png">    </p:cNvPr>
          <p:cNvPicPr>
            <a:picLocks noChangeAspect="1"/>
          </p:cNvPicPr>
          <p:nvPr/>
        </p:nvPicPr>
        <p:blipFill>
          <a:blip r:embed="rId3"/>
          <a:stretch>
            <a:fillRect/>
          </a:stretch>
        </p:blipFill>
        <p:spPr>
          <a:xfrm>
            <a:off x="5586984" y="2537460"/>
            <a:ext cx="365760" cy="365760"/>
          </a:xfrm>
          <a:prstGeom prst="rect">
            <a:avLst/>
          </a:prstGeom>
        </p:spPr>
      </p:pic>
      <p:sp>
        <p:nvSpPr>
          <p:cNvPr id="30" name="Text 25"/>
          <p:cNvSpPr txBox="1"/>
          <p:nvPr/>
        </p:nvSpPr>
        <p:spPr>
          <a:xfrm>
            <a:off x="6172200" y="2286000"/>
            <a:ext cx="1051560" cy="868680"/>
          </a:xfrm>
          <a:prstGeom prst="rect">
            <a:avLst/>
          </a:prstGeom>
          <a:noFill/>
          <a:ln/>
        </p:spPr>
        <p:txBody>
          <a:bodyPr wrap="square" lIns="0" tIns="0" rIns="0" bIns="0" rtlCol="0" anchor="ctr"/>
          <a:lstStyle/>
          <a:p>
            <a:pPr algn="l" indent="0" marL="0">
              <a:buNone/>
            </a:pPr>
            <a:r>
              <a:rPr lang="en-US" sz="1050" b="1" dirty="0">
                <a:solidFill>
                  <a:srgbClr val="FFFFFF"/>
                </a:solidFill>
                <a:latin typeface="Meiryo UI" pitchFamily="34" charset="0"/>
                <a:ea typeface="Meiryo UI" pitchFamily="34" charset="-122"/>
                <a:cs typeface="Meiryo UI" pitchFamily="34" charset="-120"/>
              </a:rPr>
              <a:t>Copilot Studio</a:t>
            </a:r>
            <a:endParaRPr lang="en-US" sz="1050" dirty="0"/>
          </a:p>
          <a:p>
            <a:pPr algn="l" indent="0" marL="0">
              <a:buNone/>
            </a:pPr>
            <a:r>
              <a:rPr lang="en-US" sz="900" dirty="0">
                <a:solidFill>
                  <a:srgbClr val="E6F2F2"/>
                </a:solidFill>
                <a:latin typeface="Meiryo UI" pitchFamily="34" charset="0"/>
                <a:ea typeface="Meiryo UI" pitchFamily="34" charset="-122"/>
                <a:cs typeface="Meiryo UI" pitchFamily="34" charset="-120"/>
              </a:rPr>
              <a:t>AI Builder</a:t>
            </a:r>
            <a:endParaRPr lang="en-US" sz="1050" dirty="0"/>
          </a:p>
        </p:txBody>
      </p:sp>
      <p:sp>
        <p:nvSpPr>
          <p:cNvPr id="31" name="Shape 26"/>
          <p:cNvSpPr/>
          <p:nvPr/>
        </p:nvSpPr>
        <p:spPr>
          <a:xfrm>
            <a:off x="777240" y="3429000"/>
            <a:ext cx="2103120" cy="685800"/>
          </a:xfrm>
          <a:prstGeom prst="roundRect">
            <a:avLst>
              <a:gd name="adj" fmla="val 10667"/>
            </a:avLst>
          </a:prstGeom>
          <a:solidFill>
            <a:srgbClr val="E3EAF5"/>
          </a:solidFill>
          <a:ln/>
        </p:spPr>
      </p:sp>
      <p:pic>
        <p:nvPicPr>
          <p:cNvPr id="32" name="Image 3" descr="preencoded.png">    </p:cNvPr>
          <p:cNvPicPr>
            <a:picLocks noChangeAspect="1"/>
          </p:cNvPicPr>
          <p:nvPr/>
        </p:nvPicPr>
        <p:blipFill>
          <a:blip r:embed="rId4"/>
          <a:stretch>
            <a:fillRect/>
          </a:stretch>
        </p:blipFill>
        <p:spPr>
          <a:xfrm>
            <a:off x="886968" y="3589020"/>
            <a:ext cx="365760" cy="365760"/>
          </a:xfrm>
          <a:prstGeom prst="rect">
            <a:avLst/>
          </a:prstGeom>
        </p:spPr>
      </p:pic>
      <p:sp>
        <p:nvSpPr>
          <p:cNvPr id="33" name="Text 27"/>
          <p:cNvSpPr txBox="1"/>
          <p:nvPr/>
        </p:nvSpPr>
        <p:spPr>
          <a:xfrm>
            <a:off x="1344168" y="3429000"/>
            <a:ext cx="1490472" cy="685800"/>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Entra ID</a:t>
            </a:r>
            <a:endParaRPr lang="en-US" sz="1050" dirty="0"/>
          </a:p>
          <a:p>
            <a:pPr algn="l" indent="0" marL="0">
              <a:buNone/>
            </a:pPr>
            <a:r>
              <a:rPr lang="en-US" sz="900" dirty="0">
                <a:solidFill>
                  <a:srgbClr val="6B7280"/>
                </a:solidFill>
                <a:latin typeface="Meiryo UI" pitchFamily="34" charset="0"/>
                <a:ea typeface="Meiryo UI" pitchFamily="34" charset="-122"/>
                <a:cs typeface="Meiryo UI" pitchFamily="34" charset="-120"/>
              </a:rPr>
              <a:t>認証・DLPは標準</a:t>
            </a:r>
            <a:endParaRPr lang="en-US" sz="1050" dirty="0"/>
          </a:p>
        </p:txBody>
      </p:sp>
      <p:sp>
        <p:nvSpPr>
          <p:cNvPr id="34" name="Shape 28"/>
          <p:cNvSpPr/>
          <p:nvPr/>
        </p:nvSpPr>
        <p:spPr>
          <a:xfrm>
            <a:off x="4160520" y="3200400"/>
            <a:ext cx="0" cy="182880"/>
          </a:xfrm>
          <a:prstGeom prst="line">
            <a:avLst/>
          </a:prstGeom>
          <a:noFill/>
          <a:ln w="22225">
            <a:solidFill>
              <a:srgbClr val="9AA5B4"/>
            </a:solidFill>
            <a:prstDash val="solid"/>
            <a:headEnd type="triangle"/>
            <a:tailEnd type="triangle"/>
          </a:ln>
        </p:spPr>
      </p:sp>
      <p:sp>
        <p:nvSpPr>
          <p:cNvPr id="35" name="Shape 29"/>
          <p:cNvSpPr/>
          <p:nvPr/>
        </p:nvSpPr>
        <p:spPr>
          <a:xfrm>
            <a:off x="3200400" y="3429000"/>
            <a:ext cx="1920240" cy="685800"/>
          </a:xfrm>
          <a:prstGeom prst="roundRect">
            <a:avLst>
              <a:gd name="adj" fmla="val 10667"/>
            </a:avLst>
          </a:prstGeom>
          <a:solidFill>
            <a:srgbClr val="E3EAF5"/>
          </a:solidFill>
          <a:ln/>
        </p:spPr>
      </p:sp>
      <p:pic>
        <p:nvPicPr>
          <p:cNvPr id="36" name="Image 4" descr="preencoded.png">    </p:cNvPr>
          <p:cNvPicPr>
            <a:picLocks noChangeAspect="1"/>
          </p:cNvPicPr>
          <p:nvPr/>
        </p:nvPicPr>
        <p:blipFill>
          <a:blip r:embed="rId5"/>
          <a:stretch>
            <a:fillRect/>
          </a:stretch>
        </p:blipFill>
        <p:spPr>
          <a:xfrm>
            <a:off x="3310128" y="3589020"/>
            <a:ext cx="365760" cy="365760"/>
          </a:xfrm>
          <a:prstGeom prst="rect">
            <a:avLst/>
          </a:prstGeom>
        </p:spPr>
      </p:pic>
      <p:sp>
        <p:nvSpPr>
          <p:cNvPr id="37" name="Text 30"/>
          <p:cNvSpPr txBox="1"/>
          <p:nvPr/>
        </p:nvSpPr>
        <p:spPr>
          <a:xfrm>
            <a:off x="3767328" y="3429000"/>
            <a:ext cx="1307592" cy="685800"/>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Dataverse／Lists</a:t>
            </a:r>
            <a:endParaRPr lang="en-US" sz="1050" dirty="0"/>
          </a:p>
          <a:p>
            <a:pPr algn="l" indent="0" marL="0">
              <a:buNone/>
            </a:pPr>
            <a:r>
              <a:rPr lang="en-US" sz="900" dirty="0">
                <a:solidFill>
                  <a:srgbClr val="6B7280"/>
                </a:solidFill>
                <a:latin typeface="Meiryo UI" pitchFamily="34" charset="0"/>
                <a:ea typeface="Meiryo UI" pitchFamily="34" charset="-122"/>
                <a:cs typeface="Meiryo UI" pitchFamily="34" charset="-120"/>
              </a:rPr>
              <a:t>配信カード・商品</a:t>
            </a:r>
            <a:endParaRPr lang="en-US" sz="1050" dirty="0"/>
          </a:p>
        </p:txBody>
      </p:sp>
      <p:sp>
        <p:nvSpPr>
          <p:cNvPr id="38" name="Shape 31"/>
          <p:cNvSpPr/>
          <p:nvPr/>
        </p:nvSpPr>
        <p:spPr>
          <a:xfrm>
            <a:off x="5440680" y="3429000"/>
            <a:ext cx="1828800" cy="685800"/>
          </a:xfrm>
          <a:prstGeom prst="roundRect">
            <a:avLst>
              <a:gd name="adj" fmla="val 10667"/>
            </a:avLst>
          </a:prstGeom>
          <a:solidFill>
            <a:srgbClr val="E3EAF5"/>
          </a:solidFill>
          <a:ln/>
        </p:spPr>
      </p:sp>
      <p:pic>
        <p:nvPicPr>
          <p:cNvPr id="39" name="Image 5" descr="preencoded.png">    </p:cNvPr>
          <p:cNvPicPr>
            <a:picLocks noChangeAspect="1"/>
          </p:cNvPicPr>
          <p:nvPr/>
        </p:nvPicPr>
        <p:blipFill>
          <a:blip r:embed="rId6"/>
          <a:stretch>
            <a:fillRect/>
          </a:stretch>
        </p:blipFill>
        <p:spPr>
          <a:xfrm>
            <a:off x="5550408" y="3589020"/>
            <a:ext cx="365760" cy="365760"/>
          </a:xfrm>
          <a:prstGeom prst="rect">
            <a:avLst/>
          </a:prstGeom>
        </p:spPr>
      </p:pic>
      <p:sp>
        <p:nvSpPr>
          <p:cNvPr id="40" name="Text 32"/>
          <p:cNvSpPr txBox="1"/>
          <p:nvPr/>
        </p:nvSpPr>
        <p:spPr>
          <a:xfrm>
            <a:off x="6007608" y="3429000"/>
            <a:ext cx="1216152" cy="685800"/>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数値データ</a:t>
            </a:r>
            <a:endParaRPr lang="en-US" sz="1050" dirty="0"/>
          </a:p>
          <a:p>
            <a:pPr algn="l" indent="0" marL="0">
              <a:buNone/>
            </a:pPr>
            <a:r>
              <a:rPr lang="en-US" sz="900" dirty="0">
                <a:solidFill>
                  <a:srgbClr val="6B7280"/>
                </a:solidFill>
                <a:latin typeface="Meiryo UI" pitchFamily="34" charset="0"/>
                <a:ea typeface="Meiryo UI" pitchFamily="34" charset="-122"/>
                <a:cs typeface="Meiryo UI" pitchFamily="34" charset="-120"/>
              </a:rPr>
              <a:t>GCSから転送</a:t>
            </a:r>
            <a:endParaRPr lang="en-US" sz="1050" dirty="0"/>
          </a:p>
        </p:txBody>
      </p:sp>
      <p:sp>
        <p:nvSpPr>
          <p:cNvPr id="41" name="Shape 33"/>
          <p:cNvSpPr/>
          <p:nvPr/>
        </p:nvSpPr>
        <p:spPr>
          <a:xfrm>
            <a:off x="7680960" y="1874520"/>
            <a:ext cx="3931920" cy="2514600"/>
          </a:xfrm>
          <a:prstGeom prst="roundRect">
            <a:avLst>
              <a:gd name="adj" fmla="val 2182"/>
            </a:avLst>
          </a:prstGeom>
          <a:solidFill>
            <a:srgbClr val="E3EAF5"/>
          </a:solidFill>
          <a:ln/>
        </p:spPr>
      </p:sp>
      <p:sp>
        <p:nvSpPr>
          <p:cNvPr id="42" name="Shape 34"/>
          <p:cNvSpPr/>
          <p:nvPr/>
        </p:nvSpPr>
        <p:spPr>
          <a:xfrm>
            <a:off x="7818120" y="1993392"/>
            <a:ext cx="384048" cy="384048"/>
          </a:xfrm>
          <a:prstGeom prst="ellipse">
            <a:avLst/>
          </a:prstGeom>
          <a:solidFill>
            <a:srgbClr val="FFFFFF"/>
          </a:solidFill>
          <a:ln/>
        </p:spPr>
      </p:sp>
      <p:pic>
        <p:nvPicPr>
          <p:cNvPr id="43" name="Image 6" descr="preencoded.png">    </p:cNvPr>
          <p:cNvPicPr>
            <a:picLocks noChangeAspect="1"/>
          </p:cNvPicPr>
          <p:nvPr/>
        </p:nvPicPr>
        <p:blipFill>
          <a:blip r:embed="rId7"/>
          <a:stretch>
            <a:fillRect/>
          </a:stretch>
        </p:blipFill>
        <p:spPr>
          <a:xfrm>
            <a:off x="7894930" y="2070202"/>
            <a:ext cx="230429" cy="230429"/>
          </a:xfrm>
          <a:prstGeom prst="rect">
            <a:avLst/>
          </a:prstGeom>
        </p:spPr>
      </p:pic>
      <p:sp>
        <p:nvSpPr>
          <p:cNvPr id="44" name="Text 35"/>
          <p:cNvSpPr txBox="1"/>
          <p:nvPr/>
        </p:nvSpPr>
        <p:spPr>
          <a:xfrm>
            <a:off x="8275320" y="1993392"/>
            <a:ext cx="3246120" cy="384048"/>
          </a:xfrm>
          <a:prstGeom prst="rect">
            <a:avLst/>
          </a:prstGeom>
          <a:noFill/>
          <a:ln/>
        </p:spPr>
        <p:txBody>
          <a:bodyPr wrap="square" lIns="0" tIns="0" rIns="0" bIns="0"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必要な機能・準備</a:t>
            </a:r>
            <a:endParaRPr lang="en-US" sz="1300" dirty="0"/>
          </a:p>
        </p:txBody>
      </p:sp>
      <p:sp>
        <p:nvSpPr>
          <p:cNvPr id="45" name="Text 36"/>
          <p:cNvSpPr txBox="1"/>
          <p:nvPr/>
        </p:nvSpPr>
        <p:spPr>
          <a:xfrm>
            <a:off x="7863840" y="2478024"/>
            <a:ext cx="3611880" cy="1819656"/>
          </a:xfrm>
          <a:prstGeom prst="rect">
            <a:avLst/>
          </a:prstGeom>
          <a:noFill/>
          <a:ln/>
        </p:spPr>
        <p:txBody>
          <a:bodyPr wrap="square" lIns="254" tIns="254" rIns="254" bIns="254" rtlCol="0" anchor="t"/>
          <a:lstStyle/>
          <a:p>
            <a:pPr marL="152400" indent="-152400">
              <a:spcAft>
                <a:spcPts val="300"/>
              </a:spcAft>
              <a:buSzPct val="100000"/>
              <a:buChar char="•"/>
            </a:pPr>
            <a:r>
              <a:rPr lang="en-US" sz="1100" dirty="0">
                <a:solidFill>
                  <a:srgbClr val="2B2B2B"/>
                </a:solidFill>
                <a:latin typeface="Meiryo UI" pitchFamily="34" charset="0"/>
                <a:ea typeface="Meiryo UI" pitchFamily="34" charset="-122"/>
                <a:cs typeface="Meiryo UI" pitchFamily="34" charset="-120"/>
              </a:rPr>
              <a:t>Power Apps code apps（2026年2月にGA）</a:t>
            </a:r>
            <a:endParaRPr lang="en-US" sz="1100" dirty="0"/>
          </a:p>
          <a:p>
            <a:pPr marL="152400" indent="-152400">
              <a:spcAft>
                <a:spcPts val="300"/>
              </a:spcAft>
              <a:buSzPct val="100000"/>
              <a:buChar char="•"/>
            </a:pPr>
            <a:r>
              <a:rPr lang="en-US" sz="1100" dirty="0">
                <a:solidFill>
                  <a:srgbClr val="2B2B2B"/>
                </a:solidFill>
                <a:latin typeface="Meiryo UI" pitchFamily="34" charset="0"/>
                <a:ea typeface="Meiryo UI" pitchFamily="34" charset="-122"/>
                <a:cs typeface="Meiryo UI" pitchFamily="34" charset="-120"/>
              </a:rPr>
              <a:t>開発環境：VS Code、Node.js、Power Apps CLI</a:t>
            </a:r>
            <a:endParaRPr lang="en-US" sz="1100" dirty="0"/>
          </a:p>
          <a:p>
            <a:pPr marL="152400" indent="-152400">
              <a:spcAft>
                <a:spcPts val="300"/>
              </a:spcAft>
              <a:buSzPct val="100000"/>
              <a:buChar char="•"/>
            </a:pPr>
            <a:r>
              <a:rPr lang="en-US" sz="1100" dirty="0">
                <a:solidFill>
                  <a:srgbClr val="2B2B2B"/>
                </a:solidFill>
                <a:latin typeface="Meiryo UI" pitchFamily="34" charset="0"/>
                <a:ea typeface="Meiryo UI" pitchFamily="34" charset="-122"/>
                <a:cs typeface="Meiryo UI" pitchFamily="34" charset="-120"/>
              </a:rPr>
              <a:t>管理者が環境でcode appsを有効化</a:t>
            </a:r>
            <a:endParaRPr lang="en-US" sz="1100" dirty="0"/>
          </a:p>
          <a:p>
            <a:pPr marL="152400" indent="-152400">
              <a:spcAft>
                <a:spcPts val="300"/>
              </a:spcAft>
              <a:buSzPct val="100000"/>
              <a:buChar char="•"/>
            </a:pPr>
            <a:r>
              <a:rPr lang="en-US" sz="1100" dirty="0">
                <a:solidFill>
                  <a:srgbClr val="2B2B2B"/>
                </a:solidFill>
                <a:latin typeface="Meiryo UI" pitchFamily="34" charset="0"/>
                <a:ea typeface="Meiryo UI" pitchFamily="34" charset="-122"/>
                <a:cs typeface="Meiryo UI" pitchFamily="34" charset="-120"/>
              </a:rPr>
              <a:t>利用者全員にPower Apps Premium</a:t>
            </a:r>
            <a:endParaRPr lang="en-US" sz="1100" dirty="0"/>
          </a:p>
          <a:p>
            <a:pPr marL="152400" indent="-152400">
              <a:spcAft>
                <a:spcPts val="300"/>
              </a:spcAft>
              <a:buSzPct val="100000"/>
              <a:buChar char="•"/>
            </a:pPr>
            <a:r>
              <a:rPr lang="en-US" sz="1100" dirty="0">
                <a:solidFill>
                  <a:srgbClr val="2B2B2B"/>
                </a:solidFill>
                <a:latin typeface="Meiryo UI" pitchFamily="34" charset="0"/>
                <a:ea typeface="Meiryo UI" pitchFamily="34" charset="-122"/>
                <a:cs typeface="Meiryo UI" pitchFamily="34" charset="-120"/>
              </a:rPr>
              <a:t>Copilot Studio／Power Automate（生成・承認）</a:t>
            </a:r>
            <a:endParaRPr lang="en-US" sz="1100" dirty="0"/>
          </a:p>
        </p:txBody>
      </p:sp>
      <p:sp>
        <p:nvSpPr>
          <p:cNvPr id="46" name="Shape 37"/>
          <p:cNvSpPr/>
          <p:nvPr/>
        </p:nvSpPr>
        <p:spPr>
          <a:xfrm>
            <a:off x="548640" y="4572000"/>
            <a:ext cx="3566160" cy="1783080"/>
          </a:xfrm>
          <a:prstGeom prst="roundRect">
            <a:avLst>
              <a:gd name="adj" fmla="val 3077"/>
            </a:avLst>
          </a:prstGeom>
          <a:solidFill>
            <a:srgbClr val="D9F2F1"/>
          </a:solidFill>
          <a:ln/>
        </p:spPr>
      </p:sp>
      <p:sp>
        <p:nvSpPr>
          <p:cNvPr id="47" name="Shape 38"/>
          <p:cNvSpPr/>
          <p:nvPr/>
        </p:nvSpPr>
        <p:spPr>
          <a:xfrm>
            <a:off x="685800" y="4690872"/>
            <a:ext cx="384048" cy="384048"/>
          </a:xfrm>
          <a:prstGeom prst="ellipse">
            <a:avLst/>
          </a:prstGeom>
          <a:solidFill>
            <a:srgbClr val="FFFFFF"/>
          </a:solidFill>
          <a:ln/>
        </p:spPr>
      </p:sp>
      <p:pic>
        <p:nvPicPr>
          <p:cNvPr id="48" name="Image 7" descr="preencoded.png">    </p:cNvPr>
          <p:cNvPicPr>
            <a:picLocks noChangeAspect="1"/>
          </p:cNvPicPr>
          <p:nvPr/>
        </p:nvPicPr>
        <p:blipFill>
          <a:blip r:embed="rId8"/>
          <a:stretch>
            <a:fillRect/>
          </a:stretch>
        </p:blipFill>
        <p:spPr>
          <a:xfrm>
            <a:off x="762610" y="4767682"/>
            <a:ext cx="230429" cy="230429"/>
          </a:xfrm>
          <a:prstGeom prst="rect">
            <a:avLst/>
          </a:prstGeom>
        </p:spPr>
      </p:pic>
      <p:sp>
        <p:nvSpPr>
          <p:cNvPr id="49" name="Text 39"/>
          <p:cNvSpPr txBox="1"/>
          <p:nvPr/>
        </p:nvSpPr>
        <p:spPr>
          <a:xfrm>
            <a:off x="1143000" y="4690872"/>
            <a:ext cx="2880360" cy="384048"/>
          </a:xfrm>
          <a:prstGeom prst="rect">
            <a:avLst/>
          </a:prstGeom>
          <a:noFill/>
          <a:ln/>
        </p:spPr>
        <p:txBody>
          <a:bodyPr wrap="square" lIns="0" tIns="0" rIns="0" bIns="0"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特徴</a:t>
            </a:r>
            <a:endParaRPr lang="en-US" sz="1300" dirty="0"/>
          </a:p>
        </p:txBody>
      </p:sp>
      <p:sp>
        <p:nvSpPr>
          <p:cNvPr id="50" name="Text 40"/>
          <p:cNvSpPr txBox="1"/>
          <p:nvPr/>
        </p:nvSpPr>
        <p:spPr>
          <a:xfrm>
            <a:off x="731520" y="5175504"/>
            <a:ext cx="3246120" cy="1088136"/>
          </a:xfrm>
          <a:prstGeom prst="rect">
            <a:avLst/>
          </a:prstGeom>
          <a:noFill/>
          <a:ln/>
        </p:spPr>
        <p:txBody>
          <a:bodyPr wrap="square" lIns="254" tIns="254" rIns="254" bIns="254" rtlCol="0" anchor="t"/>
          <a:lstStyle/>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TypeScriptでカレンダーUIを自由に作れる（既存ライブラリも使える）</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認証・ホスティング・DLPはPower Platformが担う</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キャンバスアプリより作り込みの手間が少ない</a:t>
            </a:r>
            <a:endParaRPr lang="en-US" sz="1150" dirty="0"/>
          </a:p>
        </p:txBody>
      </p:sp>
      <p:sp>
        <p:nvSpPr>
          <p:cNvPr id="51" name="Shape 41"/>
          <p:cNvSpPr/>
          <p:nvPr/>
        </p:nvSpPr>
        <p:spPr>
          <a:xfrm>
            <a:off x="4297680" y="4572000"/>
            <a:ext cx="3566160" cy="1783080"/>
          </a:xfrm>
          <a:prstGeom prst="roundRect">
            <a:avLst>
              <a:gd name="adj" fmla="val 3077"/>
            </a:avLst>
          </a:prstGeom>
          <a:solidFill>
            <a:srgbClr val="FBE3E3"/>
          </a:solidFill>
          <a:ln/>
        </p:spPr>
      </p:sp>
      <p:sp>
        <p:nvSpPr>
          <p:cNvPr id="52" name="Shape 42"/>
          <p:cNvSpPr/>
          <p:nvPr/>
        </p:nvSpPr>
        <p:spPr>
          <a:xfrm>
            <a:off x="4434840" y="4690872"/>
            <a:ext cx="384048" cy="384048"/>
          </a:xfrm>
          <a:prstGeom prst="ellipse">
            <a:avLst/>
          </a:prstGeom>
          <a:solidFill>
            <a:srgbClr val="FFFFFF"/>
          </a:solidFill>
          <a:ln/>
        </p:spPr>
      </p:sp>
      <p:pic>
        <p:nvPicPr>
          <p:cNvPr id="53" name="Image 8" descr="preencoded.png">    </p:cNvPr>
          <p:cNvPicPr>
            <a:picLocks noChangeAspect="1"/>
          </p:cNvPicPr>
          <p:nvPr/>
        </p:nvPicPr>
        <p:blipFill>
          <a:blip r:embed="rId9"/>
          <a:stretch>
            <a:fillRect/>
          </a:stretch>
        </p:blipFill>
        <p:spPr>
          <a:xfrm>
            <a:off x="4511650" y="4767682"/>
            <a:ext cx="230429" cy="230429"/>
          </a:xfrm>
          <a:prstGeom prst="rect">
            <a:avLst/>
          </a:prstGeom>
        </p:spPr>
      </p:pic>
      <p:sp>
        <p:nvSpPr>
          <p:cNvPr id="54" name="Text 43"/>
          <p:cNvSpPr txBox="1"/>
          <p:nvPr/>
        </p:nvSpPr>
        <p:spPr>
          <a:xfrm>
            <a:off x="4892040" y="4690872"/>
            <a:ext cx="2880360" cy="384048"/>
          </a:xfrm>
          <a:prstGeom prst="rect">
            <a:avLst/>
          </a:prstGeom>
          <a:noFill/>
          <a:ln/>
        </p:spPr>
        <p:txBody>
          <a:bodyPr wrap="square" lIns="0" tIns="0" rIns="0" bIns="0"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留意点・制約</a:t>
            </a:r>
            <a:endParaRPr lang="en-US" sz="1300" dirty="0"/>
          </a:p>
        </p:txBody>
      </p:sp>
      <p:sp>
        <p:nvSpPr>
          <p:cNvPr id="55" name="Text 44"/>
          <p:cNvSpPr txBox="1"/>
          <p:nvPr/>
        </p:nvSpPr>
        <p:spPr>
          <a:xfrm>
            <a:off x="4480560" y="5175504"/>
            <a:ext cx="3246120" cy="1088136"/>
          </a:xfrm>
          <a:prstGeom prst="rect">
            <a:avLst/>
          </a:prstGeom>
          <a:noFill/>
          <a:ln/>
        </p:spPr>
        <p:txBody>
          <a:bodyPr wrap="square" lIns="254" tIns="254" rIns="254" bIns="254" rtlCol="0" anchor="t"/>
          <a:lstStyle/>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利用者全員にPower Apps Premiumが必要</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コードの開発・保守が必要（属人化リスク）</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Git統合など一部の管理機能に制約がある</a:t>
            </a:r>
            <a:endParaRPr lang="en-US" sz="1150" dirty="0"/>
          </a:p>
        </p:txBody>
      </p:sp>
      <p:sp>
        <p:nvSpPr>
          <p:cNvPr id="56" name="Shape 45"/>
          <p:cNvSpPr/>
          <p:nvPr/>
        </p:nvSpPr>
        <p:spPr>
          <a:xfrm>
            <a:off x="8046720" y="4572000"/>
            <a:ext cx="3566160" cy="1783080"/>
          </a:xfrm>
          <a:prstGeom prst="roundRect">
            <a:avLst>
              <a:gd name="adj" fmla="val 3077"/>
            </a:avLst>
          </a:prstGeom>
          <a:solidFill>
            <a:srgbClr val="FDEBD3"/>
          </a:solidFill>
          <a:ln/>
        </p:spPr>
      </p:sp>
      <p:sp>
        <p:nvSpPr>
          <p:cNvPr id="57" name="Shape 46"/>
          <p:cNvSpPr/>
          <p:nvPr/>
        </p:nvSpPr>
        <p:spPr>
          <a:xfrm>
            <a:off x="8183880" y="4690872"/>
            <a:ext cx="384048" cy="384048"/>
          </a:xfrm>
          <a:prstGeom prst="ellipse">
            <a:avLst/>
          </a:prstGeom>
          <a:solidFill>
            <a:srgbClr val="FFFFFF"/>
          </a:solidFill>
          <a:ln/>
        </p:spPr>
      </p:sp>
      <p:pic>
        <p:nvPicPr>
          <p:cNvPr id="58" name="Image 9" descr="preencoded.png">    </p:cNvPr>
          <p:cNvPicPr>
            <a:picLocks noChangeAspect="1"/>
          </p:cNvPicPr>
          <p:nvPr/>
        </p:nvPicPr>
        <p:blipFill>
          <a:blip r:embed="rId10"/>
          <a:stretch>
            <a:fillRect/>
          </a:stretch>
        </p:blipFill>
        <p:spPr>
          <a:xfrm>
            <a:off x="8260690" y="4767682"/>
            <a:ext cx="230429" cy="230429"/>
          </a:xfrm>
          <a:prstGeom prst="rect">
            <a:avLst/>
          </a:prstGeom>
        </p:spPr>
      </p:pic>
      <p:sp>
        <p:nvSpPr>
          <p:cNvPr id="59" name="Text 47"/>
          <p:cNvSpPr txBox="1"/>
          <p:nvPr/>
        </p:nvSpPr>
        <p:spPr>
          <a:xfrm>
            <a:off x="8641080" y="4690872"/>
            <a:ext cx="2880360" cy="384048"/>
          </a:xfrm>
          <a:prstGeom prst="rect">
            <a:avLst/>
          </a:prstGeom>
          <a:noFill/>
          <a:ln/>
        </p:spPr>
        <p:txBody>
          <a:bodyPr wrap="square" lIns="0" tIns="0" rIns="0" bIns="0"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検討ポイント</a:t>
            </a:r>
            <a:endParaRPr lang="en-US" sz="1300" dirty="0"/>
          </a:p>
        </p:txBody>
      </p:sp>
      <p:sp>
        <p:nvSpPr>
          <p:cNvPr id="60" name="Text 48"/>
          <p:cNvSpPr txBox="1"/>
          <p:nvPr/>
        </p:nvSpPr>
        <p:spPr>
          <a:xfrm>
            <a:off x="8229600" y="5175504"/>
            <a:ext cx="3246120" cy="1088136"/>
          </a:xfrm>
          <a:prstGeom prst="rect">
            <a:avLst/>
          </a:prstGeom>
          <a:noFill/>
          <a:ln/>
        </p:spPr>
        <p:txBody>
          <a:bodyPr wrap="square" lIns="254" tIns="254" rIns="254" bIns="254" rtlCol="0" anchor="t"/>
          <a:lstStyle/>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ライセンス費（利用者数×国数）</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開発・保守の担い手</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データの置き場所（DataverseかListsか）</a:t>
            </a:r>
            <a:endParaRPr lang="en-US" sz="1150" dirty="0"/>
          </a:p>
        </p:txBody>
      </p:sp>
      <p:sp>
        <p:nvSpPr>
          <p:cNvPr id="61" name="Text 49"/>
          <p:cNvSpPr txBox="1"/>
          <p:nvPr/>
        </p:nvSpPr>
        <p:spPr>
          <a:xfrm>
            <a:off x="548640" y="6400800"/>
            <a:ext cx="10515600" cy="228600"/>
          </a:xfrm>
          <a:prstGeom prst="rect">
            <a:avLst/>
          </a:prstGeom>
          <a:noFill/>
          <a:ln/>
        </p:spPr>
        <p:txBody>
          <a:bodyPr wrap="square" lIns="0" tIns="0" rIns="0" bIns="0" rtlCol="0" anchor="t"/>
          <a:lstStyle/>
          <a:p>
            <a:pPr indent="0" marL="0">
              <a:buNone/>
            </a:pPr>
            <a:r>
              <a:rPr lang="en-US" sz="800" dirty="0">
                <a:solidFill>
                  <a:srgbClr val="6B7280"/>
                </a:solidFill>
                <a:latin typeface="Meiryo UI" pitchFamily="34" charset="0"/>
                <a:ea typeface="Meiryo UI" pitchFamily="34" charset="-122"/>
                <a:cs typeface="Meiryo UI" pitchFamily="34" charset="-120"/>
              </a:rPr>
              <a:t>難易度（★）：開発量・必要なスキル・関係する部署やシステムの数から見た相対的な目安。期間：社内で内製し、PoC後に単独で構築した場合の概算</a:t>
            </a:r>
            <a:endParaRPr lang="en-US" sz="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548640"/>
          </a:xfrm>
          <a:prstGeom prst="rect">
            <a:avLst/>
          </a:prstGeom>
          <a:noFill/>
          <a:ln/>
        </p:spPr>
        <p:txBody>
          <a:bodyPr wrap="square" lIns="0" tIns="0" rIns="0" bIns="0" rtlCol="0" anchor="ctr"/>
          <a:lstStyle/>
          <a:p>
            <a:pPr indent="0" marL="0">
              <a:buNone/>
            </a:pPr>
            <a:r>
              <a:rPr lang="en-US" sz="2600" b="1" dirty="0">
                <a:solidFill>
                  <a:srgbClr val="1B2A49"/>
                </a:solidFill>
                <a:latin typeface="Meiryo UI" pitchFamily="34" charset="0"/>
                <a:ea typeface="Meiryo UI" pitchFamily="34" charset="-122"/>
                <a:cs typeface="Meiryo UI" pitchFamily="34" charset="-120"/>
              </a:rPr>
              <a:t>A6の具体案①：構成とデータの流れ</a:t>
            </a:r>
            <a:endParaRPr lang="en-US" sz="2600" dirty="0"/>
          </a:p>
        </p:txBody>
      </p:sp>
      <p:sp>
        <p:nvSpPr>
          <p:cNvPr id="3" name="Text 1"/>
          <p:cNvSpPr txBox="1"/>
          <p:nvPr/>
        </p:nvSpPr>
        <p:spPr>
          <a:xfrm>
            <a:off x="548640" y="896112"/>
            <a:ext cx="11064240" cy="365760"/>
          </a:xfrm>
          <a:prstGeom prst="rect">
            <a:avLst/>
          </a:prstGeom>
          <a:noFill/>
          <a:ln/>
        </p:spPr>
        <p:txBody>
          <a:bodyPr wrap="square" lIns="0" tIns="0" rIns="0" bIns="0" rtlCol="0" anchor="ctr"/>
          <a:lstStyle/>
          <a:p>
            <a:pPr indent="0" marL="0">
              <a:buNone/>
            </a:pPr>
            <a:r>
              <a:rPr lang="en-US" sz="1400" dirty="0">
                <a:solidFill>
                  <a:srgbClr val="6B7280"/>
                </a:solidFill>
                <a:latin typeface="Meiryo UI" pitchFamily="34" charset="0"/>
                <a:ea typeface="Meiryo UI" pitchFamily="34" charset="-122"/>
                <a:cs typeface="Meiryo UI" pitchFamily="34" charset="-120"/>
              </a:rPr>
              <a:t>画面はcode apps、データはDataverse、推論はCopilot Studio。BigQueryからは推論に必要な部分だけを渡す</a:t>
            </a:r>
            <a:endParaRPr lang="en-US" sz="1400" dirty="0"/>
          </a:p>
        </p:txBody>
      </p:sp>
      <p:sp>
        <p:nvSpPr>
          <p:cNvPr id="4" name="Text 2"/>
          <p:cNvSpPr txBox="1"/>
          <p:nvPr/>
        </p:nvSpPr>
        <p:spPr>
          <a:xfrm>
            <a:off x="7498080" y="91440"/>
            <a:ext cx="4114800" cy="22860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4. 各パターンの詳細</a:t>
            </a:r>
            <a:endParaRPr lang="en-US" sz="900" dirty="0"/>
          </a:p>
        </p:txBody>
      </p:sp>
      <p:sp>
        <p:nvSpPr>
          <p:cNvPr id="5" name="Text 3"/>
          <p:cNvSpPr txBox="1"/>
          <p:nvPr/>
        </p:nvSpPr>
        <p:spPr>
          <a:xfrm>
            <a:off x="11247120" y="6446520"/>
            <a:ext cx="457200" cy="27432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24</a:t>
            </a:r>
            <a:endParaRPr lang="en-US" sz="900" dirty="0"/>
          </a:p>
        </p:txBody>
      </p:sp>
      <p:sp>
        <p:nvSpPr>
          <p:cNvPr id="6" name="Shape 4"/>
          <p:cNvSpPr/>
          <p:nvPr/>
        </p:nvSpPr>
        <p:spPr>
          <a:xfrm>
            <a:off x="548640" y="1371600"/>
            <a:ext cx="2560320" cy="3291840"/>
          </a:xfrm>
          <a:prstGeom prst="roundRect">
            <a:avLst>
              <a:gd name="adj" fmla="val 1786"/>
            </a:avLst>
          </a:prstGeom>
          <a:solidFill>
            <a:srgbClr val="FFFFFF"/>
          </a:solidFill>
          <a:ln w="12700">
            <a:solidFill>
              <a:srgbClr val="4285F4"/>
            </a:solidFill>
            <a:prstDash val="dash"/>
          </a:ln>
        </p:spPr>
      </p:sp>
      <p:sp>
        <p:nvSpPr>
          <p:cNvPr id="7" name="Text 5"/>
          <p:cNvSpPr txBox="1"/>
          <p:nvPr/>
        </p:nvSpPr>
        <p:spPr>
          <a:xfrm>
            <a:off x="621792" y="1389888"/>
            <a:ext cx="1828800" cy="237744"/>
          </a:xfrm>
          <a:prstGeom prst="rect">
            <a:avLst/>
          </a:prstGeom>
          <a:noFill/>
          <a:ln/>
        </p:spPr>
        <p:txBody>
          <a:bodyPr wrap="square" lIns="0" tIns="0" rIns="0" bIns="0" rtlCol="0" anchor="ctr"/>
          <a:lstStyle/>
          <a:p>
            <a:pPr indent="0" marL="0">
              <a:buNone/>
            </a:pPr>
            <a:r>
              <a:rPr lang="en-US" sz="900" b="1" dirty="0">
                <a:solidFill>
                  <a:srgbClr val="4285F4"/>
                </a:solidFill>
                <a:latin typeface="Meiryo UI" pitchFamily="34" charset="0"/>
                <a:ea typeface="Meiryo UI" pitchFamily="34" charset="-122"/>
                <a:cs typeface="Meiryo UI" pitchFamily="34" charset="-120"/>
              </a:rPr>
              <a:t>GCP</a:t>
            </a:r>
            <a:endParaRPr lang="en-US" sz="900" dirty="0"/>
          </a:p>
        </p:txBody>
      </p:sp>
      <p:sp>
        <p:nvSpPr>
          <p:cNvPr id="8" name="Shape 6"/>
          <p:cNvSpPr/>
          <p:nvPr/>
        </p:nvSpPr>
        <p:spPr>
          <a:xfrm>
            <a:off x="685800" y="1691640"/>
            <a:ext cx="2286000" cy="685800"/>
          </a:xfrm>
          <a:prstGeom prst="roundRect">
            <a:avLst>
              <a:gd name="adj" fmla="val 10667"/>
            </a:avLst>
          </a:prstGeom>
          <a:solidFill>
            <a:srgbClr val="E3EAF5"/>
          </a:solidFill>
          <a:ln/>
        </p:spPr>
      </p:sp>
      <p:pic>
        <p:nvPicPr>
          <p:cNvPr id="9" name="Image 0" descr="preencoded.png">    </p:cNvPr>
          <p:cNvPicPr>
            <a:picLocks noChangeAspect="1"/>
          </p:cNvPicPr>
          <p:nvPr/>
        </p:nvPicPr>
        <p:blipFill>
          <a:blip r:embed="rId1"/>
          <a:stretch>
            <a:fillRect/>
          </a:stretch>
        </p:blipFill>
        <p:spPr>
          <a:xfrm>
            <a:off x="795528" y="1851660"/>
            <a:ext cx="365760" cy="365760"/>
          </a:xfrm>
          <a:prstGeom prst="rect">
            <a:avLst/>
          </a:prstGeom>
        </p:spPr>
      </p:pic>
      <p:sp>
        <p:nvSpPr>
          <p:cNvPr id="10" name="Text 7"/>
          <p:cNvSpPr txBox="1"/>
          <p:nvPr/>
        </p:nvSpPr>
        <p:spPr>
          <a:xfrm>
            <a:off x="1252728" y="1691640"/>
            <a:ext cx="1673352" cy="685800"/>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BigQuery</a:t>
            </a:r>
            <a:endParaRPr lang="en-US" sz="1050" dirty="0"/>
          </a:p>
          <a:p>
            <a:pPr algn="l" indent="0" marL="0">
              <a:buNone/>
            </a:pPr>
            <a:r>
              <a:rPr lang="en-US" sz="900" dirty="0">
                <a:solidFill>
                  <a:srgbClr val="6B7280"/>
                </a:solidFill>
                <a:latin typeface="Meiryo UI" pitchFamily="34" charset="0"/>
                <a:ea typeface="Meiryo UI" pitchFamily="34" charset="-122"/>
                <a:cs typeface="Meiryo UI" pitchFamily="34" charset="-120"/>
              </a:rPr>
              <a:t>商品・売上・レビュー・天気</a:t>
            </a:r>
            <a:endParaRPr lang="en-US" sz="1050" dirty="0"/>
          </a:p>
        </p:txBody>
      </p:sp>
      <p:sp>
        <p:nvSpPr>
          <p:cNvPr id="11" name="Shape 8"/>
          <p:cNvSpPr/>
          <p:nvPr/>
        </p:nvSpPr>
        <p:spPr>
          <a:xfrm>
            <a:off x="1828800" y="2404872"/>
            <a:ext cx="0" cy="219456"/>
          </a:xfrm>
          <a:prstGeom prst="line">
            <a:avLst/>
          </a:prstGeom>
          <a:noFill/>
          <a:ln w="22225">
            <a:solidFill>
              <a:srgbClr val="9AA5B4"/>
            </a:solidFill>
            <a:prstDash val="solid"/>
            <a:tailEnd type="triangle"/>
          </a:ln>
        </p:spPr>
      </p:sp>
      <p:sp>
        <p:nvSpPr>
          <p:cNvPr id="12" name="Shape 9"/>
          <p:cNvSpPr/>
          <p:nvPr/>
        </p:nvSpPr>
        <p:spPr>
          <a:xfrm>
            <a:off x="685800" y="2651760"/>
            <a:ext cx="2286000" cy="685800"/>
          </a:xfrm>
          <a:prstGeom prst="roundRect">
            <a:avLst>
              <a:gd name="adj" fmla="val 10667"/>
            </a:avLst>
          </a:prstGeom>
          <a:solidFill>
            <a:srgbClr val="D9F2F1"/>
          </a:solidFill>
          <a:ln/>
        </p:spPr>
      </p:sp>
      <p:pic>
        <p:nvPicPr>
          <p:cNvPr id="13" name="Image 1" descr="preencoded.png">    </p:cNvPr>
          <p:cNvPicPr>
            <a:picLocks noChangeAspect="1"/>
          </p:cNvPicPr>
          <p:nvPr/>
        </p:nvPicPr>
        <p:blipFill>
          <a:blip r:embed="rId2"/>
          <a:stretch>
            <a:fillRect/>
          </a:stretch>
        </p:blipFill>
        <p:spPr>
          <a:xfrm>
            <a:off x="795528" y="2811780"/>
            <a:ext cx="365760" cy="365760"/>
          </a:xfrm>
          <a:prstGeom prst="rect">
            <a:avLst/>
          </a:prstGeom>
        </p:spPr>
      </p:pic>
      <p:sp>
        <p:nvSpPr>
          <p:cNvPr id="14" name="Text 10"/>
          <p:cNvSpPr txBox="1"/>
          <p:nvPr/>
        </p:nvSpPr>
        <p:spPr>
          <a:xfrm>
            <a:off x="1252728" y="2651760"/>
            <a:ext cx="1673352" cy="685800"/>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SQLで前処理</a:t>
            </a:r>
            <a:endParaRPr lang="en-US" sz="1050" dirty="0"/>
          </a:p>
          <a:p>
            <a:pPr algn="l" indent="0" marL="0">
              <a:buNone/>
            </a:pPr>
            <a:r>
              <a:rPr lang="en-US" sz="900" dirty="0">
                <a:solidFill>
                  <a:srgbClr val="6B7280"/>
                </a:solidFill>
                <a:latin typeface="Meiryo UI" pitchFamily="34" charset="0"/>
                <a:ea typeface="Meiryo UI" pitchFamily="34" charset="-122"/>
                <a:cs typeface="Meiryo UI" pitchFamily="34" charset="-120"/>
              </a:rPr>
              <a:t>スケジュールクエリ（日次）</a:t>
            </a:r>
            <a:endParaRPr lang="en-US" sz="1050" dirty="0"/>
          </a:p>
        </p:txBody>
      </p:sp>
      <p:sp>
        <p:nvSpPr>
          <p:cNvPr id="15" name="Shape 11"/>
          <p:cNvSpPr/>
          <p:nvPr/>
        </p:nvSpPr>
        <p:spPr>
          <a:xfrm>
            <a:off x="1828800" y="3364992"/>
            <a:ext cx="0" cy="219456"/>
          </a:xfrm>
          <a:prstGeom prst="line">
            <a:avLst/>
          </a:prstGeom>
          <a:noFill/>
          <a:ln w="22225">
            <a:solidFill>
              <a:srgbClr val="9AA5B4"/>
            </a:solidFill>
            <a:prstDash val="solid"/>
            <a:tailEnd type="triangle"/>
          </a:ln>
        </p:spPr>
      </p:sp>
      <p:sp>
        <p:nvSpPr>
          <p:cNvPr id="16" name="Shape 12"/>
          <p:cNvSpPr/>
          <p:nvPr/>
        </p:nvSpPr>
        <p:spPr>
          <a:xfrm>
            <a:off x="685800" y="3611880"/>
            <a:ext cx="2286000" cy="822960"/>
          </a:xfrm>
          <a:prstGeom prst="roundRect">
            <a:avLst>
              <a:gd name="adj" fmla="val 8889"/>
            </a:avLst>
          </a:prstGeom>
          <a:solidFill>
            <a:srgbClr val="E3EAF5"/>
          </a:solidFill>
          <a:ln/>
        </p:spPr>
      </p:sp>
      <p:pic>
        <p:nvPicPr>
          <p:cNvPr id="17" name="Image 2" descr="preencoded.png">    </p:cNvPr>
          <p:cNvPicPr>
            <a:picLocks noChangeAspect="1"/>
          </p:cNvPicPr>
          <p:nvPr/>
        </p:nvPicPr>
        <p:blipFill>
          <a:blip r:embed="rId3"/>
          <a:stretch>
            <a:fillRect/>
          </a:stretch>
        </p:blipFill>
        <p:spPr>
          <a:xfrm>
            <a:off x="795528" y="3840480"/>
            <a:ext cx="365760" cy="365760"/>
          </a:xfrm>
          <a:prstGeom prst="rect">
            <a:avLst/>
          </a:prstGeom>
        </p:spPr>
      </p:pic>
      <p:sp>
        <p:nvSpPr>
          <p:cNvPr id="18" name="Text 13"/>
          <p:cNvSpPr txBox="1"/>
          <p:nvPr/>
        </p:nvSpPr>
        <p:spPr>
          <a:xfrm>
            <a:off x="1252728" y="3611880"/>
            <a:ext cx="1673352" cy="822960"/>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推論用データ</a:t>
            </a:r>
            <a:endParaRPr lang="en-US" sz="1050" dirty="0"/>
          </a:p>
          <a:p>
            <a:pPr algn="l" indent="0" marL="0">
              <a:buNone/>
            </a:pPr>
            <a:r>
              <a:rPr lang="en-US" sz="900" dirty="0">
                <a:solidFill>
                  <a:srgbClr val="6B7280"/>
                </a:solidFill>
                <a:latin typeface="Meiryo UI" pitchFamily="34" charset="0"/>
                <a:ea typeface="Meiryo UI" pitchFamily="34" charset="-122"/>
                <a:cs typeface="Meiryo UI" pitchFamily="34" charset="-120"/>
              </a:rPr>
              <a:t>候補セット（テーブル／JSON）</a:t>
            </a:r>
            <a:endParaRPr lang="en-US" sz="1050" dirty="0"/>
          </a:p>
        </p:txBody>
      </p:sp>
      <p:sp>
        <p:nvSpPr>
          <p:cNvPr id="19" name="Text 14"/>
          <p:cNvSpPr txBox="1"/>
          <p:nvPr/>
        </p:nvSpPr>
        <p:spPr>
          <a:xfrm>
            <a:off x="3108960" y="3474720"/>
            <a:ext cx="621792" cy="457200"/>
          </a:xfrm>
          <a:prstGeom prst="rect">
            <a:avLst/>
          </a:prstGeom>
          <a:noFill/>
          <a:ln/>
        </p:spPr>
        <p:txBody>
          <a:bodyPr wrap="square" lIns="0" tIns="0" rIns="0" bIns="0" rtlCol="0" anchor="t"/>
          <a:lstStyle/>
          <a:p>
            <a:pPr algn="ctr" indent="0" marL="0">
              <a:buNone/>
            </a:pPr>
            <a:r>
              <a:rPr lang="en-US" sz="800" b="1" dirty="0">
                <a:solidFill>
                  <a:srgbClr val="1B2A49"/>
                </a:solidFill>
                <a:latin typeface="Meiryo UI" pitchFamily="34" charset="0"/>
                <a:ea typeface="Meiryo UI" pitchFamily="34" charset="-122"/>
                <a:cs typeface="Meiryo UI" pitchFamily="34" charset="-120"/>
              </a:rPr>
              <a:t>①日次で</a:t>
            </a:r>
            <a:endParaRPr lang="en-US" sz="800" dirty="0"/>
          </a:p>
          <a:p>
            <a:pPr algn="ctr" indent="0" marL="0">
              <a:buNone/>
            </a:pPr>
            <a:r>
              <a:rPr lang="en-US" sz="800" b="1" dirty="0">
                <a:solidFill>
                  <a:srgbClr val="1B2A49"/>
                </a:solidFill>
                <a:latin typeface="Meiryo UI" pitchFamily="34" charset="0"/>
                <a:ea typeface="Meiryo UI" pitchFamily="34" charset="-122"/>
                <a:cs typeface="Meiryo UI" pitchFamily="34" charset="-120"/>
              </a:rPr>
              <a:t>転送</a:t>
            </a:r>
            <a:endParaRPr lang="en-US" sz="800" dirty="0"/>
          </a:p>
        </p:txBody>
      </p:sp>
      <p:sp>
        <p:nvSpPr>
          <p:cNvPr id="20" name="Shape 15"/>
          <p:cNvSpPr/>
          <p:nvPr/>
        </p:nvSpPr>
        <p:spPr>
          <a:xfrm>
            <a:off x="3730752" y="1371600"/>
            <a:ext cx="7882128" cy="3291840"/>
          </a:xfrm>
          <a:prstGeom prst="roundRect">
            <a:avLst>
              <a:gd name="adj" fmla="val 1389"/>
            </a:avLst>
          </a:prstGeom>
          <a:solidFill>
            <a:srgbClr val="FFFFFF"/>
          </a:solidFill>
          <a:ln w="12700">
            <a:solidFill>
              <a:srgbClr val="0F6CBD"/>
            </a:solidFill>
            <a:prstDash val="dash"/>
          </a:ln>
        </p:spPr>
      </p:sp>
      <p:sp>
        <p:nvSpPr>
          <p:cNvPr id="21" name="Text 16"/>
          <p:cNvSpPr txBox="1"/>
          <p:nvPr/>
        </p:nvSpPr>
        <p:spPr>
          <a:xfrm>
            <a:off x="3803904" y="1389888"/>
            <a:ext cx="1828800" cy="237744"/>
          </a:xfrm>
          <a:prstGeom prst="rect">
            <a:avLst/>
          </a:prstGeom>
          <a:noFill/>
          <a:ln/>
        </p:spPr>
        <p:txBody>
          <a:bodyPr wrap="square" lIns="0" tIns="0" rIns="0" bIns="0" rtlCol="0" anchor="ctr"/>
          <a:lstStyle/>
          <a:p>
            <a:pPr indent="0" marL="0">
              <a:buNone/>
            </a:pPr>
            <a:r>
              <a:rPr lang="en-US" sz="900" b="1" dirty="0">
                <a:solidFill>
                  <a:srgbClr val="0F6CBD"/>
                </a:solidFill>
                <a:latin typeface="Meiryo UI" pitchFamily="34" charset="0"/>
                <a:ea typeface="Meiryo UI" pitchFamily="34" charset="-122"/>
                <a:cs typeface="Meiryo UI" pitchFamily="34" charset="-120"/>
              </a:rPr>
              <a:t>Power Platform／M365</a:t>
            </a:r>
            <a:endParaRPr lang="en-US" sz="900" dirty="0"/>
          </a:p>
        </p:txBody>
      </p:sp>
      <p:sp>
        <p:nvSpPr>
          <p:cNvPr id="22" name="Shape 17"/>
          <p:cNvSpPr/>
          <p:nvPr/>
        </p:nvSpPr>
        <p:spPr>
          <a:xfrm>
            <a:off x="3017520" y="3995928"/>
            <a:ext cx="841248" cy="0"/>
          </a:xfrm>
          <a:prstGeom prst="line">
            <a:avLst/>
          </a:prstGeom>
          <a:noFill/>
          <a:ln w="31750">
            <a:solidFill>
              <a:srgbClr val="1B2A49"/>
            </a:solidFill>
            <a:prstDash val="solid"/>
            <a:tailEnd type="triangle"/>
          </a:ln>
        </p:spPr>
      </p:sp>
      <p:sp>
        <p:nvSpPr>
          <p:cNvPr id="23" name="Shape 18"/>
          <p:cNvSpPr/>
          <p:nvPr/>
        </p:nvSpPr>
        <p:spPr>
          <a:xfrm>
            <a:off x="3886200" y="3566160"/>
            <a:ext cx="2103120" cy="868680"/>
          </a:xfrm>
          <a:prstGeom prst="roundRect">
            <a:avLst>
              <a:gd name="adj" fmla="val 8421"/>
            </a:avLst>
          </a:prstGeom>
          <a:solidFill>
            <a:srgbClr val="E3EAF5"/>
          </a:solidFill>
          <a:ln/>
        </p:spPr>
      </p:sp>
      <p:pic>
        <p:nvPicPr>
          <p:cNvPr id="24" name="Image 3" descr="preencoded.png">    </p:cNvPr>
          <p:cNvPicPr>
            <a:picLocks noChangeAspect="1"/>
          </p:cNvPicPr>
          <p:nvPr/>
        </p:nvPicPr>
        <p:blipFill>
          <a:blip r:embed="rId4"/>
          <a:stretch>
            <a:fillRect/>
          </a:stretch>
        </p:blipFill>
        <p:spPr>
          <a:xfrm>
            <a:off x="3995928" y="3817620"/>
            <a:ext cx="365760" cy="365760"/>
          </a:xfrm>
          <a:prstGeom prst="rect">
            <a:avLst/>
          </a:prstGeom>
        </p:spPr>
      </p:pic>
      <p:sp>
        <p:nvSpPr>
          <p:cNvPr id="25" name="Text 19"/>
          <p:cNvSpPr txBox="1"/>
          <p:nvPr/>
        </p:nvSpPr>
        <p:spPr>
          <a:xfrm>
            <a:off x="4453128" y="3566160"/>
            <a:ext cx="1490472" cy="868680"/>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Dataverse</a:t>
            </a:r>
            <a:endParaRPr lang="en-US" sz="1050" dirty="0"/>
          </a:p>
          <a:p>
            <a:pPr algn="l" indent="0" marL="0">
              <a:buNone/>
            </a:pPr>
            <a:r>
              <a:rPr lang="en-US" sz="850" dirty="0">
                <a:solidFill>
                  <a:srgbClr val="6B7280"/>
                </a:solidFill>
                <a:latin typeface="Meiryo UI" pitchFamily="34" charset="0"/>
                <a:ea typeface="Meiryo UI" pitchFamily="34" charset="-122"/>
                <a:cs typeface="Meiryo UI" pitchFamily="34" charset="-120"/>
              </a:rPr>
              <a:t>カード（確定）・検討中の下書き・履歴・候補セット</a:t>
            </a:r>
            <a:endParaRPr lang="en-US" sz="1050" dirty="0"/>
          </a:p>
        </p:txBody>
      </p:sp>
      <p:sp>
        <p:nvSpPr>
          <p:cNvPr id="26" name="Shape 20"/>
          <p:cNvSpPr/>
          <p:nvPr/>
        </p:nvSpPr>
        <p:spPr>
          <a:xfrm>
            <a:off x="6263640" y="1691640"/>
            <a:ext cx="2377440" cy="1143000"/>
          </a:xfrm>
          <a:prstGeom prst="roundRect">
            <a:avLst>
              <a:gd name="adj" fmla="val 6400"/>
            </a:avLst>
          </a:prstGeom>
          <a:solidFill>
            <a:srgbClr val="FDEBD3"/>
          </a:solidFill>
          <a:ln/>
        </p:spPr>
      </p:sp>
      <p:pic>
        <p:nvPicPr>
          <p:cNvPr id="27" name="Image 4" descr="preencoded.png">    </p:cNvPr>
          <p:cNvPicPr>
            <a:picLocks noChangeAspect="1"/>
          </p:cNvPicPr>
          <p:nvPr/>
        </p:nvPicPr>
        <p:blipFill>
          <a:blip r:embed="rId5"/>
          <a:stretch>
            <a:fillRect/>
          </a:stretch>
        </p:blipFill>
        <p:spPr>
          <a:xfrm>
            <a:off x="6373368" y="2080260"/>
            <a:ext cx="365760" cy="365760"/>
          </a:xfrm>
          <a:prstGeom prst="rect">
            <a:avLst/>
          </a:prstGeom>
        </p:spPr>
      </p:pic>
      <p:sp>
        <p:nvSpPr>
          <p:cNvPr id="28" name="Text 21"/>
          <p:cNvSpPr txBox="1"/>
          <p:nvPr/>
        </p:nvSpPr>
        <p:spPr>
          <a:xfrm>
            <a:off x="6830568" y="1691640"/>
            <a:ext cx="1764792" cy="1143000"/>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code app</a:t>
            </a:r>
            <a:endParaRPr lang="en-US" sz="1050" dirty="0"/>
          </a:p>
          <a:p>
            <a:pPr algn="l" indent="0" marL="0">
              <a:buNone/>
            </a:pPr>
            <a:r>
              <a:rPr lang="en-US" sz="850" dirty="0">
                <a:solidFill>
                  <a:srgbClr val="6B7280"/>
                </a:solidFill>
                <a:latin typeface="Meiryo UI" pitchFamily="34" charset="0"/>
                <a:ea typeface="Meiryo UI" pitchFamily="34" charset="-122"/>
                <a:cs typeface="Meiryo UI" pitchFamily="34" charset="-120"/>
              </a:rPr>
              <a:t>カレンダー・入れ替え・プレビュー・チャット</a:t>
            </a:r>
            <a:endParaRPr lang="en-US" sz="1050" dirty="0"/>
          </a:p>
        </p:txBody>
      </p:sp>
      <p:sp>
        <p:nvSpPr>
          <p:cNvPr id="29" name="Shape 22"/>
          <p:cNvSpPr/>
          <p:nvPr/>
        </p:nvSpPr>
        <p:spPr>
          <a:xfrm>
            <a:off x="9006840" y="1691640"/>
            <a:ext cx="2468880" cy="1143000"/>
          </a:xfrm>
          <a:prstGeom prst="roundRect">
            <a:avLst>
              <a:gd name="adj" fmla="val 6400"/>
            </a:avLst>
          </a:prstGeom>
          <a:solidFill>
            <a:srgbClr val="0E9F9A"/>
          </a:solidFill>
          <a:ln/>
        </p:spPr>
      </p:sp>
      <p:sp>
        <p:nvSpPr>
          <p:cNvPr id="30" name="Shape 23"/>
          <p:cNvSpPr/>
          <p:nvPr/>
        </p:nvSpPr>
        <p:spPr>
          <a:xfrm>
            <a:off x="9079992" y="2007108"/>
            <a:ext cx="512064" cy="512064"/>
          </a:xfrm>
          <a:prstGeom prst="ellipse">
            <a:avLst/>
          </a:prstGeom>
          <a:solidFill>
            <a:srgbClr val="FFFFFF"/>
          </a:solidFill>
          <a:ln/>
        </p:spPr>
      </p:sp>
      <p:pic>
        <p:nvPicPr>
          <p:cNvPr id="31" name="Image 5" descr="preencoded.png">    </p:cNvPr>
          <p:cNvPicPr>
            <a:picLocks noChangeAspect="1"/>
          </p:cNvPicPr>
          <p:nvPr/>
        </p:nvPicPr>
        <p:blipFill>
          <a:blip r:embed="rId6"/>
          <a:stretch>
            <a:fillRect/>
          </a:stretch>
        </p:blipFill>
        <p:spPr>
          <a:xfrm>
            <a:off x="9153144" y="2080260"/>
            <a:ext cx="365760" cy="365760"/>
          </a:xfrm>
          <a:prstGeom prst="rect">
            <a:avLst/>
          </a:prstGeom>
        </p:spPr>
      </p:pic>
      <p:sp>
        <p:nvSpPr>
          <p:cNvPr id="32" name="Text 24"/>
          <p:cNvSpPr txBox="1"/>
          <p:nvPr/>
        </p:nvSpPr>
        <p:spPr>
          <a:xfrm>
            <a:off x="9738360" y="1691640"/>
            <a:ext cx="1691640" cy="1143000"/>
          </a:xfrm>
          <a:prstGeom prst="rect">
            <a:avLst/>
          </a:prstGeom>
          <a:noFill/>
          <a:ln/>
        </p:spPr>
        <p:txBody>
          <a:bodyPr wrap="square" lIns="0" tIns="0" rIns="0" bIns="0" rtlCol="0" anchor="ctr"/>
          <a:lstStyle/>
          <a:p>
            <a:pPr algn="l" indent="0" marL="0">
              <a:buNone/>
            </a:pPr>
            <a:r>
              <a:rPr lang="en-US" sz="1050" b="1" dirty="0">
                <a:solidFill>
                  <a:srgbClr val="FFFFFF"/>
                </a:solidFill>
                <a:latin typeface="Meiryo UI" pitchFamily="34" charset="0"/>
                <a:ea typeface="Meiryo UI" pitchFamily="34" charset="-122"/>
                <a:cs typeface="Meiryo UI" pitchFamily="34" charset="-120"/>
              </a:rPr>
              <a:t>Copilot Studio</a:t>
            </a:r>
            <a:endParaRPr lang="en-US" sz="1050" dirty="0"/>
          </a:p>
          <a:p>
            <a:pPr algn="l" indent="0" marL="0">
              <a:buNone/>
            </a:pPr>
            <a:r>
              <a:rPr lang="en-US" sz="850" dirty="0">
                <a:solidFill>
                  <a:srgbClr val="E6F2F2"/>
                </a:solidFill>
                <a:latin typeface="Meiryo UI" pitchFamily="34" charset="0"/>
                <a:ea typeface="Meiryo UI" pitchFamily="34" charset="-122"/>
                <a:cs typeface="Meiryo UI" pitchFamily="34" charset="-120"/>
              </a:rPr>
              <a:t>エージェント（JSONで下書きを返す）</a:t>
            </a:r>
            <a:endParaRPr lang="en-US" sz="1050" dirty="0"/>
          </a:p>
        </p:txBody>
      </p:sp>
      <p:sp>
        <p:nvSpPr>
          <p:cNvPr id="33" name="Shape 25"/>
          <p:cNvSpPr/>
          <p:nvPr/>
        </p:nvSpPr>
        <p:spPr>
          <a:xfrm>
            <a:off x="9006840" y="3566160"/>
            <a:ext cx="2468880" cy="868680"/>
          </a:xfrm>
          <a:prstGeom prst="roundRect">
            <a:avLst>
              <a:gd name="adj" fmla="val 8421"/>
            </a:avLst>
          </a:prstGeom>
          <a:solidFill>
            <a:srgbClr val="E3EAF5"/>
          </a:solidFill>
          <a:ln/>
        </p:spPr>
      </p:sp>
      <p:pic>
        <p:nvPicPr>
          <p:cNvPr id="34" name="Image 6" descr="preencoded.png">    </p:cNvPr>
          <p:cNvPicPr>
            <a:picLocks noChangeAspect="1"/>
          </p:cNvPicPr>
          <p:nvPr/>
        </p:nvPicPr>
        <p:blipFill>
          <a:blip r:embed="rId7"/>
          <a:stretch>
            <a:fillRect/>
          </a:stretch>
        </p:blipFill>
        <p:spPr>
          <a:xfrm>
            <a:off x="9116568" y="3817620"/>
            <a:ext cx="365760" cy="365760"/>
          </a:xfrm>
          <a:prstGeom prst="rect">
            <a:avLst/>
          </a:prstGeom>
        </p:spPr>
      </p:pic>
      <p:sp>
        <p:nvSpPr>
          <p:cNvPr id="35" name="Text 26"/>
          <p:cNvSpPr txBox="1"/>
          <p:nvPr/>
        </p:nvSpPr>
        <p:spPr>
          <a:xfrm>
            <a:off x="9573768" y="3566160"/>
            <a:ext cx="1856232" cy="868680"/>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SharePoint</a:t>
            </a:r>
            <a:endParaRPr lang="en-US" sz="1050" dirty="0"/>
          </a:p>
          <a:p>
            <a:pPr algn="l" indent="0" marL="0">
              <a:buNone/>
            </a:pPr>
            <a:r>
              <a:rPr lang="en-US" sz="850" dirty="0">
                <a:solidFill>
                  <a:srgbClr val="6B7280"/>
                </a:solidFill>
                <a:latin typeface="Meiryo UI" pitchFamily="34" charset="0"/>
                <a:ea typeface="Meiryo UI" pitchFamily="34" charset="-122"/>
                <a:cs typeface="Meiryo UI" pitchFamily="34" charset="-120"/>
              </a:rPr>
              <a:t>ポリシー・ガイドライン・好事例</a:t>
            </a:r>
            <a:endParaRPr lang="en-US" sz="1050" dirty="0"/>
          </a:p>
        </p:txBody>
      </p:sp>
      <p:sp>
        <p:nvSpPr>
          <p:cNvPr id="36" name="Shape 27"/>
          <p:cNvSpPr/>
          <p:nvPr/>
        </p:nvSpPr>
        <p:spPr>
          <a:xfrm>
            <a:off x="6263640" y="3566160"/>
            <a:ext cx="2377440" cy="868680"/>
          </a:xfrm>
          <a:prstGeom prst="roundRect">
            <a:avLst>
              <a:gd name="adj" fmla="val 8421"/>
            </a:avLst>
          </a:prstGeom>
          <a:solidFill>
            <a:srgbClr val="FDEBD3"/>
          </a:solidFill>
          <a:ln/>
        </p:spPr>
      </p:sp>
      <p:pic>
        <p:nvPicPr>
          <p:cNvPr id="37" name="Image 7" descr="preencoded.png">    </p:cNvPr>
          <p:cNvPicPr>
            <a:picLocks noChangeAspect="1"/>
          </p:cNvPicPr>
          <p:nvPr/>
        </p:nvPicPr>
        <p:blipFill>
          <a:blip r:embed="rId8"/>
          <a:stretch>
            <a:fillRect/>
          </a:stretch>
        </p:blipFill>
        <p:spPr>
          <a:xfrm>
            <a:off x="6373368" y="3817620"/>
            <a:ext cx="365760" cy="365760"/>
          </a:xfrm>
          <a:prstGeom prst="rect">
            <a:avLst/>
          </a:prstGeom>
        </p:spPr>
      </p:pic>
      <p:sp>
        <p:nvSpPr>
          <p:cNvPr id="38" name="Text 28"/>
          <p:cNvSpPr txBox="1"/>
          <p:nvPr/>
        </p:nvSpPr>
        <p:spPr>
          <a:xfrm>
            <a:off x="6830568" y="3566160"/>
            <a:ext cx="1764792" cy="868680"/>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Teams</a:t>
            </a:r>
            <a:endParaRPr lang="en-US" sz="1050" dirty="0"/>
          </a:p>
          <a:p>
            <a:pPr algn="l" indent="0" marL="0">
              <a:buNone/>
            </a:pPr>
            <a:r>
              <a:rPr lang="en-US" sz="850" dirty="0">
                <a:solidFill>
                  <a:srgbClr val="6B7280"/>
                </a:solidFill>
                <a:latin typeface="Meiryo UI" pitchFamily="34" charset="0"/>
                <a:ea typeface="Meiryo UI" pitchFamily="34" charset="-122"/>
                <a:cs typeface="Meiryo UI" pitchFamily="34" charset="-120"/>
              </a:rPr>
              <a:t>通知・承認・簡単な問い合わせ</a:t>
            </a:r>
            <a:endParaRPr lang="en-US" sz="1050" dirty="0"/>
          </a:p>
        </p:txBody>
      </p:sp>
      <p:sp>
        <p:nvSpPr>
          <p:cNvPr id="39" name="Shape 29"/>
          <p:cNvSpPr/>
          <p:nvPr/>
        </p:nvSpPr>
        <p:spPr>
          <a:xfrm flipV="1">
            <a:off x="4937760" y="2880360"/>
            <a:ext cx="1417320" cy="640080"/>
          </a:xfrm>
          <a:prstGeom prst="line">
            <a:avLst/>
          </a:prstGeom>
          <a:noFill/>
          <a:ln w="22225">
            <a:solidFill>
              <a:srgbClr val="9AA5B4"/>
            </a:solidFill>
            <a:prstDash val="solid"/>
            <a:headEnd type="triangle"/>
            <a:tailEnd type="triangle"/>
          </a:ln>
        </p:spPr>
      </p:sp>
      <p:sp>
        <p:nvSpPr>
          <p:cNvPr id="40" name="Text 30"/>
          <p:cNvSpPr txBox="1"/>
          <p:nvPr/>
        </p:nvSpPr>
        <p:spPr>
          <a:xfrm>
            <a:off x="4617720" y="2743200"/>
            <a:ext cx="1188720" cy="411480"/>
          </a:xfrm>
          <a:prstGeom prst="rect">
            <a:avLst/>
          </a:prstGeom>
          <a:noFill/>
          <a:ln/>
        </p:spPr>
        <p:txBody>
          <a:bodyPr wrap="square" lIns="0" tIns="0" rIns="0" bIns="0" rtlCol="0" anchor="t"/>
          <a:lstStyle/>
          <a:p>
            <a:pPr algn="ctr" indent="0" marL="0">
              <a:buNone/>
            </a:pPr>
            <a:r>
              <a:rPr lang="en-US" sz="800" dirty="0">
                <a:solidFill>
                  <a:srgbClr val="6B7280"/>
                </a:solidFill>
                <a:latin typeface="Meiryo UI" pitchFamily="34" charset="0"/>
                <a:ea typeface="Meiryo UI" pitchFamily="34" charset="-122"/>
                <a:cs typeface="Meiryo UI" pitchFamily="34" charset="-120"/>
              </a:rPr>
              <a:t>②③カードと</a:t>
            </a:r>
            <a:endParaRPr lang="en-US" sz="800" dirty="0"/>
          </a:p>
          <a:p>
            <a:pPr algn="ctr" indent="0" marL="0">
              <a:buNone/>
            </a:pPr>
            <a:r>
              <a:rPr lang="en-US" sz="800" dirty="0">
                <a:solidFill>
                  <a:srgbClr val="6B7280"/>
                </a:solidFill>
                <a:latin typeface="Meiryo UI" pitchFamily="34" charset="0"/>
                <a:ea typeface="Meiryo UI" pitchFamily="34" charset="-122"/>
                <a:cs typeface="Meiryo UI" pitchFamily="34" charset="-120"/>
              </a:rPr>
              <a:t>候補を読込</a:t>
            </a:r>
            <a:endParaRPr lang="en-US" sz="800" dirty="0"/>
          </a:p>
        </p:txBody>
      </p:sp>
      <p:sp>
        <p:nvSpPr>
          <p:cNvPr id="41" name="Shape 31"/>
          <p:cNvSpPr/>
          <p:nvPr/>
        </p:nvSpPr>
        <p:spPr>
          <a:xfrm>
            <a:off x="8686800" y="2258568"/>
            <a:ext cx="274320" cy="0"/>
          </a:xfrm>
          <a:prstGeom prst="line">
            <a:avLst/>
          </a:prstGeom>
          <a:noFill/>
          <a:ln w="22225">
            <a:solidFill>
              <a:srgbClr val="9AA5B4"/>
            </a:solidFill>
            <a:prstDash val="solid"/>
            <a:headEnd type="triangle"/>
            <a:tailEnd type="triangle"/>
          </a:ln>
        </p:spPr>
      </p:sp>
      <p:sp>
        <p:nvSpPr>
          <p:cNvPr id="42" name="Text 32"/>
          <p:cNvSpPr txBox="1"/>
          <p:nvPr/>
        </p:nvSpPr>
        <p:spPr>
          <a:xfrm>
            <a:off x="8183880" y="1417320"/>
            <a:ext cx="1280160" cy="228600"/>
          </a:xfrm>
          <a:prstGeom prst="rect">
            <a:avLst/>
          </a:prstGeom>
          <a:noFill/>
          <a:ln/>
        </p:spPr>
        <p:txBody>
          <a:bodyPr wrap="square" lIns="0" tIns="0" rIns="0" bIns="0" rtlCol="0" anchor="t"/>
          <a:lstStyle/>
          <a:p>
            <a:pPr algn="ctr" indent="0" marL="0">
              <a:buNone/>
            </a:pPr>
            <a:r>
              <a:rPr lang="en-US" sz="800" dirty="0">
                <a:solidFill>
                  <a:srgbClr val="6B7280"/>
                </a:solidFill>
                <a:latin typeface="Meiryo UI" pitchFamily="34" charset="0"/>
                <a:ea typeface="Meiryo UI" pitchFamily="34" charset="-122"/>
                <a:cs typeface="Meiryo UI" pitchFamily="34" charset="-120"/>
              </a:rPr>
              <a:t>③依頼／④下書き</a:t>
            </a:r>
            <a:endParaRPr lang="en-US" sz="800" dirty="0"/>
          </a:p>
        </p:txBody>
      </p:sp>
      <p:sp>
        <p:nvSpPr>
          <p:cNvPr id="43" name="Shape 33"/>
          <p:cNvSpPr/>
          <p:nvPr/>
        </p:nvSpPr>
        <p:spPr>
          <a:xfrm flipV="1">
            <a:off x="10241280" y="2880360"/>
            <a:ext cx="0" cy="640080"/>
          </a:xfrm>
          <a:prstGeom prst="line">
            <a:avLst/>
          </a:prstGeom>
          <a:noFill/>
          <a:ln w="22225">
            <a:solidFill>
              <a:srgbClr val="9AA5B4"/>
            </a:solidFill>
            <a:prstDash val="solid"/>
            <a:tailEnd type="triangle"/>
          </a:ln>
        </p:spPr>
      </p:sp>
      <p:sp>
        <p:nvSpPr>
          <p:cNvPr id="44" name="Text 34"/>
          <p:cNvSpPr txBox="1"/>
          <p:nvPr/>
        </p:nvSpPr>
        <p:spPr>
          <a:xfrm>
            <a:off x="10314432" y="3063240"/>
            <a:ext cx="731520" cy="274320"/>
          </a:xfrm>
          <a:prstGeom prst="rect">
            <a:avLst/>
          </a:prstGeom>
          <a:noFill/>
          <a:ln/>
        </p:spPr>
        <p:txBody>
          <a:bodyPr wrap="square" lIns="0" tIns="0" rIns="0" bIns="0" rtlCol="0" anchor="t"/>
          <a:lstStyle/>
          <a:p>
            <a:pPr indent="0" marL="0">
              <a:buNone/>
            </a:pPr>
            <a:r>
              <a:rPr lang="en-US" sz="800" dirty="0">
                <a:solidFill>
                  <a:srgbClr val="6B7280"/>
                </a:solidFill>
                <a:latin typeface="Meiryo UI" pitchFamily="34" charset="0"/>
                <a:ea typeface="Meiryo UI" pitchFamily="34" charset="-122"/>
                <a:cs typeface="Meiryo UI" pitchFamily="34" charset="-120"/>
              </a:rPr>
              <a:t>ナレッジ</a:t>
            </a:r>
            <a:endParaRPr lang="en-US" sz="800" dirty="0"/>
          </a:p>
        </p:txBody>
      </p:sp>
      <p:sp>
        <p:nvSpPr>
          <p:cNvPr id="45" name="Shape 35"/>
          <p:cNvSpPr/>
          <p:nvPr/>
        </p:nvSpPr>
        <p:spPr>
          <a:xfrm>
            <a:off x="7452360" y="2880360"/>
            <a:ext cx="0" cy="640080"/>
          </a:xfrm>
          <a:prstGeom prst="line">
            <a:avLst/>
          </a:prstGeom>
          <a:noFill/>
          <a:ln w="22225">
            <a:solidFill>
              <a:srgbClr val="9AA5B4"/>
            </a:solidFill>
            <a:prstDash val="solid"/>
            <a:tailEnd type="triangle"/>
          </a:ln>
        </p:spPr>
      </p:sp>
      <p:sp>
        <p:nvSpPr>
          <p:cNvPr id="46" name="Text 36"/>
          <p:cNvSpPr txBox="1"/>
          <p:nvPr/>
        </p:nvSpPr>
        <p:spPr>
          <a:xfrm>
            <a:off x="7516368" y="3063240"/>
            <a:ext cx="1097280" cy="274320"/>
          </a:xfrm>
          <a:prstGeom prst="rect">
            <a:avLst/>
          </a:prstGeom>
          <a:noFill/>
          <a:ln/>
        </p:spPr>
        <p:txBody>
          <a:bodyPr wrap="square" lIns="0" tIns="0" rIns="0" bIns="0" rtlCol="0" anchor="t"/>
          <a:lstStyle/>
          <a:p>
            <a:pPr indent="0" marL="0">
              <a:buNone/>
            </a:pPr>
            <a:r>
              <a:rPr lang="en-US" sz="800" dirty="0">
                <a:solidFill>
                  <a:srgbClr val="6B7280"/>
                </a:solidFill>
                <a:latin typeface="Meiryo UI" pitchFamily="34" charset="0"/>
                <a:ea typeface="Meiryo UI" pitchFamily="34" charset="-122"/>
                <a:cs typeface="Meiryo UI" pitchFamily="34" charset="-120"/>
              </a:rPr>
              <a:t>⑥通知・承認</a:t>
            </a:r>
            <a:endParaRPr lang="en-US" sz="800" dirty="0"/>
          </a:p>
        </p:txBody>
      </p:sp>
      <p:sp>
        <p:nvSpPr>
          <p:cNvPr id="47" name="Shape 37"/>
          <p:cNvSpPr/>
          <p:nvPr/>
        </p:nvSpPr>
        <p:spPr>
          <a:xfrm>
            <a:off x="548640" y="4800600"/>
            <a:ext cx="1755648" cy="1097280"/>
          </a:xfrm>
          <a:prstGeom prst="roundRect">
            <a:avLst>
              <a:gd name="adj" fmla="val 5000"/>
            </a:avLst>
          </a:prstGeom>
          <a:solidFill>
            <a:srgbClr val="F3F5F8"/>
          </a:solidFill>
          <a:ln/>
        </p:spPr>
      </p:sp>
      <p:sp>
        <p:nvSpPr>
          <p:cNvPr id="48" name="Shape 38"/>
          <p:cNvSpPr/>
          <p:nvPr/>
        </p:nvSpPr>
        <p:spPr>
          <a:xfrm>
            <a:off x="640080" y="4873752"/>
            <a:ext cx="310896" cy="310896"/>
          </a:xfrm>
          <a:prstGeom prst="ellipse">
            <a:avLst/>
          </a:prstGeom>
          <a:solidFill>
            <a:srgbClr val="1B2A49"/>
          </a:solidFill>
          <a:ln/>
        </p:spPr>
      </p:sp>
      <p:sp>
        <p:nvSpPr>
          <p:cNvPr id="49" name="Text 39"/>
          <p:cNvSpPr txBox="1"/>
          <p:nvPr/>
        </p:nvSpPr>
        <p:spPr>
          <a:xfrm>
            <a:off x="640080" y="487375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①</a:t>
            </a:r>
            <a:endParaRPr lang="en-US" sz="1100" dirty="0"/>
          </a:p>
        </p:txBody>
      </p:sp>
      <p:sp>
        <p:nvSpPr>
          <p:cNvPr id="50" name="Text 40"/>
          <p:cNvSpPr txBox="1"/>
          <p:nvPr/>
        </p:nvSpPr>
        <p:spPr>
          <a:xfrm>
            <a:off x="640080" y="5212080"/>
            <a:ext cx="1591056" cy="658368"/>
          </a:xfrm>
          <a:prstGeom prst="rect">
            <a:avLst/>
          </a:prstGeom>
          <a:noFill/>
          <a:ln/>
        </p:spPr>
        <p:txBody>
          <a:bodyPr wrap="square" lIns="0" tIns="0" rIns="0" bIns="0" rtlCol="0" anchor="t"/>
          <a:lstStyle/>
          <a:p>
            <a:pPr indent="0" marL="0">
              <a:buNone/>
            </a:pPr>
            <a:r>
              <a:rPr lang="en-US" sz="900" dirty="0">
                <a:solidFill>
                  <a:srgbClr val="2B2B2B"/>
                </a:solidFill>
                <a:latin typeface="Meiryo UI" pitchFamily="34" charset="0"/>
                <a:ea typeface="Meiryo UI" pitchFamily="34" charset="-122"/>
                <a:cs typeface="Meiryo UI" pitchFamily="34" charset="-120"/>
              </a:rPr>
              <a:t>日次：BigQueryで候補セットを作り、Dataverseに取り込む</a:t>
            </a:r>
            <a:endParaRPr lang="en-US" sz="900" dirty="0"/>
          </a:p>
        </p:txBody>
      </p:sp>
      <p:sp>
        <p:nvSpPr>
          <p:cNvPr id="51" name="Shape 41"/>
          <p:cNvSpPr/>
          <p:nvPr/>
        </p:nvSpPr>
        <p:spPr>
          <a:xfrm>
            <a:off x="2414016" y="4800600"/>
            <a:ext cx="1755648" cy="1097280"/>
          </a:xfrm>
          <a:prstGeom prst="roundRect">
            <a:avLst>
              <a:gd name="adj" fmla="val 5000"/>
            </a:avLst>
          </a:prstGeom>
          <a:solidFill>
            <a:srgbClr val="F3F5F8"/>
          </a:solidFill>
          <a:ln/>
        </p:spPr>
      </p:sp>
      <p:sp>
        <p:nvSpPr>
          <p:cNvPr id="52" name="Shape 42"/>
          <p:cNvSpPr/>
          <p:nvPr/>
        </p:nvSpPr>
        <p:spPr>
          <a:xfrm>
            <a:off x="2505456" y="4873752"/>
            <a:ext cx="310896" cy="310896"/>
          </a:xfrm>
          <a:prstGeom prst="ellipse">
            <a:avLst/>
          </a:prstGeom>
          <a:solidFill>
            <a:srgbClr val="1B2A49"/>
          </a:solidFill>
          <a:ln/>
        </p:spPr>
      </p:sp>
      <p:sp>
        <p:nvSpPr>
          <p:cNvPr id="53" name="Text 43"/>
          <p:cNvSpPr txBox="1"/>
          <p:nvPr/>
        </p:nvSpPr>
        <p:spPr>
          <a:xfrm>
            <a:off x="2505456" y="487375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②</a:t>
            </a:r>
            <a:endParaRPr lang="en-US" sz="1100" dirty="0"/>
          </a:p>
        </p:txBody>
      </p:sp>
      <p:sp>
        <p:nvSpPr>
          <p:cNvPr id="54" name="Text 44"/>
          <p:cNvSpPr txBox="1"/>
          <p:nvPr/>
        </p:nvSpPr>
        <p:spPr>
          <a:xfrm>
            <a:off x="2505456" y="5212080"/>
            <a:ext cx="1591056" cy="658368"/>
          </a:xfrm>
          <a:prstGeom prst="rect">
            <a:avLst/>
          </a:prstGeom>
          <a:noFill/>
          <a:ln/>
        </p:spPr>
        <p:txBody>
          <a:bodyPr wrap="square" lIns="0" tIns="0" rIns="0" bIns="0" rtlCol="0" anchor="t"/>
          <a:lstStyle/>
          <a:p>
            <a:pPr indent="0" marL="0">
              <a:buNone/>
            </a:pPr>
            <a:r>
              <a:rPr lang="en-US" sz="900" dirty="0">
                <a:solidFill>
                  <a:srgbClr val="2B2B2B"/>
                </a:solidFill>
                <a:latin typeface="Meiryo UI" pitchFamily="34" charset="0"/>
                <a:ea typeface="Meiryo UI" pitchFamily="34" charset="-122"/>
                <a:cs typeface="Meiryo UI" pitchFamily="34" charset="-120"/>
              </a:rPr>
              <a:t>配信日ごとにカードを作成しておく</a:t>
            </a:r>
            <a:endParaRPr lang="en-US" sz="900" dirty="0"/>
          </a:p>
        </p:txBody>
      </p:sp>
      <p:sp>
        <p:nvSpPr>
          <p:cNvPr id="55" name="Shape 45"/>
          <p:cNvSpPr/>
          <p:nvPr/>
        </p:nvSpPr>
        <p:spPr>
          <a:xfrm>
            <a:off x="4279392" y="4800600"/>
            <a:ext cx="1755648" cy="1097280"/>
          </a:xfrm>
          <a:prstGeom prst="roundRect">
            <a:avLst>
              <a:gd name="adj" fmla="val 5000"/>
            </a:avLst>
          </a:prstGeom>
          <a:solidFill>
            <a:srgbClr val="F3F5F8"/>
          </a:solidFill>
          <a:ln/>
        </p:spPr>
      </p:sp>
      <p:sp>
        <p:nvSpPr>
          <p:cNvPr id="56" name="Shape 46"/>
          <p:cNvSpPr/>
          <p:nvPr/>
        </p:nvSpPr>
        <p:spPr>
          <a:xfrm>
            <a:off x="4370832" y="4873752"/>
            <a:ext cx="310896" cy="310896"/>
          </a:xfrm>
          <a:prstGeom prst="ellipse">
            <a:avLst/>
          </a:prstGeom>
          <a:solidFill>
            <a:srgbClr val="1B2A49"/>
          </a:solidFill>
          <a:ln/>
        </p:spPr>
      </p:sp>
      <p:sp>
        <p:nvSpPr>
          <p:cNvPr id="57" name="Text 47"/>
          <p:cNvSpPr txBox="1"/>
          <p:nvPr/>
        </p:nvSpPr>
        <p:spPr>
          <a:xfrm>
            <a:off x="4370832" y="487375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③</a:t>
            </a:r>
            <a:endParaRPr lang="en-US" sz="1100" dirty="0"/>
          </a:p>
        </p:txBody>
      </p:sp>
      <p:sp>
        <p:nvSpPr>
          <p:cNvPr id="58" name="Text 48"/>
          <p:cNvSpPr txBox="1"/>
          <p:nvPr/>
        </p:nvSpPr>
        <p:spPr>
          <a:xfrm>
            <a:off x="4370832" y="5212080"/>
            <a:ext cx="1591056" cy="658368"/>
          </a:xfrm>
          <a:prstGeom prst="rect">
            <a:avLst/>
          </a:prstGeom>
          <a:noFill/>
          <a:ln/>
        </p:spPr>
        <p:txBody>
          <a:bodyPr wrap="square" lIns="0" tIns="0" rIns="0" bIns="0" rtlCol="0" anchor="t"/>
          <a:lstStyle/>
          <a:p>
            <a:pPr indent="0" marL="0">
              <a:buNone/>
            </a:pPr>
            <a:r>
              <a:rPr lang="en-US" sz="900" dirty="0">
                <a:solidFill>
                  <a:srgbClr val="2B2B2B"/>
                </a:solidFill>
                <a:latin typeface="Meiryo UI" pitchFamily="34" charset="0"/>
                <a:ea typeface="Meiryo UI" pitchFamily="34" charset="-122"/>
                <a:cs typeface="Meiryo UI" pitchFamily="34" charset="-120"/>
              </a:rPr>
              <a:t>code appから起案を依頼（カード＋候補セットを入力として渡す）</a:t>
            </a:r>
            <a:endParaRPr lang="en-US" sz="900" dirty="0"/>
          </a:p>
        </p:txBody>
      </p:sp>
      <p:sp>
        <p:nvSpPr>
          <p:cNvPr id="59" name="Shape 49"/>
          <p:cNvSpPr/>
          <p:nvPr/>
        </p:nvSpPr>
        <p:spPr>
          <a:xfrm>
            <a:off x="6144768" y="4800600"/>
            <a:ext cx="1755648" cy="1097280"/>
          </a:xfrm>
          <a:prstGeom prst="roundRect">
            <a:avLst>
              <a:gd name="adj" fmla="val 5000"/>
            </a:avLst>
          </a:prstGeom>
          <a:solidFill>
            <a:srgbClr val="F3F5F8"/>
          </a:solidFill>
          <a:ln/>
        </p:spPr>
      </p:sp>
      <p:sp>
        <p:nvSpPr>
          <p:cNvPr id="60" name="Shape 50"/>
          <p:cNvSpPr/>
          <p:nvPr/>
        </p:nvSpPr>
        <p:spPr>
          <a:xfrm>
            <a:off x="6236208" y="4873752"/>
            <a:ext cx="310896" cy="310896"/>
          </a:xfrm>
          <a:prstGeom prst="ellipse">
            <a:avLst/>
          </a:prstGeom>
          <a:solidFill>
            <a:srgbClr val="1B2A49"/>
          </a:solidFill>
          <a:ln/>
        </p:spPr>
      </p:sp>
      <p:sp>
        <p:nvSpPr>
          <p:cNvPr id="61" name="Text 51"/>
          <p:cNvSpPr txBox="1"/>
          <p:nvPr/>
        </p:nvSpPr>
        <p:spPr>
          <a:xfrm>
            <a:off x="6236208" y="487375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④</a:t>
            </a:r>
            <a:endParaRPr lang="en-US" sz="1100" dirty="0"/>
          </a:p>
        </p:txBody>
      </p:sp>
      <p:sp>
        <p:nvSpPr>
          <p:cNvPr id="62" name="Text 52"/>
          <p:cNvSpPr txBox="1"/>
          <p:nvPr/>
        </p:nvSpPr>
        <p:spPr>
          <a:xfrm>
            <a:off x="6236208" y="5212080"/>
            <a:ext cx="1591056" cy="658368"/>
          </a:xfrm>
          <a:prstGeom prst="rect">
            <a:avLst/>
          </a:prstGeom>
          <a:noFill/>
          <a:ln/>
        </p:spPr>
        <p:txBody>
          <a:bodyPr wrap="square" lIns="0" tIns="0" rIns="0" bIns="0" rtlCol="0" anchor="t"/>
          <a:lstStyle/>
          <a:p>
            <a:pPr indent="0" marL="0">
              <a:buNone/>
            </a:pPr>
            <a:r>
              <a:rPr lang="en-US" sz="900" dirty="0">
                <a:solidFill>
                  <a:srgbClr val="2B2B2B"/>
                </a:solidFill>
                <a:latin typeface="Meiryo UI" pitchFamily="34" charset="0"/>
                <a:ea typeface="Meiryo UI" pitchFamily="34" charset="-122"/>
                <a:cs typeface="Meiryo UI" pitchFamily="34" charset="-120"/>
              </a:rPr>
              <a:t>エージェントが社内資料を参照し、JSONで下書きを返す</a:t>
            </a:r>
            <a:endParaRPr lang="en-US" sz="900" dirty="0"/>
          </a:p>
        </p:txBody>
      </p:sp>
      <p:sp>
        <p:nvSpPr>
          <p:cNvPr id="63" name="Shape 53"/>
          <p:cNvSpPr/>
          <p:nvPr/>
        </p:nvSpPr>
        <p:spPr>
          <a:xfrm>
            <a:off x="8010144" y="4800600"/>
            <a:ext cx="1755648" cy="1097280"/>
          </a:xfrm>
          <a:prstGeom prst="roundRect">
            <a:avLst>
              <a:gd name="adj" fmla="val 5000"/>
            </a:avLst>
          </a:prstGeom>
          <a:solidFill>
            <a:srgbClr val="FDEBD3"/>
          </a:solidFill>
          <a:ln/>
        </p:spPr>
      </p:sp>
      <p:sp>
        <p:nvSpPr>
          <p:cNvPr id="64" name="Shape 54"/>
          <p:cNvSpPr/>
          <p:nvPr/>
        </p:nvSpPr>
        <p:spPr>
          <a:xfrm>
            <a:off x="8101584" y="4873752"/>
            <a:ext cx="310896" cy="310896"/>
          </a:xfrm>
          <a:prstGeom prst="ellipse">
            <a:avLst/>
          </a:prstGeom>
          <a:solidFill>
            <a:srgbClr val="E8912D"/>
          </a:solidFill>
          <a:ln/>
        </p:spPr>
      </p:sp>
      <p:sp>
        <p:nvSpPr>
          <p:cNvPr id="65" name="Text 55"/>
          <p:cNvSpPr txBox="1"/>
          <p:nvPr/>
        </p:nvSpPr>
        <p:spPr>
          <a:xfrm>
            <a:off x="8101584" y="487375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⑤</a:t>
            </a:r>
            <a:endParaRPr lang="en-US" sz="1100" dirty="0"/>
          </a:p>
        </p:txBody>
      </p:sp>
      <p:sp>
        <p:nvSpPr>
          <p:cNvPr id="66" name="Text 56"/>
          <p:cNvSpPr txBox="1"/>
          <p:nvPr/>
        </p:nvSpPr>
        <p:spPr>
          <a:xfrm>
            <a:off x="8101584" y="5212080"/>
            <a:ext cx="1591056" cy="658368"/>
          </a:xfrm>
          <a:prstGeom prst="rect">
            <a:avLst/>
          </a:prstGeom>
          <a:noFill/>
          <a:ln/>
        </p:spPr>
        <p:txBody>
          <a:bodyPr wrap="square" lIns="0" tIns="0" rIns="0" bIns="0" rtlCol="0" anchor="t"/>
          <a:lstStyle/>
          <a:p>
            <a:pPr indent="0" marL="0">
              <a:buNone/>
            </a:pPr>
            <a:r>
              <a:rPr lang="en-US" sz="900" dirty="0">
                <a:solidFill>
                  <a:srgbClr val="2B2B2B"/>
                </a:solidFill>
                <a:latin typeface="Meiryo UI" pitchFamily="34" charset="0"/>
                <a:ea typeface="Meiryo UI" pitchFamily="34" charset="-122"/>
                <a:cs typeface="Meiryo UI" pitchFamily="34" charset="-120"/>
              </a:rPr>
              <a:t>工程ごとのレイヤーで修正・入れ替え→下書きを更新して再依頼</a:t>
            </a:r>
            <a:endParaRPr lang="en-US" sz="900" dirty="0"/>
          </a:p>
        </p:txBody>
      </p:sp>
      <p:sp>
        <p:nvSpPr>
          <p:cNvPr id="67" name="Shape 57"/>
          <p:cNvSpPr/>
          <p:nvPr/>
        </p:nvSpPr>
        <p:spPr>
          <a:xfrm>
            <a:off x="9875520" y="4800600"/>
            <a:ext cx="1755648" cy="1097280"/>
          </a:xfrm>
          <a:prstGeom prst="roundRect">
            <a:avLst>
              <a:gd name="adj" fmla="val 5000"/>
            </a:avLst>
          </a:prstGeom>
          <a:solidFill>
            <a:srgbClr val="F3F5F8"/>
          </a:solidFill>
          <a:ln/>
        </p:spPr>
      </p:sp>
      <p:sp>
        <p:nvSpPr>
          <p:cNvPr id="68" name="Shape 58"/>
          <p:cNvSpPr/>
          <p:nvPr/>
        </p:nvSpPr>
        <p:spPr>
          <a:xfrm>
            <a:off x="9966960" y="4873752"/>
            <a:ext cx="310896" cy="310896"/>
          </a:xfrm>
          <a:prstGeom prst="ellipse">
            <a:avLst/>
          </a:prstGeom>
          <a:solidFill>
            <a:srgbClr val="1B2A49"/>
          </a:solidFill>
          <a:ln/>
        </p:spPr>
      </p:sp>
      <p:sp>
        <p:nvSpPr>
          <p:cNvPr id="69" name="Text 59"/>
          <p:cNvSpPr txBox="1"/>
          <p:nvPr/>
        </p:nvSpPr>
        <p:spPr>
          <a:xfrm>
            <a:off x="9966960" y="487375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⑥</a:t>
            </a:r>
            <a:endParaRPr lang="en-US" sz="1100" dirty="0"/>
          </a:p>
        </p:txBody>
      </p:sp>
      <p:sp>
        <p:nvSpPr>
          <p:cNvPr id="70" name="Text 60"/>
          <p:cNvSpPr txBox="1"/>
          <p:nvPr/>
        </p:nvSpPr>
        <p:spPr>
          <a:xfrm>
            <a:off x="9966960" y="5212080"/>
            <a:ext cx="1591056" cy="658368"/>
          </a:xfrm>
          <a:prstGeom prst="rect">
            <a:avLst/>
          </a:prstGeom>
          <a:noFill/>
          <a:ln/>
        </p:spPr>
        <p:txBody>
          <a:bodyPr wrap="square" lIns="0" tIns="0" rIns="0" bIns="0" rtlCol="0" anchor="t"/>
          <a:lstStyle/>
          <a:p>
            <a:pPr indent="0" marL="0">
              <a:buNone/>
            </a:pPr>
            <a:r>
              <a:rPr lang="en-US" sz="900" dirty="0">
                <a:solidFill>
                  <a:srgbClr val="2B2B2B"/>
                </a:solidFill>
                <a:latin typeface="Meiryo UI" pitchFamily="34" charset="0"/>
                <a:ea typeface="Meiryo UI" pitchFamily="34" charset="-122"/>
                <a:cs typeface="Meiryo UI" pitchFamily="34" charset="-120"/>
              </a:rPr>
              <a:t>確定したらカードに反映し、Teamsで通知・承認</a:t>
            </a:r>
            <a:endParaRPr lang="en-US" sz="900" dirty="0"/>
          </a:p>
        </p:txBody>
      </p:sp>
      <p:sp>
        <p:nvSpPr>
          <p:cNvPr id="71" name="Text 61"/>
          <p:cNvSpPr txBox="1"/>
          <p:nvPr/>
        </p:nvSpPr>
        <p:spPr>
          <a:xfrm>
            <a:off x="548640" y="5961888"/>
            <a:ext cx="11064240" cy="411480"/>
          </a:xfrm>
          <a:prstGeom prst="rect">
            <a:avLst/>
          </a:prstGeom>
          <a:noFill/>
          <a:ln/>
        </p:spPr>
        <p:txBody>
          <a:bodyPr wrap="square" lIns="0" tIns="0" rIns="0" bIns="0" rtlCol="0" anchor="t"/>
          <a:lstStyle/>
          <a:p>
            <a:pPr indent="0" marL="0">
              <a:buNone/>
            </a:pPr>
            <a:r>
              <a:rPr lang="en-US" sz="900" dirty="0">
                <a:solidFill>
                  <a:srgbClr val="6B7280"/>
                </a:solidFill>
                <a:latin typeface="Meiryo UI" pitchFamily="34" charset="0"/>
                <a:ea typeface="Meiryo UI" pitchFamily="34" charset="-122"/>
                <a:cs typeface="Meiryo UI" pitchFamily="34" charset="-120"/>
              </a:rPr>
              <a:t>推論用データはDataverseのテーブルでも、BigQueryから出力したJSONファイルでもよい。どちらの場合も、該当部分をプロンプトに直接渡すと確実（検索任せにしない）。会話の文脈は、アプリが毎回「下書き＋指示＋やり取り」として送る</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548640"/>
          </a:xfrm>
          <a:prstGeom prst="rect">
            <a:avLst/>
          </a:prstGeom>
          <a:noFill/>
          <a:ln/>
        </p:spPr>
        <p:txBody>
          <a:bodyPr wrap="square" lIns="0" tIns="0" rIns="0" bIns="0" rtlCol="0" anchor="ctr"/>
          <a:lstStyle/>
          <a:p>
            <a:pPr indent="0" marL="0">
              <a:buNone/>
            </a:pPr>
            <a:r>
              <a:rPr lang="en-US" sz="2600" b="1" dirty="0">
                <a:solidFill>
                  <a:srgbClr val="1B2A49"/>
                </a:solidFill>
                <a:latin typeface="Meiryo UI" pitchFamily="34" charset="0"/>
                <a:ea typeface="Meiryo UI" pitchFamily="34" charset="-122"/>
                <a:cs typeface="Meiryo UI" pitchFamily="34" charset="-120"/>
              </a:rPr>
              <a:t>A6の具体案②：画面イメージ（工程ごとのレイヤー）</a:t>
            </a:r>
            <a:endParaRPr lang="en-US" sz="2600" dirty="0"/>
          </a:p>
        </p:txBody>
      </p:sp>
      <p:sp>
        <p:nvSpPr>
          <p:cNvPr id="3" name="Text 1"/>
          <p:cNvSpPr txBox="1"/>
          <p:nvPr/>
        </p:nvSpPr>
        <p:spPr>
          <a:xfrm>
            <a:off x="548640" y="896112"/>
            <a:ext cx="11064240" cy="365760"/>
          </a:xfrm>
          <a:prstGeom prst="rect">
            <a:avLst/>
          </a:prstGeom>
          <a:noFill/>
          <a:ln/>
        </p:spPr>
        <p:txBody>
          <a:bodyPr wrap="square" lIns="0" tIns="0" rIns="0" bIns="0" rtlCol="0" anchor="ctr"/>
          <a:lstStyle/>
          <a:p>
            <a:pPr indent="0" marL="0">
              <a:buNone/>
            </a:pPr>
            <a:r>
              <a:rPr lang="en-US" sz="1400" dirty="0">
                <a:solidFill>
                  <a:srgbClr val="6B7280"/>
                </a:solidFill>
                <a:latin typeface="Meiryo UI" pitchFamily="34" charset="0"/>
                <a:ea typeface="Meiryo UI" pitchFamily="34" charset="-122"/>
                <a:cs typeface="Meiryo UI" pitchFamily="34" charset="-120"/>
              </a:rPr>
              <a:t>カードには確定した情報だけを表示し、決めるプロセスは工程ごとに前面に開くレイヤーで行う（検討用のイメージ）</a:t>
            </a:r>
            <a:endParaRPr lang="en-US" sz="1400" dirty="0"/>
          </a:p>
        </p:txBody>
      </p:sp>
      <p:sp>
        <p:nvSpPr>
          <p:cNvPr id="4" name="Text 2"/>
          <p:cNvSpPr txBox="1"/>
          <p:nvPr/>
        </p:nvSpPr>
        <p:spPr>
          <a:xfrm>
            <a:off x="7498080" y="91440"/>
            <a:ext cx="4114800" cy="22860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4. 各パターンの詳細</a:t>
            </a:r>
            <a:endParaRPr lang="en-US" sz="900" dirty="0"/>
          </a:p>
        </p:txBody>
      </p:sp>
      <p:sp>
        <p:nvSpPr>
          <p:cNvPr id="5" name="Text 3"/>
          <p:cNvSpPr txBox="1"/>
          <p:nvPr/>
        </p:nvSpPr>
        <p:spPr>
          <a:xfrm>
            <a:off x="11247120" y="6446520"/>
            <a:ext cx="457200" cy="27432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25</a:t>
            </a:r>
            <a:endParaRPr lang="en-US" sz="900" dirty="0"/>
          </a:p>
        </p:txBody>
      </p:sp>
      <p:sp>
        <p:nvSpPr>
          <p:cNvPr id="6" name="Shape 4"/>
          <p:cNvSpPr/>
          <p:nvPr/>
        </p:nvSpPr>
        <p:spPr>
          <a:xfrm>
            <a:off x="548640" y="1325880"/>
            <a:ext cx="11064240" cy="4663440"/>
          </a:xfrm>
          <a:prstGeom prst="roundRect">
            <a:avLst>
              <a:gd name="adj" fmla="val 980"/>
            </a:avLst>
          </a:prstGeom>
          <a:solidFill>
            <a:srgbClr val="FFFFFF"/>
          </a:solidFill>
          <a:ln w="12700">
            <a:solidFill>
              <a:srgbClr val="D5DBE3"/>
            </a:solidFill>
            <a:prstDash val="solid"/>
          </a:ln>
          <a:effectLst>
            <a:outerShdw sx="100000" sy="100000" kx="0" ky="0" algn="bl" rotWithShape="0" blurRad="50800" dist="19050" dir="5400000">
              <a:srgbClr val="000000">
                <a:alpha val="12000"/>
              </a:srgbClr>
            </a:outerShdw>
          </a:effectLst>
        </p:spPr>
      </p:sp>
      <p:sp>
        <p:nvSpPr>
          <p:cNvPr id="7" name="Shape 5"/>
          <p:cNvSpPr/>
          <p:nvPr/>
        </p:nvSpPr>
        <p:spPr>
          <a:xfrm>
            <a:off x="548640" y="1325880"/>
            <a:ext cx="11064240" cy="310896"/>
          </a:xfrm>
          <a:prstGeom prst="rect">
            <a:avLst/>
          </a:prstGeom>
          <a:solidFill>
            <a:srgbClr val="1B2A49"/>
          </a:solidFill>
          <a:ln/>
        </p:spPr>
      </p:sp>
      <p:sp>
        <p:nvSpPr>
          <p:cNvPr id="8" name="Shape 6"/>
          <p:cNvSpPr/>
          <p:nvPr/>
        </p:nvSpPr>
        <p:spPr>
          <a:xfrm>
            <a:off x="685800" y="1426464"/>
            <a:ext cx="109728" cy="109728"/>
          </a:xfrm>
          <a:prstGeom prst="ellipse">
            <a:avLst/>
          </a:prstGeom>
          <a:solidFill>
            <a:srgbClr val="FF6B6B"/>
          </a:solidFill>
          <a:ln/>
        </p:spPr>
      </p:sp>
      <p:sp>
        <p:nvSpPr>
          <p:cNvPr id="9" name="Shape 7"/>
          <p:cNvSpPr/>
          <p:nvPr/>
        </p:nvSpPr>
        <p:spPr>
          <a:xfrm>
            <a:off x="868680" y="1426464"/>
            <a:ext cx="109728" cy="109728"/>
          </a:xfrm>
          <a:prstGeom prst="ellipse">
            <a:avLst/>
          </a:prstGeom>
          <a:solidFill>
            <a:srgbClr val="FFD166"/>
          </a:solidFill>
          <a:ln/>
        </p:spPr>
      </p:sp>
      <p:sp>
        <p:nvSpPr>
          <p:cNvPr id="10" name="Shape 8"/>
          <p:cNvSpPr/>
          <p:nvPr/>
        </p:nvSpPr>
        <p:spPr>
          <a:xfrm>
            <a:off x="1051560" y="1426464"/>
            <a:ext cx="109728" cy="109728"/>
          </a:xfrm>
          <a:prstGeom prst="ellipse">
            <a:avLst/>
          </a:prstGeom>
          <a:solidFill>
            <a:srgbClr val="06D6A0"/>
          </a:solidFill>
          <a:ln/>
        </p:spPr>
      </p:sp>
      <p:sp>
        <p:nvSpPr>
          <p:cNvPr id="11" name="Text 9"/>
          <p:cNvSpPr txBox="1"/>
          <p:nvPr/>
        </p:nvSpPr>
        <p:spPr>
          <a:xfrm>
            <a:off x="1371600" y="1325880"/>
            <a:ext cx="5486400" cy="310896"/>
          </a:xfrm>
          <a:prstGeom prst="rect">
            <a:avLst/>
          </a:prstGeom>
          <a:noFill/>
          <a:ln/>
        </p:spPr>
        <p:txBody>
          <a:bodyPr wrap="square" lIns="0" tIns="0" rIns="0" bIns="0" rtlCol="0" anchor="ctr"/>
          <a:lstStyle/>
          <a:p>
            <a:pPr indent="0" marL="0">
              <a:buNone/>
            </a:pPr>
            <a:r>
              <a:rPr lang="en-US" sz="950" b="1" dirty="0">
                <a:solidFill>
                  <a:srgbClr val="FFFFFF"/>
                </a:solidFill>
                <a:latin typeface="Meiryo UI" pitchFamily="34" charset="0"/>
                <a:ea typeface="Meiryo UI" pitchFamily="34" charset="-122"/>
                <a:cs typeface="Meiryo UI" pitchFamily="34" charset="-120"/>
              </a:rPr>
              <a:t>配信コンテンツ企画（code app）</a:t>
            </a:r>
            <a:endParaRPr lang="en-US" sz="950" dirty="0"/>
          </a:p>
        </p:txBody>
      </p:sp>
      <p:sp>
        <p:nvSpPr>
          <p:cNvPr id="12" name="Text 10"/>
          <p:cNvSpPr txBox="1"/>
          <p:nvPr/>
        </p:nvSpPr>
        <p:spPr>
          <a:xfrm>
            <a:off x="685800" y="1737360"/>
            <a:ext cx="1737360" cy="237744"/>
          </a:xfrm>
          <a:prstGeom prst="rect">
            <a:avLst/>
          </a:prstGeom>
          <a:noFill/>
          <a:ln/>
        </p:spPr>
        <p:txBody>
          <a:bodyPr wrap="square" lIns="0" tIns="0" rIns="0" bIns="0" rtlCol="0" anchor="ctr"/>
          <a:lstStyle/>
          <a:p>
            <a:pPr indent="0" marL="0">
              <a:buNone/>
            </a:pPr>
            <a:r>
              <a:rPr lang="en-US" sz="900" b="1" dirty="0">
                <a:solidFill>
                  <a:srgbClr val="1B2A49"/>
                </a:solidFill>
                <a:latin typeface="Meiryo UI" pitchFamily="34" charset="0"/>
                <a:ea typeface="Meiryo UI" pitchFamily="34" charset="-122"/>
                <a:cs typeface="Meiryo UI" pitchFamily="34" charset="-120"/>
              </a:rPr>
              <a:t>2026年10月｜日本</a:t>
            </a:r>
            <a:endParaRPr lang="en-US" sz="900" dirty="0"/>
          </a:p>
        </p:txBody>
      </p:sp>
      <p:sp>
        <p:nvSpPr>
          <p:cNvPr id="13" name="Shape 11"/>
          <p:cNvSpPr/>
          <p:nvPr/>
        </p:nvSpPr>
        <p:spPr>
          <a:xfrm>
            <a:off x="1600200" y="2029968"/>
            <a:ext cx="210312" cy="201168"/>
          </a:xfrm>
          <a:prstGeom prst="roundRect">
            <a:avLst>
              <a:gd name="adj" fmla="val 9091"/>
            </a:avLst>
          </a:prstGeom>
          <a:solidFill>
            <a:srgbClr val="F3F5F8"/>
          </a:solidFill>
          <a:ln/>
        </p:spPr>
      </p:sp>
      <p:sp>
        <p:nvSpPr>
          <p:cNvPr id="14" name="Shape 12"/>
          <p:cNvSpPr/>
          <p:nvPr/>
        </p:nvSpPr>
        <p:spPr>
          <a:xfrm>
            <a:off x="1828800" y="2029968"/>
            <a:ext cx="210312" cy="201168"/>
          </a:xfrm>
          <a:prstGeom prst="roundRect">
            <a:avLst>
              <a:gd name="adj" fmla="val 9091"/>
            </a:avLst>
          </a:prstGeom>
          <a:solidFill>
            <a:srgbClr val="F3F5F8"/>
          </a:solidFill>
          <a:ln/>
        </p:spPr>
      </p:sp>
      <p:sp>
        <p:nvSpPr>
          <p:cNvPr id="15" name="Shape 13"/>
          <p:cNvSpPr/>
          <p:nvPr/>
        </p:nvSpPr>
        <p:spPr>
          <a:xfrm>
            <a:off x="2057400" y="2029968"/>
            <a:ext cx="210312" cy="201168"/>
          </a:xfrm>
          <a:prstGeom prst="roundRect">
            <a:avLst>
              <a:gd name="adj" fmla="val 9091"/>
            </a:avLst>
          </a:prstGeom>
          <a:solidFill>
            <a:srgbClr val="F3F5F8"/>
          </a:solidFill>
          <a:ln/>
        </p:spPr>
      </p:sp>
      <p:sp>
        <p:nvSpPr>
          <p:cNvPr id="16" name="Shape 14"/>
          <p:cNvSpPr/>
          <p:nvPr/>
        </p:nvSpPr>
        <p:spPr>
          <a:xfrm>
            <a:off x="685800" y="2249424"/>
            <a:ext cx="210312" cy="201168"/>
          </a:xfrm>
          <a:prstGeom prst="roundRect">
            <a:avLst>
              <a:gd name="adj" fmla="val 9091"/>
            </a:avLst>
          </a:prstGeom>
          <a:solidFill>
            <a:srgbClr val="F3F5F8"/>
          </a:solidFill>
          <a:ln/>
        </p:spPr>
      </p:sp>
      <p:sp>
        <p:nvSpPr>
          <p:cNvPr id="17" name="Shape 15"/>
          <p:cNvSpPr/>
          <p:nvPr/>
        </p:nvSpPr>
        <p:spPr>
          <a:xfrm>
            <a:off x="914400" y="2249424"/>
            <a:ext cx="210312" cy="201168"/>
          </a:xfrm>
          <a:prstGeom prst="roundRect">
            <a:avLst>
              <a:gd name="adj" fmla="val 9091"/>
            </a:avLst>
          </a:prstGeom>
          <a:solidFill>
            <a:srgbClr val="D9F2F1"/>
          </a:solidFill>
          <a:ln w="12700">
            <a:solidFill>
              <a:srgbClr val="0E9F9A"/>
            </a:solidFill>
            <a:prstDash val="solid"/>
          </a:ln>
        </p:spPr>
      </p:sp>
      <p:sp>
        <p:nvSpPr>
          <p:cNvPr id="18" name="Shape 16"/>
          <p:cNvSpPr/>
          <p:nvPr/>
        </p:nvSpPr>
        <p:spPr>
          <a:xfrm>
            <a:off x="1143000" y="2249424"/>
            <a:ext cx="210312" cy="201168"/>
          </a:xfrm>
          <a:prstGeom prst="roundRect">
            <a:avLst>
              <a:gd name="adj" fmla="val 9091"/>
            </a:avLst>
          </a:prstGeom>
          <a:solidFill>
            <a:srgbClr val="F3F5F8"/>
          </a:solidFill>
          <a:ln/>
        </p:spPr>
      </p:sp>
      <p:sp>
        <p:nvSpPr>
          <p:cNvPr id="19" name="Shape 17"/>
          <p:cNvSpPr/>
          <p:nvPr/>
        </p:nvSpPr>
        <p:spPr>
          <a:xfrm>
            <a:off x="1371600" y="2249424"/>
            <a:ext cx="210312" cy="201168"/>
          </a:xfrm>
          <a:prstGeom prst="roundRect">
            <a:avLst>
              <a:gd name="adj" fmla="val 9091"/>
            </a:avLst>
          </a:prstGeom>
          <a:solidFill>
            <a:srgbClr val="F3F5F8"/>
          </a:solidFill>
          <a:ln/>
        </p:spPr>
      </p:sp>
      <p:sp>
        <p:nvSpPr>
          <p:cNvPr id="20" name="Shape 18"/>
          <p:cNvSpPr/>
          <p:nvPr/>
        </p:nvSpPr>
        <p:spPr>
          <a:xfrm>
            <a:off x="1600200" y="2249424"/>
            <a:ext cx="210312" cy="201168"/>
          </a:xfrm>
          <a:prstGeom prst="roundRect">
            <a:avLst>
              <a:gd name="adj" fmla="val 9091"/>
            </a:avLst>
          </a:prstGeom>
          <a:solidFill>
            <a:srgbClr val="F3F5F8"/>
          </a:solidFill>
          <a:ln/>
        </p:spPr>
      </p:sp>
      <p:sp>
        <p:nvSpPr>
          <p:cNvPr id="21" name="Shape 19"/>
          <p:cNvSpPr/>
          <p:nvPr/>
        </p:nvSpPr>
        <p:spPr>
          <a:xfrm>
            <a:off x="1828800" y="2249424"/>
            <a:ext cx="210312" cy="201168"/>
          </a:xfrm>
          <a:prstGeom prst="roundRect">
            <a:avLst>
              <a:gd name="adj" fmla="val 9091"/>
            </a:avLst>
          </a:prstGeom>
          <a:solidFill>
            <a:srgbClr val="F3F5F8"/>
          </a:solidFill>
          <a:ln/>
        </p:spPr>
      </p:sp>
      <p:sp>
        <p:nvSpPr>
          <p:cNvPr id="22" name="Shape 20"/>
          <p:cNvSpPr/>
          <p:nvPr/>
        </p:nvSpPr>
        <p:spPr>
          <a:xfrm>
            <a:off x="2057400" y="2249424"/>
            <a:ext cx="210312" cy="201168"/>
          </a:xfrm>
          <a:prstGeom prst="roundRect">
            <a:avLst>
              <a:gd name="adj" fmla="val 9091"/>
            </a:avLst>
          </a:prstGeom>
          <a:solidFill>
            <a:srgbClr val="F3F5F8"/>
          </a:solidFill>
          <a:ln/>
        </p:spPr>
      </p:sp>
      <p:sp>
        <p:nvSpPr>
          <p:cNvPr id="23" name="Shape 21"/>
          <p:cNvSpPr/>
          <p:nvPr/>
        </p:nvSpPr>
        <p:spPr>
          <a:xfrm>
            <a:off x="685800" y="2468880"/>
            <a:ext cx="210312" cy="201168"/>
          </a:xfrm>
          <a:prstGeom prst="roundRect">
            <a:avLst>
              <a:gd name="adj" fmla="val 9091"/>
            </a:avLst>
          </a:prstGeom>
          <a:solidFill>
            <a:srgbClr val="F3F5F8"/>
          </a:solidFill>
          <a:ln/>
        </p:spPr>
      </p:sp>
      <p:sp>
        <p:nvSpPr>
          <p:cNvPr id="24" name="Shape 22"/>
          <p:cNvSpPr/>
          <p:nvPr/>
        </p:nvSpPr>
        <p:spPr>
          <a:xfrm>
            <a:off x="914400" y="2468880"/>
            <a:ext cx="210312" cy="201168"/>
          </a:xfrm>
          <a:prstGeom prst="roundRect">
            <a:avLst>
              <a:gd name="adj" fmla="val 9091"/>
            </a:avLst>
          </a:prstGeom>
          <a:solidFill>
            <a:srgbClr val="F3F5F8"/>
          </a:solidFill>
          <a:ln/>
        </p:spPr>
      </p:sp>
      <p:sp>
        <p:nvSpPr>
          <p:cNvPr id="25" name="Shape 23"/>
          <p:cNvSpPr/>
          <p:nvPr/>
        </p:nvSpPr>
        <p:spPr>
          <a:xfrm>
            <a:off x="1143000" y="2468880"/>
            <a:ext cx="210312" cy="201168"/>
          </a:xfrm>
          <a:prstGeom prst="roundRect">
            <a:avLst>
              <a:gd name="adj" fmla="val 9091"/>
            </a:avLst>
          </a:prstGeom>
          <a:solidFill>
            <a:srgbClr val="F3F5F8"/>
          </a:solidFill>
          <a:ln/>
        </p:spPr>
      </p:sp>
      <p:sp>
        <p:nvSpPr>
          <p:cNvPr id="26" name="Shape 24"/>
          <p:cNvSpPr/>
          <p:nvPr/>
        </p:nvSpPr>
        <p:spPr>
          <a:xfrm>
            <a:off x="1371600" y="2468880"/>
            <a:ext cx="210312" cy="201168"/>
          </a:xfrm>
          <a:prstGeom prst="roundRect">
            <a:avLst>
              <a:gd name="adj" fmla="val 9091"/>
            </a:avLst>
          </a:prstGeom>
          <a:solidFill>
            <a:srgbClr val="F3F5F8"/>
          </a:solidFill>
          <a:ln/>
        </p:spPr>
      </p:sp>
      <p:sp>
        <p:nvSpPr>
          <p:cNvPr id="27" name="Shape 25"/>
          <p:cNvSpPr/>
          <p:nvPr/>
        </p:nvSpPr>
        <p:spPr>
          <a:xfrm>
            <a:off x="1600200" y="2468880"/>
            <a:ext cx="210312" cy="201168"/>
          </a:xfrm>
          <a:prstGeom prst="roundRect">
            <a:avLst>
              <a:gd name="adj" fmla="val 9091"/>
            </a:avLst>
          </a:prstGeom>
          <a:solidFill>
            <a:srgbClr val="F3F5F8"/>
          </a:solidFill>
          <a:ln/>
        </p:spPr>
      </p:sp>
      <p:sp>
        <p:nvSpPr>
          <p:cNvPr id="28" name="Shape 26"/>
          <p:cNvSpPr/>
          <p:nvPr/>
        </p:nvSpPr>
        <p:spPr>
          <a:xfrm>
            <a:off x="1828800" y="2468880"/>
            <a:ext cx="210312" cy="201168"/>
          </a:xfrm>
          <a:prstGeom prst="roundRect">
            <a:avLst>
              <a:gd name="adj" fmla="val 9091"/>
            </a:avLst>
          </a:prstGeom>
          <a:solidFill>
            <a:srgbClr val="F3F5F8"/>
          </a:solidFill>
          <a:ln/>
        </p:spPr>
      </p:sp>
      <p:sp>
        <p:nvSpPr>
          <p:cNvPr id="29" name="Shape 27"/>
          <p:cNvSpPr/>
          <p:nvPr/>
        </p:nvSpPr>
        <p:spPr>
          <a:xfrm>
            <a:off x="2057400" y="2468880"/>
            <a:ext cx="210312" cy="201168"/>
          </a:xfrm>
          <a:prstGeom prst="roundRect">
            <a:avLst>
              <a:gd name="adj" fmla="val 9091"/>
            </a:avLst>
          </a:prstGeom>
          <a:solidFill>
            <a:srgbClr val="F3F5F8"/>
          </a:solidFill>
          <a:ln/>
        </p:spPr>
      </p:sp>
      <p:sp>
        <p:nvSpPr>
          <p:cNvPr id="30" name="Shape 28"/>
          <p:cNvSpPr/>
          <p:nvPr/>
        </p:nvSpPr>
        <p:spPr>
          <a:xfrm>
            <a:off x="685800" y="2688336"/>
            <a:ext cx="210312" cy="201168"/>
          </a:xfrm>
          <a:prstGeom prst="roundRect">
            <a:avLst>
              <a:gd name="adj" fmla="val 9091"/>
            </a:avLst>
          </a:prstGeom>
          <a:solidFill>
            <a:srgbClr val="F3F5F8"/>
          </a:solidFill>
          <a:ln/>
        </p:spPr>
      </p:sp>
      <p:sp>
        <p:nvSpPr>
          <p:cNvPr id="31" name="Shape 29"/>
          <p:cNvSpPr/>
          <p:nvPr/>
        </p:nvSpPr>
        <p:spPr>
          <a:xfrm>
            <a:off x="914400" y="2688336"/>
            <a:ext cx="210312" cy="201168"/>
          </a:xfrm>
          <a:prstGeom prst="roundRect">
            <a:avLst>
              <a:gd name="adj" fmla="val 9091"/>
            </a:avLst>
          </a:prstGeom>
          <a:solidFill>
            <a:srgbClr val="F3F5F8"/>
          </a:solidFill>
          <a:ln/>
        </p:spPr>
      </p:sp>
      <p:sp>
        <p:nvSpPr>
          <p:cNvPr id="32" name="Shape 30"/>
          <p:cNvSpPr/>
          <p:nvPr/>
        </p:nvSpPr>
        <p:spPr>
          <a:xfrm>
            <a:off x="1143000" y="2688336"/>
            <a:ext cx="210312" cy="201168"/>
          </a:xfrm>
          <a:prstGeom prst="roundRect">
            <a:avLst>
              <a:gd name="adj" fmla="val 9091"/>
            </a:avLst>
          </a:prstGeom>
          <a:solidFill>
            <a:srgbClr val="F3F5F8"/>
          </a:solidFill>
          <a:ln/>
        </p:spPr>
      </p:sp>
      <p:sp>
        <p:nvSpPr>
          <p:cNvPr id="33" name="Shape 31"/>
          <p:cNvSpPr/>
          <p:nvPr/>
        </p:nvSpPr>
        <p:spPr>
          <a:xfrm>
            <a:off x="1371600" y="2688336"/>
            <a:ext cx="210312" cy="201168"/>
          </a:xfrm>
          <a:prstGeom prst="roundRect">
            <a:avLst>
              <a:gd name="adj" fmla="val 9091"/>
            </a:avLst>
          </a:prstGeom>
          <a:solidFill>
            <a:srgbClr val="F3F5F8"/>
          </a:solidFill>
          <a:ln/>
        </p:spPr>
      </p:sp>
      <p:sp>
        <p:nvSpPr>
          <p:cNvPr id="34" name="Shape 32"/>
          <p:cNvSpPr/>
          <p:nvPr/>
        </p:nvSpPr>
        <p:spPr>
          <a:xfrm>
            <a:off x="1600200" y="2688336"/>
            <a:ext cx="210312" cy="201168"/>
          </a:xfrm>
          <a:prstGeom prst="roundRect">
            <a:avLst>
              <a:gd name="adj" fmla="val 9091"/>
            </a:avLst>
          </a:prstGeom>
          <a:solidFill>
            <a:srgbClr val="F3F5F8"/>
          </a:solidFill>
          <a:ln/>
        </p:spPr>
      </p:sp>
      <p:sp>
        <p:nvSpPr>
          <p:cNvPr id="35" name="Shape 33"/>
          <p:cNvSpPr/>
          <p:nvPr/>
        </p:nvSpPr>
        <p:spPr>
          <a:xfrm>
            <a:off x="1828800" y="2688336"/>
            <a:ext cx="210312" cy="201168"/>
          </a:xfrm>
          <a:prstGeom prst="roundRect">
            <a:avLst>
              <a:gd name="adj" fmla="val 9091"/>
            </a:avLst>
          </a:prstGeom>
          <a:solidFill>
            <a:srgbClr val="F3F5F8"/>
          </a:solidFill>
          <a:ln/>
        </p:spPr>
      </p:sp>
      <p:sp>
        <p:nvSpPr>
          <p:cNvPr id="36" name="Shape 34"/>
          <p:cNvSpPr/>
          <p:nvPr/>
        </p:nvSpPr>
        <p:spPr>
          <a:xfrm>
            <a:off x="2057400" y="2688336"/>
            <a:ext cx="210312" cy="201168"/>
          </a:xfrm>
          <a:prstGeom prst="roundRect">
            <a:avLst>
              <a:gd name="adj" fmla="val 9091"/>
            </a:avLst>
          </a:prstGeom>
          <a:solidFill>
            <a:srgbClr val="F3F5F8"/>
          </a:solidFill>
          <a:ln/>
        </p:spPr>
      </p:sp>
      <p:sp>
        <p:nvSpPr>
          <p:cNvPr id="37" name="Shape 35"/>
          <p:cNvSpPr/>
          <p:nvPr/>
        </p:nvSpPr>
        <p:spPr>
          <a:xfrm>
            <a:off x="685800" y="2907792"/>
            <a:ext cx="210312" cy="201168"/>
          </a:xfrm>
          <a:prstGeom prst="roundRect">
            <a:avLst>
              <a:gd name="adj" fmla="val 9091"/>
            </a:avLst>
          </a:prstGeom>
          <a:solidFill>
            <a:srgbClr val="F3F5F8"/>
          </a:solidFill>
          <a:ln/>
        </p:spPr>
      </p:sp>
      <p:sp>
        <p:nvSpPr>
          <p:cNvPr id="38" name="Shape 36"/>
          <p:cNvSpPr/>
          <p:nvPr/>
        </p:nvSpPr>
        <p:spPr>
          <a:xfrm>
            <a:off x="914400" y="2907792"/>
            <a:ext cx="210312" cy="201168"/>
          </a:xfrm>
          <a:prstGeom prst="roundRect">
            <a:avLst>
              <a:gd name="adj" fmla="val 9091"/>
            </a:avLst>
          </a:prstGeom>
          <a:solidFill>
            <a:srgbClr val="F3F5F8"/>
          </a:solidFill>
          <a:ln/>
        </p:spPr>
      </p:sp>
      <p:sp>
        <p:nvSpPr>
          <p:cNvPr id="39" name="Shape 37"/>
          <p:cNvSpPr/>
          <p:nvPr/>
        </p:nvSpPr>
        <p:spPr>
          <a:xfrm>
            <a:off x="1143000" y="2907792"/>
            <a:ext cx="210312" cy="201168"/>
          </a:xfrm>
          <a:prstGeom prst="roundRect">
            <a:avLst>
              <a:gd name="adj" fmla="val 9091"/>
            </a:avLst>
          </a:prstGeom>
          <a:solidFill>
            <a:srgbClr val="F3F5F8"/>
          </a:solidFill>
          <a:ln/>
        </p:spPr>
      </p:sp>
      <p:sp>
        <p:nvSpPr>
          <p:cNvPr id="40" name="Shape 38"/>
          <p:cNvSpPr/>
          <p:nvPr/>
        </p:nvSpPr>
        <p:spPr>
          <a:xfrm>
            <a:off x="1371600" y="2907792"/>
            <a:ext cx="210312" cy="201168"/>
          </a:xfrm>
          <a:prstGeom prst="roundRect">
            <a:avLst>
              <a:gd name="adj" fmla="val 9091"/>
            </a:avLst>
          </a:prstGeom>
          <a:solidFill>
            <a:srgbClr val="F3F5F8"/>
          </a:solidFill>
          <a:ln/>
        </p:spPr>
      </p:sp>
      <p:sp>
        <p:nvSpPr>
          <p:cNvPr id="41" name="Shape 39"/>
          <p:cNvSpPr/>
          <p:nvPr/>
        </p:nvSpPr>
        <p:spPr>
          <a:xfrm>
            <a:off x="1600200" y="2907792"/>
            <a:ext cx="210312" cy="201168"/>
          </a:xfrm>
          <a:prstGeom prst="roundRect">
            <a:avLst>
              <a:gd name="adj" fmla="val 9091"/>
            </a:avLst>
          </a:prstGeom>
          <a:solidFill>
            <a:srgbClr val="F3F5F8"/>
          </a:solidFill>
          <a:ln/>
        </p:spPr>
      </p:sp>
      <p:sp>
        <p:nvSpPr>
          <p:cNvPr id="42" name="Shape 40"/>
          <p:cNvSpPr/>
          <p:nvPr/>
        </p:nvSpPr>
        <p:spPr>
          <a:xfrm>
            <a:off x="1828800" y="2907792"/>
            <a:ext cx="210312" cy="201168"/>
          </a:xfrm>
          <a:prstGeom prst="roundRect">
            <a:avLst>
              <a:gd name="adj" fmla="val 9091"/>
            </a:avLst>
          </a:prstGeom>
          <a:solidFill>
            <a:srgbClr val="F3F5F8"/>
          </a:solidFill>
          <a:ln/>
        </p:spPr>
      </p:sp>
      <p:sp>
        <p:nvSpPr>
          <p:cNvPr id="43" name="Shape 41"/>
          <p:cNvSpPr/>
          <p:nvPr/>
        </p:nvSpPr>
        <p:spPr>
          <a:xfrm>
            <a:off x="2057400" y="2907792"/>
            <a:ext cx="210312" cy="201168"/>
          </a:xfrm>
          <a:prstGeom prst="roundRect">
            <a:avLst>
              <a:gd name="adj" fmla="val 9091"/>
            </a:avLst>
          </a:prstGeom>
          <a:solidFill>
            <a:srgbClr val="F3F5F8"/>
          </a:solidFill>
          <a:ln/>
        </p:spPr>
      </p:sp>
      <p:sp>
        <p:nvSpPr>
          <p:cNvPr id="44" name="Shape 42"/>
          <p:cNvSpPr/>
          <p:nvPr/>
        </p:nvSpPr>
        <p:spPr>
          <a:xfrm>
            <a:off x="2423160" y="1783080"/>
            <a:ext cx="9052560" cy="4069080"/>
          </a:xfrm>
          <a:prstGeom prst="roundRect">
            <a:avLst>
              <a:gd name="adj" fmla="val 1124"/>
            </a:avLst>
          </a:prstGeom>
          <a:solidFill>
            <a:srgbClr val="F3F5F8"/>
          </a:solidFill>
          <a:ln/>
        </p:spPr>
      </p:sp>
      <p:sp>
        <p:nvSpPr>
          <p:cNvPr id="45" name="Text 43"/>
          <p:cNvSpPr txBox="1"/>
          <p:nvPr/>
        </p:nvSpPr>
        <p:spPr>
          <a:xfrm>
            <a:off x="2560320" y="1828800"/>
            <a:ext cx="7315200" cy="310896"/>
          </a:xfrm>
          <a:prstGeom prst="rect">
            <a:avLst/>
          </a:prstGeom>
          <a:noFill/>
          <a:ln/>
        </p:spPr>
        <p:txBody>
          <a:bodyPr wrap="square" lIns="0" tIns="0" rIns="0" bIns="0" rtlCol="0" anchor="ctr"/>
          <a:lstStyle/>
          <a:p>
            <a:pPr indent="0" marL="0">
              <a:buNone/>
            </a:pPr>
            <a:r>
              <a:rPr lang="en-US" sz="1000" b="1" dirty="0">
                <a:solidFill>
                  <a:srgbClr val="1B2A49"/>
                </a:solidFill>
                <a:latin typeface="Meiryo UI" pitchFamily="34" charset="0"/>
                <a:ea typeface="Meiryo UI" pitchFamily="34" charset="-122"/>
                <a:cs typeface="Meiryo UI" pitchFamily="34" charset="-120"/>
              </a:rPr>
              <a:t>10/5（日）メール｜配信カード（確定した情報だけを表示）</a:t>
            </a:r>
            <a:endParaRPr lang="en-US" sz="1000" dirty="0"/>
          </a:p>
        </p:txBody>
      </p:sp>
      <p:sp>
        <p:nvSpPr>
          <p:cNvPr id="46" name="Text 44"/>
          <p:cNvSpPr txBox="1"/>
          <p:nvPr/>
        </p:nvSpPr>
        <p:spPr>
          <a:xfrm>
            <a:off x="2560320" y="2212848"/>
            <a:ext cx="1097280" cy="310896"/>
          </a:xfrm>
          <a:prstGeom prst="rect">
            <a:avLst/>
          </a:prstGeom>
          <a:noFill/>
          <a:ln/>
        </p:spPr>
        <p:txBody>
          <a:bodyPr wrap="square" lIns="0" tIns="0" rIns="0" bIns="0" rtlCol="0" anchor="ctr"/>
          <a:lstStyle/>
          <a:p>
            <a:pPr indent="0" marL="0">
              <a:buNone/>
            </a:pPr>
            <a:r>
              <a:rPr lang="en-US" sz="900" b="1" dirty="0">
                <a:solidFill>
                  <a:srgbClr val="6B7280"/>
                </a:solidFill>
                <a:latin typeface="Meiryo UI" pitchFamily="34" charset="0"/>
                <a:ea typeface="Meiryo UI" pitchFamily="34" charset="-122"/>
                <a:cs typeface="Meiryo UI" pitchFamily="34" charset="-120"/>
              </a:rPr>
              <a:t>テーマ</a:t>
            </a:r>
            <a:endParaRPr lang="en-US" sz="900" dirty="0"/>
          </a:p>
        </p:txBody>
      </p:sp>
      <p:sp>
        <p:nvSpPr>
          <p:cNvPr id="47" name="Text 45"/>
          <p:cNvSpPr txBox="1"/>
          <p:nvPr/>
        </p:nvSpPr>
        <p:spPr>
          <a:xfrm>
            <a:off x="3657600" y="2212848"/>
            <a:ext cx="4572000" cy="310896"/>
          </a:xfrm>
          <a:prstGeom prst="rect">
            <a:avLst/>
          </a:prstGeom>
          <a:noFill/>
          <a:ln/>
        </p:spPr>
        <p:txBody>
          <a:bodyPr wrap="square" lIns="0" tIns="0" rIns="0" bIns="0" rtlCol="0" anchor="ctr"/>
          <a:lstStyle/>
          <a:p>
            <a:pPr indent="0" marL="0">
              <a:buNone/>
            </a:pPr>
            <a:r>
              <a:rPr lang="en-US" sz="900" b="1" dirty="0">
                <a:solidFill>
                  <a:srgbClr val="0E9F9A"/>
                </a:solidFill>
                <a:latin typeface="Meiryo UI" pitchFamily="34" charset="0"/>
                <a:ea typeface="Meiryo UI" pitchFamily="34" charset="-122"/>
                <a:cs typeface="Meiryo UI" pitchFamily="34" charset="-120"/>
              </a:rPr>
              <a:t>✔ 秋の新作を先取り</a:t>
            </a:r>
            <a:endParaRPr lang="en-US" sz="900" dirty="0"/>
          </a:p>
        </p:txBody>
      </p:sp>
      <p:sp>
        <p:nvSpPr>
          <p:cNvPr id="48" name="Text 46"/>
          <p:cNvSpPr txBox="1"/>
          <p:nvPr/>
        </p:nvSpPr>
        <p:spPr>
          <a:xfrm>
            <a:off x="2560320" y="2596896"/>
            <a:ext cx="1097280" cy="310896"/>
          </a:xfrm>
          <a:prstGeom prst="rect">
            <a:avLst/>
          </a:prstGeom>
          <a:noFill/>
          <a:ln/>
        </p:spPr>
        <p:txBody>
          <a:bodyPr wrap="square" lIns="0" tIns="0" rIns="0" bIns="0" rtlCol="0" anchor="ctr"/>
          <a:lstStyle/>
          <a:p>
            <a:pPr indent="0" marL="0">
              <a:buNone/>
            </a:pPr>
            <a:r>
              <a:rPr lang="en-US" sz="900" b="1" dirty="0">
                <a:solidFill>
                  <a:srgbClr val="6B7280"/>
                </a:solidFill>
                <a:latin typeface="Meiryo UI" pitchFamily="34" charset="0"/>
                <a:ea typeface="Meiryo UI" pitchFamily="34" charset="-122"/>
                <a:cs typeface="Meiryo UI" pitchFamily="34" charset="-120"/>
              </a:rPr>
              <a:t>掲載商品</a:t>
            </a:r>
            <a:endParaRPr lang="en-US" sz="900" dirty="0"/>
          </a:p>
        </p:txBody>
      </p:sp>
      <p:sp>
        <p:nvSpPr>
          <p:cNvPr id="49" name="Text 47"/>
          <p:cNvSpPr txBox="1"/>
          <p:nvPr/>
        </p:nvSpPr>
        <p:spPr>
          <a:xfrm>
            <a:off x="3657600" y="2596896"/>
            <a:ext cx="4572000" cy="310896"/>
          </a:xfrm>
          <a:prstGeom prst="rect">
            <a:avLst/>
          </a:prstGeom>
          <a:noFill/>
          <a:ln/>
        </p:spPr>
        <p:txBody>
          <a:bodyPr wrap="square" lIns="0" tIns="0" rIns="0" bIns="0" rtlCol="0" anchor="ctr"/>
          <a:lstStyle/>
          <a:p>
            <a:pPr indent="0" marL="0">
              <a:buNone/>
            </a:pPr>
            <a:r>
              <a:rPr lang="en-US" sz="900" dirty="0">
                <a:solidFill>
                  <a:srgbClr val="6B7280"/>
                </a:solidFill>
                <a:latin typeface="Meiryo UI" pitchFamily="34" charset="0"/>
                <a:ea typeface="Meiryo UI" pitchFamily="34" charset="-122"/>
                <a:cs typeface="Meiryo UI" pitchFamily="34" charset="-120"/>
              </a:rPr>
              <a:t>未確定　［商品選定を開く］</a:t>
            </a:r>
            <a:endParaRPr lang="en-US" sz="900" dirty="0"/>
          </a:p>
        </p:txBody>
      </p:sp>
      <p:sp>
        <p:nvSpPr>
          <p:cNvPr id="50" name="Text 48"/>
          <p:cNvSpPr txBox="1"/>
          <p:nvPr/>
        </p:nvSpPr>
        <p:spPr>
          <a:xfrm>
            <a:off x="2560320" y="2980944"/>
            <a:ext cx="1097280" cy="310896"/>
          </a:xfrm>
          <a:prstGeom prst="rect">
            <a:avLst/>
          </a:prstGeom>
          <a:noFill/>
          <a:ln/>
        </p:spPr>
        <p:txBody>
          <a:bodyPr wrap="square" lIns="0" tIns="0" rIns="0" bIns="0" rtlCol="0" anchor="ctr"/>
          <a:lstStyle/>
          <a:p>
            <a:pPr indent="0" marL="0">
              <a:buNone/>
            </a:pPr>
            <a:r>
              <a:rPr lang="en-US" sz="900" b="1" dirty="0">
                <a:solidFill>
                  <a:srgbClr val="6B7280"/>
                </a:solidFill>
                <a:latin typeface="Meiryo UI" pitchFamily="34" charset="0"/>
                <a:ea typeface="Meiryo UI" pitchFamily="34" charset="-122"/>
                <a:cs typeface="Meiryo UI" pitchFamily="34" charset="-120"/>
              </a:rPr>
              <a:t>コピー</a:t>
            </a:r>
            <a:endParaRPr lang="en-US" sz="900" dirty="0"/>
          </a:p>
        </p:txBody>
      </p:sp>
      <p:sp>
        <p:nvSpPr>
          <p:cNvPr id="51" name="Text 49"/>
          <p:cNvSpPr txBox="1"/>
          <p:nvPr/>
        </p:nvSpPr>
        <p:spPr>
          <a:xfrm>
            <a:off x="3657600" y="2980944"/>
            <a:ext cx="4572000" cy="310896"/>
          </a:xfrm>
          <a:prstGeom prst="rect">
            <a:avLst/>
          </a:prstGeom>
          <a:noFill/>
          <a:ln/>
        </p:spPr>
        <p:txBody>
          <a:bodyPr wrap="square" lIns="0" tIns="0" rIns="0" bIns="0" rtlCol="0" anchor="ctr"/>
          <a:lstStyle/>
          <a:p>
            <a:pPr indent="0" marL="0">
              <a:buNone/>
            </a:pPr>
            <a:r>
              <a:rPr lang="en-US" sz="900" dirty="0">
                <a:solidFill>
                  <a:srgbClr val="6B7280"/>
                </a:solidFill>
                <a:latin typeface="Meiryo UI" pitchFamily="34" charset="0"/>
                <a:ea typeface="Meiryo UI" pitchFamily="34" charset="-122"/>
                <a:cs typeface="Meiryo UI" pitchFamily="34" charset="-120"/>
              </a:rPr>
              <a:t>未確定</a:t>
            </a:r>
            <a:endParaRPr lang="en-US" sz="900" dirty="0"/>
          </a:p>
        </p:txBody>
      </p:sp>
      <p:sp>
        <p:nvSpPr>
          <p:cNvPr id="52" name="Text 50"/>
          <p:cNvSpPr txBox="1"/>
          <p:nvPr/>
        </p:nvSpPr>
        <p:spPr>
          <a:xfrm>
            <a:off x="2560320" y="3364992"/>
            <a:ext cx="1097280" cy="310896"/>
          </a:xfrm>
          <a:prstGeom prst="rect">
            <a:avLst/>
          </a:prstGeom>
          <a:noFill/>
          <a:ln/>
        </p:spPr>
        <p:txBody>
          <a:bodyPr wrap="square" lIns="0" tIns="0" rIns="0" bIns="0" rtlCol="0" anchor="ctr"/>
          <a:lstStyle/>
          <a:p>
            <a:pPr indent="0" marL="0">
              <a:buNone/>
            </a:pPr>
            <a:r>
              <a:rPr lang="en-US" sz="900" b="1" dirty="0">
                <a:solidFill>
                  <a:srgbClr val="6B7280"/>
                </a:solidFill>
                <a:latin typeface="Meiryo UI" pitchFamily="34" charset="0"/>
                <a:ea typeface="Meiryo UI" pitchFamily="34" charset="-122"/>
                <a:cs typeface="Meiryo UI" pitchFamily="34" charset="-120"/>
              </a:rPr>
              <a:t>制作指示</a:t>
            </a:r>
            <a:endParaRPr lang="en-US" sz="900" dirty="0"/>
          </a:p>
        </p:txBody>
      </p:sp>
      <p:sp>
        <p:nvSpPr>
          <p:cNvPr id="53" name="Text 51"/>
          <p:cNvSpPr txBox="1"/>
          <p:nvPr/>
        </p:nvSpPr>
        <p:spPr>
          <a:xfrm>
            <a:off x="3657600" y="3364992"/>
            <a:ext cx="4572000" cy="310896"/>
          </a:xfrm>
          <a:prstGeom prst="rect">
            <a:avLst/>
          </a:prstGeom>
          <a:noFill/>
          <a:ln/>
        </p:spPr>
        <p:txBody>
          <a:bodyPr wrap="square" lIns="0" tIns="0" rIns="0" bIns="0" rtlCol="0" anchor="ctr"/>
          <a:lstStyle/>
          <a:p>
            <a:pPr indent="0" marL="0">
              <a:buNone/>
            </a:pPr>
            <a:r>
              <a:rPr lang="en-US" sz="900" dirty="0">
                <a:solidFill>
                  <a:srgbClr val="6B7280"/>
                </a:solidFill>
                <a:latin typeface="Meiryo UI" pitchFamily="34" charset="0"/>
                <a:ea typeface="Meiryo UI" pitchFamily="34" charset="-122"/>
                <a:cs typeface="Meiryo UI" pitchFamily="34" charset="-120"/>
              </a:rPr>
              <a:t>未確定</a:t>
            </a:r>
            <a:endParaRPr lang="en-US" sz="900" dirty="0"/>
          </a:p>
        </p:txBody>
      </p:sp>
      <p:sp>
        <p:nvSpPr>
          <p:cNvPr id="54" name="Shape 52"/>
          <p:cNvSpPr/>
          <p:nvPr/>
        </p:nvSpPr>
        <p:spPr>
          <a:xfrm>
            <a:off x="548640" y="1636776"/>
            <a:ext cx="11064240" cy="4352544"/>
          </a:xfrm>
          <a:prstGeom prst="rect">
            <a:avLst/>
          </a:prstGeom>
          <a:solidFill>
            <a:srgbClr val="1B2A49">
              <a:alpha val="45000"/>
            </a:srgbClr>
          </a:solidFill>
          <a:ln/>
        </p:spPr>
      </p:sp>
      <p:sp>
        <p:nvSpPr>
          <p:cNvPr id="55" name="Shape 53"/>
          <p:cNvSpPr/>
          <p:nvPr/>
        </p:nvSpPr>
        <p:spPr>
          <a:xfrm>
            <a:off x="3246120" y="1874520"/>
            <a:ext cx="8229600" cy="3977640"/>
          </a:xfrm>
          <a:prstGeom prst="roundRect">
            <a:avLst>
              <a:gd name="adj" fmla="val 1379"/>
            </a:avLst>
          </a:prstGeom>
          <a:solidFill>
            <a:srgbClr val="FFFFFF"/>
          </a:solidFill>
          <a:ln/>
          <a:effectLst>
            <a:outerShdw sx="100000" sy="100000" kx="0" ky="0" algn="bl" rotWithShape="0" blurRad="50800" dist="19050" dir="5400000">
              <a:srgbClr val="000000">
                <a:alpha val="12000"/>
              </a:srgbClr>
            </a:outerShdw>
          </a:effectLst>
        </p:spPr>
      </p:sp>
      <p:sp>
        <p:nvSpPr>
          <p:cNvPr id="56" name="Text 54"/>
          <p:cNvSpPr txBox="1"/>
          <p:nvPr/>
        </p:nvSpPr>
        <p:spPr>
          <a:xfrm>
            <a:off x="3429000" y="1947672"/>
            <a:ext cx="3200400" cy="292608"/>
          </a:xfrm>
          <a:prstGeom prst="rect">
            <a:avLst/>
          </a:prstGeom>
          <a:noFill/>
          <a:ln/>
        </p:spPr>
        <p:txBody>
          <a:bodyPr wrap="square" lIns="0" tIns="0" rIns="0" bIns="0" rtlCol="0" anchor="ctr"/>
          <a:lstStyle/>
          <a:p>
            <a:pPr indent="0" marL="0">
              <a:buNone/>
            </a:pPr>
            <a:r>
              <a:rPr lang="en-US" sz="1050" b="1" dirty="0">
                <a:solidFill>
                  <a:srgbClr val="1B2A49"/>
                </a:solidFill>
                <a:latin typeface="Meiryo UI" pitchFamily="34" charset="0"/>
                <a:ea typeface="Meiryo UI" pitchFamily="34" charset="-122"/>
                <a:cs typeface="Meiryo UI" pitchFamily="34" charset="-120"/>
              </a:rPr>
              <a:t>商品選定｜10/5（日）メール</a:t>
            </a:r>
            <a:endParaRPr lang="en-US" sz="1050" dirty="0"/>
          </a:p>
        </p:txBody>
      </p:sp>
      <p:sp>
        <p:nvSpPr>
          <p:cNvPr id="57" name="Shape 55"/>
          <p:cNvSpPr/>
          <p:nvPr/>
        </p:nvSpPr>
        <p:spPr>
          <a:xfrm>
            <a:off x="6766560" y="1965960"/>
            <a:ext cx="914400" cy="256032"/>
          </a:xfrm>
          <a:prstGeom prst="roundRect">
            <a:avLst>
              <a:gd name="adj" fmla="val 50000"/>
            </a:avLst>
          </a:prstGeom>
          <a:solidFill>
            <a:srgbClr val="D9F2F1"/>
          </a:solidFill>
          <a:ln/>
        </p:spPr>
      </p:sp>
      <p:sp>
        <p:nvSpPr>
          <p:cNvPr id="58" name="Text 56"/>
          <p:cNvSpPr txBox="1"/>
          <p:nvPr/>
        </p:nvSpPr>
        <p:spPr>
          <a:xfrm>
            <a:off x="6766560" y="1965960"/>
            <a:ext cx="914400" cy="256032"/>
          </a:xfrm>
          <a:prstGeom prst="rect">
            <a:avLst/>
          </a:prstGeom>
          <a:noFill/>
          <a:ln/>
        </p:spPr>
        <p:txBody>
          <a:bodyPr wrap="square" lIns="762" tIns="762" rIns="762" bIns="762" rtlCol="0" anchor="ctr"/>
          <a:lstStyle/>
          <a:p>
            <a:pPr algn="ctr" indent="0" marL="0">
              <a:buNone/>
            </a:pPr>
            <a:r>
              <a:rPr lang="en-US" sz="800" b="1" dirty="0">
                <a:solidFill>
                  <a:srgbClr val="0E9F9A"/>
                </a:solidFill>
                <a:latin typeface="Meiryo UI" pitchFamily="34" charset="0"/>
                <a:ea typeface="Meiryo UI" pitchFamily="34" charset="-122"/>
                <a:cs typeface="Meiryo UI" pitchFamily="34" charset="-120"/>
              </a:rPr>
              <a:t>✔ テーマ</a:t>
            </a:r>
            <a:endParaRPr lang="en-US" sz="800" dirty="0"/>
          </a:p>
        </p:txBody>
      </p:sp>
      <p:sp>
        <p:nvSpPr>
          <p:cNvPr id="59" name="Shape 57"/>
          <p:cNvSpPr/>
          <p:nvPr/>
        </p:nvSpPr>
        <p:spPr>
          <a:xfrm>
            <a:off x="7772400" y="1965960"/>
            <a:ext cx="914400" cy="256032"/>
          </a:xfrm>
          <a:prstGeom prst="roundRect">
            <a:avLst>
              <a:gd name="adj" fmla="val 50000"/>
            </a:avLst>
          </a:prstGeom>
          <a:solidFill>
            <a:srgbClr val="0E9F9A"/>
          </a:solidFill>
          <a:ln/>
        </p:spPr>
      </p:sp>
      <p:sp>
        <p:nvSpPr>
          <p:cNvPr id="60" name="Text 58"/>
          <p:cNvSpPr txBox="1"/>
          <p:nvPr/>
        </p:nvSpPr>
        <p:spPr>
          <a:xfrm>
            <a:off x="7772400" y="1965960"/>
            <a:ext cx="914400" cy="256032"/>
          </a:xfrm>
          <a:prstGeom prst="rect">
            <a:avLst/>
          </a:prstGeom>
          <a:noFill/>
          <a:ln/>
        </p:spPr>
        <p:txBody>
          <a:bodyPr wrap="square" lIns="762" tIns="762" rIns="762" bIns="762" rtlCol="0" anchor="ctr"/>
          <a:lstStyle/>
          <a:p>
            <a:pPr algn="ctr" indent="0" marL="0">
              <a:buNone/>
            </a:pPr>
            <a:r>
              <a:rPr lang="en-US" sz="800" b="1" dirty="0">
                <a:solidFill>
                  <a:srgbClr val="FFFFFF"/>
                </a:solidFill>
                <a:latin typeface="Meiryo UI" pitchFamily="34" charset="0"/>
                <a:ea typeface="Meiryo UI" pitchFamily="34" charset="-122"/>
                <a:cs typeface="Meiryo UI" pitchFamily="34" charset="-120"/>
              </a:rPr>
              <a:t>商品選定</a:t>
            </a:r>
            <a:endParaRPr lang="en-US" sz="800" dirty="0"/>
          </a:p>
        </p:txBody>
      </p:sp>
      <p:sp>
        <p:nvSpPr>
          <p:cNvPr id="61" name="Shape 59"/>
          <p:cNvSpPr/>
          <p:nvPr/>
        </p:nvSpPr>
        <p:spPr>
          <a:xfrm>
            <a:off x="8778240" y="1965960"/>
            <a:ext cx="914400" cy="256032"/>
          </a:xfrm>
          <a:prstGeom prst="roundRect">
            <a:avLst>
              <a:gd name="adj" fmla="val 50000"/>
            </a:avLst>
          </a:prstGeom>
          <a:solidFill>
            <a:srgbClr val="F3F5F8"/>
          </a:solidFill>
          <a:ln/>
        </p:spPr>
      </p:sp>
      <p:sp>
        <p:nvSpPr>
          <p:cNvPr id="62" name="Text 60"/>
          <p:cNvSpPr txBox="1"/>
          <p:nvPr/>
        </p:nvSpPr>
        <p:spPr>
          <a:xfrm>
            <a:off x="8778240" y="1965960"/>
            <a:ext cx="914400" cy="256032"/>
          </a:xfrm>
          <a:prstGeom prst="rect">
            <a:avLst/>
          </a:prstGeom>
          <a:noFill/>
          <a:ln/>
        </p:spPr>
        <p:txBody>
          <a:bodyPr wrap="square" lIns="762" tIns="762" rIns="762" bIns="762" rtlCol="0" anchor="ctr"/>
          <a:lstStyle/>
          <a:p>
            <a:pPr algn="ctr" indent="0" marL="0">
              <a:buNone/>
            </a:pPr>
            <a:r>
              <a:rPr lang="en-US" sz="800" b="1" dirty="0">
                <a:solidFill>
                  <a:srgbClr val="6B7280"/>
                </a:solidFill>
                <a:latin typeface="Meiryo UI" pitchFamily="34" charset="0"/>
                <a:ea typeface="Meiryo UI" pitchFamily="34" charset="-122"/>
                <a:cs typeface="Meiryo UI" pitchFamily="34" charset="-120"/>
              </a:rPr>
              <a:t>コピー</a:t>
            </a:r>
            <a:endParaRPr lang="en-US" sz="800" dirty="0"/>
          </a:p>
        </p:txBody>
      </p:sp>
      <p:sp>
        <p:nvSpPr>
          <p:cNvPr id="63" name="Shape 61"/>
          <p:cNvSpPr/>
          <p:nvPr/>
        </p:nvSpPr>
        <p:spPr>
          <a:xfrm>
            <a:off x="9784080" y="1965960"/>
            <a:ext cx="914400" cy="256032"/>
          </a:xfrm>
          <a:prstGeom prst="roundRect">
            <a:avLst>
              <a:gd name="adj" fmla="val 50000"/>
            </a:avLst>
          </a:prstGeom>
          <a:solidFill>
            <a:srgbClr val="F3F5F8"/>
          </a:solidFill>
          <a:ln/>
        </p:spPr>
      </p:sp>
      <p:sp>
        <p:nvSpPr>
          <p:cNvPr id="64" name="Text 62"/>
          <p:cNvSpPr txBox="1"/>
          <p:nvPr/>
        </p:nvSpPr>
        <p:spPr>
          <a:xfrm>
            <a:off x="9784080" y="1965960"/>
            <a:ext cx="914400" cy="256032"/>
          </a:xfrm>
          <a:prstGeom prst="rect">
            <a:avLst/>
          </a:prstGeom>
          <a:noFill/>
          <a:ln/>
        </p:spPr>
        <p:txBody>
          <a:bodyPr wrap="square" lIns="762" tIns="762" rIns="762" bIns="762" rtlCol="0" anchor="ctr"/>
          <a:lstStyle/>
          <a:p>
            <a:pPr algn="ctr" indent="0" marL="0">
              <a:buNone/>
            </a:pPr>
            <a:r>
              <a:rPr lang="en-US" sz="800" b="1" dirty="0">
                <a:solidFill>
                  <a:srgbClr val="6B7280"/>
                </a:solidFill>
                <a:latin typeface="Meiryo UI" pitchFamily="34" charset="0"/>
                <a:ea typeface="Meiryo UI" pitchFamily="34" charset="-122"/>
                <a:cs typeface="Meiryo UI" pitchFamily="34" charset="-120"/>
              </a:rPr>
              <a:t>制作指示</a:t>
            </a:r>
            <a:endParaRPr lang="en-US" sz="800" dirty="0"/>
          </a:p>
        </p:txBody>
      </p:sp>
      <p:sp>
        <p:nvSpPr>
          <p:cNvPr id="65" name="Text 63"/>
          <p:cNvSpPr txBox="1"/>
          <p:nvPr/>
        </p:nvSpPr>
        <p:spPr>
          <a:xfrm>
            <a:off x="11155680" y="1929384"/>
            <a:ext cx="274320" cy="274320"/>
          </a:xfrm>
          <a:prstGeom prst="rect">
            <a:avLst/>
          </a:prstGeom>
          <a:noFill/>
          <a:ln/>
        </p:spPr>
        <p:txBody>
          <a:bodyPr wrap="square" lIns="0" tIns="0" rIns="0" bIns="0" rtlCol="0" anchor="ctr"/>
          <a:lstStyle/>
          <a:p>
            <a:pPr algn="ctr" indent="0" marL="0">
              <a:buNone/>
            </a:pPr>
            <a:r>
              <a:rPr lang="en-US" sz="1200" dirty="0">
                <a:solidFill>
                  <a:srgbClr val="6B7280"/>
                </a:solidFill>
                <a:latin typeface="Meiryo UI" pitchFamily="34" charset="0"/>
                <a:ea typeface="Meiryo UI" pitchFamily="34" charset="-122"/>
                <a:cs typeface="Meiryo UI" pitchFamily="34" charset="-120"/>
              </a:rPr>
              <a:t>×</a:t>
            </a:r>
            <a:endParaRPr lang="en-US" sz="1200" dirty="0"/>
          </a:p>
        </p:txBody>
      </p:sp>
      <p:sp>
        <p:nvSpPr>
          <p:cNvPr id="66" name="Shape 64"/>
          <p:cNvSpPr/>
          <p:nvPr/>
        </p:nvSpPr>
        <p:spPr>
          <a:xfrm>
            <a:off x="3246120" y="2295144"/>
            <a:ext cx="8229600" cy="0"/>
          </a:xfrm>
          <a:prstGeom prst="line">
            <a:avLst/>
          </a:prstGeom>
          <a:noFill/>
          <a:ln w="9525">
            <a:solidFill>
              <a:srgbClr val="D5DBE3"/>
            </a:solidFill>
            <a:prstDash val="solid"/>
          </a:ln>
        </p:spPr>
      </p:sp>
      <p:sp>
        <p:nvSpPr>
          <p:cNvPr id="67" name="Text 65"/>
          <p:cNvSpPr txBox="1"/>
          <p:nvPr/>
        </p:nvSpPr>
        <p:spPr>
          <a:xfrm>
            <a:off x="3383280" y="2377440"/>
            <a:ext cx="2560320" cy="219456"/>
          </a:xfrm>
          <a:prstGeom prst="rect">
            <a:avLst/>
          </a:prstGeom>
          <a:noFill/>
          <a:ln/>
        </p:spPr>
        <p:txBody>
          <a:bodyPr wrap="square" lIns="0" tIns="0" rIns="0" bIns="0" rtlCol="0" anchor="t"/>
          <a:lstStyle/>
          <a:p>
            <a:pPr indent="0" marL="0">
              <a:buNone/>
            </a:pPr>
            <a:r>
              <a:rPr lang="en-US" sz="850" b="1" dirty="0">
                <a:solidFill>
                  <a:srgbClr val="0E9F9A"/>
                </a:solidFill>
                <a:latin typeface="Meiryo UI" pitchFamily="34" charset="0"/>
                <a:ea typeface="Meiryo UI" pitchFamily="34" charset="-122"/>
                <a:cs typeface="Meiryo UI" pitchFamily="34" charset="-120"/>
              </a:rPr>
              <a:t>AIの推奨と理由</a:t>
            </a:r>
            <a:endParaRPr lang="en-US" sz="850" dirty="0"/>
          </a:p>
        </p:txBody>
      </p:sp>
      <p:sp>
        <p:nvSpPr>
          <p:cNvPr id="68" name="Shape 66"/>
          <p:cNvSpPr/>
          <p:nvPr/>
        </p:nvSpPr>
        <p:spPr>
          <a:xfrm>
            <a:off x="3383280" y="2624328"/>
            <a:ext cx="2560320" cy="320040"/>
          </a:xfrm>
          <a:prstGeom prst="roundRect">
            <a:avLst>
              <a:gd name="adj" fmla="val 14286"/>
            </a:avLst>
          </a:prstGeom>
          <a:solidFill>
            <a:srgbClr val="D9F2F1"/>
          </a:solidFill>
          <a:ln/>
        </p:spPr>
      </p:sp>
      <p:sp>
        <p:nvSpPr>
          <p:cNvPr id="69" name="Text 67"/>
          <p:cNvSpPr txBox="1"/>
          <p:nvPr/>
        </p:nvSpPr>
        <p:spPr>
          <a:xfrm>
            <a:off x="3456432" y="2624328"/>
            <a:ext cx="640080" cy="320040"/>
          </a:xfrm>
          <a:prstGeom prst="rect">
            <a:avLst/>
          </a:prstGeom>
          <a:noFill/>
          <a:ln/>
        </p:spPr>
        <p:txBody>
          <a:bodyPr wrap="square" lIns="0" tIns="0" rIns="0" bIns="0" rtlCol="0" anchor="ctr"/>
          <a:lstStyle/>
          <a:p>
            <a:pPr indent="0" marL="0">
              <a:buNone/>
            </a:pPr>
            <a:r>
              <a:rPr lang="en-US" sz="800" b="1" dirty="0">
                <a:solidFill>
                  <a:srgbClr val="1B2A49"/>
                </a:solidFill>
                <a:latin typeface="Meiryo UI" pitchFamily="34" charset="0"/>
                <a:ea typeface="Meiryo UI" pitchFamily="34" charset="-122"/>
                <a:cs typeface="Meiryo UI" pitchFamily="34" charset="-120"/>
              </a:rPr>
              <a:t>商品B</a:t>
            </a:r>
            <a:endParaRPr lang="en-US" sz="800" dirty="0"/>
          </a:p>
        </p:txBody>
      </p:sp>
      <p:sp>
        <p:nvSpPr>
          <p:cNvPr id="70" name="Text 68"/>
          <p:cNvSpPr txBox="1"/>
          <p:nvPr/>
        </p:nvSpPr>
        <p:spPr>
          <a:xfrm>
            <a:off x="4041648" y="2624328"/>
            <a:ext cx="1874520" cy="320040"/>
          </a:xfrm>
          <a:prstGeom prst="rect">
            <a:avLst/>
          </a:prstGeom>
          <a:noFill/>
          <a:ln/>
        </p:spPr>
        <p:txBody>
          <a:bodyPr wrap="square" lIns="0" tIns="0" rIns="0" bIns="0" rtlCol="0" anchor="ctr"/>
          <a:lstStyle/>
          <a:p>
            <a:pPr indent="0" marL="0">
              <a:buNone/>
            </a:pPr>
            <a:r>
              <a:rPr lang="en-US" sz="650" dirty="0">
                <a:solidFill>
                  <a:srgbClr val="2B2B2B"/>
                </a:solidFill>
                <a:latin typeface="Meiryo UI" pitchFamily="34" charset="0"/>
                <a:ea typeface="Meiryo UI" pitchFamily="34" charset="-122"/>
                <a:cs typeface="Meiryo UI" pitchFamily="34" charset="-120"/>
              </a:rPr>
              <a:t>秋の新作・在庫多・前年同期に反応大</a:t>
            </a:r>
            <a:endParaRPr lang="en-US" sz="650" dirty="0"/>
          </a:p>
        </p:txBody>
      </p:sp>
      <p:sp>
        <p:nvSpPr>
          <p:cNvPr id="71" name="Shape 69"/>
          <p:cNvSpPr/>
          <p:nvPr/>
        </p:nvSpPr>
        <p:spPr>
          <a:xfrm>
            <a:off x="3383280" y="2990088"/>
            <a:ext cx="2560320" cy="320040"/>
          </a:xfrm>
          <a:prstGeom prst="roundRect">
            <a:avLst>
              <a:gd name="adj" fmla="val 14286"/>
            </a:avLst>
          </a:prstGeom>
          <a:solidFill>
            <a:srgbClr val="D9F2F1"/>
          </a:solidFill>
          <a:ln/>
        </p:spPr>
      </p:sp>
      <p:sp>
        <p:nvSpPr>
          <p:cNvPr id="72" name="Text 70"/>
          <p:cNvSpPr txBox="1"/>
          <p:nvPr/>
        </p:nvSpPr>
        <p:spPr>
          <a:xfrm>
            <a:off x="3456432" y="2990088"/>
            <a:ext cx="640080" cy="320040"/>
          </a:xfrm>
          <a:prstGeom prst="rect">
            <a:avLst/>
          </a:prstGeom>
          <a:noFill/>
          <a:ln/>
        </p:spPr>
        <p:txBody>
          <a:bodyPr wrap="square" lIns="0" tIns="0" rIns="0" bIns="0" rtlCol="0" anchor="ctr"/>
          <a:lstStyle/>
          <a:p>
            <a:pPr indent="0" marL="0">
              <a:buNone/>
            </a:pPr>
            <a:r>
              <a:rPr lang="en-US" sz="800" b="1" dirty="0">
                <a:solidFill>
                  <a:srgbClr val="1B2A49"/>
                </a:solidFill>
                <a:latin typeface="Meiryo UI" pitchFamily="34" charset="0"/>
                <a:ea typeface="Meiryo UI" pitchFamily="34" charset="-122"/>
                <a:cs typeface="Meiryo UI" pitchFamily="34" charset="-120"/>
              </a:rPr>
              <a:t>商品E</a:t>
            </a:r>
            <a:endParaRPr lang="en-US" sz="800" dirty="0"/>
          </a:p>
        </p:txBody>
      </p:sp>
      <p:sp>
        <p:nvSpPr>
          <p:cNvPr id="73" name="Text 71"/>
          <p:cNvSpPr txBox="1"/>
          <p:nvPr/>
        </p:nvSpPr>
        <p:spPr>
          <a:xfrm>
            <a:off x="4041648" y="2990088"/>
            <a:ext cx="1874520" cy="320040"/>
          </a:xfrm>
          <a:prstGeom prst="rect">
            <a:avLst/>
          </a:prstGeom>
          <a:noFill/>
          <a:ln/>
        </p:spPr>
        <p:txBody>
          <a:bodyPr wrap="square" lIns="0" tIns="0" rIns="0" bIns="0" rtlCol="0" anchor="ctr"/>
          <a:lstStyle/>
          <a:p>
            <a:pPr indent="0" marL="0">
              <a:buNone/>
            </a:pPr>
            <a:r>
              <a:rPr lang="en-US" sz="650" dirty="0">
                <a:solidFill>
                  <a:srgbClr val="2B2B2B"/>
                </a:solidFill>
                <a:latin typeface="Meiryo UI" pitchFamily="34" charset="0"/>
                <a:ea typeface="Meiryo UI" pitchFamily="34" charset="-122"/>
                <a:cs typeface="Meiryo UI" pitchFamily="34" charset="-120"/>
              </a:rPr>
              <a:t>売上上昇中・週末は気温低下の予報</a:t>
            </a:r>
            <a:endParaRPr lang="en-US" sz="650" dirty="0"/>
          </a:p>
        </p:txBody>
      </p:sp>
      <p:sp>
        <p:nvSpPr>
          <p:cNvPr id="74" name="Shape 72"/>
          <p:cNvSpPr/>
          <p:nvPr/>
        </p:nvSpPr>
        <p:spPr>
          <a:xfrm>
            <a:off x="3383280" y="3355848"/>
            <a:ext cx="2560320" cy="320040"/>
          </a:xfrm>
          <a:prstGeom prst="roundRect">
            <a:avLst>
              <a:gd name="adj" fmla="val 14286"/>
            </a:avLst>
          </a:prstGeom>
          <a:solidFill>
            <a:srgbClr val="D9F2F1"/>
          </a:solidFill>
          <a:ln/>
        </p:spPr>
      </p:sp>
      <p:sp>
        <p:nvSpPr>
          <p:cNvPr id="75" name="Text 73"/>
          <p:cNvSpPr txBox="1"/>
          <p:nvPr/>
        </p:nvSpPr>
        <p:spPr>
          <a:xfrm>
            <a:off x="3456432" y="3355848"/>
            <a:ext cx="640080" cy="320040"/>
          </a:xfrm>
          <a:prstGeom prst="rect">
            <a:avLst/>
          </a:prstGeom>
          <a:noFill/>
          <a:ln/>
        </p:spPr>
        <p:txBody>
          <a:bodyPr wrap="square" lIns="0" tIns="0" rIns="0" bIns="0" rtlCol="0" anchor="ctr"/>
          <a:lstStyle/>
          <a:p>
            <a:pPr indent="0" marL="0">
              <a:buNone/>
            </a:pPr>
            <a:r>
              <a:rPr lang="en-US" sz="800" b="1" dirty="0">
                <a:solidFill>
                  <a:srgbClr val="1B2A49"/>
                </a:solidFill>
                <a:latin typeface="Meiryo UI" pitchFamily="34" charset="0"/>
                <a:ea typeface="Meiryo UI" pitchFamily="34" charset="-122"/>
                <a:cs typeface="Meiryo UI" pitchFamily="34" charset="-120"/>
              </a:rPr>
              <a:t>商品D</a:t>
            </a:r>
            <a:endParaRPr lang="en-US" sz="800" dirty="0"/>
          </a:p>
        </p:txBody>
      </p:sp>
      <p:sp>
        <p:nvSpPr>
          <p:cNvPr id="76" name="Text 74"/>
          <p:cNvSpPr txBox="1"/>
          <p:nvPr/>
        </p:nvSpPr>
        <p:spPr>
          <a:xfrm>
            <a:off x="4041648" y="3355848"/>
            <a:ext cx="1874520" cy="320040"/>
          </a:xfrm>
          <a:prstGeom prst="rect">
            <a:avLst/>
          </a:prstGeom>
          <a:noFill/>
          <a:ln/>
        </p:spPr>
        <p:txBody>
          <a:bodyPr wrap="square" lIns="0" tIns="0" rIns="0" bIns="0" rtlCol="0" anchor="ctr"/>
          <a:lstStyle/>
          <a:p>
            <a:pPr indent="0" marL="0">
              <a:buNone/>
            </a:pPr>
            <a:r>
              <a:rPr lang="en-US" sz="650" dirty="0">
                <a:solidFill>
                  <a:srgbClr val="2B2B2B"/>
                </a:solidFill>
                <a:latin typeface="Meiryo UI" pitchFamily="34" charset="0"/>
                <a:ea typeface="Meiryo UI" pitchFamily="34" charset="-122"/>
                <a:cs typeface="Meiryo UI" pitchFamily="34" charset="-120"/>
              </a:rPr>
              <a:t>レビュー高評価・テーマと合う</a:t>
            </a:r>
            <a:endParaRPr lang="en-US" sz="650" dirty="0"/>
          </a:p>
        </p:txBody>
      </p:sp>
      <p:sp>
        <p:nvSpPr>
          <p:cNvPr id="77" name="Text 75"/>
          <p:cNvSpPr txBox="1"/>
          <p:nvPr/>
        </p:nvSpPr>
        <p:spPr>
          <a:xfrm>
            <a:off x="3383280" y="3767328"/>
            <a:ext cx="2560320" cy="219456"/>
          </a:xfrm>
          <a:prstGeom prst="rect">
            <a:avLst/>
          </a:prstGeom>
          <a:noFill/>
          <a:ln/>
        </p:spPr>
        <p:txBody>
          <a:bodyPr wrap="square" lIns="0" tIns="0" rIns="0" bIns="0" rtlCol="0" anchor="t"/>
          <a:lstStyle/>
          <a:p>
            <a:pPr indent="0" marL="0">
              <a:buNone/>
            </a:pPr>
            <a:r>
              <a:rPr lang="en-US" sz="850" b="1" dirty="0">
                <a:solidFill>
                  <a:srgbClr val="1B2A49"/>
                </a:solidFill>
                <a:latin typeface="Meiryo UI" pitchFamily="34" charset="0"/>
                <a:ea typeface="Meiryo UI" pitchFamily="34" charset="-122"/>
                <a:cs typeface="Meiryo UI" pitchFamily="34" charset="-120"/>
              </a:rPr>
              <a:t>候補商品（全件・ドラッグで入れ替え）</a:t>
            </a:r>
            <a:endParaRPr lang="en-US" sz="850" dirty="0"/>
          </a:p>
        </p:txBody>
      </p:sp>
      <p:sp>
        <p:nvSpPr>
          <p:cNvPr id="78" name="Shape 76"/>
          <p:cNvSpPr/>
          <p:nvPr/>
        </p:nvSpPr>
        <p:spPr>
          <a:xfrm>
            <a:off x="3383280" y="4014216"/>
            <a:ext cx="2560320" cy="320040"/>
          </a:xfrm>
          <a:prstGeom prst="roundRect">
            <a:avLst>
              <a:gd name="adj" fmla="val 14286"/>
            </a:avLst>
          </a:prstGeom>
          <a:solidFill>
            <a:srgbClr val="F3F5F8"/>
          </a:solidFill>
          <a:ln/>
        </p:spPr>
      </p:sp>
      <p:sp>
        <p:nvSpPr>
          <p:cNvPr id="79" name="Text 77"/>
          <p:cNvSpPr txBox="1"/>
          <p:nvPr/>
        </p:nvSpPr>
        <p:spPr>
          <a:xfrm>
            <a:off x="3419856" y="4014216"/>
            <a:ext cx="182880" cy="320040"/>
          </a:xfrm>
          <a:prstGeom prst="rect">
            <a:avLst/>
          </a:prstGeom>
          <a:noFill/>
          <a:ln/>
        </p:spPr>
        <p:txBody>
          <a:bodyPr wrap="square" lIns="0" tIns="0" rIns="0" bIns="0" rtlCol="0" anchor="ctr"/>
          <a:lstStyle/>
          <a:p>
            <a:pPr indent="0" marL="0">
              <a:buNone/>
            </a:pPr>
            <a:r>
              <a:rPr lang="en-US" sz="750" dirty="0">
                <a:solidFill>
                  <a:srgbClr val="6B7280"/>
                </a:solidFill>
                <a:latin typeface="Meiryo UI" pitchFamily="34" charset="0"/>
                <a:ea typeface="Meiryo UI" pitchFamily="34" charset="-122"/>
                <a:cs typeface="Meiryo UI" pitchFamily="34" charset="-120"/>
              </a:rPr>
              <a:t>⋮⋮</a:t>
            </a:r>
            <a:endParaRPr lang="en-US" sz="750" dirty="0"/>
          </a:p>
        </p:txBody>
      </p:sp>
      <p:sp>
        <p:nvSpPr>
          <p:cNvPr id="80" name="Text 78"/>
          <p:cNvSpPr txBox="1"/>
          <p:nvPr/>
        </p:nvSpPr>
        <p:spPr>
          <a:xfrm>
            <a:off x="3602736" y="4023360"/>
            <a:ext cx="2286000" cy="164592"/>
          </a:xfrm>
          <a:prstGeom prst="rect">
            <a:avLst/>
          </a:prstGeom>
          <a:noFill/>
          <a:ln/>
        </p:spPr>
        <p:txBody>
          <a:bodyPr wrap="square" lIns="0" tIns="0" rIns="0" bIns="0" rtlCol="0" anchor="t"/>
          <a:lstStyle/>
          <a:p>
            <a:pPr indent="0" marL="0">
              <a:buNone/>
            </a:pPr>
            <a:r>
              <a:rPr lang="en-US" sz="750" b="1" dirty="0">
                <a:solidFill>
                  <a:srgbClr val="1B2A49"/>
                </a:solidFill>
                <a:latin typeface="Meiryo UI" pitchFamily="34" charset="0"/>
                <a:ea typeface="Meiryo UI" pitchFamily="34" charset="-122"/>
                <a:cs typeface="Meiryo UI" pitchFamily="34" charset="-120"/>
              </a:rPr>
              <a:t>商品F｜ウールコート</a:t>
            </a:r>
            <a:endParaRPr lang="en-US" sz="750" dirty="0"/>
          </a:p>
        </p:txBody>
      </p:sp>
      <p:sp>
        <p:nvSpPr>
          <p:cNvPr id="81" name="Text 79"/>
          <p:cNvSpPr txBox="1"/>
          <p:nvPr/>
        </p:nvSpPr>
        <p:spPr>
          <a:xfrm>
            <a:off x="3602736" y="4178808"/>
            <a:ext cx="2286000" cy="137160"/>
          </a:xfrm>
          <a:prstGeom prst="rect">
            <a:avLst/>
          </a:prstGeom>
          <a:noFill/>
          <a:ln/>
        </p:spPr>
        <p:txBody>
          <a:bodyPr wrap="square" lIns="0" tIns="0" rIns="0" bIns="0" rtlCol="0" anchor="t"/>
          <a:lstStyle/>
          <a:p>
            <a:pPr indent="0" marL="0">
              <a:buNone/>
            </a:pPr>
            <a:r>
              <a:rPr lang="en-US" sz="650" dirty="0">
                <a:solidFill>
                  <a:srgbClr val="6B7280"/>
                </a:solidFill>
                <a:latin typeface="Meiryo UI" pitchFamily="34" charset="0"/>
                <a:ea typeface="Meiryo UI" pitchFamily="34" charset="-122"/>
                <a:cs typeface="Meiryo UI" pitchFamily="34" charset="-120"/>
              </a:rPr>
              <a:t>在庫中｜レビュー4.6</a:t>
            </a:r>
            <a:endParaRPr lang="en-US" sz="650" dirty="0"/>
          </a:p>
        </p:txBody>
      </p:sp>
      <p:sp>
        <p:nvSpPr>
          <p:cNvPr id="82" name="Shape 80"/>
          <p:cNvSpPr/>
          <p:nvPr/>
        </p:nvSpPr>
        <p:spPr>
          <a:xfrm>
            <a:off x="3383280" y="4379976"/>
            <a:ext cx="2560320" cy="320040"/>
          </a:xfrm>
          <a:prstGeom prst="roundRect">
            <a:avLst>
              <a:gd name="adj" fmla="val 14286"/>
            </a:avLst>
          </a:prstGeom>
          <a:solidFill>
            <a:srgbClr val="FDEBD3"/>
          </a:solidFill>
          <a:ln w="12700">
            <a:solidFill>
              <a:srgbClr val="E8912D"/>
            </a:solidFill>
            <a:prstDash val="solid"/>
          </a:ln>
        </p:spPr>
      </p:sp>
      <p:sp>
        <p:nvSpPr>
          <p:cNvPr id="83" name="Text 81"/>
          <p:cNvSpPr txBox="1"/>
          <p:nvPr/>
        </p:nvSpPr>
        <p:spPr>
          <a:xfrm>
            <a:off x="3419856" y="4379976"/>
            <a:ext cx="182880" cy="320040"/>
          </a:xfrm>
          <a:prstGeom prst="rect">
            <a:avLst/>
          </a:prstGeom>
          <a:noFill/>
          <a:ln/>
        </p:spPr>
        <p:txBody>
          <a:bodyPr wrap="square" lIns="0" tIns="0" rIns="0" bIns="0" rtlCol="0" anchor="ctr"/>
          <a:lstStyle/>
          <a:p>
            <a:pPr indent="0" marL="0">
              <a:buNone/>
            </a:pPr>
            <a:r>
              <a:rPr lang="en-US" sz="750" dirty="0">
                <a:solidFill>
                  <a:srgbClr val="6B7280"/>
                </a:solidFill>
                <a:latin typeface="Meiryo UI" pitchFamily="34" charset="0"/>
                <a:ea typeface="Meiryo UI" pitchFamily="34" charset="-122"/>
                <a:cs typeface="Meiryo UI" pitchFamily="34" charset="-120"/>
              </a:rPr>
              <a:t>⋮⋮</a:t>
            </a:r>
            <a:endParaRPr lang="en-US" sz="750" dirty="0"/>
          </a:p>
        </p:txBody>
      </p:sp>
      <p:sp>
        <p:nvSpPr>
          <p:cNvPr id="84" name="Text 82"/>
          <p:cNvSpPr txBox="1"/>
          <p:nvPr/>
        </p:nvSpPr>
        <p:spPr>
          <a:xfrm>
            <a:off x="3602736" y="4389120"/>
            <a:ext cx="2286000" cy="164592"/>
          </a:xfrm>
          <a:prstGeom prst="rect">
            <a:avLst/>
          </a:prstGeom>
          <a:noFill/>
          <a:ln/>
        </p:spPr>
        <p:txBody>
          <a:bodyPr wrap="square" lIns="0" tIns="0" rIns="0" bIns="0" rtlCol="0" anchor="t"/>
          <a:lstStyle/>
          <a:p>
            <a:pPr indent="0" marL="0">
              <a:buNone/>
            </a:pPr>
            <a:r>
              <a:rPr lang="en-US" sz="750" b="1" dirty="0">
                <a:solidFill>
                  <a:srgbClr val="1B2A49"/>
                </a:solidFill>
                <a:latin typeface="Meiryo UI" pitchFamily="34" charset="0"/>
                <a:ea typeface="Meiryo UI" pitchFamily="34" charset="-122"/>
                <a:cs typeface="Meiryo UI" pitchFamily="34" charset="-120"/>
              </a:rPr>
              <a:t>商品G｜ブーツ</a:t>
            </a:r>
            <a:endParaRPr lang="en-US" sz="750" dirty="0"/>
          </a:p>
        </p:txBody>
      </p:sp>
      <p:sp>
        <p:nvSpPr>
          <p:cNvPr id="85" name="Text 83"/>
          <p:cNvSpPr txBox="1"/>
          <p:nvPr/>
        </p:nvSpPr>
        <p:spPr>
          <a:xfrm>
            <a:off x="3602736" y="4544568"/>
            <a:ext cx="2286000" cy="137160"/>
          </a:xfrm>
          <a:prstGeom prst="rect">
            <a:avLst/>
          </a:prstGeom>
          <a:noFill/>
          <a:ln/>
        </p:spPr>
        <p:txBody>
          <a:bodyPr wrap="square" lIns="0" tIns="0" rIns="0" bIns="0" rtlCol="0" anchor="t"/>
          <a:lstStyle/>
          <a:p>
            <a:pPr indent="0" marL="0">
              <a:buNone/>
            </a:pPr>
            <a:r>
              <a:rPr lang="en-US" sz="650" dirty="0">
                <a:solidFill>
                  <a:srgbClr val="6B7280"/>
                </a:solidFill>
                <a:latin typeface="Meiryo UI" pitchFamily="34" charset="0"/>
                <a:ea typeface="Meiryo UI" pitchFamily="34" charset="-122"/>
                <a:cs typeface="Meiryo UI" pitchFamily="34" charset="-120"/>
              </a:rPr>
              <a:t>在庫多｜雨予報◎</a:t>
            </a:r>
            <a:endParaRPr lang="en-US" sz="650" dirty="0"/>
          </a:p>
        </p:txBody>
      </p:sp>
      <p:sp>
        <p:nvSpPr>
          <p:cNvPr id="86" name="Shape 84"/>
          <p:cNvSpPr/>
          <p:nvPr/>
        </p:nvSpPr>
        <p:spPr>
          <a:xfrm>
            <a:off x="3383280" y="4745736"/>
            <a:ext cx="2560320" cy="320040"/>
          </a:xfrm>
          <a:prstGeom prst="roundRect">
            <a:avLst>
              <a:gd name="adj" fmla="val 14286"/>
            </a:avLst>
          </a:prstGeom>
          <a:solidFill>
            <a:srgbClr val="F3F5F8"/>
          </a:solidFill>
          <a:ln/>
        </p:spPr>
      </p:sp>
      <p:sp>
        <p:nvSpPr>
          <p:cNvPr id="87" name="Text 85"/>
          <p:cNvSpPr txBox="1"/>
          <p:nvPr/>
        </p:nvSpPr>
        <p:spPr>
          <a:xfrm>
            <a:off x="3419856" y="4745736"/>
            <a:ext cx="182880" cy="320040"/>
          </a:xfrm>
          <a:prstGeom prst="rect">
            <a:avLst/>
          </a:prstGeom>
          <a:noFill/>
          <a:ln/>
        </p:spPr>
        <p:txBody>
          <a:bodyPr wrap="square" lIns="0" tIns="0" rIns="0" bIns="0" rtlCol="0" anchor="ctr"/>
          <a:lstStyle/>
          <a:p>
            <a:pPr indent="0" marL="0">
              <a:buNone/>
            </a:pPr>
            <a:r>
              <a:rPr lang="en-US" sz="750" dirty="0">
                <a:solidFill>
                  <a:srgbClr val="6B7280"/>
                </a:solidFill>
                <a:latin typeface="Meiryo UI" pitchFamily="34" charset="0"/>
                <a:ea typeface="Meiryo UI" pitchFamily="34" charset="-122"/>
                <a:cs typeface="Meiryo UI" pitchFamily="34" charset="-120"/>
              </a:rPr>
              <a:t>⋮⋮</a:t>
            </a:r>
            <a:endParaRPr lang="en-US" sz="750" dirty="0"/>
          </a:p>
        </p:txBody>
      </p:sp>
      <p:sp>
        <p:nvSpPr>
          <p:cNvPr id="88" name="Text 86"/>
          <p:cNvSpPr txBox="1"/>
          <p:nvPr/>
        </p:nvSpPr>
        <p:spPr>
          <a:xfrm>
            <a:off x="3602736" y="4754880"/>
            <a:ext cx="2286000" cy="164592"/>
          </a:xfrm>
          <a:prstGeom prst="rect">
            <a:avLst/>
          </a:prstGeom>
          <a:noFill/>
          <a:ln/>
        </p:spPr>
        <p:txBody>
          <a:bodyPr wrap="square" lIns="0" tIns="0" rIns="0" bIns="0" rtlCol="0" anchor="t"/>
          <a:lstStyle/>
          <a:p>
            <a:pPr indent="0" marL="0">
              <a:buNone/>
            </a:pPr>
            <a:r>
              <a:rPr lang="en-US" sz="750" b="1" dirty="0">
                <a:solidFill>
                  <a:srgbClr val="1B2A49"/>
                </a:solidFill>
                <a:latin typeface="Meiryo UI" pitchFamily="34" charset="0"/>
                <a:ea typeface="Meiryo UI" pitchFamily="34" charset="-122"/>
                <a:cs typeface="Meiryo UI" pitchFamily="34" charset="-120"/>
              </a:rPr>
              <a:t>商品H｜マフラー</a:t>
            </a:r>
            <a:endParaRPr lang="en-US" sz="750" dirty="0"/>
          </a:p>
        </p:txBody>
      </p:sp>
      <p:sp>
        <p:nvSpPr>
          <p:cNvPr id="89" name="Text 87"/>
          <p:cNvSpPr txBox="1"/>
          <p:nvPr/>
        </p:nvSpPr>
        <p:spPr>
          <a:xfrm>
            <a:off x="3602736" y="4910328"/>
            <a:ext cx="2286000" cy="137160"/>
          </a:xfrm>
          <a:prstGeom prst="rect">
            <a:avLst/>
          </a:prstGeom>
          <a:noFill/>
          <a:ln/>
        </p:spPr>
        <p:txBody>
          <a:bodyPr wrap="square" lIns="0" tIns="0" rIns="0" bIns="0" rtlCol="0" anchor="t"/>
          <a:lstStyle/>
          <a:p>
            <a:pPr indent="0" marL="0">
              <a:buNone/>
            </a:pPr>
            <a:r>
              <a:rPr lang="en-US" sz="650" dirty="0">
                <a:solidFill>
                  <a:srgbClr val="6B7280"/>
                </a:solidFill>
                <a:latin typeface="Meiryo UI" pitchFamily="34" charset="0"/>
                <a:ea typeface="Meiryo UI" pitchFamily="34" charset="-122"/>
                <a:cs typeface="Meiryo UI" pitchFamily="34" charset="-120"/>
              </a:rPr>
              <a:t>在庫少｜売上↑</a:t>
            </a:r>
            <a:endParaRPr lang="en-US" sz="650" dirty="0"/>
          </a:p>
        </p:txBody>
      </p:sp>
      <p:sp>
        <p:nvSpPr>
          <p:cNvPr id="90" name="Shape 88"/>
          <p:cNvSpPr/>
          <p:nvPr/>
        </p:nvSpPr>
        <p:spPr>
          <a:xfrm>
            <a:off x="3383280" y="5111496"/>
            <a:ext cx="2560320" cy="320040"/>
          </a:xfrm>
          <a:prstGeom prst="roundRect">
            <a:avLst>
              <a:gd name="adj" fmla="val 14286"/>
            </a:avLst>
          </a:prstGeom>
          <a:solidFill>
            <a:srgbClr val="F3F5F8"/>
          </a:solidFill>
          <a:ln/>
        </p:spPr>
      </p:sp>
      <p:sp>
        <p:nvSpPr>
          <p:cNvPr id="91" name="Text 89"/>
          <p:cNvSpPr txBox="1"/>
          <p:nvPr/>
        </p:nvSpPr>
        <p:spPr>
          <a:xfrm>
            <a:off x="3419856" y="5111496"/>
            <a:ext cx="182880" cy="320040"/>
          </a:xfrm>
          <a:prstGeom prst="rect">
            <a:avLst/>
          </a:prstGeom>
          <a:noFill/>
          <a:ln/>
        </p:spPr>
        <p:txBody>
          <a:bodyPr wrap="square" lIns="0" tIns="0" rIns="0" bIns="0" rtlCol="0" anchor="ctr"/>
          <a:lstStyle/>
          <a:p>
            <a:pPr indent="0" marL="0">
              <a:buNone/>
            </a:pPr>
            <a:r>
              <a:rPr lang="en-US" sz="750" dirty="0">
                <a:solidFill>
                  <a:srgbClr val="6B7280"/>
                </a:solidFill>
                <a:latin typeface="Meiryo UI" pitchFamily="34" charset="0"/>
                <a:ea typeface="Meiryo UI" pitchFamily="34" charset="-122"/>
                <a:cs typeface="Meiryo UI" pitchFamily="34" charset="-120"/>
              </a:rPr>
              <a:t>⋮⋮</a:t>
            </a:r>
            <a:endParaRPr lang="en-US" sz="750" dirty="0"/>
          </a:p>
        </p:txBody>
      </p:sp>
      <p:sp>
        <p:nvSpPr>
          <p:cNvPr id="92" name="Text 90"/>
          <p:cNvSpPr txBox="1"/>
          <p:nvPr/>
        </p:nvSpPr>
        <p:spPr>
          <a:xfrm>
            <a:off x="3602736" y="5120640"/>
            <a:ext cx="2286000" cy="164592"/>
          </a:xfrm>
          <a:prstGeom prst="rect">
            <a:avLst/>
          </a:prstGeom>
          <a:noFill/>
          <a:ln/>
        </p:spPr>
        <p:txBody>
          <a:bodyPr wrap="square" lIns="0" tIns="0" rIns="0" bIns="0" rtlCol="0" anchor="t"/>
          <a:lstStyle/>
          <a:p>
            <a:pPr indent="0" marL="0">
              <a:buNone/>
            </a:pPr>
            <a:r>
              <a:rPr lang="en-US" sz="750" b="1" dirty="0">
                <a:solidFill>
                  <a:srgbClr val="1B2A49"/>
                </a:solidFill>
                <a:latin typeface="Meiryo UI" pitchFamily="34" charset="0"/>
                <a:ea typeface="Meiryo UI" pitchFamily="34" charset="-122"/>
                <a:cs typeface="Meiryo UI" pitchFamily="34" charset="-120"/>
              </a:rPr>
              <a:t>商品I｜ニット帽</a:t>
            </a:r>
            <a:endParaRPr lang="en-US" sz="750" dirty="0"/>
          </a:p>
        </p:txBody>
      </p:sp>
      <p:sp>
        <p:nvSpPr>
          <p:cNvPr id="93" name="Text 91"/>
          <p:cNvSpPr txBox="1"/>
          <p:nvPr/>
        </p:nvSpPr>
        <p:spPr>
          <a:xfrm>
            <a:off x="3602736" y="5276088"/>
            <a:ext cx="2286000" cy="137160"/>
          </a:xfrm>
          <a:prstGeom prst="rect">
            <a:avLst/>
          </a:prstGeom>
          <a:noFill/>
          <a:ln/>
        </p:spPr>
        <p:txBody>
          <a:bodyPr wrap="square" lIns="0" tIns="0" rIns="0" bIns="0" rtlCol="0" anchor="t"/>
          <a:lstStyle/>
          <a:p>
            <a:pPr indent="0" marL="0">
              <a:buNone/>
            </a:pPr>
            <a:r>
              <a:rPr lang="en-US" sz="650" dirty="0">
                <a:solidFill>
                  <a:srgbClr val="6B7280"/>
                </a:solidFill>
                <a:latin typeface="Meiryo UI" pitchFamily="34" charset="0"/>
                <a:ea typeface="Meiryo UI" pitchFamily="34" charset="-122"/>
                <a:cs typeface="Meiryo UI" pitchFamily="34" charset="-120"/>
              </a:rPr>
              <a:t>在庫多｜新作</a:t>
            </a:r>
            <a:endParaRPr lang="en-US" sz="650" dirty="0"/>
          </a:p>
        </p:txBody>
      </p:sp>
      <p:sp>
        <p:nvSpPr>
          <p:cNvPr id="94" name="Text 92"/>
          <p:cNvSpPr txBox="1"/>
          <p:nvPr/>
        </p:nvSpPr>
        <p:spPr>
          <a:xfrm>
            <a:off x="6080760" y="2377440"/>
            <a:ext cx="1828800" cy="219456"/>
          </a:xfrm>
          <a:prstGeom prst="rect">
            <a:avLst/>
          </a:prstGeom>
          <a:noFill/>
          <a:ln/>
        </p:spPr>
        <p:txBody>
          <a:bodyPr wrap="square" lIns="0" tIns="0" rIns="0" bIns="0" rtlCol="0" anchor="t"/>
          <a:lstStyle/>
          <a:p>
            <a:pPr indent="0" marL="0">
              <a:buNone/>
            </a:pPr>
            <a:r>
              <a:rPr lang="en-US" sz="850" b="1" dirty="0">
                <a:solidFill>
                  <a:srgbClr val="1B2A49"/>
                </a:solidFill>
                <a:latin typeface="Meiryo UI" pitchFamily="34" charset="0"/>
                <a:ea typeface="Meiryo UI" pitchFamily="34" charset="-122"/>
                <a:cs typeface="Meiryo UI" pitchFamily="34" charset="-120"/>
              </a:rPr>
              <a:t>掲載枠</a:t>
            </a:r>
            <a:endParaRPr lang="en-US" sz="850" dirty="0"/>
          </a:p>
        </p:txBody>
      </p:sp>
      <p:sp>
        <p:nvSpPr>
          <p:cNvPr id="95" name="Shape 93"/>
          <p:cNvSpPr/>
          <p:nvPr/>
        </p:nvSpPr>
        <p:spPr>
          <a:xfrm>
            <a:off x="6080760" y="2624328"/>
            <a:ext cx="896112" cy="685800"/>
          </a:xfrm>
          <a:prstGeom prst="roundRect">
            <a:avLst>
              <a:gd name="adj" fmla="val 6667"/>
            </a:avLst>
          </a:prstGeom>
          <a:solidFill>
            <a:srgbClr val="F3F5F8"/>
          </a:solidFill>
          <a:ln w="12700">
            <a:solidFill>
              <a:srgbClr val="D5DBE3"/>
            </a:solidFill>
            <a:prstDash val="solid"/>
          </a:ln>
        </p:spPr>
      </p:sp>
      <p:sp>
        <p:nvSpPr>
          <p:cNvPr id="96" name="Shape 94"/>
          <p:cNvSpPr/>
          <p:nvPr/>
        </p:nvSpPr>
        <p:spPr>
          <a:xfrm>
            <a:off x="6300216" y="2679192"/>
            <a:ext cx="457200" cy="347472"/>
          </a:xfrm>
          <a:prstGeom prst="roundRect">
            <a:avLst>
              <a:gd name="adj" fmla="val 7895"/>
            </a:avLst>
          </a:prstGeom>
          <a:solidFill>
            <a:srgbClr val="E4E8EE"/>
          </a:solidFill>
          <a:ln/>
        </p:spPr>
      </p:sp>
      <p:sp>
        <p:nvSpPr>
          <p:cNvPr id="97" name="Text 95"/>
          <p:cNvSpPr txBox="1"/>
          <p:nvPr/>
        </p:nvSpPr>
        <p:spPr>
          <a:xfrm>
            <a:off x="6080760" y="3044952"/>
            <a:ext cx="896112" cy="237744"/>
          </a:xfrm>
          <a:prstGeom prst="rect">
            <a:avLst/>
          </a:prstGeom>
          <a:noFill/>
          <a:ln/>
        </p:spPr>
        <p:txBody>
          <a:bodyPr wrap="square" lIns="0" tIns="0" rIns="0" bIns="0" rtlCol="0" anchor="ctr"/>
          <a:lstStyle/>
          <a:p>
            <a:pPr algn="ctr" indent="0" marL="0">
              <a:buNone/>
            </a:pPr>
            <a:r>
              <a:rPr lang="en-US" sz="700" b="1" dirty="0">
                <a:solidFill>
                  <a:srgbClr val="1B2A49"/>
                </a:solidFill>
                <a:latin typeface="Meiryo UI" pitchFamily="34" charset="0"/>
                <a:ea typeface="Meiryo UI" pitchFamily="34" charset="-122"/>
                <a:cs typeface="Meiryo UI" pitchFamily="34" charset="-120"/>
              </a:rPr>
              <a:t>商品B</a:t>
            </a:r>
            <a:endParaRPr lang="en-US" sz="700" dirty="0"/>
          </a:p>
        </p:txBody>
      </p:sp>
      <p:sp>
        <p:nvSpPr>
          <p:cNvPr id="98" name="Shape 96"/>
          <p:cNvSpPr/>
          <p:nvPr/>
        </p:nvSpPr>
        <p:spPr>
          <a:xfrm>
            <a:off x="7059168" y="2624328"/>
            <a:ext cx="896112" cy="685800"/>
          </a:xfrm>
          <a:prstGeom prst="roundRect">
            <a:avLst>
              <a:gd name="adj" fmla="val 6667"/>
            </a:avLst>
          </a:prstGeom>
          <a:solidFill>
            <a:srgbClr val="FDEBD3"/>
          </a:solidFill>
          <a:ln w="12700">
            <a:solidFill>
              <a:srgbClr val="E8912D"/>
            </a:solidFill>
            <a:prstDash val="dash"/>
          </a:ln>
        </p:spPr>
      </p:sp>
      <p:sp>
        <p:nvSpPr>
          <p:cNvPr id="99" name="Text 97"/>
          <p:cNvSpPr txBox="1"/>
          <p:nvPr/>
        </p:nvSpPr>
        <p:spPr>
          <a:xfrm>
            <a:off x="7059168" y="2624328"/>
            <a:ext cx="896112" cy="685800"/>
          </a:xfrm>
          <a:prstGeom prst="rect">
            <a:avLst/>
          </a:prstGeom>
          <a:noFill/>
          <a:ln/>
        </p:spPr>
        <p:txBody>
          <a:bodyPr wrap="square" lIns="0" tIns="0" rIns="0" bIns="0" rtlCol="0" anchor="ctr"/>
          <a:lstStyle/>
          <a:p>
            <a:pPr algn="ctr" indent="0" marL="0">
              <a:buNone/>
            </a:pPr>
            <a:r>
              <a:rPr lang="en-US" sz="700" b="1" dirty="0">
                <a:solidFill>
                  <a:srgbClr val="E8912D"/>
                </a:solidFill>
                <a:latin typeface="Meiryo UI" pitchFamily="34" charset="0"/>
                <a:ea typeface="Meiryo UI" pitchFamily="34" charset="-122"/>
                <a:cs typeface="Meiryo UI" pitchFamily="34" charset="-120"/>
              </a:rPr>
              <a:t>ここにドロップ</a:t>
            </a:r>
            <a:endParaRPr lang="en-US" sz="700" dirty="0"/>
          </a:p>
          <a:p>
            <a:pPr algn="ctr" indent="0" marL="0">
              <a:buNone/>
            </a:pPr>
            <a:r>
              <a:rPr lang="en-US" sz="700" b="1" dirty="0">
                <a:solidFill>
                  <a:srgbClr val="E8912D"/>
                </a:solidFill>
                <a:latin typeface="Meiryo UI" pitchFamily="34" charset="0"/>
                <a:ea typeface="Meiryo UI" pitchFamily="34" charset="-122"/>
                <a:cs typeface="Meiryo UI" pitchFamily="34" charset="-120"/>
              </a:rPr>
              <a:t>商品E → 商品G</a:t>
            </a:r>
            <a:endParaRPr lang="en-US" sz="700" dirty="0"/>
          </a:p>
        </p:txBody>
      </p:sp>
      <p:sp>
        <p:nvSpPr>
          <p:cNvPr id="100" name="Shape 98"/>
          <p:cNvSpPr/>
          <p:nvPr/>
        </p:nvSpPr>
        <p:spPr>
          <a:xfrm>
            <a:off x="8037576" y="2624328"/>
            <a:ext cx="896112" cy="685800"/>
          </a:xfrm>
          <a:prstGeom prst="roundRect">
            <a:avLst>
              <a:gd name="adj" fmla="val 6667"/>
            </a:avLst>
          </a:prstGeom>
          <a:solidFill>
            <a:srgbClr val="F3F5F8"/>
          </a:solidFill>
          <a:ln w="12700">
            <a:solidFill>
              <a:srgbClr val="D5DBE3"/>
            </a:solidFill>
            <a:prstDash val="solid"/>
          </a:ln>
        </p:spPr>
      </p:sp>
      <p:sp>
        <p:nvSpPr>
          <p:cNvPr id="101" name="Shape 99"/>
          <p:cNvSpPr/>
          <p:nvPr/>
        </p:nvSpPr>
        <p:spPr>
          <a:xfrm>
            <a:off x="8257032" y="2679192"/>
            <a:ext cx="457200" cy="347472"/>
          </a:xfrm>
          <a:prstGeom prst="roundRect">
            <a:avLst>
              <a:gd name="adj" fmla="val 7895"/>
            </a:avLst>
          </a:prstGeom>
          <a:solidFill>
            <a:srgbClr val="E4E8EE"/>
          </a:solidFill>
          <a:ln/>
        </p:spPr>
      </p:sp>
      <p:sp>
        <p:nvSpPr>
          <p:cNvPr id="102" name="Text 100"/>
          <p:cNvSpPr txBox="1"/>
          <p:nvPr/>
        </p:nvSpPr>
        <p:spPr>
          <a:xfrm>
            <a:off x="8037576" y="3044952"/>
            <a:ext cx="896112" cy="237744"/>
          </a:xfrm>
          <a:prstGeom prst="rect">
            <a:avLst/>
          </a:prstGeom>
          <a:noFill/>
          <a:ln/>
        </p:spPr>
        <p:txBody>
          <a:bodyPr wrap="square" lIns="0" tIns="0" rIns="0" bIns="0" rtlCol="0" anchor="ctr"/>
          <a:lstStyle/>
          <a:p>
            <a:pPr algn="ctr" indent="0" marL="0">
              <a:buNone/>
            </a:pPr>
            <a:r>
              <a:rPr lang="en-US" sz="700" b="1" dirty="0">
                <a:solidFill>
                  <a:srgbClr val="1B2A49"/>
                </a:solidFill>
                <a:latin typeface="Meiryo UI" pitchFamily="34" charset="0"/>
                <a:ea typeface="Meiryo UI" pitchFamily="34" charset="-122"/>
                <a:cs typeface="Meiryo UI" pitchFamily="34" charset="-120"/>
              </a:rPr>
              <a:t>商品D</a:t>
            </a:r>
            <a:endParaRPr lang="en-US" sz="700" dirty="0"/>
          </a:p>
        </p:txBody>
      </p:sp>
      <p:sp>
        <p:nvSpPr>
          <p:cNvPr id="103" name="Shape 101"/>
          <p:cNvSpPr/>
          <p:nvPr/>
        </p:nvSpPr>
        <p:spPr>
          <a:xfrm flipV="1">
            <a:off x="5961888" y="3337560"/>
            <a:ext cx="1490472" cy="1234440"/>
          </a:xfrm>
          <a:prstGeom prst="line">
            <a:avLst/>
          </a:prstGeom>
          <a:noFill/>
          <a:ln w="25400">
            <a:solidFill>
              <a:srgbClr val="E8912D"/>
            </a:solidFill>
            <a:prstDash val="dash"/>
            <a:tailEnd type="triangle"/>
          </a:ln>
        </p:spPr>
      </p:sp>
      <p:sp>
        <p:nvSpPr>
          <p:cNvPr id="104" name="Text 102"/>
          <p:cNvSpPr txBox="1"/>
          <p:nvPr/>
        </p:nvSpPr>
        <p:spPr>
          <a:xfrm>
            <a:off x="6080760" y="3474720"/>
            <a:ext cx="1828800" cy="219456"/>
          </a:xfrm>
          <a:prstGeom prst="rect">
            <a:avLst/>
          </a:prstGeom>
          <a:noFill/>
          <a:ln/>
        </p:spPr>
        <p:txBody>
          <a:bodyPr wrap="square" lIns="0" tIns="0" rIns="0" bIns="0" rtlCol="0" anchor="t"/>
          <a:lstStyle/>
          <a:p>
            <a:pPr indent="0" marL="0">
              <a:buNone/>
            </a:pPr>
            <a:r>
              <a:rPr lang="en-US" sz="850" b="1" dirty="0">
                <a:solidFill>
                  <a:srgbClr val="1B2A49"/>
                </a:solidFill>
                <a:latin typeface="Meiryo UI" pitchFamily="34" charset="0"/>
                <a:ea typeface="Meiryo UI" pitchFamily="34" charset="-122"/>
                <a:cs typeface="Meiryo UI" pitchFamily="34" charset="-120"/>
              </a:rPr>
              <a:t>プレビュー</a:t>
            </a:r>
            <a:endParaRPr lang="en-US" sz="850" dirty="0"/>
          </a:p>
        </p:txBody>
      </p:sp>
      <p:sp>
        <p:nvSpPr>
          <p:cNvPr id="105" name="Shape 103"/>
          <p:cNvSpPr/>
          <p:nvPr/>
        </p:nvSpPr>
        <p:spPr>
          <a:xfrm>
            <a:off x="6080760" y="3721608"/>
            <a:ext cx="2834640" cy="1463040"/>
          </a:xfrm>
          <a:prstGeom prst="roundRect">
            <a:avLst>
              <a:gd name="adj" fmla="val 2500"/>
            </a:avLst>
          </a:prstGeom>
          <a:solidFill>
            <a:srgbClr val="F3F5F8"/>
          </a:solidFill>
          <a:ln w="12700">
            <a:solidFill>
              <a:srgbClr val="D5DBE3"/>
            </a:solidFill>
            <a:prstDash val="solid"/>
          </a:ln>
        </p:spPr>
      </p:sp>
      <p:sp>
        <p:nvSpPr>
          <p:cNvPr id="106" name="Shape 104"/>
          <p:cNvSpPr/>
          <p:nvPr/>
        </p:nvSpPr>
        <p:spPr>
          <a:xfrm>
            <a:off x="6172200" y="3794760"/>
            <a:ext cx="2651760" cy="502920"/>
          </a:xfrm>
          <a:prstGeom prst="roundRect">
            <a:avLst>
              <a:gd name="adj" fmla="val 5455"/>
            </a:avLst>
          </a:prstGeom>
          <a:solidFill>
            <a:srgbClr val="E4E8EE"/>
          </a:solidFill>
          <a:ln/>
        </p:spPr>
      </p:sp>
      <p:sp>
        <p:nvSpPr>
          <p:cNvPr id="107" name="Text 105"/>
          <p:cNvSpPr txBox="1"/>
          <p:nvPr/>
        </p:nvSpPr>
        <p:spPr>
          <a:xfrm>
            <a:off x="6172200" y="3794760"/>
            <a:ext cx="2651760" cy="502920"/>
          </a:xfrm>
          <a:prstGeom prst="rect">
            <a:avLst/>
          </a:prstGeom>
          <a:noFill/>
          <a:ln/>
        </p:spPr>
        <p:txBody>
          <a:bodyPr wrap="square" lIns="0" tIns="0" rIns="0" bIns="0" rtlCol="0" anchor="ctr"/>
          <a:lstStyle/>
          <a:p>
            <a:pPr algn="ctr" indent="0" marL="0">
              <a:buNone/>
            </a:pPr>
            <a:r>
              <a:rPr lang="en-US" sz="750" dirty="0">
                <a:solidFill>
                  <a:srgbClr val="6B7280"/>
                </a:solidFill>
                <a:latin typeface="Meiryo UI" pitchFamily="34" charset="0"/>
                <a:ea typeface="Meiryo UI" pitchFamily="34" charset="-122"/>
                <a:cs typeface="Meiryo UI" pitchFamily="34" charset="-120"/>
              </a:rPr>
              <a:t>メインビジュアル</a:t>
            </a:r>
            <a:endParaRPr lang="en-US" sz="750" dirty="0"/>
          </a:p>
        </p:txBody>
      </p:sp>
      <p:sp>
        <p:nvSpPr>
          <p:cNvPr id="108" name="Shape 106"/>
          <p:cNvSpPr/>
          <p:nvPr/>
        </p:nvSpPr>
        <p:spPr>
          <a:xfrm>
            <a:off x="6263640" y="4416552"/>
            <a:ext cx="749808" cy="640080"/>
          </a:xfrm>
          <a:prstGeom prst="roundRect">
            <a:avLst>
              <a:gd name="adj" fmla="val 4286"/>
            </a:avLst>
          </a:prstGeom>
          <a:solidFill>
            <a:srgbClr val="FFFFFF"/>
          </a:solidFill>
          <a:ln w="12700">
            <a:solidFill>
              <a:srgbClr val="D5DBE3"/>
            </a:solidFill>
            <a:prstDash val="solid"/>
          </a:ln>
        </p:spPr>
      </p:sp>
      <p:sp>
        <p:nvSpPr>
          <p:cNvPr id="109" name="Text 107"/>
          <p:cNvSpPr txBox="1"/>
          <p:nvPr/>
        </p:nvSpPr>
        <p:spPr>
          <a:xfrm>
            <a:off x="6263640" y="4416552"/>
            <a:ext cx="749808" cy="640080"/>
          </a:xfrm>
          <a:prstGeom prst="rect">
            <a:avLst/>
          </a:prstGeom>
          <a:noFill/>
          <a:ln/>
        </p:spPr>
        <p:txBody>
          <a:bodyPr wrap="square" lIns="0" tIns="0" rIns="0" bIns="0" rtlCol="0" anchor="ctr"/>
          <a:lstStyle/>
          <a:p>
            <a:pPr algn="ctr" indent="0" marL="0">
              <a:buNone/>
            </a:pPr>
            <a:r>
              <a:rPr lang="en-US" sz="700" dirty="0">
                <a:solidFill>
                  <a:srgbClr val="6B7280"/>
                </a:solidFill>
                <a:latin typeface="Meiryo UI" pitchFamily="34" charset="0"/>
                <a:ea typeface="Meiryo UI" pitchFamily="34" charset="-122"/>
                <a:cs typeface="Meiryo UI" pitchFamily="34" charset="-120"/>
              </a:rPr>
              <a:t>商品B</a:t>
            </a:r>
            <a:endParaRPr lang="en-US" sz="700" dirty="0"/>
          </a:p>
        </p:txBody>
      </p:sp>
      <p:sp>
        <p:nvSpPr>
          <p:cNvPr id="110" name="Shape 108"/>
          <p:cNvSpPr/>
          <p:nvPr/>
        </p:nvSpPr>
        <p:spPr>
          <a:xfrm>
            <a:off x="7132320" y="4416552"/>
            <a:ext cx="749808" cy="640080"/>
          </a:xfrm>
          <a:prstGeom prst="roundRect">
            <a:avLst>
              <a:gd name="adj" fmla="val 4286"/>
            </a:avLst>
          </a:prstGeom>
          <a:solidFill>
            <a:srgbClr val="FFFFFF"/>
          </a:solidFill>
          <a:ln w="12700">
            <a:solidFill>
              <a:srgbClr val="D5DBE3"/>
            </a:solidFill>
            <a:prstDash val="solid"/>
          </a:ln>
        </p:spPr>
      </p:sp>
      <p:sp>
        <p:nvSpPr>
          <p:cNvPr id="111" name="Text 109"/>
          <p:cNvSpPr txBox="1"/>
          <p:nvPr/>
        </p:nvSpPr>
        <p:spPr>
          <a:xfrm>
            <a:off x="7132320" y="4416552"/>
            <a:ext cx="749808" cy="640080"/>
          </a:xfrm>
          <a:prstGeom prst="rect">
            <a:avLst/>
          </a:prstGeom>
          <a:noFill/>
          <a:ln/>
        </p:spPr>
        <p:txBody>
          <a:bodyPr wrap="square" lIns="0" tIns="0" rIns="0" bIns="0" rtlCol="0" anchor="ctr"/>
          <a:lstStyle/>
          <a:p>
            <a:pPr algn="ctr" indent="0" marL="0">
              <a:buNone/>
            </a:pPr>
            <a:r>
              <a:rPr lang="en-US" sz="700" dirty="0">
                <a:solidFill>
                  <a:srgbClr val="6B7280"/>
                </a:solidFill>
                <a:latin typeface="Meiryo UI" pitchFamily="34" charset="0"/>
                <a:ea typeface="Meiryo UI" pitchFamily="34" charset="-122"/>
                <a:cs typeface="Meiryo UI" pitchFamily="34" charset="-120"/>
              </a:rPr>
              <a:t>商品G</a:t>
            </a:r>
            <a:endParaRPr lang="en-US" sz="700" dirty="0"/>
          </a:p>
        </p:txBody>
      </p:sp>
      <p:sp>
        <p:nvSpPr>
          <p:cNvPr id="112" name="Shape 110"/>
          <p:cNvSpPr/>
          <p:nvPr/>
        </p:nvSpPr>
        <p:spPr>
          <a:xfrm>
            <a:off x="8001000" y="4416552"/>
            <a:ext cx="749808" cy="640080"/>
          </a:xfrm>
          <a:prstGeom prst="roundRect">
            <a:avLst>
              <a:gd name="adj" fmla="val 4286"/>
            </a:avLst>
          </a:prstGeom>
          <a:solidFill>
            <a:srgbClr val="FFFFFF"/>
          </a:solidFill>
          <a:ln w="12700">
            <a:solidFill>
              <a:srgbClr val="D5DBE3"/>
            </a:solidFill>
            <a:prstDash val="solid"/>
          </a:ln>
        </p:spPr>
      </p:sp>
      <p:sp>
        <p:nvSpPr>
          <p:cNvPr id="113" name="Text 111"/>
          <p:cNvSpPr txBox="1"/>
          <p:nvPr/>
        </p:nvSpPr>
        <p:spPr>
          <a:xfrm>
            <a:off x="8001000" y="4416552"/>
            <a:ext cx="749808" cy="640080"/>
          </a:xfrm>
          <a:prstGeom prst="rect">
            <a:avLst/>
          </a:prstGeom>
          <a:noFill/>
          <a:ln/>
        </p:spPr>
        <p:txBody>
          <a:bodyPr wrap="square" lIns="0" tIns="0" rIns="0" bIns="0" rtlCol="0" anchor="ctr"/>
          <a:lstStyle/>
          <a:p>
            <a:pPr algn="ctr" indent="0" marL="0">
              <a:buNone/>
            </a:pPr>
            <a:r>
              <a:rPr lang="en-US" sz="700" dirty="0">
                <a:solidFill>
                  <a:srgbClr val="6B7280"/>
                </a:solidFill>
                <a:latin typeface="Meiryo UI" pitchFamily="34" charset="0"/>
                <a:ea typeface="Meiryo UI" pitchFamily="34" charset="-122"/>
                <a:cs typeface="Meiryo UI" pitchFamily="34" charset="-120"/>
              </a:rPr>
              <a:t>商品D</a:t>
            </a:r>
            <a:endParaRPr lang="en-US" sz="700" dirty="0"/>
          </a:p>
        </p:txBody>
      </p:sp>
      <p:sp>
        <p:nvSpPr>
          <p:cNvPr id="114" name="Shape 112"/>
          <p:cNvSpPr/>
          <p:nvPr/>
        </p:nvSpPr>
        <p:spPr>
          <a:xfrm>
            <a:off x="9006840" y="2377440"/>
            <a:ext cx="0" cy="2834640"/>
          </a:xfrm>
          <a:prstGeom prst="line">
            <a:avLst/>
          </a:prstGeom>
          <a:noFill/>
          <a:ln w="9525">
            <a:solidFill>
              <a:srgbClr val="D5DBE3"/>
            </a:solidFill>
            <a:prstDash val="solid"/>
          </a:ln>
        </p:spPr>
      </p:sp>
      <p:sp>
        <p:nvSpPr>
          <p:cNvPr id="115" name="Text 113"/>
          <p:cNvSpPr txBox="1"/>
          <p:nvPr/>
        </p:nvSpPr>
        <p:spPr>
          <a:xfrm>
            <a:off x="9098280" y="2377440"/>
            <a:ext cx="1828800" cy="219456"/>
          </a:xfrm>
          <a:prstGeom prst="rect">
            <a:avLst/>
          </a:prstGeom>
          <a:noFill/>
          <a:ln/>
        </p:spPr>
        <p:txBody>
          <a:bodyPr wrap="square" lIns="0" tIns="0" rIns="0" bIns="0" rtlCol="0" anchor="t"/>
          <a:lstStyle/>
          <a:p>
            <a:pPr indent="0" marL="0">
              <a:buNone/>
            </a:pPr>
            <a:r>
              <a:rPr lang="en-US" sz="850" b="1" dirty="0">
                <a:solidFill>
                  <a:srgbClr val="1B2A49"/>
                </a:solidFill>
                <a:latin typeface="Meiryo UI" pitchFamily="34" charset="0"/>
                <a:ea typeface="Meiryo UI" pitchFamily="34" charset="-122"/>
                <a:cs typeface="Meiryo UI" pitchFamily="34" charset="-120"/>
              </a:rPr>
              <a:t>チャット</a:t>
            </a:r>
            <a:endParaRPr lang="en-US" sz="850" dirty="0"/>
          </a:p>
        </p:txBody>
      </p:sp>
      <p:sp>
        <p:nvSpPr>
          <p:cNvPr id="116" name="Shape 114"/>
          <p:cNvSpPr/>
          <p:nvPr/>
        </p:nvSpPr>
        <p:spPr>
          <a:xfrm>
            <a:off x="9464040" y="2651760"/>
            <a:ext cx="1874520" cy="457200"/>
          </a:xfrm>
          <a:prstGeom prst="roundRect">
            <a:avLst>
              <a:gd name="adj" fmla="val 16000"/>
            </a:avLst>
          </a:prstGeom>
          <a:solidFill>
            <a:srgbClr val="FDEBD3"/>
          </a:solidFill>
          <a:ln/>
        </p:spPr>
      </p:sp>
      <p:sp>
        <p:nvSpPr>
          <p:cNvPr id="117" name="Text 115"/>
          <p:cNvSpPr txBox="1"/>
          <p:nvPr/>
        </p:nvSpPr>
        <p:spPr>
          <a:xfrm>
            <a:off x="9518904" y="2651760"/>
            <a:ext cx="1783080" cy="457200"/>
          </a:xfrm>
          <a:prstGeom prst="rect">
            <a:avLst/>
          </a:prstGeom>
          <a:noFill/>
          <a:ln/>
        </p:spPr>
        <p:txBody>
          <a:bodyPr wrap="square" lIns="0" tIns="0" rIns="0" bIns="0" rtlCol="0" anchor="ctr"/>
          <a:lstStyle/>
          <a:p>
            <a:pPr indent="0" marL="0">
              <a:buNone/>
            </a:pPr>
            <a:r>
              <a:rPr lang="en-US" sz="700" dirty="0">
                <a:solidFill>
                  <a:srgbClr val="2B2B2B"/>
                </a:solidFill>
                <a:latin typeface="Meiryo UI" pitchFamily="34" charset="0"/>
                <a:ea typeface="Meiryo UI" pitchFamily="34" charset="-122"/>
                <a:cs typeface="Meiryo UI" pitchFamily="34" charset="-120"/>
              </a:rPr>
              <a:t>雨予報なので、2つ目は雨の日に使える商品にして</a:t>
            </a:r>
            <a:endParaRPr lang="en-US" sz="700" dirty="0"/>
          </a:p>
        </p:txBody>
      </p:sp>
      <p:sp>
        <p:nvSpPr>
          <p:cNvPr id="118" name="Shape 116"/>
          <p:cNvSpPr/>
          <p:nvPr/>
        </p:nvSpPr>
        <p:spPr>
          <a:xfrm>
            <a:off x="9098280" y="3172968"/>
            <a:ext cx="1874520" cy="457200"/>
          </a:xfrm>
          <a:prstGeom prst="roundRect">
            <a:avLst>
              <a:gd name="adj" fmla="val 16000"/>
            </a:avLst>
          </a:prstGeom>
          <a:solidFill>
            <a:srgbClr val="D9F2F1"/>
          </a:solidFill>
          <a:ln/>
        </p:spPr>
      </p:sp>
      <p:sp>
        <p:nvSpPr>
          <p:cNvPr id="119" name="Text 117"/>
          <p:cNvSpPr txBox="1"/>
          <p:nvPr/>
        </p:nvSpPr>
        <p:spPr>
          <a:xfrm>
            <a:off x="9153144" y="3172968"/>
            <a:ext cx="1783080" cy="457200"/>
          </a:xfrm>
          <a:prstGeom prst="rect">
            <a:avLst/>
          </a:prstGeom>
          <a:noFill/>
          <a:ln/>
        </p:spPr>
        <p:txBody>
          <a:bodyPr wrap="square" lIns="0" tIns="0" rIns="0" bIns="0" rtlCol="0" anchor="ctr"/>
          <a:lstStyle/>
          <a:p>
            <a:pPr indent="0" marL="0">
              <a:buNone/>
            </a:pPr>
            <a:r>
              <a:rPr lang="en-US" sz="700" dirty="0">
                <a:solidFill>
                  <a:srgbClr val="2B2B2B"/>
                </a:solidFill>
                <a:latin typeface="Meiryo UI" pitchFamily="34" charset="0"/>
                <a:ea typeface="Meiryo UI" pitchFamily="34" charset="-122"/>
                <a:cs typeface="Meiryo UI" pitchFamily="34" charset="-120"/>
              </a:rPr>
              <a:t>商品Gを提案します（在庫多・雨予報に合う）</a:t>
            </a:r>
            <a:endParaRPr lang="en-US" sz="700" dirty="0"/>
          </a:p>
        </p:txBody>
      </p:sp>
      <p:sp>
        <p:nvSpPr>
          <p:cNvPr id="120" name="Shape 118"/>
          <p:cNvSpPr/>
          <p:nvPr/>
        </p:nvSpPr>
        <p:spPr>
          <a:xfrm>
            <a:off x="9464040" y="3694176"/>
            <a:ext cx="1874520" cy="457200"/>
          </a:xfrm>
          <a:prstGeom prst="roundRect">
            <a:avLst>
              <a:gd name="adj" fmla="val 16000"/>
            </a:avLst>
          </a:prstGeom>
          <a:solidFill>
            <a:srgbClr val="FDEBD3"/>
          </a:solidFill>
          <a:ln/>
        </p:spPr>
      </p:sp>
      <p:sp>
        <p:nvSpPr>
          <p:cNvPr id="121" name="Text 119"/>
          <p:cNvSpPr txBox="1"/>
          <p:nvPr/>
        </p:nvSpPr>
        <p:spPr>
          <a:xfrm>
            <a:off x="9518904" y="3694176"/>
            <a:ext cx="1783080" cy="457200"/>
          </a:xfrm>
          <a:prstGeom prst="rect">
            <a:avLst/>
          </a:prstGeom>
          <a:noFill/>
          <a:ln/>
        </p:spPr>
        <p:txBody>
          <a:bodyPr wrap="square" lIns="0" tIns="0" rIns="0" bIns="0" rtlCol="0" anchor="ctr"/>
          <a:lstStyle/>
          <a:p>
            <a:pPr indent="0" marL="0">
              <a:buNone/>
            </a:pPr>
            <a:r>
              <a:rPr lang="en-US" sz="700" dirty="0">
                <a:solidFill>
                  <a:srgbClr val="2B2B2B"/>
                </a:solidFill>
                <a:latin typeface="Meiryo UI" pitchFamily="34" charset="0"/>
                <a:ea typeface="Meiryo UI" pitchFamily="34" charset="-122"/>
                <a:cs typeface="Meiryo UI" pitchFamily="34" charset="-120"/>
              </a:rPr>
              <a:t>OK。理由をカード用に短くまとめて</a:t>
            </a:r>
            <a:endParaRPr lang="en-US" sz="700" dirty="0"/>
          </a:p>
        </p:txBody>
      </p:sp>
      <p:sp>
        <p:nvSpPr>
          <p:cNvPr id="122" name="Shape 120"/>
          <p:cNvSpPr/>
          <p:nvPr/>
        </p:nvSpPr>
        <p:spPr>
          <a:xfrm>
            <a:off x="9098280" y="4800600"/>
            <a:ext cx="2240280" cy="310896"/>
          </a:xfrm>
          <a:prstGeom prst="roundRect">
            <a:avLst>
              <a:gd name="adj" fmla="val 50000"/>
            </a:avLst>
          </a:prstGeom>
          <a:solidFill>
            <a:srgbClr val="FFFFFF"/>
          </a:solidFill>
          <a:ln w="12700">
            <a:solidFill>
              <a:srgbClr val="D5DBE3"/>
            </a:solidFill>
            <a:prstDash val="solid"/>
          </a:ln>
        </p:spPr>
      </p:sp>
      <p:sp>
        <p:nvSpPr>
          <p:cNvPr id="123" name="Text 121"/>
          <p:cNvSpPr txBox="1"/>
          <p:nvPr/>
        </p:nvSpPr>
        <p:spPr>
          <a:xfrm>
            <a:off x="9208008" y="4800600"/>
            <a:ext cx="2057400" cy="310896"/>
          </a:xfrm>
          <a:prstGeom prst="rect">
            <a:avLst/>
          </a:prstGeom>
          <a:noFill/>
          <a:ln/>
        </p:spPr>
        <p:txBody>
          <a:bodyPr wrap="square" lIns="0" tIns="0" rIns="0" bIns="0" rtlCol="0" anchor="ctr"/>
          <a:lstStyle/>
          <a:p>
            <a:pPr indent="0" marL="0">
              <a:buNone/>
            </a:pPr>
            <a:r>
              <a:rPr lang="en-US" sz="750" dirty="0">
                <a:solidFill>
                  <a:srgbClr val="6B7280"/>
                </a:solidFill>
                <a:latin typeface="Meiryo UI" pitchFamily="34" charset="0"/>
                <a:ea typeface="Meiryo UI" pitchFamily="34" charset="-122"/>
                <a:cs typeface="Meiryo UI" pitchFamily="34" charset="-120"/>
              </a:rPr>
              <a:t>修正の指示を入力…</a:t>
            </a:r>
            <a:endParaRPr lang="en-US" sz="750" dirty="0"/>
          </a:p>
        </p:txBody>
      </p:sp>
      <p:sp>
        <p:nvSpPr>
          <p:cNvPr id="124" name="Shape 122"/>
          <p:cNvSpPr/>
          <p:nvPr/>
        </p:nvSpPr>
        <p:spPr>
          <a:xfrm>
            <a:off x="3246120" y="5276088"/>
            <a:ext cx="8229600" cy="0"/>
          </a:xfrm>
          <a:prstGeom prst="line">
            <a:avLst/>
          </a:prstGeom>
          <a:noFill/>
          <a:ln w="9525">
            <a:solidFill>
              <a:srgbClr val="D5DBE3"/>
            </a:solidFill>
            <a:prstDash val="solid"/>
          </a:ln>
        </p:spPr>
      </p:sp>
      <p:sp>
        <p:nvSpPr>
          <p:cNvPr id="125" name="Shape 123"/>
          <p:cNvSpPr/>
          <p:nvPr/>
        </p:nvSpPr>
        <p:spPr>
          <a:xfrm>
            <a:off x="6903720" y="5367528"/>
            <a:ext cx="2103120" cy="365760"/>
          </a:xfrm>
          <a:prstGeom prst="roundRect">
            <a:avLst>
              <a:gd name="adj" fmla="val 50000"/>
            </a:avLst>
          </a:prstGeom>
          <a:solidFill>
            <a:srgbClr val="FFFFFF"/>
          </a:solidFill>
          <a:ln w="12700">
            <a:solidFill>
              <a:srgbClr val="1B2A49"/>
            </a:solidFill>
            <a:prstDash val="solid"/>
          </a:ln>
        </p:spPr>
      </p:sp>
      <p:sp>
        <p:nvSpPr>
          <p:cNvPr id="126" name="Text 124"/>
          <p:cNvSpPr txBox="1"/>
          <p:nvPr/>
        </p:nvSpPr>
        <p:spPr>
          <a:xfrm>
            <a:off x="6903720" y="5367528"/>
            <a:ext cx="2103120" cy="365760"/>
          </a:xfrm>
          <a:prstGeom prst="rect">
            <a:avLst/>
          </a:prstGeom>
          <a:noFill/>
          <a:ln/>
        </p:spPr>
        <p:txBody>
          <a:bodyPr wrap="square" lIns="762" tIns="762" rIns="762" bIns="762" rtlCol="0" anchor="ctr"/>
          <a:lstStyle/>
          <a:p>
            <a:pPr algn="ctr" indent="0" marL="0">
              <a:buNone/>
            </a:pPr>
            <a:r>
              <a:rPr lang="en-US" sz="850" b="1" dirty="0">
                <a:solidFill>
                  <a:srgbClr val="1B2A49"/>
                </a:solidFill>
                <a:latin typeface="Meiryo UI" pitchFamily="34" charset="0"/>
                <a:ea typeface="Meiryo UI" pitchFamily="34" charset="-122"/>
                <a:cs typeface="Meiryo UI" pitchFamily="34" charset="-120"/>
              </a:rPr>
              <a:t>下書きを保存（あとで再開）</a:t>
            </a:r>
            <a:endParaRPr lang="en-US" sz="850" dirty="0"/>
          </a:p>
        </p:txBody>
      </p:sp>
      <p:sp>
        <p:nvSpPr>
          <p:cNvPr id="127" name="Shape 125"/>
          <p:cNvSpPr/>
          <p:nvPr/>
        </p:nvSpPr>
        <p:spPr>
          <a:xfrm>
            <a:off x="9144000" y="5367528"/>
            <a:ext cx="2148840" cy="365760"/>
          </a:xfrm>
          <a:prstGeom prst="roundRect">
            <a:avLst>
              <a:gd name="adj" fmla="val 50000"/>
            </a:avLst>
          </a:prstGeom>
          <a:solidFill>
            <a:srgbClr val="1B2A49"/>
          </a:solidFill>
          <a:ln/>
        </p:spPr>
      </p:sp>
      <p:sp>
        <p:nvSpPr>
          <p:cNvPr id="128" name="Text 126"/>
          <p:cNvSpPr txBox="1"/>
          <p:nvPr/>
        </p:nvSpPr>
        <p:spPr>
          <a:xfrm>
            <a:off x="9144000" y="5367528"/>
            <a:ext cx="2148840" cy="365760"/>
          </a:xfrm>
          <a:prstGeom prst="rect">
            <a:avLst/>
          </a:prstGeom>
          <a:noFill/>
          <a:ln/>
        </p:spPr>
        <p:txBody>
          <a:bodyPr wrap="square" lIns="762" tIns="762" rIns="762" bIns="762" rtlCol="0" anchor="ctr"/>
          <a:lstStyle/>
          <a:p>
            <a:pPr algn="ctr" indent="0" marL="0">
              <a:buNone/>
            </a:pPr>
            <a:r>
              <a:rPr lang="en-US" sz="850" b="1" dirty="0">
                <a:solidFill>
                  <a:srgbClr val="FFFFFF"/>
                </a:solidFill>
                <a:latin typeface="Meiryo UI" pitchFamily="34" charset="0"/>
                <a:ea typeface="Meiryo UI" pitchFamily="34" charset="-122"/>
                <a:cs typeface="Meiryo UI" pitchFamily="34" charset="-120"/>
              </a:rPr>
              <a:t>確定してカードに反映</a:t>
            </a:r>
            <a:endParaRPr lang="en-US" sz="850" dirty="0"/>
          </a:p>
        </p:txBody>
      </p:sp>
      <p:sp>
        <p:nvSpPr>
          <p:cNvPr id="129" name="Shape 127"/>
          <p:cNvSpPr/>
          <p:nvPr/>
        </p:nvSpPr>
        <p:spPr>
          <a:xfrm>
            <a:off x="2130552" y="1810512"/>
            <a:ext cx="256032" cy="256032"/>
          </a:xfrm>
          <a:prstGeom prst="ellipse">
            <a:avLst/>
          </a:prstGeom>
          <a:solidFill>
            <a:srgbClr val="D64545"/>
          </a:solidFill>
          <a:ln/>
        </p:spPr>
      </p:sp>
      <p:sp>
        <p:nvSpPr>
          <p:cNvPr id="130" name="Text 128"/>
          <p:cNvSpPr txBox="1"/>
          <p:nvPr/>
        </p:nvSpPr>
        <p:spPr>
          <a:xfrm>
            <a:off x="2130552" y="1810512"/>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1</a:t>
            </a:r>
            <a:endParaRPr lang="en-US" sz="1100" dirty="0"/>
          </a:p>
        </p:txBody>
      </p:sp>
      <p:sp>
        <p:nvSpPr>
          <p:cNvPr id="131" name="Shape 129"/>
          <p:cNvSpPr/>
          <p:nvPr/>
        </p:nvSpPr>
        <p:spPr>
          <a:xfrm>
            <a:off x="2935224" y="1947672"/>
            <a:ext cx="256032" cy="256032"/>
          </a:xfrm>
          <a:prstGeom prst="ellipse">
            <a:avLst/>
          </a:prstGeom>
          <a:solidFill>
            <a:srgbClr val="D64545"/>
          </a:solidFill>
          <a:ln/>
        </p:spPr>
      </p:sp>
      <p:sp>
        <p:nvSpPr>
          <p:cNvPr id="132" name="Text 130"/>
          <p:cNvSpPr txBox="1"/>
          <p:nvPr/>
        </p:nvSpPr>
        <p:spPr>
          <a:xfrm>
            <a:off x="2935224" y="1947672"/>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2</a:t>
            </a:r>
            <a:endParaRPr lang="en-US" sz="1100" dirty="0"/>
          </a:p>
        </p:txBody>
      </p:sp>
      <p:sp>
        <p:nvSpPr>
          <p:cNvPr id="133" name="Shape 131"/>
          <p:cNvSpPr/>
          <p:nvPr/>
        </p:nvSpPr>
        <p:spPr>
          <a:xfrm>
            <a:off x="2935224" y="3739896"/>
            <a:ext cx="256032" cy="256032"/>
          </a:xfrm>
          <a:prstGeom prst="ellipse">
            <a:avLst/>
          </a:prstGeom>
          <a:solidFill>
            <a:srgbClr val="D64545"/>
          </a:solidFill>
          <a:ln/>
        </p:spPr>
      </p:sp>
      <p:sp>
        <p:nvSpPr>
          <p:cNvPr id="134" name="Text 132"/>
          <p:cNvSpPr txBox="1"/>
          <p:nvPr/>
        </p:nvSpPr>
        <p:spPr>
          <a:xfrm>
            <a:off x="2935224" y="3739896"/>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3</a:t>
            </a:r>
            <a:endParaRPr lang="en-US" sz="1100" dirty="0"/>
          </a:p>
        </p:txBody>
      </p:sp>
      <p:sp>
        <p:nvSpPr>
          <p:cNvPr id="135" name="Shape 133"/>
          <p:cNvSpPr/>
          <p:nvPr/>
        </p:nvSpPr>
        <p:spPr>
          <a:xfrm>
            <a:off x="8714232" y="2350008"/>
            <a:ext cx="256032" cy="256032"/>
          </a:xfrm>
          <a:prstGeom prst="ellipse">
            <a:avLst/>
          </a:prstGeom>
          <a:solidFill>
            <a:srgbClr val="D64545"/>
          </a:solidFill>
          <a:ln/>
        </p:spPr>
      </p:sp>
      <p:sp>
        <p:nvSpPr>
          <p:cNvPr id="136" name="Text 134"/>
          <p:cNvSpPr txBox="1"/>
          <p:nvPr/>
        </p:nvSpPr>
        <p:spPr>
          <a:xfrm>
            <a:off x="8714232" y="2350008"/>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4</a:t>
            </a:r>
            <a:endParaRPr lang="en-US" sz="1100" dirty="0"/>
          </a:p>
        </p:txBody>
      </p:sp>
      <p:sp>
        <p:nvSpPr>
          <p:cNvPr id="137" name="Shape 135"/>
          <p:cNvSpPr/>
          <p:nvPr/>
        </p:nvSpPr>
        <p:spPr>
          <a:xfrm>
            <a:off x="8805672" y="5422392"/>
            <a:ext cx="256032" cy="256032"/>
          </a:xfrm>
          <a:prstGeom prst="ellipse">
            <a:avLst/>
          </a:prstGeom>
          <a:solidFill>
            <a:srgbClr val="D64545"/>
          </a:solidFill>
          <a:ln/>
        </p:spPr>
      </p:sp>
      <p:sp>
        <p:nvSpPr>
          <p:cNvPr id="138" name="Text 136"/>
          <p:cNvSpPr txBox="1"/>
          <p:nvPr/>
        </p:nvSpPr>
        <p:spPr>
          <a:xfrm>
            <a:off x="8805672" y="5422392"/>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5</a:t>
            </a:r>
            <a:endParaRPr lang="en-US" sz="1100" dirty="0"/>
          </a:p>
        </p:txBody>
      </p:sp>
      <p:sp>
        <p:nvSpPr>
          <p:cNvPr id="139" name="Text 137"/>
          <p:cNvSpPr txBox="1"/>
          <p:nvPr/>
        </p:nvSpPr>
        <p:spPr>
          <a:xfrm>
            <a:off x="548640" y="6080760"/>
            <a:ext cx="1828800" cy="274320"/>
          </a:xfrm>
          <a:prstGeom prst="rect">
            <a:avLst/>
          </a:prstGeom>
          <a:noFill/>
          <a:ln/>
        </p:spPr>
        <p:txBody>
          <a:bodyPr wrap="square" lIns="0" tIns="0" rIns="0" bIns="0" rtlCol="0" anchor="t"/>
          <a:lstStyle/>
          <a:p>
            <a:pPr indent="0" marL="0">
              <a:buNone/>
            </a:pPr>
            <a:r>
              <a:rPr lang="en-US" sz="850" dirty="0">
                <a:solidFill>
                  <a:srgbClr val="2B2B2B"/>
                </a:solidFill>
                <a:latin typeface="Meiryo UI" pitchFamily="34" charset="0"/>
                <a:ea typeface="Meiryo UI" pitchFamily="34" charset="-122"/>
                <a:cs typeface="Meiryo UI" pitchFamily="34" charset="-120"/>
              </a:rPr>
              <a:t>① カードには確定情報だけ</a:t>
            </a:r>
            <a:endParaRPr lang="en-US" sz="850" dirty="0"/>
          </a:p>
        </p:txBody>
      </p:sp>
      <p:sp>
        <p:nvSpPr>
          <p:cNvPr id="140" name="Text 138"/>
          <p:cNvSpPr txBox="1"/>
          <p:nvPr/>
        </p:nvSpPr>
        <p:spPr>
          <a:xfrm>
            <a:off x="2377440" y="6080760"/>
            <a:ext cx="2240280" cy="274320"/>
          </a:xfrm>
          <a:prstGeom prst="rect">
            <a:avLst/>
          </a:prstGeom>
          <a:noFill/>
          <a:ln/>
        </p:spPr>
        <p:txBody>
          <a:bodyPr wrap="square" lIns="0" tIns="0" rIns="0" bIns="0" rtlCol="0" anchor="t"/>
          <a:lstStyle/>
          <a:p>
            <a:pPr indent="0" marL="0">
              <a:buNone/>
            </a:pPr>
            <a:r>
              <a:rPr lang="en-US" sz="850" dirty="0">
                <a:solidFill>
                  <a:srgbClr val="2B2B2B"/>
                </a:solidFill>
                <a:latin typeface="Meiryo UI" pitchFamily="34" charset="0"/>
                <a:ea typeface="Meiryo UI" pitchFamily="34" charset="-122"/>
                <a:cs typeface="Meiryo UI" pitchFamily="34" charset="-120"/>
              </a:rPr>
              <a:t>② 工程ごとに前面にレイヤーを開く</a:t>
            </a:r>
            <a:endParaRPr lang="en-US" sz="850" dirty="0"/>
          </a:p>
        </p:txBody>
      </p:sp>
      <p:sp>
        <p:nvSpPr>
          <p:cNvPr id="141" name="Text 139"/>
          <p:cNvSpPr txBox="1"/>
          <p:nvPr/>
        </p:nvSpPr>
        <p:spPr>
          <a:xfrm>
            <a:off x="4617720" y="6080760"/>
            <a:ext cx="2788920" cy="274320"/>
          </a:xfrm>
          <a:prstGeom prst="rect">
            <a:avLst/>
          </a:prstGeom>
          <a:noFill/>
          <a:ln/>
        </p:spPr>
        <p:txBody>
          <a:bodyPr wrap="square" lIns="0" tIns="0" rIns="0" bIns="0" rtlCol="0" anchor="t"/>
          <a:lstStyle/>
          <a:p>
            <a:pPr indent="0" marL="0">
              <a:buNone/>
            </a:pPr>
            <a:r>
              <a:rPr lang="en-US" sz="850" dirty="0">
                <a:solidFill>
                  <a:srgbClr val="2B2B2B"/>
                </a:solidFill>
                <a:latin typeface="Meiryo UI" pitchFamily="34" charset="0"/>
                <a:ea typeface="Meiryo UI" pitchFamily="34" charset="-122"/>
                <a:cs typeface="Meiryo UI" pitchFamily="34" charset="-120"/>
              </a:rPr>
              <a:t>③ 推奨と理由を確認し、ドラッグで入れ替え</a:t>
            </a:r>
            <a:endParaRPr lang="en-US" sz="850" dirty="0"/>
          </a:p>
        </p:txBody>
      </p:sp>
      <p:sp>
        <p:nvSpPr>
          <p:cNvPr id="142" name="Text 140"/>
          <p:cNvSpPr txBox="1"/>
          <p:nvPr/>
        </p:nvSpPr>
        <p:spPr>
          <a:xfrm>
            <a:off x="7406640" y="6080760"/>
            <a:ext cx="1600200" cy="274320"/>
          </a:xfrm>
          <a:prstGeom prst="rect">
            <a:avLst/>
          </a:prstGeom>
          <a:noFill/>
          <a:ln/>
        </p:spPr>
        <p:txBody>
          <a:bodyPr wrap="square" lIns="0" tIns="0" rIns="0" bIns="0" rtlCol="0" anchor="t"/>
          <a:lstStyle/>
          <a:p>
            <a:pPr indent="0" marL="0">
              <a:buNone/>
            </a:pPr>
            <a:r>
              <a:rPr lang="en-US" sz="850" dirty="0">
                <a:solidFill>
                  <a:srgbClr val="2B2B2B"/>
                </a:solidFill>
                <a:latin typeface="Meiryo UI" pitchFamily="34" charset="0"/>
                <a:ea typeface="Meiryo UI" pitchFamily="34" charset="-122"/>
                <a:cs typeface="Meiryo UI" pitchFamily="34" charset="-120"/>
              </a:rPr>
              <a:t>④ チャットで修正を指示</a:t>
            </a:r>
            <a:endParaRPr lang="en-US" sz="850" dirty="0"/>
          </a:p>
        </p:txBody>
      </p:sp>
      <p:sp>
        <p:nvSpPr>
          <p:cNvPr id="143" name="Text 141"/>
          <p:cNvSpPr txBox="1"/>
          <p:nvPr/>
        </p:nvSpPr>
        <p:spPr>
          <a:xfrm>
            <a:off x="9006840" y="6080760"/>
            <a:ext cx="2606040" cy="274320"/>
          </a:xfrm>
          <a:prstGeom prst="rect">
            <a:avLst/>
          </a:prstGeom>
          <a:noFill/>
          <a:ln/>
        </p:spPr>
        <p:txBody>
          <a:bodyPr wrap="square" lIns="0" tIns="0" rIns="0" bIns="0" rtlCol="0" anchor="t"/>
          <a:lstStyle/>
          <a:p>
            <a:pPr indent="0" marL="0">
              <a:buNone/>
            </a:pPr>
            <a:r>
              <a:rPr lang="en-US" sz="850" dirty="0">
                <a:solidFill>
                  <a:srgbClr val="2B2B2B"/>
                </a:solidFill>
                <a:latin typeface="Meiryo UI" pitchFamily="34" charset="0"/>
                <a:ea typeface="Meiryo UI" pitchFamily="34" charset="-122"/>
                <a:cs typeface="Meiryo UI" pitchFamily="34" charset="-120"/>
              </a:rPr>
              <a:t>⑤ 確定するとカードに反映（下書きは保存して再開可）</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548640"/>
          </a:xfrm>
          <a:prstGeom prst="rect">
            <a:avLst/>
          </a:prstGeom>
          <a:noFill/>
          <a:ln/>
        </p:spPr>
        <p:txBody>
          <a:bodyPr wrap="square" lIns="0" tIns="0" rIns="0" bIns="0" rtlCol="0" anchor="ctr"/>
          <a:lstStyle/>
          <a:p>
            <a:pPr indent="0" marL="0">
              <a:buNone/>
            </a:pPr>
            <a:r>
              <a:rPr lang="en-US" sz="2600" b="1" dirty="0">
                <a:solidFill>
                  <a:srgbClr val="1B2A49"/>
                </a:solidFill>
                <a:latin typeface="Meiryo UI" pitchFamily="34" charset="0"/>
                <a:ea typeface="Meiryo UI" pitchFamily="34" charset="-122"/>
                <a:cs typeface="Meiryo UI" pitchFamily="34" charset="-120"/>
              </a:rPr>
              <a:t>A6の具体案③：データの持ち方（確定と検討中の分離）</a:t>
            </a:r>
            <a:endParaRPr lang="en-US" sz="2600" dirty="0"/>
          </a:p>
        </p:txBody>
      </p:sp>
      <p:sp>
        <p:nvSpPr>
          <p:cNvPr id="3" name="Text 1"/>
          <p:cNvSpPr txBox="1"/>
          <p:nvPr/>
        </p:nvSpPr>
        <p:spPr>
          <a:xfrm>
            <a:off x="548640" y="896112"/>
            <a:ext cx="11064240" cy="365760"/>
          </a:xfrm>
          <a:prstGeom prst="rect">
            <a:avLst/>
          </a:prstGeom>
          <a:noFill/>
          <a:ln/>
        </p:spPr>
        <p:txBody>
          <a:bodyPr wrap="square" lIns="0" tIns="0" rIns="0" bIns="0" rtlCol="0" anchor="ctr"/>
          <a:lstStyle/>
          <a:p>
            <a:pPr indent="0" marL="0">
              <a:buNone/>
            </a:pPr>
            <a:r>
              <a:rPr lang="en-US" sz="1400" dirty="0">
                <a:solidFill>
                  <a:srgbClr val="6B7280"/>
                </a:solidFill>
                <a:latin typeface="Meiryo UI" pitchFamily="34" charset="0"/>
                <a:ea typeface="Meiryo UI" pitchFamily="34" charset="-122"/>
                <a:cs typeface="Meiryo UI" pitchFamily="34" charset="-120"/>
              </a:rPr>
              <a:t>カードは確定した情報だけを持ち、検討の過程は別のテーブルに残す（Dataverse）</a:t>
            </a:r>
            <a:endParaRPr lang="en-US" sz="1400" dirty="0"/>
          </a:p>
        </p:txBody>
      </p:sp>
      <p:sp>
        <p:nvSpPr>
          <p:cNvPr id="4" name="Text 2"/>
          <p:cNvSpPr txBox="1"/>
          <p:nvPr/>
        </p:nvSpPr>
        <p:spPr>
          <a:xfrm>
            <a:off x="7498080" y="91440"/>
            <a:ext cx="4114800" cy="22860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4. 各パターンの詳細</a:t>
            </a:r>
            <a:endParaRPr lang="en-US" sz="900" dirty="0"/>
          </a:p>
        </p:txBody>
      </p:sp>
      <p:sp>
        <p:nvSpPr>
          <p:cNvPr id="5" name="Text 3"/>
          <p:cNvSpPr txBox="1"/>
          <p:nvPr/>
        </p:nvSpPr>
        <p:spPr>
          <a:xfrm>
            <a:off x="11247120" y="6446520"/>
            <a:ext cx="457200" cy="27432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26</a:t>
            </a:r>
            <a:endParaRPr lang="en-US" sz="900" dirty="0"/>
          </a:p>
        </p:txBody>
      </p:sp>
      <p:sp>
        <p:nvSpPr>
          <p:cNvPr id="6" name="Shape 4"/>
          <p:cNvSpPr/>
          <p:nvPr/>
        </p:nvSpPr>
        <p:spPr>
          <a:xfrm>
            <a:off x="548640" y="1371600"/>
            <a:ext cx="3383280" cy="1920240"/>
          </a:xfrm>
          <a:prstGeom prst="roundRect">
            <a:avLst>
              <a:gd name="adj" fmla="val 2857"/>
            </a:avLst>
          </a:prstGeom>
          <a:solidFill>
            <a:srgbClr val="FFFFFF"/>
          </a:solidFill>
          <a:ln w="12700">
            <a:solidFill>
              <a:srgbClr val="D5DBE3"/>
            </a:solidFill>
            <a:prstDash val="solid"/>
          </a:ln>
          <a:effectLst>
            <a:outerShdw sx="100000" sy="100000" kx="0" ky="0" algn="bl" rotWithShape="0" blurRad="50800" dist="19050" dir="5400000">
              <a:srgbClr val="000000">
                <a:alpha val="12000"/>
              </a:srgbClr>
            </a:outerShdw>
          </a:effectLst>
        </p:spPr>
      </p:sp>
      <p:sp>
        <p:nvSpPr>
          <p:cNvPr id="7" name="Shape 5"/>
          <p:cNvSpPr/>
          <p:nvPr/>
        </p:nvSpPr>
        <p:spPr>
          <a:xfrm>
            <a:off x="548640" y="1371600"/>
            <a:ext cx="3383280" cy="384048"/>
          </a:xfrm>
          <a:prstGeom prst="roundRect">
            <a:avLst>
              <a:gd name="adj" fmla="val 14286"/>
            </a:avLst>
          </a:prstGeom>
          <a:solidFill>
            <a:srgbClr val="1B2A49"/>
          </a:solidFill>
          <a:ln/>
        </p:spPr>
      </p:sp>
      <p:sp>
        <p:nvSpPr>
          <p:cNvPr id="8" name="Text 6"/>
          <p:cNvSpPr txBox="1"/>
          <p:nvPr/>
        </p:nvSpPr>
        <p:spPr>
          <a:xfrm>
            <a:off x="658368" y="1371600"/>
            <a:ext cx="3200400" cy="384048"/>
          </a:xfrm>
          <a:prstGeom prst="rect">
            <a:avLst/>
          </a:prstGeom>
          <a:noFill/>
          <a:ln/>
        </p:spPr>
        <p:txBody>
          <a:bodyPr wrap="square" lIns="0" tIns="0" rIns="0" bIns="0" rtlCol="0" anchor="ctr"/>
          <a:lstStyle/>
          <a:p>
            <a:pPr indent="0" marL="0">
              <a:buNone/>
            </a:pPr>
            <a:r>
              <a:rPr lang="en-US" sz="1150" b="1" dirty="0">
                <a:solidFill>
                  <a:srgbClr val="FFFFFF"/>
                </a:solidFill>
                <a:latin typeface="Meiryo UI" pitchFamily="34" charset="0"/>
                <a:ea typeface="Meiryo UI" pitchFamily="34" charset="-122"/>
                <a:cs typeface="Meiryo UI" pitchFamily="34" charset="-120"/>
              </a:rPr>
              <a:t>配信カード</a:t>
            </a:r>
            <a:pPr indent="0" marL="0">
              <a:buNone/>
            </a:pPr>
            <a:r>
              <a:rPr lang="en-US" sz="850" dirty="0">
                <a:solidFill>
                  <a:srgbClr val="FFFFFF"/>
                </a:solidFill>
                <a:latin typeface="Meiryo UI" pitchFamily="34" charset="0"/>
                <a:ea typeface="Meiryo UI" pitchFamily="34" charset="-122"/>
                <a:cs typeface="Meiryo UI" pitchFamily="34" charset="-120"/>
              </a:rPr>
              <a:t>  確定情報だけ</a:t>
            </a:r>
            <a:endParaRPr lang="en-US" sz="1150" dirty="0"/>
          </a:p>
        </p:txBody>
      </p:sp>
      <p:sp>
        <p:nvSpPr>
          <p:cNvPr id="9" name="Text 7"/>
          <p:cNvSpPr txBox="1"/>
          <p:nvPr/>
        </p:nvSpPr>
        <p:spPr>
          <a:xfrm>
            <a:off x="658368" y="1874520"/>
            <a:ext cx="3182112" cy="1371600"/>
          </a:xfrm>
          <a:prstGeom prst="rect">
            <a:avLst/>
          </a:prstGeom>
          <a:noFill/>
          <a:ln/>
        </p:spPr>
        <p:txBody>
          <a:bodyPr wrap="square" lIns="254" tIns="254" rIns="254" bIns="254" rtlCol="0" anchor="t"/>
          <a:lstStyle/>
          <a:p>
            <a:pPr marL="152400" indent="-152400">
              <a:spcAft>
                <a:spcPts val="500"/>
              </a:spcAft>
              <a:buSzPct val="100000"/>
              <a:buChar char="•"/>
            </a:pPr>
            <a:r>
              <a:rPr lang="en-US" sz="1100" dirty="0">
                <a:solidFill>
                  <a:srgbClr val="000000"/>
                </a:solidFill>
                <a:latin typeface="Meiryo UI" pitchFamily="34" charset="0"/>
                <a:ea typeface="Meiryo UI" pitchFamily="34" charset="-122"/>
                <a:cs typeface="Meiryo UI" pitchFamily="34" charset="-120"/>
              </a:rPr>
              <a:t>配信日・国・チャネル</a:t>
            </a:r>
            <a:endParaRPr lang="en-US" sz="1100" dirty="0"/>
          </a:p>
          <a:p>
            <a:pPr marL="152400" indent="-152400">
              <a:spcAft>
                <a:spcPts val="500"/>
              </a:spcAft>
              <a:buSzPct val="100000"/>
              <a:buChar char="•"/>
            </a:pPr>
            <a:r>
              <a:rPr lang="en-US" sz="1100" dirty="0">
                <a:solidFill>
                  <a:srgbClr val="000000"/>
                </a:solidFill>
                <a:latin typeface="Meiryo UI" pitchFamily="34" charset="0"/>
                <a:ea typeface="Meiryo UI" pitchFamily="34" charset="-122"/>
                <a:cs typeface="Meiryo UI" pitchFamily="34" charset="-120"/>
              </a:rPr>
              <a:t>テーマ／掲載商品／コピー／制作指示（確定値）</a:t>
            </a:r>
            <a:endParaRPr lang="en-US" sz="1100" dirty="0"/>
          </a:p>
          <a:p>
            <a:pPr marL="152400" indent="-152400">
              <a:spcAft>
                <a:spcPts val="500"/>
              </a:spcAft>
              <a:buSzPct val="100000"/>
              <a:buChar char="•"/>
            </a:pPr>
            <a:r>
              <a:rPr lang="en-US" sz="1100" dirty="0">
                <a:solidFill>
                  <a:srgbClr val="000000"/>
                </a:solidFill>
                <a:latin typeface="Meiryo UI" pitchFamily="34" charset="0"/>
                <a:ea typeface="Meiryo UI" pitchFamily="34" charset="-122"/>
                <a:cs typeface="Meiryo UI" pitchFamily="34" charset="-120"/>
              </a:rPr>
              <a:t>ステータス：未起案→検討中→確定→承認済み</a:t>
            </a:r>
            <a:endParaRPr lang="en-US" sz="1100" dirty="0"/>
          </a:p>
        </p:txBody>
      </p:sp>
      <p:sp>
        <p:nvSpPr>
          <p:cNvPr id="10" name="Shape 8"/>
          <p:cNvSpPr/>
          <p:nvPr/>
        </p:nvSpPr>
        <p:spPr>
          <a:xfrm>
            <a:off x="4297680" y="1371600"/>
            <a:ext cx="3383280" cy="1920240"/>
          </a:xfrm>
          <a:prstGeom prst="roundRect">
            <a:avLst>
              <a:gd name="adj" fmla="val 2857"/>
            </a:avLst>
          </a:prstGeom>
          <a:solidFill>
            <a:srgbClr val="FFFFFF"/>
          </a:solidFill>
          <a:ln w="12700">
            <a:solidFill>
              <a:srgbClr val="D5DBE3"/>
            </a:solidFill>
            <a:prstDash val="solid"/>
          </a:ln>
          <a:effectLst>
            <a:outerShdw sx="100000" sy="100000" kx="0" ky="0" algn="bl" rotWithShape="0" blurRad="50800" dist="19050" dir="5400000">
              <a:srgbClr val="000000">
                <a:alpha val="12000"/>
              </a:srgbClr>
            </a:outerShdw>
          </a:effectLst>
        </p:spPr>
      </p:sp>
      <p:sp>
        <p:nvSpPr>
          <p:cNvPr id="11" name="Shape 9"/>
          <p:cNvSpPr/>
          <p:nvPr/>
        </p:nvSpPr>
        <p:spPr>
          <a:xfrm>
            <a:off x="4297680" y="1371600"/>
            <a:ext cx="3383280" cy="384048"/>
          </a:xfrm>
          <a:prstGeom prst="roundRect">
            <a:avLst>
              <a:gd name="adj" fmla="val 14286"/>
            </a:avLst>
          </a:prstGeom>
          <a:solidFill>
            <a:srgbClr val="0E9F9A"/>
          </a:solidFill>
          <a:ln/>
        </p:spPr>
      </p:sp>
      <p:sp>
        <p:nvSpPr>
          <p:cNvPr id="12" name="Text 10"/>
          <p:cNvSpPr txBox="1"/>
          <p:nvPr/>
        </p:nvSpPr>
        <p:spPr>
          <a:xfrm>
            <a:off x="4407408" y="1371600"/>
            <a:ext cx="3200400" cy="384048"/>
          </a:xfrm>
          <a:prstGeom prst="rect">
            <a:avLst/>
          </a:prstGeom>
          <a:noFill/>
          <a:ln/>
        </p:spPr>
        <p:txBody>
          <a:bodyPr wrap="square" lIns="0" tIns="0" rIns="0" bIns="0" rtlCol="0" anchor="ctr"/>
          <a:lstStyle/>
          <a:p>
            <a:pPr indent="0" marL="0">
              <a:buNone/>
            </a:pPr>
            <a:r>
              <a:rPr lang="en-US" sz="1150" b="1" dirty="0">
                <a:solidFill>
                  <a:srgbClr val="FFFFFF"/>
                </a:solidFill>
                <a:latin typeface="Meiryo UI" pitchFamily="34" charset="0"/>
                <a:ea typeface="Meiryo UI" pitchFamily="34" charset="-122"/>
                <a:cs typeface="Meiryo UI" pitchFamily="34" charset="-120"/>
              </a:rPr>
              <a:t>検討セッション</a:t>
            </a:r>
            <a:pPr indent="0" marL="0">
              <a:buNone/>
            </a:pPr>
            <a:r>
              <a:rPr lang="en-US" sz="850" dirty="0">
                <a:solidFill>
                  <a:srgbClr val="FFFFFF"/>
                </a:solidFill>
                <a:latin typeface="Meiryo UI" pitchFamily="34" charset="0"/>
                <a:ea typeface="Meiryo UI" pitchFamily="34" charset="-122"/>
                <a:cs typeface="Meiryo UI" pitchFamily="34" charset="-120"/>
              </a:rPr>
              <a:t>  工程ごと</a:t>
            </a:r>
            <a:endParaRPr lang="en-US" sz="1150" dirty="0"/>
          </a:p>
        </p:txBody>
      </p:sp>
      <p:sp>
        <p:nvSpPr>
          <p:cNvPr id="13" name="Text 11"/>
          <p:cNvSpPr txBox="1"/>
          <p:nvPr/>
        </p:nvSpPr>
        <p:spPr>
          <a:xfrm>
            <a:off x="4407408" y="1874520"/>
            <a:ext cx="3182112" cy="1371600"/>
          </a:xfrm>
          <a:prstGeom prst="rect">
            <a:avLst/>
          </a:prstGeom>
          <a:noFill/>
          <a:ln/>
        </p:spPr>
        <p:txBody>
          <a:bodyPr wrap="square" lIns="254" tIns="254" rIns="254" bIns="254" rtlCol="0" anchor="t"/>
          <a:lstStyle/>
          <a:p>
            <a:pPr marL="152400" indent="-152400">
              <a:spcAft>
                <a:spcPts val="500"/>
              </a:spcAft>
              <a:buSzPct val="100000"/>
              <a:buChar char="•"/>
            </a:pPr>
            <a:r>
              <a:rPr lang="en-US" sz="1100" dirty="0">
                <a:solidFill>
                  <a:srgbClr val="000000"/>
                </a:solidFill>
                <a:latin typeface="Meiryo UI" pitchFamily="34" charset="0"/>
                <a:ea typeface="Meiryo UI" pitchFamily="34" charset="-122"/>
                <a:cs typeface="Meiryo UI" pitchFamily="34" charset="-120"/>
              </a:rPr>
              <a:t>対象のカードと工程（テーマ・商品・コピー・指示）</a:t>
            </a:r>
            <a:endParaRPr lang="en-US" sz="1100" dirty="0"/>
          </a:p>
          <a:p>
            <a:pPr marL="152400" indent="-152400">
              <a:spcAft>
                <a:spcPts val="500"/>
              </a:spcAft>
              <a:buSzPct val="100000"/>
              <a:buChar char="•"/>
            </a:pPr>
            <a:r>
              <a:rPr lang="en-US" sz="1100" dirty="0">
                <a:solidFill>
                  <a:srgbClr val="000000"/>
                </a:solidFill>
                <a:latin typeface="Meiryo UI" pitchFamily="34" charset="0"/>
                <a:ea typeface="Meiryo UI" pitchFamily="34" charset="-122"/>
                <a:cs typeface="Meiryo UI" pitchFamily="34" charset="-120"/>
              </a:rPr>
              <a:t>担当者とロック（同時編集を防ぐ）</a:t>
            </a:r>
            <a:endParaRPr lang="en-US" sz="1100" dirty="0"/>
          </a:p>
          <a:p>
            <a:pPr marL="152400" indent="-152400">
              <a:spcAft>
                <a:spcPts val="500"/>
              </a:spcAft>
              <a:buSzPct val="100000"/>
              <a:buChar char="•"/>
            </a:pPr>
            <a:r>
              <a:rPr lang="en-US" sz="1100" dirty="0">
                <a:solidFill>
                  <a:srgbClr val="000000"/>
                </a:solidFill>
                <a:latin typeface="Meiryo UI" pitchFamily="34" charset="0"/>
                <a:ea typeface="Meiryo UI" pitchFamily="34" charset="-122"/>
                <a:cs typeface="Meiryo UI" pitchFamily="34" charset="-120"/>
              </a:rPr>
              <a:t>状態：検討中／確定／破棄</a:t>
            </a:r>
            <a:endParaRPr lang="en-US" sz="1100" dirty="0"/>
          </a:p>
        </p:txBody>
      </p:sp>
      <p:sp>
        <p:nvSpPr>
          <p:cNvPr id="14" name="Shape 12"/>
          <p:cNvSpPr/>
          <p:nvPr/>
        </p:nvSpPr>
        <p:spPr>
          <a:xfrm>
            <a:off x="8046720" y="1371600"/>
            <a:ext cx="3566160" cy="1920240"/>
          </a:xfrm>
          <a:prstGeom prst="roundRect">
            <a:avLst>
              <a:gd name="adj" fmla="val 2857"/>
            </a:avLst>
          </a:prstGeom>
          <a:solidFill>
            <a:srgbClr val="FFFFFF"/>
          </a:solidFill>
          <a:ln w="12700">
            <a:solidFill>
              <a:srgbClr val="D5DBE3"/>
            </a:solidFill>
            <a:prstDash val="solid"/>
          </a:ln>
          <a:effectLst>
            <a:outerShdw sx="100000" sy="100000" kx="0" ky="0" algn="bl" rotWithShape="0" blurRad="50800" dist="19050" dir="5400000">
              <a:srgbClr val="000000">
                <a:alpha val="12000"/>
              </a:srgbClr>
            </a:outerShdw>
          </a:effectLst>
        </p:spPr>
      </p:sp>
      <p:sp>
        <p:nvSpPr>
          <p:cNvPr id="15" name="Shape 13"/>
          <p:cNvSpPr/>
          <p:nvPr/>
        </p:nvSpPr>
        <p:spPr>
          <a:xfrm>
            <a:off x="8046720" y="1371600"/>
            <a:ext cx="3566160" cy="384048"/>
          </a:xfrm>
          <a:prstGeom prst="roundRect">
            <a:avLst>
              <a:gd name="adj" fmla="val 14286"/>
            </a:avLst>
          </a:prstGeom>
          <a:solidFill>
            <a:srgbClr val="D9F2F1"/>
          </a:solidFill>
          <a:ln/>
        </p:spPr>
      </p:sp>
      <p:sp>
        <p:nvSpPr>
          <p:cNvPr id="16" name="Text 14"/>
          <p:cNvSpPr txBox="1"/>
          <p:nvPr/>
        </p:nvSpPr>
        <p:spPr>
          <a:xfrm>
            <a:off x="8156448" y="1371600"/>
            <a:ext cx="3383280" cy="384048"/>
          </a:xfrm>
          <a:prstGeom prst="rect">
            <a:avLst/>
          </a:prstGeom>
          <a:noFill/>
          <a:ln/>
        </p:spPr>
        <p:txBody>
          <a:bodyPr wrap="square" lIns="0" tIns="0" rIns="0" bIns="0" rtlCol="0" anchor="ctr"/>
          <a:lstStyle/>
          <a:p>
            <a:pPr indent="0" marL="0">
              <a:buNone/>
            </a:pPr>
            <a:r>
              <a:rPr lang="en-US" sz="1150" b="1" dirty="0">
                <a:solidFill>
                  <a:srgbClr val="0E9F9A"/>
                </a:solidFill>
                <a:latin typeface="Meiryo UI" pitchFamily="34" charset="0"/>
                <a:ea typeface="Meiryo UI" pitchFamily="34" charset="-122"/>
                <a:cs typeface="Meiryo UI" pitchFamily="34" charset="-120"/>
              </a:rPr>
              <a:t>AIの提案</a:t>
            </a:r>
            <a:pPr indent="0" marL="0">
              <a:buNone/>
            </a:pPr>
            <a:r>
              <a:rPr lang="en-US" sz="850" dirty="0">
                <a:solidFill>
                  <a:srgbClr val="0E9F9A"/>
                </a:solidFill>
                <a:latin typeface="Meiryo UI" pitchFamily="34" charset="0"/>
                <a:ea typeface="Meiryo UI" pitchFamily="34" charset="-122"/>
                <a:cs typeface="Meiryo UI" pitchFamily="34" charset="-120"/>
              </a:rPr>
              <a:t>  版ごと</a:t>
            </a:r>
            <a:endParaRPr lang="en-US" sz="1150" dirty="0"/>
          </a:p>
        </p:txBody>
      </p:sp>
      <p:sp>
        <p:nvSpPr>
          <p:cNvPr id="17" name="Text 15"/>
          <p:cNvSpPr txBox="1"/>
          <p:nvPr/>
        </p:nvSpPr>
        <p:spPr>
          <a:xfrm>
            <a:off x="8156448" y="1874520"/>
            <a:ext cx="3364992" cy="1371600"/>
          </a:xfrm>
          <a:prstGeom prst="rect">
            <a:avLst/>
          </a:prstGeom>
          <a:noFill/>
          <a:ln/>
        </p:spPr>
        <p:txBody>
          <a:bodyPr wrap="square" lIns="254" tIns="254" rIns="254" bIns="254" rtlCol="0" anchor="t"/>
          <a:lstStyle/>
          <a:p>
            <a:pPr marL="152400" indent="-152400">
              <a:spcAft>
                <a:spcPts val="500"/>
              </a:spcAft>
              <a:buSzPct val="100000"/>
              <a:buChar char="•"/>
            </a:pPr>
            <a:r>
              <a:rPr lang="en-US" sz="1100" dirty="0">
                <a:solidFill>
                  <a:srgbClr val="000000"/>
                </a:solidFill>
                <a:latin typeface="Meiryo UI" pitchFamily="34" charset="0"/>
                <a:ea typeface="Meiryo UI" pitchFamily="34" charset="-122"/>
                <a:cs typeface="Meiryo UI" pitchFamily="34" charset="-120"/>
              </a:rPr>
              <a:t>提案内容（JSON）と理由</a:t>
            </a:r>
            <a:endParaRPr lang="en-US" sz="1100" dirty="0"/>
          </a:p>
          <a:p>
            <a:pPr marL="152400" indent="-152400">
              <a:spcAft>
                <a:spcPts val="500"/>
              </a:spcAft>
              <a:buSzPct val="100000"/>
              <a:buChar char="•"/>
            </a:pPr>
            <a:r>
              <a:rPr lang="en-US" sz="1100" dirty="0">
                <a:solidFill>
                  <a:srgbClr val="000000"/>
                </a:solidFill>
                <a:latin typeface="Meiryo UI" pitchFamily="34" charset="0"/>
                <a:ea typeface="Meiryo UI" pitchFamily="34" charset="-122"/>
                <a:cs typeface="Meiryo UI" pitchFamily="34" charset="-120"/>
              </a:rPr>
              <a:t>入力に使った候補セットの版</a:t>
            </a:r>
            <a:endParaRPr lang="en-US" sz="1100" dirty="0"/>
          </a:p>
          <a:p>
            <a:pPr marL="152400" indent="-152400">
              <a:spcAft>
                <a:spcPts val="500"/>
              </a:spcAft>
              <a:buSzPct val="100000"/>
              <a:buChar char="•"/>
            </a:pPr>
            <a:r>
              <a:rPr lang="en-US" sz="1100" dirty="0">
                <a:solidFill>
                  <a:srgbClr val="000000"/>
                </a:solidFill>
                <a:latin typeface="Meiryo UI" pitchFamily="34" charset="0"/>
                <a:ea typeface="Meiryo UI" pitchFamily="34" charset="-122"/>
                <a:cs typeface="Meiryo UI" pitchFamily="34" charset="-120"/>
              </a:rPr>
              <a:t>何回目の提案か</a:t>
            </a:r>
            <a:endParaRPr lang="en-US" sz="1100" dirty="0"/>
          </a:p>
        </p:txBody>
      </p:sp>
      <p:sp>
        <p:nvSpPr>
          <p:cNvPr id="18" name="Shape 16"/>
          <p:cNvSpPr/>
          <p:nvPr/>
        </p:nvSpPr>
        <p:spPr>
          <a:xfrm>
            <a:off x="548640" y="3703320"/>
            <a:ext cx="3383280" cy="1737360"/>
          </a:xfrm>
          <a:prstGeom prst="roundRect">
            <a:avLst>
              <a:gd name="adj" fmla="val 3158"/>
            </a:avLst>
          </a:prstGeom>
          <a:solidFill>
            <a:srgbClr val="FFFFFF"/>
          </a:solidFill>
          <a:ln w="12700">
            <a:solidFill>
              <a:srgbClr val="D5DBE3"/>
            </a:solidFill>
            <a:prstDash val="solid"/>
          </a:ln>
          <a:effectLst>
            <a:outerShdw sx="100000" sy="100000" kx="0" ky="0" algn="bl" rotWithShape="0" blurRad="50800" dist="19050" dir="5400000">
              <a:srgbClr val="000000">
                <a:alpha val="12000"/>
              </a:srgbClr>
            </a:outerShdw>
          </a:effectLst>
        </p:spPr>
      </p:sp>
      <p:sp>
        <p:nvSpPr>
          <p:cNvPr id="19" name="Shape 17"/>
          <p:cNvSpPr/>
          <p:nvPr/>
        </p:nvSpPr>
        <p:spPr>
          <a:xfrm>
            <a:off x="548640" y="3703320"/>
            <a:ext cx="3383280" cy="384048"/>
          </a:xfrm>
          <a:prstGeom prst="roundRect">
            <a:avLst>
              <a:gd name="adj" fmla="val 14286"/>
            </a:avLst>
          </a:prstGeom>
          <a:solidFill>
            <a:srgbClr val="E3EAF5"/>
          </a:solidFill>
          <a:ln/>
        </p:spPr>
      </p:sp>
      <p:sp>
        <p:nvSpPr>
          <p:cNvPr id="20" name="Text 18"/>
          <p:cNvSpPr txBox="1"/>
          <p:nvPr/>
        </p:nvSpPr>
        <p:spPr>
          <a:xfrm>
            <a:off x="658368" y="3703320"/>
            <a:ext cx="3200400" cy="384048"/>
          </a:xfrm>
          <a:prstGeom prst="rect">
            <a:avLst/>
          </a:prstGeom>
          <a:noFill/>
          <a:ln/>
        </p:spPr>
        <p:txBody>
          <a:bodyPr wrap="square" lIns="0" tIns="0" rIns="0" bIns="0" rtlCol="0" anchor="ctr"/>
          <a:lstStyle/>
          <a:p>
            <a:pPr indent="0" marL="0">
              <a:buNone/>
            </a:pPr>
            <a:r>
              <a:rPr lang="en-US" sz="1150" b="1" dirty="0">
                <a:solidFill>
                  <a:srgbClr val="1B2A49"/>
                </a:solidFill>
                <a:latin typeface="Meiryo UI" pitchFamily="34" charset="0"/>
                <a:ea typeface="Meiryo UI" pitchFamily="34" charset="-122"/>
                <a:cs typeface="Meiryo UI" pitchFamily="34" charset="-120"/>
              </a:rPr>
              <a:t>候補セット</a:t>
            </a:r>
            <a:pPr indent="0" marL="0">
              <a:buNone/>
            </a:pPr>
            <a:r>
              <a:rPr lang="en-US" sz="850" dirty="0">
                <a:solidFill>
                  <a:srgbClr val="1B2A49"/>
                </a:solidFill>
                <a:latin typeface="Meiryo UI" pitchFamily="34" charset="0"/>
                <a:ea typeface="Meiryo UI" pitchFamily="34" charset="-122"/>
                <a:cs typeface="Meiryo UI" pitchFamily="34" charset="-120"/>
              </a:rPr>
              <a:t>  BigQueryで前処理</a:t>
            </a:r>
            <a:endParaRPr lang="en-US" sz="1150" dirty="0"/>
          </a:p>
        </p:txBody>
      </p:sp>
      <p:sp>
        <p:nvSpPr>
          <p:cNvPr id="21" name="Text 19"/>
          <p:cNvSpPr txBox="1"/>
          <p:nvPr/>
        </p:nvSpPr>
        <p:spPr>
          <a:xfrm>
            <a:off x="658368" y="4206240"/>
            <a:ext cx="3182112" cy="1188720"/>
          </a:xfrm>
          <a:prstGeom prst="rect">
            <a:avLst/>
          </a:prstGeom>
          <a:noFill/>
          <a:ln/>
        </p:spPr>
        <p:txBody>
          <a:bodyPr wrap="square" lIns="254" tIns="254" rIns="254" bIns="254" rtlCol="0" anchor="t"/>
          <a:lstStyle/>
          <a:p>
            <a:pPr marL="152400" indent="-152400">
              <a:spcAft>
                <a:spcPts val="500"/>
              </a:spcAft>
              <a:buSzPct val="100000"/>
              <a:buChar char="•"/>
            </a:pPr>
            <a:r>
              <a:rPr lang="en-US" sz="1100" dirty="0">
                <a:solidFill>
                  <a:srgbClr val="000000"/>
                </a:solidFill>
                <a:latin typeface="Meiryo UI" pitchFamily="34" charset="0"/>
                <a:ea typeface="Meiryo UI" pitchFamily="34" charset="-122"/>
                <a:cs typeface="Meiryo UI" pitchFamily="34" charset="-120"/>
              </a:rPr>
              <a:t>配信日×国×カテゴリごとの候補商品</a:t>
            </a:r>
            <a:endParaRPr lang="en-US" sz="1100" dirty="0"/>
          </a:p>
          <a:p>
            <a:pPr marL="152400" indent="-152400">
              <a:spcAft>
                <a:spcPts val="500"/>
              </a:spcAft>
              <a:buSzPct val="100000"/>
              <a:buChar char="•"/>
            </a:pPr>
            <a:r>
              <a:rPr lang="en-US" sz="1100" dirty="0">
                <a:solidFill>
                  <a:srgbClr val="000000"/>
                </a:solidFill>
                <a:latin typeface="Meiryo UI" pitchFamily="34" charset="0"/>
                <a:ea typeface="Meiryo UI" pitchFamily="34" charset="-122"/>
                <a:cs typeface="Meiryo UI" pitchFamily="34" charset="-120"/>
              </a:rPr>
              <a:t>売上・在庫・レビュー要約・天気などの指標</a:t>
            </a:r>
            <a:endParaRPr lang="en-US" sz="1100" dirty="0"/>
          </a:p>
          <a:p>
            <a:pPr marL="152400" indent="-152400">
              <a:spcAft>
                <a:spcPts val="500"/>
              </a:spcAft>
              <a:buSzPct val="100000"/>
              <a:buChar char="•"/>
            </a:pPr>
            <a:r>
              <a:rPr lang="en-US" sz="1100" dirty="0">
                <a:solidFill>
                  <a:srgbClr val="000000"/>
                </a:solidFill>
                <a:latin typeface="Meiryo UI" pitchFamily="34" charset="0"/>
                <a:ea typeface="Meiryo UI" pitchFamily="34" charset="-122"/>
                <a:cs typeface="Meiryo UI" pitchFamily="34" charset="-120"/>
              </a:rPr>
              <a:t>日次で更新</a:t>
            </a:r>
            <a:endParaRPr lang="en-US" sz="1100" dirty="0"/>
          </a:p>
        </p:txBody>
      </p:sp>
      <p:sp>
        <p:nvSpPr>
          <p:cNvPr id="22" name="Shape 20"/>
          <p:cNvSpPr/>
          <p:nvPr/>
        </p:nvSpPr>
        <p:spPr>
          <a:xfrm>
            <a:off x="4297680" y="3703320"/>
            <a:ext cx="3383280" cy="1737360"/>
          </a:xfrm>
          <a:prstGeom prst="roundRect">
            <a:avLst>
              <a:gd name="adj" fmla="val 3158"/>
            </a:avLst>
          </a:prstGeom>
          <a:solidFill>
            <a:srgbClr val="FFFFFF"/>
          </a:solidFill>
          <a:ln w="12700">
            <a:solidFill>
              <a:srgbClr val="D5DBE3"/>
            </a:solidFill>
            <a:prstDash val="solid"/>
          </a:ln>
          <a:effectLst>
            <a:outerShdw sx="100000" sy="100000" kx="0" ky="0" algn="bl" rotWithShape="0" blurRad="50800" dist="19050" dir="5400000">
              <a:srgbClr val="000000">
                <a:alpha val="12000"/>
              </a:srgbClr>
            </a:outerShdw>
          </a:effectLst>
        </p:spPr>
      </p:sp>
      <p:sp>
        <p:nvSpPr>
          <p:cNvPr id="23" name="Shape 21"/>
          <p:cNvSpPr/>
          <p:nvPr/>
        </p:nvSpPr>
        <p:spPr>
          <a:xfrm>
            <a:off x="4297680" y="3703320"/>
            <a:ext cx="3383280" cy="384048"/>
          </a:xfrm>
          <a:prstGeom prst="roundRect">
            <a:avLst>
              <a:gd name="adj" fmla="val 14286"/>
            </a:avLst>
          </a:prstGeom>
          <a:solidFill>
            <a:srgbClr val="FDEBD3"/>
          </a:solidFill>
          <a:ln/>
        </p:spPr>
      </p:sp>
      <p:sp>
        <p:nvSpPr>
          <p:cNvPr id="24" name="Text 22"/>
          <p:cNvSpPr txBox="1"/>
          <p:nvPr/>
        </p:nvSpPr>
        <p:spPr>
          <a:xfrm>
            <a:off x="4407408" y="3703320"/>
            <a:ext cx="3200400" cy="384048"/>
          </a:xfrm>
          <a:prstGeom prst="rect">
            <a:avLst/>
          </a:prstGeom>
          <a:noFill/>
          <a:ln/>
        </p:spPr>
        <p:txBody>
          <a:bodyPr wrap="square" lIns="0" tIns="0" rIns="0" bIns="0" rtlCol="0" anchor="ctr"/>
          <a:lstStyle/>
          <a:p>
            <a:pPr indent="0" marL="0">
              <a:buNone/>
            </a:pPr>
            <a:r>
              <a:rPr lang="en-US" sz="1150" b="1" dirty="0">
                <a:solidFill>
                  <a:srgbClr val="E8912D"/>
                </a:solidFill>
                <a:latin typeface="Meiryo UI" pitchFamily="34" charset="0"/>
                <a:ea typeface="Meiryo UI" pitchFamily="34" charset="-122"/>
                <a:cs typeface="Meiryo UI" pitchFamily="34" charset="-120"/>
              </a:rPr>
              <a:t>やり取りの記録</a:t>
            </a:r>
            <a:pPr indent="0" marL="0">
              <a:buNone/>
            </a:pPr>
            <a:r>
              <a:rPr lang="en-US" sz="850" dirty="0">
                <a:solidFill>
                  <a:srgbClr val="E8912D"/>
                </a:solidFill>
                <a:latin typeface="Meiryo UI" pitchFamily="34" charset="0"/>
                <a:ea typeface="Meiryo UI" pitchFamily="34" charset="-122"/>
                <a:cs typeface="Meiryo UI" pitchFamily="34" charset="-120"/>
              </a:rPr>
              <a:t>  </a:t>
            </a:r>
            <a:endParaRPr lang="en-US" sz="1150" dirty="0"/>
          </a:p>
        </p:txBody>
      </p:sp>
      <p:sp>
        <p:nvSpPr>
          <p:cNvPr id="25" name="Text 23"/>
          <p:cNvSpPr txBox="1"/>
          <p:nvPr/>
        </p:nvSpPr>
        <p:spPr>
          <a:xfrm>
            <a:off x="4407408" y="4206240"/>
            <a:ext cx="3182112" cy="1188720"/>
          </a:xfrm>
          <a:prstGeom prst="rect">
            <a:avLst/>
          </a:prstGeom>
          <a:noFill/>
          <a:ln/>
        </p:spPr>
        <p:txBody>
          <a:bodyPr wrap="square" lIns="254" tIns="254" rIns="254" bIns="254" rtlCol="0" anchor="t"/>
          <a:lstStyle/>
          <a:p>
            <a:pPr marL="152400" indent="-152400">
              <a:spcAft>
                <a:spcPts val="500"/>
              </a:spcAft>
              <a:buSzPct val="100000"/>
              <a:buChar char="•"/>
            </a:pPr>
            <a:r>
              <a:rPr lang="en-US" sz="1100" dirty="0">
                <a:solidFill>
                  <a:srgbClr val="000000"/>
                </a:solidFill>
                <a:latin typeface="Meiryo UI" pitchFamily="34" charset="0"/>
                <a:ea typeface="Meiryo UI" pitchFamily="34" charset="-122"/>
                <a:cs typeface="Meiryo UI" pitchFamily="34" charset="-120"/>
              </a:rPr>
              <a:t>チャットの指示と応答</a:t>
            </a:r>
            <a:endParaRPr lang="en-US" sz="1100" dirty="0"/>
          </a:p>
          <a:p>
            <a:pPr marL="152400" indent="-152400">
              <a:spcAft>
                <a:spcPts val="500"/>
              </a:spcAft>
              <a:buSzPct val="100000"/>
              <a:buChar char="•"/>
            </a:pPr>
            <a:r>
              <a:rPr lang="en-US" sz="1100" dirty="0">
                <a:solidFill>
                  <a:srgbClr val="000000"/>
                </a:solidFill>
                <a:latin typeface="Meiryo UI" pitchFamily="34" charset="0"/>
                <a:ea typeface="Meiryo UI" pitchFamily="34" charset="-122"/>
                <a:cs typeface="Meiryo UI" pitchFamily="34" charset="-120"/>
              </a:rPr>
              <a:t>ドラッグでの入れ替えなどの操作</a:t>
            </a:r>
            <a:endParaRPr lang="en-US" sz="1100" dirty="0"/>
          </a:p>
          <a:p>
            <a:pPr marL="152400" indent="-152400">
              <a:spcAft>
                <a:spcPts val="500"/>
              </a:spcAft>
              <a:buSzPct val="100000"/>
              <a:buChar char="•"/>
            </a:pPr>
            <a:r>
              <a:rPr lang="en-US" sz="1100" dirty="0">
                <a:solidFill>
                  <a:srgbClr val="000000"/>
                </a:solidFill>
                <a:latin typeface="Meiryo UI" pitchFamily="34" charset="0"/>
                <a:ea typeface="Meiryo UI" pitchFamily="34" charset="-122"/>
                <a:cs typeface="Meiryo UI" pitchFamily="34" charset="-120"/>
              </a:rPr>
              <a:t>日時と操作した人</a:t>
            </a:r>
            <a:endParaRPr lang="en-US" sz="1100" dirty="0"/>
          </a:p>
        </p:txBody>
      </p:sp>
      <p:sp>
        <p:nvSpPr>
          <p:cNvPr id="26" name="Shape 24"/>
          <p:cNvSpPr/>
          <p:nvPr/>
        </p:nvSpPr>
        <p:spPr>
          <a:xfrm>
            <a:off x="3959352" y="2103120"/>
            <a:ext cx="310896" cy="0"/>
          </a:xfrm>
          <a:prstGeom prst="line">
            <a:avLst/>
          </a:prstGeom>
          <a:noFill/>
          <a:ln w="22225">
            <a:solidFill>
              <a:srgbClr val="9AA5B4"/>
            </a:solidFill>
            <a:prstDash val="solid"/>
            <a:tailEnd type="triangle"/>
          </a:ln>
        </p:spPr>
      </p:sp>
      <p:sp>
        <p:nvSpPr>
          <p:cNvPr id="27" name="Text 25"/>
          <p:cNvSpPr txBox="1"/>
          <p:nvPr/>
        </p:nvSpPr>
        <p:spPr>
          <a:xfrm>
            <a:off x="3931920" y="1828800"/>
            <a:ext cx="411480" cy="228600"/>
          </a:xfrm>
          <a:prstGeom prst="rect">
            <a:avLst/>
          </a:prstGeom>
          <a:noFill/>
          <a:ln/>
        </p:spPr>
        <p:txBody>
          <a:bodyPr wrap="square" lIns="0" tIns="0" rIns="0" bIns="0" rtlCol="0" anchor="t"/>
          <a:lstStyle/>
          <a:p>
            <a:pPr algn="ctr" indent="0" marL="0">
              <a:buNone/>
            </a:pPr>
            <a:r>
              <a:rPr lang="en-US" sz="750" dirty="0">
                <a:solidFill>
                  <a:srgbClr val="6B7280"/>
                </a:solidFill>
                <a:latin typeface="Meiryo UI" pitchFamily="34" charset="0"/>
                <a:ea typeface="Meiryo UI" pitchFamily="34" charset="-122"/>
                <a:cs typeface="Meiryo UI" pitchFamily="34" charset="-120"/>
              </a:rPr>
              <a:t>1対多</a:t>
            </a:r>
            <a:endParaRPr lang="en-US" sz="750" dirty="0"/>
          </a:p>
        </p:txBody>
      </p:sp>
      <p:sp>
        <p:nvSpPr>
          <p:cNvPr id="28" name="Shape 26"/>
          <p:cNvSpPr/>
          <p:nvPr/>
        </p:nvSpPr>
        <p:spPr>
          <a:xfrm flipH="1">
            <a:off x="3959352" y="2697480"/>
            <a:ext cx="310896" cy="0"/>
          </a:xfrm>
          <a:prstGeom prst="line">
            <a:avLst/>
          </a:prstGeom>
          <a:noFill/>
          <a:ln w="25400">
            <a:solidFill>
              <a:srgbClr val="0E9F9A"/>
            </a:solidFill>
            <a:prstDash val="dash"/>
            <a:tailEnd type="triangle"/>
          </a:ln>
        </p:spPr>
      </p:sp>
      <p:sp>
        <p:nvSpPr>
          <p:cNvPr id="29" name="Text 27"/>
          <p:cNvSpPr txBox="1"/>
          <p:nvPr/>
        </p:nvSpPr>
        <p:spPr>
          <a:xfrm>
            <a:off x="3886200" y="2761488"/>
            <a:ext cx="502920" cy="365760"/>
          </a:xfrm>
          <a:prstGeom prst="rect">
            <a:avLst/>
          </a:prstGeom>
          <a:noFill/>
          <a:ln/>
        </p:spPr>
        <p:txBody>
          <a:bodyPr wrap="square" lIns="0" tIns="0" rIns="0" bIns="0" rtlCol="0" anchor="t"/>
          <a:lstStyle/>
          <a:p>
            <a:pPr algn="ctr" indent="0" marL="0">
              <a:buNone/>
            </a:pPr>
            <a:r>
              <a:rPr lang="en-US" sz="700" b="1" dirty="0">
                <a:solidFill>
                  <a:srgbClr val="0E9F9A"/>
                </a:solidFill>
                <a:latin typeface="Meiryo UI" pitchFamily="34" charset="0"/>
                <a:ea typeface="Meiryo UI" pitchFamily="34" charset="-122"/>
                <a:cs typeface="Meiryo UI" pitchFamily="34" charset="-120"/>
              </a:rPr>
              <a:t>確定時に</a:t>
            </a:r>
            <a:endParaRPr lang="en-US" sz="700" dirty="0"/>
          </a:p>
          <a:p>
            <a:pPr algn="ctr" indent="0" marL="0">
              <a:buNone/>
            </a:pPr>
            <a:r>
              <a:rPr lang="en-US" sz="700" b="1" dirty="0">
                <a:solidFill>
                  <a:srgbClr val="0E9F9A"/>
                </a:solidFill>
                <a:latin typeface="Meiryo UI" pitchFamily="34" charset="0"/>
                <a:ea typeface="Meiryo UI" pitchFamily="34" charset="-122"/>
                <a:cs typeface="Meiryo UI" pitchFamily="34" charset="-120"/>
              </a:rPr>
              <a:t>書き込み</a:t>
            </a:r>
            <a:endParaRPr lang="en-US" sz="700" dirty="0"/>
          </a:p>
        </p:txBody>
      </p:sp>
      <p:sp>
        <p:nvSpPr>
          <p:cNvPr id="30" name="Shape 28"/>
          <p:cNvSpPr/>
          <p:nvPr/>
        </p:nvSpPr>
        <p:spPr>
          <a:xfrm>
            <a:off x="7708392" y="2331720"/>
            <a:ext cx="310896" cy="0"/>
          </a:xfrm>
          <a:prstGeom prst="line">
            <a:avLst/>
          </a:prstGeom>
          <a:noFill/>
          <a:ln w="22225">
            <a:solidFill>
              <a:srgbClr val="9AA5B4"/>
            </a:solidFill>
            <a:prstDash val="solid"/>
            <a:tailEnd type="triangle"/>
          </a:ln>
        </p:spPr>
      </p:sp>
      <p:sp>
        <p:nvSpPr>
          <p:cNvPr id="31" name="Text 29"/>
          <p:cNvSpPr txBox="1"/>
          <p:nvPr/>
        </p:nvSpPr>
        <p:spPr>
          <a:xfrm>
            <a:off x="7680960" y="2057400"/>
            <a:ext cx="411480" cy="228600"/>
          </a:xfrm>
          <a:prstGeom prst="rect">
            <a:avLst/>
          </a:prstGeom>
          <a:noFill/>
          <a:ln/>
        </p:spPr>
        <p:txBody>
          <a:bodyPr wrap="square" lIns="0" tIns="0" rIns="0" bIns="0" rtlCol="0" anchor="t"/>
          <a:lstStyle/>
          <a:p>
            <a:pPr algn="ctr" indent="0" marL="0">
              <a:buNone/>
            </a:pPr>
            <a:r>
              <a:rPr lang="en-US" sz="750" dirty="0">
                <a:solidFill>
                  <a:srgbClr val="6B7280"/>
                </a:solidFill>
                <a:latin typeface="Meiryo UI" pitchFamily="34" charset="0"/>
                <a:ea typeface="Meiryo UI" pitchFamily="34" charset="-122"/>
                <a:cs typeface="Meiryo UI" pitchFamily="34" charset="-120"/>
              </a:rPr>
              <a:t>1対多</a:t>
            </a:r>
            <a:endParaRPr lang="en-US" sz="750" dirty="0"/>
          </a:p>
        </p:txBody>
      </p:sp>
      <p:sp>
        <p:nvSpPr>
          <p:cNvPr id="32" name="Shape 30"/>
          <p:cNvSpPr/>
          <p:nvPr/>
        </p:nvSpPr>
        <p:spPr>
          <a:xfrm>
            <a:off x="5989320" y="3319272"/>
            <a:ext cx="0" cy="356616"/>
          </a:xfrm>
          <a:prstGeom prst="line">
            <a:avLst/>
          </a:prstGeom>
          <a:noFill/>
          <a:ln w="22225">
            <a:solidFill>
              <a:srgbClr val="9AA5B4"/>
            </a:solidFill>
            <a:prstDash val="solid"/>
            <a:tailEnd type="triangle"/>
          </a:ln>
        </p:spPr>
      </p:sp>
      <p:sp>
        <p:nvSpPr>
          <p:cNvPr id="33" name="Text 31"/>
          <p:cNvSpPr txBox="1"/>
          <p:nvPr/>
        </p:nvSpPr>
        <p:spPr>
          <a:xfrm>
            <a:off x="6053328" y="3383280"/>
            <a:ext cx="457200" cy="228600"/>
          </a:xfrm>
          <a:prstGeom prst="rect">
            <a:avLst/>
          </a:prstGeom>
          <a:noFill/>
          <a:ln/>
        </p:spPr>
        <p:txBody>
          <a:bodyPr wrap="square" lIns="0" tIns="0" rIns="0" bIns="0" rtlCol="0" anchor="t"/>
          <a:lstStyle/>
          <a:p>
            <a:pPr indent="0" marL="0">
              <a:buNone/>
            </a:pPr>
            <a:r>
              <a:rPr lang="en-US" sz="750" dirty="0">
                <a:solidFill>
                  <a:srgbClr val="6B7280"/>
                </a:solidFill>
                <a:latin typeface="Meiryo UI" pitchFamily="34" charset="0"/>
                <a:ea typeface="Meiryo UI" pitchFamily="34" charset="-122"/>
                <a:cs typeface="Meiryo UI" pitchFamily="34" charset="-120"/>
              </a:rPr>
              <a:t>1対多</a:t>
            </a:r>
            <a:endParaRPr lang="en-US" sz="750" dirty="0"/>
          </a:p>
        </p:txBody>
      </p:sp>
      <p:sp>
        <p:nvSpPr>
          <p:cNvPr id="34" name="Shape 32"/>
          <p:cNvSpPr/>
          <p:nvPr/>
        </p:nvSpPr>
        <p:spPr>
          <a:xfrm flipV="1">
            <a:off x="2240280" y="3319272"/>
            <a:ext cx="2514600" cy="356616"/>
          </a:xfrm>
          <a:prstGeom prst="line">
            <a:avLst/>
          </a:prstGeom>
          <a:noFill/>
          <a:ln w="22225">
            <a:solidFill>
              <a:srgbClr val="9AA5B4"/>
            </a:solidFill>
            <a:prstDash val="dash"/>
            <a:tailEnd type="triangle"/>
          </a:ln>
        </p:spPr>
      </p:sp>
      <p:sp>
        <p:nvSpPr>
          <p:cNvPr id="35" name="Text 33"/>
          <p:cNvSpPr txBox="1"/>
          <p:nvPr/>
        </p:nvSpPr>
        <p:spPr>
          <a:xfrm>
            <a:off x="3017520" y="3310128"/>
            <a:ext cx="457200" cy="228600"/>
          </a:xfrm>
          <a:prstGeom prst="rect">
            <a:avLst/>
          </a:prstGeom>
          <a:noFill/>
          <a:ln/>
        </p:spPr>
        <p:txBody>
          <a:bodyPr wrap="square" lIns="0" tIns="0" rIns="0" bIns="0" rtlCol="0" anchor="t"/>
          <a:lstStyle/>
          <a:p>
            <a:pPr indent="0" marL="0">
              <a:buNone/>
            </a:pPr>
            <a:r>
              <a:rPr lang="en-US" sz="750" dirty="0">
                <a:solidFill>
                  <a:srgbClr val="6B7280"/>
                </a:solidFill>
                <a:latin typeface="Meiryo UI" pitchFamily="34" charset="0"/>
                <a:ea typeface="Meiryo UI" pitchFamily="34" charset="-122"/>
                <a:cs typeface="Meiryo UI" pitchFamily="34" charset="-120"/>
              </a:rPr>
              <a:t>参照</a:t>
            </a:r>
            <a:endParaRPr lang="en-US" sz="750" dirty="0"/>
          </a:p>
        </p:txBody>
      </p:sp>
      <p:sp>
        <p:nvSpPr>
          <p:cNvPr id="36" name="Shape 34"/>
          <p:cNvSpPr/>
          <p:nvPr/>
        </p:nvSpPr>
        <p:spPr>
          <a:xfrm>
            <a:off x="8046720" y="3703320"/>
            <a:ext cx="3566160" cy="1737360"/>
          </a:xfrm>
          <a:prstGeom prst="roundRect">
            <a:avLst>
              <a:gd name="adj" fmla="val 3158"/>
            </a:avLst>
          </a:prstGeom>
          <a:solidFill>
            <a:srgbClr val="D9F2F1"/>
          </a:solidFill>
          <a:ln/>
        </p:spPr>
      </p:sp>
      <p:sp>
        <p:nvSpPr>
          <p:cNvPr id="37" name="Shape 35"/>
          <p:cNvSpPr/>
          <p:nvPr/>
        </p:nvSpPr>
        <p:spPr>
          <a:xfrm>
            <a:off x="8183880" y="3822192"/>
            <a:ext cx="384048" cy="384048"/>
          </a:xfrm>
          <a:prstGeom prst="ellipse">
            <a:avLst/>
          </a:prstGeom>
          <a:solidFill>
            <a:srgbClr val="FFFFFF"/>
          </a:solidFill>
          <a:ln/>
        </p:spPr>
      </p:sp>
      <p:pic>
        <p:nvPicPr>
          <p:cNvPr id="38" name="Image 0" descr="preencoded.png">    </p:cNvPr>
          <p:cNvPicPr>
            <a:picLocks noChangeAspect="1"/>
          </p:cNvPicPr>
          <p:nvPr/>
        </p:nvPicPr>
        <p:blipFill>
          <a:blip r:embed="rId1"/>
          <a:stretch>
            <a:fillRect/>
          </a:stretch>
        </p:blipFill>
        <p:spPr>
          <a:xfrm>
            <a:off x="8260690" y="3899002"/>
            <a:ext cx="230429" cy="230429"/>
          </a:xfrm>
          <a:prstGeom prst="rect">
            <a:avLst/>
          </a:prstGeom>
        </p:spPr>
      </p:pic>
      <p:sp>
        <p:nvSpPr>
          <p:cNvPr id="39" name="Text 36"/>
          <p:cNvSpPr txBox="1"/>
          <p:nvPr/>
        </p:nvSpPr>
        <p:spPr>
          <a:xfrm>
            <a:off x="8641080" y="3822192"/>
            <a:ext cx="2880360" cy="384048"/>
          </a:xfrm>
          <a:prstGeom prst="rect">
            <a:avLst/>
          </a:prstGeom>
          <a:noFill/>
          <a:ln/>
        </p:spPr>
        <p:txBody>
          <a:bodyPr wrap="square" lIns="0" tIns="0" rIns="0" bIns="0" rtlCol="0" anchor="ctr"/>
          <a:lstStyle/>
          <a:p>
            <a:pPr indent="0" marL="0">
              <a:buNone/>
            </a:pPr>
            <a:r>
              <a:rPr lang="en-US" sz="1150" b="1" dirty="0">
                <a:solidFill>
                  <a:srgbClr val="1B2A49"/>
                </a:solidFill>
                <a:latin typeface="Meiryo UI" pitchFamily="34" charset="0"/>
                <a:ea typeface="Meiryo UI" pitchFamily="34" charset="-122"/>
                <a:cs typeface="Meiryo UI" pitchFamily="34" charset="-120"/>
              </a:rPr>
              <a:t>分けることの利点</a:t>
            </a:r>
            <a:endParaRPr lang="en-US" sz="1150" dirty="0"/>
          </a:p>
        </p:txBody>
      </p:sp>
      <p:sp>
        <p:nvSpPr>
          <p:cNvPr id="40" name="Text 37"/>
          <p:cNvSpPr txBox="1"/>
          <p:nvPr/>
        </p:nvSpPr>
        <p:spPr>
          <a:xfrm>
            <a:off x="8229600" y="4306824"/>
            <a:ext cx="3246120" cy="1042416"/>
          </a:xfrm>
          <a:prstGeom prst="rect">
            <a:avLst/>
          </a:prstGeom>
          <a:noFill/>
          <a:ln/>
        </p:spPr>
        <p:txBody>
          <a:bodyPr wrap="square" lIns="254" tIns="254" rIns="254" bIns="254" rtlCol="0" anchor="t"/>
          <a:lstStyle/>
          <a:p>
            <a:pPr marL="152400" indent="-152400">
              <a:spcAft>
                <a:spcPts val="300"/>
              </a:spcAft>
              <a:buSzPct val="100000"/>
              <a:buChar char="•"/>
            </a:pPr>
            <a:r>
              <a:rPr lang="en-US" sz="1000" dirty="0">
                <a:solidFill>
                  <a:srgbClr val="2B2B2B"/>
                </a:solidFill>
                <a:latin typeface="Meiryo UI" pitchFamily="34" charset="0"/>
                <a:ea typeface="Meiryo UI" pitchFamily="34" charset="-122"/>
                <a:cs typeface="Meiryo UI" pitchFamily="34" charset="-120"/>
              </a:rPr>
              <a:t>途中で閉じても、あとで再開できる</a:t>
            </a:r>
            <a:endParaRPr lang="en-US" sz="1000" dirty="0"/>
          </a:p>
          <a:p>
            <a:pPr marL="152400" indent="-152400">
              <a:spcAft>
                <a:spcPts val="300"/>
              </a:spcAft>
              <a:buSzPct val="100000"/>
              <a:buChar char="•"/>
            </a:pPr>
            <a:r>
              <a:rPr lang="en-US" sz="1000" dirty="0">
                <a:solidFill>
                  <a:srgbClr val="2B2B2B"/>
                </a:solidFill>
                <a:latin typeface="Meiryo UI" pitchFamily="34" charset="0"/>
                <a:ea typeface="Meiryo UI" pitchFamily="34" charset="-122"/>
                <a:cs typeface="Meiryo UI" pitchFamily="34" charset="-120"/>
              </a:rPr>
              <a:t>AIの提案と確定内容の差が残り、品質評価・振り返り・好事例ライブラリに使える</a:t>
            </a:r>
            <a:endParaRPr lang="en-US" sz="1000" dirty="0"/>
          </a:p>
          <a:p>
            <a:pPr marL="152400" indent="-152400">
              <a:spcAft>
                <a:spcPts val="300"/>
              </a:spcAft>
              <a:buSzPct val="100000"/>
              <a:buChar char="•"/>
            </a:pPr>
            <a:r>
              <a:rPr lang="en-US" sz="1000" dirty="0">
                <a:solidFill>
                  <a:srgbClr val="2B2B2B"/>
                </a:solidFill>
                <a:latin typeface="Meiryo UI" pitchFamily="34" charset="0"/>
                <a:ea typeface="Meiryo UI" pitchFamily="34" charset="-122"/>
                <a:cs typeface="Meiryo UI" pitchFamily="34" charset="-120"/>
              </a:rPr>
              <a:t>同時編集をロックで防げる</a:t>
            </a:r>
            <a:endParaRPr lang="en-US" sz="1000" dirty="0"/>
          </a:p>
          <a:p>
            <a:pPr marL="152400" indent="-152400">
              <a:spcAft>
                <a:spcPts val="300"/>
              </a:spcAft>
              <a:buSzPct val="100000"/>
              <a:buChar char="•"/>
            </a:pPr>
            <a:r>
              <a:rPr lang="en-US" sz="1000" dirty="0">
                <a:solidFill>
                  <a:srgbClr val="2B2B2B"/>
                </a:solidFill>
                <a:latin typeface="Meiryo UI" pitchFamily="34" charset="0"/>
                <a:ea typeface="Meiryo UI" pitchFamily="34" charset="-122"/>
                <a:cs typeface="Meiryo UI" pitchFamily="34" charset="-120"/>
              </a:rPr>
              <a:t>検討中の内容でカードが散らからない</a:t>
            </a:r>
            <a:endParaRPr lang="en-US" sz="1000" dirty="0"/>
          </a:p>
        </p:txBody>
      </p:sp>
      <p:sp>
        <p:nvSpPr>
          <p:cNvPr id="41" name="Shape 38"/>
          <p:cNvSpPr/>
          <p:nvPr/>
        </p:nvSpPr>
        <p:spPr>
          <a:xfrm>
            <a:off x="548640" y="5577840"/>
            <a:ext cx="11064240" cy="749808"/>
          </a:xfrm>
          <a:prstGeom prst="roundRect">
            <a:avLst>
              <a:gd name="adj" fmla="val 7317"/>
            </a:avLst>
          </a:prstGeom>
          <a:solidFill>
            <a:srgbClr val="F3F5F8"/>
          </a:solidFill>
          <a:ln/>
        </p:spPr>
      </p:sp>
      <p:sp>
        <p:nvSpPr>
          <p:cNvPr id="42" name="Shape 39"/>
          <p:cNvSpPr/>
          <p:nvPr/>
        </p:nvSpPr>
        <p:spPr>
          <a:xfrm>
            <a:off x="685800" y="5705856"/>
            <a:ext cx="457200" cy="457200"/>
          </a:xfrm>
          <a:prstGeom prst="ellipse">
            <a:avLst/>
          </a:prstGeom>
          <a:solidFill>
            <a:srgbClr val="FFFFFF"/>
          </a:solidFill>
          <a:ln/>
        </p:spPr>
      </p:sp>
      <p:pic>
        <p:nvPicPr>
          <p:cNvPr id="43" name="Image 1" descr="preencoded.png">    </p:cNvPr>
          <p:cNvPicPr>
            <a:picLocks noChangeAspect="1"/>
          </p:cNvPicPr>
          <p:nvPr/>
        </p:nvPicPr>
        <p:blipFill>
          <a:blip r:embed="rId2"/>
          <a:stretch>
            <a:fillRect/>
          </a:stretch>
        </p:blipFill>
        <p:spPr>
          <a:xfrm>
            <a:off x="777240" y="5797296"/>
            <a:ext cx="274320" cy="274320"/>
          </a:xfrm>
          <a:prstGeom prst="rect">
            <a:avLst/>
          </a:prstGeom>
        </p:spPr>
      </p:pic>
      <p:sp>
        <p:nvSpPr>
          <p:cNvPr id="44" name="Text 40"/>
          <p:cNvSpPr txBox="1"/>
          <p:nvPr/>
        </p:nvSpPr>
        <p:spPr>
          <a:xfrm>
            <a:off x="1280160" y="5577840"/>
            <a:ext cx="10241280" cy="749808"/>
          </a:xfrm>
          <a:prstGeom prst="rect">
            <a:avLst/>
          </a:prstGeom>
          <a:noFill/>
          <a:ln/>
        </p:spPr>
        <p:txBody>
          <a:bodyPr wrap="square" lIns="0" tIns="0" rIns="0" bIns="0" rtlCol="0" anchor="ctr"/>
          <a:lstStyle/>
          <a:p>
            <a:pPr indent="0" marL="0">
              <a:buNone/>
            </a:pPr>
            <a:r>
              <a:rPr lang="en-US" sz="1000" b="1" dirty="0">
                <a:solidFill>
                  <a:srgbClr val="1B2A49"/>
                </a:solidFill>
                <a:latin typeface="Meiryo UI" pitchFamily="34" charset="0"/>
                <a:ea typeface="Meiryo UI" pitchFamily="34" charset="-122"/>
                <a:cs typeface="Meiryo UI" pitchFamily="34" charset="-120"/>
              </a:rPr>
              <a:t>設計で決めること：</a:t>
            </a:r>
            <a:pPr indent="0" marL="0">
              <a:buNone/>
            </a:pPr>
            <a:r>
              <a:rPr lang="en-US" sz="1000" dirty="0">
                <a:solidFill>
                  <a:srgbClr val="000000"/>
                </a:solidFill>
                <a:latin typeface="Meiryo UI" pitchFamily="34" charset="0"/>
                <a:ea typeface="Meiryo UI" pitchFamily="34" charset="-122"/>
                <a:cs typeface="Meiryo UI" pitchFamily="34" charset="-120"/>
              </a:rPr>
              <a:t>工程間のつながり（商品を確定し直したら、確定済みのコピーや制作指示をどう扱うか）／確定の粒度（工程ごとか、最後に一括か）／承認に回す単位（カード単位か）</a:t>
            </a:r>
            <a:endParaRPr lang="en-US" sz="1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548640"/>
          </a:xfrm>
          <a:prstGeom prst="rect">
            <a:avLst/>
          </a:prstGeom>
          <a:noFill/>
          <a:ln/>
        </p:spPr>
        <p:txBody>
          <a:bodyPr wrap="square" lIns="0" tIns="0" rIns="0" bIns="0" rtlCol="0" anchor="ctr"/>
          <a:lstStyle/>
          <a:p>
            <a:pPr indent="0" marL="0">
              <a:buNone/>
            </a:pPr>
            <a:r>
              <a:rPr lang="en-US" sz="2600" b="1" dirty="0">
                <a:solidFill>
                  <a:srgbClr val="1B2A49"/>
                </a:solidFill>
                <a:latin typeface="Meiryo UI" pitchFamily="34" charset="0"/>
                <a:ea typeface="Meiryo UI" pitchFamily="34" charset="-122"/>
                <a:cs typeface="Meiryo UI" pitchFamily="34" charset="-120"/>
              </a:rPr>
              <a:t>A7｜Lists＋code apps（組み合わせ）</a:t>
            </a:r>
            <a:endParaRPr lang="en-US" sz="2600" dirty="0"/>
          </a:p>
        </p:txBody>
      </p:sp>
      <p:sp>
        <p:nvSpPr>
          <p:cNvPr id="3" name="Text 1"/>
          <p:cNvSpPr txBox="1"/>
          <p:nvPr/>
        </p:nvSpPr>
        <p:spPr>
          <a:xfrm>
            <a:off x="548640" y="896112"/>
            <a:ext cx="11064240" cy="365760"/>
          </a:xfrm>
          <a:prstGeom prst="rect">
            <a:avLst/>
          </a:prstGeom>
          <a:noFill/>
          <a:ln/>
        </p:spPr>
        <p:txBody>
          <a:bodyPr wrap="square" lIns="0" tIns="0" rIns="0" bIns="0" rtlCol="0" anchor="ctr"/>
          <a:lstStyle/>
          <a:p>
            <a:pPr indent="0" marL="0">
              <a:buNone/>
            </a:pPr>
            <a:r>
              <a:rPr lang="en-US" sz="1400" dirty="0">
                <a:solidFill>
                  <a:srgbClr val="6B7280"/>
                </a:solidFill>
                <a:latin typeface="Meiryo UI" pitchFamily="34" charset="0"/>
                <a:ea typeface="Meiryo UI" pitchFamily="34" charset="-122"/>
                <a:cs typeface="Meiryo UI" pitchFamily="34" charset="-120"/>
              </a:rPr>
              <a:t>データはMicrosoft Listsに置き、カレンダーなどの画面だけをcode apps（TypeScript）で作り込む</a:t>
            </a:r>
            <a:endParaRPr lang="en-US" sz="1400" dirty="0"/>
          </a:p>
        </p:txBody>
      </p:sp>
      <p:sp>
        <p:nvSpPr>
          <p:cNvPr id="4" name="Text 2"/>
          <p:cNvSpPr txBox="1"/>
          <p:nvPr/>
        </p:nvSpPr>
        <p:spPr>
          <a:xfrm>
            <a:off x="7498080" y="91440"/>
            <a:ext cx="4114800" cy="22860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4. 各パターンの詳細</a:t>
            </a:r>
            <a:endParaRPr lang="en-US" sz="900" dirty="0"/>
          </a:p>
        </p:txBody>
      </p:sp>
      <p:sp>
        <p:nvSpPr>
          <p:cNvPr id="5" name="Text 3"/>
          <p:cNvSpPr txBox="1"/>
          <p:nvPr/>
        </p:nvSpPr>
        <p:spPr>
          <a:xfrm>
            <a:off x="11247120" y="6446520"/>
            <a:ext cx="457200" cy="27432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27</a:t>
            </a:r>
            <a:endParaRPr lang="en-US" sz="900" dirty="0"/>
          </a:p>
        </p:txBody>
      </p:sp>
      <p:sp>
        <p:nvSpPr>
          <p:cNvPr id="6" name="Shape 4"/>
          <p:cNvSpPr/>
          <p:nvPr/>
        </p:nvSpPr>
        <p:spPr>
          <a:xfrm>
            <a:off x="548640" y="1371600"/>
            <a:ext cx="2103120" cy="347472"/>
          </a:xfrm>
          <a:prstGeom prst="roundRect">
            <a:avLst>
              <a:gd name="adj" fmla="val 50000"/>
            </a:avLst>
          </a:prstGeom>
          <a:solidFill>
            <a:srgbClr val="E5F0FA"/>
          </a:solidFill>
          <a:ln/>
        </p:spPr>
      </p:sp>
      <p:sp>
        <p:nvSpPr>
          <p:cNvPr id="7" name="Text 5"/>
          <p:cNvSpPr txBox="1"/>
          <p:nvPr/>
        </p:nvSpPr>
        <p:spPr>
          <a:xfrm>
            <a:off x="548640" y="1371600"/>
            <a:ext cx="2103120" cy="347472"/>
          </a:xfrm>
          <a:prstGeom prst="rect">
            <a:avLst/>
          </a:prstGeom>
          <a:noFill/>
          <a:ln/>
        </p:spPr>
        <p:txBody>
          <a:bodyPr wrap="square" lIns="0" tIns="0" rIns="0" bIns="0" rtlCol="0" anchor="ctr"/>
          <a:lstStyle/>
          <a:p>
            <a:pPr algn="ctr" indent="0" marL="0">
              <a:buNone/>
            </a:pPr>
            <a:r>
              <a:rPr lang="en-US" sz="950" dirty="0">
                <a:solidFill>
                  <a:srgbClr val="0F6CBD"/>
                </a:solidFill>
                <a:latin typeface="Meiryo UI" pitchFamily="34" charset="0"/>
                <a:ea typeface="Meiryo UI" pitchFamily="34" charset="-122"/>
                <a:cs typeface="Meiryo UI" pitchFamily="34" charset="-120"/>
              </a:rPr>
              <a:t>集約先  </a:t>
            </a:r>
            <a:pPr algn="ctr" indent="0" marL="0">
              <a:buNone/>
            </a:pPr>
            <a:r>
              <a:rPr lang="en-US" sz="1100" b="1" dirty="0">
                <a:solidFill>
                  <a:srgbClr val="0F6CBD"/>
                </a:solidFill>
                <a:latin typeface="Meiryo UI" pitchFamily="34" charset="0"/>
                <a:ea typeface="Meiryo UI" pitchFamily="34" charset="-122"/>
                <a:cs typeface="Meiryo UI" pitchFamily="34" charset="-120"/>
              </a:rPr>
              <a:t>M365に寄せる</a:t>
            </a:r>
            <a:endParaRPr lang="en-US" sz="950" dirty="0"/>
          </a:p>
        </p:txBody>
      </p:sp>
      <p:sp>
        <p:nvSpPr>
          <p:cNvPr id="8" name="Shape 6"/>
          <p:cNvSpPr/>
          <p:nvPr/>
        </p:nvSpPr>
        <p:spPr>
          <a:xfrm>
            <a:off x="2788920" y="1371600"/>
            <a:ext cx="2103120" cy="347472"/>
          </a:xfrm>
          <a:prstGeom prst="roundRect">
            <a:avLst>
              <a:gd name="adj" fmla="val 50000"/>
            </a:avLst>
          </a:prstGeom>
          <a:solidFill>
            <a:srgbClr val="F3F5F8"/>
          </a:solidFill>
          <a:ln/>
        </p:spPr>
      </p:sp>
      <p:sp>
        <p:nvSpPr>
          <p:cNvPr id="9" name="Text 7"/>
          <p:cNvSpPr txBox="1"/>
          <p:nvPr/>
        </p:nvSpPr>
        <p:spPr>
          <a:xfrm>
            <a:off x="2788920" y="1371600"/>
            <a:ext cx="2103120" cy="347472"/>
          </a:xfrm>
          <a:prstGeom prst="rect">
            <a:avLst/>
          </a:prstGeom>
          <a:noFill/>
          <a:ln/>
        </p:spPr>
        <p:txBody>
          <a:bodyPr wrap="square" lIns="0" tIns="0" rIns="0" bIns="0" rtlCol="0" anchor="ctr"/>
          <a:lstStyle/>
          <a:p>
            <a:pPr algn="ctr" indent="0" marL="0">
              <a:buNone/>
            </a:pPr>
            <a:r>
              <a:rPr lang="en-US" sz="950" dirty="0">
                <a:solidFill>
                  <a:srgbClr val="1B2A49"/>
                </a:solidFill>
                <a:latin typeface="Meiryo UI" pitchFamily="34" charset="0"/>
                <a:ea typeface="Meiryo UI" pitchFamily="34" charset="-122"/>
                <a:cs typeface="Meiryo UI" pitchFamily="34" charset="-120"/>
              </a:rPr>
              <a:t>管理基盤  </a:t>
            </a:r>
            <a:pPr algn="ctr" indent="0" marL="0">
              <a:buNone/>
            </a:pPr>
            <a:r>
              <a:rPr lang="en-US" sz="1100" b="1" dirty="0">
                <a:solidFill>
                  <a:srgbClr val="1B2A49"/>
                </a:solidFill>
                <a:latin typeface="Meiryo UI" pitchFamily="34" charset="0"/>
                <a:ea typeface="Meiryo UI" pitchFamily="34" charset="-122"/>
                <a:cs typeface="Meiryo UI" pitchFamily="34" charset="-120"/>
              </a:rPr>
              <a:t>Lists＋code apps</a:t>
            </a:r>
            <a:endParaRPr lang="en-US" sz="950" dirty="0"/>
          </a:p>
        </p:txBody>
      </p:sp>
      <p:sp>
        <p:nvSpPr>
          <p:cNvPr id="10" name="Shape 8"/>
          <p:cNvSpPr/>
          <p:nvPr/>
        </p:nvSpPr>
        <p:spPr>
          <a:xfrm>
            <a:off x="5029200" y="1371600"/>
            <a:ext cx="2103120" cy="347472"/>
          </a:xfrm>
          <a:prstGeom prst="roundRect">
            <a:avLst>
              <a:gd name="adj" fmla="val 50000"/>
            </a:avLst>
          </a:prstGeom>
          <a:solidFill>
            <a:srgbClr val="D9F2F1"/>
          </a:solidFill>
          <a:ln/>
        </p:spPr>
      </p:sp>
      <p:sp>
        <p:nvSpPr>
          <p:cNvPr id="11" name="Text 9"/>
          <p:cNvSpPr txBox="1"/>
          <p:nvPr/>
        </p:nvSpPr>
        <p:spPr>
          <a:xfrm>
            <a:off x="5029200" y="1371600"/>
            <a:ext cx="2103120" cy="347472"/>
          </a:xfrm>
          <a:prstGeom prst="rect">
            <a:avLst/>
          </a:prstGeom>
          <a:noFill/>
          <a:ln/>
        </p:spPr>
        <p:txBody>
          <a:bodyPr wrap="square" lIns="0" tIns="0" rIns="0" bIns="0" rtlCol="0" anchor="ctr"/>
          <a:lstStyle/>
          <a:p>
            <a:pPr algn="ctr" indent="0" marL="0">
              <a:buNone/>
            </a:pPr>
            <a:r>
              <a:rPr lang="en-US" sz="950" dirty="0">
                <a:solidFill>
                  <a:srgbClr val="0E9F9A"/>
                </a:solidFill>
                <a:latin typeface="Meiryo UI" pitchFamily="34" charset="0"/>
                <a:ea typeface="Meiryo UI" pitchFamily="34" charset="-122"/>
                <a:cs typeface="Meiryo UI" pitchFamily="34" charset="-120"/>
              </a:rPr>
              <a:t>自動化  </a:t>
            </a:r>
            <a:pPr algn="ctr" indent="0" marL="0">
              <a:buNone/>
            </a:pPr>
            <a:r>
              <a:rPr lang="en-US" sz="1100" b="1" dirty="0">
                <a:solidFill>
                  <a:srgbClr val="0E9F9A"/>
                </a:solidFill>
                <a:latin typeface="Meiryo UI" pitchFamily="34" charset="0"/>
                <a:ea typeface="Meiryo UI" pitchFamily="34" charset="-122"/>
                <a:cs typeface="Meiryo UI" pitchFamily="34" charset="-120"/>
              </a:rPr>
              <a:t>Step3〜4</a:t>
            </a:r>
            <a:endParaRPr lang="en-US" sz="950" dirty="0"/>
          </a:p>
        </p:txBody>
      </p:sp>
      <p:sp>
        <p:nvSpPr>
          <p:cNvPr id="12" name="Shape 10"/>
          <p:cNvSpPr/>
          <p:nvPr/>
        </p:nvSpPr>
        <p:spPr>
          <a:xfrm>
            <a:off x="7269480" y="1371600"/>
            <a:ext cx="2103120" cy="347472"/>
          </a:xfrm>
          <a:prstGeom prst="roundRect">
            <a:avLst>
              <a:gd name="adj" fmla="val 50000"/>
            </a:avLst>
          </a:prstGeom>
          <a:solidFill>
            <a:srgbClr val="FDEBD3"/>
          </a:solidFill>
          <a:ln/>
        </p:spPr>
      </p:sp>
      <p:sp>
        <p:nvSpPr>
          <p:cNvPr id="13" name="Text 11"/>
          <p:cNvSpPr txBox="1"/>
          <p:nvPr/>
        </p:nvSpPr>
        <p:spPr>
          <a:xfrm>
            <a:off x="7269480" y="1371600"/>
            <a:ext cx="2103120" cy="347472"/>
          </a:xfrm>
          <a:prstGeom prst="rect">
            <a:avLst/>
          </a:prstGeom>
          <a:noFill/>
          <a:ln/>
        </p:spPr>
        <p:txBody>
          <a:bodyPr wrap="square" lIns="0" tIns="0" rIns="0" bIns="0" rtlCol="0" anchor="ctr"/>
          <a:lstStyle/>
          <a:p>
            <a:pPr algn="ctr" indent="0" marL="0">
              <a:buNone/>
            </a:pPr>
            <a:r>
              <a:rPr lang="en-US" sz="950" dirty="0">
                <a:solidFill>
                  <a:srgbClr val="E8912D"/>
                </a:solidFill>
                <a:latin typeface="Meiryo UI" pitchFamily="34" charset="0"/>
                <a:ea typeface="Meiryo UI" pitchFamily="34" charset="-122"/>
                <a:cs typeface="Meiryo UI" pitchFamily="34" charset="-120"/>
              </a:rPr>
              <a:t>難易度  </a:t>
            </a:r>
            <a:pPr algn="ctr" indent="0" marL="0">
              <a:buNone/>
            </a:pPr>
            <a:r>
              <a:rPr lang="en-US" sz="1100" b="1" dirty="0">
                <a:solidFill>
                  <a:srgbClr val="E8912D"/>
                </a:solidFill>
                <a:latin typeface="Meiryo UI" pitchFamily="34" charset="0"/>
                <a:ea typeface="Meiryo UI" pitchFamily="34" charset="-122"/>
                <a:cs typeface="Meiryo UI" pitchFamily="34" charset="-120"/>
              </a:rPr>
              <a:t>★★★☆☆</a:t>
            </a:r>
            <a:endParaRPr lang="en-US" sz="950" dirty="0"/>
          </a:p>
        </p:txBody>
      </p:sp>
      <p:sp>
        <p:nvSpPr>
          <p:cNvPr id="14" name="Shape 12"/>
          <p:cNvSpPr/>
          <p:nvPr/>
        </p:nvSpPr>
        <p:spPr>
          <a:xfrm>
            <a:off x="9509760" y="1371600"/>
            <a:ext cx="2103120" cy="347472"/>
          </a:xfrm>
          <a:prstGeom prst="roundRect">
            <a:avLst>
              <a:gd name="adj" fmla="val 50000"/>
            </a:avLst>
          </a:prstGeom>
          <a:solidFill>
            <a:srgbClr val="F3F5F8"/>
          </a:solidFill>
          <a:ln/>
        </p:spPr>
      </p:sp>
      <p:sp>
        <p:nvSpPr>
          <p:cNvPr id="15" name="Text 13"/>
          <p:cNvSpPr txBox="1"/>
          <p:nvPr/>
        </p:nvSpPr>
        <p:spPr>
          <a:xfrm>
            <a:off x="9509760" y="1371600"/>
            <a:ext cx="2103120" cy="347472"/>
          </a:xfrm>
          <a:prstGeom prst="rect">
            <a:avLst/>
          </a:prstGeom>
          <a:noFill/>
          <a:ln/>
        </p:spPr>
        <p:txBody>
          <a:bodyPr wrap="square" lIns="0" tIns="0" rIns="0" bIns="0" rtlCol="0" anchor="ctr"/>
          <a:lstStyle/>
          <a:p>
            <a:pPr algn="ctr" indent="0" marL="0">
              <a:buNone/>
            </a:pPr>
            <a:r>
              <a:rPr lang="en-US" sz="950" dirty="0">
                <a:solidFill>
                  <a:srgbClr val="1B2A49"/>
                </a:solidFill>
                <a:latin typeface="Meiryo UI" pitchFamily="34" charset="0"/>
                <a:ea typeface="Meiryo UI" pitchFamily="34" charset="-122"/>
                <a:cs typeface="Meiryo UI" pitchFamily="34" charset="-120"/>
              </a:rPr>
              <a:t>期間目安  </a:t>
            </a:r>
            <a:pPr algn="ctr" indent="0" marL="0">
              <a:buNone/>
            </a:pPr>
            <a:r>
              <a:rPr lang="en-US" sz="1100" b="1" dirty="0">
                <a:solidFill>
                  <a:srgbClr val="1B2A49"/>
                </a:solidFill>
                <a:latin typeface="Meiryo UI" pitchFamily="34" charset="0"/>
                <a:ea typeface="Meiryo UI" pitchFamily="34" charset="-122"/>
                <a:cs typeface="Meiryo UI" pitchFamily="34" charset="-120"/>
              </a:rPr>
              <a:t>2〜4ヶ月</a:t>
            </a:r>
            <a:endParaRPr lang="en-US" sz="950" dirty="0"/>
          </a:p>
        </p:txBody>
      </p:sp>
      <p:sp>
        <p:nvSpPr>
          <p:cNvPr id="16" name="Shape 14"/>
          <p:cNvSpPr/>
          <p:nvPr/>
        </p:nvSpPr>
        <p:spPr>
          <a:xfrm>
            <a:off x="548640" y="1874520"/>
            <a:ext cx="6949440" cy="2514600"/>
          </a:xfrm>
          <a:prstGeom prst="roundRect">
            <a:avLst>
              <a:gd name="adj" fmla="val 1455"/>
            </a:avLst>
          </a:prstGeom>
          <a:solidFill>
            <a:srgbClr val="F3F5F8"/>
          </a:solidFill>
          <a:ln/>
        </p:spPr>
      </p:sp>
      <p:sp>
        <p:nvSpPr>
          <p:cNvPr id="17" name="Shape 15"/>
          <p:cNvSpPr/>
          <p:nvPr/>
        </p:nvSpPr>
        <p:spPr>
          <a:xfrm>
            <a:off x="731520" y="2011680"/>
            <a:ext cx="2103120" cy="868680"/>
          </a:xfrm>
          <a:prstGeom prst="roundRect">
            <a:avLst>
              <a:gd name="adj" fmla="val 8421"/>
            </a:avLst>
          </a:prstGeom>
          <a:solidFill>
            <a:srgbClr val="FDEBD3"/>
          </a:solidFill>
          <a:ln/>
        </p:spPr>
      </p:sp>
      <p:pic>
        <p:nvPicPr>
          <p:cNvPr id="18" name="Image 0" descr="preencoded.png">    </p:cNvPr>
          <p:cNvPicPr>
            <a:picLocks noChangeAspect="1"/>
          </p:cNvPicPr>
          <p:nvPr/>
        </p:nvPicPr>
        <p:blipFill>
          <a:blip r:embed="rId1"/>
          <a:stretch>
            <a:fillRect/>
          </a:stretch>
        </p:blipFill>
        <p:spPr>
          <a:xfrm>
            <a:off x="841248" y="2263140"/>
            <a:ext cx="365760" cy="365760"/>
          </a:xfrm>
          <a:prstGeom prst="rect">
            <a:avLst/>
          </a:prstGeom>
        </p:spPr>
      </p:pic>
      <p:sp>
        <p:nvSpPr>
          <p:cNvPr id="19" name="Text 16"/>
          <p:cNvSpPr txBox="1"/>
          <p:nvPr/>
        </p:nvSpPr>
        <p:spPr>
          <a:xfrm>
            <a:off x="1298448" y="2011680"/>
            <a:ext cx="1490472" cy="868680"/>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code app</a:t>
            </a:r>
            <a:endParaRPr lang="en-US" sz="1050" dirty="0"/>
          </a:p>
          <a:p>
            <a:pPr algn="l" indent="0" marL="0">
              <a:buNone/>
            </a:pPr>
            <a:r>
              <a:rPr lang="en-US" sz="900" dirty="0">
                <a:solidFill>
                  <a:srgbClr val="6B7280"/>
                </a:solidFill>
                <a:latin typeface="Meiryo UI" pitchFamily="34" charset="0"/>
                <a:ea typeface="Meiryo UI" pitchFamily="34" charset="-122"/>
                <a:cs typeface="Meiryo UI" pitchFamily="34" charset="-120"/>
              </a:rPr>
              <a:t>カレンダー・起案画面</a:t>
            </a:r>
            <a:endParaRPr lang="en-US" sz="1050" dirty="0"/>
          </a:p>
          <a:p>
            <a:pPr algn="l" indent="0" marL="0">
              <a:buNone/>
            </a:pPr>
            <a:r>
              <a:rPr lang="en-US" sz="900" dirty="0">
                <a:solidFill>
                  <a:srgbClr val="6B7280"/>
                </a:solidFill>
                <a:latin typeface="Meiryo UI" pitchFamily="34" charset="0"/>
                <a:ea typeface="Meiryo UI" pitchFamily="34" charset="-122"/>
                <a:cs typeface="Meiryo UI" pitchFamily="34" charset="-120"/>
              </a:rPr>
              <a:t>（TypeScript）</a:t>
            </a:r>
            <a:endParaRPr lang="en-US" sz="1050" dirty="0"/>
          </a:p>
        </p:txBody>
      </p:sp>
      <p:sp>
        <p:nvSpPr>
          <p:cNvPr id="20" name="Shape 17"/>
          <p:cNvSpPr/>
          <p:nvPr/>
        </p:nvSpPr>
        <p:spPr>
          <a:xfrm>
            <a:off x="731520" y="3154680"/>
            <a:ext cx="2103120" cy="868680"/>
          </a:xfrm>
          <a:prstGeom prst="roundRect">
            <a:avLst>
              <a:gd name="adj" fmla="val 8421"/>
            </a:avLst>
          </a:prstGeom>
          <a:solidFill>
            <a:srgbClr val="FDEBD3"/>
          </a:solidFill>
          <a:ln/>
        </p:spPr>
      </p:sp>
      <p:pic>
        <p:nvPicPr>
          <p:cNvPr id="21" name="Image 1" descr="preencoded.png">    </p:cNvPr>
          <p:cNvPicPr>
            <a:picLocks noChangeAspect="1"/>
          </p:cNvPicPr>
          <p:nvPr/>
        </p:nvPicPr>
        <p:blipFill>
          <a:blip r:embed="rId2"/>
          <a:stretch>
            <a:fillRect/>
          </a:stretch>
        </p:blipFill>
        <p:spPr>
          <a:xfrm>
            <a:off x="841248" y="3406140"/>
            <a:ext cx="365760" cy="365760"/>
          </a:xfrm>
          <a:prstGeom prst="rect">
            <a:avLst/>
          </a:prstGeom>
        </p:spPr>
      </p:pic>
      <p:sp>
        <p:nvSpPr>
          <p:cNvPr id="22" name="Text 18"/>
          <p:cNvSpPr txBox="1"/>
          <p:nvPr/>
        </p:nvSpPr>
        <p:spPr>
          <a:xfrm>
            <a:off x="1298448" y="3154680"/>
            <a:ext cx="1490472" cy="868680"/>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Listsの標準ビュー</a:t>
            </a:r>
            <a:endParaRPr lang="en-US" sz="1050" dirty="0"/>
          </a:p>
          <a:p>
            <a:pPr algn="l" indent="0" marL="0">
              <a:buNone/>
            </a:pPr>
            <a:r>
              <a:rPr lang="en-US" sz="900" dirty="0">
                <a:solidFill>
                  <a:srgbClr val="6B7280"/>
                </a:solidFill>
                <a:latin typeface="Meiryo UI" pitchFamily="34" charset="0"/>
                <a:ea typeface="Meiryo UI" pitchFamily="34" charset="-122"/>
                <a:cs typeface="Meiryo UI" pitchFamily="34" charset="-120"/>
              </a:rPr>
              <a:t>簡単な確認・編集</a:t>
            </a:r>
            <a:endParaRPr lang="en-US" sz="1050" dirty="0"/>
          </a:p>
          <a:p>
            <a:pPr algn="l" indent="0" marL="0">
              <a:buNone/>
            </a:pPr>
            <a:r>
              <a:rPr lang="en-US" sz="900" dirty="0">
                <a:solidFill>
                  <a:srgbClr val="6B7280"/>
                </a:solidFill>
                <a:latin typeface="Meiryo UI" pitchFamily="34" charset="0"/>
                <a:ea typeface="Meiryo UI" pitchFamily="34" charset="-122"/>
                <a:cs typeface="Meiryo UI" pitchFamily="34" charset="-120"/>
              </a:rPr>
              <a:t>Teamsタブ</a:t>
            </a:r>
            <a:endParaRPr lang="en-US" sz="1050" dirty="0"/>
          </a:p>
        </p:txBody>
      </p:sp>
      <p:sp>
        <p:nvSpPr>
          <p:cNvPr id="23" name="Shape 19"/>
          <p:cNvSpPr/>
          <p:nvPr/>
        </p:nvSpPr>
        <p:spPr>
          <a:xfrm>
            <a:off x="2880360" y="2441448"/>
            <a:ext cx="365760" cy="347472"/>
          </a:xfrm>
          <a:prstGeom prst="line">
            <a:avLst/>
          </a:prstGeom>
          <a:noFill/>
          <a:ln w="22225">
            <a:solidFill>
              <a:srgbClr val="9AA5B4"/>
            </a:solidFill>
            <a:prstDash val="solid"/>
            <a:headEnd type="triangle"/>
            <a:tailEnd type="triangle"/>
          </a:ln>
        </p:spPr>
      </p:sp>
      <p:sp>
        <p:nvSpPr>
          <p:cNvPr id="24" name="Shape 20"/>
          <p:cNvSpPr/>
          <p:nvPr/>
        </p:nvSpPr>
        <p:spPr>
          <a:xfrm flipV="1">
            <a:off x="2880360" y="3246120"/>
            <a:ext cx="365760" cy="338328"/>
          </a:xfrm>
          <a:prstGeom prst="line">
            <a:avLst/>
          </a:prstGeom>
          <a:noFill/>
          <a:ln w="22225">
            <a:solidFill>
              <a:srgbClr val="9AA5B4"/>
            </a:solidFill>
            <a:prstDash val="solid"/>
            <a:headEnd type="triangle"/>
            <a:tailEnd type="triangle"/>
          </a:ln>
        </p:spPr>
      </p:sp>
      <p:sp>
        <p:nvSpPr>
          <p:cNvPr id="25" name="Shape 21"/>
          <p:cNvSpPr/>
          <p:nvPr/>
        </p:nvSpPr>
        <p:spPr>
          <a:xfrm>
            <a:off x="3291840" y="2011680"/>
            <a:ext cx="1783080" cy="2011680"/>
          </a:xfrm>
          <a:prstGeom prst="roundRect">
            <a:avLst>
              <a:gd name="adj" fmla="val 4103"/>
            </a:avLst>
          </a:prstGeom>
          <a:solidFill>
            <a:srgbClr val="1B2A49"/>
          </a:solidFill>
          <a:ln/>
        </p:spPr>
      </p:sp>
      <p:pic>
        <p:nvPicPr>
          <p:cNvPr id="26" name="Image 2" descr="preencoded.png">    </p:cNvPr>
          <p:cNvPicPr>
            <a:picLocks noChangeAspect="1"/>
          </p:cNvPicPr>
          <p:nvPr/>
        </p:nvPicPr>
        <p:blipFill>
          <a:blip r:embed="rId3"/>
          <a:stretch>
            <a:fillRect/>
          </a:stretch>
        </p:blipFill>
        <p:spPr>
          <a:xfrm>
            <a:off x="3995928" y="2194560"/>
            <a:ext cx="384048" cy="384048"/>
          </a:xfrm>
          <a:prstGeom prst="rect">
            <a:avLst/>
          </a:prstGeom>
        </p:spPr>
      </p:pic>
      <p:sp>
        <p:nvSpPr>
          <p:cNvPr id="27" name="Text 22"/>
          <p:cNvSpPr txBox="1"/>
          <p:nvPr/>
        </p:nvSpPr>
        <p:spPr>
          <a:xfrm>
            <a:off x="3291840" y="2697480"/>
            <a:ext cx="1783080" cy="320040"/>
          </a:xfrm>
          <a:prstGeom prst="rect">
            <a:avLst/>
          </a:prstGeom>
          <a:noFill/>
          <a:ln/>
        </p:spPr>
        <p:txBody>
          <a:bodyPr wrap="square" lIns="508" tIns="508" rIns="508" bIns="508"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Microsoft Lists</a:t>
            </a:r>
            <a:endParaRPr lang="en-US" sz="1100" dirty="0"/>
          </a:p>
        </p:txBody>
      </p:sp>
      <p:sp>
        <p:nvSpPr>
          <p:cNvPr id="28" name="Text 23"/>
          <p:cNvSpPr txBox="1"/>
          <p:nvPr/>
        </p:nvSpPr>
        <p:spPr>
          <a:xfrm>
            <a:off x="3291840" y="3017520"/>
            <a:ext cx="1783080" cy="868680"/>
          </a:xfrm>
          <a:prstGeom prst="rect">
            <a:avLst/>
          </a:prstGeom>
          <a:noFill/>
          <a:ln/>
        </p:spPr>
        <p:txBody>
          <a:bodyPr wrap="square" lIns="508" tIns="508" rIns="508" bIns="508" rtlCol="0" anchor="ctr"/>
          <a:lstStyle/>
          <a:p>
            <a:pPr algn="ctr" indent="0" marL="0">
              <a:buNone/>
            </a:pPr>
            <a:r>
              <a:rPr lang="en-US" sz="900" dirty="0">
                <a:solidFill>
                  <a:srgbClr val="E6F2F2"/>
                </a:solidFill>
                <a:latin typeface="Meiryo UI" pitchFamily="34" charset="0"/>
                <a:ea typeface="Meiryo UI" pitchFamily="34" charset="-122"/>
                <a:cs typeface="Meiryo UI" pitchFamily="34" charset="-120"/>
              </a:rPr>
              <a:t>配信カード</a:t>
            </a:r>
            <a:endParaRPr lang="en-US" sz="900" dirty="0"/>
          </a:p>
          <a:p>
            <a:pPr algn="ctr" indent="0" marL="0">
              <a:buNone/>
            </a:pPr>
            <a:r>
              <a:rPr lang="en-US" sz="900" dirty="0">
                <a:solidFill>
                  <a:srgbClr val="E6F2F2"/>
                </a:solidFill>
                <a:latin typeface="Meiryo UI" pitchFamily="34" charset="0"/>
                <a:ea typeface="Meiryo UI" pitchFamily="34" charset="-122"/>
                <a:cs typeface="Meiryo UI" pitchFamily="34" charset="-120"/>
              </a:rPr>
              <a:t>商品マスタ</a:t>
            </a:r>
            <a:endParaRPr lang="en-US" sz="900" dirty="0"/>
          </a:p>
          <a:p>
            <a:pPr algn="ctr" indent="0" marL="0">
              <a:buNone/>
            </a:pPr>
            <a:r>
              <a:rPr lang="en-US" sz="900" dirty="0">
                <a:solidFill>
                  <a:srgbClr val="E6F2F2"/>
                </a:solidFill>
                <a:latin typeface="Meiryo UI" pitchFamily="34" charset="0"/>
                <a:ea typeface="Meiryo UI" pitchFamily="34" charset="-122"/>
                <a:cs typeface="Meiryo UI" pitchFamily="34" charset="-120"/>
              </a:rPr>
              <a:t>ステータス</a:t>
            </a:r>
            <a:endParaRPr lang="en-US" sz="900" dirty="0"/>
          </a:p>
        </p:txBody>
      </p:sp>
      <p:sp>
        <p:nvSpPr>
          <p:cNvPr id="29" name="Shape 24"/>
          <p:cNvSpPr/>
          <p:nvPr/>
        </p:nvSpPr>
        <p:spPr>
          <a:xfrm>
            <a:off x="5120640" y="2441448"/>
            <a:ext cx="320040" cy="0"/>
          </a:xfrm>
          <a:prstGeom prst="line">
            <a:avLst/>
          </a:prstGeom>
          <a:noFill/>
          <a:ln w="22225">
            <a:solidFill>
              <a:srgbClr val="9AA5B4"/>
            </a:solidFill>
            <a:prstDash val="solid"/>
            <a:headEnd type="triangle"/>
            <a:tailEnd type="triangle"/>
          </a:ln>
        </p:spPr>
      </p:sp>
      <p:sp>
        <p:nvSpPr>
          <p:cNvPr id="30" name="Shape 25"/>
          <p:cNvSpPr/>
          <p:nvPr/>
        </p:nvSpPr>
        <p:spPr>
          <a:xfrm>
            <a:off x="5486400" y="2011680"/>
            <a:ext cx="1828800" cy="868680"/>
          </a:xfrm>
          <a:prstGeom prst="roundRect">
            <a:avLst>
              <a:gd name="adj" fmla="val 8421"/>
            </a:avLst>
          </a:prstGeom>
          <a:solidFill>
            <a:srgbClr val="D9F2F1"/>
          </a:solidFill>
          <a:ln/>
        </p:spPr>
      </p:sp>
      <p:pic>
        <p:nvPicPr>
          <p:cNvPr id="31" name="Image 3" descr="preencoded.png">    </p:cNvPr>
          <p:cNvPicPr>
            <a:picLocks noChangeAspect="1"/>
          </p:cNvPicPr>
          <p:nvPr/>
        </p:nvPicPr>
        <p:blipFill>
          <a:blip r:embed="rId4"/>
          <a:stretch>
            <a:fillRect/>
          </a:stretch>
        </p:blipFill>
        <p:spPr>
          <a:xfrm>
            <a:off x="5596128" y="2263140"/>
            <a:ext cx="365760" cy="365760"/>
          </a:xfrm>
          <a:prstGeom prst="rect">
            <a:avLst/>
          </a:prstGeom>
        </p:spPr>
      </p:pic>
      <p:sp>
        <p:nvSpPr>
          <p:cNvPr id="32" name="Text 26"/>
          <p:cNvSpPr txBox="1"/>
          <p:nvPr/>
        </p:nvSpPr>
        <p:spPr>
          <a:xfrm>
            <a:off x="6053328" y="2011680"/>
            <a:ext cx="1216152" cy="868680"/>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Power Automate</a:t>
            </a:r>
            <a:endParaRPr lang="en-US" sz="1050" dirty="0"/>
          </a:p>
          <a:p>
            <a:pPr algn="l" indent="0" marL="0">
              <a:buNone/>
            </a:pPr>
            <a:r>
              <a:rPr lang="en-US" sz="900" dirty="0">
                <a:solidFill>
                  <a:srgbClr val="6B7280"/>
                </a:solidFill>
                <a:latin typeface="Meiryo UI" pitchFamily="34" charset="0"/>
                <a:ea typeface="Meiryo UI" pitchFamily="34" charset="-122"/>
                <a:cs typeface="Meiryo UI" pitchFamily="34" charset="-120"/>
              </a:rPr>
              <a:t>起案フロー</a:t>
            </a:r>
            <a:endParaRPr lang="en-US" sz="1050" dirty="0"/>
          </a:p>
        </p:txBody>
      </p:sp>
      <p:sp>
        <p:nvSpPr>
          <p:cNvPr id="33" name="Shape 27"/>
          <p:cNvSpPr/>
          <p:nvPr/>
        </p:nvSpPr>
        <p:spPr>
          <a:xfrm>
            <a:off x="6400800" y="2926080"/>
            <a:ext cx="0" cy="182880"/>
          </a:xfrm>
          <a:prstGeom prst="line">
            <a:avLst/>
          </a:prstGeom>
          <a:noFill/>
          <a:ln w="22225">
            <a:solidFill>
              <a:srgbClr val="9AA5B4"/>
            </a:solidFill>
            <a:prstDash val="solid"/>
            <a:headEnd type="triangle"/>
            <a:tailEnd type="triangle"/>
          </a:ln>
        </p:spPr>
      </p:sp>
      <p:sp>
        <p:nvSpPr>
          <p:cNvPr id="34" name="Shape 28"/>
          <p:cNvSpPr/>
          <p:nvPr/>
        </p:nvSpPr>
        <p:spPr>
          <a:xfrm>
            <a:off x="5486400" y="3154680"/>
            <a:ext cx="1828800" cy="868680"/>
          </a:xfrm>
          <a:prstGeom prst="roundRect">
            <a:avLst>
              <a:gd name="adj" fmla="val 8421"/>
            </a:avLst>
          </a:prstGeom>
          <a:solidFill>
            <a:srgbClr val="0E9F9A"/>
          </a:solidFill>
          <a:ln/>
        </p:spPr>
      </p:sp>
      <p:sp>
        <p:nvSpPr>
          <p:cNvPr id="35" name="Shape 29"/>
          <p:cNvSpPr/>
          <p:nvPr/>
        </p:nvSpPr>
        <p:spPr>
          <a:xfrm>
            <a:off x="5559552" y="3332988"/>
            <a:ext cx="512064" cy="512064"/>
          </a:xfrm>
          <a:prstGeom prst="ellipse">
            <a:avLst/>
          </a:prstGeom>
          <a:solidFill>
            <a:srgbClr val="FFFFFF"/>
          </a:solidFill>
          <a:ln/>
        </p:spPr>
      </p:sp>
      <p:pic>
        <p:nvPicPr>
          <p:cNvPr id="36" name="Image 4" descr="preencoded.png">    </p:cNvPr>
          <p:cNvPicPr>
            <a:picLocks noChangeAspect="1"/>
          </p:cNvPicPr>
          <p:nvPr/>
        </p:nvPicPr>
        <p:blipFill>
          <a:blip r:embed="rId5"/>
          <a:stretch>
            <a:fillRect/>
          </a:stretch>
        </p:blipFill>
        <p:spPr>
          <a:xfrm>
            <a:off x="5632704" y="3406140"/>
            <a:ext cx="365760" cy="365760"/>
          </a:xfrm>
          <a:prstGeom prst="rect">
            <a:avLst/>
          </a:prstGeom>
        </p:spPr>
      </p:pic>
      <p:sp>
        <p:nvSpPr>
          <p:cNvPr id="37" name="Text 30"/>
          <p:cNvSpPr txBox="1"/>
          <p:nvPr/>
        </p:nvSpPr>
        <p:spPr>
          <a:xfrm>
            <a:off x="6217920" y="3154680"/>
            <a:ext cx="1051560" cy="868680"/>
          </a:xfrm>
          <a:prstGeom prst="rect">
            <a:avLst/>
          </a:prstGeom>
          <a:noFill/>
          <a:ln/>
        </p:spPr>
        <p:txBody>
          <a:bodyPr wrap="square" lIns="0" tIns="0" rIns="0" bIns="0" rtlCol="0" anchor="ctr"/>
          <a:lstStyle/>
          <a:p>
            <a:pPr algn="l" indent="0" marL="0">
              <a:buNone/>
            </a:pPr>
            <a:r>
              <a:rPr lang="en-US" sz="1050" b="1" dirty="0">
                <a:solidFill>
                  <a:srgbClr val="FFFFFF"/>
                </a:solidFill>
                <a:latin typeface="Meiryo UI" pitchFamily="34" charset="0"/>
                <a:ea typeface="Meiryo UI" pitchFamily="34" charset="-122"/>
                <a:cs typeface="Meiryo UI" pitchFamily="34" charset="-120"/>
              </a:rPr>
              <a:t>Copilot Studio</a:t>
            </a:r>
            <a:endParaRPr lang="en-US" sz="1050" dirty="0"/>
          </a:p>
          <a:p>
            <a:pPr algn="l" indent="0" marL="0">
              <a:buNone/>
            </a:pPr>
            <a:r>
              <a:rPr lang="en-US" sz="900" dirty="0">
                <a:solidFill>
                  <a:srgbClr val="E6F2F2"/>
                </a:solidFill>
                <a:latin typeface="Meiryo UI" pitchFamily="34" charset="0"/>
                <a:ea typeface="Meiryo UI" pitchFamily="34" charset="-122"/>
                <a:cs typeface="Meiryo UI" pitchFamily="34" charset="-120"/>
              </a:rPr>
              <a:t>AI Builder</a:t>
            </a:r>
            <a:endParaRPr lang="en-US" sz="1050" dirty="0"/>
          </a:p>
        </p:txBody>
      </p:sp>
      <p:sp>
        <p:nvSpPr>
          <p:cNvPr id="38" name="Shape 31"/>
          <p:cNvSpPr/>
          <p:nvPr/>
        </p:nvSpPr>
        <p:spPr>
          <a:xfrm>
            <a:off x="7680960" y="1874520"/>
            <a:ext cx="3931920" cy="2514600"/>
          </a:xfrm>
          <a:prstGeom prst="roundRect">
            <a:avLst>
              <a:gd name="adj" fmla="val 2182"/>
            </a:avLst>
          </a:prstGeom>
          <a:solidFill>
            <a:srgbClr val="E3EAF5"/>
          </a:solidFill>
          <a:ln/>
        </p:spPr>
      </p:sp>
      <p:sp>
        <p:nvSpPr>
          <p:cNvPr id="39" name="Shape 32"/>
          <p:cNvSpPr/>
          <p:nvPr/>
        </p:nvSpPr>
        <p:spPr>
          <a:xfrm>
            <a:off x="7818120" y="1993392"/>
            <a:ext cx="384048" cy="384048"/>
          </a:xfrm>
          <a:prstGeom prst="ellipse">
            <a:avLst/>
          </a:prstGeom>
          <a:solidFill>
            <a:srgbClr val="FFFFFF"/>
          </a:solidFill>
          <a:ln/>
        </p:spPr>
      </p:sp>
      <p:pic>
        <p:nvPicPr>
          <p:cNvPr id="40" name="Image 5" descr="preencoded.png">    </p:cNvPr>
          <p:cNvPicPr>
            <a:picLocks noChangeAspect="1"/>
          </p:cNvPicPr>
          <p:nvPr/>
        </p:nvPicPr>
        <p:blipFill>
          <a:blip r:embed="rId6"/>
          <a:stretch>
            <a:fillRect/>
          </a:stretch>
        </p:blipFill>
        <p:spPr>
          <a:xfrm>
            <a:off x="7894930" y="2070202"/>
            <a:ext cx="230429" cy="230429"/>
          </a:xfrm>
          <a:prstGeom prst="rect">
            <a:avLst/>
          </a:prstGeom>
        </p:spPr>
      </p:pic>
      <p:sp>
        <p:nvSpPr>
          <p:cNvPr id="41" name="Text 33"/>
          <p:cNvSpPr txBox="1"/>
          <p:nvPr/>
        </p:nvSpPr>
        <p:spPr>
          <a:xfrm>
            <a:off x="8275320" y="1993392"/>
            <a:ext cx="3246120" cy="384048"/>
          </a:xfrm>
          <a:prstGeom prst="rect">
            <a:avLst/>
          </a:prstGeom>
          <a:noFill/>
          <a:ln/>
        </p:spPr>
        <p:txBody>
          <a:bodyPr wrap="square" lIns="0" tIns="0" rIns="0" bIns="0"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必要な機能・準備</a:t>
            </a:r>
            <a:endParaRPr lang="en-US" sz="1300" dirty="0"/>
          </a:p>
        </p:txBody>
      </p:sp>
      <p:sp>
        <p:nvSpPr>
          <p:cNvPr id="42" name="Text 34"/>
          <p:cNvSpPr txBox="1"/>
          <p:nvPr/>
        </p:nvSpPr>
        <p:spPr>
          <a:xfrm>
            <a:off x="7863840" y="2478024"/>
            <a:ext cx="3611880" cy="1819656"/>
          </a:xfrm>
          <a:prstGeom prst="rect">
            <a:avLst/>
          </a:prstGeom>
          <a:noFill/>
          <a:ln/>
        </p:spPr>
        <p:txBody>
          <a:bodyPr wrap="square" lIns="254" tIns="254" rIns="254" bIns="254" rtlCol="0" anchor="t"/>
          <a:lstStyle/>
          <a:p>
            <a:pPr marL="152400" indent="-152400">
              <a:spcAft>
                <a:spcPts val="300"/>
              </a:spcAft>
              <a:buSzPct val="100000"/>
              <a:buChar char="•"/>
            </a:pPr>
            <a:r>
              <a:rPr lang="en-US" sz="1100" dirty="0">
                <a:solidFill>
                  <a:srgbClr val="2B2B2B"/>
                </a:solidFill>
                <a:latin typeface="Meiryo UI" pitchFamily="34" charset="0"/>
                <a:ea typeface="Meiryo UI" pitchFamily="34" charset="-122"/>
                <a:cs typeface="Meiryo UI" pitchFamily="34" charset="-120"/>
              </a:rPr>
              <a:t>Microsoft Lists（データの置き場所）</a:t>
            </a:r>
            <a:endParaRPr lang="en-US" sz="1100" dirty="0"/>
          </a:p>
          <a:p>
            <a:pPr marL="152400" indent="-152400">
              <a:spcAft>
                <a:spcPts val="300"/>
              </a:spcAft>
              <a:buSzPct val="100000"/>
              <a:buChar char="•"/>
            </a:pPr>
            <a:r>
              <a:rPr lang="en-US" sz="1100" dirty="0">
                <a:solidFill>
                  <a:srgbClr val="2B2B2B"/>
                </a:solidFill>
                <a:latin typeface="Meiryo UI" pitchFamily="34" charset="0"/>
                <a:ea typeface="Meiryo UI" pitchFamily="34" charset="-122"/>
                <a:cs typeface="Meiryo UI" pitchFamily="34" charset="-120"/>
              </a:rPr>
              <a:t>Power Apps code apps（画面）</a:t>
            </a:r>
            <a:endParaRPr lang="en-US" sz="1100" dirty="0"/>
          </a:p>
          <a:p>
            <a:pPr marL="152400" indent="-152400">
              <a:spcAft>
                <a:spcPts val="300"/>
              </a:spcAft>
              <a:buSzPct val="100000"/>
              <a:buChar char="•"/>
            </a:pPr>
            <a:r>
              <a:rPr lang="en-US" sz="1100" dirty="0">
                <a:solidFill>
                  <a:srgbClr val="2B2B2B"/>
                </a:solidFill>
                <a:latin typeface="Meiryo UI" pitchFamily="34" charset="0"/>
                <a:ea typeface="Meiryo UI" pitchFamily="34" charset="-122"/>
                <a:cs typeface="Meiryo UI" pitchFamily="34" charset="-120"/>
              </a:rPr>
              <a:t>SharePointコネクタ（code appsから利用）</a:t>
            </a:r>
            <a:endParaRPr lang="en-US" sz="1100" dirty="0"/>
          </a:p>
          <a:p>
            <a:pPr marL="152400" indent="-152400">
              <a:spcAft>
                <a:spcPts val="300"/>
              </a:spcAft>
              <a:buSzPct val="100000"/>
              <a:buChar char="•"/>
            </a:pPr>
            <a:r>
              <a:rPr lang="en-US" sz="1100" dirty="0">
                <a:solidFill>
                  <a:srgbClr val="2B2B2B"/>
                </a:solidFill>
                <a:latin typeface="Meiryo UI" pitchFamily="34" charset="0"/>
                <a:ea typeface="Meiryo UI" pitchFamily="34" charset="-122"/>
                <a:cs typeface="Meiryo UI" pitchFamily="34" charset="-120"/>
              </a:rPr>
              <a:t>Power Automate／Copilot Studio（起案）</a:t>
            </a:r>
            <a:endParaRPr lang="en-US" sz="1100" dirty="0"/>
          </a:p>
          <a:p>
            <a:pPr marL="152400" indent="-152400">
              <a:spcAft>
                <a:spcPts val="300"/>
              </a:spcAft>
              <a:buSzPct val="100000"/>
              <a:buChar char="•"/>
            </a:pPr>
            <a:r>
              <a:rPr lang="en-US" sz="1100" dirty="0">
                <a:solidFill>
                  <a:srgbClr val="2B2B2B"/>
                </a:solidFill>
                <a:latin typeface="Meiryo UI" pitchFamily="34" charset="0"/>
                <a:ea typeface="Meiryo UI" pitchFamily="34" charset="-122"/>
                <a:cs typeface="Meiryo UI" pitchFamily="34" charset="-120"/>
              </a:rPr>
              <a:t>code appsの利用者にPower Apps Premium</a:t>
            </a:r>
            <a:endParaRPr lang="en-US" sz="1100" dirty="0"/>
          </a:p>
        </p:txBody>
      </p:sp>
      <p:sp>
        <p:nvSpPr>
          <p:cNvPr id="43" name="Shape 35"/>
          <p:cNvSpPr/>
          <p:nvPr/>
        </p:nvSpPr>
        <p:spPr>
          <a:xfrm>
            <a:off x="548640" y="4572000"/>
            <a:ext cx="3566160" cy="1783080"/>
          </a:xfrm>
          <a:prstGeom prst="roundRect">
            <a:avLst>
              <a:gd name="adj" fmla="val 3077"/>
            </a:avLst>
          </a:prstGeom>
          <a:solidFill>
            <a:srgbClr val="D9F2F1"/>
          </a:solidFill>
          <a:ln/>
        </p:spPr>
      </p:sp>
      <p:sp>
        <p:nvSpPr>
          <p:cNvPr id="44" name="Shape 36"/>
          <p:cNvSpPr/>
          <p:nvPr/>
        </p:nvSpPr>
        <p:spPr>
          <a:xfrm>
            <a:off x="685800" y="4690872"/>
            <a:ext cx="384048" cy="384048"/>
          </a:xfrm>
          <a:prstGeom prst="ellipse">
            <a:avLst/>
          </a:prstGeom>
          <a:solidFill>
            <a:srgbClr val="FFFFFF"/>
          </a:solidFill>
          <a:ln/>
        </p:spPr>
      </p:sp>
      <p:pic>
        <p:nvPicPr>
          <p:cNvPr id="45" name="Image 6" descr="preencoded.png">    </p:cNvPr>
          <p:cNvPicPr>
            <a:picLocks noChangeAspect="1"/>
          </p:cNvPicPr>
          <p:nvPr/>
        </p:nvPicPr>
        <p:blipFill>
          <a:blip r:embed="rId7"/>
          <a:stretch>
            <a:fillRect/>
          </a:stretch>
        </p:blipFill>
        <p:spPr>
          <a:xfrm>
            <a:off x="762610" y="4767682"/>
            <a:ext cx="230429" cy="230429"/>
          </a:xfrm>
          <a:prstGeom prst="rect">
            <a:avLst/>
          </a:prstGeom>
        </p:spPr>
      </p:pic>
      <p:sp>
        <p:nvSpPr>
          <p:cNvPr id="46" name="Text 37"/>
          <p:cNvSpPr txBox="1"/>
          <p:nvPr/>
        </p:nvSpPr>
        <p:spPr>
          <a:xfrm>
            <a:off x="1143000" y="4690872"/>
            <a:ext cx="2880360" cy="384048"/>
          </a:xfrm>
          <a:prstGeom prst="rect">
            <a:avLst/>
          </a:prstGeom>
          <a:noFill/>
          <a:ln/>
        </p:spPr>
        <p:txBody>
          <a:bodyPr wrap="square" lIns="0" tIns="0" rIns="0" bIns="0"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特徴</a:t>
            </a:r>
            <a:endParaRPr lang="en-US" sz="1300" dirty="0"/>
          </a:p>
        </p:txBody>
      </p:sp>
      <p:sp>
        <p:nvSpPr>
          <p:cNvPr id="47" name="Text 38"/>
          <p:cNvSpPr txBox="1"/>
          <p:nvPr/>
        </p:nvSpPr>
        <p:spPr>
          <a:xfrm>
            <a:off x="731520" y="5175504"/>
            <a:ext cx="3246120" cy="1088136"/>
          </a:xfrm>
          <a:prstGeom prst="rect">
            <a:avLst/>
          </a:prstGeom>
          <a:noFill/>
          <a:ln/>
        </p:spPr>
        <p:txBody>
          <a:bodyPr wrap="square" lIns="254" tIns="254" rIns="254" bIns="254" rtlCol="0" anchor="t"/>
          <a:lstStyle/>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画面はTypeScriptで作り込み、データ管理はListsの手軽さを活かせる</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Dataverseへのデータ移行が不要</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A5（Lists）から段階的に移行できる</a:t>
            </a:r>
            <a:endParaRPr lang="en-US" sz="1150" dirty="0"/>
          </a:p>
        </p:txBody>
      </p:sp>
      <p:sp>
        <p:nvSpPr>
          <p:cNvPr id="48" name="Shape 39"/>
          <p:cNvSpPr/>
          <p:nvPr/>
        </p:nvSpPr>
        <p:spPr>
          <a:xfrm>
            <a:off x="4297680" y="4572000"/>
            <a:ext cx="3566160" cy="1783080"/>
          </a:xfrm>
          <a:prstGeom prst="roundRect">
            <a:avLst>
              <a:gd name="adj" fmla="val 3077"/>
            </a:avLst>
          </a:prstGeom>
          <a:solidFill>
            <a:srgbClr val="FBE3E3"/>
          </a:solidFill>
          <a:ln/>
        </p:spPr>
      </p:sp>
      <p:sp>
        <p:nvSpPr>
          <p:cNvPr id="49" name="Shape 40"/>
          <p:cNvSpPr/>
          <p:nvPr/>
        </p:nvSpPr>
        <p:spPr>
          <a:xfrm>
            <a:off x="4434840" y="4690872"/>
            <a:ext cx="384048" cy="384048"/>
          </a:xfrm>
          <a:prstGeom prst="ellipse">
            <a:avLst/>
          </a:prstGeom>
          <a:solidFill>
            <a:srgbClr val="FFFFFF"/>
          </a:solidFill>
          <a:ln/>
        </p:spPr>
      </p:sp>
      <p:pic>
        <p:nvPicPr>
          <p:cNvPr id="50" name="Image 7" descr="preencoded.png">    </p:cNvPr>
          <p:cNvPicPr>
            <a:picLocks noChangeAspect="1"/>
          </p:cNvPicPr>
          <p:nvPr/>
        </p:nvPicPr>
        <p:blipFill>
          <a:blip r:embed="rId8"/>
          <a:stretch>
            <a:fillRect/>
          </a:stretch>
        </p:blipFill>
        <p:spPr>
          <a:xfrm>
            <a:off x="4511650" y="4767682"/>
            <a:ext cx="230429" cy="230429"/>
          </a:xfrm>
          <a:prstGeom prst="rect">
            <a:avLst/>
          </a:prstGeom>
        </p:spPr>
      </p:pic>
      <p:sp>
        <p:nvSpPr>
          <p:cNvPr id="51" name="Text 41"/>
          <p:cNvSpPr txBox="1"/>
          <p:nvPr/>
        </p:nvSpPr>
        <p:spPr>
          <a:xfrm>
            <a:off x="4892040" y="4690872"/>
            <a:ext cx="2880360" cy="384048"/>
          </a:xfrm>
          <a:prstGeom prst="rect">
            <a:avLst/>
          </a:prstGeom>
          <a:noFill/>
          <a:ln/>
        </p:spPr>
        <p:txBody>
          <a:bodyPr wrap="square" lIns="0" tIns="0" rIns="0" bIns="0"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留意点・制約</a:t>
            </a:r>
            <a:endParaRPr lang="en-US" sz="1300" dirty="0"/>
          </a:p>
        </p:txBody>
      </p:sp>
      <p:sp>
        <p:nvSpPr>
          <p:cNvPr id="52" name="Text 42"/>
          <p:cNvSpPr txBox="1"/>
          <p:nvPr/>
        </p:nvSpPr>
        <p:spPr>
          <a:xfrm>
            <a:off x="4480560" y="5175504"/>
            <a:ext cx="3246120" cy="1088136"/>
          </a:xfrm>
          <a:prstGeom prst="rect">
            <a:avLst/>
          </a:prstGeom>
          <a:noFill/>
          <a:ln/>
        </p:spPr>
        <p:txBody>
          <a:bodyPr wrap="square" lIns="254" tIns="254" rIns="254" bIns="254" rtlCol="0" anchor="t"/>
          <a:lstStyle/>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Listsの制約（ビュー5,000件、弱いリレーション）はそのまま残る</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code appsの利用者にはPremiumが必要</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2つの画面の役割分担を決める必要がある</a:t>
            </a:r>
            <a:endParaRPr lang="en-US" sz="1150" dirty="0"/>
          </a:p>
        </p:txBody>
      </p:sp>
      <p:sp>
        <p:nvSpPr>
          <p:cNvPr id="53" name="Shape 43"/>
          <p:cNvSpPr/>
          <p:nvPr/>
        </p:nvSpPr>
        <p:spPr>
          <a:xfrm>
            <a:off x="8046720" y="4572000"/>
            <a:ext cx="3566160" cy="1783080"/>
          </a:xfrm>
          <a:prstGeom prst="roundRect">
            <a:avLst>
              <a:gd name="adj" fmla="val 3077"/>
            </a:avLst>
          </a:prstGeom>
          <a:solidFill>
            <a:srgbClr val="FDEBD3"/>
          </a:solidFill>
          <a:ln/>
        </p:spPr>
      </p:sp>
      <p:sp>
        <p:nvSpPr>
          <p:cNvPr id="54" name="Shape 44"/>
          <p:cNvSpPr/>
          <p:nvPr/>
        </p:nvSpPr>
        <p:spPr>
          <a:xfrm>
            <a:off x="8183880" y="4690872"/>
            <a:ext cx="384048" cy="384048"/>
          </a:xfrm>
          <a:prstGeom prst="ellipse">
            <a:avLst/>
          </a:prstGeom>
          <a:solidFill>
            <a:srgbClr val="FFFFFF"/>
          </a:solidFill>
          <a:ln/>
        </p:spPr>
      </p:sp>
      <p:pic>
        <p:nvPicPr>
          <p:cNvPr id="55" name="Image 8" descr="preencoded.png">    </p:cNvPr>
          <p:cNvPicPr>
            <a:picLocks noChangeAspect="1"/>
          </p:cNvPicPr>
          <p:nvPr/>
        </p:nvPicPr>
        <p:blipFill>
          <a:blip r:embed="rId9"/>
          <a:stretch>
            <a:fillRect/>
          </a:stretch>
        </p:blipFill>
        <p:spPr>
          <a:xfrm>
            <a:off x="8260690" y="4767682"/>
            <a:ext cx="230429" cy="230429"/>
          </a:xfrm>
          <a:prstGeom prst="rect">
            <a:avLst/>
          </a:prstGeom>
        </p:spPr>
      </p:pic>
      <p:sp>
        <p:nvSpPr>
          <p:cNvPr id="56" name="Text 45"/>
          <p:cNvSpPr txBox="1"/>
          <p:nvPr/>
        </p:nvSpPr>
        <p:spPr>
          <a:xfrm>
            <a:off x="8641080" y="4690872"/>
            <a:ext cx="2880360" cy="384048"/>
          </a:xfrm>
          <a:prstGeom prst="rect">
            <a:avLst/>
          </a:prstGeom>
          <a:noFill/>
          <a:ln/>
        </p:spPr>
        <p:txBody>
          <a:bodyPr wrap="square" lIns="0" tIns="0" rIns="0" bIns="0"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検討ポイント</a:t>
            </a:r>
            <a:endParaRPr lang="en-US" sz="1300" dirty="0"/>
          </a:p>
        </p:txBody>
      </p:sp>
      <p:sp>
        <p:nvSpPr>
          <p:cNvPr id="57" name="Text 46"/>
          <p:cNvSpPr txBox="1"/>
          <p:nvPr/>
        </p:nvSpPr>
        <p:spPr>
          <a:xfrm>
            <a:off x="8229600" y="5175504"/>
            <a:ext cx="3246120" cy="1088136"/>
          </a:xfrm>
          <a:prstGeom prst="rect">
            <a:avLst/>
          </a:prstGeom>
          <a:noFill/>
          <a:ln/>
        </p:spPr>
        <p:txBody>
          <a:bodyPr wrap="square" lIns="254" tIns="254" rIns="254" bIns="254" rtlCol="0" anchor="t"/>
          <a:lstStyle/>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code appsを使う人の範囲（全員か、起案担当だけか）</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Listsの列・インデックスの設計</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将来Dataverseへ移す可能性</a:t>
            </a:r>
            <a:endParaRPr lang="en-US" sz="1150" dirty="0"/>
          </a:p>
        </p:txBody>
      </p:sp>
      <p:sp>
        <p:nvSpPr>
          <p:cNvPr id="58" name="Text 47"/>
          <p:cNvSpPr txBox="1"/>
          <p:nvPr/>
        </p:nvSpPr>
        <p:spPr>
          <a:xfrm>
            <a:off x="548640" y="6400800"/>
            <a:ext cx="10515600" cy="228600"/>
          </a:xfrm>
          <a:prstGeom prst="rect">
            <a:avLst/>
          </a:prstGeom>
          <a:noFill/>
          <a:ln/>
        </p:spPr>
        <p:txBody>
          <a:bodyPr wrap="square" lIns="0" tIns="0" rIns="0" bIns="0" rtlCol="0" anchor="t"/>
          <a:lstStyle/>
          <a:p>
            <a:pPr indent="0" marL="0">
              <a:buNone/>
            </a:pPr>
            <a:r>
              <a:rPr lang="en-US" sz="800" dirty="0">
                <a:solidFill>
                  <a:srgbClr val="6B7280"/>
                </a:solidFill>
                <a:latin typeface="Meiryo UI" pitchFamily="34" charset="0"/>
                <a:ea typeface="Meiryo UI" pitchFamily="34" charset="-122"/>
                <a:cs typeface="Meiryo UI" pitchFamily="34" charset="-120"/>
              </a:rPr>
              <a:t>難易度（★）：開発量・必要なスキル・関係する部署やシステムの数から見た相対的な目安。期間：社内で内製し、PoC後に単独で構築した場合の概算</a:t>
            </a:r>
            <a:endParaRPr lang="en-US" sz="8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548640"/>
          </a:xfrm>
          <a:prstGeom prst="rect">
            <a:avLst/>
          </a:prstGeom>
          <a:noFill/>
          <a:ln/>
        </p:spPr>
        <p:txBody>
          <a:bodyPr wrap="square" lIns="0" tIns="0" rIns="0" bIns="0" rtlCol="0" anchor="ctr"/>
          <a:lstStyle/>
          <a:p>
            <a:pPr indent="0" marL="0">
              <a:buNone/>
            </a:pPr>
            <a:r>
              <a:rPr lang="en-US" sz="2600" b="1" dirty="0">
                <a:solidFill>
                  <a:srgbClr val="1B2A49"/>
                </a:solidFill>
                <a:latin typeface="Meiryo UI" pitchFamily="34" charset="0"/>
                <a:ea typeface="Meiryo UI" pitchFamily="34" charset="-122"/>
                <a:cs typeface="Meiryo UI" pitchFamily="34" charset="-120"/>
              </a:rPr>
              <a:t>H1｜Copilot Studio＋GCP API（ハイブリッド）</a:t>
            </a:r>
            <a:endParaRPr lang="en-US" sz="2600" dirty="0"/>
          </a:p>
        </p:txBody>
      </p:sp>
      <p:sp>
        <p:nvSpPr>
          <p:cNvPr id="3" name="Text 1"/>
          <p:cNvSpPr txBox="1"/>
          <p:nvPr/>
        </p:nvSpPr>
        <p:spPr>
          <a:xfrm>
            <a:off x="548640" y="896112"/>
            <a:ext cx="11064240" cy="365760"/>
          </a:xfrm>
          <a:prstGeom prst="rect">
            <a:avLst/>
          </a:prstGeom>
          <a:noFill/>
          <a:ln/>
        </p:spPr>
        <p:txBody>
          <a:bodyPr wrap="square" lIns="0" tIns="0" rIns="0" bIns="0" rtlCol="0" anchor="ctr"/>
          <a:lstStyle/>
          <a:p>
            <a:pPr indent="0" marL="0">
              <a:buNone/>
            </a:pPr>
            <a:r>
              <a:rPr lang="en-US" sz="1400" dirty="0">
                <a:solidFill>
                  <a:srgbClr val="6B7280"/>
                </a:solidFill>
                <a:latin typeface="Meiryo UI" pitchFamily="34" charset="0"/>
                <a:ea typeface="Meiryo UI" pitchFamily="34" charset="-122"/>
                <a:cs typeface="Meiryo UI" pitchFamily="34" charset="-120"/>
              </a:rPr>
              <a:t>資料と利用画面はM365、数値はGCPに置いたまま、APIで必要な結果だけを受け渡す</a:t>
            </a:r>
            <a:endParaRPr lang="en-US" sz="1400" dirty="0"/>
          </a:p>
        </p:txBody>
      </p:sp>
      <p:sp>
        <p:nvSpPr>
          <p:cNvPr id="4" name="Text 2"/>
          <p:cNvSpPr txBox="1"/>
          <p:nvPr/>
        </p:nvSpPr>
        <p:spPr>
          <a:xfrm>
            <a:off x="7498080" y="91440"/>
            <a:ext cx="4114800" cy="22860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4. 各パターンの詳細</a:t>
            </a:r>
            <a:endParaRPr lang="en-US" sz="900" dirty="0"/>
          </a:p>
        </p:txBody>
      </p:sp>
      <p:sp>
        <p:nvSpPr>
          <p:cNvPr id="5" name="Text 3"/>
          <p:cNvSpPr txBox="1"/>
          <p:nvPr/>
        </p:nvSpPr>
        <p:spPr>
          <a:xfrm>
            <a:off x="11247120" y="6446520"/>
            <a:ext cx="457200" cy="27432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28</a:t>
            </a:r>
            <a:endParaRPr lang="en-US" sz="900" dirty="0"/>
          </a:p>
        </p:txBody>
      </p:sp>
      <p:sp>
        <p:nvSpPr>
          <p:cNvPr id="6" name="Shape 4"/>
          <p:cNvSpPr/>
          <p:nvPr/>
        </p:nvSpPr>
        <p:spPr>
          <a:xfrm>
            <a:off x="548640" y="1371600"/>
            <a:ext cx="2103120" cy="347472"/>
          </a:xfrm>
          <a:prstGeom prst="roundRect">
            <a:avLst>
              <a:gd name="adj" fmla="val 50000"/>
            </a:avLst>
          </a:prstGeom>
          <a:solidFill>
            <a:srgbClr val="EEEAF8"/>
          </a:solidFill>
          <a:ln/>
        </p:spPr>
      </p:sp>
      <p:sp>
        <p:nvSpPr>
          <p:cNvPr id="7" name="Text 5"/>
          <p:cNvSpPr txBox="1"/>
          <p:nvPr/>
        </p:nvSpPr>
        <p:spPr>
          <a:xfrm>
            <a:off x="548640" y="1371600"/>
            <a:ext cx="2103120" cy="347472"/>
          </a:xfrm>
          <a:prstGeom prst="rect">
            <a:avLst/>
          </a:prstGeom>
          <a:noFill/>
          <a:ln/>
        </p:spPr>
        <p:txBody>
          <a:bodyPr wrap="square" lIns="0" tIns="0" rIns="0" bIns="0" rtlCol="0" anchor="ctr"/>
          <a:lstStyle/>
          <a:p>
            <a:pPr algn="ctr" indent="0" marL="0">
              <a:buNone/>
            </a:pPr>
            <a:r>
              <a:rPr lang="en-US" sz="950" dirty="0">
                <a:solidFill>
                  <a:srgbClr val="6B4FBB"/>
                </a:solidFill>
                <a:latin typeface="Meiryo UI" pitchFamily="34" charset="0"/>
                <a:ea typeface="Meiryo UI" pitchFamily="34" charset="-122"/>
                <a:cs typeface="Meiryo UI" pitchFamily="34" charset="-120"/>
              </a:rPr>
              <a:t>集約先  </a:t>
            </a:r>
            <a:pPr algn="ctr" indent="0" marL="0">
              <a:buNone/>
            </a:pPr>
            <a:r>
              <a:rPr lang="en-US" sz="1100" b="1" dirty="0">
                <a:solidFill>
                  <a:srgbClr val="6B4FBB"/>
                </a:solidFill>
                <a:latin typeface="Meiryo UI" pitchFamily="34" charset="0"/>
                <a:ea typeface="Meiryo UI" pitchFamily="34" charset="-122"/>
                <a:cs typeface="Meiryo UI" pitchFamily="34" charset="-120"/>
              </a:rPr>
              <a:t>ハイブリッド</a:t>
            </a:r>
            <a:endParaRPr lang="en-US" sz="950" dirty="0"/>
          </a:p>
        </p:txBody>
      </p:sp>
      <p:sp>
        <p:nvSpPr>
          <p:cNvPr id="8" name="Shape 6"/>
          <p:cNvSpPr/>
          <p:nvPr/>
        </p:nvSpPr>
        <p:spPr>
          <a:xfrm>
            <a:off x="2788920" y="1371600"/>
            <a:ext cx="2103120" cy="347472"/>
          </a:xfrm>
          <a:prstGeom prst="roundRect">
            <a:avLst>
              <a:gd name="adj" fmla="val 50000"/>
            </a:avLst>
          </a:prstGeom>
          <a:solidFill>
            <a:srgbClr val="F3F5F8"/>
          </a:solidFill>
          <a:ln/>
        </p:spPr>
      </p:sp>
      <p:sp>
        <p:nvSpPr>
          <p:cNvPr id="9" name="Text 7"/>
          <p:cNvSpPr txBox="1"/>
          <p:nvPr/>
        </p:nvSpPr>
        <p:spPr>
          <a:xfrm>
            <a:off x="2788920" y="1371600"/>
            <a:ext cx="2103120" cy="347472"/>
          </a:xfrm>
          <a:prstGeom prst="rect">
            <a:avLst/>
          </a:prstGeom>
          <a:noFill/>
          <a:ln/>
        </p:spPr>
        <p:txBody>
          <a:bodyPr wrap="square" lIns="0" tIns="0" rIns="0" bIns="0" rtlCol="0" anchor="ctr"/>
          <a:lstStyle/>
          <a:p>
            <a:pPr algn="ctr" indent="0" marL="0">
              <a:buNone/>
            </a:pPr>
            <a:r>
              <a:rPr lang="en-US" sz="950" dirty="0">
                <a:solidFill>
                  <a:srgbClr val="1B2A49"/>
                </a:solidFill>
                <a:latin typeface="Meiryo UI" pitchFamily="34" charset="0"/>
                <a:ea typeface="Meiryo UI" pitchFamily="34" charset="-122"/>
                <a:cs typeface="Meiryo UI" pitchFamily="34" charset="-120"/>
              </a:rPr>
              <a:t>管理基盤  </a:t>
            </a:r>
            <a:pPr algn="ctr" indent="0" marL="0">
              <a:buNone/>
            </a:pPr>
            <a:r>
              <a:rPr lang="en-US" sz="1100" b="1" dirty="0">
                <a:solidFill>
                  <a:srgbClr val="1B2A49"/>
                </a:solidFill>
                <a:latin typeface="Meiryo UI" pitchFamily="34" charset="0"/>
                <a:ea typeface="Meiryo UI" pitchFamily="34" charset="-122"/>
                <a:cs typeface="Meiryo UI" pitchFamily="34" charset="-120"/>
              </a:rPr>
              <a:t>Airtable</a:t>
            </a:r>
            <a:endParaRPr lang="en-US" sz="950" dirty="0"/>
          </a:p>
        </p:txBody>
      </p:sp>
      <p:sp>
        <p:nvSpPr>
          <p:cNvPr id="10" name="Shape 8"/>
          <p:cNvSpPr/>
          <p:nvPr/>
        </p:nvSpPr>
        <p:spPr>
          <a:xfrm>
            <a:off x="5029200" y="1371600"/>
            <a:ext cx="2103120" cy="347472"/>
          </a:xfrm>
          <a:prstGeom prst="roundRect">
            <a:avLst>
              <a:gd name="adj" fmla="val 50000"/>
            </a:avLst>
          </a:prstGeom>
          <a:solidFill>
            <a:srgbClr val="D9F2F1"/>
          </a:solidFill>
          <a:ln/>
        </p:spPr>
      </p:sp>
      <p:sp>
        <p:nvSpPr>
          <p:cNvPr id="11" name="Text 9"/>
          <p:cNvSpPr txBox="1"/>
          <p:nvPr/>
        </p:nvSpPr>
        <p:spPr>
          <a:xfrm>
            <a:off x="5029200" y="1371600"/>
            <a:ext cx="2103120" cy="347472"/>
          </a:xfrm>
          <a:prstGeom prst="rect">
            <a:avLst/>
          </a:prstGeom>
          <a:noFill/>
          <a:ln/>
        </p:spPr>
        <p:txBody>
          <a:bodyPr wrap="square" lIns="0" tIns="0" rIns="0" bIns="0" rtlCol="0" anchor="ctr"/>
          <a:lstStyle/>
          <a:p>
            <a:pPr algn="ctr" indent="0" marL="0">
              <a:buNone/>
            </a:pPr>
            <a:r>
              <a:rPr lang="en-US" sz="950" dirty="0">
                <a:solidFill>
                  <a:srgbClr val="0E9F9A"/>
                </a:solidFill>
                <a:latin typeface="Meiryo UI" pitchFamily="34" charset="0"/>
                <a:ea typeface="Meiryo UI" pitchFamily="34" charset="-122"/>
                <a:cs typeface="Meiryo UI" pitchFamily="34" charset="-120"/>
              </a:rPr>
              <a:t>自動化  </a:t>
            </a:r>
            <a:pPr algn="ctr" indent="0" marL="0">
              <a:buNone/>
            </a:pPr>
            <a:r>
              <a:rPr lang="en-US" sz="1100" b="1" dirty="0">
                <a:solidFill>
                  <a:srgbClr val="0E9F9A"/>
                </a:solidFill>
                <a:latin typeface="Meiryo UI" pitchFamily="34" charset="0"/>
                <a:ea typeface="Meiryo UI" pitchFamily="34" charset="-122"/>
                <a:cs typeface="Meiryo UI" pitchFamily="34" charset="-120"/>
              </a:rPr>
              <a:t>Step2〜3</a:t>
            </a:r>
            <a:endParaRPr lang="en-US" sz="950" dirty="0"/>
          </a:p>
        </p:txBody>
      </p:sp>
      <p:sp>
        <p:nvSpPr>
          <p:cNvPr id="12" name="Shape 10"/>
          <p:cNvSpPr/>
          <p:nvPr/>
        </p:nvSpPr>
        <p:spPr>
          <a:xfrm>
            <a:off x="7269480" y="1371600"/>
            <a:ext cx="2103120" cy="347472"/>
          </a:xfrm>
          <a:prstGeom prst="roundRect">
            <a:avLst>
              <a:gd name="adj" fmla="val 50000"/>
            </a:avLst>
          </a:prstGeom>
          <a:solidFill>
            <a:srgbClr val="FDEBD3"/>
          </a:solidFill>
          <a:ln/>
        </p:spPr>
      </p:sp>
      <p:sp>
        <p:nvSpPr>
          <p:cNvPr id="13" name="Text 11"/>
          <p:cNvSpPr txBox="1"/>
          <p:nvPr/>
        </p:nvSpPr>
        <p:spPr>
          <a:xfrm>
            <a:off x="7269480" y="1371600"/>
            <a:ext cx="2103120" cy="347472"/>
          </a:xfrm>
          <a:prstGeom prst="rect">
            <a:avLst/>
          </a:prstGeom>
          <a:noFill/>
          <a:ln/>
        </p:spPr>
        <p:txBody>
          <a:bodyPr wrap="square" lIns="0" tIns="0" rIns="0" bIns="0" rtlCol="0" anchor="ctr"/>
          <a:lstStyle/>
          <a:p>
            <a:pPr algn="ctr" indent="0" marL="0">
              <a:buNone/>
            </a:pPr>
            <a:r>
              <a:rPr lang="en-US" sz="950" dirty="0">
                <a:solidFill>
                  <a:srgbClr val="E8912D"/>
                </a:solidFill>
                <a:latin typeface="Meiryo UI" pitchFamily="34" charset="0"/>
                <a:ea typeface="Meiryo UI" pitchFamily="34" charset="-122"/>
                <a:cs typeface="Meiryo UI" pitchFamily="34" charset="-120"/>
              </a:rPr>
              <a:t>難易度  </a:t>
            </a:r>
            <a:pPr algn="ctr" indent="0" marL="0">
              <a:buNone/>
            </a:pPr>
            <a:r>
              <a:rPr lang="en-US" sz="1100" b="1" dirty="0">
                <a:solidFill>
                  <a:srgbClr val="E8912D"/>
                </a:solidFill>
                <a:latin typeface="Meiryo UI" pitchFamily="34" charset="0"/>
                <a:ea typeface="Meiryo UI" pitchFamily="34" charset="-122"/>
                <a:cs typeface="Meiryo UI" pitchFamily="34" charset="-120"/>
              </a:rPr>
              <a:t>★★★☆☆</a:t>
            </a:r>
            <a:endParaRPr lang="en-US" sz="950" dirty="0"/>
          </a:p>
        </p:txBody>
      </p:sp>
      <p:sp>
        <p:nvSpPr>
          <p:cNvPr id="14" name="Shape 12"/>
          <p:cNvSpPr/>
          <p:nvPr/>
        </p:nvSpPr>
        <p:spPr>
          <a:xfrm>
            <a:off x="9509760" y="1371600"/>
            <a:ext cx="2103120" cy="347472"/>
          </a:xfrm>
          <a:prstGeom prst="roundRect">
            <a:avLst>
              <a:gd name="adj" fmla="val 50000"/>
            </a:avLst>
          </a:prstGeom>
          <a:solidFill>
            <a:srgbClr val="F3F5F8"/>
          </a:solidFill>
          <a:ln/>
        </p:spPr>
      </p:sp>
      <p:sp>
        <p:nvSpPr>
          <p:cNvPr id="15" name="Text 13"/>
          <p:cNvSpPr txBox="1"/>
          <p:nvPr/>
        </p:nvSpPr>
        <p:spPr>
          <a:xfrm>
            <a:off x="9509760" y="1371600"/>
            <a:ext cx="2103120" cy="347472"/>
          </a:xfrm>
          <a:prstGeom prst="rect">
            <a:avLst/>
          </a:prstGeom>
          <a:noFill/>
          <a:ln/>
        </p:spPr>
        <p:txBody>
          <a:bodyPr wrap="square" lIns="0" tIns="0" rIns="0" bIns="0" rtlCol="0" anchor="ctr"/>
          <a:lstStyle/>
          <a:p>
            <a:pPr algn="ctr" indent="0" marL="0">
              <a:buNone/>
            </a:pPr>
            <a:r>
              <a:rPr lang="en-US" sz="950" dirty="0">
                <a:solidFill>
                  <a:srgbClr val="1B2A49"/>
                </a:solidFill>
                <a:latin typeface="Meiryo UI" pitchFamily="34" charset="0"/>
                <a:ea typeface="Meiryo UI" pitchFamily="34" charset="-122"/>
                <a:cs typeface="Meiryo UI" pitchFamily="34" charset="-120"/>
              </a:rPr>
              <a:t>期間目安  </a:t>
            </a:r>
            <a:pPr algn="ctr" indent="0" marL="0">
              <a:buNone/>
            </a:pPr>
            <a:r>
              <a:rPr lang="en-US" sz="1100" b="1" dirty="0">
                <a:solidFill>
                  <a:srgbClr val="1B2A49"/>
                </a:solidFill>
                <a:latin typeface="Meiryo UI" pitchFamily="34" charset="0"/>
                <a:ea typeface="Meiryo UI" pitchFamily="34" charset="-122"/>
                <a:cs typeface="Meiryo UI" pitchFamily="34" charset="-120"/>
              </a:rPr>
              <a:t>2〜4ヶ月</a:t>
            </a:r>
            <a:endParaRPr lang="en-US" sz="950" dirty="0"/>
          </a:p>
        </p:txBody>
      </p:sp>
      <p:sp>
        <p:nvSpPr>
          <p:cNvPr id="16" name="Shape 14"/>
          <p:cNvSpPr/>
          <p:nvPr/>
        </p:nvSpPr>
        <p:spPr>
          <a:xfrm>
            <a:off x="548640" y="1874520"/>
            <a:ext cx="6949440" cy="2514600"/>
          </a:xfrm>
          <a:prstGeom prst="roundRect">
            <a:avLst>
              <a:gd name="adj" fmla="val 1455"/>
            </a:avLst>
          </a:prstGeom>
          <a:solidFill>
            <a:srgbClr val="F3F5F8"/>
          </a:solidFill>
          <a:ln/>
        </p:spPr>
      </p:sp>
      <p:sp>
        <p:nvSpPr>
          <p:cNvPr id="17" name="Shape 15"/>
          <p:cNvSpPr/>
          <p:nvPr/>
        </p:nvSpPr>
        <p:spPr>
          <a:xfrm>
            <a:off x="640080" y="1938528"/>
            <a:ext cx="4160520" cy="2377440"/>
          </a:xfrm>
          <a:prstGeom prst="roundRect">
            <a:avLst>
              <a:gd name="adj" fmla="val 1923"/>
            </a:avLst>
          </a:prstGeom>
          <a:solidFill>
            <a:srgbClr val="FFFFFF"/>
          </a:solidFill>
          <a:ln w="12700">
            <a:solidFill>
              <a:srgbClr val="0F6CBD"/>
            </a:solidFill>
            <a:prstDash val="dash"/>
          </a:ln>
        </p:spPr>
      </p:sp>
      <p:sp>
        <p:nvSpPr>
          <p:cNvPr id="18" name="Text 16"/>
          <p:cNvSpPr txBox="1"/>
          <p:nvPr/>
        </p:nvSpPr>
        <p:spPr>
          <a:xfrm>
            <a:off x="713232" y="1956816"/>
            <a:ext cx="1828800" cy="237744"/>
          </a:xfrm>
          <a:prstGeom prst="rect">
            <a:avLst/>
          </a:prstGeom>
          <a:noFill/>
          <a:ln/>
        </p:spPr>
        <p:txBody>
          <a:bodyPr wrap="square" lIns="0" tIns="0" rIns="0" bIns="0" rtlCol="0" anchor="ctr"/>
          <a:lstStyle/>
          <a:p>
            <a:pPr indent="0" marL="0">
              <a:buNone/>
            </a:pPr>
            <a:r>
              <a:rPr lang="en-US" sz="900" b="1" dirty="0">
                <a:solidFill>
                  <a:srgbClr val="0F6CBD"/>
                </a:solidFill>
                <a:latin typeface="Meiryo UI" pitchFamily="34" charset="0"/>
                <a:ea typeface="Meiryo UI" pitchFamily="34" charset="-122"/>
                <a:cs typeface="Meiryo UI" pitchFamily="34" charset="-120"/>
              </a:rPr>
              <a:t>M365</a:t>
            </a:r>
            <a:endParaRPr lang="en-US" sz="900" dirty="0"/>
          </a:p>
        </p:txBody>
      </p:sp>
      <p:sp>
        <p:nvSpPr>
          <p:cNvPr id="19" name="Shape 17"/>
          <p:cNvSpPr/>
          <p:nvPr/>
        </p:nvSpPr>
        <p:spPr>
          <a:xfrm>
            <a:off x="4937760" y="1938528"/>
            <a:ext cx="2468880" cy="2377440"/>
          </a:xfrm>
          <a:prstGeom prst="roundRect">
            <a:avLst>
              <a:gd name="adj" fmla="val 1923"/>
            </a:avLst>
          </a:prstGeom>
          <a:solidFill>
            <a:srgbClr val="FFFFFF"/>
          </a:solidFill>
          <a:ln w="12700">
            <a:solidFill>
              <a:srgbClr val="4285F4"/>
            </a:solidFill>
            <a:prstDash val="dash"/>
          </a:ln>
        </p:spPr>
      </p:sp>
      <p:sp>
        <p:nvSpPr>
          <p:cNvPr id="20" name="Text 18"/>
          <p:cNvSpPr txBox="1"/>
          <p:nvPr/>
        </p:nvSpPr>
        <p:spPr>
          <a:xfrm>
            <a:off x="5010912" y="1956816"/>
            <a:ext cx="1828800" cy="237744"/>
          </a:xfrm>
          <a:prstGeom prst="rect">
            <a:avLst/>
          </a:prstGeom>
          <a:noFill/>
          <a:ln/>
        </p:spPr>
        <p:txBody>
          <a:bodyPr wrap="square" lIns="0" tIns="0" rIns="0" bIns="0" rtlCol="0" anchor="ctr"/>
          <a:lstStyle/>
          <a:p>
            <a:pPr indent="0" marL="0">
              <a:buNone/>
            </a:pPr>
            <a:r>
              <a:rPr lang="en-US" sz="900" b="1" dirty="0">
                <a:solidFill>
                  <a:srgbClr val="4285F4"/>
                </a:solidFill>
                <a:latin typeface="Meiryo UI" pitchFamily="34" charset="0"/>
                <a:ea typeface="Meiryo UI" pitchFamily="34" charset="-122"/>
                <a:cs typeface="Meiryo UI" pitchFamily="34" charset="-120"/>
              </a:rPr>
              <a:t>GCP</a:t>
            </a:r>
            <a:endParaRPr lang="en-US" sz="900" dirty="0"/>
          </a:p>
        </p:txBody>
      </p:sp>
      <p:sp>
        <p:nvSpPr>
          <p:cNvPr id="21" name="Shape 19"/>
          <p:cNvSpPr/>
          <p:nvPr/>
        </p:nvSpPr>
        <p:spPr>
          <a:xfrm>
            <a:off x="777240" y="2240280"/>
            <a:ext cx="1691640" cy="777240"/>
          </a:xfrm>
          <a:prstGeom prst="roundRect">
            <a:avLst>
              <a:gd name="adj" fmla="val 9412"/>
            </a:avLst>
          </a:prstGeom>
          <a:solidFill>
            <a:srgbClr val="FDEBD3"/>
          </a:solidFill>
          <a:ln/>
        </p:spPr>
      </p:sp>
      <p:pic>
        <p:nvPicPr>
          <p:cNvPr id="22" name="Image 0" descr="preencoded.png">    </p:cNvPr>
          <p:cNvPicPr>
            <a:picLocks noChangeAspect="1"/>
          </p:cNvPicPr>
          <p:nvPr/>
        </p:nvPicPr>
        <p:blipFill>
          <a:blip r:embed="rId1"/>
          <a:stretch>
            <a:fillRect/>
          </a:stretch>
        </p:blipFill>
        <p:spPr>
          <a:xfrm>
            <a:off x="886968" y="2446020"/>
            <a:ext cx="365760" cy="365760"/>
          </a:xfrm>
          <a:prstGeom prst="rect">
            <a:avLst/>
          </a:prstGeom>
        </p:spPr>
      </p:pic>
      <p:sp>
        <p:nvSpPr>
          <p:cNvPr id="23" name="Text 20"/>
          <p:cNvSpPr txBox="1"/>
          <p:nvPr/>
        </p:nvSpPr>
        <p:spPr>
          <a:xfrm>
            <a:off x="1344168" y="2240280"/>
            <a:ext cx="1078992" cy="777240"/>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マーケター</a:t>
            </a:r>
            <a:endParaRPr lang="en-US" sz="1050" dirty="0"/>
          </a:p>
          <a:p>
            <a:pPr algn="l" indent="0" marL="0">
              <a:buNone/>
            </a:pPr>
            <a:r>
              <a:rPr lang="en-US" sz="900" dirty="0">
                <a:solidFill>
                  <a:srgbClr val="6B7280"/>
                </a:solidFill>
                <a:latin typeface="Meiryo UI" pitchFamily="34" charset="0"/>
                <a:ea typeface="Meiryo UI" pitchFamily="34" charset="-122"/>
                <a:cs typeface="Meiryo UI" pitchFamily="34" charset="-120"/>
              </a:rPr>
              <a:t>Teamsで対話</a:t>
            </a:r>
            <a:endParaRPr lang="en-US" sz="1050" dirty="0"/>
          </a:p>
        </p:txBody>
      </p:sp>
      <p:sp>
        <p:nvSpPr>
          <p:cNvPr id="24" name="Shape 21"/>
          <p:cNvSpPr/>
          <p:nvPr/>
        </p:nvSpPr>
        <p:spPr>
          <a:xfrm>
            <a:off x="2514600" y="2624328"/>
            <a:ext cx="228600" cy="0"/>
          </a:xfrm>
          <a:prstGeom prst="line">
            <a:avLst/>
          </a:prstGeom>
          <a:noFill/>
          <a:ln w="22225">
            <a:solidFill>
              <a:srgbClr val="9AA5B4"/>
            </a:solidFill>
            <a:prstDash val="solid"/>
            <a:headEnd type="triangle"/>
            <a:tailEnd type="triangle"/>
          </a:ln>
        </p:spPr>
      </p:sp>
      <p:sp>
        <p:nvSpPr>
          <p:cNvPr id="25" name="Shape 22"/>
          <p:cNvSpPr/>
          <p:nvPr/>
        </p:nvSpPr>
        <p:spPr>
          <a:xfrm>
            <a:off x="2788920" y="2240280"/>
            <a:ext cx="1874520" cy="777240"/>
          </a:xfrm>
          <a:prstGeom prst="roundRect">
            <a:avLst>
              <a:gd name="adj" fmla="val 9412"/>
            </a:avLst>
          </a:prstGeom>
          <a:solidFill>
            <a:srgbClr val="0E9F9A"/>
          </a:solidFill>
          <a:ln/>
        </p:spPr>
      </p:sp>
      <p:sp>
        <p:nvSpPr>
          <p:cNvPr id="26" name="Shape 23"/>
          <p:cNvSpPr/>
          <p:nvPr/>
        </p:nvSpPr>
        <p:spPr>
          <a:xfrm>
            <a:off x="2862072" y="2372868"/>
            <a:ext cx="512064" cy="512064"/>
          </a:xfrm>
          <a:prstGeom prst="ellipse">
            <a:avLst/>
          </a:prstGeom>
          <a:solidFill>
            <a:srgbClr val="FFFFFF"/>
          </a:solidFill>
          <a:ln/>
        </p:spPr>
      </p:sp>
      <p:pic>
        <p:nvPicPr>
          <p:cNvPr id="27" name="Image 1" descr="preencoded.png">    </p:cNvPr>
          <p:cNvPicPr>
            <a:picLocks noChangeAspect="1"/>
          </p:cNvPicPr>
          <p:nvPr/>
        </p:nvPicPr>
        <p:blipFill>
          <a:blip r:embed="rId2"/>
          <a:stretch>
            <a:fillRect/>
          </a:stretch>
        </p:blipFill>
        <p:spPr>
          <a:xfrm>
            <a:off x="2935224" y="2446020"/>
            <a:ext cx="365760" cy="365760"/>
          </a:xfrm>
          <a:prstGeom prst="rect">
            <a:avLst/>
          </a:prstGeom>
        </p:spPr>
      </p:pic>
      <p:sp>
        <p:nvSpPr>
          <p:cNvPr id="28" name="Text 24"/>
          <p:cNvSpPr txBox="1"/>
          <p:nvPr/>
        </p:nvSpPr>
        <p:spPr>
          <a:xfrm>
            <a:off x="3520440" y="2240280"/>
            <a:ext cx="1097280" cy="777240"/>
          </a:xfrm>
          <a:prstGeom prst="rect">
            <a:avLst/>
          </a:prstGeom>
          <a:noFill/>
          <a:ln/>
        </p:spPr>
        <p:txBody>
          <a:bodyPr wrap="square" lIns="0" tIns="0" rIns="0" bIns="0" rtlCol="0" anchor="ctr"/>
          <a:lstStyle/>
          <a:p>
            <a:pPr algn="l" indent="0" marL="0">
              <a:buNone/>
            </a:pPr>
            <a:r>
              <a:rPr lang="en-US" sz="1050" b="1" dirty="0">
                <a:solidFill>
                  <a:srgbClr val="FFFFFF"/>
                </a:solidFill>
                <a:latin typeface="Meiryo UI" pitchFamily="34" charset="0"/>
                <a:ea typeface="Meiryo UI" pitchFamily="34" charset="-122"/>
                <a:cs typeface="Meiryo UI" pitchFamily="34" charset="-120"/>
              </a:rPr>
              <a:t>Copilot Studio</a:t>
            </a:r>
            <a:endParaRPr lang="en-US" sz="1050" dirty="0"/>
          </a:p>
          <a:p>
            <a:pPr algn="l" indent="0" marL="0">
              <a:buNone/>
            </a:pPr>
            <a:r>
              <a:rPr lang="en-US" sz="900" dirty="0">
                <a:solidFill>
                  <a:srgbClr val="E6F2F2"/>
                </a:solidFill>
                <a:latin typeface="Meiryo UI" pitchFamily="34" charset="0"/>
                <a:ea typeface="Meiryo UI" pitchFamily="34" charset="-122"/>
                <a:cs typeface="Meiryo UI" pitchFamily="34" charset="-120"/>
              </a:rPr>
              <a:t>エージェント</a:t>
            </a:r>
            <a:endParaRPr lang="en-US" sz="1050" dirty="0"/>
          </a:p>
        </p:txBody>
      </p:sp>
      <p:sp>
        <p:nvSpPr>
          <p:cNvPr id="29" name="Shape 25"/>
          <p:cNvSpPr/>
          <p:nvPr/>
        </p:nvSpPr>
        <p:spPr>
          <a:xfrm flipV="1">
            <a:off x="3721608" y="3063240"/>
            <a:ext cx="0" cy="365760"/>
          </a:xfrm>
          <a:prstGeom prst="line">
            <a:avLst/>
          </a:prstGeom>
          <a:noFill/>
          <a:ln w="22225">
            <a:solidFill>
              <a:srgbClr val="9AA5B4"/>
            </a:solidFill>
            <a:prstDash val="solid"/>
            <a:tailEnd type="triangle"/>
          </a:ln>
        </p:spPr>
      </p:sp>
      <p:sp>
        <p:nvSpPr>
          <p:cNvPr id="30" name="Shape 26"/>
          <p:cNvSpPr/>
          <p:nvPr/>
        </p:nvSpPr>
        <p:spPr>
          <a:xfrm>
            <a:off x="2788920" y="3474720"/>
            <a:ext cx="1874520" cy="685800"/>
          </a:xfrm>
          <a:prstGeom prst="roundRect">
            <a:avLst>
              <a:gd name="adj" fmla="val 10667"/>
            </a:avLst>
          </a:prstGeom>
          <a:solidFill>
            <a:srgbClr val="E3EAF5"/>
          </a:solidFill>
          <a:ln/>
        </p:spPr>
      </p:sp>
      <p:pic>
        <p:nvPicPr>
          <p:cNvPr id="31" name="Image 2" descr="preencoded.png">    </p:cNvPr>
          <p:cNvPicPr>
            <a:picLocks noChangeAspect="1"/>
          </p:cNvPicPr>
          <p:nvPr/>
        </p:nvPicPr>
        <p:blipFill>
          <a:blip r:embed="rId3"/>
          <a:stretch>
            <a:fillRect/>
          </a:stretch>
        </p:blipFill>
        <p:spPr>
          <a:xfrm>
            <a:off x="2898648" y="3634740"/>
            <a:ext cx="365760" cy="365760"/>
          </a:xfrm>
          <a:prstGeom prst="rect">
            <a:avLst/>
          </a:prstGeom>
        </p:spPr>
      </p:pic>
      <p:sp>
        <p:nvSpPr>
          <p:cNvPr id="32" name="Text 27"/>
          <p:cNvSpPr txBox="1"/>
          <p:nvPr/>
        </p:nvSpPr>
        <p:spPr>
          <a:xfrm>
            <a:off x="3355848" y="3474720"/>
            <a:ext cx="1261872" cy="685800"/>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SharePoint</a:t>
            </a:r>
            <a:endParaRPr lang="en-US" sz="1050" dirty="0"/>
          </a:p>
          <a:p>
            <a:pPr algn="l" indent="0" marL="0">
              <a:buNone/>
            </a:pPr>
            <a:r>
              <a:rPr lang="en-US" sz="900" dirty="0">
                <a:solidFill>
                  <a:srgbClr val="6B7280"/>
                </a:solidFill>
                <a:latin typeface="Meiryo UI" pitchFamily="34" charset="0"/>
                <a:ea typeface="Meiryo UI" pitchFamily="34" charset="-122"/>
                <a:cs typeface="Meiryo UI" pitchFamily="34" charset="-120"/>
              </a:rPr>
              <a:t>資料・ガイドライン</a:t>
            </a:r>
            <a:endParaRPr lang="en-US" sz="1050" dirty="0"/>
          </a:p>
        </p:txBody>
      </p:sp>
      <p:sp>
        <p:nvSpPr>
          <p:cNvPr id="33" name="Shape 28"/>
          <p:cNvSpPr/>
          <p:nvPr/>
        </p:nvSpPr>
        <p:spPr>
          <a:xfrm>
            <a:off x="777240" y="3474720"/>
            <a:ext cx="1691640" cy="685800"/>
          </a:xfrm>
          <a:prstGeom prst="roundRect">
            <a:avLst>
              <a:gd name="adj" fmla="val 10667"/>
            </a:avLst>
          </a:prstGeom>
          <a:solidFill>
            <a:srgbClr val="FDEBD3"/>
          </a:solidFill>
          <a:ln/>
        </p:spPr>
      </p:sp>
      <p:pic>
        <p:nvPicPr>
          <p:cNvPr id="34" name="Image 3" descr="preencoded.png">    </p:cNvPr>
          <p:cNvPicPr>
            <a:picLocks noChangeAspect="1"/>
          </p:cNvPicPr>
          <p:nvPr/>
        </p:nvPicPr>
        <p:blipFill>
          <a:blip r:embed="rId4"/>
          <a:stretch>
            <a:fillRect/>
          </a:stretch>
        </p:blipFill>
        <p:spPr>
          <a:xfrm>
            <a:off x="886968" y="3634740"/>
            <a:ext cx="365760" cy="365760"/>
          </a:xfrm>
          <a:prstGeom prst="rect">
            <a:avLst/>
          </a:prstGeom>
        </p:spPr>
      </p:pic>
      <p:sp>
        <p:nvSpPr>
          <p:cNvPr id="35" name="Text 29"/>
          <p:cNvSpPr txBox="1"/>
          <p:nvPr/>
        </p:nvSpPr>
        <p:spPr>
          <a:xfrm>
            <a:off x="1344168" y="3474720"/>
            <a:ext cx="1078992" cy="685800"/>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Airtable</a:t>
            </a:r>
            <a:endParaRPr lang="en-US" sz="1050" dirty="0"/>
          </a:p>
          <a:p>
            <a:pPr algn="l" indent="0" marL="0">
              <a:buNone/>
            </a:pPr>
            <a:r>
              <a:rPr lang="en-US" sz="900" dirty="0">
                <a:solidFill>
                  <a:srgbClr val="6B7280"/>
                </a:solidFill>
                <a:latin typeface="Meiryo UI" pitchFamily="34" charset="0"/>
                <a:ea typeface="Meiryo UI" pitchFamily="34" charset="-122"/>
                <a:cs typeface="Meiryo UI" pitchFamily="34" charset="-120"/>
              </a:rPr>
              <a:t>カード（外部）</a:t>
            </a:r>
            <a:endParaRPr lang="en-US" sz="1050" dirty="0"/>
          </a:p>
        </p:txBody>
      </p:sp>
      <p:sp>
        <p:nvSpPr>
          <p:cNvPr id="36" name="Shape 30"/>
          <p:cNvSpPr/>
          <p:nvPr/>
        </p:nvSpPr>
        <p:spPr>
          <a:xfrm>
            <a:off x="1618488" y="3063240"/>
            <a:ext cx="0" cy="365760"/>
          </a:xfrm>
          <a:prstGeom prst="line">
            <a:avLst/>
          </a:prstGeom>
          <a:noFill/>
          <a:ln w="22225">
            <a:solidFill>
              <a:srgbClr val="9AA5B4"/>
            </a:solidFill>
            <a:prstDash val="solid"/>
            <a:tailEnd type="triangle"/>
          </a:ln>
        </p:spPr>
      </p:sp>
      <p:sp>
        <p:nvSpPr>
          <p:cNvPr id="37" name="Shape 31"/>
          <p:cNvSpPr/>
          <p:nvPr/>
        </p:nvSpPr>
        <p:spPr>
          <a:xfrm>
            <a:off x="4709160" y="2624328"/>
            <a:ext cx="365760" cy="0"/>
          </a:xfrm>
          <a:prstGeom prst="line">
            <a:avLst/>
          </a:prstGeom>
          <a:noFill/>
          <a:ln w="22225">
            <a:solidFill>
              <a:srgbClr val="9AA5B4"/>
            </a:solidFill>
            <a:prstDash val="solid"/>
            <a:headEnd type="triangle"/>
            <a:tailEnd type="triangle"/>
          </a:ln>
        </p:spPr>
      </p:sp>
      <p:sp>
        <p:nvSpPr>
          <p:cNvPr id="38" name="Shape 32"/>
          <p:cNvSpPr/>
          <p:nvPr/>
        </p:nvSpPr>
        <p:spPr>
          <a:xfrm>
            <a:off x="5120640" y="2240280"/>
            <a:ext cx="2148840" cy="777240"/>
          </a:xfrm>
          <a:prstGeom prst="roundRect">
            <a:avLst>
              <a:gd name="adj" fmla="val 9412"/>
            </a:avLst>
          </a:prstGeom>
          <a:solidFill>
            <a:srgbClr val="D9F2F1"/>
          </a:solidFill>
          <a:ln/>
        </p:spPr>
      </p:sp>
      <p:pic>
        <p:nvPicPr>
          <p:cNvPr id="39" name="Image 4" descr="preencoded.png">    </p:cNvPr>
          <p:cNvPicPr>
            <a:picLocks noChangeAspect="1"/>
          </p:cNvPicPr>
          <p:nvPr/>
        </p:nvPicPr>
        <p:blipFill>
          <a:blip r:embed="rId5"/>
          <a:stretch>
            <a:fillRect/>
          </a:stretch>
        </p:blipFill>
        <p:spPr>
          <a:xfrm>
            <a:off x="5230368" y="2446020"/>
            <a:ext cx="365760" cy="365760"/>
          </a:xfrm>
          <a:prstGeom prst="rect">
            <a:avLst/>
          </a:prstGeom>
        </p:spPr>
      </p:pic>
      <p:sp>
        <p:nvSpPr>
          <p:cNvPr id="40" name="Text 33"/>
          <p:cNvSpPr txBox="1"/>
          <p:nvPr/>
        </p:nvSpPr>
        <p:spPr>
          <a:xfrm>
            <a:off x="5687568" y="2240280"/>
            <a:ext cx="1536192" cy="777240"/>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Cloud Run API</a:t>
            </a:r>
            <a:endParaRPr lang="en-US" sz="1050" dirty="0"/>
          </a:p>
          <a:p>
            <a:pPr algn="l" indent="0" marL="0">
              <a:buNone/>
            </a:pPr>
            <a:r>
              <a:rPr lang="en-US" sz="900" dirty="0">
                <a:solidFill>
                  <a:srgbClr val="6B7280"/>
                </a:solidFill>
                <a:latin typeface="Meiryo UI" pitchFamily="34" charset="0"/>
                <a:ea typeface="Meiryo UI" pitchFamily="34" charset="-122"/>
                <a:cs typeface="Meiryo UI" pitchFamily="34" charset="-120"/>
              </a:rPr>
              <a:t>カスタムコネクタ経由</a:t>
            </a:r>
            <a:endParaRPr lang="en-US" sz="1050" dirty="0"/>
          </a:p>
        </p:txBody>
      </p:sp>
      <p:sp>
        <p:nvSpPr>
          <p:cNvPr id="41" name="Shape 34"/>
          <p:cNvSpPr/>
          <p:nvPr/>
        </p:nvSpPr>
        <p:spPr>
          <a:xfrm>
            <a:off x="6190488" y="3063240"/>
            <a:ext cx="0" cy="365760"/>
          </a:xfrm>
          <a:prstGeom prst="line">
            <a:avLst/>
          </a:prstGeom>
          <a:noFill/>
          <a:ln w="22225">
            <a:solidFill>
              <a:srgbClr val="9AA5B4"/>
            </a:solidFill>
            <a:prstDash val="solid"/>
            <a:headEnd type="triangle"/>
            <a:tailEnd type="triangle"/>
          </a:ln>
        </p:spPr>
      </p:sp>
      <p:sp>
        <p:nvSpPr>
          <p:cNvPr id="42" name="Shape 35"/>
          <p:cNvSpPr/>
          <p:nvPr/>
        </p:nvSpPr>
        <p:spPr>
          <a:xfrm>
            <a:off x="5120640" y="3474720"/>
            <a:ext cx="2148840" cy="685800"/>
          </a:xfrm>
          <a:prstGeom prst="roundRect">
            <a:avLst>
              <a:gd name="adj" fmla="val 10667"/>
            </a:avLst>
          </a:prstGeom>
          <a:solidFill>
            <a:srgbClr val="E3EAF5"/>
          </a:solidFill>
          <a:ln/>
        </p:spPr>
      </p:sp>
      <p:pic>
        <p:nvPicPr>
          <p:cNvPr id="43" name="Image 5" descr="preencoded.png">    </p:cNvPr>
          <p:cNvPicPr>
            <a:picLocks noChangeAspect="1"/>
          </p:cNvPicPr>
          <p:nvPr/>
        </p:nvPicPr>
        <p:blipFill>
          <a:blip r:embed="rId6"/>
          <a:stretch>
            <a:fillRect/>
          </a:stretch>
        </p:blipFill>
        <p:spPr>
          <a:xfrm>
            <a:off x="5230368" y="3634740"/>
            <a:ext cx="365760" cy="365760"/>
          </a:xfrm>
          <a:prstGeom prst="rect">
            <a:avLst/>
          </a:prstGeom>
        </p:spPr>
      </p:pic>
      <p:sp>
        <p:nvSpPr>
          <p:cNvPr id="44" name="Text 36"/>
          <p:cNvSpPr txBox="1"/>
          <p:nvPr/>
        </p:nvSpPr>
        <p:spPr>
          <a:xfrm>
            <a:off x="5687568" y="3474720"/>
            <a:ext cx="1536192" cy="685800"/>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BigQuery</a:t>
            </a:r>
            <a:endParaRPr lang="en-US" sz="1050" dirty="0"/>
          </a:p>
          <a:p>
            <a:pPr algn="l" indent="0" marL="0">
              <a:buNone/>
            </a:pPr>
            <a:r>
              <a:rPr lang="en-US" sz="900" dirty="0">
                <a:solidFill>
                  <a:srgbClr val="6B7280"/>
                </a:solidFill>
                <a:latin typeface="Meiryo UI" pitchFamily="34" charset="0"/>
                <a:ea typeface="Meiryo UI" pitchFamily="34" charset="-122"/>
                <a:cs typeface="Meiryo UI" pitchFamily="34" charset="-120"/>
              </a:rPr>
              <a:t>直接クエリ・スコア</a:t>
            </a:r>
            <a:endParaRPr lang="en-US" sz="1050" dirty="0"/>
          </a:p>
        </p:txBody>
      </p:sp>
      <p:sp>
        <p:nvSpPr>
          <p:cNvPr id="45" name="Shape 37"/>
          <p:cNvSpPr/>
          <p:nvPr/>
        </p:nvSpPr>
        <p:spPr>
          <a:xfrm>
            <a:off x="7680960" y="1874520"/>
            <a:ext cx="3931920" cy="2514600"/>
          </a:xfrm>
          <a:prstGeom prst="roundRect">
            <a:avLst>
              <a:gd name="adj" fmla="val 2182"/>
            </a:avLst>
          </a:prstGeom>
          <a:solidFill>
            <a:srgbClr val="E3EAF5"/>
          </a:solidFill>
          <a:ln/>
        </p:spPr>
      </p:sp>
      <p:sp>
        <p:nvSpPr>
          <p:cNvPr id="46" name="Shape 38"/>
          <p:cNvSpPr/>
          <p:nvPr/>
        </p:nvSpPr>
        <p:spPr>
          <a:xfrm>
            <a:off x="7818120" y="1993392"/>
            <a:ext cx="384048" cy="384048"/>
          </a:xfrm>
          <a:prstGeom prst="ellipse">
            <a:avLst/>
          </a:prstGeom>
          <a:solidFill>
            <a:srgbClr val="FFFFFF"/>
          </a:solidFill>
          <a:ln/>
        </p:spPr>
      </p:sp>
      <p:pic>
        <p:nvPicPr>
          <p:cNvPr id="47" name="Image 6" descr="preencoded.png">    </p:cNvPr>
          <p:cNvPicPr>
            <a:picLocks noChangeAspect="1"/>
          </p:cNvPicPr>
          <p:nvPr/>
        </p:nvPicPr>
        <p:blipFill>
          <a:blip r:embed="rId7"/>
          <a:stretch>
            <a:fillRect/>
          </a:stretch>
        </p:blipFill>
        <p:spPr>
          <a:xfrm>
            <a:off x="7894930" y="2070202"/>
            <a:ext cx="230429" cy="230429"/>
          </a:xfrm>
          <a:prstGeom prst="rect">
            <a:avLst/>
          </a:prstGeom>
        </p:spPr>
      </p:pic>
      <p:sp>
        <p:nvSpPr>
          <p:cNvPr id="48" name="Text 39"/>
          <p:cNvSpPr txBox="1"/>
          <p:nvPr/>
        </p:nvSpPr>
        <p:spPr>
          <a:xfrm>
            <a:off x="8275320" y="1993392"/>
            <a:ext cx="3246120" cy="384048"/>
          </a:xfrm>
          <a:prstGeom prst="rect">
            <a:avLst/>
          </a:prstGeom>
          <a:noFill/>
          <a:ln/>
        </p:spPr>
        <p:txBody>
          <a:bodyPr wrap="square" lIns="0" tIns="0" rIns="0" bIns="0"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必要な機能・準備</a:t>
            </a:r>
            <a:endParaRPr lang="en-US" sz="1300" dirty="0"/>
          </a:p>
        </p:txBody>
      </p:sp>
      <p:sp>
        <p:nvSpPr>
          <p:cNvPr id="49" name="Text 40"/>
          <p:cNvSpPr txBox="1"/>
          <p:nvPr/>
        </p:nvSpPr>
        <p:spPr>
          <a:xfrm>
            <a:off x="7863840" y="2478024"/>
            <a:ext cx="3611880" cy="1819656"/>
          </a:xfrm>
          <a:prstGeom prst="rect">
            <a:avLst/>
          </a:prstGeom>
          <a:noFill/>
          <a:ln/>
        </p:spPr>
        <p:txBody>
          <a:bodyPr wrap="square" lIns="254" tIns="254" rIns="254" bIns="254" rtlCol="0" anchor="t"/>
          <a:lstStyle/>
          <a:p>
            <a:pPr marL="152400" indent="-152400">
              <a:spcAft>
                <a:spcPts val="300"/>
              </a:spcAft>
              <a:buSzPct val="100000"/>
              <a:buChar char="•"/>
            </a:pPr>
            <a:r>
              <a:rPr lang="en-US" sz="1100" dirty="0">
                <a:solidFill>
                  <a:srgbClr val="2B2B2B"/>
                </a:solidFill>
                <a:latin typeface="Meiryo UI" pitchFamily="34" charset="0"/>
                <a:ea typeface="Meiryo UI" pitchFamily="34" charset="-122"/>
                <a:cs typeface="Meiryo UI" pitchFamily="34" charset="-120"/>
              </a:rPr>
              <a:t>Copilot Studio（エージェント）</a:t>
            </a:r>
            <a:endParaRPr lang="en-US" sz="1100" dirty="0"/>
          </a:p>
          <a:p>
            <a:pPr marL="152400" indent="-152400">
              <a:spcAft>
                <a:spcPts val="300"/>
              </a:spcAft>
              <a:buSzPct val="100000"/>
              <a:buChar char="•"/>
            </a:pPr>
            <a:r>
              <a:rPr lang="en-US" sz="1100" dirty="0">
                <a:solidFill>
                  <a:srgbClr val="2B2B2B"/>
                </a:solidFill>
                <a:latin typeface="Meiryo UI" pitchFamily="34" charset="0"/>
                <a:ea typeface="Meiryo UI" pitchFamily="34" charset="-122"/>
                <a:cs typeface="Meiryo UI" pitchFamily="34" charset="-120"/>
              </a:rPr>
              <a:t>Power Platformのカスタムコネクタ</a:t>
            </a:r>
            <a:endParaRPr lang="en-US" sz="1100" dirty="0"/>
          </a:p>
          <a:p>
            <a:pPr marL="152400" indent="-152400">
              <a:spcAft>
                <a:spcPts val="300"/>
              </a:spcAft>
              <a:buSzPct val="100000"/>
              <a:buChar char="•"/>
            </a:pPr>
            <a:r>
              <a:rPr lang="en-US" sz="1100" dirty="0">
                <a:solidFill>
                  <a:srgbClr val="2B2B2B"/>
                </a:solidFill>
                <a:latin typeface="Meiryo UI" pitchFamily="34" charset="0"/>
                <a:ea typeface="Meiryo UI" pitchFamily="34" charset="-122"/>
                <a:cs typeface="Meiryo UI" pitchFamily="34" charset="-120"/>
              </a:rPr>
              <a:t>Cloud Run上のAPI（Python・BQクエリ）</a:t>
            </a:r>
            <a:endParaRPr lang="en-US" sz="1100" dirty="0"/>
          </a:p>
          <a:p>
            <a:pPr marL="152400" indent="-152400">
              <a:spcAft>
                <a:spcPts val="300"/>
              </a:spcAft>
              <a:buSzPct val="100000"/>
              <a:buChar char="•"/>
            </a:pPr>
            <a:r>
              <a:rPr lang="en-US" sz="1100" dirty="0">
                <a:solidFill>
                  <a:srgbClr val="2B2B2B"/>
                </a:solidFill>
                <a:latin typeface="Meiryo UI" pitchFamily="34" charset="0"/>
                <a:ea typeface="Meiryo UI" pitchFamily="34" charset="-122"/>
                <a:cs typeface="Meiryo UI" pitchFamily="34" charset="-120"/>
              </a:rPr>
              <a:t>API認証（Entra ID連携など）</a:t>
            </a:r>
            <a:endParaRPr lang="en-US" sz="1100" dirty="0"/>
          </a:p>
          <a:p>
            <a:pPr marL="152400" indent="-152400">
              <a:spcAft>
                <a:spcPts val="300"/>
              </a:spcAft>
              <a:buSzPct val="100000"/>
              <a:buChar char="•"/>
            </a:pPr>
            <a:r>
              <a:rPr lang="en-US" sz="1100" dirty="0">
                <a:solidFill>
                  <a:srgbClr val="2B2B2B"/>
                </a:solidFill>
                <a:latin typeface="Meiryo UI" pitchFamily="34" charset="0"/>
                <a:ea typeface="Meiryo UI" pitchFamily="34" charset="-122"/>
                <a:cs typeface="Meiryo UI" pitchFamily="34" charset="-120"/>
              </a:rPr>
              <a:t>自動起案する場合はPower Automateから同じAPIを利用</a:t>
            </a:r>
            <a:endParaRPr lang="en-US" sz="1100" dirty="0"/>
          </a:p>
        </p:txBody>
      </p:sp>
      <p:sp>
        <p:nvSpPr>
          <p:cNvPr id="50" name="Shape 41"/>
          <p:cNvSpPr/>
          <p:nvPr/>
        </p:nvSpPr>
        <p:spPr>
          <a:xfrm>
            <a:off x="548640" y="4572000"/>
            <a:ext cx="3566160" cy="1783080"/>
          </a:xfrm>
          <a:prstGeom prst="roundRect">
            <a:avLst>
              <a:gd name="adj" fmla="val 3077"/>
            </a:avLst>
          </a:prstGeom>
          <a:solidFill>
            <a:srgbClr val="D9F2F1"/>
          </a:solidFill>
          <a:ln/>
        </p:spPr>
      </p:sp>
      <p:sp>
        <p:nvSpPr>
          <p:cNvPr id="51" name="Shape 42"/>
          <p:cNvSpPr/>
          <p:nvPr/>
        </p:nvSpPr>
        <p:spPr>
          <a:xfrm>
            <a:off x="685800" y="4690872"/>
            <a:ext cx="384048" cy="384048"/>
          </a:xfrm>
          <a:prstGeom prst="ellipse">
            <a:avLst/>
          </a:prstGeom>
          <a:solidFill>
            <a:srgbClr val="FFFFFF"/>
          </a:solidFill>
          <a:ln/>
        </p:spPr>
      </p:sp>
      <p:pic>
        <p:nvPicPr>
          <p:cNvPr id="52" name="Image 7" descr="preencoded.png">    </p:cNvPr>
          <p:cNvPicPr>
            <a:picLocks noChangeAspect="1"/>
          </p:cNvPicPr>
          <p:nvPr/>
        </p:nvPicPr>
        <p:blipFill>
          <a:blip r:embed="rId8"/>
          <a:stretch>
            <a:fillRect/>
          </a:stretch>
        </p:blipFill>
        <p:spPr>
          <a:xfrm>
            <a:off x="762610" y="4767682"/>
            <a:ext cx="230429" cy="230429"/>
          </a:xfrm>
          <a:prstGeom prst="rect">
            <a:avLst/>
          </a:prstGeom>
        </p:spPr>
      </p:pic>
      <p:sp>
        <p:nvSpPr>
          <p:cNvPr id="53" name="Text 43"/>
          <p:cNvSpPr txBox="1"/>
          <p:nvPr/>
        </p:nvSpPr>
        <p:spPr>
          <a:xfrm>
            <a:off x="1143000" y="4690872"/>
            <a:ext cx="2880360" cy="384048"/>
          </a:xfrm>
          <a:prstGeom prst="rect">
            <a:avLst/>
          </a:prstGeom>
          <a:noFill/>
          <a:ln/>
        </p:spPr>
        <p:txBody>
          <a:bodyPr wrap="square" lIns="0" tIns="0" rIns="0" bIns="0"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特徴</a:t>
            </a:r>
            <a:endParaRPr lang="en-US" sz="1300" dirty="0"/>
          </a:p>
        </p:txBody>
      </p:sp>
      <p:sp>
        <p:nvSpPr>
          <p:cNvPr id="54" name="Text 44"/>
          <p:cNvSpPr txBox="1"/>
          <p:nvPr/>
        </p:nvSpPr>
        <p:spPr>
          <a:xfrm>
            <a:off x="731520" y="5175504"/>
            <a:ext cx="3246120" cy="1088136"/>
          </a:xfrm>
          <a:prstGeom prst="rect">
            <a:avLst/>
          </a:prstGeom>
          <a:noFill/>
          <a:ln/>
        </p:spPr>
        <p:txBody>
          <a:bodyPr wrap="square" lIns="254" tIns="254" rIns="254" bIns="254" rtlCol="0" anchor="t"/>
          <a:lstStyle/>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社内資料をGCPに複製しなくてよい</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対話中の想定外の数値の問いにもBigQueryで答えられる</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利用画面はTeamsのまま</a:t>
            </a:r>
            <a:endParaRPr lang="en-US" sz="1150" dirty="0"/>
          </a:p>
        </p:txBody>
      </p:sp>
      <p:sp>
        <p:nvSpPr>
          <p:cNvPr id="55" name="Shape 45"/>
          <p:cNvSpPr/>
          <p:nvPr/>
        </p:nvSpPr>
        <p:spPr>
          <a:xfrm>
            <a:off x="4297680" y="4572000"/>
            <a:ext cx="3566160" cy="1783080"/>
          </a:xfrm>
          <a:prstGeom prst="roundRect">
            <a:avLst>
              <a:gd name="adj" fmla="val 3077"/>
            </a:avLst>
          </a:prstGeom>
          <a:solidFill>
            <a:srgbClr val="FBE3E3"/>
          </a:solidFill>
          <a:ln/>
        </p:spPr>
      </p:sp>
      <p:sp>
        <p:nvSpPr>
          <p:cNvPr id="56" name="Shape 46"/>
          <p:cNvSpPr/>
          <p:nvPr/>
        </p:nvSpPr>
        <p:spPr>
          <a:xfrm>
            <a:off x="4434840" y="4690872"/>
            <a:ext cx="384048" cy="384048"/>
          </a:xfrm>
          <a:prstGeom prst="ellipse">
            <a:avLst/>
          </a:prstGeom>
          <a:solidFill>
            <a:srgbClr val="FFFFFF"/>
          </a:solidFill>
          <a:ln/>
        </p:spPr>
      </p:sp>
      <p:pic>
        <p:nvPicPr>
          <p:cNvPr id="57" name="Image 8" descr="preencoded.png">    </p:cNvPr>
          <p:cNvPicPr>
            <a:picLocks noChangeAspect="1"/>
          </p:cNvPicPr>
          <p:nvPr/>
        </p:nvPicPr>
        <p:blipFill>
          <a:blip r:embed="rId9"/>
          <a:stretch>
            <a:fillRect/>
          </a:stretch>
        </p:blipFill>
        <p:spPr>
          <a:xfrm>
            <a:off x="4511650" y="4767682"/>
            <a:ext cx="230429" cy="230429"/>
          </a:xfrm>
          <a:prstGeom prst="rect">
            <a:avLst/>
          </a:prstGeom>
        </p:spPr>
      </p:pic>
      <p:sp>
        <p:nvSpPr>
          <p:cNvPr id="58" name="Text 47"/>
          <p:cNvSpPr txBox="1"/>
          <p:nvPr/>
        </p:nvSpPr>
        <p:spPr>
          <a:xfrm>
            <a:off x="4892040" y="4690872"/>
            <a:ext cx="2880360" cy="384048"/>
          </a:xfrm>
          <a:prstGeom prst="rect">
            <a:avLst/>
          </a:prstGeom>
          <a:noFill/>
          <a:ln/>
        </p:spPr>
        <p:txBody>
          <a:bodyPr wrap="square" lIns="0" tIns="0" rIns="0" bIns="0"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留意点・制約</a:t>
            </a:r>
            <a:endParaRPr lang="en-US" sz="1300" dirty="0"/>
          </a:p>
        </p:txBody>
      </p:sp>
      <p:sp>
        <p:nvSpPr>
          <p:cNvPr id="59" name="Text 48"/>
          <p:cNvSpPr txBox="1"/>
          <p:nvPr/>
        </p:nvSpPr>
        <p:spPr>
          <a:xfrm>
            <a:off x="4480560" y="5175504"/>
            <a:ext cx="3246120" cy="1088136"/>
          </a:xfrm>
          <a:prstGeom prst="rect">
            <a:avLst/>
          </a:prstGeom>
          <a:noFill/>
          <a:ln/>
        </p:spPr>
        <p:txBody>
          <a:bodyPr wrap="square" lIns="254" tIns="254" rIns="254" bIns="254" rtlCol="0" anchor="t"/>
          <a:lstStyle/>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2つの環境にまたがる設計・運用</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API開発と保守が必要</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認証・ネットワークの設計が必要</a:t>
            </a:r>
            <a:endParaRPr lang="en-US" sz="1150" dirty="0"/>
          </a:p>
        </p:txBody>
      </p:sp>
      <p:sp>
        <p:nvSpPr>
          <p:cNvPr id="60" name="Shape 49"/>
          <p:cNvSpPr/>
          <p:nvPr/>
        </p:nvSpPr>
        <p:spPr>
          <a:xfrm>
            <a:off x="8046720" y="4572000"/>
            <a:ext cx="3566160" cy="1783080"/>
          </a:xfrm>
          <a:prstGeom prst="roundRect">
            <a:avLst>
              <a:gd name="adj" fmla="val 3077"/>
            </a:avLst>
          </a:prstGeom>
          <a:solidFill>
            <a:srgbClr val="FDEBD3"/>
          </a:solidFill>
          <a:ln/>
        </p:spPr>
      </p:sp>
      <p:sp>
        <p:nvSpPr>
          <p:cNvPr id="61" name="Shape 50"/>
          <p:cNvSpPr/>
          <p:nvPr/>
        </p:nvSpPr>
        <p:spPr>
          <a:xfrm>
            <a:off x="8183880" y="4690872"/>
            <a:ext cx="384048" cy="384048"/>
          </a:xfrm>
          <a:prstGeom prst="ellipse">
            <a:avLst/>
          </a:prstGeom>
          <a:solidFill>
            <a:srgbClr val="FFFFFF"/>
          </a:solidFill>
          <a:ln/>
        </p:spPr>
      </p:sp>
      <p:pic>
        <p:nvPicPr>
          <p:cNvPr id="62" name="Image 9" descr="preencoded.png">    </p:cNvPr>
          <p:cNvPicPr>
            <a:picLocks noChangeAspect="1"/>
          </p:cNvPicPr>
          <p:nvPr/>
        </p:nvPicPr>
        <p:blipFill>
          <a:blip r:embed="rId10"/>
          <a:stretch>
            <a:fillRect/>
          </a:stretch>
        </p:blipFill>
        <p:spPr>
          <a:xfrm>
            <a:off x="8260690" y="4767682"/>
            <a:ext cx="230429" cy="230429"/>
          </a:xfrm>
          <a:prstGeom prst="rect">
            <a:avLst/>
          </a:prstGeom>
        </p:spPr>
      </p:pic>
      <p:sp>
        <p:nvSpPr>
          <p:cNvPr id="63" name="Text 51"/>
          <p:cNvSpPr txBox="1"/>
          <p:nvPr/>
        </p:nvSpPr>
        <p:spPr>
          <a:xfrm>
            <a:off x="8641080" y="4690872"/>
            <a:ext cx="2880360" cy="384048"/>
          </a:xfrm>
          <a:prstGeom prst="rect">
            <a:avLst/>
          </a:prstGeom>
          <a:noFill/>
          <a:ln/>
        </p:spPr>
        <p:txBody>
          <a:bodyPr wrap="square" lIns="0" tIns="0" rIns="0" bIns="0"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検討ポイント</a:t>
            </a:r>
            <a:endParaRPr lang="en-US" sz="1300" dirty="0"/>
          </a:p>
        </p:txBody>
      </p:sp>
      <p:sp>
        <p:nvSpPr>
          <p:cNvPr id="64" name="Text 52"/>
          <p:cNvSpPr txBox="1"/>
          <p:nvPr/>
        </p:nvSpPr>
        <p:spPr>
          <a:xfrm>
            <a:off x="8229600" y="5175504"/>
            <a:ext cx="3246120" cy="1088136"/>
          </a:xfrm>
          <a:prstGeom prst="rect">
            <a:avLst/>
          </a:prstGeom>
          <a:noFill/>
          <a:ln/>
        </p:spPr>
        <p:txBody>
          <a:bodyPr wrap="square" lIns="254" tIns="254" rIns="254" bIns="254" rtlCol="0" anchor="t"/>
          <a:lstStyle/>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業務部門とIT部門の役割分担</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APIで返すデータの範囲・粒度</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障害時の原因の切り分け</a:t>
            </a:r>
            <a:endParaRPr lang="en-US" sz="1150" dirty="0"/>
          </a:p>
        </p:txBody>
      </p:sp>
      <p:sp>
        <p:nvSpPr>
          <p:cNvPr id="65" name="Text 53"/>
          <p:cNvSpPr txBox="1"/>
          <p:nvPr/>
        </p:nvSpPr>
        <p:spPr>
          <a:xfrm>
            <a:off x="548640" y="6400800"/>
            <a:ext cx="10515600" cy="228600"/>
          </a:xfrm>
          <a:prstGeom prst="rect">
            <a:avLst/>
          </a:prstGeom>
          <a:noFill/>
          <a:ln/>
        </p:spPr>
        <p:txBody>
          <a:bodyPr wrap="square" lIns="0" tIns="0" rIns="0" bIns="0" rtlCol="0" anchor="t"/>
          <a:lstStyle/>
          <a:p>
            <a:pPr indent="0" marL="0">
              <a:buNone/>
            </a:pPr>
            <a:r>
              <a:rPr lang="en-US" sz="800" dirty="0">
                <a:solidFill>
                  <a:srgbClr val="6B7280"/>
                </a:solidFill>
                <a:latin typeface="Meiryo UI" pitchFamily="34" charset="0"/>
                <a:ea typeface="Meiryo UI" pitchFamily="34" charset="-122"/>
                <a:cs typeface="Meiryo UI" pitchFamily="34" charset="-120"/>
              </a:rPr>
              <a:t>難易度（★）：開発量・必要なスキル・関係する部署やシステムの数から見た相対的な目安。期間：社内で内製し、PoC後に単独で構築した場合の概算</a:t>
            </a:r>
            <a:endParaRPr lang="en-US" sz="8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548640"/>
          </a:xfrm>
          <a:prstGeom prst="rect">
            <a:avLst/>
          </a:prstGeom>
          <a:noFill/>
          <a:ln/>
        </p:spPr>
        <p:txBody>
          <a:bodyPr wrap="square" lIns="0" tIns="0" rIns="0" bIns="0" rtlCol="0" anchor="ctr"/>
          <a:lstStyle/>
          <a:p>
            <a:pPr indent="0" marL="0">
              <a:buNone/>
            </a:pPr>
            <a:r>
              <a:rPr lang="en-US" sz="2600" b="1" dirty="0">
                <a:solidFill>
                  <a:srgbClr val="1B2A49"/>
                </a:solidFill>
                <a:latin typeface="Meiryo UI" pitchFamily="34" charset="0"/>
                <a:ea typeface="Meiryo UI" pitchFamily="34" charset="-122"/>
                <a:cs typeface="Meiryo UI" pitchFamily="34" charset="-120"/>
              </a:rPr>
              <a:t>B1｜Gemini Enterpriseエージェント</a:t>
            </a:r>
            <a:endParaRPr lang="en-US" sz="2600" dirty="0"/>
          </a:p>
        </p:txBody>
      </p:sp>
      <p:sp>
        <p:nvSpPr>
          <p:cNvPr id="3" name="Text 1"/>
          <p:cNvSpPr txBox="1"/>
          <p:nvPr/>
        </p:nvSpPr>
        <p:spPr>
          <a:xfrm>
            <a:off x="548640" y="896112"/>
            <a:ext cx="11064240" cy="365760"/>
          </a:xfrm>
          <a:prstGeom prst="rect">
            <a:avLst/>
          </a:prstGeom>
          <a:noFill/>
          <a:ln/>
        </p:spPr>
        <p:txBody>
          <a:bodyPr wrap="square" lIns="0" tIns="0" rIns="0" bIns="0" rtlCol="0" anchor="ctr"/>
          <a:lstStyle/>
          <a:p>
            <a:pPr indent="0" marL="0">
              <a:buNone/>
            </a:pPr>
            <a:r>
              <a:rPr lang="en-US" sz="1400" dirty="0">
                <a:solidFill>
                  <a:srgbClr val="6B7280"/>
                </a:solidFill>
                <a:latin typeface="Meiryo UI" pitchFamily="34" charset="0"/>
                <a:ea typeface="Meiryo UI" pitchFamily="34" charset="-122"/>
                <a:cs typeface="Meiryo UI" pitchFamily="34" charset="-120"/>
              </a:rPr>
              <a:t>Gemini Enterpriseのアプリで、社内資料の検索とBigQueryのデータ分析を1つの画面にまとめる</a:t>
            </a:r>
            <a:endParaRPr lang="en-US" sz="1400" dirty="0"/>
          </a:p>
        </p:txBody>
      </p:sp>
      <p:sp>
        <p:nvSpPr>
          <p:cNvPr id="4" name="Text 2"/>
          <p:cNvSpPr txBox="1"/>
          <p:nvPr/>
        </p:nvSpPr>
        <p:spPr>
          <a:xfrm>
            <a:off x="7498080" y="91440"/>
            <a:ext cx="4114800" cy="22860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4. 各パターンの詳細</a:t>
            </a:r>
            <a:endParaRPr lang="en-US" sz="900" dirty="0"/>
          </a:p>
        </p:txBody>
      </p:sp>
      <p:sp>
        <p:nvSpPr>
          <p:cNvPr id="5" name="Text 3"/>
          <p:cNvSpPr txBox="1"/>
          <p:nvPr/>
        </p:nvSpPr>
        <p:spPr>
          <a:xfrm>
            <a:off x="11247120" y="6446520"/>
            <a:ext cx="457200" cy="27432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29</a:t>
            </a:r>
            <a:endParaRPr lang="en-US" sz="900" dirty="0"/>
          </a:p>
        </p:txBody>
      </p:sp>
      <p:sp>
        <p:nvSpPr>
          <p:cNvPr id="6" name="Shape 4"/>
          <p:cNvSpPr/>
          <p:nvPr/>
        </p:nvSpPr>
        <p:spPr>
          <a:xfrm>
            <a:off x="548640" y="1371600"/>
            <a:ext cx="2103120" cy="347472"/>
          </a:xfrm>
          <a:prstGeom prst="roundRect">
            <a:avLst>
              <a:gd name="adj" fmla="val 50000"/>
            </a:avLst>
          </a:prstGeom>
          <a:solidFill>
            <a:srgbClr val="E8F0FE"/>
          </a:solidFill>
          <a:ln/>
        </p:spPr>
      </p:sp>
      <p:sp>
        <p:nvSpPr>
          <p:cNvPr id="7" name="Text 5"/>
          <p:cNvSpPr txBox="1"/>
          <p:nvPr/>
        </p:nvSpPr>
        <p:spPr>
          <a:xfrm>
            <a:off x="548640" y="1371600"/>
            <a:ext cx="2103120" cy="347472"/>
          </a:xfrm>
          <a:prstGeom prst="rect">
            <a:avLst/>
          </a:prstGeom>
          <a:noFill/>
          <a:ln/>
        </p:spPr>
        <p:txBody>
          <a:bodyPr wrap="square" lIns="0" tIns="0" rIns="0" bIns="0" rtlCol="0" anchor="ctr"/>
          <a:lstStyle/>
          <a:p>
            <a:pPr algn="ctr" indent="0" marL="0">
              <a:buNone/>
            </a:pPr>
            <a:r>
              <a:rPr lang="en-US" sz="950" dirty="0">
                <a:solidFill>
                  <a:srgbClr val="4285F4"/>
                </a:solidFill>
                <a:latin typeface="Meiryo UI" pitchFamily="34" charset="0"/>
                <a:ea typeface="Meiryo UI" pitchFamily="34" charset="-122"/>
                <a:cs typeface="Meiryo UI" pitchFamily="34" charset="-120"/>
              </a:rPr>
              <a:t>集約先  </a:t>
            </a:r>
            <a:pPr algn="ctr" indent="0" marL="0">
              <a:buNone/>
            </a:pPr>
            <a:r>
              <a:rPr lang="en-US" sz="1100" b="1" dirty="0">
                <a:solidFill>
                  <a:srgbClr val="4285F4"/>
                </a:solidFill>
                <a:latin typeface="Meiryo UI" pitchFamily="34" charset="0"/>
                <a:ea typeface="Meiryo UI" pitchFamily="34" charset="-122"/>
                <a:cs typeface="Meiryo UI" pitchFamily="34" charset="-120"/>
              </a:rPr>
              <a:t>GCPに寄せる</a:t>
            </a:r>
            <a:endParaRPr lang="en-US" sz="950" dirty="0"/>
          </a:p>
        </p:txBody>
      </p:sp>
      <p:sp>
        <p:nvSpPr>
          <p:cNvPr id="8" name="Shape 6"/>
          <p:cNvSpPr/>
          <p:nvPr/>
        </p:nvSpPr>
        <p:spPr>
          <a:xfrm>
            <a:off x="2788920" y="1371600"/>
            <a:ext cx="2103120" cy="347472"/>
          </a:xfrm>
          <a:prstGeom prst="roundRect">
            <a:avLst>
              <a:gd name="adj" fmla="val 50000"/>
            </a:avLst>
          </a:prstGeom>
          <a:solidFill>
            <a:srgbClr val="F3F5F8"/>
          </a:solidFill>
          <a:ln/>
        </p:spPr>
      </p:sp>
      <p:sp>
        <p:nvSpPr>
          <p:cNvPr id="9" name="Text 7"/>
          <p:cNvSpPr txBox="1"/>
          <p:nvPr/>
        </p:nvSpPr>
        <p:spPr>
          <a:xfrm>
            <a:off x="2788920" y="1371600"/>
            <a:ext cx="2103120" cy="347472"/>
          </a:xfrm>
          <a:prstGeom prst="rect">
            <a:avLst/>
          </a:prstGeom>
          <a:noFill/>
          <a:ln/>
        </p:spPr>
        <p:txBody>
          <a:bodyPr wrap="square" lIns="0" tIns="0" rIns="0" bIns="0" rtlCol="0" anchor="ctr"/>
          <a:lstStyle/>
          <a:p>
            <a:pPr algn="ctr" indent="0" marL="0">
              <a:buNone/>
            </a:pPr>
            <a:r>
              <a:rPr lang="en-US" sz="950" dirty="0">
                <a:solidFill>
                  <a:srgbClr val="1B2A49"/>
                </a:solidFill>
                <a:latin typeface="Meiryo UI" pitchFamily="34" charset="0"/>
                <a:ea typeface="Meiryo UI" pitchFamily="34" charset="-122"/>
                <a:cs typeface="Meiryo UI" pitchFamily="34" charset="-120"/>
              </a:rPr>
              <a:t>管理基盤  </a:t>
            </a:r>
            <a:pPr algn="ctr" indent="0" marL="0">
              <a:buNone/>
            </a:pPr>
            <a:r>
              <a:rPr lang="en-US" sz="1100" b="1" dirty="0">
                <a:solidFill>
                  <a:srgbClr val="1B2A49"/>
                </a:solidFill>
                <a:latin typeface="Meiryo UI" pitchFamily="34" charset="0"/>
                <a:ea typeface="Meiryo UI" pitchFamily="34" charset="-122"/>
                <a:cs typeface="Meiryo UI" pitchFamily="34" charset="-120"/>
              </a:rPr>
              <a:t>Airtable／Lists</a:t>
            </a:r>
            <a:endParaRPr lang="en-US" sz="950" dirty="0"/>
          </a:p>
        </p:txBody>
      </p:sp>
      <p:sp>
        <p:nvSpPr>
          <p:cNvPr id="10" name="Shape 8"/>
          <p:cNvSpPr/>
          <p:nvPr/>
        </p:nvSpPr>
        <p:spPr>
          <a:xfrm>
            <a:off x="5029200" y="1371600"/>
            <a:ext cx="2103120" cy="347472"/>
          </a:xfrm>
          <a:prstGeom prst="roundRect">
            <a:avLst>
              <a:gd name="adj" fmla="val 50000"/>
            </a:avLst>
          </a:prstGeom>
          <a:solidFill>
            <a:srgbClr val="D9F2F1"/>
          </a:solidFill>
          <a:ln/>
        </p:spPr>
      </p:sp>
      <p:sp>
        <p:nvSpPr>
          <p:cNvPr id="11" name="Text 9"/>
          <p:cNvSpPr txBox="1"/>
          <p:nvPr/>
        </p:nvSpPr>
        <p:spPr>
          <a:xfrm>
            <a:off x="5029200" y="1371600"/>
            <a:ext cx="2103120" cy="347472"/>
          </a:xfrm>
          <a:prstGeom prst="rect">
            <a:avLst/>
          </a:prstGeom>
          <a:noFill/>
          <a:ln/>
        </p:spPr>
        <p:txBody>
          <a:bodyPr wrap="square" lIns="0" tIns="0" rIns="0" bIns="0" rtlCol="0" anchor="ctr"/>
          <a:lstStyle/>
          <a:p>
            <a:pPr algn="ctr" indent="0" marL="0">
              <a:buNone/>
            </a:pPr>
            <a:r>
              <a:rPr lang="en-US" sz="950" dirty="0">
                <a:solidFill>
                  <a:srgbClr val="0E9F9A"/>
                </a:solidFill>
                <a:latin typeface="Meiryo UI" pitchFamily="34" charset="0"/>
                <a:ea typeface="Meiryo UI" pitchFamily="34" charset="-122"/>
                <a:cs typeface="Meiryo UI" pitchFamily="34" charset="-120"/>
              </a:rPr>
              <a:t>自動化  </a:t>
            </a:r>
            <a:pPr algn="ctr" indent="0" marL="0">
              <a:buNone/>
            </a:pPr>
            <a:r>
              <a:rPr lang="en-US" sz="1100" b="1" dirty="0">
                <a:solidFill>
                  <a:srgbClr val="0E9F9A"/>
                </a:solidFill>
                <a:latin typeface="Meiryo UI" pitchFamily="34" charset="0"/>
                <a:ea typeface="Meiryo UI" pitchFamily="34" charset="-122"/>
                <a:cs typeface="Meiryo UI" pitchFamily="34" charset="-120"/>
              </a:rPr>
              <a:t>Step2</a:t>
            </a:r>
            <a:endParaRPr lang="en-US" sz="950" dirty="0"/>
          </a:p>
        </p:txBody>
      </p:sp>
      <p:sp>
        <p:nvSpPr>
          <p:cNvPr id="12" name="Shape 10"/>
          <p:cNvSpPr/>
          <p:nvPr/>
        </p:nvSpPr>
        <p:spPr>
          <a:xfrm>
            <a:off x="7269480" y="1371600"/>
            <a:ext cx="2103120" cy="347472"/>
          </a:xfrm>
          <a:prstGeom prst="roundRect">
            <a:avLst>
              <a:gd name="adj" fmla="val 50000"/>
            </a:avLst>
          </a:prstGeom>
          <a:solidFill>
            <a:srgbClr val="FDEBD3"/>
          </a:solidFill>
          <a:ln/>
        </p:spPr>
      </p:sp>
      <p:sp>
        <p:nvSpPr>
          <p:cNvPr id="13" name="Text 11"/>
          <p:cNvSpPr txBox="1"/>
          <p:nvPr/>
        </p:nvSpPr>
        <p:spPr>
          <a:xfrm>
            <a:off x="7269480" y="1371600"/>
            <a:ext cx="2103120" cy="347472"/>
          </a:xfrm>
          <a:prstGeom prst="rect">
            <a:avLst/>
          </a:prstGeom>
          <a:noFill/>
          <a:ln/>
        </p:spPr>
        <p:txBody>
          <a:bodyPr wrap="square" lIns="0" tIns="0" rIns="0" bIns="0" rtlCol="0" anchor="ctr"/>
          <a:lstStyle/>
          <a:p>
            <a:pPr algn="ctr" indent="0" marL="0">
              <a:buNone/>
            </a:pPr>
            <a:r>
              <a:rPr lang="en-US" sz="950" dirty="0">
                <a:solidFill>
                  <a:srgbClr val="E8912D"/>
                </a:solidFill>
                <a:latin typeface="Meiryo UI" pitchFamily="34" charset="0"/>
                <a:ea typeface="Meiryo UI" pitchFamily="34" charset="-122"/>
                <a:cs typeface="Meiryo UI" pitchFamily="34" charset="-120"/>
              </a:rPr>
              <a:t>難易度  </a:t>
            </a:r>
            <a:pPr algn="ctr" indent="0" marL="0">
              <a:buNone/>
            </a:pPr>
            <a:r>
              <a:rPr lang="en-US" sz="1100" b="1" dirty="0">
                <a:solidFill>
                  <a:srgbClr val="E8912D"/>
                </a:solidFill>
                <a:latin typeface="Meiryo UI" pitchFamily="34" charset="0"/>
                <a:ea typeface="Meiryo UI" pitchFamily="34" charset="-122"/>
                <a:cs typeface="Meiryo UI" pitchFamily="34" charset="-120"/>
              </a:rPr>
              <a:t>★★☆☆☆</a:t>
            </a:r>
            <a:endParaRPr lang="en-US" sz="950" dirty="0"/>
          </a:p>
        </p:txBody>
      </p:sp>
      <p:sp>
        <p:nvSpPr>
          <p:cNvPr id="14" name="Shape 12"/>
          <p:cNvSpPr/>
          <p:nvPr/>
        </p:nvSpPr>
        <p:spPr>
          <a:xfrm>
            <a:off x="9509760" y="1371600"/>
            <a:ext cx="2103120" cy="347472"/>
          </a:xfrm>
          <a:prstGeom prst="roundRect">
            <a:avLst>
              <a:gd name="adj" fmla="val 50000"/>
            </a:avLst>
          </a:prstGeom>
          <a:solidFill>
            <a:srgbClr val="F3F5F8"/>
          </a:solidFill>
          <a:ln/>
        </p:spPr>
      </p:sp>
      <p:sp>
        <p:nvSpPr>
          <p:cNvPr id="15" name="Text 13"/>
          <p:cNvSpPr txBox="1"/>
          <p:nvPr/>
        </p:nvSpPr>
        <p:spPr>
          <a:xfrm>
            <a:off x="9509760" y="1371600"/>
            <a:ext cx="2103120" cy="347472"/>
          </a:xfrm>
          <a:prstGeom prst="rect">
            <a:avLst/>
          </a:prstGeom>
          <a:noFill/>
          <a:ln/>
        </p:spPr>
        <p:txBody>
          <a:bodyPr wrap="square" lIns="0" tIns="0" rIns="0" bIns="0" rtlCol="0" anchor="ctr"/>
          <a:lstStyle/>
          <a:p>
            <a:pPr algn="ctr" indent="0" marL="0">
              <a:buNone/>
            </a:pPr>
            <a:r>
              <a:rPr lang="en-US" sz="950" dirty="0">
                <a:solidFill>
                  <a:srgbClr val="1B2A49"/>
                </a:solidFill>
                <a:latin typeface="Meiryo UI" pitchFamily="34" charset="0"/>
                <a:ea typeface="Meiryo UI" pitchFamily="34" charset="-122"/>
                <a:cs typeface="Meiryo UI" pitchFamily="34" charset="-120"/>
              </a:rPr>
              <a:t>期間目安  </a:t>
            </a:r>
            <a:pPr algn="ctr" indent="0" marL="0">
              <a:buNone/>
            </a:pPr>
            <a:r>
              <a:rPr lang="en-US" sz="1100" b="1" dirty="0">
                <a:solidFill>
                  <a:srgbClr val="1B2A49"/>
                </a:solidFill>
                <a:latin typeface="Meiryo UI" pitchFamily="34" charset="0"/>
                <a:ea typeface="Meiryo UI" pitchFamily="34" charset="-122"/>
                <a:cs typeface="Meiryo UI" pitchFamily="34" charset="-120"/>
              </a:rPr>
              <a:t>1〜3ヶ月</a:t>
            </a:r>
            <a:endParaRPr lang="en-US" sz="950" dirty="0"/>
          </a:p>
        </p:txBody>
      </p:sp>
      <p:sp>
        <p:nvSpPr>
          <p:cNvPr id="16" name="Shape 14"/>
          <p:cNvSpPr/>
          <p:nvPr/>
        </p:nvSpPr>
        <p:spPr>
          <a:xfrm>
            <a:off x="548640" y="1874520"/>
            <a:ext cx="6949440" cy="2514600"/>
          </a:xfrm>
          <a:prstGeom prst="roundRect">
            <a:avLst>
              <a:gd name="adj" fmla="val 1455"/>
            </a:avLst>
          </a:prstGeom>
          <a:solidFill>
            <a:srgbClr val="F3F5F8"/>
          </a:solidFill>
          <a:ln/>
        </p:spPr>
      </p:sp>
      <p:sp>
        <p:nvSpPr>
          <p:cNvPr id="17" name="Shape 15"/>
          <p:cNvSpPr/>
          <p:nvPr/>
        </p:nvSpPr>
        <p:spPr>
          <a:xfrm>
            <a:off x="731520" y="2103120"/>
            <a:ext cx="1920240" cy="731520"/>
          </a:xfrm>
          <a:prstGeom prst="roundRect">
            <a:avLst>
              <a:gd name="adj" fmla="val 10000"/>
            </a:avLst>
          </a:prstGeom>
          <a:solidFill>
            <a:srgbClr val="E3EAF5"/>
          </a:solidFill>
          <a:ln/>
        </p:spPr>
      </p:sp>
      <p:pic>
        <p:nvPicPr>
          <p:cNvPr id="18" name="Image 0" descr="preencoded.png">    </p:cNvPr>
          <p:cNvPicPr>
            <a:picLocks noChangeAspect="1"/>
          </p:cNvPicPr>
          <p:nvPr/>
        </p:nvPicPr>
        <p:blipFill>
          <a:blip r:embed="rId1"/>
          <a:stretch>
            <a:fillRect/>
          </a:stretch>
        </p:blipFill>
        <p:spPr>
          <a:xfrm>
            <a:off x="841248" y="2286000"/>
            <a:ext cx="365760" cy="365760"/>
          </a:xfrm>
          <a:prstGeom prst="rect">
            <a:avLst/>
          </a:prstGeom>
        </p:spPr>
      </p:pic>
      <p:sp>
        <p:nvSpPr>
          <p:cNvPr id="19" name="Text 16"/>
          <p:cNvSpPr txBox="1"/>
          <p:nvPr/>
        </p:nvSpPr>
        <p:spPr>
          <a:xfrm>
            <a:off x="1298448" y="2103120"/>
            <a:ext cx="1307592" cy="731520"/>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SharePoint</a:t>
            </a:r>
            <a:endParaRPr lang="en-US" sz="1050" dirty="0"/>
          </a:p>
          <a:p>
            <a:pPr algn="l" indent="0" marL="0">
              <a:buNone/>
            </a:pPr>
            <a:r>
              <a:rPr lang="en-US" sz="900" dirty="0">
                <a:solidFill>
                  <a:srgbClr val="6B7280"/>
                </a:solidFill>
                <a:latin typeface="Meiryo UI" pitchFamily="34" charset="0"/>
                <a:ea typeface="Meiryo UI" pitchFamily="34" charset="-122"/>
                <a:cs typeface="Meiryo UI" pitchFamily="34" charset="-120"/>
              </a:rPr>
              <a:t>コネクタ（フェデ／取込）</a:t>
            </a:r>
            <a:endParaRPr lang="en-US" sz="1050" dirty="0"/>
          </a:p>
        </p:txBody>
      </p:sp>
      <p:sp>
        <p:nvSpPr>
          <p:cNvPr id="20" name="Shape 17"/>
          <p:cNvSpPr/>
          <p:nvPr/>
        </p:nvSpPr>
        <p:spPr>
          <a:xfrm>
            <a:off x="731520" y="3291840"/>
            <a:ext cx="1920240" cy="731520"/>
          </a:xfrm>
          <a:prstGeom prst="roundRect">
            <a:avLst>
              <a:gd name="adj" fmla="val 10000"/>
            </a:avLst>
          </a:prstGeom>
          <a:solidFill>
            <a:srgbClr val="E3EAF5"/>
          </a:solidFill>
          <a:ln/>
        </p:spPr>
      </p:sp>
      <p:pic>
        <p:nvPicPr>
          <p:cNvPr id="21" name="Image 1" descr="preencoded.png">    </p:cNvPr>
          <p:cNvPicPr>
            <a:picLocks noChangeAspect="1"/>
          </p:cNvPicPr>
          <p:nvPr/>
        </p:nvPicPr>
        <p:blipFill>
          <a:blip r:embed="rId2"/>
          <a:stretch>
            <a:fillRect/>
          </a:stretch>
        </p:blipFill>
        <p:spPr>
          <a:xfrm>
            <a:off x="841248" y="3474720"/>
            <a:ext cx="365760" cy="365760"/>
          </a:xfrm>
          <a:prstGeom prst="rect">
            <a:avLst/>
          </a:prstGeom>
        </p:spPr>
      </p:pic>
      <p:sp>
        <p:nvSpPr>
          <p:cNvPr id="22" name="Text 18"/>
          <p:cNvSpPr txBox="1"/>
          <p:nvPr/>
        </p:nvSpPr>
        <p:spPr>
          <a:xfrm>
            <a:off x="1298448" y="3291840"/>
            <a:ext cx="1307592" cy="731520"/>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BigQuery</a:t>
            </a:r>
            <a:endParaRPr lang="en-US" sz="1050" dirty="0"/>
          </a:p>
          <a:p>
            <a:pPr algn="l" indent="0" marL="0">
              <a:buNone/>
            </a:pPr>
            <a:r>
              <a:rPr lang="en-US" sz="900" dirty="0">
                <a:solidFill>
                  <a:srgbClr val="6B7280"/>
                </a:solidFill>
                <a:latin typeface="Meiryo UI" pitchFamily="34" charset="0"/>
                <a:ea typeface="Meiryo UI" pitchFamily="34" charset="-122"/>
                <a:cs typeface="Meiryo UI" pitchFamily="34" charset="-120"/>
              </a:rPr>
              <a:t>データエージェント</a:t>
            </a:r>
            <a:endParaRPr lang="en-US" sz="1050" dirty="0"/>
          </a:p>
        </p:txBody>
      </p:sp>
      <p:sp>
        <p:nvSpPr>
          <p:cNvPr id="23" name="Shape 19"/>
          <p:cNvSpPr/>
          <p:nvPr/>
        </p:nvSpPr>
        <p:spPr>
          <a:xfrm>
            <a:off x="2697480" y="2468880"/>
            <a:ext cx="411480" cy="320040"/>
          </a:xfrm>
          <a:prstGeom prst="line">
            <a:avLst/>
          </a:prstGeom>
          <a:noFill/>
          <a:ln w="22225">
            <a:solidFill>
              <a:srgbClr val="9AA5B4"/>
            </a:solidFill>
            <a:prstDash val="solid"/>
            <a:tailEnd type="triangle"/>
          </a:ln>
        </p:spPr>
      </p:sp>
      <p:sp>
        <p:nvSpPr>
          <p:cNvPr id="24" name="Shape 20"/>
          <p:cNvSpPr/>
          <p:nvPr/>
        </p:nvSpPr>
        <p:spPr>
          <a:xfrm flipV="1">
            <a:off x="2697480" y="3291840"/>
            <a:ext cx="411480" cy="365760"/>
          </a:xfrm>
          <a:prstGeom prst="line">
            <a:avLst/>
          </a:prstGeom>
          <a:noFill/>
          <a:ln w="22225">
            <a:solidFill>
              <a:srgbClr val="9AA5B4"/>
            </a:solidFill>
            <a:prstDash val="solid"/>
            <a:tailEnd type="triangle"/>
          </a:ln>
        </p:spPr>
      </p:sp>
      <p:sp>
        <p:nvSpPr>
          <p:cNvPr id="25" name="Shape 21"/>
          <p:cNvSpPr/>
          <p:nvPr/>
        </p:nvSpPr>
        <p:spPr>
          <a:xfrm>
            <a:off x="3154680" y="2286000"/>
            <a:ext cx="1920240" cy="1554480"/>
          </a:xfrm>
          <a:prstGeom prst="roundRect">
            <a:avLst>
              <a:gd name="adj" fmla="val 4706"/>
            </a:avLst>
          </a:prstGeom>
          <a:solidFill>
            <a:srgbClr val="0E9F9A"/>
          </a:solidFill>
          <a:ln/>
        </p:spPr>
      </p:sp>
      <p:sp>
        <p:nvSpPr>
          <p:cNvPr id="26" name="Shape 22"/>
          <p:cNvSpPr/>
          <p:nvPr/>
        </p:nvSpPr>
        <p:spPr>
          <a:xfrm>
            <a:off x="3785616" y="2395728"/>
            <a:ext cx="658368" cy="658368"/>
          </a:xfrm>
          <a:prstGeom prst="ellipse">
            <a:avLst/>
          </a:prstGeom>
          <a:solidFill>
            <a:srgbClr val="FFFFFF"/>
          </a:solidFill>
          <a:ln/>
        </p:spPr>
      </p:sp>
      <p:pic>
        <p:nvPicPr>
          <p:cNvPr id="27" name="Image 2" descr="preencoded.png">    </p:cNvPr>
          <p:cNvPicPr>
            <a:picLocks noChangeAspect="1"/>
          </p:cNvPicPr>
          <p:nvPr/>
        </p:nvPicPr>
        <p:blipFill>
          <a:blip r:embed="rId3"/>
          <a:stretch>
            <a:fillRect/>
          </a:stretch>
        </p:blipFill>
        <p:spPr>
          <a:xfrm>
            <a:off x="3886200" y="2496312"/>
            <a:ext cx="457200" cy="457200"/>
          </a:xfrm>
          <a:prstGeom prst="rect">
            <a:avLst/>
          </a:prstGeom>
        </p:spPr>
      </p:pic>
      <p:sp>
        <p:nvSpPr>
          <p:cNvPr id="28" name="Text 23"/>
          <p:cNvSpPr txBox="1"/>
          <p:nvPr/>
        </p:nvSpPr>
        <p:spPr>
          <a:xfrm>
            <a:off x="3200400" y="3099816"/>
            <a:ext cx="1828800" cy="685800"/>
          </a:xfrm>
          <a:prstGeom prst="rect">
            <a:avLst/>
          </a:prstGeom>
          <a:noFill/>
          <a:ln/>
        </p:spPr>
        <p:txBody>
          <a:bodyPr wrap="square" lIns="0" tIns="0" rIns="0" bIns="0" rtlCol="0" anchor="ctr"/>
          <a:lstStyle/>
          <a:p>
            <a:pPr algn="ctr" indent="0" marL="0">
              <a:buNone/>
            </a:pPr>
            <a:r>
              <a:rPr lang="en-US" sz="1050" b="1" dirty="0">
                <a:solidFill>
                  <a:srgbClr val="FFFFFF"/>
                </a:solidFill>
                <a:latin typeface="Meiryo UI" pitchFamily="34" charset="0"/>
                <a:ea typeface="Meiryo UI" pitchFamily="34" charset="-122"/>
                <a:cs typeface="Meiryo UI" pitchFamily="34" charset="-120"/>
              </a:rPr>
              <a:t>Gemini Enterprise</a:t>
            </a:r>
            <a:endParaRPr lang="en-US" sz="1050" dirty="0"/>
          </a:p>
          <a:p>
            <a:pPr algn="ctr" indent="0" marL="0">
              <a:buNone/>
            </a:pPr>
            <a:r>
              <a:rPr lang="en-US" sz="900" dirty="0">
                <a:solidFill>
                  <a:srgbClr val="E6F2F2"/>
                </a:solidFill>
                <a:latin typeface="Meiryo UI" pitchFamily="34" charset="0"/>
                <a:ea typeface="Meiryo UI" pitchFamily="34" charset="-122"/>
                <a:cs typeface="Meiryo UI" pitchFamily="34" charset="-120"/>
              </a:rPr>
              <a:t>資料検索＋データ分析</a:t>
            </a:r>
            <a:endParaRPr lang="en-US" sz="1050" dirty="0"/>
          </a:p>
        </p:txBody>
      </p:sp>
      <p:sp>
        <p:nvSpPr>
          <p:cNvPr id="29" name="Shape 24"/>
          <p:cNvSpPr/>
          <p:nvPr/>
        </p:nvSpPr>
        <p:spPr>
          <a:xfrm>
            <a:off x="5120640" y="2514600"/>
            <a:ext cx="274320" cy="0"/>
          </a:xfrm>
          <a:prstGeom prst="line">
            <a:avLst/>
          </a:prstGeom>
          <a:noFill/>
          <a:ln w="22225">
            <a:solidFill>
              <a:srgbClr val="9AA5B4"/>
            </a:solidFill>
            <a:prstDash val="solid"/>
            <a:headEnd type="triangle"/>
            <a:tailEnd type="triangle"/>
          </a:ln>
        </p:spPr>
      </p:sp>
      <p:sp>
        <p:nvSpPr>
          <p:cNvPr id="30" name="Shape 25"/>
          <p:cNvSpPr/>
          <p:nvPr/>
        </p:nvSpPr>
        <p:spPr>
          <a:xfrm>
            <a:off x="5440680" y="2103120"/>
            <a:ext cx="1874520" cy="731520"/>
          </a:xfrm>
          <a:prstGeom prst="roundRect">
            <a:avLst>
              <a:gd name="adj" fmla="val 10000"/>
            </a:avLst>
          </a:prstGeom>
          <a:solidFill>
            <a:srgbClr val="FDEBD3"/>
          </a:solidFill>
          <a:ln/>
        </p:spPr>
      </p:sp>
      <p:pic>
        <p:nvPicPr>
          <p:cNvPr id="31" name="Image 3" descr="preencoded.png">    </p:cNvPr>
          <p:cNvPicPr>
            <a:picLocks noChangeAspect="1"/>
          </p:cNvPicPr>
          <p:nvPr/>
        </p:nvPicPr>
        <p:blipFill>
          <a:blip r:embed="rId4"/>
          <a:stretch>
            <a:fillRect/>
          </a:stretch>
        </p:blipFill>
        <p:spPr>
          <a:xfrm>
            <a:off x="5550408" y="2286000"/>
            <a:ext cx="365760" cy="365760"/>
          </a:xfrm>
          <a:prstGeom prst="rect">
            <a:avLst/>
          </a:prstGeom>
        </p:spPr>
      </p:pic>
      <p:sp>
        <p:nvSpPr>
          <p:cNvPr id="32" name="Text 26"/>
          <p:cNvSpPr txBox="1"/>
          <p:nvPr/>
        </p:nvSpPr>
        <p:spPr>
          <a:xfrm>
            <a:off x="6007608" y="2103120"/>
            <a:ext cx="1261872" cy="731520"/>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マーケター</a:t>
            </a:r>
            <a:endParaRPr lang="en-US" sz="1050" dirty="0"/>
          </a:p>
          <a:p>
            <a:pPr algn="l" indent="0" marL="0">
              <a:buNone/>
            </a:pPr>
            <a:r>
              <a:rPr lang="en-US" sz="900" dirty="0">
                <a:solidFill>
                  <a:srgbClr val="6B7280"/>
                </a:solidFill>
                <a:latin typeface="Meiryo UI" pitchFamily="34" charset="0"/>
                <a:ea typeface="Meiryo UI" pitchFamily="34" charset="-122"/>
                <a:cs typeface="Meiryo UI" pitchFamily="34" charset="-120"/>
              </a:rPr>
              <a:t>ブラウザで対話</a:t>
            </a:r>
            <a:endParaRPr lang="en-US" sz="1050" dirty="0"/>
          </a:p>
        </p:txBody>
      </p:sp>
      <p:sp>
        <p:nvSpPr>
          <p:cNvPr id="33" name="Shape 27"/>
          <p:cNvSpPr/>
          <p:nvPr/>
        </p:nvSpPr>
        <p:spPr>
          <a:xfrm>
            <a:off x="6373368" y="2880360"/>
            <a:ext cx="0" cy="365760"/>
          </a:xfrm>
          <a:prstGeom prst="line">
            <a:avLst/>
          </a:prstGeom>
          <a:noFill/>
          <a:ln w="22225">
            <a:solidFill>
              <a:srgbClr val="9AA5B4"/>
            </a:solidFill>
            <a:prstDash val="solid"/>
            <a:tailEnd type="triangle"/>
          </a:ln>
        </p:spPr>
      </p:sp>
      <p:sp>
        <p:nvSpPr>
          <p:cNvPr id="34" name="Shape 28"/>
          <p:cNvSpPr/>
          <p:nvPr/>
        </p:nvSpPr>
        <p:spPr>
          <a:xfrm>
            <a:off x="5440680" y="3291840"/>
            <a:ext cx="1874520" cy="731520"/>
          </a:xfrm>
          <a:prstGeom prst="roundRect">
            <a:avLst>
              <a:gd name="adj" fmla="val 10000"/>
            </a:avLst>
          </a:prstGeom>
          <a:solidFill>
            <a:srgbClr val="FDEBD3"/>
          </a:solidFill>
          <a:ln/>
        </p:spPr>
      </p:sp>
      <p:pic>
        <p:nvPicPr>
          <p:cNvPr id="35" name="Image 4" descr="preencoded.png">    </p:cNvPr>
          <p:cNvPicPr>
            <a:picLocks noChangeAspect="1"/>
          </p:cNvPicPr>
          <p:nvPr/>
        </p:nvPicPr>
        <p:blipFill>
          <a:blip r:embed="rId5"/>
          <a:stretch>
            <a:fillRect/>
          </a:stretch>
        </p:blipFill>
        <p:spPr>
          <a:xfrm>
            <a:off x="5550408" y="3474720"/>
            <a:ext cx="365760" cy="365760"/>
          </a:xfrm>
          <a:prstGeom prst="rect">
            <a:avLst/>
          </a:prstGeom>
        </p:spPr>
      </p:pic>
      <p:sp>
        <p:nvSpPr>
          <p:cNvPr id="36" name="Text 29"/>
          <p:cNvSpPr txBox="1"/>
          <p:nvPr/>
        </p:nvSpPr>
        <p:spPr>
          <a:xfrm>
            <a:off x="6007608" y="3291840"/>
            <a:ext cx="1261872" cy="731520"/>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配信カード</a:t>
            </a:r>
            <a:endParaRPr lang="en-US" sz="1050" dirty="0"/>
          </a:p>
          <a:p>
            <a:pPr algn="l" indent="0" marL="0">
              <a:buNone/>
            </a:pPr>
            <a:r>
              <a:rPr lang="en-US" sz="900" dirty="0">
                <a:solidFill>
                  <a:srgbClr val="6B7280"/>
                </a:solidFill>
                <a:latin typeface="Meiryo UI" pitchFamily="34" charset="0"/>
                <a:ea typeface="Meiryo UI" pitchFamily="34" charset="-122"/>
                <a:cs typeface="Meiryo UI" pitchFamily="34" charset="-120"/>
              </a:rPr>
              <a:t>入力／Listsは直接更新</a:t>
            </a:r>
            <a:endParaRPr lang="en-US" sz="1050" dirty="0"/>
          </a:p>
        </p:txBody>
      </p:sp>
      <p:sp>
        <p:nvSpPr>
          <p:cNvPr id="37" name="Shape 30"/>
          <p:cNvSpPr/>
          <p:nvPr/>
        </p:nvSpPr>
        <p:spPr>
          <a:xfrm>
            <a:off x="7680960" y="1874520"/>
            <a:ext cx="3931920" cy="2514600"/>
          </a:xfrm>
          <a:prstGeom prst="roundRect">
            <a:avLst>
              <a:gd name="adj" fmla="val 2182"/>
            </a:avLst>
          </a:prstGeom>
          <a:solidFill>
            <a:srgbClr val="E3EAF5"/>
          </a:solidFill>
          <a:ln/>
        </p:spPr>
      </p:sp>
      <p:sp>
        <p:nvSpPr>
          <p:cNvPr id="38" name="Shape 31"/>
          <p:cNvSpPr/>
          <p:nvPr/>
        </p:nvSpPr>
        <p:spPr>
          <a:xfrm>
            <a:off x="7818120" y="1993392"/>
            <a:ext cx="384048" cy="384048"/>
          </a:xfrm>
          <a:prstGeom prst="ellipse">
            <a:avLst/>
          </a:prstGeom>
          <a:solidFill>
            <a:srgbClr val="FFFFFF"/>
          </a:solidFill>
          <a:ln/>
        </p:spPr>
      </p:sp>
      <p:pic>
        <p:nvPicPr>
          <p:cNvPr id="39" name="Image 5" descr="preencoded.png">    </p:cNvPr>
          <p:cNvPicPr>
            <a:picLocks noChangeAspect="1"/>
          </p:cNvPicPr>
          <p:nvPr/>
        </p:nvPicPr>
        <p:blipFill>
          <a:blip r:embed="rId6"/>
          <a:stretch>
            <a:fillRect/>
          </a:stretch>
        </p:blipFill>
        <p:spPr>
          <a:xfrm>
            <a:off x="7894930" y="2070202"/>
            <a:ext cx="230429" cy="230429"/>
          </a:xfrm>
          <a:prstGeom prst="rect">
            <a:avLst/>
          </a:prstGeom>
        </p:spPr>
      </p:pic>
      <p:sp>
        <p:nvSpPr>
          <p:cNvPr id="40" name="Text 32"/>
          <p:cNvSpPr txBox="1"/>
          <p:nvPr/>
        </p:nvSpPr>
        <p:spPr>
          <a:xfrm>
            <a:off x="8275320" y="1993392"/>
            <a:ext cx="3246120" cy="384048"/>
          </a:xfrm>
          <a:prstGeom prst="rect">
            <a:avLst/>
          </a:prstGeom>
          <a:noFill/>
          <a:ln/>
        </p:spPr>
        <p:txBody>
          <a:bodyPr wrap="square" lIns="0" tIns="0" rIns="0" bIns="0"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必要な機能・準備</a:t>
            </a:r>
            <a:endParaRPr lang="en-US" sz="1300" dirty="0"/>
          </a:p>
        </p:txBody>
      </p:sp>
      <p:sp>
        <p:nvSpPr>
          <p:cNvPr id="41" name="Text 33"/>
          <p:cNvSpPr txBox="1"/>
          <p:nvPr/>
        </p:nvSpPr>
        <p:spPr>
          <a:xfrm>
            <a:off x="7863840" y="2478024"/>
            <a:ext cx="3611880" cy="1819656"/>
          </a:xfrm>
          <a:prstGeom prst="rect">
            <a:avLst/>
          </a:prstGeom>
          <a:noFill/>
          <a:ln/>
        </p:spPr>
        <p:txBody>
          <a:bodyPr wrap="square" lIns="254" tIns="254" rIns="254" bIns="254" rtlCol="0" anchor="t"/>
          <a:lstStyle/>
          <a:p>
            <a:pPr marL="152400" indent="-152400">
              <a:spcAft>
                <a:spcPts val="300"/>
              </a:spcAft>
              <a:buSzPct val="100000"/>
              <a:buChar char="•"/>
            </a:pPr>
            <a:r>
              <a:rPr lang="en-US" sz="1100" dirty="0">
                <a:solidFill>
                  <a:srgbClr val="2B2B2B"/>
                </a:solidFill>
                <a:latin typeface="Meiryo UI" pitchFamily="34" charset="0"/>
                <a:ea typeface="Meiryo UI" pitchFamily="34" charset="-122"/>
                <a:cs typeface="Meiryo UI" pitchFamily="34" charset="-120"/>
              </a:rPr>
              <a:t>Gemini Enterpriseのライセンス（Standard／Plusなど）</a:t>
            </a:r>
            <a:endParaRPr lang="en-US" sz="1100" dirty="0"/>
          </a:p>
          <a:p>
            <a:pPr marL="152400" indent="-152400">
              <a:spcAft>
                <a:spcPts val="300"/>
              </a:spcAft>
              <a:buSzPct val="100000"/>
              <a:buChar char="•"/>
            </a:pPr>
            <a:r>
              <a:rPr lang="en-US" sz="1100" dirty="0">
                <a:solidFill>
                  <a:srgbClr val="2B2B2B"/>
                </a:solidFill>
                <a:latin typeface="Meiryo UI" pitchFamily="34" charset="0"/>
                <a:ea typeface="Meiryo UI" pitchFamily="34" charset="-122"/>
                <a:cs typeface="Meiryo UI" pitchFamily="34" charset="-120"/>
              </a:rPr>
              <a:t>SharePointコネクタ（GA）とEntraのアプリ登録</a:t>
            </a:r>
            <a:endParaRPr lang="en-US" sz="1100" dirty="0"/>
          </a:p>
          <a:p>
            <a:pPr marL="152400" indent="-152400">
              <a:spcAft>
                <a:spcPts val="300"/>
              </a:spcAft>
              <a:buSzPct val="100000"/>
              <a:buChar char="•"/>
            </a:pPr>
            <a:r>
              <a:rPr lang="en-US" sz="1100" dirty="0">
                <a:solidFill>
                  <a:srgbClr val="2B2B2B"/>
                </a:solidFill>
                <a:latin typeface="Meiryo UI" pitchFamily="34" charset="0"/>
                <a:ea typeface="Meiryo UI" pitchFamily="34" charset="-122"/>
                <a:cs typeface="Meiryo UI" pitchFamily="34" charset="-120"/>
              </a:rPr>
              <a:t>Entra IDとの連携（Workforce Identity Federation）</a:t>
            </a:r>
            <a:endParaRPr lang="en-US" sz="1100" dirty="0"/>
          </a:p>
          <a:p>
            <a:pPr marL="152400" indent="-152400">
              <a:spcAft>
                <a:spcPts val="300"/>
              </a:spcAft>
              <a:buSzPct val="100000"/>
              <a:buChar char="•"/>
            </a:pPr>
            <a:r>
              <a:rPr lang="en-US" sz="1100" dirty="0">
                <a:solidFill>
                  <a:srgbClr val="2B2B2B"/>
                </a:solidFill>
                <a:latin typeface="Meiryo UI" pitchFamily="34" charset="0"/>
                <a:ea typeface="Meiryo UI" pitchFamily="34" charset="-122"/>
                <a:cs typeface="Meiryo UI" pitchFamily="34" charset="-120"/>
              </a:rPr>
              <a:t>BigQueryの会話型分析（データエージェント）</a:t>
            </a:r>
            <a:endParaRPr lang="en-US" sz="1100" dirty="0"/>
          </a:p>
          <a:p>
            <a:pPr marL="152400" indent="-152400">
              <a:spcAft>
                <a:spcPts val="300"/>
              </a:spcAft>
              <a:buSzPct val="100000"/>
              <a:buChar char="•"/>
            </a:pPr>
            <a:r>
              <a:rPr lang="en-US" sz="1100" dirty="0">
                <a:solidFill>
                  <a:srgbClr val="2B2B2B"/>
                </a:solidFill>
                <a:latin typeface="Meiryo UI" pitchFamily="34" charset="0"/>
                <a:ea typeface="Meiryo UI" pitchFamily="34" charset="-122"/>
                <a:cs typeface="Meiryo UI" pitchFamily="34" charset="-120"/>
              </a:rPr>
              <a:t>Agent Platformで独自エージェントも追加できる</a:t>
            </a:r>
            <a:endParaRPr lang="en-US" sz="1100" dirty="0"/>
          </a:p>
        </p:txBody>
      </p:sp>
      <p:sp>
        <p:nvSpPr>
          <p:cNvPr id="42" name="Shape 34"/>
          <p:cNvSpPr/>
          <p:nvPr/>
        </p:nvSpPr>
        <p:spPr>
          <a:xfrm>
            <a:off x="548640" y="4572000"/>
            <a:ext cx="3566160" cy="1783080"/>
          </a:xfrm>
          <a:prstGeom prst="roundRect">
            <a:avLst>
              <a:gd name="adj" fmla="val 3077"/>
            </a:avLst>
          </a:prstGeom>
          <a:solidFill>
            <a:srgbClr val="D9F2F1"/>
          </a:solidFill>
          <a:ln/>
        </p:spPr>
      </p:sp>
      <p:sp>
        <p:nvSpPr>
          <p:cNvPr id="43" name="Shape 35"/>
          <p:cNvSpPr/>
          <p:nvPr/>
        </p:nvSpPr>
        <p:spPr>
          <a:xfrm>
            <a:off x="685800" y="4690872"/>
            <a:ext cx="384048" cy="384048"/>
          </a:xfrm>
          <a:prstGeom prst="ellipse">
            <a:avLst/>
          </a:prstGeom>
          <a:solidFill>
            <a:srgbClr val="FFFFFF"/>
          </a:solidFill>
          <a:ln/>
        </p:spPr>
      </p:sp>
      <p:pic>
        <p:nvPicPr>
          <p:cNvPr id="44" name="Image 6" descr="preencoded.png">    </p:cNvPr>
          <p:cNvPicPr>
            <a:picLocks noChangeAspect="1"/>
          </p:cNvPicPr>
          <p:nvPr/>
        </p:nvPicPr>
        <p:blipFill>
          <a:blip r:embed="rId7"/>
          <a:stretch>
            <a:fillRect/>
          </a:stretch>
        </p:blipFill>
        <p:spPr>
          <a:xfrm>
            <a:off x="762610" y="4767682"/>
            <a:ext cx="230429" cy="230429"/>
          </a:xfrm>
          <a:prstGeom prst="rect">
            <a:avLst/>
          </a:prstGeom>
        </p:spPr>
      </p:pic>
      <p:sp>
        <p:nvSpPr>
          <p:cNvPr id="45" name="Text 36"/>
          <p:cNvSpPr txBox="1"/>
          <p:nvPr/>
        </p:nvSpPr>
        <p:spPr>
          <a:xfrm>
            <a:off x="1143000" y="4690872"/>
            <a:ext cx="2880360" cy="384048"/>
          </a:xfrm>
          <a:prstGeom prst="rect">
            <a:avLst/>
          </a:prstGeom>
          <a:noFill/>
          <a:ln/>
        </p:spPr>
        <p:txBody>
          <a:bodyPr wrap="square" lIns="0" tIns="0" rIns="0" bIns="0"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特徴</a:t>
            </a:r>
            <a:endParaRPr lang="en-US" sz="1300" dirty="0"/>
          </a:p>
        </p:txBody>
      </p:sp>
      <p:sp>
        <p:nvSpPr>
          <p:cNvPr id="46" name="Text 37"/>
          <p:cNvSpPr txBox="1"/>
          <p:nvPr/>
        </p:nvSpPr>
        <p:spPr>
          <a:xfrm>
            <a:off x="731520" y="5175504"/>
            <a:ext cx="3246120" cy="1088136"/>
          </a:xfrm>
          <a:prstGeom prst="rect">
            <a:avLst/>
          </a:prstGeom>
          <a:noFill/>
          <a:ln/>
        </p:spPr>
        <p:txBody>
          <a:bodyPr wrap="square" lIns="254" tIns="254" rIns="254" bIns="254" rtlCol="0" anchor="t"/>
          <a:lstStyle/>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対話の中で想定外の数値の問いにも答えやすい</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フェデレーション方式なら資料をGCPに複製しない</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資料の検索と数値の分析を1つの画面で行える</a:t>
            </a:r>
            <a:endParaRPr lang="en-US" sz="1150" dirty="0"/>
          </a:p>
        </p:txBody>
      </p:sp>
      <p:sp>
        <p:nvSpPr>
          <p:cNvPr id="47" name="Shape 38"/>
          <p:cNvSpPr/>
          <p:nvPr/>
        </p:nvSpPr>
        <p:spPr>
          <a:xfrm>
            <a:off x="4297680" y="4572000"/>
            <a:ext cx="3566160" cy="1783080"/>
          </a:xfrm>
          <a:prstGeom prst="roundRect">
            <a:avLst>
              <a:gd name="adj" fmla="val 3077"/>
            </a:avLst>
          </a:prstGeom>
          <a:solidFill>
            <a:srgbClr val="FBE3E3"/>
          </a:solidFill>
          <a:ln/>
        </p:spPr>
      </p:sp>
      <p:sp>
        <p:nvSpPr>
          <p:cNvPr id="48" name="Shape 39"/>
          <p:cNvSpPr/>
          <p:nvPr/>
        </p:nvSpPr>
        <p:spPr>
          <a:xfrm>
            <a:off x="4434840" y="4690872"/>
            <a:ext cx="384048" cy="384048"/>
          </a:xfrm>
          <a:prstGeom prst="ellipse">
            <a:avLst/>
          </a:prstGeom>
          <a:solidFill>
            <a:srgbClr val="FFFFFF"/>
          </a:solidFill>
          <a:ln/>
        </p:spPr>
      </p:sp>
      <p:pic>
        <p:nvPicPr>
          <p:cNvPr id="49" name="Image 7" descr="preencoded.png">    </p:cNvPr>
          <p:cNvPicPr>
            <a:picLocks noChangeAspect="1"/>
          </p:cNvPicPr>
          <p:nvPr/>
        </p:nvPicPr>
        <p:blipFill>
          <a:blip r:embed="rId8"/>
          <a:stretch>
            <a:fillRect/>
          </a:stretch>
        </p:blipFill>
        <p:spPr>
          <a:xfrm>
            <a:off x="4511650" y="4767682"/>
            <a:ext cx="230429" cy="230429"/>
          </a:xfrm>
          <a:prstGeom prst="rect">
            <a:avLst/>
          </a:prstGeom>
        </p:spPr>
      </p:pic>
      <p:sp>
        <p:nvSpPr>
          <p:cNvPr id="50" name="Text 40"/>
          <p:cNvSpPr txBox="1"/>
          <p:nvPr/>
        </p:nvSpPr>
        <p:spPr>
          <a:xfrm>
            <a:off x="4892040" y="4690872"/>
            <a:ext cx="2880360" cy="384048"/>
          </a:xfrm>
          <a:prstGeom prst="rect">
            <a:avLst/>
          </a:prstGeom>
          <a:noFill/>
          <a:ln/>
        </p:spPr>
        <p:txBody>
          <a:bodyPr wrap="square" lIns="0" tIns="0" rIns="0" bIns="0"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留意点・制約</a:t>
            </a:r>
            <a:endParaRPr lang="en-US" sz="1300" dirty="0"/>
          </a:p>
        </p:txBody>
      </p:sp>
      <p:sp>
        <p:nvSpPr>
          <p:cNvPr id="51" name="Text 41"/>
          <p:cNvSpPr txBox="1"/>
          <p:nvPr/>
        </p:nvSpPr>
        <p:spPr>
          <a:xfrm>
            <a:off x="4480560" y="5175504"/>
            <a:ext cx="3246120" cy="1088136"/>
          </a:xfrm>
          <a:prstGeom prst="rect">
            <a:avLst/>
          </a:prstGeom>
          <a:noFill/>
          <a:ln/>
        </p:spPr>
        <p:txBody>
          <a:bodyPr wrap="square" lIns="254" tIns="254" rIns="254" bIns="254" rtlCol="0" anchor="t"/>
          <a:lstStyle/>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取り込み方式は同期間隔（3時間〜7日）の分だけ鮮度が遅れる</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Teams・Copilotとは別の画面で利用する</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M365 Copilotと機能・費用が重複する</a:t>
            </a:r>
            <a:endParaRPr lang="en-US" sz="1150" dirty="0"/>
          </a:p>
        </p:txBody>
      </p:sp>
      <p:sp>
        <p:nvSpPr>
          <p:cNvPr id="52" name="Shape 42"/>
          <p:cNvSpPr/>
          <p:nvPr/>
        </p:nvSpPr>
        <p:spPr>
          <a:xfrm>
            <a:off x="8046720" y="4572000"/>
            <a:ext cx="3566160" cy="1783080"/>
          </a:xfrm>
          <a:prstGeom prst="roundRect">
            <a:avLst>
              <a:gd name="adj" fmla="val 3077"/>
            </a:avLst>
          </a:prstGeom>
          <a:solidFill>
            <a:srgbClr val="FDEBD3"/>
          </a:solidFill>
          <a:ln/>
        </p:spPr>
      </p:sp>
      <p:sp>
        <p:nvSpPr>
          <p:cNvPr id="53" name="Shape 43"/>
          <p:cNvSpPr/>
          <p:nvPr/>
        </p:nvSpPr>
        <p:spPr>
          <a:xfrm>
            <a:off x="8183880" y="4690872"/>
            <a:ext cx="384048" cy="384048"/>
          </a:xfrm>
          <a:prstGeom prst="ellipse">
            <a:avLst/>
          </a:prstGeom>
          <a:solidFill>
            <a:srgbClr val="FFFFFF"/>
          </a:solidFill>
          <a:ln/>
        </p:spPr>
      </p:sp>
      <p:pic>
        <p:nvPicPr>
          <p:cNvPr id="54" name="Image 8" descr="preencoded.png">    </p:cNvPr>
          <p:cNvPicPr>
            <a:picLocks noChangeAspect="1"/>
          </p:cNvPicPr>
          <p:nvPr/>
        </p:nvPicPr>
        <p:blipFill>
          <a:blip r:embed="rId9"/>
          <a:stretch>
            <a:fillRect/>
          </a:stretch>
        </p:blipFill>
        <p:spPr>
          <a:xfrm>
            <a:off x="8260690" y="4767682"/>
            <a:ext cx="230429" cy="230429"/>
          </a:xfrm>
          <a:prstGeom prst="rect">
            <a:avLst/>
          </a:prstGeom>
        </p:spPr>
      </p:pic>
      <p:sp>
        <p:nvSpPr>
          <p:cNvPr id="55" name="Text 44"/>
          <p:cNvSpPr txBox="1"/>
          <p:nvPr/>
        </p:nvSpPr>
        <p:spPr>
          <a:xfrm>
            <a:off x="8641080" y="4690872"/>
            <a:ext cx="2880360" cy="384048"/>
          </a:xfrm>
          <a:prstGeom prst="rect">
            <a:avLst/>
          </a:prstGeom>
          <a:noFill/>
          <a:ln/>
        </p:spPr>
        <p:txBody>
          <a:bodyPr wrap="square" lIns="0" tIns="0" rIns="0" bIns="0"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検討ポイント</a:t>
            </a:r>
            <a:endParaRPr lang="en-US" sz="1300" dirty="0"/>
          </a:p>
        </p:txBody>
      </p:sp>
      <p:sp>
        <p:nvSpPr>
          <p:cNvPr id="56" name="Text 45"/>
          <p:cNvSpPr txBox="1"/>
          <p:nvPr/>
        </p:nvSpPr>
        <p:spPr>
          <a:xfrm>
            <a:off x="8229600" y="5175504"/>
            <a:ext cx="3246120" cy="1088136"/>
          </a:xfrm>
          <a:prstGeom prst="rect">
            <a:avLst/>
          </a:prstGeom>
          <a:noFill/>
          <a:ln/>
        </p:spPr>
        <p:txBody>
          <a:bodyPr wrap="square" lIns="254" tIns="254" rIns="254" bIns="254" rtlCol="0" anchor="t"/>
          <a:lstStyle/>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フェデレーションと取り込みのどちらにするか（どちらも可。検索精度と鮮度で選ぶ）</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Entraのアプリ登録・権限付与の可否</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別の画面の利用が定着するか</a:t>
            </a:r>
            <a:endParaRPr lang="en-US" sz="1150" dirty="0"/>
          </a:p>
        </p:txBody>
      </p:sp>
      <p:sp>
        <p:nvSpPr>
          <p:cNvPr id="57" name="Text 46"/>
          <p:cNvSpPr txBox="1"/>
          <p:nvPr/>
        </p:nvSpPr>
        <p:spPr>
          <a:xfrm>
            <a:off x="548640" y="6400800"/>
            <a:ext cx="10515600" cy="228600"/>
          </a:xfrm>
          <a:prstGeom prst="rect">
            <a:avLst/>
          </a:prstGeom>
          <a:noFill/>
          <a:ln/>
        </p:spPr>
        <p:txBody>
          <a:bodyPr wrap="square" lIns="0" tIns="0" rIns="0" bIns="0" rtlCol="0" anchor="t"/>
          <a:lstStyle/>
          <a:p>
            <a:pPr indent="0" marL="0">
              <a:buNone/>
            </a:pPr>
            <a:r>
              <a:rPr lang="en-US" sz="800" dirty="0">
                <a:solidFill>
                  <a:srgbClr val="6B7280"/>
                </a:solidFill>
                <a:latin typeface="Meiryo UI" pitchFamily="34" charset="0"/>
                <a:ea typeface="Meiryo UI" pitchFamily="34" charset="-122"/>
                <a:cs typeface="Meiryo UI" pitchFamily="34" charset="-120"/>
              </a:rPr>
              <a:t>難易度（★）：開発量・必要なスキル・関係する部署やシステムの数から見た相対的な目安。期間：社内で内製し、PoC後に単独で構築した場合の概算</a:t>
            </a:r>
            <a:endParaRPr lang="en-US" sz="8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548640"/>
          </a:xfrm>
          <a:prstGeom prst="rect">
            <a:avLst/>
          </a:prstGeom>
          <a:noFill/>
          <a:ln/>
        </p:spPr>
        <p:txBody>
          <a:bodyPr wrap="square" lIns="0" tIns="0" rIns="0" bIns="0" rtlCol="0" anchor="ctr"/>
          <a:lstStyle/>
          <a:p>
            <a:pPr indent="0" marL="0">
              <a:buNone/>
            </a:pPr>
            <a:r>
              <a:rPr lang="en-US" sz="2600" b="1" dirty="0">
                <a:solidFill>
                  <a:srgbClr val="1B2A49"/>
                </a:solidFill>
                <a:latin typeface="Meiryo UI" pitchFamily="34" charset="0"/>
                <a:ea typeface="Meiryo UI" pitchFamily="34" charset="-122"/>
                <a:cs typeface="Meiryo UI" pitchFamily="34" charset="-120"/>
              </a:rPr>
              <a:t>B2｜Agent Platform＋Geminiで自動起案</a:t>
            </a:r>
            <a:endParaRPr lang="en-US" sz="2600" dirty="0"/>
          </a:p>
        </p:txBody>
      </p:sp>
      <p:sp>
        <p:nvSpPr>
          <p:cNvPr id="3" name="Text 1"/>
          <p:cNvSpPr txBox="1"/>
          <p:nvPr/>
        </p:nvSpPr>
        <p:spPr>
          <a:xfrm>
            <a:off x="548640" y="896112"/>
            <a:ext cx="11064240" cy="365760"/>
          </a:xfrm>
          <a:prstGeom prst="rect">
            <a:avLst/>
          </a:prstGeom>
          <a:noFill/>
          <a:ln/>
        </p:spPr>
        <p:txBody>
          <a:bodyPr wrap="square" lIns="0" tIns="0" rIns="0" bIns="0" rtlCol="0" anchor="ctr"/>
          <a:lstStyle/>
          <a:p>
            <a:pPr indent="0" marL="0">
              <a:buNone/>
            </a:pPr>
            <a:r>
              <a:rPr lang="en-US" sz="1400" dirty="0">
                <a:solidFill>
                  <a:srgbClr val="6B7280"/>
                </a:solidFill>
                <a:latin typeface="Meiryo UI" pitchFamily="34" charset="0"/>
                <a:ea typeface="Meiryo UI" pitchFamily="34" charset="-122"/>
                <a:cs typeface="Meiryo UI" pitchFamily="34" charset="-120"/>
              </a:rPr>
              <a:t>Airtableを使ったまま、GCP上のエージェントがBigQueryと資料を参照して下書きを作る</a:t>
            </a:r>
            <a:endParaRPr lang="en-US" sz="1400" dirty="0"/>
          </a:p>
        </p:txBody>
      </p:sp>
      <p:sp>
        <p:nvSpPr>
          <p:cNvPr id="4" name="Text 2"/>
          <p:cNvSpPr txBox="1"/>
          <p:nvPr/>
        </p:nvSpPr>
        <p:spPr>
          <a:xfrm>
            <a:off x="7498080" y="91440"/>
            <a:ext cx="4114800" cy="22860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4. 各パターンの詳細</a:t>
            </a:r>
            <a:endParaRPr lang="en-US" sz="900" dirty="0"/>
          </a:p>
        </p:txBody>
      </p:sp>
      <p:sp>
        <p:nvSpPr>
          <p:cNvPr id="5" name="Text 3"/>
          <p:cNvSpPr txBox="1"/>
          <p:nvPr/>
        </p:nvSpPr>
        <p:spPr>
          <a:xfrm>
            <a:off x="11247120" y="6446520"/>
            <a:ext cx="457200" cy="27432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30</a:t>
            </a:r>
            <a:endParaRPr lang="en-US" sz="900" dirty="0"/>
          </a:p>
        </p:txBody>
      </p:sp>
      <p:sp>
        <p:nvSpPr>
          <p:cNvPr id="6" name="Shape 4"/>
          <p:cNvSpPr/>
          <p:nvPr/>
        </p:nvSpPr>
        <p:spPr>
          <a:xfrm>
            <a:off x="548640" y="1371600"/>
            <a:ext cx="2103120" cy="347472"/>
          </a:xfrm>
          <a:prstGeom prst="roundRect">
            <a:avLst>
              <a:gd name="adj" fmla="val 50000"/>
            </a:avLst>
          </a:prstGeom>
          <a:solidFill>
            <a:srgbClr val="E8F0FE"/>
          </a:solidFill>
          <a:ln/>
        </p:spPr>
      </p:sp>
      <p:sp>
        <p:nvSpPr>
          <p:cNvPr id="7" name="Text 5"/>
          <p:cNvSpPr txBox="1"/>
          <p:nvPr/>
        </p:nvSpPr>
        <p:spPr>
          <a:xfrm>
            <a:off x="548640" y="1371600"/>
            <a:ext cx="2103120" cy="347472"/>
          </a:xfrm>
          <a:prstGeom prst="rect">
            <a:avLst/>
          </a:prstGeom>
          <a:noFill/>
          <a:ln/>
        </p:spPr>
        <p:txBody>
          <a:bodyPr wrap="square" lIns="0" tIns="0" rIns="0" bIns="0" rtlCol="0" anchor="ctr"/>
          <a:lstStyle/>
          <a:p>
            <a:pPr algn="ctr" indent="0" marL="0">
              <a:buNone/>
            </a:pPr>
            <a:r>
              <a:rPr lang="en-US" sz="950" dirty="0">
                <a:solidFill>
                  <a:srgbClr val="4285F4"/>
                </a:solidFill>
                <a:latin typeface="Meiryo UI" pitchFamily="34" charset="0"/>
                <a:ea typeface="Meiryo UI" pitchFamily="34" charset="-122"/>
                <a:cs typeface="Meiryo UI" pitchFamily="34" charset="-120"/>
              </a:rPr>
              <a:t>集約先  </a:t>
            </a:r>
            <a:pPr algn="ctr" indent="0" marL="0">
              <a:buNone/>
            </a:pPr>
            <a:r>
              <a:rPr lang="en-US" sz="1100" b="1" dirty="0">
                <a:solidFill>
                  <a:srgbClr val="4285F4"/>
                </a:solidFill>
                <a:latin typeface="Meiryo UI" pitchFamily="34" charset="0"/>
                <a:ea typeface="Meiryo UI" pitchFamily="34" charset="-122"/>
                <a:cs typeface="Meiryo UI" pitchFamily="34" charset="-120"/>
              </a:rPr>
              <a:t>GCPに寄せる</a:t>
            </a:r>
            <a:endParaRPr lang="en-US" sz="950" dirty="0"/>
          </a:p>
        </p:txBody>
      </p:sp>
      <p:sp>
        <p:nvSpPr>
          <p:cNvPr id="8" name="Shape 6"/>
          <p:cNvSpPr/>
          <p:nvPr/>
        </p:nvSpPr>
        <p:spPr>
          <a:xfrm>
            <a:off x="2788920" y="1371600"/>
            <a:ext cx="2103120" cy="347472"/>
          </a:xfrm>
          <a:prstGeom prst="roundRect">
            <a:avLst>
              <a:gd name="adj" fmla="val 50000"/>
            </a:avLst>
          </a:prstGeom>
          <a:solidFill>
            <a:srgbClr val="F3F5F8"/>
          </a:solidFill>
          <a:ln/>
        </p:spPr>
      </p:sp>
      <p:sp>
        <p:nvSpPr>
          <p:cNvPr id="9" name="Text 7"/>
          <p:cNvSpPr txBox="1"/>
          <p:nvPr/>
        </p:nvSpPr>
        <p:spPr>
          <a:xfrm>
            <a:off x="2788920" y="1371600"/>
            <a:ext cx="2103120" cy="347472"/>
          </a:xfrm>
          <a:prstGeom prst="rect">
            <a:avLst/>
          </a:prstGeom>
          <a:noFill/>
          <a:ln/>
        </p:spPr>
        <p:txBody>
          <a:bodyPr wrap="square" lIns="0" tIns="0" rIns="0" bIns="0" rtlCol="0" anchor="ctr"/>
          <a:lstStyle/>
          <a:p>
            <a:pPr algn="ctr" indent="0" marL="0">
              <a:buNone/>
            </a:pPr>
            <a:r>
              <a:rPr lang="en-US" sz="950" dirty="0">
                <a:solidFill>
                  <a:srgbClr val="1B2A49"/>
                </a:solidFill>
                <a:latin typeface="Meiryo UI" pitchFamily="34" charset="0"/>
                <a:ea typeface="Meiryo UI" pitchFamily="34" charset="-122"/>
                <a:cs typeface="Meiryo UI" pitchFamily="34" charset="-120"/>
              </a:rPr>
              <a:t>管理基盤  </a:t>
            </a:r>
            <a:pPr algn="ctr" indent="0" marL="0">
              <a:buNone/>
            </a:pPr>
            <a:r>
              <a:rPr lang="en-US" sz="1100" b="1" dirty="0">
                <a:solidFill>
                  <a:srgbClr val="1B2A49"/>
                </a:solidFill>
                <a:latin typeface="Meiryo UI" pitchFamily="34" charset="0"/>
                <a:ea typeface="Meiryo UI" pitchFamily="34" charset="-122"/>
                <a:cs typeface="Meiryo UI" pitchFamily="34" charset="-120"/>
              </a:rPr>
              <a:t>Airtable</a:t>
            </a:r>
            <a:endParaRPr lang="en-US" sz="950" dirty="0"/>
          </a:p>
        </p:txBody>
      </p:sp>
      <p:sp>
        <p:nvSpPr>
          <p:cNvPr id="10" name="Shape 8"/>
          <p:cNvSpPr/>
          <p:nvPr/>
        </p:nvSpPr>
        <p:spPr>
          <a:xfrm>
            <a:off x="5029200" y="1371600"/>
            <a:ext cx="2103120" cy="347472"/>
          </a:xfrm>
          <a:prstGeom prst="roundRect">
            <a:avLst>
              <a:gd name="adj" fmla="val 50000"/>
            </a:avLst>
          </a:prstGeom>
          <a:solidFill>
            <a:srgbClr val="D9F2F1"/>
          </a:solidFill>
          <a:ln/>
        </p:spPr>
      </p:sp>
      <p:sp>
        <p:nvSpPr>
          <p:cNvPr id="11" name="Text 9"/>
          <p:cNvSpPr txBox="1"/>
          <p:nvPr/>
        </p:nvSpPr>
        <p:spPr>
          <a:xfrm>
            <a:off x="5029200" y="1371600"/>
            <a:ext cx="2103120" cy="347472"/>
          </a:xfrm>
          <a:prstGeom prst="rect">
            <a:avLst/>
          </a:prstGeom>
          <a:noFill/>
          <a:ln/>
        </p:spPr>
        <p:txBody>
          <a:bodyPr wrap="square" lIns="0" tIns="0" rIns="0" bIns="0" rtlCol="0" anchor="ctr"/>
          <a:lstStyle/>
          <a:p>
            <a:pPr algn="ctr" indent="0" marL="0">
              <a:buNone/>
            </a:pPr>
            <a:r>
              <a:rPr lang="en-US" sz="950" dirty="0">
                <a:solidFill>
                  <a:srgbClr val="0E9F9A"/>
                </a:solidFill>
                <a:latin typeface="Meiryo UI" pitchFamily="34" charset="0"/>
                <a:ea typeface="Meiryo UI" pitchFamily="34" charset="-122"/>
                <a:cs typeface="Meiryo UI" pitchFamily="34" charset="-120"/>
              </a:rPr>
              <a:t>自動化  </a:t>
            </a:r>
            <a:pPr algn="ctr" indent="0" marL="0">
              <a:buNone/>
            </a:pPr>
            <a:r>
              <a:rPr lang="en-US" sz="1100" b="1" dirty="0">
                <a:solidFill>
                  <a:srgbClr val="0E9F9A"/>
                </a:solidFill>
                <a:latin typeface="Meiryo UI" pitchFamily="34" charset="0"/>
                <a:ea typeface="Meiryo UI" pitchFamily="34" charset="-122"/>
                <a:cs typeface="Meiryo UI" pitchFamily="34" charset="-120"/>
              </a:rPr>
              <a:t>Step3</a:t>
            </a:r>
            <a:endParaRPr lang="en-US" sz="950" dirty="0"/>
          </a:p>
        </p:txBody>
      </p:sp>
      <p:sp>
        <p:nvSpPr>
          <p:cNvPr id="12" name="Shape 10"/>
          <p:cNvSpPr/>
          <p:nvPr/>
        </p:nvSpPr>
        <p:spPr>
          <a:xfrm>
            <a:off x="7269480" y="1371600"/>
            <a:ext cx="2103120" cy="347472"/>
          </a:xfrm>
          <a:prstGeom prst="roundRect">
            <a:avLst>
              <a:gd name="adj" fmla="val 50000"/>
            </a:avLst>
          </a:prstGeom>
          <a:solidFill>
            <a:srgbClr val="FDEBD3"/>
          </a:solidFill>
          <a:ln/>
        </p:spPr>
      </p:sp>
      <p:sp>
        <p:nvSpPr>
          <p:cNvPr id="13" name="Text 11"/>
          <p:cNvSpPr txBox="1"/>
          <p:nvPr/>
        </p:nvSpPr>
        <p:spPr>
          <a:xfrm>
            <a:off x="7269480" y="1371600"/>
            <a:ext cx="2103120" cy="347472"/>
          </a:xfrm>
          <a:prstGeom prst="rect">
            <a:avLst/>
          </a:prstGeom>
          <a:noFill/>
          <a:ln/>
        </p:spPr>
        <p:txBody>
          <a:bodyPr wrap="square" lIns="0" tIns="0" rIns="0" bIns="0" rtlCol="0" anchor="ctr"/>
          <a:lstStyle/>
          <a:p>
            <a:pPr algn="ctr" indent="0" marL="0">
              <a:buNone/>
            </a:pPr>
            <a:r>
              <a:rPr lang="en-US" sz="950" dirty="0">
                <a:solidFill>
                  <a:srgbClr val="E8912D"/>
                </a:solidFill>
                <a:latin typeface="Meiryo UI" pitchFamily="34" charset="0"/>
                <a:ea typeface="Meiryo UI" pitchFamily="34" charset="-122"/>
                <a:cs typeface="Meiryo UI" pitchFamily="34" charset="-120"/>
              </a:rPr>
              <a:t>難易度  </a:t>
            </a:r>
            <a:pPr algn="ctr" indent="0" marL="0">
              <a:buNone/>
            </a:pPr>
            <a:r>
              <a:rPr lang="en-US" sz="1100" b="1" dirty="0">
                <a:solidFill>
                  <a:srgbClr val="E8912D"/>
                </a:solidFill>
                <a:latin typeface="Meiryo UI" pitchFamily="34" charset="0"/>
                <a:ea typeface="Meiryo UI" pitchFamily="34" charset="-122"/>
                <a:cs typeface="Meiryo UI" pitchFamily="34" charset="-120"/>
              </a:rPr>
              <a:t>★★★☆☆</a:t>
            </a:r>
            <a:endParaRPr lang="en-US" sz="950" dirty="0"/>
          </a:p>
        </p:txBody>
      </p:sp>
      <p:sp>
        <p:nvSpPr>
          <p:cNvPr id="14" name="Shape 12"/>
          <p:cNvSpPr/>
          <p:nvPr/>
        </p:nvSpPr>
        <p:spPr>
          <a:xfrm>
            <a:off x="9509760" y="1371600"/>
            <a:ext cx="2103120" cy="347472"/>
          </a:xfrm>
          <a:prstGeom prst="roundRect">
            <a:avLst>
              <a:gd name="adj" fmla="val 50000"/>
            </a:avLst>
          </a:prstGeom>
          <a:solidFill>
            <a:srgbClr val="F3F5F8"/>
          </a:solidFill>
          <a:ln/>
        </p:spPr>
      </p:sp>
      <p:sp>
        <p:nvSpPr>
          <p:cNvPr id="15" name="Text 13"/>
          <p:cNvSpPr txBox="1"/>
          <p:nvPr/>
        </p:nvSpPr>
        <p:spPr>
          <a:xfrm>
            <a:off x="9509760" y="1371600"/>
            <a:ext cx="2103120" cy="347472"/>
          </a:xfrm>
          <a:prstGeom prst="rect">
            <a:avLst/>
          </a:prstGeom>
          <a:noFill/>
          <a:ln/>
        </p:spPr>
        <p:txBody>
          <a:bodyPr wrap="square" lIns="0" tIns="0" rIns="0" bIns="0" rtlCol="0" anchor="ctr"/>
          <a:lstStyle/>
          <a:p>
            <a:pPr algn="ctr" indent="0" marL="0">
              <a:buNone/>
            </a:pPr>
            <a:r>
              <a:rPr lang="en-US" sz="950" dirty="0">
                <a:solidFill>
                  <a:srgbClr val="1B2A49"/>
                </a:solidFill>
                <a:latin typeface="Meiryo UI" pitchFamily="34" charset="0"/>
                <a:ea typeface="Meiryo UI" pitchFamily="34" charset="-122"/>
                <a:cs typeface="Meiryo UI" pitchFamily="34" charset="-120"/>
              </a:rPr>
              <a:t>期間目安  </a:t>
            </a:r>
            <a:pPr algn="ctr" indent="0" marL="0">
              <a:buNone/>
            </a:pPr>
            <a:r>
              <a:rPr lang="en-US" sz="1100" b="1" dirty="0">
                <a:solidFill>
                  <a:srgbClr val="1B2A49"/>
                </a:solidFill>
                <a:latin typeface="Meiryo UI" pitchFamily="34" charset="0"/>
                <a:ea typeface="Meiryo UI" pitchFamily="34" charset="-122"/>
                <a:cs typeface="Meiryo UI" pitchFamily="34" charset="-120"/>
              </a:rPr>
              <a:t>3〜4ヶ月</a:t>
            </a:r>
            <a:endParaRPr lang="en-US" sz="950" dirty="0"/>
          </a:p>
        </p:txBody>
      </p:sp>
      <p:sp>
        <p:nvSpPr>
          <p:cNvPr id="16" name="Shape 14"/>
          <p:cNvSpPr/>
          <p:nvPr/>
        </p:nvSpPr>
        <p:spPr>
          <a:xfrm>
            <a:off x="548640" y="1874520"/>
            <a:ext cx="6949440" cy="2514600"/>
          </a:xfrm>
          <a:prstGeom prst="roundRect">
            <a:avLst>
              <a:gd name="adj" fmla="val 1455"/>
            </a:avLst>
          </a:prstGeom>
          <a:solidFill>
            <a:srgbClr val="F3F5F8"/>
          </a:solidFill>
          <a:ln/>
        </p:spPr>
      </p:sp>
      <p:sp>
        <p:nvSpPr>
          <p:cNvPr id="17" name="Shape 15"/>
          <p:cNvSpPr/>
          <p:nvPr/>
        </p:nvSpPr>
        <p:spPr>
          <a:xfrm>
            <a:off x="731520" y="2057400"/>
            <a:ext cx="2011680" cy="731520"/>
          </a:xfrm>
          <a:prstGeom prst="roundRect">
            <a:avLst>
              <a:gd name="adj" fmla="val 10000"/>
            </a:avLst>
          </a:prstGeom>
          <a:solidFill>
            <a:srgbClr val="D9F2F1"/>
          </a:solidFill>
          <a:ln/>
        </p:spPr>
      </p:sp>
      <p:pic>
        <p:nvPicPr>
          <p:cNvPr id="18" name="Image 0" descr="preencoded.png">    </p:cNvPr>
          <p:cNvPicPr>
            <a:picLocks noChangeAspect="1"/>
          </p:cNvPicPr>
          <p:nvPr/>
        </p:nvPicPr>
        <p:blipFill>
          <a:blip r:embed="rId1"/>
          <a:stretch>
            <a:fillRect/>
          </a:stretch>
        </p:blipFill>
        <p:spPr>
          <a:xfrm>
            <a:off x="841248" y="2240280"/>
            <a:ext cx="365760" cy="365760"/>
          </a:xfrm>
          <a:prstGeom prst="rect">
            <a:avLst/>
          </a:prstGeom>
        </p:spPr>
      </p:pic>
      <p:sp>
        <p:nvSpPr>
          <p:cNvPr id="19" name="Text 16"/>
          <p:cNvSpPr txBox="1"/>
          <p:nvPr/>
        </p:nvSpPr>
        <p:spPr>
          <a:xfrm>
            <a:off x="1298448" y="2057400"/>
            <a:ext cx="1399032" cy="731520"/>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トリガー</a:t>
            </a:r>
            <a:endParaRPr lang="en-US" sz="1050" dirty="0"/>
          </a:p>
          <a:p>
            <a:pPr algn="l" indent="0" marL="0">
              <a:buNone/>
            </a:pPr>
            <a:r>
              <a:rPr lang="en-US" sz="900" dirty="0">
                <a:solidFill>
                  <a:srgbClr val="6B7280"/>
                </a:solidFill>
                <a:latin typeface="Meiryo UI" pitchFamily="34" charset="0"/>
                <a:ea typeface="Meiryo UI" pitchFamily="34" charset="-122"/>
                <a:cs typeface="Meiryo UI" pitchFamily="34" charset="-120"/>
              </a:rPr>
              <a:t>カード作成／定時実行</a:t>
            </a:r>
            <a:endParaRPr lang="en-US" sz="1050" dirty="0"/>
          </a:p>
        </p:txBody>
      </p:sp>
      <p:sp>
        <p:nvSpPr>
          <p:cNvPr id="20" name="Shape 17"/>
          <p:cNvSpPr/>
          <p:nvPr/>
        </p:nvSpPr>
        <p:spPr>
          <a:xfrm>
            <a:off x="2788920" y="2423160"/>
            <a:ext cx="182880" cy="0"/>
          </a:xfrm>
          <a:prstGeom prst="line">
            <a:avLst/>
          </a:prstGeom>
          <a:noFill/>
          <a:ln w="22225">
            <a:solidFill>
              <a:srgbClr val="9AA5B4"/>
            </a:solidFill>
            <a:prstDash val="solid"/>
            <a:tailEnd type="triangle"/>
          </a:ln>
        </p:spPr>
      </p:sp>
      <p:sp>
        <p:nvSpPr>
          <p:cNvPr id="21" name="Shape 18"/>
          <p:cNvSpPr/>
          <p:nvPr/>
        </p:nvSpPr>
        <p:spPr>
          <a:xfrm>
            <a:off x="3017520" y="2057400"/>
            <a:ext cx="2011680" cy="731520"/>
          </a:xfrm>
          <a:prstGeom prst="roundRect">
            <a:avLst>
              <a:gd name="adj" fmla="val 10000"/>
            </a:avLst>
          </a:prstGeom>
          <a:solidFill>
            <a:srgbClr val="D9F2F1"/>
          </a:solidFill>
          <a:ln/>
        </p:spPr>
      </p:sp>
      <p:pic>
        <p:nvPicPr>
          <p:cNvPr id="22" name="Image 1" descr="preencoded.png">    </p:cNvPr>
          <p:cNvPicPr>
            <a:picLocks noChangeAspect="1"/>
          </p:cNvPicPr>
          <p:nvPr/>
        </p:nvPicPr>
        <p:blipFill>
          <a:blip r:embed="rId2"/>
          <a:stretch>
            <a:fillRect/>
          </a:stretch>
        </p:blipFill>
        <p:spPr>
          <a:xfrm>
            <a:off x="3127248" y="2240280"/>
            <a:ext cx="365760" cy="365760"/>
          </a:xfrm>
          <a:prstGeom prst="rect">
            <a:avLst/>
          </a:prstGeom>
        </p:spPr>
      </p:pic>
      <p:sp>
        <p:nvSpPr>
          <p:cNvPr id="23" name="Text 19"/>
          <p:cNvSpPr txBox="1"/>
          <p:nvPr/>
        </p:nvSpPr>
        <p:spPr>
          <a:xfrm>
            <a:off x="3584448" y="2057400"/>
            <a:ext cx="1399032" cy="731520"/>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エージェント</a:t>
            </a:r>
            <a:endParaRPr lang="en-US" sz="1050" dirty="0"/>
          </a:p>
          <a:p>
            <a:pPr algn="l" indent="0" marL="0">
              <a:buNone/>
            </a:pPr>
            <a:r>
              <a:rPr lang="en-US" sz="900" dirty="0">
                <a:solidFill>
                  <a:srgbClr val="6B7280"/>
                </a:solidFill>
                <a:latin typeface="Meiryo UI" pitchFamily="34" charset="0"/>
                <a:ea typeface="Meiryo UI" pitchFamily="34" charset="-122"/>
                <a:cs typeface="Meiryo UI" pitchFamily="34" charset="-120"/>
              </a:rPr>
              <a:t>ADK／Cloud Run</a:t>
            </a:r>
            <a:endParaRPr lang="en-US" sz="1050" dirty="0"/>
          </a:p>
        </p:txBody>
      </p:sp>
      <p:sp>
        <p:nvSpPr>
          <p:cNvPr id="24" name="Shape 20"/>
          <p:cNvSpPr/>
          <p:nvPr/>
        </p:nvSpPr>
        <p:spPr>
          <a:xfrm>
            <a:off x="5074920" y="2423160"/>
            <a:ext cx="182880" cy="0"/>
          </a:xfrm>
          <a:prstGeom prst="line">
            <a:avLst/>
          </a:prstGeom>
          <a:noFill/>
          <a:ln w="22225">
            <a:solidFill>
              <a:srgbClr val="9AA5B4"/>
            </a:solidFill>
            <a:prstDash val="solid"/>
            <a:tailEnd type="triangle"/>
          </a:ln>
        </p:spPr>
      </p:sp>
      <p:sp>
        <p:nvSpPr>
          <p:cNvPr id="25" name="Shape 21"/>
          <p:cNvSpPr/>
          <p:nvPr/>
        </p:nvSpPr>
        <p:spPr>
          <a:xfrm>
            <a:off x="5303520" y="2057400"/>
            <a:ext cx="2011680" cy="731520"/>
          </a:xfrm>
          <a:prstGeom prst="roundRect">
            <a:avLst>
              <a:gd name="adj" fmla="val 10000"/>
            </a:avLst>
          </a:prstGeom>
          <a:solidFill>
            <a:srgbClr val="0E9F9A"/>
          </a:solidFill>
          <a:ln/>
        </p:spPr>
      </p:sp>
      <p:sp>
        <p:nvSpPr>
          <p:cNvPr id="26" name="Shape 22"/>
          <p:cNvSpPr/>
          <p:nvPr/>
        </p:nvSpPr>
        <p:spPr>
          <a:xfrm>
            <a:off x="5376672" y="2167128"/>
            <a:ext cx="512064" cy="512064"/>
          </a:xfrm>
          <a:prstGeom prst="ellipse">
            <a:avLst/>
          </a:prstGeom>
          <a:solidFill>
            <a:srgbClr val="FFFFFF"/>
          </a:solidFill>
          <a:ln/>
        </p:spPr>
      </p:sp>
      <p:pic>
        <p:nvPicPr>
          <p:cNvPr id="27" name="Image 2" descr="preencoded.png">    </p:cNvPr>
          <p:cNvPicPr>
            <a:picLocks noChangeAspect="1"/>
          </p:cNvPicPr>
          <p:nvPr/>
        </p:nvPicPr>
        <p:blipFill>
          <a:blip r:embed="rId3"/>
          <a:stretch>
            <a:fillRect/>
          </a:stretch>
        </p:blipFill>
        <p:spPr>
          <a:xfrm>
            <a:off x="5449824" y="2240280"/>
            <a:ext cx="365760" cy="365760"/>
          </a:xfrm>
          <a:prstGeom prst="rect">
            <a:avLst/>
          </a:prstGeom>
        </p:spPr>
      </p:pic>
      <p:sp>
        <p:nvSpPr>
          <p:cNvPr id="28" name="Text 23"/>
          <p:cNvSpPr txBox="1"/>
          <p:nvPr/>
        </p:nvSpPr>
        <p:spPr>
          <a:xfrm>
            <a:off x="6035040" y="2057400"/>
            <a:ext cx="1234440" cy="731520"/>
          </a:xfrm>
          <a:prstGeom prst="rect">
            <a:avLst/>
          </a:prstGeom>
          <a:noFill/>
          <a:ln/>
        </p:spPr>
        <p:txBody>
          <a:bodyPr wrap="square" lIns="0" tIns="0" rIns="0" bIns="0" rtlCol="0" anchor="ctr"/>
          <a:lstStyle/>
          <a:p>
            <a:pPr algn="l" indent="0" marL="0">
              <a:buNone/>
            </a:pPr>
            <a:r>
              <a:rPr lang="en-US" sz="1050" b="1" dirty="0">
                <a:solidFill>
                  <a:srgbClr val="FFFFFF"/>
                </a:solidFill>
                <a:latin typeface="Meiryo UI" pitchFamily="34" charset="0"/>
                <a:ea typeface="Meiryo UI" pitchFamily="34" charset="-122"/>
                <a:cs typeface="Meiryo UI" pitchFamily="34" charset="-120"/>
              </a:rPr>
              <a:t>Gemini</a:t>
            </a:r>
            <a:endParaRPr lang="en-US" sz="1050" dirty="0"/>
          </a:p>
          <a:p>
            <a:pPr algn="l" indent="0" marL="0">
              <a:buNone/>
            </a:pPr>
            <a:r>
              <a:rPr lang="en-US" sz="900" dirty="0">
                <a:solidFill>
                  <a:srgbClr val="E6F2F2"/>
                </a:solidFill>
                <a:latin typeface="Meiryo UI" pitchFamily="34" charset="0"/>
                <a:ea typeface="Meiryo UI" pitchFamily="34" charset="-122"/>
                <a:cs typeface="Meiryo UI" pitchFamily="34" charset="-120"/>
              </a:rPr>
              <a:t>Agent Platform</a:t>
            </a:r>
            <a:endParaRPr lang="en-US" sz="1050" dirty="0"/>
          </a:p>
        </p:txBody>
      </p:sp>
      <p:sp>
        <p:nvSpPr>
          <p:cNvPr id="29" name="Shape 24"/>
          <p:cNvSpPr/>
          <p:nvPr/>
        </p:nvSpPr>
        <p:spPr>
          <a:xfrm>
            <a:off x="731520" y="3246120"/>
            <a:ext cx="2011680" cy="731520"/>
          </a:xfrm>
          <a:prstGeom prst="roundRect">
            <a:avLst>
              <a:gd name="adj" fmla="val 10000"/>
            </a:avLst>
          </a:prstGeom>
          <a:solidFill>
            <a:srgbClr val="E3EAF5"/>
          </a:solidFill>
          <a:ln/>
        </p:spPr>
      </p:sp>
      <p:pic>
        <p:nvPicPr>
          <p:cNvPr id="30" name="Image 3" descr="preencoded.png">    </p:cNvPr>
          <p:cNvPicPr>
            <a:picLocks noChangeAspect="1"/>
          </p:cNvPicPr>
          <p:nvPr/>
        </p:nvPicPr>
        <p:blipFill>
          <a:blip r:embed="rId4"/>
          <a:stretch>
            <a:fillRect/>
          </a:stretch>
        </p:blipFill>
        <p:spPr>
          <a:xfrm>
            <a:off x="841248" y="3429000"/>
            <a:ext cx="365760" cy="365760"/>
          </a:xfrm>
          <a:prstGeom prst="rect">
            <a:avLst/>
          </a:prstGeom>
        </p:spPr>
      </p:pic>
      <p:sp>
        <p:nvSpPr>
          <p:cNvPr id="31" name="Text 25"/>
          <p:cNvSpPr txBox="1"/>
          <p:nvPr/>
        </p:nvSpPr>
        <p:spPr>
          <a:xfrm>
            <a:off x="1298448" y="3246120"/>
            <a:ext cx="1399032" cy="731520"/>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BigQuery</a:t>
            </a:r>
            <a:endParaRPr lang="en-US" sz="1050" dirty="0"/>
          </a:p>
          <a:p>
            <a:pPr algn="l" indent="0" marL="0">
              <a:buNone/>
            </a:pPr>
            <a:r>
              <a:rPr lang="en-US" sz="900" dirty="0">
                <a:solidFill>
                  <a:srgbClr val="6B7280"/>
                </a:solidFill>
                <a:latin typeface="Meiryo UI" pitchFamily="34" charset="0"/>
                <a:ea typeface="Meiryo UI" pitchFamily="34" charset="-122"/>
                <a:cs typeface="Meiryo UI" pitchFamily="34" charset="-120"/>
              </a:rPr>
              <a:t>直接参照・スコア</a:t>
            </a:r>
            <a:endParaRPr lang="en-US" sz="1050" dirty="0"/>
          </a:p>
        </p:txBody>
      </p:sp>
      <p:sp>
        <p:nvSpPr>
          <p:cNvPr id="32" name="Shape 26"/>
          <p:cNvSpPr/>
          <p:nvPr/>
        </p:nvSpPr>
        <p:spPr>
          <a:xfrm flipV="1">
            <a:off x="2743200" y="2834640"/>
            <a:ext cx="411480" cy="548640"/>
          </a:xfrm>
          <a:prstGeom prst="line">
            <a:avLst/>
          </a:prstGeom>
          <a:noFill/>
          <a:ln w="22225">
            <a:solidFill>
              <a:srgbClr val="9AA5B4"/>
            </a:solidFill>
            <a:prstDash val="solid"/>
            <a:tailEnd type="triangle"/>
          </a:ln>
        </p:spPr>
      </p:sp>
      <p:sp>
        <p:nvSpPr>
          <p:cNvPr id="33" name="Shape 27"/>
          <p:cNvSpPr/>
          <p:nvPr/>
        </p:nvSpPr>
        <p:spPr>
          <a:xfrm>
            <a:off x="3017520" y="3246120"/>
            <a:ext cx="2011680" cy="731520"/>
          </a:xfrm>
          <a:prstGeom prst="roundRect">
            <a:avLst>
              <a:gd name="adj" fmla="val 10000"/>
            </a:avLst>
          </a:prstGeom>
          <a:solidFill>
            <a:srgbClr val="E3EAF5"/>
          </a:solidFill>
          <a:ln/>
        </p:spPr>
      </p:sp>
      <p:pic>
        <p:nvPicPr>
          <p:cNvPr id="34" name="Image 4" descr="preencoded.png">    </p:cNvPr>
          <p:cNvPicPr>
            <a:picLocks noChangeAspect="1"/>
          </p:cNvPicPr>
          <p:nvPr/>
        </p:nvPicPr>
        <p:blipFill>
          <a:blip r:embed="rId5"/>
          <a:stretch>
            <a:fillRect/>
          </a:stretch>
        </p:blipFill>
        <p:spPr>
          <a:xfrm>
            <a:off x="3127248" y="3429000"/>
            <a:ext cx="365760" cy="365760"/>
          </a:xfrm>
          <a:prstGeom prst="rect">
            <a:avLst/>
          </a:prstGeom>
        </p:spPr>
      </p:pic>
      <p:sp>
        <p:nvSpPr>
          <p:cNvPr id="35" name="Text 28"/>
          <p:cNvSpPr txBox="1"/>
          <p:nvPr/>
        </p:nvSpPr>
        <p:spPr>
          <a:xfrm>
            <a:off x="3584448" y="3246120"/>
            <a:ext cx="1399032" cy="731520"/>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資料の検索</a:t>
            </a:r>
            <a:endParaRPr lang="en-US" sz="1050" dirty="0"/>
          </a:p>
          <a:p>
            <a:pPr algn="l" indent="0" marL="0">
              <a:buNone/>
            </a:pPr>
            <a:r>
              <a:rPr lang="en-US" sz="900" dirty="0">
                <a:solidFill>
                  <a:srgbClr val="6B7280"/>
                </a:solidFill>
                <a:latin typeface="Meiryo UI" pitchFamily="34" charset="0"/>
                <a:ea typeface="Meiryo UI" pitchFamily="34" charset="-122"/>
                <a:cs typeface="Meiryo UI" pitchFamily="34" charset="-120"/>
              </a:rPr>
              <a:t>SharePointから同期</a:t>
            </a:r>
            <a:endParaRPr lang="en-US" sz="1050" dirty="0"/>
          </a:p>
        </p:txBody>
      </p:sp>
      <p:sp>
        <p:nvSpPr>
          <p:cNvPr id="36" name="Shape 29"/>
          <p:cNvSpPr/>
          <p:nvPr/>
        </p:nvSpPr>
        <p:spPr>
          <a:xfrm flipV="1">
            <a:off x="4023360" y="2834640"/>
            <a:ext cx="0" cy="365760"/>
          </a:xfrm>
          <a:prstGeom prst="line">
            <a:avLst/>
          </a:prstGeom>
          <a:noFill/>
          <a:ln w="22225">
            <a:solidFill>
              <a:srgbClr val="9AA5B4"/>
            </a:solidFill>
            <a:prstDash val="solid"/>
            <a:tailEnd type="triangle"/>
          </a:ln>
        </p:spPr>
      </p:sp>
      <p:sp>
        <p:nvSpPr>
          <p:cNvPr id="37" name="Shape 30"/>
          <p:cNvSpPr/>
          <p:nvPr/>
        </p:nvSpPr>
        <p:spPr>
          <a:xfrm>
            <a:off x="6309360" y="2834640"/>
            <a:ext cx="0" cy="365760"/>
          </a:xfrm>
          <a:prstGeom prst="line">
            <a:avLst/>
          </a:prstGeom>
          <a:noFill/>
          <a:ln w="22225">
            <a:solidFill>
              <a:srgbClr val="9AA5B4"/>
            </a:solidFill>
            <a:prstDash val="solid"/>
            <a:tailEnd type="triangle"/>
          </a:ln>
        </p:spPr>
      </p:sp>
      <p:sp>
        <p:nvSpPr>
          <p:cNvPr id="38" name="Shape 31"/>
          <p:cNvSpPr/>
          <p:nvPr/>
        </p:nvSpPr>
        <p:spPr>
          <a:xfrm>
            <a:off x="5303520" y="3246120"/>
            <a:ext cx="2011680" cy="731520"/>
          </a:xfrm>
          <a:prstGeom prst="roundRect">
            <a:avLst>
              <a:gd name="adj" fmla="val 10000"/>
            </a:avLst>
          </a:prstGeom>
          <a:solidFill>
            <a:srgbClr val="FDEBD3"/>
          </a:solidFill>
          <a:ln/>
        </p:spPr>
      </p:sp>
      <p:pic>
        <p:nvPicPr>
          <p:cNvPr id="39" name="Image 5" descr="preencoded.png">    </p:cNvPr>
          <p:cNvPicPr>
            <a:picLocks noChangeAspect="1"/>
          </p:cNvPicPr>
          <p:nvPr/>
        </p:nvPicPr>
        <p:blipFill>
          <a:blip r:embed="rId6"/>
          <a:stretch>
            <a:fillRect/>
          </a:stretch>
        </p:blipFill>
        <p:spPr>
          <a:xfrm>
            <a:off x="5413248" y="3429000"/>
            <a:ext cx="365760" cy="365760"/>
          </a:xfrm>
          <a:prstGeom prst="rect">
            <a:avLst/>
          </a:prstGeom>
        </p:spPr>
      </p:pic>
      <p:sp>
        <p:nvSpPr>
          <p:cNvPr id="40" name="Text 32"/>
          <p:cNvSpPr txBox="1"/>
          <p:nvPr/>
        </p:nvSpPr>
        <p:spPr>
          <a:xfrm>
            <a:off x="5870448" y="3246120"/>
            <a:ext cx="1399032" cy="731520"/>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Airtable</a:t>
            </a:r>
            <a:endParaRPr lang="en-US" sz="1050" dirty="0"/>
          </a:p>
          <a:p>
            <a:pPr algn="l" indent="0" marL="0">
              <a:buNone/>
            </a:pPr>
            <a:r>
              <a:rPr lang="en-US" sz="900" dirty="0">
                <a:solidFill>
                  <a:srgbClr val="6B7280"/>
                </a:solidFill>
                <a:latin typeface="Meiryo UI" pitchFamily="34" charset="0"/>
                <a:ea typeface="Meiryo UI" pitchFamily="34" charset="-122"/>
                <a:cs typeface="Meiryo UI" pitchFamily="34" charset="-120"/>
              </a:rPr>
              <a:t>書き戻し→人がレビュー</a:t>
            </a:r>
            <a:endParaRPr lang="en-US" sz="1050" dirty="0"/>
          </a:p>
        </p:txBody>
      </p:sp>
      <p:sp>
        <p:nvSpPr>
          <p:cNvPr id="41" name="Shape 33"/>
          <p:cNvSpPr/>
          <p:nvPr/>
        </p:nvSpPr>
        <p:spPr>
          <a:xfrm>
            <a:off x="7680960" y="1874520"/>
            <a:ext cx="3931920" cy="2514600"/>
          </a:xfrm>
          <a:prstGeom prst="roundRect">
            <a:avLst>
              <a:gd name="adj" fmla="val 2182"/>
            </a:avLst>
          </a:prstGeom>
          <a:solidFill>
            <a:srgbClr val="E3EAF5"/>
          </a:solidFill>
          <a:ln/>
        </p:spPr>
      </p:sp>
      <p:sp>
        <p:nvSpPr>
          <p:cNvPr id="42" name="Shape 34"/>
          <p:cNvSpPr/>
          <p:nvPr/>
        </p:nvSpPr>
        <p:spPr>
          <a:xfrm>
            <a:off x="7818120" y="1993392"/>
            <a:ext cx="384048" cy="384048"/>
          </a:xfrm>
          <a:prstGeom prst="ellipse">
            <a:avLst/>
          </a:prstGeom>
          <a:solidFill>
            <a:srgbClr val="FFFFFF"/>
          </a:solidFill>
          <a:ln/>
        </p:spPr>
      </p:sp>
      <p:pic>
        <p:nvPicPr>
          <p:cNvPr id="43" name="Image 6" descr="preencoded.png">    </p:cNvPr>
          <p:cNvPicPr>
            <a:picLocks noChangeAspect="1"/>
          </p:cNvPicPr>
          <p:nvPr/>
        </p:nvPicPr>
        <p:blipFill>
          <a:blip r:embed="rId7"/>
          <a:stretch>
            <a:fillRect/>
          </a:stretch>
        </p:blipFill>
        <p:spPr>
          <a:xfrm>
            <a:off x="7894930" y="2070202"/>
            <a:ext cx="230429" cy="230429"/>
          </a:xfrm>
          <a:prstGeom prst="rect">
            <a:avLst/>
          </a:prstGeom>
        </p:spPr>
      </p:pic>
      <p:sp>
        <p:nvSpPr>
          <p:cNvPr id="44" name="Text 35"/>
          <p:cNvSpPr txBox="1"/>
          <p:nvPr/>
        </p:nvSpPr>
        <p:spPr>
          <a:xfrm>
            <a:off x="8275320" y="1993392"/>
            <a:ext cx="3246120" cy="384048"/>
          </a:xfrm>
          <a:prstGeom prst="rect">
            <a:avLst/>
          </a:prstGeom>
          <a:noFill/>
          <a:ln/>
        </p:spPr>
        <p:txBody>
          <a:bodyPr wrap="square" lIns="0" tIns="0" rIns="0" bIns="0"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必要な機能・準備</a:t>
            </a:r>
            <a:endParaRPr lang="en-US" sz="1300" dirty="0"/>
          </a:p>
        </p:txBody>
      </p:sp>
      <p:sp>
        <p:nvSpPr>
          <p:cNvPr id="45" name="Text 36"/>
          <p:cNvSpPr txBox="1"/>
          <p:nvPr/>
        </p:nvSpPr>
        <p:spPr>
          <a:xfrm>
            <a:off x="7863840" y="2478024"/>
            <a:ext cx="3611880" cy="1819656"/>
          </a:xfrm>
          <a:prstGeom prst="rect">
            <a:avLst/>
          </a:prstGeom>
          <a:noFill/>
          <a:ln/>
        </p:spPr>
        <p:txBody>
          <a:bodyPr wrap="square" lIns="254" tIns="254" rIns="254" bIns="254" rtlCol="0" anchor="t"/>
          <a:lstStyle/>
          <a:p>
            <a:pPr marL="152400" indent="-152400">
              <a:spcAft>
                <a:spcPts val="300"/>
              </a:spcAft>
              <a:buSzPct val="100000"/>
              <a:buChar char="•"/>
            </a:pPr>
            <a:r>
              <a:rPr lang="en-US" sz="1100" dirty="0">
                <a:solidFill>
                  <a:srgbClr val="2B2B2B"/>
                </a:solidFill>
                <a:latin typeface="Meiryo UI" pitchFamily="34" charset="0"/>
                <a:ea typeface="Meiryo UI" pitchFamily="34" charset="-122"/>
                <a:cs typeface="Meiryo UI" pitchFamily="34" charset="-120"/>
              </a:rPr>
              <a:t>Gemini Enterprise Agent Platform（旧Vertex AI）</a:t>
            </a:r>
            <a:endParaRPr lang="en-US" sz="1100" dirty="0"/>
          </a:p>
          <a:p>
            <a:pPr marL="152400" indent="-152400">
              <a:spcAft>
                <a:spcPts val="300"/>
              </a:spcAft>
              <a:buSzPct val="100000"/>
              <a:buChar char="•"/>
            </a:pPr>
            <a:r>
              <a:rPr lang="en-US" sz="1100" dirty="0">
                <a:solidFill>
                  <a:srgbClr val="2B2B2B"/>
                </a:solidFill>
                <a:latin typeface="Meiryo UI" pitchFamily="34" charset="0"/>
                <a:ea typeface="Meiryo UI" pitchFamily="34" charset="-122"/>
                <a:cs typeface="Meiryo UI" pitchFamily="34" charset="-120"/>
              </a:rPr>
              <a:t>ADKなどでのエージェント開発、Cloud Run／Scheduler</a:t>
            </a:r>
            <a:endParaRPr lang="en-US" sz="1100" dirty="0"/>
          </a:p>
          <a:p>
            <a:pPr marL="152400" indent="-152400">
              <a:spcAft>
                <a:spcPts val="300"/>
              </a:spcAft>
              <a:buSzPct val="100000"/>
              <a:buChar char="•"/>
            </a:pPr>
            <a:r>
              <a:rPr lang="en-US" sz="1100" dirty="0">
                <a:solidFill>
                  <a:srgbClr val="2B2B2B"/>
                </a:solidFill>
                <a:latin typeface="Meiryo UI" pitchFamily="34" charset="0"/>
                <a:ea typeface="Meiryo UI" pitchFamily="34" charset="-122"/>
                <a:cs typeface="Meiryo UI" pitchFamily="34" charset="-120"/>
              </a:rPr>
              <a:t>Agent Platformの検索・RAG機能</a:t>
            </a:r>
            <a:endParaRPr lang="en-US" sz="1100" dirty="0"/>
          </a:p>
          <a:p>
            <a:pPr marL="152400" indent="-152400">
              <a:spcAft>
                <a:spcPts val="300"/>
              </a:spcAft>
              <a:buSzPct val="100000"/>
              <a:buChar char="•"/>
            </a:pPr>
            <a:r>
              <a:rPr lang="en-US" sz="1100" dirty="0">
                <a:solidFill>
                  <a:srgbClr val="2B2B2B"/>
                </a:solidFill>
                <a:latin typeface="Meiryo UI" pitchFamily="34" charset="0"/>
                <a:ea typeface="Meiryo UI" pitchFamily="34" charset="-122"/>
                <a:cs typeface="Meiryo UI" pitchFamily="34" charset="-120"/>
              </a:rPr>
              <a:t>SharePoint→GCPの同期（共通要素①）</a:t>
            </a:r>
            <a:endParaRPr lang="en-US" sz="1100" dirty="0"/>
          </a:p>
          <a:p>
            <a:pPr marL="152400" indent="-152400">
              <a:spcAft>
                <a:spcPts val="300"/>
              </a:spcAft>
              <a:buSzPct val="100000"/>
              <a:buChar char="•"/>
            </a:pPr>
            <a:r>
              <a:rPr lang="en-US" sz="1100" dirty="0">
                <a:solidFill>
                  <a:srgbClr val="2B2B2B"/>
                </a:solidFill>
                <a:latin typeface="Meiryo UI" pitchFamily="34" charset="0"/>
                <a:ea typeface="Meiryo UI" pitchFamily="34" charset="-122"/>
                <a:cs typeface="Meiryo UI" pitchFamily="34" charset="-120"/>
              </a:rPr>
              <a:t>Airtable API、Teamsへの通知</a:t>
            </a:r>
            <a:endParaRPr lang="en-US" sz="1100" dirty="0"/>
          </a:p>
        </p:txBody>
      </p:sp>
      <p:sp>
        <p:nvSpPr>
          <p:cNvPr id="46" name="Shape 37"/>
          <p:cNvSpPr/>
          <p:nvPr/>
        </p:nvSpPr>
        <p:spPr>
          <a:xfrm>
            <a:off x="548640" y="4572000"/>
            <a:ext cx="3566160" cy="1783080"/>
          </a:xfrm>
          <a:prstGeom prst="roundRect">
            <a:avLst>
              <a:gd name="adj" fmla="val 3077"/>
            </a:avLst>
          </a:prstGeom>
          <a:solidFill>
            <a:srgbClr val="D9F2F1"/>
          </a:solidFill>
          <a:ln/>
        </p:spPr>
      </p:sp>
      <p:sp>
        <p:nvSpPr>
          <p:cNvPr id="47" name="Shape 38"/>
          <p:cNvSpPr/>
          <p:nvPr/>
        </p:nvSpPr>
        <p:spPr>
          <a:xfrm>
            <a:off x="685800" y="4690872"/>
            <a:ext cx="384048" cy="384048"/>
          </a:xfrm>
          <a:prstGeom prst="ellipse">
            <a:avLst/>
          </a:prstGeom>
          <a:solidFill>
            <a:srgbClr val="FFFFFF"/>
          </a:solidFill>
          <a:ln/>
        </p:spPr>
      </p:sp>
      <p:pic>
        <p:nvPicPr>
          <p:cNvPr id="48" name="Image 7" descr="preencoded.png">    </p:cNvPr>
          <p:cNvPicPr>
            <a:picLocks noChangeAspect="1"/>
          </p:cNvPicPr>
          <p:nvPr/>
        </p:nvPicPr>
        <p:blipFill>
          <a:blip r:embed="rId8"/>
          <a:stretch>
            <a:fillRect/>
          </a:stretch>
        </p:blipFill>
        <p:spPr>
          <a:xfrm>
            <a:off x="762610" y="4767682"/>
            <a:ext cx="230429" cy="230429"/>
          </a:xfrm>
          <a:prstGeom prst="rect">
            <a:avLst/>
          </a:prstGeom>
        </p:spPr>
      </p:pic>
      <p:sp>
        <p:nvSpPr>
          <p:cNvPr id="49" name="Text 39"/>
          <p:cNvSpPr txBox="1"/>
          <p:nvPr/>
        </p:nvSpPr>
        <p:spPr>
          <a:xfrm>
            <a:off x="1143000" y="4690872"/>
            <a:ext cx="2880360" cy="384048"/>
          </a:xfrm>
          <a:prstGeom prst="rect">
            <a:avLst/>
          </a:prstGeom>
          <a:noFill/>
          <a:ln/>
        </p:spPr>
        <p:txBody>
          <a:bodyPr wrap="square" lIns="0" tIns="0" rIns="0" bIns="0"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特徴</a:t>
            </a:r>
            <a:endParaRPr lang="en-US" sz="1300" dirty="0"/>
          </a:p>
        </p:txBody>
      </p:sp>
      <p:sp>
        <p:nvSpPr>
          <p:cNvPr id="50" name="Text 40"/>
          <p:cNvSpPr txBox="1"/>
          <p:nvPr/>
        </p:nvSpPr>
        <p:spPr>
          <a:xfrm>
            <a:off x="731520" y="5175504"/>
            <a:ext cx="3246120" cy="1088136"/>
          </a:xfrm>
          <a:prstGeom prst="rect">
            <a:avLst/>
          </a:prstGeom>
          <a:noFill/>
          <a:ln/>
        </p:spPr>
        <p:txBody>
          <a:bodyPr wrap="square" lIns="254" tIns="254" rIns="254" bIns="254" rtlCol="0" anchor="t"/>
          <a:lstStyle/>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試作（SQL→Pandas→Gemini）の構成をほぼそのまま流用できる</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前処理と推論を同じ環境で完結できる</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作ったエージェントをGemini Enterpriseにも公開できる</a:t>
            </a:r>
            <a:endParaRPr lang="en-US" sz="1150" dirty="0"/>
          </a:p>
        </p:txBody>
      </p:sp>
      <p:sp>
        <p:nvSpPr>
          <p:cNvPr id="51" name="Shape 41"/>
          <p:cNvSpPr/>
          <p:nvPr/>
        </p:nvSpPr>
        <p:spPr>
          <a:xfrm>
            <a:off x="4297680" y="4572000"/>
            <a:ext cx="3566160" cy="1783080"/>
          </a:xfrm>
          <a:prstGeom prst="roundRect">
            <a:avLst>
              <a:gd name="adj" fmla="val 3077"/>
            </a:avLst>
          </a:prstGeom>
          <a:solidFill>
            <a:srgbClr val="FBE3E3"/>
          </a:solidFill>
          <a:ln/>
        </p:spPr>
      </p:sp>
      <p:sp>
        <p:nvSpPr>
          <p:cNvPr id="52" name="Shape 42"/>
          <p:cNvSpPr/>
          <p:nvPr/>
        </p:nvSpPr>
        <p:spPr>
          <a:xfrm>
            <a:off x="4434840" y="4690872"/>
            <a:ext cx="384048" cy="384048"/>
          </a:xfrm>
          <a:prstGeom prst="ellipse">
            <a:avLst/>
          </a:prstGeom>
          <a:solidFill>
            <a:srgbClr val="FFFFFF"/>
          </a:solidFill>
          <a:ln/>
        </p:spPr>
      </p:sp>
      <p:pic>
        <p:nvPicPr>
          <p:cNvPr id="53" name="Image 8" descr="preencoded.png">    </p:cNvPr>
          <p:cNvPicPr>
            <a:picLocks noChangeAspect="1"/>
          </p:cNvPicPr>
          <p:nvPr/>
        </p:nvPicPr>
        <p:blipFill>
          <a:blip r:embed="rId9"/>
          <a:stretch>
            <a:fillRect/>
          </a:stretch>
        </p:blipFill>
        <p:spPr>
          <a:xfrm>
            <a:off x="4511650" y="4767682"/>
            <a:ext cx="230429" cy="230429"/>
          </a:xfrm>
          <a:prstGeom prst="rect">
            <a:avLst/>
          </a:prstGeom>
        </p:spPr>
      </p:pic>
      <p:sp>
        <p:nvSpPr>
          <p:cNvPr id="54" name="Text 43"/>
          <p:cNvSpPr txBox="1"/>
          <p:nvPr/>
        </p:nvSpPr>
        <p:spPr>
          <a:xfrm>
            <a:off x="4892040" y="4690872"/>
            <a:ext cx="2880360" cy="384048"/>
          </a:xfrm>
          <a:prstGeom prst="rect">
            <a:avLst/>
          </a:prstGeom>
          <a:noFill/>
          <a:ln/>
        </p:spPr>
        <p:txBody>
          <a:bodyPr wrap="square" lIns="0" tIns="0" rIns="0" bIns="0"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留意点・制約</a:t>
            </a:r>
            <a:endParaRPr lang="en-US" sz="1300" dirty="0"/>
          </a:p>
        </p:txBody>
      </p:sp>
      <p:sp>
        <p:nvSpPr>
          <p:cNvPr id="55" name="Text 44"/>
          <p:cNvSpPr txBox="1"/>
          <p:nvPr/>
        </p:nvSpPr>
        <p:spPr>
          <a:xfrm>
            <a:off x="4480560" y="5175504"/>
            <a:ext cx="3246120" cy="1088136"/>
          </a:xfrm>
          <a:prstGeom prst="rect">
            <a:avLst/>
          </a:prstGeom>
          <a:noFill/>
          <a:ln/>
        </p:spPr>
        <p:txBody>
          <a:bodyPr wrap="square" lIns="254" tIns="254" rIns="254" bIns="254" rtlCol="0" anchor="t"/>
          <a:lstStyle/>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資料の同期の仕組みと権限設計が必要（取り込み自体は可）</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エージェントの開発・保守が必要</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Airtable・M365・GCPの3つにまたがる</a:t>
            </a:r>
            <a:endParaRPr lang="en-US" sz="1150" dirty="0"/>
          </a:p>
        </p:txBody>
      </p:sp>
      <p:sp>
        <p:nvSpPr>
          <p:cNvPr id="56" name="Shape 45"/>
          <p:cNvSpPr/>
          <p:nvPr/>
        </p:nvSpPr>
        <p:spPr>
          <a:xfrm>
            <a:off x="8046720" y="4572000"/>
            <a:ext cx="3566160" cy="1783080"/>
          </a:xfrm>
          <a:prstGeom prst="roundRect">
            <a:avLst>
              <a:gd name="adj" fmla="val 3077"/>
            </a:avLst>
          </a:prstGeom>
          <a:solidFill>
            <a:srgbClr val="FDEBD3"/>
          </a:solidFill>
          <a:ln/>
        </p:spPr>
      </p:sp>
      <p:sp>
        <p:nvSpPr>
          <p:cNvPr id="57" name="Shape 46"/>
          <p:cNvSpPr/>
          <p:nvPr/>
        </p:nvSpPr>
        <p:spPr>
          <a:xfrm>
            <a:off x="8183880" y="4690872"/>
            <a:ext cx="384048" cy="384048"/>
          </a:xfrm>
          <a:prstGeom prst="ellipse">
            <a:avLst/>
          </a:prstGeom>
          <a:solidFill>
            <a:srgbClr val="FFFFFF"/>
          </a:solidFill>
          <a:ln/>
        </p:spPr>
      </p:sp>
      <p:pic>
        <p:nvPicPr>
          <p:cNvPr id="58" name="Image 9" descr="preencoded.png">    </p:cNvPr>
          <p:cNvPicPr>
            <a:picLocks noChangeAspect="1"/>
          </p:cNvPicPr>
          <p:nvPr/>
        </p:nvPicPr>
        <p:blipFill>
          <a:blip r:embed="rId10"/>
          <a:stretch>
            <a:fillRect/>
          </a:stretch>
        </p:blipFill>
        <p:spPr>
          <a:xfrm>
            <a:off x="8260690" y="4767682"/>
            <a:ext cx="230429" cy="230429"/>
          </a:xfrm>
          <a:prstGeom prst="rect">
            <a:avLst/>
          </a:prstGeom>
        </p:spPr>
      </p:pic>
      <p:sp>
        <p:nvSpPr>
          <p:cNvPr id="59" name="Text 47"/>
          <p:cNvSpPr txBox="1"/>
          <p:nvPr/>
        </p:nvSpPr>
        <p:spPr>
          <a:xfrm>
            <a:off x="8641080" y="4690872"/>
            <a:ext cx="2880360" cy="384048"/>
          </a:xfrm>
          <a:prstGeom prst="rect">
            <a:avLst/>
          </a:prstGeom>
          <a:noFill/>
          <a:ln/>
        </p:spPr>
        <p:txBody>
          <a:bodyPr wrap="square" lIns="0" tIns="0" rIns="0" bIns="0"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検討ポイント</a:t>
            </a:r>
            <a:endParaRPr lang="en-US" sz="1300" dirty="0"/>
          </a:p>
        </p:txBody>
      </p:sp>
      <p:sp>
        <p:nvSpPr>
          <p:cNvPr id="60" name="Text 48"/>
          <p:cNvSpPr txBox="1"/>
          <p:nvPr/>
        </p:nvSpPr>
        <p:spPr>
          <a:xfrm>
            <a:off x="8229600" y="5175504"/>
            <a:ext cx="3246120" cy="1088136"/>
          </a:xfrm>
          <a:prstGeom prst="rect">
            <a:avLst/>
          </a:prstGeom>
          <a:noFill/>
          <a:ln/>
        </p:spPr>
        <p:txBody>
          <a:bodyPr wrap="square" lIns="254" tIns="254" rIns="254" bIns="254" rtlCol="0" anchor="t"/>
          <a:lstStyle/>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試作で得た知見をどこまで流用できるか</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同期する資料の範囲</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2026年から始まる一部機能の課金の影響</a:t>
            </a:r>
            <a:endParaRPr lang="en-US" sz="1150" dirty="0"/>
          </a:p>
        </p:txBody>
      </p:sp>
      <p:sp>
        <p:nvSpPr>
          <p:cNvPr id="61" name="Text 49"/>
          <p:cNvSpPr txBox="1"/>
          <p:nvPr/>
        </p:nvSpPr>
        <p:spPr>
          <a:xfrm>
            <a:off x="548640" y="6400800"/>
            <a:ext cx="10515600" cy="228600"/>
          </a:xfrm>
          <a:prstGeom prst="rect">
            <a:avLst/>
          </a:prstGeom>
          <a:noFill/>
          <a:ln/>
        </p:spPr>
        <p:txBody>
          <a:bodyPr wrap="square" lIns="0" tIns="0" rIns="0" bIns="0" rtlCol="0" anchor="t"/>
          <a:lstStyle/>
          <a:p>
            <a:pPr indent="0" marL="0">
              <a:buNone/>
            </a:pPr>
            <a:r>
              <a:rPr lang="en-US" sz="800" dirty="0">
                <a:solidFill>
                  <a:srgbClr val="6B7280"/>
                </a:solidFill>
                <a:latin typeface="Meiryo UI" pitchFamily="34" charset="0"/>
                <a:ea typeface="Meiryo UI" pitchFamily="34" charset="-122"/>
                <a:cs typeface="Meiryo UI" pitchFamily="34" charset="-120"/>
              </a:rPr>
              <a:t>難易度（★）：開発量・必要なスキル・関係する部署やシステムの数から見た相対的な目安。期間：社内で内製し、PoC後に単独で構築した場合の概算</a:t>
            </a:r>
            <a:endParaRPr lang="en-US" sz="8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548640"/>
          </a:xfrm>
          <a:prstGeom prst="rect">
            <a:avLst/>
          </a:prstGeom>
          <a:noFill/>
          <a:ln/>
        </p:spPr>
        <p:txBody>
          <a:bodyPr wrap="square" lIns="0" tIns="0" rIns="0" bIns="0" rtlCol="0" anchor="ctr"/>
          <a:lstStyle/>
          <a:p>
            <a:pPr indent="0" marL="0">
              <a:buNone/>
            </a:pPr>
            <a:r>
              <a:rPr lang="en-US" sz="2600" b="1" dirty="0">
                <a:solidFill>
                  <a:srgbClr val="1B2A49"/>
                </a:solidFill>
                <a:latin typeface="Meiryo UI" pitchFamily="34" charset="0"/>
                <a:ea typeface="Meiryo UI" pitchFamily="34" charset="-122"/>
                <a:cs typeface="Meiryo UI" pitchFamily="34" charset="-120"/>
              </a:rPr>
              <a:t>B3｜スクラッチ開発（React＋Cloud Run＋Gemini）</a:t>
            </a:r>
            <a:endParaRPr lang="en-US" sz="2600" dirty="0"/>
          </a:p>
        </p:txBody>
      </p:sp>
      <p:sp>
        <p:nvSpPr>
          <p:cNvPr id="3" name="Text 1"/>
          <p:cNvSpPr txBox="1"/>
          <p:nvPr/>
        </p:nvSpPr>
        <p:spPr>
          <a:xfrm>
            <a:off x="548640" y="896112"/>
            <a:ext cx="11064240" cy="365760"/>
          </a:xfrm>
          <a:prstGeom prst="rect">
            <a:avLst/>
          </a:prstGeom>
          <a:noFill/>
          <a:ln/>
        </p:spPr>
        <p:txBody>
          <a:bodyPr wrap="square" lIns="0" tIns="0" rIns="0" bIns="0" rtlCol="0" anchor="ctr"/>
          <a:lstStyle/>
          <a:p>
            <a:pPr indent="0" marL="0">
              <a:buNone/>
            </a:pPr>
            <a:r>
              <a:rPr lang="en-US" sz="1400" dirty="0">
                <a:solidFill>
                  <a:srgbClr val="6B7280"/>
                </a:solidFill>
                <a:latin typeface="Meiryo UI" pitchFamily="34" charset="0"/>
                <a:ea typeface="Meiryo UI" pitchFamily="34" charset="-122"/>
                <a:cs typeface="Meiryo UI" pitchFamily="34" charset="-120"/>
              </a:rPr>
              <a:t>GCP上に専用の配信管理アプリを開発し、画面・データ・AIを一体で設計する</a:t>
            </a:r>
            <a:endParaRPr lang="en-US" sz="1400" dirty="0"/>
          </a:p>
        </p:txBody>
      </p:sp>
      <p:sp>
        <p:nvSpPr>
          <p:cNvPr id="4" name="Text 2"/>
          <p:cNvSpPr txBox="1"/>
          <p:nvPr/>
        </p:nvSpPr>
        <p:spPr>
          <a:xfrm>
            <a:off x="7498080" y="91440"/>
            <a:ext cx="4114800" cy="22860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4. 各パターンの詳細</a:t>
            </a:r>
            <a:endParaRPr lang="en-US" sz="900" dirty="0"/>
          </a:p>
        </p:txBody>
      </p:sp>
      <p:sp>
        <p:nvSpPr>
          <p:cNvPr id="5" name="Text 3"/>
          <p:cNvSpPr txBox="1"/>
          <p:nvPr/>
        </p:nvSpPr>
        <p:spPr>
          <a:xfrm>
            <a:off x="11247120" y="6446520"/>
            <a:ext cx="457200" cy="27432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31</a:t>
            </a:r>
            <a:endParaRPr lang="en-US" sz="900" dirty="0"/>
          </a:p>
        </p:txBody>
      </p:sp>
      <p:sp>
        <p:nvSpPr>
          <p:cNvPr id="6" name="Shape 4"/>
          <p:cNvSpPr/>
          <p:nvPr/>
        </p:nvSpPr>
        <p:spPr>
          <a:xfrm>
            <a:off x="548640" y="1371600"/>
            <a:ext cx="2103120" cy="347472"/>
          </a:xfrm>
          <a:prstGeom prst="roundRect">
            <a:avLst>
              <a:gd name="adj" fmla="val 50000"/>
            </a:avLst>
          </a:prstGeom>
          <a:solidFill>
            <a:srgbClr val="E8F0FE"/>
          </a:solidFill>
          <a:ln/>
        </p:spPr>
      </p:sp>
      <p:sp>
        <p:nvSpPr>
          <p:cNvPr id="7" name="Text 5"/>
          <p:cNvSpPr txBox="1"/>
          <p:nvPr/>
        </p:nvSpPr>
        <p:spPr>
          <a:xfrm>
            <a:off x="548640" y="1371600"/>
            <a:ext cx="2103120" cy="347472"/>
          </a:xfrm>
          <a:prstGeom prst="rect">
            <a:avLst/>
          </a:prstGeom>
          <a:noFill/>
          <a:ln/>
        </p:spPr>
        <p:txBody>
          <a:bodyPr wrap="square" lIns="0" tIns="0" rIns="0" bIns="0" rtlCol="0" anchor="ctr"/>
          <a:lstStyle/>
          <a:p>
            <a:pPr algn="ctr" indent="0" marL="0">
              <a:buNone/>
            </a:pPr>
            <a:r>
              <a:rPr lang="en-US" sz="950" dirty="0">
                <a:solidFill>
                  <a:srgbClr val="4285F4"/>
                </a:solidFill>
                <a:latin typeface="Meiryo UI" pitchFamily="34" charset="0"/>
                <a:ea typeface="Meiryo UI" pitchFamily="34" charset="-122"/>
                <a:cs typeface="Meiryo UI" pitchFamily="34" charset="-120"/>
              </a:rPr>
              <a:t>集約先  </a:t>
            </a:r>
            <a:pPr algn="ctr" indent="0" marL="0">
              <a:buNone/>
            </a:pPr>
            <a:r>
              <a:rPr lang="en-US" sz="1100" b="1" dirty="0">
                <a:solidFill>
                  <a:srgbClr val="4285F4"/>
                </a:solidFill>
                <a:latin typeface="Meiryo UI" pitchFamily="34" charset="0"/>
                <a:ea typeface="Meiryo UI" pitchFamily="34" charset="-122"/>
                <a:cs typeface="Meiryo UI" pitchFamily="34" charset="-120"/>
              </a:rPr>
              <a:t>GCPに寄せる</a:t>
            </a:r>
            <a:endParaRPr lang="en-US" sz="950" dirty="0"/>
          </a:p>
        </p:txBody>
      </p:sp>
      <p:sp>
        <p:nvSpPr>
          <p:cNvPr id="8" name="Shape 6"/>
          <p:cNvSpPr/>
          <p:nvPr/>
        </p:nvSpPr>
        <p:spPr>
          <a:xfrm>
            <a:off x="2788920" y="1371600"/>
            <a:ext cx="2103120" cy="347472"/>
          </a:xfrm>
          <a:prstGeom prst="roundRect">
            <a:avLst>
              <a:gd name="adj" fmla="val 50000"/>
            </a:avLst>
          </a:prstGeom>
          <a:solidFill>
            <a:srgbClr val="F3F5F8"/>
          </a:solidFill>
          <a:ln/>
        </p:spPr>
      </p:sp>
      <p:sp>
        <p:nvSpPr>
          <p:cNvPr id="9" name="Text 7"/>
          <p:cNvSpPr txBox="1"/>
          <p:nvPr/>
        </p:nvSpPr>
        <p:spPr>
          <a:xfrm>
            <a:off x="2788920" y="1371600"/>
            <a:ext cx="2103120" cy="347472"/>
          </a:xfrm>
          <a:prstGeom prst="rect">
            <a:avLst/>
          </a:prstGeom>
          <a:noFill/>
          <a:ln/>
        </p:spPr>
        <p:txBody>
          <a:bodyPr wrap="square" lIns="0" tIns="0" rIns="0" bIns="0" rtlCol="0" anchor="ctr"/>
          <a:lstStyle/>
          <a:p>
            <a:pPr algn="ctr" indent="0" marL="0">
              <a:buNone/>
            </a:pPr>
            <a:r>
              <a:rPr lang="en-US" sz="950" dirty="0">
                <a:solidFill>
                  <a:srgbClr val="1B2A49"/>
                </a:solidFill>
                <a:latin typeface="Meiryo UI" pitchFamily="34" charset="0"/>
                <a:ea typeface="Meiryo UI" pitchFamily="34" charset="-122"/>
                <a:cs typeface="Meiryo UI" pitchFamily="34" charset="-120"/>
              </a:rPr>
              <a:t>管理基盤  </a:t>
            </a:r>
            <a:pPr algn="ctr" indent="0" marL="0">
              <a:buNone/>
            </a:pPr>
            <a:r>
              <a:rPr lang="en-US" sz="1100" b="1" dirty="0">
                <a:solidFill>
                  <a:srgbClr val="1B2A49"/>
                </a:solidFill>
                <a:latin typeface="Meiryo UI" pitchFamily="34" charset="0"/>
                <a:ea typeface="Meiryo UI" pitchFamily="34" charset="-122"/>
                <a:cs typeface="Meiryo UI" pitchFamily="34" charset="-120"/>
              </a:rPr>
              <a:t>独自アプリ</a:t>
            </a:r>
            <a:endParaRPr lang="en-US" sz="950" dirty="0"/>
          </a:p>
        </p:txBody>
      </p:sp>
      <p:sp>
        <p:nvSpPr>
          <p:cNvPr id="10" name="Shape 8"/>
          <p:cNvSpPr/>
          <p:nvPr/>
        </p:nvSpPr>
        <p:spPr>
          <a:xfrm>
            <a:off x="5029200" y="1371600"/>
            <a:ext cx="2103120" cy="347472"/>
          </a:xfrm>
          <a:prstGeom prst="roundRect">
            <a:avLst>
              <a:gd name="adj" fmla="val 50000"/>
            </a:avLst>
          </a:prstGeom>
          <a:solidFill>
            <a:srgbClr val="D9F2F1"/>
          </a:solidFill>
          <a:ln/>
        </p:spPr>
      </p:sp>
      <p:sp>
        <p:nvSpPr>
          <p:cNvPr id="11" name="Text 9"/>
          <p:cNvSpPr txBox="1"/>
          <p:nvPr/>
        </p:nvSpPr>
        <p:spPr>
          <a:xfrm>
            <a:off x="5029200" y="1371600"/>
            <a:ext cx="2103120" cy="347472"/>
          </a:xfrm>
          <a:prstGeom prst="rect">
            <a:avLst/>
          </a:prstGeom>
          <a:noFill/>
          <a:ln/>
        </p:spPr>
        <p:txBody>
          <a:bodyPr wrap="square" lIns="0" tIns="0" rIns="0" bIns="0" rtlCol="0" anchor="ctr"/>
          <a:lstStyle/>
          <a:p>
            <a:pPr algn="ctr" indent="0" marL="0">
              <a:buNone/>
            </a:pPr>
            <a:r>
              <a:rPr lang="en-US" sz="950" dirty="0">
                <a:solidFill>
                  <a:srgbClr val="0E9F9A"/>
                </a:solidFill>
                <a:latin typeface="Meiryo UI" pitchFamily="34" charset="0"/>
                <a:ea typeface="Meiryo UI" pitchFamily="34" charset="-122"/>
                <a:cs typeface="Meiryo UI" pitchFamily="34" charset="-120"/>
              </a:rPr>
              <a:t>自動化  </a:t>
            </a:r>
            <a:pPr algn="ctr" indent="0" marL="0">
              <a:buNone/>
            </a:pPr>
            <a:r>
              <a:rPr lang="en-US" sz="1100" b="1" dirty="0">
                <a:solidFill>
                  <a:srgbClr val="0E9F9A"/>
                </a:solidFill>
                <a:latin typeface="Meiryo UI" pitchFamily="34" charset="0"/>
                <a:ea typeface="Meiryo UI" pitchFamily="34" charset="-122"/>
                <a:cs typeface="Meiryo UI" pitchFamily="34" charset="-120"/>
              </a:rPr>
              <a:t>Step3〜4</a:t>
            </a:r>
            <a:endParaRPr lang="en-US" sz="950" dirty="0"/>
          </a:p>
        </p:txBody>
      </p:sp>
      <p:sp>
        <p:nvSpPr>
          <p:cNvPr id="12" name="Shape 10"/>
          <p:cNvSpPr/>
          <p:nvPr/>
        </p:nvSpPr>
        <p:spPr>
          <a:xfrm>
            <a:off x="7269480" y="1371600"/>
            <a:ext cx="2103120" cy="347472"/>
          </a:xfrm>
          <a:prstGeom prst="roundRect">
            <a:avLst>
              <a:gd name="adj" fmla="val 50000"/>
            </a:avLst>
          </a:prstGeom>
          <a:solidFill>
            <a:srgbClr val="FDEBD3"/>
          </a:solidFill>
          <a:ln/>
        </p:spPr>
      </p:sp>
      <p:sp>
        <p:nvSpPr>
          <p:cNvPr id="13" name="Text 11"/>
          <p:cNvSpPr txBox="1"/>
          <p:nvPr/>
        </p:nvSpPr>
        <p:spPr>
          <a:xfrm>
            <a:off x="7269480" y="1371600"/>
            <a:ext cx="2103120" cy="347472"/>
          </a:xfrm>
          <a:prstGeom prst="rect">
            <a:avLst/>
          </a:prstGeom>
          <a:noFill/>
          <a:ln/>
        </p:spPr>
        <p:txBody>
          <a:bodyPr wrap="square" lIns="0" tIns="0" rIns="0" bIns="0" rtlCol="0" anchor="ctr"/>
          <a:lstStyle/>
          <a:p>
            <a:pPr algn="ctr" indent="0" marL="0">
              <a:buNone/>
            </a:pPr>
            <a:r>
              <a:rPr lang="en-US" sz="950" dirty="0">
                <a:solidFill>
                  <a:srgbClr val="E8912D"/>
                </a:solidFill>
                <a:latin typeface="Meiryo UI" pitchFamily="34" charset="0"/>
                <a:ea typeface="Meiryo UI" pitchFamily="34" charset="-122"/>
                <a:cs typeface="Meiryo UI" pitchFamily="34" charset="-120"/>
              </a:rPr>
              <a:t>難易度  </a:t>
            </a:r>
            <a:pPr algn="ctr" indent="0" marL="0">
              <a:buNone/>
            </a:pPr>
            <a:r>
              <a:rPr lang="en-US" sz="1100" b="1" dirty="0">
                <a:solidFill>
                  <a:srgbClr val="E8912D"/>
                </a:solidFill>
                <a:latin typeface="Meiryo UI" pitchFamily="34" charset="0"/>
                <a:ea typeface="Meiryo UI" pitchFamily="34" charset="-122"/>
                <a:cs typeface="Meiryo UI" pitchFamily="34" charset="-120"/>
              </a:rPr>
              <a:t>★★★★★</a:t>
            </a:r>
            <a:endParaRPr lang="en-US" sz="950" dirty="0"/>
          </a:p>
        </p:txBody>
      </p:sp>
      <p:sp>
        <p:nvSpPr>
          <p:cNvPr id="14" name="Shape 12"/>
          <p:cNvSpPr/>
          <p:nvPr/>
        </p:nvSpPr>
        <p:spPr>
          <a:xfrm>
            <a:off x="9509760" y="1371600"/>
            <a:ext cx="2103120" cy="347472"/>
          </a:xfrm>
          <a:prstGeom prst="roundRect">
            <a:avLst>
              <a:gd name="adj" fmla="val 50000"/>
            </a:avLst>
          </a:prstGeom>
          <a:solidFill>
            <a:srgbClr val="F3F5F8"/>
          </a:solidFill>
          <a:ln/>
        </p:spPr>
      </p:sp>
      <p:sp>
        <p:nvSpPr>
          <p:cNvPr id="15" name="Text 13"/>
          <p:cNvSpPr txBox="1"/>
          <p:nvPr/>
        </p:nvSpPr>
        <p:spPr>
          <a:xfrm>
            <a:off x="9509760" y="1371600"/>
            <a:ext cx="2103120" cy="347472"/>
          </a:xfrm>
          <a:prstGeom prst="rect">
            <a:avLst/>
          </a:prstGeom>
          <a:noFill/>
          <a:ln/>
        </p:spPr>
        <p:txBody>
          <a:bodyPr wrap="square" lIns="0" tIns="0" rIns="0" bIns="0" rtlCol="0" anchor="ctr"/>
          <a:lstStyle/>
          <a:p>
            <a:pPr algn="ctr" indent="0" marL="0">
              <a:buNone/>
            </a:pPr>
            <a:r>
              <a:rPr lang="en-US" sz="950" dirty="0">
                <a:solidFill>
                  <a:srgbClr val="1B2A49"/>
                </a:solidFill>
                <a:latin typeface="Meiryo UI" pitchFamily="34" charset="0"/>
                <a:ea typeface="Meiryo UI" pitchFamily="34" charset="-122"/>
                <a:cs typeface="Meiryo UI" pitchFamily="34" charset="-120"/>
              </a:rPr>
              <a:t>期間目安  </a:t>
            </a:r>
            <a:pPr algn="ctr" indent="0" marL="0">
              <a:buNone/>
            </a:pPr>
            <a:r>
              <a:rPr lang="en-US" sz="1100" b="1" dirty="0">
                <a:solidFill>
                  <a:srgbClr val="1B2A49"/>
                </a:solidFill>
                <a:latin typeface="Meiryo UI" pitchFamily="34" charset="0"/>
                <a:ea typeface="Meiryo UI" pitchFamily="34" charset="-122"/>
                <a:cs typeface="Meiryo UI" pitchFamily="34" charset="-120"/>
              </a:rPr>
              <a:t>6ヶ月〜</a:t>
            </a:r>
            <a:endParaRPr lang="en-US" sz="950" dirty="0"/>
          </a:p>
        </p:txBody>
      </p:sp>
      <p:sp>
        <p:nvSpPr>
          <p:cNvPr id="16" name="Shape 14"/>
          <p:cNvSpPr/>
          <p:nvPr/>
        </p:nvSpPr>
        <p:spPr>
          <a:xfrm>
            <a:off x="548640" y="1874520"/>
            <a:ext cx="6949440" cy="2514600"/>
          </a:xfrm>
          <a:prstGeom prst="roundRect">
            <a:avLst>
              <a:gd name="adj" fmla="val 1455"/>
            </a:avLst>
          </a:prstGeom>
          <a:solidFill>
            <a:srgbClr val="F3F5F8"/>
          </a:solidFill>
          <a:ln/>
        </p:spPr>
      </p:sp>
      <p:sp>
        <p:nvSpPr>
          <p:cNvPr id="17" name="Shape 15"/>
          <p:cNvSpPr/>
          <p:nvPr/>
        </p:nvSpPr>
        <p:spPr>
          <a:xfrm>
            <a:off x="731520" y="2103120"/>
            <a:ext cx="1828800" cy="777240"/>
          </a:xfrm>
          <a:prstGeom prst="roundRect">
            <a:avLst>
              <a:gd name="adj" fmla="val 9412"/>
            </a:avLst>
          </a:prstGeom>
          <a:solidFill>
            <a:srgbClr val="FDEBD3"/>
          </a:solidFill>
          <a:ln/>
        </p:spPr>
      </p:sp>
      <p:pic>
        <p:nvPicPr>
          <p:cNvPr id="18" name="Image 0" descr="preencoded.png">    </p:cNvPr>
          <p:cNvPicPr>
            <a:picLocks noChangeAspect="1"/>
          </p:cNvPicPr>
          <p:nvPr/>
        </p:nvPicPr>
        <p:blipFill>
          <a:blip r:embed="rId1"/>
          <a:stretch>
            <a:fillRect/>
          </a:stretch>
        </p:blipFill>
        <p:spPr>
          <a:xfrm>
            <a:off x="841248" y="2308860"/>
            <a:ext cx="365760" cy="365760"/>
          </a:xfrm>
          <a:prstGeom prst="rect">
            <a:avLst/>
          </a:prstGeom>
        </p:spPr>
      </p:pic>
      <p:sp>
        <p:nvSpPr>
          <p:cNvPr id="19" name="Text 16"/>
          <p:cNvSpPr txBox="1"/>
          <p:nvPr/>
        </p:nvSpPr>
        <p:spPr>
          <a:xfrm>
            <a:off x="1298448" y="2103120"/>
            <a:ext cx="1216152" cy="777240"/>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React UI</a:t>
            </a:r>
            <a:endParaRPr lang="en-US" sz="1050" dirty="0"/>
          </a:p>
          <a:p>
            <a:pPr algn="l" indent="0" marL="0">
              <a:buNone/>
            </a:pPr>
            <a:r>
              <a:rPr lang="en-US" sz="900" dirty="0">
                <a:solidFill>
                  <a:srgbClr val="6B7280"/>
                </a:solidFill>
                <a:latin typeface="Meiryo UI" pitchFamily="34" charset="0"/>
                <a:ea typeface="Meiryo UI" pitchFamily="34" charset="-122"/>
                <a:cs typeface="Meiryo UI" pitchFamily="34" charset="-120"/>
              </a:rPr>
              <a:t>Cloud Run</a:t>
            </a:r>
            <a:endParaRPr lang="en-US" sz="1050" dirty="0"/>
          </a:p>
        </p:txBody>
      </p:sp>
      <p:sp>
        <p:nvSpPr>
          <p:cNvPr id="20" name="Shape 17"/>
          <p:cNvSpPr/>
          <p:nvPr/>
        </p:nvSpPr>
        <p:spPr>
          <a:xfrm>
            <a:off x="2606040" y="2487168"/>
            <a:ext cx="274320" cy="0"/>
          </a:xfrm>
          <a:prstGeom prst="line">
            <a:avLst/>
          </a:prstGeom>
          <a:noFill/>
          <a:ln w="22225">
            <a:solidFill>
              <a:srgbClr val="9AA5B4"/>
            </a:solidFill>
            <a:prstDash val="solid"/>
            <a:tailEnd type="triangle"/>
          </a:ln>
        </p:spPr>
      </p:sp>
      <p:sp>
        <p:nvSpPr>
          <p:cNvPr id="21" name="Shape 18"/>
          <p:cNvSpPr/>
          <p:nvPr/>
        </p:nvSpPr>
        <p:spPr>
          <a:xfrm>
            <a:off x="2926080" y="2103120"/>
            <a:ext cx="1828800" cy="777240"/>
          </a:xfrm>
          <a:prstGeom prst="roundRect">
            <a:avLst>
              <a:gd name="adj" fmla="val 9412"/>
            </a:avLst>
          </a:prstGeom>
          <a:solidFill>
            <a:srgbClr val="D9F2F1"/>
          </a:solidFill>
          <a:ln/>
        </p:spPr>
      </p:sp>
      <p:pic>
        <p:nvPicPr>
          <p:cNvPr id="22" name="Image 1" descr="preencoded.png">    </p:cNvPr>
          <p:cNvPicPr>
            <a:picLocks noChangeAspect="1"/>
          </p:cNvPicPr>
          <p:nvPr/>
        </p:nvPicPr>
        <p:blipFill>
          <a:blip r:embed="rId2"/>
          <a:stretch>
            <a:fillRect/>
          </a:stretch>
        </p:blipFill>
        <p:spPr>
          <a:xfrm>
            <a:off x="3035808" y="2308860"/>
            <a:ext cx="365760" cy="365760"/>
          </a:xfrm>
          <a:prstGeom prst="rect">
            <a:avLst/>
          </a:prstGeom>
        </p:spPr>
      </p:pic>
      <p:sp>
        <p:nvSpPr>
          <p:cNvPr id="23" name="Text 19"/>
          <p:cNvSpPr txBox="1"/>
          <p:nvPr/>
        </p:nvSpPr>
        <p:spPr>
          <a:xfrm>
            <a:off x="3493008" y="2103120"/>
            <a:ext cx="1216152" cy="777240"/>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Python API</a:t>
            </a:r>
            <a:endParaRPr lang="en-US" sz="1050" dirty="0"/>
          </a:p>
          <a:p>
            <a:pPr algn="l" indent="0" marL="0">
              <a:buNone/>
            </a:pPr>
            <a:r>
              <a:rPr lang="en-US" sz="900" dirty="0">
                <a:solidFill>
                  <a:srgbClr val="6B7280"/>
                </a:solidFill>
                <a:latin typeface="Meiryo UI" pitchFamily="34" charset="0"/>
                <a:ea typeface="Meiryo UI" pitchFamily="34" charset="-122"/>
                <a:cs typeface="Meiryo UI" pitchFamily="34" charset="-120"/>
              </a:rPr>
              <a:t>Cloud Run</a:t>
            </a:r>
            <a:endParaRPr lang="en-US" sz="1050" dirty="0"/>
          </a:p>
        </p:txBody>
      </p:sp>
      <p:sp>
        <p:nvSpPr>
          <p:cNvPr id="24" name="Shape 20"/>
          <p:cNvSpPr/>
          <p:nvPr/>
        </p:nvSpPr>
        <p:spPr>
          <a:xfrm>
            <a:off x="4800600" y="2487168"/>
            <a:ext cx="274320" cy="0"/>
          </a:xfrm>
          <a:prstGeom prst="line">
            <a:avLst/>
          </a:prstGeom>
          <a:noFill/>
          <a:ln w="22225">
            <a:solidFill>
              <a:srgbClr val="9AA5B4"/>
            </a:solidFill>
            <a:prstDash val="solid"/>
            <a:tailEnd type="triangle"/>
          </a:ln>
        </p:spPr>
      </p:sp>
      <p:sp>
        <p:nvSpPr>
          <p:cNvPr id="25" name="Shape 21"/>
          <p:cNvSpPr/>
          <p:nvPr/>
        </p:nvSpPr>
        <p:spPr>
          <a:xfrm>
            <a:off x="5120640" y="2103120"/>
            <a:ext cx="2194560" cy="777240"/>
          </a:xfrm>
          <a:prstGeom prst="roundRect">
            <a:avLst>
              <a:gd name="adj" fmla="val 9412"/>
            </a:avLst>
          </a:prstGeom>
          <a:solidFill>
            <a:srgbClr val="0E9F9A"/>
          </a:solidFill>
          <a:ln/>
        </p:spPr>
      </p:sp>
      <p:sp>
        <p:nvSpPr>
          <p:cNvPr id="26" name="Shape 22"/>
          <p:cNvSpPr/>
          <p:nvPr/>
        </p:nvSpPr>
        <p:spPr>
          <a:xfrm>
            <a:off x="5193792" y="2235708"/>
            <a:ext cx="512064" cy="512064"/>
          </a:xfrm>
          <a:prstGeom prst="ellipse">
            <a:avLst/>
          </a:prstGeom>
          <a:solidFill>
            <a:srgbClr val="FFFFFF"/>
          </a:solidFill>
          <a:ln/>
        </p:spPr>
      </p:sp>
      <p:pic>
        <p:nvPicPr>
          <p:cNvPr id="27" name="Image 2" descr="preencoded.png">    </p:cNvPr>
          <p:cNvPicPr>
            <a:picLocks noChangeAspect="1"/>
          </p:cNvPicPr>
          <p:nvPr/>
        </p:nvPicPr>
        <p:blipFill>
          <a:blip r:embed="rId3"/>
          <a:stretch>
            <a:fillRect/>
          </a:stretch>
        </p:blipFill>
        <p:spPr>
          <a:xfrm>
            <a:off x="5266944" y="2308860"/>
            <a:ext cx="365760" cy="365760"/>
          </a:xfrm>
          <a:prstGeom prst="rect">
            <a:avLst/>
          </a:prstGeom>
        </p:spPr>
      </p:pic>
      <p:sp>
        <p:nvSpPr>
          <p:cNvPr id="28" name="Text 23"/>
          <p:cNvSpPr txBox="1"/>
          <p:nvPr/>
        </p:nvSpPr>
        <p:spPr>
          <a:xfrm>
            <a:off x="5852160" y="2103120"/>
            <a:ext cx="1417320" cy="777240"/>
          </a:xfrm>
          <a:prstGeom prst="rect">
            <a:avLst/>
          </a:prstGeom>
          <a:noFill/>
          <a:ln/>
        </p:spPr>
        <p:txBody>
          <a:bodyPr wrap="square" lIns="0" tIns="0" rIns="0" bIns="0" rtlCol="0" anchor="ctr"/>
          <a:lstStyle/>
          <a:p>
            <a:pPr algn="l" indent="0" marL="0">
              <a:buNone/>
            </a:pPr>
            <a:r>
              <a:rPr lang="en-US" sz="1050" b="1" dirty="0">
                <a:solidFill>
                  <a:srgbClr val="FFFFFF"/>
                </a:solidFill>
                <a:latin typeface="Meiryo UI" pitchFamily="34" charset="0"/>
                <a:ea typeface="Meiryo UI" pitchFamily="34" charset="-122"/>
                <a:cs typeface="Meiryo UI" pitchFamily="34" charset="-120"/>
              </a:rPr>
              <a:t>Gemini</a:t>
            </a:r>
            <a:endParaRPr lang="en-US" sz="1050" dirty="0"/>
          </a:p>
          <a:p>
            <a:pPr algn="l" indent="0" marL="0">
              <a:buNone/>
            </a:pPr>
            <a:r>
              <a:rPr lang="en-US" sz="900" dirty="0">
                <a:solidFill>
                  <a:srgbClr val="E6F2F2"/>
                </a:solidFill>
                <a:latin typeface="Meiryo UI" pitchFamily="34" charset="0"/>
                <a:ea typeface="Meiryo UI" pitchFamily="34" charset="-122"/>
                <a:cs typeface="Meiryo UI" pitchFamily="34" charset="-120"/>
              </a:rPr>
              <a:t>Agent Platform</a:t>
            </a:r>
            <a:endParaRPr lang="en-US" sz="1050" dirty="0"/>
          </a:p>
        </p:txBody>
      </p:sp>
      <p:sp>
        <p:nvSpPr>
          <p:cNvPr id="29" name="Shape 24"/>
          <p:cNvSpPr/>
          <p:nvPr/>
        </p:nvSpPr>
        <p:spPr>
          <a:xfrm>
            <a:off x="1645920" y="2926080"/>
            <a:ext cx="0" cy="274320"/>
          </a:xfrm>
          <a:prstGeom prst="line">
            <a:avLst/>
          </a:prstGeom>
          <a:noFill/>
          <a:ln w="22225">
            <a:solidFill>
              <a:srgbClr val="9AA5B4"/>
            </a:solidFill>
            <a:prstDash val="solid"/>
            <a:tailEnd type="triangle"/>
          </a:ln>
        </p:spPr>
      </p:sp>
      <p:sp>
        <p:nvSpPr>
          <p:cNvPr id="30" name="Shape 25"/>
          <p:cNvSpPr/>
          <p:nvPr/>
        </p:nvSpPr>
        <p:spPr>
          <a:xfrm>
            <a:off x="731520" y="3246120"/>
            <a:ext cx="1828800" cy="731520"/>
          </a:xfrm>
          <a:prstGeom prst="roundRect">
            <a:avLst>
              <a:gd name="adj" fmla="val 10000"/>
            </a:avLst>
          </a:prstGeom>
          <a:solidFill>
            <a:srgbClr val="E3EAF5"/>
          </a:solidFill>
          <a:ln/>
        </p:spPr>
      </p:sp>
      <p:pic>
        <p:nvPicPr>
          <p:cNvPr id="31" name="Image 3" descr="preencoded.png">    </p:cNvPr>
          <p:cNvPicPr>
            <a:picLocks noChangeAspect="1"/>
          </p:cNvPicPr>
          <p:nvPr/>
        </p:nvPicPr>
        <p:blipFill>
          <a:blip r:embed="rId4"/>
          <a:stretch>
            <a:fillRect/>
          </a:stretch>
        </p:blipFill>
        <p:spPr>
          <a:xfrm>
            <a:off x="841248" y="3429000"/>
            <a:ext cx="365760" cy="365760"/>
          </a:xfrm>
          <a:prstGeom prst="rect">
            <a:avLst/>
          </a:prstGeom>
        </p:spPr>
      </p:pic>
      <p:sp>
        <p:nvSpPr>
          <p:cNvPr id="32" name="Text 26"/>
          <p:cNvSpPr txBox="1"/>
          <p:nvPr/>
        </p:nvSpPr>
        <p:spPr>
          <a:xfrm>
            <a:off x="1298448" y="3246120"/>
            <a:ext cx="1216152" cy="731520"/>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Entra ID</a:t>
            </a:r>
            <a:endParaRPr lang="en-US" sz="1050" dirty="0"/>
          </a:p>
          <a:p>
            <a:pPr algn="l" indent="0" marL="0">
              <a:buNone/>
            </a:pPr>
            <a:r>
              <a:rPr lang="en-US" sz="900" dirty="0">
                <a:solidFill>
                  <a:srgbClr val="6B7280"/>
                </a:solidFill>
                <a:latin typeface="Meiryo UI" pitchFamily="34" charset="0"/>
                <a:ea typeface="Meiryo UI" pitchFamily="34" charset="-122"/>
                <a:cs typeface="Meiryo UI" pitchFamily="34" charset="-120"/>
              </a:rPr>
              <a:t>SSO認証</a:t>
            </a:r>
            <a:endParaRPr lang="en-US" sz="1050" dirty="0"/>
          </a:p>
        </p:txBody>
      </p:sp>
      <p:sp>
        <p:nvSpPr>
          <p:cNvPr id="33" name="Shape 27"/>
          <p:cNvSpPr/>
          <p:nvPr/>
        </p:nvSpPr>
        <p:spPr>
          <a:xfrm>
            <a:off x="3840480" y="2926080"/>
            <a:ext cx="0" cy="274320"/>
          </a:xfrm>
          <a:prstGeom prst="line">
            <a:avLst/>
          </a:prstGeom>
          <a:noFill/>
          <a:ln w="22225">
            <a:solidFill>
              <a:srgbClr val="9AA5B4"/>
            </a:solidFill>
            <a:prstDash val="solid"/>
            <a:tailEnd type="triangle"/>
          </a:ln>
        </p:spPr>
      </p:sp>
      <p:sp>
        <p:nvSpPr>
          <p:cNvPr id="34" name="Shape 28"/>
          <p:cNvSpPr/>
          <p:nvPr/>
        </p:nvSpPr>
        <p:spPr>
          <a:xfrm>
            <a:off x="2926080" y="3246120"/>
            <a:ext cx="1828800" cy="731520"/>
          </a:xfrm>
          <a:prstGeom prst="roundRect">
            <a:avLst>
              <a:gd name="adj" fmla="val 10000"/>
            </a:avLst>
          </a:prstGeom>
          <a:solidFill>
            <a:srgbClr val="E3EAF5"/>
          </a:solidFill>
          <a:ln/>
        </p:spPr>
      </p:sp>
      <p:pic>
        <p:nvPicPr>
          <p:cNvPr id="35" name="Image 4" descr="preencoded.png">    </p:cNvPr>
          <p:cNvPicPr>
            <a:picLocks noChangeAspect="1"/>
          </p:cNvPicPr>
          <p:nvPr/>
        </p:nvPicPr>
        <p:blipFill>
          <a:blip r:embed="rId5"/>
          <a:stretch>
            <a:fillRect/>
          </a:stretch>
        </p:blipFill>
        <p:spPr>
          <a:xfrm>
            <a:off x="3035808" y="3429000"/>
            <a:ext cx="365760" cy="365760"/>
          </a:xfrm>
          <a:prstGeom prst="rect">
            <a:avLst/>
          </a:prstGeom>
        </p:spPr>
      </p:pic>
      <p:sp>
        <p:nvSpPr>
          <p:cNvPr id="36" name="Text 29"/>
          <p:cNvSpPr txBox="1"/>
          <p:nvPr/>
        </p:nvSpPr>
        <p:spPr>
          <a:xfrm>
            <a:off x="3493008" y="3246120"/>
            <a:ext cx="1216152" cy="731520"/>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Cloud SQL等</a:t>
            </a:r>
            <a:endParaRPr lang="en-US" sz="1050" dirty="0"/>
          </a:p>
          <a:p>
            <a:pPr algn="l" indent="0" marL="0">
              <a:buNone/>
            </a:pPr>
            <a:r>
              <a:rPr lang="en-US" sz="900" dirty="0">
                <a:solidFill>
                  <a:srgbClr val="6B7280"/>
                </a:solidFill>
                <a:latin typeface="Meiryo UI" pitchFamily="34" charset="0"/>
                <a:ea typeface="Meiryo UI" pitchFamily="34" charset="-122"/>
                <a:cs typeface="Meiryo UI" pitchFamily="34" charset="-120"/>
              </a:rPr>
              <a:t>配信カードのDB</a:t>
            </a:r>
            <a:endParaRPr lang="en-US" sz="1050" dirty="0"/>
          </a:p>
        </p:txBody>
      </p:sp>
      <p:sp>
        <p:nvSpPr>
          <p:cNvPr id="37" name="Shape 30"/>
          <p:cNvSpPr/>
          <p:nvPr/>
        </p:nvSpPr>
        <p:spPr>
          <a:xfrm>
            <a:off x="4663440" y="2926080"/>
            <a:ext cx="502920" cy="320040"/>
          </a:xfrm>
          <a:prstGeom prst="line">
            <a:avLst/>
          </a:prstGeom>
          <a:noFill/>
          <a:ln w="22225">
            <a:solidFill>
              <a:srgbClr val="9AA5B4"/>
            </a:solidFill>
            <a:prstDash val="solid"/>
            <a:tailEnd type="triangle"/>
          </a:ln>
        </p:spPr>
      </p:sp>
      <p:sp>
        <p:nvSpPr>
          <p:cNvPr id="38" name="Shape 31"/>
          <p:cNvSpPr/>
          <p:nvPr/>
        </p:nvSpPr>
        <p:spPr>
          <a:xfrm>
            <a:off x="5120640" y="3246120"/>
            <a:ext cx="2194560" cy="731520"/>
          </a:xfrm>
          <a:prstGeom prst="roundRect">
            <a:avLst>
              <a:gd name="adj" fmla="val 10000"/>
            </a:avLst>
          </a:prstGeom>
          <a:solidFill>
            <a:srgbClr val="E3EAF5"/>
          </a:solidFill>
          <a:ln/>
        </p:spPr>
      </p:sp>
      <p:pic>
        <p:nvPicPr>
          <p:cNvPr id="39" name="Image 5" descr="preencoded.png">    </p:cNvPr>
          <p:cNvPicPr>
            <a:picLocks noChangeAspect="1"/>
          </p:cNvPicPr>
          <p:nvPr/>
        </p:nvPicPr>
        <p:blipFill>
          <a:blip r:embed="rId6"/>
          <a:stretch>
            <a:fillRect/>
          </a:stretch>
        </p:blipFill>
        <p:spPr>
          <a:xfrm>
            <a:off x="5230368" y="3429000"/>
            <a:ext cx="365760" cy="365760"/>
          </a:xfrm>
          <a:prstGeom prst="rect">
            <a:avLst/>
          </a:prstGeom>
        </p:spPr>
      </p:pic>
      <p:sp>
        <p:nvSpPr>
          <p:cNvPr id="40" name="Text 32"/>
          <p:cNvSpPr txBox="1"/>
          <p:nvPr/>
        </p:nvSpPr>
        <p:spPr>
          <a:xfrm>
            <a:off x="5687568" y="3246120"/>
            <a:ext cx="1581912" cy="731520"/>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BigQuery＋資料</a:t>
            </a:r>
            <a:endParaRPr lang="en-US" sz="1050" dirty="0"/>
          </a:p>
          <a:p>
            <a:pPr algn="l" indent="0" marL="0">
              <a:buNone/>
            </a:pPr>
            <a:r>
              <a:rPr lang="en-US" sz="900" dirty="0">
                <a:solidFill>
                  <a:srgbClr val="6B7280"/>
                </a:solidFill>
                <a:latin typeface="Meiryo UI" pitchFamily="34" charset="0"/>
                <a:ea typeface="Meiryo UI" pitchFamily="34" charset="-122"/>
                <a:cs typeface="Meiryo UI" pitchFamily="34" charset="-120"/>
              </a:rPr>
              <a:t>直接参照／Graphで同期</a:t>
            </a:r>
            <a:endParaRPr lang="en-US" sz="1050" dirty="0"/>
          </a:p>
        </p:txBody>
      </p:sp>
      <p:sp>
        <p:nvSpPr>
          <p:cNvPr id="41" name="Shape 33"/>
          <p:cNvSpPr/>
          <p:nvPr/>
        </p:nvSpPr>
        <p:spPr>
          <a:xfrm>
            <a:off x="7680960" y="1874520"/>
            <a:ext cx="3931920" cy="2514600"/>
          </a:xfrm>
          <a:prstGeom prst="roundRect">
            <a:avLst>
              <a:gd name="adj" fmla="val 2182"/>
            </a:avLst>
          </a:prstGeom>
          <a:solidFill>
            <a:srgbClr val="E3EAF5"/>
          </a:solidFill>
          <a:ln/>
        </p:spPr>
      </p:sp>
      <p:sp>
        <p:nvSpPr>
          <p:cNvPr id="42" name="Shape 34"/>
          <p:cNvSpPr/>
          <p:nvPr/>
        </p:nvSpPr>
        <p:spPr>
          <a:xfrm>
            <a:off x="7818120" y="1993392"/>
            <a:ext cx="384048" cy="384048"/>
          </a:xfrm>
          <a:prstGeom prst="ellipse">
            <a:avLst/>
          </a:prstGeom>
          <a:solidFill>
            <a:srgbClr val="FFFFFF"/>
          </a:solidFill>
          <a:ln/>
        </p:spPr>
      </p:sp>
      <p:pic>
        <p:nvPicPr>
          <p:cNvPr id="43" name="Image 6" descr="preencoded.png">    </p:cNvPr>
          <p:cNvPicPr>
            <a:picLocks noChangeAspect="1"/>
          </p:cNvPicPr>
          <p:nvPr/>
        </p:nvPicPr>
        <p:blipFill>
          <a:blip r:embed="rId7"/>
          <a:stretch>
            <a:fillRect/>
          </a:stretch>
        </p:blipFill>
        <p:spPr>
          <a:xfrm>
            <a:off x="7894930" y="2070202"/>
            <a:ext cx="230429" cy="230429"/>
          </a:xfrm>
          <a:prstGeom prst="rect">
            <a:avLst/>
          </a:prstGeom>
        </p:spPr>
      </p:pic>
      <p:sp>
        <p:nvSpPr>
          <p:cNvPr id="44" name="Text 35"/>
          <p:cNvSpPr txBox="1"/>
          <p:nvPr/>
        </p:nvSpPr>
        <p:spPr>
          <a:xfrm>
            <a:off x="8275320" y="1993392"/>
            <a:ext cx="3246120" cy="384048"/>
          </a:xfrm>
          <a:prstGeom prst="rect">
            <a:avLst/>
          </a:prstGeom>
          <a:noFill/>
          <a:ln/>
        </p:spPr>
        <p:txBody>
          <a:bodyPr wrap="square" lIns="0" tIns="0" rIns="0" bIns="0"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必要な機能・準備</a:t>
            </a:r>
            <a:endParaRPr lang="en-US" sz="1300" dirty="0"/>
          </a:p>
        </p:txBody>
      </p:sp>
      <p:sp>
        <p:nvSpPr>
          <p:cNvPr id="45" name="Text 36"/>
          <p:cNvSpPr txBox="1"/>
          <p:nvPr/>
        </p:nvSpPr>
        <p:spPr>
          <a:xfrm>
            <a:off x="7863840" y="2478024"/>
            <a:ext cx="3611880" cy="1819656"/>
          </a:xfrm>
          <a:prstGeom prst="rect">
            <a:avLst/>
          </a:prstGeom>
          <a:noFill/>
          <a:ln/>
        </p:spPr>
        <p:txBody>
          <a:bodyPr wrap="square" lIns="254" tIns="254" rIns="254" bIns="254" rtlCol="0" anchor="t"/>
          <a:lstStyle/>
          <a:p>
            <a:pPr marL="152400" indent="-152400">
              <a:spcAft>
                <a:spcPts val="300"/>
              </a:spcAft>
              <a:buSzPct val="100000"/>
              <a:buChar char="•"/>
            </a:pPr>
            <a:r>
              <a:rPr lang="en-US" sz="1100" dirty="0">
                <a:solidFill>
                  <a:srgbClr val="2B2B2B"/>
                </a:solidFill>
                <a:latin typeface="Meiryo UI" pitchFamily="34" charset="0"/>
                <a:ea typeface="Meiryo UI" pitchFamily="34" charset="-122"/>
                <a:cs typeface="Meiryo UI" pitchFamily="34" charset="-120"/>
              </a:rPr>
              <a:t>フロントエンド／バックエンドの開発</a:t>
            </a:r>
            <a:endParaRPr lang="en-US" sz="1100" dirty="0"/>
          </a:p>
          <a:p>
            <a:pPr marL="152400" indent="-152400">
              <a:spcAft>
                <a:spcPts val="300"/>
              </a:spcAft>
              <a:buSzPct val="100000"/>
              <a:buChar char="•"/>
            </a:pPr>
            <a:r>
              <a:rPr lang="en-US" sz="1100" dirty="0">
                <a:solidFill>
                  <a:srgbClr val="2B2B2B"/>
                </a:solidFill>
                <a:latin typeface="Meiryo UI" pitchFamily="34" charset="0"/>
                <a:ea typeface="Meiryo UI" pitchFamily="34" charset="-122"/>
                <a:cs typeface="Meiryo UI" pitchFamily="34" charset="-120"/>
              </a:rPr>
              <a:t>Entra IDとの認証連携（SSO）</a:t>
            </a:r>
            <a:endParaRPr lang="en-US" sz="1100" dirty="0"/>
          </a:p>
          <a:p>
            <a:pPr marL="152400" indent="-152400">
              <a:spcAft>
                <a:spcPts val="300"/>
              </a:spcAft>
              <a:buSzPct val="100000"/>
              <a:buChar char="•"/>
            </a:pPr>
            <a:r>
              <a:rPr lang="en-US" sz="1100" dirty="0">
                <a:solidFill>
                  <a:srgbClr val="2B2B2B"/>
                </a:solidFill>
                <a:latin typeface="Meiryo UI" pitchFamily="34" charset="0"/>
                <a:ea typeface="Meiryo UI" pitchFamily="34" charset="-122"/>
                <a:cs typeface="Meiryo UI" pitchFamily="34" charset="-120"/>
              </a:rPr>
              <a:t>Graph APIでの資料同期</a:t>
            </a:r>
            <a:endParaRPr lang="en-US" sz="1100" dirty="0"/>
          </a:p>
          <a:p>
            <a:pPr marL="152400" indent="-152400">
              <a:spcAft>
                <a:spcPts val="300"/>
              </a:spcAft>
              <a:buSzPct val="100000"/>
              <a:buChar char="•"/>
            </a:pPr>
            <a:r>
              <a:rPr lang="en-US" sz="1100" dirty="0">
                <a:solidFill>
                  <a:srgbClr val="2B2B2B"/>
                </a:solidFill>
                <a:latin typeface="Meiryo UI" pitchFamily="34" charset="0"/>
                <a:ea typeface="Meiryo UI" pitchFamily="34" charset="-122"/>
                <a:cs typeface="Meiryo UI" pitchFamily="34" charset="-120"/>
              </a:rPr>
              <a:t>DB・CI/CD・監視などの運用基盤</a:t>
            </a:r>
            <a:endParaRPr lang="en-US" sz="1100" dirty="0"/>
          </a:p>
          <a:p>
            <a:pPr marL="152400" indent="-152400">
              <a:spcAft>
                <a:spcPts val="300"/>
              </a:spcAft>
              <a:buSzPct val="100000"/>
              <a:buChar char="•"/>
            </a:pPr>
            <a:r>
              <a:rPr lang="en-US" sz="1100" dirty="0">
                <a:solidFill>
                  <a:srgbClr val="2B2B2B"/>
                </a:solidFill>
                <a:latin typeface="Meiryo UI" pitchFamily="34" charset="0"/>
                <a:ea typeface="Meiryo UI" pitchFamily="34" charset="-122"/>
                <a:cs typeface="Meiryo UI" pitchFamily="34" charset="-120"/>
              </a:rPr>
              <a:t>LLM：Gemini（Agent Platform）</a:t>
            </a:r>
            <a:endParaRPr lang="en-US" sz="1100" dirty="0"/>
          </a:p>
        </p:txBody>
      </p:sp>
      <p:sp>
        <p:nvSpPr>
          <p:cNvPr id="46" name="Shape 37"/>
          <p:cNvSpPr/>
          <p:nvPr/>
        </p:nvSpPr>
        <p:spPr>
          <a:xfrm>
            <a:off x="548640" y="4572000"/>
            <a:ext cx="3566160" cy="1783080"/>
          </a:xfrm>
          <a:prstGeom prst="roundRect">
            <a:avLst>
              <a:gd name="adj" fmla="val 3077"/>
            </a:avLst>
          </a:prstGeom>
          <a:solidFill>
            <a:srgbClr val="D9F2F1"/>
          </a:solidFill>
          <a:ln/>
        </p:spPr>
      </p:sp>
      <p:sp>
        <p:nvSpPr>
          <p:cNvPr id="47" name="Shape 38"/>
          <p:cNvSpPr/>
          <p:nvPr/>
        </p:nvSpPr>
        <p:spPr>
          <a:xfrm>
            <a:off x="685800" y="4690872"/>
            <a:ext cx="384048" cy="384048"/>
          </a:xfrm>
          <a:prstGeom prst="ellipse">
            <a:avLst/>
          </a:prstGeom>
          <a:solidFill>
            <a:srgbClr val="FFFFFF"/>
          </a:solidFill>
          <a:ln/>
        </p:spPr>
      </p:sp>
      <p:pic>
        <p:nvPicPr>
          <p:cNvPr id="48" name="Image 7" descr="preencoded.png">    </p:cNvPr>
          <p:cNvPicPr>
            <a:picLocks noChangeAspect="1"/>
          </p:cNvPicPr>
          <p:nvPr/>
        </p:nvPicPr>
        <p:blipFill>
          <a:blip r:embed="rId8"/>
          <a:stretch>
            <a:fillRect/>
          </a:stretch>
        </p:blipFill>
        <p:spPr>
          <a:xfrm>
            <a:off x="762610" y="4767682"/>
            <a:ext cx="230429" cy="230429"/>
          </a:xfrm>
          <a:prstGeom prst="rect">
            <a:avLst/>
          </a:prstGeom>
        </p:spPr>
      </p:pic>
      <p:sp>
        <p:nvSpPr>
          <p:cNvPr id="49" name="Text 39"/>
          <p:cNvSpPr txBox="1"/>
          <p:nvPr/>
        </p:nvSpPr>
        <p:spPr>
          <a:xfrm>
            <a:off x="1143000" y="4690872"/>
            <a:ext cx="2880360" cy="384048"/>
          </a:xfrm>
          <a:prstGeom prst="rect">
            <a:avLst/>
          </a:prstGeom>
          <a:noFill/>
          <a:ln/>
        </p:spPr>
        <p:txBody>
          <a:bodyPr wrap="square" lIns="0" tIns="0" rIns="0" bIns="0"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特徴</a:t>
            </a:r>
            <a:endParaRPr lang="en-US" sz="1300" dirty="0"/>
          </a:p>
        </p:txBody>
      </p:sp>
      <p:sp>
        <p:nvSpPr>
          <p:cNvPr id="50" name="Text 40"/>
          <p:cNvSpPr txBox="1"/>
          <p:nvPr/>
        </p:nvSpPr>
        <p:spPr>
          <a:xfrm>
            <a:off x="731520" y="5175504"/>
            <a:ext cx="3246120" cy="1088136"/>
          </a:xfrm>
          <a:prstGeom prst="rect">
            <a:avLst/>
          </a:prstGeom>
          <a:noFill/>
          <a:ln/>
        </p:spPr>
        <p:txBody>
          <a:bodyPr wrap="square" lIns="254" tIns="254" rIns="254" bIns="254" rtlCol="0" anchor="t"/>
          <a:lstStyle/>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画面・スコアリングの自由度が最も高い</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前処理・推論・画面を一体で設計できる</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Power Appsのライセンスが不要</a:t>
            </a:r>
            <a:endParaRPr lang="en-US" sz="1150" dirty="0"/>
          </a:p>
        </p:txBody>
      </p:sp>
      <p:sp>
        <p:nvSpPr>
          <p:cNvPr id="51" name="Shape 41"/>
          <p:cNvSpPr/>
          <p:nvPr/>
        </p:nvSpPr>
        <p:spPr>
          <a:xfrm>
            <a:off x="4297680" y="4572000"/>
            <a:ext cx="3566160" cy="1783080"/>
          </a:xfrm>
          <a:prstGeom prst="roundRect">
            <a:avLst>
              <a:gd name="adj" fmla="val 3077"/>
            </a:avLst>
          </a:prstGeom>
          <a:solidFill>
            <a:srgbClr val="FBE3E3"/>
          </a:solidFill>
          <a:ln/>
        </p:spPr>
      </p:sp>
      <p:sp>
        <p:nvSpPr>
          <p:cNvPr id="52" name="Shape 42"/>
          <p:cNvSpPr/>
          <p:nvPr/>
        </p:nvSpPr>
        <p:spPr>
          <a:xfrm>
            <a:off x="4434840" y="4690872"/>
            <a:ext cx="384048" cy="384048"/>
          </a:xfrm>
          <a:prstGeom prst="ellipse">
            <a:avLst/>
          </a:prstGeom>
          <a:solidFill>
            <a:srgbClr val="FFFFFF"/>
          </a:solidFill>
          <a:ln/>
        </p:spPr>
      </p:sp>
      <p:pic>
        <p:nvPicPr>
          <p:cNvPr id="53" name="Image 8" descr="preencoded.png">    </p:cNvPr>
          <p:cNvPicPr>
            <a:picLocks noChangeAspect="1"/>
          </p:cNvPicPr>
          <p:nvPr/>
        </p:nvPicPr>
        <p:blipFill>
          <a:blip r:embed="rId9"/>
          <a:stretch>
            <a:fillRect/>
          </a:stretch>
        </p:blipFill>
        <p:spPr>
          <a:xfrm>
            <a:off x="4511650" y="4767682"/>
            <a:ext cx="230429" cy="230429"/>
          </a:xfrm>
          <a:prstGeom prst="rect">
            <a:avLst/>
          </a:prstGeom>
        </p:spPr>
      </p:pic>
      <p:sp>
        <p:nvSpPr>
          <p:cNvPr id="54" name="Text 43"/>
          <p:cNvSpPr txBox="1"/>
          <p:nvPr/>
        </p:nvSpPr>
        <p:spPr>
          <a:xfrm>
            <a:off x="4892040" y="4690872"/>
            <a:ext cx="2880360" cy="384048"/>
          </a:xfrm>
          <a:prstGeom prst="rect">
            <a:avLst/>
          </a:prstGeom>
          <a:noFill/>
          <a:ln/>
        </p:spPr>
        <p:txBody>
          <a:bodyPr wrap="square" lIns="0" tIns="0" rIns="0" bIns="0"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留意点・制約</a:t>
            </a:r>
            <a:endParaRPr lang="en-US" sz="1300" dirty="0"/>
          </a:p>
        </p:txBody>
      </p:sp>
      <p:sp>
        <p:nvSpPr>
          <p:cNvPr id="55" name="Text 44"/>
          <p:cNvSpPr txBox="1"/>
          <p:nvPr/>
        </p:nvSpPr>
        <p:spPr>
          <a:xfrm>
            <a:off x="4480560" y="5175504"/>
            <a:ext cx="3246120" cy="1088136"/>
          </a:xfrm>
          <a:prstGeom prst="rect">
            <a:avLst/>
          </a:prstGeom>
          <a:noFill/>
          <a:ln/>
        </p:spPr>
        <p:txBody>
          <a:bodyPr wrap="square" lIns="254" tIns="254" rIns="254" bIns="254" rtlCol="0" anchor="t"/>
          <a:lstStyle/>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開発期間・コストが最も大きい</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認証・ホスティング・運用を自前で持つ</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資料の同期の仕組みが必要（取り込み自体は可）</a:t>
            </a:r>
            <a:endParaRPr lang="en-US" sz="1150" dirty="0"/>
          </a:p>
        </p:txBody>
      </p:sp>
      <p:sp>
        <p:nvSpPr>
          <p:cNvPr id="56" name="Shape 45"/>
          <p:cNvSpPr/>
          <p:nvPr/>
        </p:nvSpPr>
        <p:spPr>
          <a:xfrm>
            <a:off x="8046720" y="4572000"/>
            <a:ext cx="3566160" cy="1783080"/>
          </a:xfrm>
          <a:prstGeom prst="roundRect">
            <a:avLst>
              <a:gd name="adj" fmla="val 3077"/>
            </a:avLst>
          </a:prstGeom>
          <a:solidFill>
            <a:srgbClr val="FDEBD3"/>
          </a:solidFill>
          <a:ln/>
        </p:spPr>
      </p:sp>
      <p:sp>
        <p:nvSpPr>
          <p:cNvPr id="57" name="Shape 46"/>
          <p:cNvSpPr/>
          <p:nvPr/>
        </p:nvSpPr>
        <p:spPr>
          <a:xfrm>
            <a:off x="8183880" y="4690872"/>
            <a:ext cx="384048" cy="384048"/>
          </a:xfrm>
          <a:prstGeom prst="ellipse">
            <a:avLst/>
          </a:prstGeom>
          <a:solidFill>
            <a:srgbClr val="FFFFFF"/>
          </a:solidFill>
          <a:ln/>
        </p:spPr>
      </p:sp>
      <p:pic>
        <p:nvPicPr>
          <p:cNvPr id="58" name="Image 9" descr="preencoded.png">    </p:cNvPr>
          <p:cNvPicPr>
            <a:picLocks noChangeAspect="1"/>
          </p:cNvPicPr>
          <p:nvPr/>
        </p:nvPicPr>
        <p:blipFill>
          <a:blip r:embed="rId10"/>
          <a:stretch>
            <a:fillRect/>
          </a:stretch>
        </p:blipFill>
        <p:spPr>
          <a:xfrm>
            <a:off x="8260690" y="4767682"/>
            <a:ext cx="230429" cy="230429"/>
          </a:xfrm>
          <a:prstGeom prst="rect">
            <a:avLst/>
          </a:prstGeom>
        </p:spPr>
      </p:pic>
      <p:sp>
        <p:nvSpPr>
          <p:cNvPr id="59" name="Text 47"/>
          <p:cNvSpPr txBox="1"/>
          <p:nvPr/>
        </p:nvSpPr>
        <p:spPr>
          <a:xfrm>
            <a:off x="8641080" y="4690872"/>
            <a:ext cx="2880360" cy="384048"/>
          </a:xfrm>
          <a:prstGeom prst="rect">
            <a:avLst/>
          </a:prstGeom>
          <a:noFill/>
          <a:ln/>
        </p:spPr>
        <p:txBody>
          <a:bodyPr wrap="square" lIns="0" tIns="0" rIns="0" bIns="0"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検討ポイント</a:t>
            </a:r>
            <a:endParaRPr lang="en-US" sz="1300" dirty="0"/>
          </a:p>
        </p:txBody>
      </p:sp>
      <p:sp>
        <p:nvSpPr>
          <p:cNvPr id="60" name="Text 48"/>
          <p:cNvSpPr txBox="1"/>
          <p:nvPr/>
        </p:nvSpPr>
        <p:spPr>
          <a:xfrm>
            <a:off x="8229600" y="5175504"/>
            <a:ext cx="3246120" cy="1088136"/>
          </a:xfrm>
          <a:prstGeom prst="rect">
            <a:avLst/>
          </a:prstGeom>
          <a:noFill/>
          <a:ln/>
        </p:spPr>
        <p:txBody>
          <a:bodyPr wrap="square" lIns="254" tIns="254" rIns="254" bIns="254" rtlCol="0" anchor="t"/>
          <a:lstStyle/>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同じTypeScript開発ならA6（code apps）との比較</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内製か外注か、保守の体制</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M365（Teams）との連携の範囲</a:t>
            </a:r>
            <a:endParaRPr lang="en-US" sz="1150" dirty="0"/>
          </a:p>
        </p:txBody>
      </p:sp>
      <p:sp>
        <p:nvSpPr>
          <p:cNvPr id="61" name="Text 49"/>
          <p:cNvSpPr txBox="1"/>
          <p:nvPr/>
        </p:nvSpPr>
        <p:spPr>
          <a:xfrm>
            <a:off x="548640" y="6400800"/>
            <a:ext cx="10515600" cy="228600"/>
          </a:xfrm>
          <a:prstGeom prst="rect">
            <a:avLst/>
          </a:prstGeom>
          <a:noFill/>
          <a:ln/>
        </p:spPr>
        <p:txBody>
          <a:bodyPr wrap="square" lIns="0" tIns="0" rIns="0" bIns="0" rtlCol="0" anchor="t"/>
          <a:lstStyle/>
          <a:p>
            <a:pPr indent="0" marL="0">
              <a:buNone/>
            </a:pPr>
            <a:r>
              <a:rPr lang="en-US" sz="800" dirty="0">
                <a:solidFill>
                  <a:srgbClr val="6B7280"/>
                </a:solidFill>
                <a:latin typeface="Meiryo UI" pitchFamily="34" charset="0"/>
                <a:ea typeface="Meiryo UI" pitchFamily="34" charset="-122"/>
                <a:cs typeface="Meiryo UI" pitchFamily="34" charset="-120"/>
              </a:rPr>
              <a:t>難易度（★）：開発量・必要なスキル・関係する部署やシステムの数から見た相対的な目安。期間：社内で内製し、PoC後に単独で構築した場合の概算</a:t>
            </a:r>
            <a:endParaRPr lang="en-US" sz="8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548640"/>
          </a:xfrm>
          <a:prstGeom prst="rect">
            <a:avLst/>
          </a:prstGeom>
          <a:noFill/>
          <a:ln/>
        </p:spPr>
        <p:txBody>
          <a:bodyPr wrap="square" lIns="0" tIns="0" rIns="0" bIns="0" rtlCol="0" anchor="ctr"/>
          <a:lstStyle/>
          <a:p>
            <a:pPr indent="0" marL="0">
              <a:buNone/>
            </a:pPr>
            <a:r>
              <a:rPr lang="en-US" sz="2600" b="1" dirty="0">
                <a:solidFill>
                  <a:srgbClr val="1B2A49"/>
                </a:solidFill>
                <a:latin typeface="Meiryo UI" pitchFamily="34" charset="0"/>
                <a:ea typeface="Meiryo UI" pitchFamily="34" charset="-122"/>
                <a:cs typeface="Meiryo UI" pitchFamily="34" charset="-120"/>
              </a:rPr>
              <a:t>C1｜Airtable標準のAI（Field Agents）</a:t>
            </a:r>
            <a:endParaRPr lang="en-US" sz="2600" dirty="0"/>
          </a:p>
        </p:txBody>
      </p:sp>
      <p:sp>
        <p:nvSpPr>
          <p:cNvPr id="3" name="Text 1"/>
          <p:cNvSpPr txBox="1"/>
          <p:nvPr/>
        </p:nvSpPr>
        <p:spPr>
          <a:xfrm>
            <a:off x="548640" y="896112"/>
            <a:ext cx="11064240" cy="365760"/>
          </a:xfrm>
          <a:prstGeom prst="rect">
            <a:avLst/>
          </a:prstGeom>
          <a:noFill/>
          <a:ln/>
        </p:spPr>
        <p:txBody>
          <a:bodyPr wrap="square" lIns="0" tIns="0" rIns="0" bIns="0" rtlCol="0" anchor="ctr"/>
          <a:lstStyle/>
          <a:p>
            <a:pPr indent="0" marL="0">
              <a:buNone/>
            </a:pPr>
            <a:r>
              <a:rPr lang="en-US" sz="1400" dirty="0">
                <a:solidFill>
                  <a:srgbClr val="6B7280"/>
                </a:solidFill>
                <a:latin typeface="Meiryo UI" pitchFamily="34" charset="0"/>
                <a:ea typeface="Meiryo UI" pitchFamily="34" charset="-122"/>
                <a:cs typeface="Meiryo UI" pitchFamily="34" charset="-120"/>
              </a:rPr>
              <a:t>Airtableの標準AI機能で、カードの項目（テーマ・コピー・制作指示など）を自動生成する。M365・GCPとは独立した選択肢</a:t>
            </a:r>
            <a:endParaRPr lang="en-US" sz="1400" dirty="0"/>
          </a:p>
        </p:txBody>
      </p:sp>
      <p:sp>
        <p:nvSpPr>
          <p:cNvPr id="4" name="Text 2"/>
          <p:cNvSpPr txBox="1"/>
          <p:nvPr/>
        </p:nvSpPr>
        <p:spPr>
          <a:xfrm>
            <a:off x="7498080" y="91440"/>
            <a:ext cx="4114800" cy="22860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4. 各パターンの詳細</a:t>
            </a:r>
            <a:endParaRPr lang="en-US" sz="900" dirty="0"/>
          </a:p>
        </p:txBody>
      </p:sp>
      <p:sp>
        <p:nvSpPr>
          <p:cNvPr id="5" name="Text 3"/>
          <p:cNvSpPr txBox="1"/>
          <p:nvPr/>
        </p:nvSpPr>
        <p:spPr>
          <a:xfrm>
            <a:off x="11247120" y="6446520"/>
            <a:ext cx="457200" cy="27432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32</a:t>
            </a:r>
            <a:endParaRPr lang="en-US" sz="900" dirty="0"/>
          </a:p>
        </p:txBody>
      </p:sp>
      <p:sp>
        <p:nvSpPr>
          <p:cNvPr id="6" name="Shape 4"/>
          <p:cNvSpPr/>
          <p:nvPr/>
        </p:nvSpPr>
        <p:spPr>
          <a:xfrm>
            <a:off x="548640" y="1371600"/>
            <a:ext cx="2103120" cy="347472"/>
          </a:xfrm>
          <a:prstGeom prst="roundRect">
            <a:avLst>
              <a:gd name="adj" fmla="val 50000"/>
            </a:avLst>
          </a:prstGeom>
          <a:solidFill>
            <a:srgbClr val="FFF4E0"/>
          </a:solidFill>
          <a:ln/>
        </p:spPr>
      </p:sp>
      <p:sp>
        <p:nvSpPr>
          <p:cNvPr id="7" name="Text 5"/>
          <p:cNvSpPr txBox="1"/>
          <p:nvPr/>
        </p:nvSpPr>
        <p:spPr>
          <a:xfrm>
            <a:off x="548640" y="1371600"/>
            <a:ext cx="2103120" cy="347472"/>
          </a:xfrm>
          <a:prstGeom prst="rect">
            <a:avLst/>
          </a:prstGeom>
          <a:noFill/>
          <a:ln/>
        </p:spPr>
        <p:txBody>
          <a:bodyPr wrap="square" lIns="0" tIns="0" rIns="0" bIns="0" rtlCol="0" anchor="ctr"/>
          <a:lstStyle/>
          <a:p>
            <a:pPr algn="ctr" indent="0" marL="0">
              <a:buNone/>
            </a:pPr>
            <a:r>
              <a:rPr lang="en-US" sz="950" dirty="0">
                <a:solidFill>
                  <a:srgbClr val="C77700"/>
                </a:solidFill>
                <a:latin typeface="Meiryo UI" pitchFamily="34" charset="0"/>
                <a:ea typeface="Meiryo UI" pitchFamily="34" charset="-122"/>
                <a:cs typeface="Meiryo UI" pitchFamily="34" charset="-120"/>
              </a:rPr>
              <a:t>集約先  </a:t>
            </a:r>
            <a:pPr algn="ctr" indent="0" marL="0">
              <a:buNone/>
            </a:pPr>
            <a:r>
              <a:rPr lang="en-US" sz="1100" b="1" dirty="0">
                <a:solidFill>
                  <a:srgbClr val="C77700"/>
                </a:solidFill>
                <a:latin typeface="Meiryo UI" pitchFamily="34" charset="0"/>
                <a:ea typeface="Meiryo UI" pitchFamily="34" charset="-122"/>
                <a:cs typeface="Meiryo UI" pitchFamily="34" charset="-120"/>
              </a:rPr>
              <a:t>Airtable内で完結</a:t>
            </a:r>
            <a:endParaRPr lang="en-US" sz="950" dirty="0"/>
          </a:p>
        </p:txBody>
      </p:sp>
      <p:sp>
        <p:nvSpPr>
          <p:cNvPr id="8" name="Shape 6"/>
          <p:cNvSpPr/>
          <p:nvPr/>
        </p:nvSpPr>
        <p:spPr>
          <a:xfrm>
            <a:off x="2788920" y="1371600"/>
            <a:ext cx="2103120" cy="347472"/>
          </a:xfrm>
          <a:prstGeom prst="roundRect">
            <a:avLst>
              <a:gd name="adj" fmla="val 50000"/>
            </a:avLst>
          </a:prstGeom>
          <a:solidFill>
            <a:srgbClr val="F3F5F8"/>
          </a:solidFill>
          <a:ln/>
        </p:spPr>
      </p:sp>
      <p:sp>
        <p:nvSpPr>
          <p:cNvPr id="9" name="Text 7"/>
          <p:cNvSpPr txBox="1"/>
          <p:nvPr/>
        </p:nvSpPr>
        <p:spPr>
          <a:xfrm>
            <a:off x="2788920" y="1371600"/>
            <a:ext cx="2103120" cy="347472"/>
          </a:xfrm>
          <a:prstGeom prst="rect">
            <a:avLst/>
          </a:prstGeom>
          <a:noFill/>
          <a:ln/>
        </p:spPr>
        <p:txBody>
          <a:bodyPr wrap="square" lIns="0" tIns="0" rIns="0" bIns="0" rtlCol="0" anchor="ctr"/>
          <a:lstStyle/>
          <a:p>
            <a:pPr algn="ctr" indent="0" marL="0">
              <a:buNone/>
            </a:pPr>
            <a:r>
              <a:rPr lang="en-US" sz="950" dirty="0">
                <a:solidFill>
                  <a:srgbClr val="1B2A49"/>
                </a:solidFill>
                <a:latin typeface="Meiryo UI" pitchFamily="34" charset="0"/>
                <a:ea typeface="Meiryo UI" pitchFamily="34" charset="-122"/>
                <a:cs typeface="Meiryo UI" pitchFamily="34" charset="-120"/>
              </a:rPr>
              <a:t>管理基盤  </a:t>
            </a:r>
            <a:pPr algn="ctr" indent="0" marL="0">
              <a:buNone/>
            </a:pPr>
            <a:r>
              <a:rPr lang="en-US" sz="1100" b="1" dirty="0">
                <a:solidFill>
                  <a:srgbClr val="1B2A49"/>
                </a:solidFill>
                <a:latin typeface="Meiryo UI" pitchFamily="34" charset="0"/>
                <a:ea typeface="Meiryo UI" pitchFamily="34" charset="-122"/>
                <a:cs typeface="Meiryo UI" pitchFamily="34" charset="-120"/>
              </a:rPr>
              <a:t>Airtable</a:t>
            </a:r>
            <a:endParaRPr lang="en-US" sz="950" dirty="0"/>
          </a:p>
        </p:txBody>
      </p:sp>
      <p:sp>
        <p:nvSpPr>
          <p:cNvPr id="10" name="Shape 8"/>
          <p:cNvSpPr/>
          <p:nvPr/>
        </p:nvSpPr>
        <p:spPr>
          <a:xfrm>
            <a:off x="5029200" y="1371600"/>
            <a:ext cx="2103120" cy="347472"/>
          </a:xfrm>
          <a:prstGeom prst="roundRect">
            <a:avLst>
              <a:gd name="adj" fmla="val 50000"/>
            </a:avLst>
          </a:prstGeom>
          <a:solidFill>
            <a:srgbClr val="D9F2F1"/>
          </a:solidFill>
          <a:ln/>
        </p:spPr>
      </p:sp>
      <p:sp>
        <p:nvSpPr>
          <p:cNvPr id="11" name="Text 9"/>
          <p:cNvSpPr txBox="1"/>
          <p:nvPr/>
        </p:nvSpPr>
        <p:spPr>
          <a:xfrm>
            <a:off x="5029200" y="1371600"/>
            <a:ext cx="2103120" cy="347472"/>
          </a:xfrm>
          <a:prstGeom prst="rect">
            <a:avLst/>
          </a:prstGeom>
          <a:noFill/>
          <a:ln/>
        </p:spPr>
        <p:txBody>
          <a:bodyPr wrap="square" lIns="0" tIns="0" rIns="0" bIns="0" rtlCol="0" anchor="ctr"/>
          <a:lstStyle/>
          <a:p>
            <a:pPr algn="ctr" indent="0" marL="0">
              <a:buNone/>
            </a:pPr>
            <a:r>
              <a:rPr lang="en-US" sz="950" dirty="0">
                <a:solidFill>
                  <a:srgbClr val="0E9F9A"/>
                </a:solidFill>
                <a:latin typeface="Meiryo UI" pitchFamily="34" charset="0"/>
                <a:ea typeface="Meiryo UI" pitchFamily="34" charset="-122"/>
                <a:cs typeface="Meiryo UI" pitchFamily="34" charset="-120"/>
              </a:rPr>
              <a:t>自動化  </a:t>
            </a:r>
            <a:pPr algn="ctr" indent="0" marL="0">
              <a:buNone/>
            </a:pPr>
            <a:r>
              <a:rPr lang="en-US" sz="1100" b="1" dirty="0">
                <a:solidFill>
                  <a:srgbClr val="0E9F9A"/>
                </a:solidFill>
                <a:latin typeface="Meiryo UI" pitchFamily="34" charset="0"/>
                <a:ea typeface="Meiryo UI" pitchFamily="34" charset="-122"/>
                <a:cs typeface="Meiryo UI" pitchFamily="34" charset="-120"/>
              </a:rPr>
              <a:t>Step2〜3</a:t>
            </a:r>
            <a:endParaRPr lang="en-US" sz="950" dirty="0"/>
          </a:p>
        </p:txBody>
      </p:sp>
      <p:sp>
        <p:nvSpPr>
          <p:cNvPr id="12" name="Shape 10"/>
          <p:cNvSpPr/>
          <p:nvPr/>
        </p:nvSpPr>
        <p:spPr>
          <a:xfrm>
            <a:off x="7269480" y="1371600"/>
            <a:ext cx="2103120" cy="347472"/>
          </a:xfrm>
          <a:prstGeom prst="roundRect">
            <a:avLst>
              <a:gd name="adj" fmla="val 50000"/>
            </a:avLst>
          </a:prstGeom>
          <a:solidFill>
            <a:srgbClr val="FDEBD3"/>
          </a:solidFill>
          <a:ln/>
        </p:spPr>
      </p:sp>
      <p:sp>
        <p:nvSpPr>
          <p:cNvPr id="13" name="Text 11"/>
          <p:cNvSpPr txBox="1"/>
          <p:nvPr/>
        </p:nvSpPr>
        <p:spPr>
          <a:xfrm>
            <a:off x="7269480" y="1371600"/>
            <a:ext cx="2103120" cy="347472"/>
          </a:xfrm>
          <a:prstGeom prst="rect">
            <a:avLst/>
          </a:prstGeom>
          <a:noFill/>
          <a:ln/>
        </p:spPr>
        <p:txBody>
          <a:bodyPr wrap="square" lIns="0" tIns="0" rIns="0" bIns="0" rtlCol="0" anchor="ctr"/>
          <a:lstStyle/>
          <a:p>
            <a:pPr algn="ctr" indent="0" marL="0">
              <a:buNone/>
            </a:pPr>
            <a:r>
              <a:rPr lang="en-US" sz="950" dirty="0">
                <a:solidFill>
                  <a:srgbClr val="E8912D"/>
                </a:solidFill>
                <a:latin typeface="Meiryo UI" pitchFamily="34" charset="0"/>
                <a:ea typeface="Meiryo UI" pitchFamily="34" charset="-122"/>
                <a:cs typeface="Meiryo UI" pitchFamily="34" charset="-120"/>
              </a:rPr>
              <a:t>難易度  </a:t>
            </a:r>
            <a:pPr algn="ctr" indent="0" marL="0">
              <a:buNone/>
            </a:pPr>
            <a:r>
              <a:rPr lang="en-US" sz="1100" b="1" dirty="0">
                <a:solidFill>
                  <a:srgbClr val="E8912D"/>
                </a:solidFill>
                <a:latin typeface="Meiryo UI" pitchFamily="34" charset="0"/>
                <a:ea typeface="Meiryo UI" pitchFamily="34" charset="-122"/>
                <a:cs typeface="Meiryo UI" pitchFamily="34" charset="-120"/>
              </a:rPr>
              <a:t>★☆☆☆☆</a:t>
            </a:r>
            <a:endParaRPr lang="en-US" sz="950" dirty="0"/>
          </a:p>
        </p:txBody>
      </p:sp>
      <p:sp>
        <p:nvSpPr>
          <p:cNvPr id="14" name="Shape 12"/>
          <p:cNvSpPr/>
          <p:nvPr/>
        </p:nvSpPr>
        <p:spPr>
          <a:xfrm>
            <a:off x="9509760" y="1371600"/>
            <a:ext cx="2103120" cy="347472"/>
          </a:xfrm>
          <a:prstGeom prst="roundRect">
            <a:avLst>
              <a:gd name="adj" fmla="val 50000"/>
            </a:avLst>
          </a:prstGeom>
          <a:solidFill>
            <a:srgbClr val="F3F5F8"/>
          </a:solidFill>
          <a:ln/>
        </p:spPr>
      </p:sp>
      <p:sp>
        <p:nvSpPr>
          <p:cNvPr id="15" name="Text 13"/>
          <p:cNvSpPr txBox="1"/>
          <p:nvPr/>
        </p:nvSpPr>
        <p:spPr>
          <a:xfrm>
            <a:off x="9509760" y="1371600"/>
            <a:ext cx="2103120" cy="347472"/>
          </a:xfrm>
          <a:prstGeom prst="rect">
            <a:avLst/>
          </a:prstGeom>
          <a:noFill/>
          <a:ln/>
        </p:spPr>
        <p:txBody>
          <a:bodyPr wrap="square" lIns="0" tIns="0" rIns="0" bIns="0" rtlCol="0" anchor="ctr"/>
          <a:lstStyle/>
          <a:p>
            <a:pPr algn="ctr" indent="0" marL="0">
              <a:buNone/>
            </a:pPr>
            <a:r>
              <a:rPr lang="en-US" sz="950" dirty="0">
                <a:solidFill>
                  <a:srgbClr val="1B2A49"/>
                </a:solidFill>
                <a:latin typeface="Meiryo UI" pitchFamily="34" charset="0"/>
                <a:ea typeface="Meiryo UI" pitchFamily="34" charset="-122"/>
                <a:cs typeface="Meiryo UI" pitchFamily="34" charset="-120"/>
              </a:rPr>
              <a:t>期間目安  </a:t>
            </a:r>
            <a:pPr algn="ctr" indent="0" marL="0">
              <a:buNone/>
            </a:pPr>
            <a:r>
              <a:rPr lang="en-US" sz="1100" b="1" dirty="0">
                <a:solidFill>
                  <a:srgbClr val="1B2A49"/>
                </a:solidFill>
                <a:latin typeface="Meiryo UI" pitchFamily="34" charset="0"/>
                <a:ea typeface="Meiryo UI" pitchFamily="34" charset="-122"/>
                <a:cs typeface="Meiryo UI" pitchFamily="34" charset="-120"/>
              </a:rPr>
              <a:t>〜1ヶ月</a:t>
            </a:r>
            <a:endParaRPr lang="en-US" sz="950" dirty="0"/>
          </a:p>
        </p:txBody>
      </p:sp>
      <p:sp>
        <p:nvSpPr>
          <p:cNvPr id="16" name="Shape 14"/>
          <p:cNvSpPr/>
          <p:nvPr/>
        </p:nvSpPr>
        <p:spPr>
          <a:xfrm>
            <a:off x="548640" y="1874520"/>
            <a:ext cx="6949440" cy="2514600"/>
          </a:xfrm>
          <a:prstGeom prst="roundRect">
            <a:avLst>
              <a:gd name="adj" fmla="val 1455"/>
            </a:avLst>
          </a:prstGeom>
          <a:solidFill>
            <a:srgbClr val="F3F5F8"/>
          </a:solidFill>
          <a:ln/>
        </p:spPr>
      </p:sp>
      <p:sp>
        <p:nvSpPr>
          <p:cNvPr id="17" name="Shape 15"/>
          <p:cNvSpPr/>
          <p:nvPr/>
        </p:nvSpPr>
        <p:spPr>
          <a:xfrm>
            <a:off x="731520" y="2103120"/>
            <a:ext cx="2103120" cy="914400"/>
          </a:xfrm>
          <a:prstGeom prst="roundRect">
            <a:avLst>
              <a:gd name="adj" fmla="val 8000"/>
            </a:avLst>
          </a:prstGeom>
          <a:solidFill>
            <a:srgbClr val="FDEBD3"/>
          </a:solidFill>
          <a:ln/>
        </p:spPr>
      </p:sp>
      <p:pic>
        <p:nvPicPr>
          <p:cNvPr id="18" name="Image 0" descr="preencoded.png">    </p:cNvPr>
          <p:cNvPicPr>
            <a:picLocks noChangeAspect="1"/>
          </p:cNvPicPr>
          <p:nvPr/>
        </p:nvPicPr>
        <p:blipFill>
          <a:blip r:embed="rId1"/>
          <a:stretch>
            <a:fillRect/>
          </a:stretch>
        </p:blipFill>
        <p:spPr>
          <a:xfrm>
            <a:off x="841248" y="2377440"/>
            <a:ext cx="365760" cy="365760"/>
          </a:xfrm>
          <a:prstGeom prst="rect">
            <a:avLst/>
          </a:prstGeom>
        </p:spPr>
      </p:pic>
      <p:sp>
        <p:nvSpPr>
          <p:cNvPr id="19" name="Text 16"/>
          <p:cNvSpPr txBox="1"/>
          <p:nvPr/>
        </p:nvSpPr>
        <p:spPr>
          <a:xfrm>
            <a:off x="1298448" y="2103120"/>
            <a:ext cx="1490472" cy="914400"/>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配信カード</a:t>
            </a:r>
            <a:endParaRPr lang="en-US" sz="1050" dirty="0"/>
          </a:p>
          <a:p>
            <a:pPr algn="l" indent="0" marL="0">
              <a:buNone/>
            </a:pPr>
            <a:r>
              <a:rPr lang="en-US" sz="900" dirty="0">
                <a:solidFill>
                  <a:srgbClr val="6B7280"/>
                </a:solidFill>
                <a:latin typeface="Meiryo UI" pitchFamily="34" charset="0"/>
                <a:ea typeface="Meiryo UI" pitchFamily="34" charset="-122"/>
                <a:cs typeface="Meiryo UI" pitchFamily="34" charset="-120"/>
              </a:rPr>
              <a:t>配信日ごとに作成済み</a:t>
            </a:r>
            <a:endParaRPr lang="en-US" sz="1050" dirty="0"/>
          </a:p>
        </p:txBody>
      </p:sp>
      <p:sp>
        <p:nvSpPr>
          <p:cNvPr id="20" name="Shape 17"/>
          <p:cNvSpPr/>
          <p:nvPr/>
        </p:nvSpPr>
        <p:spPr>
          <a:xfrm>
            <a:off x="2880360" y="2560320"/>
            <a:ext cx="274320" cy="0"/>
          </a:xfrm>
          <a:prstGeom prst="line">
            <a:avLst/>
          </a:prstGeom>
          <a:noFill/>
          <a:ln w="22225">
            <a:solidFill>
              <a:srgbClr val="9AA5B4"/>
            </a:solidFill>
            <a:prstDash val="solid"/>
            <a:tailEnd type="triangle"/>
          </a:ln>
        </p:spPr>
      </p:sp>
      <p:sp>
        <p:nvSpPr>
          <p:cNvPr id="21" name="Shape 18"/>
          <p:cNvSpPr/>
          <p:nvPr/>
        </p:nvSpPr>
        <p:spPr>
          <a:xfrm>
            <a:off x="3200400" y="2103120"/>
            <a:ext cx="2103120" cy="914400"/>
          </a:xfrm>
          <a:prstGeom prst="roundRect">
            <a:avLst>
              <a:gd name="adj" fmla="val 8000"/>
            </a:avLst>
          </a:prstGeom>
          <a:solidFill>
            <a:srgbClr val="0E9F9A"/>
          </a:solidFill>
          <a:ln/>
        </p:spPr>
      </p:sp>
      <p:sp>
        <p:nvSpPr>
          <p:cNvPr id="22" name="Shape 19"/>
          <p:cNvSpPr/>
          <p:nvPr/>
        </p:nvSpPr>
        <p:spPr>
          <a:xfrm>
            <a:off x="3273552" y="2304288"/>
            <a:ext cx="512064" cy="512064"/>
          </a:xfrm>
          <a:prstGeom prst="ellipse">
            <a:avLst/>
          </a:prstGeom>
          <a:solidFill>
            <a:srgbClr val="FFFFFF"/>
          </a:solidFill>
          <a:ln/>
        </p:spPr>
      </p:sp>
      <p:pic>
        <p:nvPicPr>
          <p:cNvPr id="23" name="Image 1" descr="preencoded.png">    </p:cNvPr>
          <p:cNvPicPr>
            <a:picLocks noChangeAspect="1"/>
          </p:cNvPicPr>
          <p:nvPr/>
        </p:nvPicPr>
        <p:blipFill>
          <a:blip r:embed="rId2"/>
          <a:stretch>
            <a:fillRect/>
          </a:stretch>
        </p:blipFill>
        <p:spPr>
          <a:xfrm>
            <a:off x="3346704" y="2377440"/>
            <a:ext cx="365760" cy="365760"/>
          </a:xfrm>
          <a:prstGeom prst="rect">
            <a:avLst/>
          </a:prstGeom>
        </p:spPr>
      </p:pic>
      <p:sp>
        <p:nvSpPr>
          <p:cNvPr id="24" name="Text 20"/>
          <p:cNvSpPr txBox="1"/>
          <p:nvPr/>
        </p:nvSpPr>
        <p:spPr>
          <a:xfrm>
            <a:off x="3931920" y="2103120"/>
            <a:ext cx="1325880" cy="914400"/>
          </a:xfrm>
          <a:prstGeom prst="rect">
            <a:avLst/>
          </a:prstGeom>
          <a:noFill/>
          <a:ln/>
        </p:spPr>
        <p:txBody>
          <a:bodyPr wrap="square" lIns="0" tIns="0" rIns="0" bIns="0" rtlCol="0" anchor="ctr"/>
          <a:lstStyle/>
          <a:p>
            <a:pPr algn="l" indent="0" marL="0">
              <a:buNone/>
            </a:pPr>
            <a:r>
              <a:rPr lang="en-US" sz="1050" b="1" dirty="0">
                <a:solidFill>
                  <a:srgbClr val="FFFFFF"/>
                </a:solidFill>
                <a:latin typeface="Meiryo UI" pitchFamily="34" charset="0"/>
                <a:ea typeface="Meiryo UI" pitchFamily="34" charset="-122"/>
                <a:cs typeface="Meiryo UI" pitchFamily="34" charset="-120"/>
              </a:rPr>
              <a:t>Field Agents</a:t>
            </a:r>
            <a:endParaRPr lang="en-US" sz="1050" dirty="0"/>
          </a:p>
          <a:p>
            <a:pPr algn="l" indent="0" marL="0">
              <a:buNone/>
            </a:pPr>
            <a:r>
              <a:rPr lang="en-US" sz="900" dirty="0">
                <a:solidFill>
                  <a:srgbClr val="E6F2F2"/>
                </a:solidFill>
                <a:latin typeface="Meiryo UI" pitchFamily="34" charset="0"/>
                <a:ea typeface="Meiryo UI" pitchFamily="34" charset="-122"/>
                <a:cs typeface="Meiryo UI" pitchFamily="34" charset="-120"/>
              </a:rPr>
              <a:t>項目の追加・更新で自動実行</a:t>
            </a:r>
            <a:endParaRPr lang="en-US" sz="1050" dirty="0"/>
          </a:p>
        </p:txBody>
      </p:sp>
      <p:sp>
        <p:nvSpPr>
          <p:cNvPr id="25" name="Shape 21"/>
          <p:cNvSpPr/>
          <p:nvPr/>
        </p:nvSpPr>
        <p:spPr>
          <a:xfrm>
            <a:off x="5349240" y="2560320"/>
            <a:ext cx="274320" cy="0"/>
          </a:xfrm>
          <a:prstGeom prst="line">
            <a:avLst/>
          </a:prstGeom>
          <a:noFill/>
          <a:ln w="22225">
            <a:solidFill>
              <a:srgbClr val="9AA5B4"/>
            </a:solidFill>
            <a:prstDash val="solid"/>
            <a:tailEnd type="triangle"/>
          </a:ln>
        </p:spPr>
      </p:sp>
      <p:sp>
        <p:nvSpPr>
          <p:cNvPr id="26" name="Shape 22"/>
          <p:cNvSpPr/>
          <p:nvPr/>
        </p:nvSpPr>
        <p:spPr>
          <a:xfrm>
            <a:off x="5669280" y="2103120"/>
            <a:ext cx="1645920" cy="914400"/>
          </a:xfrm>
          <a:prstGeom prst="roundRect">
            <a:avLst>
              <a:gd name="adj" fmla="val 8000"/>
            </a:avLst>
          </a:prstGeom>
          <a:solidFill>
            <a:srgbClr val="D9F2F1"/>
          </a:solidFill>
          <a:ln/>
        </p:spPr>
      </p:sp>
      <p:pic>
        <p:nvPicPr>
          <p:cNvPr id="27" name="Image 2" descr="preencoded.png">    </p:cNvPr>
          <p:cNvPicPr>
            <a:picLocks noChangeAspect="1"/>
          </p:cNvPicPr>
          <p:nvPr/>
        </p:nvPicPr>
        <p:blipFill>
          <a:blip r:embed="rId3"/>
          <a:stretch>
            <a:fillRect/>
          </a:stretch>
        </p:blipFill>
        <p:spPr>
          <a:xfrm>
            <a:off x="5779008" y="2377440"/>
            <a:ext cx="365760" cy="365760"/>
          </a:xfrm>
          <a:prstGeom prst="rect">
            <a:avLst/>
          </a:prstGeom>
        </p:spPr>
      </p:pic>
      <p:sp>
        <p:nvSpPr>
          <p:cNvPr id="28" name="Text 23"/>
          <p:cNvSpPr txBox="1"/>
          <p:nvPr/>
        </p:nvSpPr>
        <p:spPr>
          <a:xfrm>
            <a:off x="6236208" y="2103120"/>
            <a:ext cx="1033272" cy="914400"/>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カードの項目</a:t>
            </a:r>
            <a:endParaRPr lang="en-US" sz="1050" dirty="0"/>
          </a:p>
          <a:p>
            <a:pPr algn="l" indent="0" marL="0">
              <a:buNone/>
            </a:pPr>
            <a:r>
              <a:rPr lang="en-US" sz="900" dirty="0">
                <a:solidFill>
                  <a:srgbClr val="6B7280"/>
                </a:solidFill>
                <a:latin typeface="Meiryo UI" pitchFamily="34" charset="0"/>
                <a:ea typeface="Meiryo UI" pitchFamily="34" charset="-122"/>
                <a:cs typeface="Meiryo UI" pitchFamily="34" charset="-120"/>
              </a:rPr>
              <a:t>テーマ・コピー・指示</a:t>
            </a:r>
            <a:endParaRPr lang="en-US" sz="1050" dirty="0"/>
          </a:p>
        </p:txBody>
      </p:sp>
      <p:sp>
        <p:nvSpPr>
          <p:cNvPr id="29" name="Shape 24"/>
          <p:cNvSpPr/>
          <p:nvPr/>
        </p:nvSpPr>
        <p:spPr>
          <a:xfrm>
            <a:off x="731520" y="3291840"/>
            <a:ext cx="2103120" cy="685800"/>
          </a:xfrm>
          <a:prstGeom prst="roundRect">
            <a:avLst>
              <a:gd name="adj" fmla="val 10667"/>
            </a:avLst>
          </a:prstGeom>
          <a:solidFill>
            <a:srgbClr val="E3EAF5"/>
          </a:solidFill>
          <a:ln/>
        </p:spPr>
      </p:sp>
      <p:pic>
        <p:nvPicPr>
          <p:cNvPr id="30" name="Image 3" descr="preencoded.png">    </p:cNvPr>
          <p:cNvPicPr>
            <a:picLocks noChangeAspect="1"/>
          </p:cNvPicPr>
          <p:nvPr/>
        </p:nvPicPr>
        <p:blipFill>
          <a:blip r:embed="rId4"/>
          <a:stretch>
            <a:fillRect/>
          </a:stretch>
        </p:blipFill>
        <p:spPr>
          <a:xfrm>
            <a:off x="841248" y="3451860"/>
            <a:ext cx="365760" cy="365760"/>
          </a:xfrm>
          <a:prstGeom prst="rect">
            <a:avLst/>
          </a:prstGeom>
        </p:spPr>
      </p:pic>
      <p:sp>
        <p:nvSpPr>
          <p:cNvPr id="31" name="Text 25"/>
          <p:cNvSpPr txBox="1"/>
          <p:nvPr/>
        </p:nvSpPr>
        <p:spPr>
          <a:xfrm>
            <a:off x="1298448" y="3291840"/>
            <a:ext cx="1490472" cy="685800"/>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添付・テキスト</a:t>
            </a:r>
            <a:endParaRPr lang="en-US" sz="1050" dirty="0"/>
          </a:p>
          <a:p>
            <a:pPr algn="l" indent="0" marL="0">
              <a:buNone/>
            </a:pPr>
            <a:r>
              <a:rPr lang="en-US" sz="900" dirty="0">
                <a:solidFill>
                  <a:srgbClr val="6B7280"/>
                </a:solidFill>
                <a:latin typeface="Meiryo UI" pitchFamily="34" charset="0"/>
                <a:ea typeface="Meiryo UI" pitchFamily="34" charset="-122"/>
                <a:cs typeface="Meiryo UI" pitchFamily="34" charset="-120"/>
              </a:rPr>
              <a:t>カードに持ち込んだ情報</a:t>
            </a:r>
            <a:endParaRPr lang="en-US" sz="1050" dirty="0"/>
          </a:p>
        </p:txBody>
      </p:sp>
      <p:sp>
        <p:nvSpPr>
          <p:cNvPr id="32" name="Shape 26"/>
          <p:cNvSpPr/>
          <p:nvPr/>
        </p:nvSpPr>
        <p:spPr>
          <a:xfrm flipV="1">
            <a:off x="2834640" y="3063240"/>
            <a:ext cx="457200" cy="502920"/>
          </a:xfrm>
          <a:prstGeom prst="line">
            <a:avLst/>
          </a:prstGeom>
          <a:noFill/>
          <a:ln w="22225">
            <a:solidFill>
              <a:srgbClr val="9AA5B4"/>
            </a:solidFill>
            <a:prstDash val="solid"/>
            <a:tailEnd type="triangle"/>
          </a:ln>
        </p:spPr>
      </p:sp>
      <p:sp>
        <p:nvSpPr>
          <p:cNvPr id="33" name="Shape 27"/>
          <p:cNvSpPr/>
          <p:nvPr/>
        </p:nvSpPr>
        <p:spPr>
          <a:xfrm>
            <a:off x="3200400" y="3291840"/>
            <a:ext cx="4114800" cy="685800"/>
          </a:xfrm>
          <a:prstGeom prst="roundRect">
            <a:avLst>
              <a:gd name="adj" fmla="val 10667"/>
            </a:avLst>
          </a:prstGeom>
          <a:solidFill>
            <a:srgbClr val="FFFFFF"/>
          </a:solidFill>
          <a:ln w="12700">
            <a:solidFill>
              <a:srgbClr val="9AA5B4"/>
            </a:solidFill>
            <a:prstDash val="dash"/>
          </a:ln>
        </p:spPr>
      </p:sp>
      <p:pic>
        <p:nvPicPr>
          <p:cNvPr id="34" name="Image 4" descr="preencoded.png">    </p:cNvPr>
          <p:cNvPicPr>
            <a:picLocks noChangeAspect="1"/>
          </p:cNvPicPr>
          <p:nvPr/>
        </p:nvPicPr>
        <p:blipFill>
          <a:blip r:embed="rId5">
            <a:alphaModFix amt="50000"/>
          </a:blip>
          <a:stretch>
            <a:fillRect/>
          </a:stretch>
        </p:blipFill>
        <p:spPr>
          <a:xfrm>
            <a:off x="3337560" y="3474720"/>
            <a:ext cx="310896" cy="310896"/>
          </a:xfrm>
          <a:prstGeom prst="rect">
            <a:avLst/>
          </a:prstGeom>
        </p:spPr>
      </p:pic>
      <p:pic>
        <p:nvPicPr>
          <p:cNvPr id="35" name="Image 5" descr="preencoded.png">    </p:cNvPr>
          <p:cNvPicPr>
            <a:picLocks noChangeAspect="1"/>
          </p:cNvPicPr>
          <p:nvPr/>
        </p:nvPicPr>
        <p:blipFill>
          <a:blip r:embed="rId6">
            <a:alphaModFix amt="50000"/>
          </a:blip>
          <a:stretch>
            <a:fillRect/>
          </a:stretch>
        </p:blipFill>
        <p:spPr>
          <a:xfrm>
            <a:off x="3703320" y="3474720"/>
            <a:ext cx="310896" cy="310896"/>
          </a:xfrm>
          <a:prstGeom prst="rect">
            <a:avLst/>
          </a:prstGeom>
        </p:spPr>
      </p:pic>
      <p:sp>
        <p:nvSpPr>
          <p:cNvPr id="36" name="Text 28"/>
          <p:cNvSpPr txBox="1"/>
          <p:nvPr/>
        </p:nvSpPr>
        <p:spPr>
          <a:xfrm>
            <a:off x="4114800" y="3291840"/>
            <a:ext cx="3154680" cy="685800"/>
          </a:xfrm>
          <a:prstGeom prst="rect">
            <a:avLst/>
          </a:prstGeom>
          <a:noFill/>
          <a:ln/>
        </p:spPr>
        <p:txBody>
          <a:bodyPr wrap="square" lIns="508" tIns="508" rIns="508" bIns="508" rtlCol="0" anchor="ctr"/>
          <a:lstStyle/>
          <a:p>
            <a:pPr indent="0" marL="0">
              <a:buNone/>
            </a:pPr>
            <a:r>
              <a:rPr lang="en-US" sz="950" dirty="0">
                <a:solidFill>
                  <a:srgbClr val="6B7280"/>
                </a:solidFill>
                <a:latin typeface="Meiryo UI" pitchFamily="34" charset="0"/>
                <a:ea typeface="Meiryo UI" pitchFamily="34" charset="-122"/>
                <a:cs typeface="Meiryo UI" pitchFamily="34" charset="-120"/>
              </a:rPr>
              <a:t>SharePointの資料やBigQueryのデータは直接参照しにくい</a:t>
            </a:r>
            <a:endParaRPr lang="en-US" sz="950" dirty="0"/>
          </a:p>
        </p:txBody>
      </p:sp>
      <p:sp>
        <p:nvSpPr>
          <p:cNvPr id="37" name="Shape 29"/>
          <p:cNvSpPr/>
          <p:nvPr/>
        </p:nvSpPr>
        <p:spPr>
          <a:xfrm>
            <a:off x="7680960" y="1874520"/>
            <a:ext cx="3931920" cy="2514600"/>
          </a:xfrm>
          <a:prstGeom prst="roundRect">
            <a:avLst>
              <a:gd name="adj" fmla="val 2182"/>
            </a:avLst>
          </a:prstGeom>
          <a:solidFill>
            <a:srgbClr val="E3EAF5"/>
          </a:solidFill>
          <a:ln/>
        </p:spPr>
      </p:sp>
      <p:sp>
        <p:nvSpPr>
          <p:cNvPr id="38" name="Shape 30"/>
          <p:cNvSpPr/>
          <p:nvPr/>
        </p:nvSpPr>
        <p:spPr>
          <a:xfrm>
            <a:off x="7818120" y="1993392"/>
            <a:ext cx="384048" cy="384048"/>
          </a:xfrm>
          <a:prstGeom prst="ellipse">
            <a:avLst/>
          </a:prstGeom>
          <a:solidFill>
            <a:srgbClr val="FFFFFF"/>
          </a:solidFill>
          <a:ln/>
        </p:spPr>
      </p:sp>
      <p:pic>
        <p:nvPicPr>
          <p:cNvPr id="39" name="Image 6" descr="preencoded.png">    </p:cNvPr>
          <p:cNvPicPr>
            <a:picLocks noChangeAspect="1"/>
          </p:cNvPicPr>
          <p:nvPr/>
        </p:nvPicPr>
        <p:blipFill>
          <a:blip r:embed="rId7"/>
          <a:stretch>
            <a:fillRect/>
          </a:stretch>
        </p:blipFill>
        <p:spPr>
          <a:xfrm>
            <a:off x="7894930" y="2070202"/>
            <a:ext cx="230429" cy="230429"/>
          </a:xfrm>
          <a:prstGeom prst="rect">
            <a:avLst/>
          </a:prstGeom>
        </p:spPr>
      </p:pic>
      <p:sp>
        <p:nvSpPr>
          <p:cNvPr id="40" name="Text 31"/>
          <p:cNvSpPr txBox="1"/>
          <p:nvPr/>
        </p:nvSpPr>
        <p:spPr>
          <a:xfrm>
            <a:off x="8275320" y="1993392"/>
            <a:ext cx="3246120" cy="384048"/>
          </a:xfrm>
          <a:prstGeom prst="rect">
            <a:avLst/>
          </a:prstGeom>
          <a:noFill/>
          <a:ln/>
        </p:spPr>
        <p:txBody>
          <a:bodyPr wrap="square" lIns="0" tIns="0" rIns="0" bIns="0"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必要な機能・準備</a:t>
            </a:r>
            <a:endParaRPr lang="en-US" sz="1300" dirty="0"/>
          </a:p>
        </p:txBody>
      </p:sp>
      <p:sp>
        <p:nvSpPr>
          <p:cNvPr id="41" name="Text 32"/>
          <p:cNvSpPr txBox="1"/>
          <p:nvPr/>
        </p:nvSpPr>
        <p:spPr>
          <a:xfrm>
            <a:off x="7863840" y="2478024"/>
            <a:ext cx="3611880" cy="1819656"/>
          </a:xfrm>
          <a:prstGeom prst="rect">
            <a:avLst/>
          </a:prstGeom>
          <a:noFill/>
          <a:ln/>
        </p:spPr>
        <p:txBody>
          <a:bodyPr wrap="square" lIns="254" tIns="254" rIns="254" bIns="254" rtlCol="0" anchor="t"/>
          <a:lstStyle/>
          <a:p>
            <a:pPr marL="152400" indent="-152400">
              <a:spcAft>
                <a:spcPts val="300"/>
              </a:spcAft>
              <a:buSzPct val="100000"/>
              <a:buChar char="•"/>
            </a:pPr>
            <a:r>
              <a:rPr lang="en-US" sz="1100" dirty="0">
                <a:solidFill>
                  <a:srgbClr val="2B2B2B"/>
                </a:solidFill>
                <a:latin typeface="Meiryo UI" pitchFamily="34" charset="0"/>
                <a:ea typeface="Meiryo UI" pitchFamily="34" charset="-122"/>
                <a:cs typeface="Meiryo UI" pitchFamily="34" charset="-120"/>
              </a:rPr>
              <a:t>Airtable AI（Field Agents、Omni）</a:t>
            </a:r>
            <a:endParaRPr lang="en-US" sz="1100" dirty="0"/>
          </a:p>
          <a:p>
            <a:pPr marL="152400" indent="-152400">
              <a:spcAft>
                <a:spcPts val="300"/>
              </a:spcAft>
              <a:buSzPct val="100000"/>
              <a:buChar char="•"/>
            </a:pPr>
            <a:r>
              <a:rPr lang="en-US" sz="1100" dirty="0">
                <a:solidFill>
                  <a:srgbClr val="2B2B2B"/>
                </a:solidFill>
                <a:latin typeface="Meiryo UI" pitchFamily="34" charset="0"/>
                <a:ea typeface="Meiryo UI" pitchFamily="34" charset="-122"/>
                <a:cs typeface="Meiryo UI" pitchFamily="34" charset="-120"/>
              </a:rPr>
              <a:t>AIクレジット（プランに一定量を含み、追加購入も可）</a:t>
            </a:r>
            <a:endParaRPr lang="en-US" sz="1100" dirty="0"/>
          </a:p>
          <a:p>
            <a:pPr marL="152400" indent="-152400">
              <a:spcAft>
                <a:spcPts val="300"/>
              </a:spcAft>
              <a:buSzPct val="100000"/>
              <a:buChar char="•"/>
            </a:pPr>
            <a:r>
              <a:rPr lang="en-US" sz="1100" dirty="0">
                <a:solidFill>
                  <a:srgbClr val="2B2B2B"/>
                </a:solidFill>
                <a:latin typeface="Meiryo UI" pitchFamily="34" charset="0"/>
                <a:ea typeface="Meiryo UI" pitchFamily="34" charset="-122"/>
                <a:cs typeface="Meiryo UI" pitchFamily="34" charset="-120"/>
              </a:rPr>
              <a:t>参照させる情報をカードに持ち込む（添付・テキスト）</a:t>
            </a:r>
            <a:endParaRPr lang="en-US" sz="1100" dirty="0"/>
          </a:p>
          <a:p>
            <a:pPr marL="152400" indent="-152400">
              <a:spcAft>
                <a:spcPts val="300"/>
              </a:spcAft>
              <a:buSzPct val="100000"/>
              <a:buChar char="•"/>
            </a:pPr>
            <a:r>
              <a:rPr lang="en-US" sz="1100" dirty="0">
                <a:solidFill>
                  <a:srgbClr val="2B2B2B"/>
                </a:solidFill>
                <a:latin typeface="Meiryo UI" pitchFamily="34" charset="0"/>
                <a:ea typeface="Meiryo UI" pitchFamily="34" charset="-122"/>
                <a:cs typeface="Meiryo UI" pitchFamily="34" charset="-120"/>
              </a:rPr>
              <a:t>項目ごとのプロンプトの設計</a:t>
            </a:r>
            <a:endParaRPr lang="en-US" sz="1100" dirty="0"/>
          </a:p>
        </p:txBody>
      </p:sp>
      <p:sp>
        <p:nvSpPr>
          <p:cNvPr id="42" name="Shape 33"/>
          <p:cNvSpPr/>
          <p:nvPr/>
        </p:nvSpPr>
        <p:spPr>
          <a:xfrm>
            <a:off x="548640" y="4572000"/>
            <a:ext cx="3566160" cy="1783080"/>
          </a:xfrm>
          <a:prstGeom prst="roundRect">
            <a:avLst>
              <a:gd name="adj" fmla="val 3077"/>
            </a:avLst>
          </a:prstGeom>
          <a:solidFill>
            <a:srgbClr val="D9F2F1"/>
          </a:solidFill>
          <a:ln/>
        </p:spPr>
      </p:sp>
      <p:sp>
        <p:nvSpPr>
          <p:cNvPr id="43" name="Shape 34"/>
          <p:cNvSpPr/>
          <p:nvPr/>
        </p:nvSpPr>
        <p:spPr>
          <a:xfrm>
            <a:off x="685800" y="4690872"/>
            <a:ext cx="384048" cy="384048"/>
          </a:xfrm>
          <a:prstGeom prst="ellipse">
            <a:avLst/>
          </a:prstGeom>
          <a:solidFill>
            <a:srgbClr val="FFFFFF"/>
          </a:solidFill>
          <a:ln/>
        </p:spPr>
      </p:sp>
      <p:pic>
        <p:nvPicPr>
          <p:cNvPr id="44" name="Image 7" descr="preencoded.png">    </p:cNvPr>
          <p:cNvPicPr>
            <a:picLocks noChangeAspect="1"/>
          </p:cNvPicPr>
          <p:nvPr/>
        </p:nvPicPr>
        <p:blipFill>
          <a:blip r:embed="rId8"/>
          <a:stretch>
            <a:fillRect/>
          </a:stretch>
        </p:blipFill>
        <p:spPr>
          <a:xfrm>
            <a:off x="762610" y="4767682"/>
            <a:ext cx="230429" cy="230429"/>
          </a:xfrm>
          <a:prstGeom prst="rect">
            <a:avLst/>
          </a:prstGeom>
        </p:spPr>
      </p:pic>
      <p:sp>
        <p:nvSpPr>
          <p:cNvPr id="45" name="Text 35"/>
          <p:cNvSpPr txBox="1"/>
          <p:nvPr/>
        </p:nvSpPr>
        <p:spPr>
          <a:xfrm>
            <a:off x="1143000" y="4690872"/>
            <a:ext cx="2880360" cy="384048"/>
          </a:xfrm>
          <a:prstGeom prst="rect">
            <a:avLst/>
          </a:prstGeom>
          <a:noFill/>
          <a:ln/>
        </p:spPr>
        <p:txBody>
          <a:bodyPr wrap="square" lIns="0" tIns="0" rIns="0" bIns="0"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特徴</a:t>
            </a:r>
            <a:endParaRPr lang="en-US" sz="1300" dirty="0"/>
          </a:p>
        </p:txBody>
      </p:sp>
      <p:sp>
        <p:nvSpPr>
          <p:cNvPr id="46" name="Text 36"/>
          <p:cNvSpPr txBox="1"/>
          <p:nvPr/>
        </p:nvSpPr>
        <p:spPr>
          <a:xfrm>
            <a:off x="731520" y="5175504"/>
            <a:ext cx="3246120" cy="1088136"/>
          </a:xfrm>
          <a:prstGeom prst="rect">
            <a:avLst/>
          </a:prstGeom>
          <a:noFill/>
          <a:ln/>
        </p:spPr>
        <p:txBody>
          <a:bodyPr wrap="square" lIns="254" tIns="254" rIns="254" bIns="254" rtlCol="0" anchor="t"/>
          <a:lstStyle/>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管理基盤のまま、最も手軽に自動生成を試せる</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カードの項目単位で自動実行できる</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M365・GCPとのシステム連携が不要</a:t>
            </a:r>
            <a:endParaRPr lang="en-US" sz="1150" dirty="0"/>
          </a:p>
        </p:txBody>
      </p:sp>
      <p:sp>
        <p:nvSpPr>
          <p:cNvPr id="47" name="Shape 37"/>
          <p:cNvSpPr/>
          <p:nvPr/>
        </p:nvSpPr>
        <p:spPr>
          <a:xfrm>
            <a:off x="4297680" y="4572000"/>
            <a:ext cx="3566160" cy="1783080"/>
          </a:xfrm>
          <a:prstGeom prst="roundRect">
            <a:avLst>
              <a:gd name="adj" fmla="val 3077"/>
            </a:avLst>
          </a:prstGeom>
          <a:solidFill>
            <a:srgbClr val="FBE3E3"/>
          </a:solidFill>
          <a:ln/>
        </p:spPr>
      </p:sp>
      <p:sp>
        <p:nvSpPr>
          <p:cNvPr id="48" name="Shape 38"/>
          <p:cNvSpPr/>
          <p:nvPr/>
        </p:nvSpPr>
        <p:spPr>
          <a:xfrm>
            <a:off x="4434840" y="4690872"/>
            <a:ext cx="384048" cy="384048"/>
          </a:xfrm>
          <a:prstGeom prst="ellipse">
            <a:avLst/>
          </a:prstGeom>
          <a:solidFill>
            <a:srgbClr val="FFFFFF"/>
          </a:solidFill>
          <a:ln/>
        </p:spPr>
      </p:sp>
      <p:pic>
        <p:nvPicPr>
          <p:cNvPr id="49" name="Image 8" descr="preencoded.png">    </p:cNvPr>
          <p:cNvPicPr>
            <a:picLocks noChangeAspect="1"/>
          </p:cNvPicPr>
          <p:nvPr/>
        </p:nvPicPr>
        <p:blipFill>
          <a:blip r:embed="rId9"/>
          <a:stretch>
            <a:fillRect/>
          </a:stretch>
        </p:blipFill>
        <p:spPr>
          <a:xfrm>
            <a:off x="4511650" y="4767682"/>
            <a:ext cx="230429" cy="230429"/>
          </a:xfrm>
          <a:prstGeom prst="rect">
            <a:avLst/>
          </a:prstGeom>
        </p:spPr>
      </p:pic>
      <p:sp>
        <p:nvSpPr>
          <p:cNvPr id="50" name="Text 39"/>
          <p:cNvSpPr txBox="1"/>
          <p:nvPr/>
        </p:nvSpPr>
        <p:spPr>
          <a:xfrm>
            <a:off x="4892040" y="4690872"/>
            <a:ext cx="2880360" cy="384048"/>
          </a:xfrm>
          <a:prstGeom prst="rect">
            <a:avLst/>
          </a:prstGeom>
          <a:noFill/>
          <a:ln/>
        </p:spPr>
        <p:txBody>
          <a:bodyPr wrap="square" lIns="0" tIns="0" rIns="0" bIns="0"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留意点・制約</a:t>
            </a:r>
            <a:endParaRPr lang="en-US" sz="1300" dirty="0"/>
          </a:p>
        </p:txBody>
      </p:sp>
      <p:sp>
        <p:nvSpPr>
          <p:cNvPr id="51" name="Text 40"/>
          <p:cNvSpPr txBox="1"/>
          <p:nvPr/>
        </p:nvSpPr>
        <p:spPr>
          <a:xfrm>
            <a:off x="4480560" y="5175504"/>
            <a:ext cx="3246120" cy="1088136"/>
          </a:xfrm>
          <a:prstGeom prst="rect">
            <a:avLst/>
          </a:prstGeom>
          <a:noFill/>
          <a:ln/>
        </p:spPr>
        <p:txBody>
          <a:bodyPr wrap="square" lIns="254" tIns="254" rIns="254" bIns="254" rtlCol="0" anchor="t"/>
          <a:lstStyle/>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SharePointの資料やBigQueryのデータを直接参照しにくい</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社内情報がAirtable経由でAIに渡る</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ガイドラインの常時適用や、高度な選定ロジックには限界がある</a:t>
            </a:r>
            <a:endParaRPr lang="en-US" sz="1150" dirty="0"/>
          </a:p>
        </p:txBody>
      </p:sp>
      <p:sp>
        <p:nvSpPr>
          <p:cNvPr id="52" name="Shape 41"/>
          <p:cNvSpPr/>
          <p:nvPr/>
        </p:nvSpPr>
        <p:spPr>
          <a:xfrm>
            <a:off x="8046720" y="4572000"/>
            <a:ext cx="3566160" cy="1783080"/>
          </a:xfrm>
          <a:prstGeom prst="roundRect">
            <a:avLst>
              <a:gd name="adj" fmla="val 3077"/>
            </a:avLst>
          </a:prstGeom>
          <a:solidFill>
            <a:srgbClr val="FDEBD3"/>
          </a:solidFill>
          <a:ln/>
        </p:spPr>
      </p:sp>
      <p:sp>
        <p:nvSpPr>
          <p:cNvPr id="53" name="Shape 42"/>
          <p:cNvSpPr/>
          <p:nvPr/>
        </p:nvSpPr>
        <p:spPr>
          <a:xfrm>
            <a:off x="8183880" y="4690872"/>
            <a:ext cx="384048" cy="384048"/>
          </a:xfrm>
          <a:prstGeom prst="ellipse">
            <a:avLst/>
          </a:prstGeom>
          <a:solidFill>
            <a:srgbClr val="FFFFFF"/>
          </a:solidFill>
          <a:ln/>
        </p:spPr>
      </p:sp>
      <p:pic>
        <p:nvPicPr>
          <p:cNvPr id="54" name="Image 9" descr="preencoded.png">    </p:cNvPr>
          <p:cNvPicPr>
            <a:picLocks noChangeAspect="1"/>
          </p:cNvPicPr>
          <p:nvPr/>
        </p:nvPicPr>
        <p:blipFill>
          <a:blip r:embed="rId10"/>
          <a:stretch>
            <a:fillRect/>
          </a:stretch>
        </p:blipFill>
        <p:spPr>
          <a:xfrm>
            <a:off x="8260690" y="4767682"/>
            <a:ext cx="230429" cy="230429"/>
          </a:xfrm>
          <a:prstGeom prst="rect">
            <a:avLst/>
          </a:prstGeom>
        </p:spPr>
      </p:pic>
      <p:sp>
        <p:nvSpPr>
          <p:cNvPr id="55" name="Text 43"/>
          <p:cNvSpPr txBox="1"/>
          <p:nvPr/>
        </p:nvSpPr>
        <p:spPr>
          <a:xfrm>
            <a:off x="8641080" y="4690872"/>
            <a:ext cx="2880360" cy="384048"/>
          </a:xfrm>
          <a:prstGeom prst="rect">
            <a:avLst/>
          </a:prstGeom>
          <a:noFill/>
          <a:ln/>
        </p:spPr>
        <p:txBody>
          <a:bodyPr wrap="square" lIns="0" tIns="0" rIns="0" bIns="0"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検討ポイント</a:t>
            </a:r>
            <a:endParaRPr lang="en-US" sz="1300" dirty="0"/>
          </a:p>
        </p:txBody>
      </p:sp>
      <p:sp>
        <p:nvSpPr>
          <p:cNvPr id="56" name="Text 44"/>
          <p:cNvSpPr txBox="1"/>
          <p:nvPr/>
        </p:nvSpPr>
        <p:spPr>
          <a:xfrm>
            <a:off x="8229600" y="5175504"/>
            <a:ext cx="3246120" cy="1088136"/>
          </a:xfrm>
          <a:prstGeom prst="rect">
            <a:avLst/>
          </a:prstGeom>
          <a:noFill/>
          <a:ln/>
        </p:spPr>
        <p:txBody>
          <a:bodyPr wrap="square" lIns="254" tIns="254" rIns="254" bIns="254" rtlCol="0" anchor="t"/>
          <a:lstStyle/>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参照させたい情報をAirtableに持ち込めるか</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AIクレジットの消費量</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Airtable経由でAIを使うことの情報セキュリティ上の位置付け</a:t>
            </a:r>
            <a:endParaRPr lang="en-US" sz="1150" dirty="0"/>
          </a:p>
        </p:txBody>
      </p:sp>
      <p:sp>
        <p:nvSpPr>
          <p:cNvPr id="57" name="Text 45"/>
          <p:cNvSpPr txBox="1"/>
          <p:nvPr/>
        </p:nvSpPr>
        <p:spPr>
          <a:xfrm>
            <a:off x="548640" y="6400800"/>
            <a:ext cx="10515600" cy="228600"/>
          </a:xfrm>
          <a:prstGeom prst="rect">
            <a:avLst/>
          </a:prstGeom>
          <a:noFill/>
          <a:ln/>
        </p:spPr>
        <p:txBody>
          <a:bodyPr wrap="square" lIns="0" tIns="0" rIns="0" bIns="0" rtlCol="0" anchor="t"/>
          <a:lstStyle/>
          <a:p>
            <a:pPr indent="0" marL="0">
              <a:buNone/>
            </a:pPr>
            <a:r>
              <a:rPr lang="en-US" sz="800" dirty="0">
                <a:solidFill>
                  <a:srgbClr val="6B7280"/>
                </a:solidFill>
                <a:latin typeface="Meiryo UI" pitchFamily="34" charset="0"/>
                <a:ea typeface="Meiryo UI" pitchFamily="34" charset="-122"/>
                <a:cs typeface="Meiryo UI" pitchFamily="34" charset="-120"/>
              </a:rPr>
              <a:t>難易度（★）：開発量・必要なスキル・関係する部署やシステムの数から見た相対的な目安。期間：社内で内製し、PoC後に単独で構築した場合の概算</a:t>
            </a:r>
            <a:endParaRPr lang="en-US" sz="8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548640"/>
          </a:xfrm>
          <a:prstGeom prst="rect">
            <a:avLst/>
          </a:prstGeom>
          <a:noFill/>
          <a:ln/>
        </p:spPr>
        <p:txBody>
          <a:bodyPr wrap="square" lIns="0" tIns="0" rIns="0" bIns="0" rtlCol="0" anchor="ctr"/>
          <a:lstStyle/>
          <a:p>
            <a:pPr indent="0" marL="0">
              <a:buNone/>
            </a:pPr>
            <a:r>
              <a:rPr lang="en-US" sz="2600" b="1" dirty="0">
                <a:solidFill>
                  <a:srgbClr val="1B2A49"/>
                </a:solidFill>
                <a:latin typeface="Meiryo UI" pitchFamily="34" charset="0"/>
                <a:ea typeface="Meiryo UI" pitchFamily="34" charset="-122"/>
                <a:cs typeface="Meiryo UI" pitchFamily="34" charset="-120"/>
              </a:rPr>
              <a:t>論点整理：数値データはリアルタイムにSQLで引く必要があるか</a:t>
            </a:r>
            <a:endParaRPr lang="en-US" sz="2600" dirty="0"/>
          </a:p>
        </p:txBody>
      </p:sp>
      <p:sp>
        <p:nvSpPr>
          <p:cNvPr id="3" name="Text 1"/>
          <p:cNvSpPr txBox="1"/>
          <p:nvPr/>
        </p:nvSpPr>
        <p:spPr>
          <a:xfrm>
            <a:off x="548640" y="896112"/>
            <a:ext cx="11064240" cy="365760"/>
          </a:xfrm>
          <a:prstGeom prst="rect">
            <a:avLst/>
          </a:prstGeom>
          <a:noFill/>
          <a:ln/>
        </p:spPr>
        <p:txBody>
          <a:bodyPr wrap="square" lIns="0" tIns="0" rIns="0" bIns="0" rtlCol="0" anchor="ctr"/>
          <a:lstStyle/>
          <a:p>
            <a:pPr indent="0" marL="0">
              <a:buNone/>
            </a:pPr>
            <a:r>
              <a:rPr lang="en-US" sz="1400" dirty="0">
                <a:solidFill>
                  <a:srgbClr val="6B7280"/>
                </a:solidFill>
                <a:latin typeface="Meiryo UI" pitchFamily="34" charset="0"/>
                <a:ea typeface="Meiryo UI" pitchFamily="34" charset="-122"/>
                <a:cs typeface="Meiryo UI" pitchFamily="34" charset="-120"/>
              </a:rPr>
              <a:t>前処理したデータをAIに渡す以上、AIが都度SQLを発行する必要はない。構成を分ける重要な論点ではない</a:t>
            </a:r>
            <a:endParaRPr lang="en-US" sz="1400" dirty="0"/>
          </a:p>
        </p:txBody>
      </p:sp>
      <p:sp>
        <p:nvSpPr>
          <p:cNvPr id="4" name="Text 2"/>
          <p:cNvSpPr txBox="1"/>
          <p:nvPr/>
        </p:nvSpPr>
        <p:spPr>
          <a:xfrm>
            <a:off x="7498080" y="91440"/>
            <a:ext cx="4114800" cy="22860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5. 個別論点</a:t>
            </a:r>
            <a:endParaRPr lang="en-US" sz="900" dirty="0"/>
          </a:p>
        </p:txBody>
      </p:sp>
      <p:sp>
        <p:nvSpPr>
          <p:cNvPr id="5" name="Text 3"/>
          <p:cNvSpPr txBox="1"/>
          <p:nvPr/>
        </p:nvSpPr>
        <p:spPr>
          <a:xfrm>
            <a:off x="11247120" y="6446520"/>
            <a:ext cx="457200" cy="27432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33</a:t>
            </a:r>
            <a:endParaRPr lang="en-US" sz="900" dirty="0"/>
          </a:p>
        </p:txBody>
      </p:sp>
      <p:sp>
        <p:nvSpPr>
          <p:cNvPr id="6" name="Shape 4"/>
          <p:cNvSpPr/>
          <p:nvPr/>
        </p:nvSpPr>
        <p:spPr>
          <a:xfrm>
            <a:off x="548640" y="1417320"/>
            <a:ext cx="11064240" cy="1691640"/>
          </a:xfrm>
          <a:prstGeom prst="roundRect">
            <a:avLst>
              <a:gd name="adj" fmla="val 3243"/>
            </a:avLst>
          </a:prstGeom>
          <a:solidFill>
            <a:srgbClr val="F3F5F8"/>
          </a:solidFill>
          <a:ln/>
        </p:spPr>
      </p:sp>
      <p:sp>
        <p:nvSpPr>
          <p:cNvPr id="7" name="Text 5"/>
          <p:cNvSpPr txBox="1"/>
          <p:nvPr/>
        </p:nvSpPr>
        <p:spPr>
          <a:xfrm>
            <a:off x="731520" y="1481328"/>
            <a:ext cx="5486400" cy="320040"/>
          </a:xfrm>
          <a:prstGeom prst="rect">
            <a:avLst/>
          </a:prstGeom>
          <a:noFill/>
          <a:ln/>
        </p:spPr>
        <p:txBody>
          <a:bodyPr wrap="square" lIns="508" tIns="508" rIns="508" bIns="508" rtlCol="0" anchor="ctr"/>
          <a:lstStyle/>
          <a:p>
            <a:pPr indent="0" marL="0">
              <a:buNone/>
            </a:pPr>
            <a:r>
              <a:rPr lang="en-US" sz="1200" b="1" dirty="0">
                <a:solidFill>
                  <a:srgbClr val="1B2A49"/>
                </a:solidFill>
                <a:latin typeface="Meiryo UI" pitchFamily="34" charset="0"/>
                <a:ea typeface="Meiryo UI" pitchFamily="34" charset="-122"/>
                <a:cs typeface="Meiryo UI" pitchFamily="34" charset="-120"/>
              </a:rPr>
              <a:t>Geminiの試作アプリで行っていた処理</a:t>
            </a:r>
            <a:endParaRPr lang="en-US" sz="1200" dirty="0"/>
          </a:p>
        </p:txBody>
      </p:sp>
      <p:sp>
        <p:nvSpPr>
          <p:cNvPr id="8" name="Shape 6"/>
          <p:cNvSpPr/>
          <p:nvPr/>
        </p:nvSpPr>
        <p:spPr>
          <a:xfrm>
            <a:off x="731520" y="1847088"/>
            <a:ext cx="5760720" cy="1143000"/>
          </a:xfrm>
          <a:prstGeom prst="roundRect">
            <a:avLst>
              <a:gd name="adj" fmla="val 4800"/>
            </a:avLst>
          </a:prstGeom>
          <a:solidFill>
            <a:srgbClr val="FFFFFF"/>
          </a:solidFill>
          <a:ln w="12700">
            <a:solidFill>
              <a:srgbClr val="0E9F9A"/>
            </a:solidFill>
            <a:prstDash val="dash"/>
          </a:ln>
        </p:spPr>
      </p:sp>
      <p:sp>
        <p:nvSpPr>
          <p:cNvPr id="9" name="Text 7"/>
          <p:cNvSpPr txBox="1"/>
          <p:nvPr/>
        </p:nvSpPr>
        <p:spPr>
          <a:xfrm>
            <a:off x="822960" y="1865376"/>
            <a:ext cx="2743200" cy="237744"/>
          </a:xfrm>
          <a:prstGeom prst="rect">
            <a:avLst/>
          </a:prstGeom>
          <a:noFill/>
          <a:ln/>
        </p:spPr>
        <p:txBody>
          <a:bodyPr wrap="square" lIns="0" tIns="0" rIns="0" bIns="0" rtlCol="0" anchor="t"/>
          <a:lstStyle/>
          <a:p>
            <a:pPr indent="0" marL="0">
              <a:buNone/>
            </a:pPr>
            <a:r>
              <a:rPr lang="en-US" sz="900" b="1" dirty="0">
                <a:solidFill>
                  <a:srgbClr val="0E9F9A"/>
                </a:solidFill>
                <a:latin typeface="Meiryo UI" pitchFamily="34" charset="0"/>
                <a:ea typeface="Meiryo UI" pitchFamily="34" charset="-122"/>
                <a:cs typeface="Meiryo UI" pitchFamily="34" charset="-120"/>
              </a:rPr>
              <a:t>前処理（決まった処理）</a:t>
            </a:r>
            <a:endParaRPr lang="en-US" sz="900" dirty="0"/>
          </a:p>
        </p:txBody>
      </p:sp>
      <p:sp>
        <p:nvSpPr>
          <p:cNvPr id="10" name="Shape 8"/>
          <p:cNvSpPr/>
          <p:nvPr/>
        </p:nvSpPr>
        <p:spPr>
          <a:xfrm>
            <a:off x="868680" y="2148840"/>
            <a:ext cx="1600200" cy="731520"/>
          </a:xfrm>
          <a:prstGeom prst="roundRect">
            <a:avLst>
              <a:gd name="adj" fmla="val 10000"/>
            </a:avLst>
          </a:prstGeom>
          <a:solidFill>
            <a:srgbClr val="E3EAF5"/>
          </a:solidFill>
          <a:ln/>
        </p:spPr>
      </p:sp>
      <p:pic>
        <p:nvPicPr>
          <p:cNvPr id="11" name="Image 0" descr="preencoded.png">    </p:cNvPr>
          <p:cNvPicPr>
            <a:picLocks noChangeAspect="1"/>
          </p:cNvPicPr>
          <p:nvPr/>
        </p:nvPicPr>
        <p:blipFill>
          <a:blip r:embed="rId1"/>
          <a:stretch>
            <a:fillRect/>
          </a:stretch>
        </p:blipFill>
        <p:spPr>
          <a:xfrm>
            <a:off x="978408" y="2331720"/>
            <a:ext cx="365760" cy="365760"/>
          </a:xfrm>
          <a:prstGeom prst="rect">
            <a:avLst/>
          </a:prstGeom>
        </p:spPr>
      </p:pic>
      <p:sp>
        <p:nvSpPr>
          <p:cNvPr id="12" name="Text 9"/>
          <p:cNvSpPr txBox="1"/>
          <p:nvPr/>
        </p:nvSpPr>
        <p:spPr>
          <a:xfrm>
            <a:off x="1435608" y="2148840"/>
            <a:ext cx="987552" cy="731520"/>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BigQuery</a:t>
            </a:r>
            <a:endParaRPr lang="en-US" sz="1050" dirty="0"/>
          </a:p>
          <a:p>
            <a:pPr algn="l" indent="0" marL="0">
              <a:buNone/>
            </a:pPr>
            <a:r>
              <a:rPr lang="en-US" sz="900" dirty="0">
                <a:solidFill>
                  <a:srgbClr val="6B7280"/>
                </a:solidFill>
                <a:latin typeface="Meiryo UI" pitchFamily="34" charset="0"/>
                <a:ea typeface="Meiryo UI" pitchFamily="34" charset="-122"/>
                <a:cs typeface="Meiryo UI" pitchFamily="34" charset="-120"/>
              </a:rPr>
              <a:t>売上・在庫</a:t>
            </a:r>
            <a:endParaRPr lang="en-US" sz="1050" dirty="0"/>
          </a:p>
        </p:txBody>
      </p:sp>
      <p:sp>
        <p:nvSpPr>
          <p:cNvPr id="13" name="Shape 10"/>
          <p:cNvSpPr/>
          <p:nvPr/>
        </p:nvSpPr>
        <p:spPr>
          <a:xfrm>
            <a:off x="2514600" y="2514600"/>
            <a:ext cx="228600" cy="0"/>
          </a:xfrm>
          <a:prstGeom prst="line">
            <a:avLst/>
          </a:prstGeom>
          <a:noFill/>
          <a:ln w="22225">
            <a:solidFill>
              <a:srgbClr val="9AA5B4"/>
            </a:solidFill>
            <a:prstDash val="solid"/>
            <a:tailEnd type="triangle"/>
          </a:ln>
        </p:spPr>
      </p:sp>
      <p:sp>
        <p:nvSpPr>
          <p:cNvPr id="14" name="Shape 11"/>
          <p:cNvSpPr/>
          <p:nvPr/>
        </p:nvSpPr>
        <p:spPr>
          <a:xfrm>
            <a:off x="2788920" y="2148840"/>
            <a:ext cx="1600200" cy="731520"/>
          </a:xfrm>
          <a:prstGeom prst="roundRect">
            <a:avLst>
              <a:gd name="adj" fmla="val 10000"/>
            </a:avLst>
          </a:prstGeom>
          <a:solidFill>
            <a:srgbClr val="D9F2F1"/>
          </a:solidFill>
          <a:ln/>
        </p:spPr>
      </p:sp>
      <p:pic>
        <p:nvPicPr>
          <p:cNvPr id="15" name="Image 1" descr="preencoded.png">    </p:cNvPr>
          <p:cNvPicPr>
            <a:picLocks noChangeAspect="1"/>
          </p:cNvPicPr>
          <p:nvPr/>
        </p:nvPicPr>
        <p:blipFill>
          <a:blip r:embed="rId2"/>
          <a:stretch>
            <a:fillRect/>
          </a:stretch>
        </p:blipFill>
        <p:spPr>
          <a:xfrm>
            <a:off x="2898648" y="2331720"/>
            <a:ext cx="365760" cy="365760"/>
          </a:xfrm>
          <a:prstGeom prst="rect">
            <a:avLst/>
          </a:prstGeom>
        </p:spPr>
      </p:pic>
      <p:sp>
        <p:nvSpPr>
          <p:cNvPr id="16" name="Text 12"/>
          <p:cNvSpPr txBox="1"/>
          <p:nvPr/>
        </p:nvSpPr>
        <p:spPr>
          <a:xfrm>
            <a:off x="3355848" y="2148840"/>
            <a:ext cx="987552" cy="731520"/>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SQLで抽出</a:t>
            </a:r>
            <a:endParaRPr lang="en-US" sz="1050" dirty="0"/>
          </a:p>
          <a:p>
            <a:pPr algn="l" indent="0" marL="0">
              <a:buNone/>
            </a:pPr>
            <a:r>
              <a:rPr lang="en-US" sz="900" dirty="0">
                <a:solidFill>
                  <a:srgbClr val="6B7280"/>
                </a:solidFill>
                <a:latin typeface="Meiryo UI" pitchFamily="34" charset="0"/>
                <a:ea typeface="Meiryo UI" pitchFamily="34" charset="-122"/>
                <a:cs typeface="Meiryo UI" pitchFamily="34" charset="-120"/>
              </a:rPr>
              <a:t>Python</a:t>
            </a:r>
            <a:endParaRPr lang="en-US" sz="1050" dirty="0"/>
          </a:p>
        </p:txBody>
      </p:sp>
      <p:sp>
        <p:nvSpPr>
          <p:cNvPr id="17" name="Shape 13"/>
          <p:cNvSpPr/>
          <p:nvPr/>
        </p:nvSpPr>
        <p:spPr>
          <a:xfrm>
            <a:off x="4434840" y="2514600"/>
            <a:ext cx="228600" cy="0"/>
          </a:xfrm>
          <a:prstGeom prst="line">
            <a:avLst/>
          </a:prstGeom>
          <a:noFill/>
          <a:ln w="22225">
            <a:solidFill>
              <a:srgbClr val="9AA5B4"/>
            </a:solidFill>
            <a:prstDash val="solid"/>
            <a:tailEnd type="triangle"/>
          </a:ln>
        </p:spPr>
      </p:sp>
      <p:sp>
        <p:nvSpPr>
          <p:cNvPr id="18" name="Shape 14"/>
          <p:cNvSpPr/>
          <p:nvPr/>
        </p:nvSpPr>
        <p:spPr>
          <a:xfrm>
            <a:off x="4709160" y="2148840"/>
            <a:ext cx="1645920" cy="731520"/>
          </a:xfrm>
          <a:prstGeom prst="roundRect">
            <a:avLst>
              <a:gd name="adj" fmla="val 10000"/>
            </a:avLst>
          </a:prstGeom>
          <a:solidFill>
            <a:srgbClr val="D9F2F1"/>
          </a:solidFill>
          <a:ln/>
        </p:spPr>
      </p:sp>
      <p:pic>
        <p:nvPicPr>
          <p:cNvPr id="19" name="Image 2" descr="preencoded.png">    </p:cNvPr>
          <p:cNvPicPr>
            <a:picLocks noChangeAspect="1"/>
          </p:cNvPicPr>
          <p:nvPr/>
        </p:nvPicPr>
        <p:blipFill>
          <a:blip r:embed="rId3"/>
          <a:stretch>
            <a:fillRect/>
          </a:stretch>
        </p:blipFill>
        <p:spPr>
          <a:xfrm>
            <a:off x="4818888" y="2331720"/>
            <a:ext cx="365760" cy="365760"/>
          </a:xfrm>
          <a:prstGeom prst="rect">
            <a:avLst/>
          </a:prstGeom>
        </p:spPr>
      </p:pic>
      <p:sp>
        <p:nvSpPr>
          <p:cNvPr id="20" name="Text 15"/>
          <p:cNvSpPr txBox="1"/>
          <p:nvPr/>
        </p:nvSpPr>
        <p:spPr>
          <a:xfrm>
            <a:off x="5276088" y="2148840"/>
            <a:ext cx="1033272" cy="731520"/>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Pandasで加工</a:t>
            </a:r>
            <a:endParaRPr lang="en-US" sz="1050" dirty="0"/>
          </a:p>
          <a:p>
            <a:pPr algn="l" indent="0" marL="0">
              <a:buNone/>
            </a:pPr>
            <a:r>
              <a:rPr lang="en-US" sz="900" dirty="0">
                <a:solidFill>
                  <a:srgbClr val="6B7280"/>
                </a:solidFill>
                <a:latin typeface="Meiryo UI" pitchFamily="34" charset="0"/>
                <a:ea typeface="Meiryo UI" pitchFamily="34" charset="-122"/>
                <a:cs typeface="Meiryo UI" pitchFamily="34" charset="-120"/>
              </a:rPr>
              <a:t>候補・集計</a:t>
            </a:r>
            <a:endParaRPr lang="en-US" sz="1050" dirty="0"/>
          </a:p>
        </p:txBody>
      </p:sp>
      <p:sp>
        <p:nvSpPr>
          <p:cNvPr id="21" name="Shape 16"/>
          <p:cNvSpPr/>
          <p:nvPr/>
        </p:nvSpPr>
        <p:spPr>
          <a:xfrm>
            <a:off x="6537960" y="2514600"/>
            <a:ext cx="411480" cy="0"/>
          </a:xfrm>
          <a:prstGeom prst="line">
            <a:avLst/>
          </a:prstGeom>
          <a:noFill/>
          <a:ln w="31750">
            <a:solidFill>
              <a:srgbClr val="1B2A49"/>
            </a:solidFill>
            <a:prstDash val="solid"/>
            <a:tailEnd type="triangle"/>
          </a:ln>
        </p:spPr>
      </p:sp>
      <p:sp>
        <p:nvSpPr>
          <p:cNvPr id="22" name="Text 17"/>
          <p:cNvSpPr txBox="1"/>
          <p:nvPr/>
        </p:nvSpPr>
        <p:spPr>
          <a:xfrm>
            <a:off x="6492240" y="1874520"/>
            <a:ext cx="502920" cy="502920"/>
          </a:xfrm>
          <a:prstGeom prst="rect">
            <a:avLst/>
          </a:prstGeom>
          <a:noFill/>
          <a:ln/>
        </p:spPr>
        <p:txBody>
          <a:bodyPr wrap="square" lIns="0" tIns="0" rIns="0" bIns="0" rtlCol="0" anchor="t"/>
          <a:lstStyle/>
          <a:p>
            <a:pPr algn="ctr" indent="0" marL="0">
              <a:buNone/>
            </a:pPr>
            <a:r>
              <a:rPr lang="en-US" sz="800" dirty="0">
                <a:solidFill>
                  <a:srgbClr val="6B7280"/>
                </a:solidFill>
                <a:latin typeface="Meiryo UI" pitchFamily="34" charset="0"/>
                <a:ea typeface="Meiryo UI" pitchFamily="34" charset="-122"/>
                <a:cs typeface="Meiryo UI" pitchFamily="34" charset="-120"/>
              </a:rPr>
              <a:t>加工済み</a:t>
            </a:r>
            <a:endParaRPr lang="en-US" sz="800" dirty="0"/>
          </a:p>
          <a:p>
            <a:pPr algn="ctr" indent="0" marL="0">
              <a:buNone/>
            </a:pPr>
            <a:r>
              <a:rPr lang="en-US" sz="800" dirty="0">
                <a:solidFill>
                  <a:srgbClr val="6B7280"/>
                </a:solidFill>
                <a:latin typeface="Meiryo UI" pitchFamily="34" charset="0"/>
                <a:ea typeface="Meiryo UI" pitchFamily="34" charset="-122"/>
                <a:cs typeface="Meiryo UI" pitchFamily="34" charset="-120"/>
              </a:rPr>
              <a:t>データ</a:t>
            </a:r>
            <a:endParaRPr lang="en-US" sz="800" dirty="0"/>
          </a:p>
        </p:txBody>
      </p:sp>
      <p:sp>
        <p:nvSpPr>
          <p:cNvPr id="23" name="Shape 18"/>
          <p:cNvSpPr/>
          <p:nvPr/>
        </p:nvSpPr>
        <p:spPr>
          <a:xfrm>
            <a:off x="7040880" y="1847088"/>
            <a:ext cx="2103120" cy="1143000"/>
          </a:xfrm>
          <a:prstGeom prst="roundRect">
            <a:avLst>
              <a:gd name="adj" fmla="val 4800"/>
            </a:avLst>
          </a:prstGeom>
          <a:solidFill>
            <a:srgbClr val="FFFFFF"/>
          </a:solidFill>
          <a:ln w="12700">
            <a:solidFill>
              <a:srgbClr val="6B4FBB"/>
            </a:solidFill>
            <a:prstDash val="dash"/>
          </a:ln>
        </p:spPr>
      </p:sp>
      <p:sp>
        <p:nvSpPr>
          <p:cNvPr id="24" name="Text 19"/>
          <p:cNvSpPr txBox="1"/>
          <p:nvPr/>
        </p:nvSpPr>
        <p:spPr>
          <a:xfrm>
            <a:off x="7132320" y="1865376"/>
            <a:ext cx="1828800" cy="237744"/>
          </a:xfrm>
          <a:prstGeom prst="rect">
            <a:avLst/>
          </a:prstGeom>
          <a:noFill/>
          <a:ln/>
        </p:spPr>
        <p:txBody>
          <a:bodyPr wrap="square" lIns="0" tIns="0" rIns="0" bIns="0" rtlCol="0" anchor="t"/>
          <a:lstStyle/>
          <a:p>
            <a:pPr indent="0" marL="0">
              <a:buNone/>
            </a:pPr>
            <a:r>
              <a:rPr lang="en-US" sz="900" b="1" dirty="0">
                <a:solidFill>
                  <a:srgbClr val="6B4FBB"/>
                </a:solidFill>
                <a:latin typeface="Meiryo UI" pitchFamily="34" charset="0"/>
                <a:ea typeface="Meiryo UI" pitchFamily="34" charset="-122"/>
                <a:cs typeface="Meiryo UI" pitchFamily="34" charset="-120"/>
              </a:rPr>
              <a:t>推論（LLM）</a:t>
            </a:r>
            <a:endParaRPr lang="en-US" sz="900" dirty="0"/>
          </a:p>
        </p:txBody>
      </p:sp>
      <p:sp>
        <p:nvSpPr>
          <p:cNvPr id="25" name="Shape 20"/>
          <p:cNvSpPr/>
          <p:nvPr/>
        </p:nvSpPr>
        <p:spPr>
          <a:xfrm>
            <a:off x="7178040" y="2148840"/>
            <a:ext cx="1828800" cy="731520"/>
          </a:xfrm>
          <a:prstGeom prst="roundRect">
            <a:avLst>
              <a:gd name="adj" fmla="val 10000"/>
            </a:avLst>
          </a:prstGeom>
          <a:solidFill>
            <a:srgbClr val="0E9F9A"/>
          </a:solidFill>
          <a:ln/>
        </p:spPr>
      </p:sp>
      <p:sp>
        <p:nvSpPr>
          <p:cNvPr id="26" name="Shape 21"/>
          <p:cNvSpPr/>
          <p:nvPr/>
        </p:nvSpPr>
        <p:spPr>
          <a:xfrm>
            <a:off x="7251192" y="2258568"/>
            <a:ext cx="512064" cy="512064"/>
          </a:xfrm>
          <a:prstGeom prst="ellipse">
            <a:avLst/>
          </a:prstGeom>
          <a:solidFill>
            <a:srgbClr val="FFFFFF"/>
          </a:solidFill>
          <a:ln/>
        </p:spPr>
      </p:sp>
      <p:pic>
        <p:nvPicPr>
          <p:cNvPr id="27" name="Image 3" descr="preencoded.png">    </p:cNvPr>
          <p:cNvPicPr>
            <a:picLocks noChangeAspect="1"/>
          </p:cNvPicPr>
          <p:nvPr/>
        </p:nvPicPr>
        <p:blipFill>
          <a:blip r:embed="rId4"/>
          <a:stretch>
            <a:fillRect/>
          </a:stretch>
        </p:blipFill>
        <p:spPr>
          <a:xfrm>
            <a:off x="7324344" y="2331720"/>
            <a:ext cx="365760" cy="365760"/>
          </a:xfrm>
          <a:prstGeom prst="rect">
            <a:avLst/>
          </a:prstGeom>
        </p:spPr>
      </p:pic>
      <p:sp>
        <p:nvSpPr>
          <p:cNvPr id="28" name="Text 22"/>
          <p:cNvSpPr txBox="1"/>
          <p:nvPr/>
        </p:nvSpPr>
        <p:spPr>
          <a:xfrm>
            <a:off x="7909560" y="2148840"/>
            <a:ext cx="1051560" cy="731520"/>
          </a:xfrm>
          <a:prstGeom prst="rect">
            <a:avLst/>
          </a:prstGeom>
          <a:noFill/>
          <a:ln/>
        </p:spPr>
        <p:txBody>
          <a:bodyPr wrap="square" lIns="0" tIns="0" rIns="0" bIns="0" rtlCol="0" anchor="ctr"/>
          <a:lstStyle/>
          <a:p>
            <a:pPr algn="l" indent="0" marL="0">
              <a:buNone/>
            </a:pPr>
            <a:r>
              <a:rPr lang="en-US" sz="1050" b="1" dirty="0">
                <a:solidFill>
                  <a:srgbClr val="FFFFFF"/>
                </a:solidFill>
                <a:latin typeface="Meiryo UI" pitchFamily="34" charset="0"/>
                <a:ea typeface="Meiryo UI" pitchFamily="34" charset="-122"/>
                <a:cs typeface="Meiryo UI" pitchFamily="34" charset="-120"/>
              </a:rPr>
              <a:t>Gemini</a:t>
            </a:r>
            <a:endParaRPr lang="en-US" sz="1050" dirty="0"/>
          </a:p>
          <a:p>
            <a:pPr algn="l" indent="0" marL="0">
              <a:buNone/>
            </a:pPr>
            <a:r>
              <a:rPr lang="en-US" sz="900" dirty="0">
                <a:solidFill>
                  <a:srgbClr val="E6F2F2"/>
                </a:solidFill>
                <a:latin typeface="Meiryo UI" pitchFamily="34" charset="0"/>
                <a:ea typeface="Meiryo UI" pitchFamily="34" charset="-122"/>
                <a:cs typeface="Meiryo UI" pitchFamily="34" charset="-120"/>
              </a:rPr>
              <a:t>解釈・文章化</a:t>
            </a:r>
            <a:endParaRPr lang="en-US" sz="1050" dirty="0"/>
          </a:p>
        </p:txBody>
      </p:sp>
      <p:sp>
        <p:nvSpPr>
          <p:cNvPr id="29" name="Text 23"/>
          <p:cNvSpPr txBox="1"/>
          <p:nvPr/>
        </p:nvSpPr>
        <p:spPr>
          <a:xfrm>
            <a:off x="9326880" y="1874520"/>
            <a:ext cx="2148840" cy="1097280"/>
          </a:xfrm>
          <a:prstGeom prst="rect">
            <a:avLst/>
          </a:prstGeom>
          <a:noFill/>
          <a:ln/>
        </p:spPr>
        <p:txBody>
          <a:bodyPr wrap="square" lIns="0" tIns="0" rIns="0" bIns="0" rtlCol="0" anchor="ctr"/>
          <a:lstStyle/>
          <a:p>
            <a:pPr algn="ctr" indent="0" marL="0">
              <a:buNone/>
            </a:pPr>
            <a:r>
              <a:rPr lang="en-US" sz="1300" b="1" dirty="0">
                <a:solidFill>
                  <a:srgbClr val="D64545"/>
                </a:solidFill>
                <a:latin typeface="Meiryo UI" pitchFamily="34" charset="0"/>
                <a:ea typeface="Meiryo UI" pitchFamily="34" charset="-122"/>
                <a:cs typeface="Meiryo UI" pitchFamily="34" charset="-120"/>
              </a:rPr>
              <a:t>AIはSQLを</a:t>
            </a:r>
            <a:endParaRPr lang="en-US" sz="1300" dirty="0"/>
          </a:p>
          <a:p>
            <a:pPr algn="ctr" indent="0" marL="0">
              <a:buNone/>
            </a:pPr>
            <a:r>
              <a:rPr lang="en-US" sz="1300" b="1" dirty="0">
                <a:solidFill>
                  <a:srgbClr val="D64545"/>
                </a:solidFill>
                <a:latin typeface="Meiryo UI" pitchFamily="34" charset="0"/>
                <a:ea typeface="Meiryo UI" pitchFamily="34" charset="-122"/>
                <a:cs typeface="Meiryo UI" pitchFamily="34" charset="-120"/>
              </a:rPr>
              <a:t>書いていない</a:t>
            </a:r>
            <a:endParaRPr lang="en-US" sz="1300" dirty="0"/>
          </a:p>
        </p:txBody>
      </p:sp>
      <p:sp>
        <p:nvSpPr>
          <p:cNvPr id="30" name="Shape 24"/>
          <p:cNvSpPr/>
          <p:nvPr/>
        </p:nvSpPr>
        <p:spPr>
          <a:xfrm>
            <a:off x="548640" y="3246120"/>
            <a:ext cx="3566160" cy="1325880"/>
          </a:xfrm>
          <a:prstGeom prst="roundRect">
            <a:avLst>
              <a:gd name="adj" fmla="val 4138"/>
            </a:avLst>
          </a:prstGeom>
          <a:solidFill>
            <a:srgbClr val="D9F2F1"/>
          </a:solidFill>
          <a:ln/>
        </p:spPr>
      </p:sp>
      <p:sp>
        <p:nvSpPr>
          <p:cNvPr id="31" name="Shape 25"/>
          <p:cNvSpPr/>
          <p:nvPr/>
        </p:nvSpPr>
        <p:spPr>
          <a:xfrm>
            <a:off x="685800" y="3364992"/>
            <a:ext cx="384048" cy="384048"/>
          </a:xfrm>
          <a:prstGeom prst="ellipse">
            <a:avLst/>
          </a:prstGeom>
          <a:solidFill>
            <a:srgbClr val="FFFFFF"/>
          </a:solidFill>
          <a:ln/>
        </p:spPr>
      </p:sp>
      <p:pic>
        <p:nvPicPr>
          <p:cNvPr id="32" name="Image 4" descr="preencoded.png">    </p:cNvPr>
          <p:cNvPicPr>
            <a:picLocks noChangeAspect="1"/>
          </p:cNvPicPr>
          <p:nvPr/>
        </p:nvPicPr>
        <p:blipFill>
          <a:blip r:embed="rId5"/>
          <a:stretch>
            <a:fillRect/>
          </a:stretch>
        </p:blipFill>
        <p:spPr>
          <a:xfrm>
            <a:off x="762610" y="3441802"/>
            <a:ext cx="230429" cy="230429"/>
          </a:xfrm>
          <a:prstGeom prst="rect">
            <a:avLst/>
          </a:prstGeom>
        </p:spPr>
      </p:pic>
      <p:sp>
        <p:nvSpPr>
          <p:cNvPr id="33" name="Text 26"/>
          <p:cNvSpPr txBox="1"/>
          <p:nvPr/>
        </p:nvSpPr>
        <p:spPr>
          <a:xfrm>
            <a:off x="1143000" y="3364992"/>
            <a:ext cx="2880360" cy="384048"/>
          </a:xfrm>
          <a:prstGeom prst="rect">
            <a:avLst/>
          </a:prstGeom>
          <a:noFill/>
          <a:ln/>
        </p:spPr>
        <p:txBody>
          <a:bodyPr wrap="square" lIns="0" tIns="0" rIns="0" bIns="0" rtlCol="0" anchor="ctr"/>
          <a:lstStyle/>
          <a:p>
            <a:pPr indent="0" marL="0">
              <a:buNone/>
            </a:pPr>
            <a:r>
              <a:rPr lang="en-US" sz="1250" b="1" dirty="0">
                <a:solidFill>
                  <a:srgbClr val="1B2A49"/>
                </a:solidFill>
                <a:latin typeface="Meiryo UI" pitchFamily="34" charset="0"/>
                <a:ea typeface="Meiryo UI" pitchFamily="34" charset="-122"/>
                <a:cs typeface="Meiryo UI" pitchFamily="34" charset="-120"/>
              </a:rPr>
              <a:t>必要なデータは事前に決まる</a:t>
            </a:r>
            <a:endParaRPr lang="en-US" sz="1250" dirty="0"/>
          </a:p>
        </p:txBody>
      </p:sp>
      <p:sp>
        <p:nvSpPr>
          <p:cNvPr id="34" name="Text 27"/>
          <p:cNvSpPr txBox="1"/>
          <p:nvPr/>
        </p:nvSpPr>
        <p:spPr>
          <a:xfrm>
            <a:off x="731520" y="3849624"/>
            <a:ext cx="3246120" cy="630936"/>
          </a:xfrm>
          <a:prstGeom prst="rect">
            <a:avLst/>
          </a:prstGeom>
          <a:noFill/>
          <a:ln/>
        </p:spPr>
        <p:txBody>
          <a:bodyPr wrap="square" lIns="254" tIns="254" rIns="254" bIns="254" rtlCol="0" anchor="t"/>
          <a:lstStyle/>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配信日・国・部署・カテゴリ別の「候補商品×在庫×売上推移×粗利」など、問いの形が決まっている</a:t>
            </a:r>
            <a:endParaRPr lang="en-US" sz="1150" dirty="0"/>
          </a:p>
        </p:txBody>
      </p:sp>
      <p:sp>
        <p:nvSpPr>
          <p:cNvPr id="35" name="Shape 28"/>
          <p:cNvSpPr/>
          <p:nvPr/>
        </p:nvSpPr>
        <p:spPr>
          <a:xfrm>
            <a:off x="4297680" y="3246120"/>
            <a:ext cx="3566160" cy="1325880"/>
          </a:xfrm>
          <a:prstGeom prst="roundRect">
            <a:avLst>
              <a:gd name="adj" fmla="val 4138"/>
            </a:avLst>
          </a:prstGeom>
          <a:solidFill>
            <a:srgbClr val="D9F2F1"/>
          </a:solidFill>
          <a:ln/>
        </p:spPr>
      </p:sp>
      <p:sp>
        <p:nvSpPr>
          <p:cNvPr id="36" name="Shape 29"/>
          <p:cNvSpPr/>
          <p:nvPr/>
        </p:nvSpPr>
        <p:spPr>
          <a:xfrm>
            <a:off x="4434840" y="3364992"/>
            <a:ext cx="384048" cy="384048"/>
          </a:xfrm>
          <a:prstGeom prst="ellipse">
            <a:avLst/>
          </a:prstGeom>
          <a:solidFill>
            <a:srgbClr val="FFFFFF"/>
          </a:solidFill>
          <a:ln/>
        </p:spPr>
      </p:sp>
      <p:pic>
        <p:nvPicPr>
          <p:cNvPr id="37" name="Image 5" descr="preencoded.png">    </p:cNvPr>
          <p:cNvPicPr>
            <a:picLocks noChangeAspect="1"/>
          </p:cNvPicPr>
          <p:nvPr/>
        </p:nvPicPr>
        <p:blipFill>
          <a:blip r:embed="rId6"/>
          <a:stretch>
            <a:fillRect/>
          </a:stretch>
        </p:blipFill>
        <p:spPr>
          <a:xfrm>
            <a:off x="4511650" y="3441802"/>
            <a:ext cx="230429" cy="230429"/>
          </a:xfrm>
          <a:prstGeom prst="rect">
            <a:avLst/>
          </a:prstGeom>
        </p:spPr>
      </p:pic>
      <p:sp>
        <p:nvSpPr>
          <p:cNvPr id="38" name="Text 30"/>
          <p:cNvSpPr txBox="1"/>
          <p:nvPr/>
        </p:nvSpPr>
        <p:spPr>
          <a:xfrm>
            <a:off x="4892040" y="3364992"/>
            <a:ext cx="2880360" cy="384048"/>
          </a:xfrm>
          <a:prstGeom prst="rect">
            <a:avLst/>
          </a:prstGeom>
          <a:noFill/>
          <a:ln/>
        </p:spPr>
        <p:txBody>
          <a:bodyPr wrap="square" lIns="0" tIns="0" rIns="0" bIns="0" rtlCol="0" anchor="ctr"/>
          <a:lstStyle/>
          <a:p>
            <a:pPr indent="0" marL="0">
              <a:buNone/>
            </a:pPr>
            <a:r>
              <a:rPr lang="en-US" sz="1250" b="1" dirty="0">
                <a:solidFill>
                  <a:srgbClr val="1B2A49"/>
                </a:solidFill>
                <a:latin typeface="Meiryo UI" pitchFamily="34" charset="0"/>
                <a:ea typeface="Meiryo UI" pitchFamily="34" charset="-122"/>
                <a:cs typeface="Meiryo UI" pitchFamily="34" charset="-120"/>
              </a:rPr>
              <a:t>決まった処理の方が正確</a:t>
            </a:r>
            <a:endParaRPr lang="en-US" sz="1250" dirty="0"/>
          </a:p>
        </p:txBody>
      </p:sp>
      <p:sp>
        <p:nvSpPr>
          <p:cNvPr id="39" name="Text 31"/>
          <p:cNvSpPr txBox="1"/>
          <p:nvPr/>
        </p:nvSpPr>
        <p:spPr>
          <a:xfrm>
            <a:off x="4480560" y="3849624"/>
            <a:ext cx="3246120" cy="630936"/>
          </a:xfrm>
          <a:prstGeom prst="rect">
            <a:avLst/>
          </a:prstGeom>
          <a:noFill/>
          <a:ln/>
        </p:spPr>
        <p:txBody>
          <a:bodyPr wrap="square" lIns="254" tIns="254" rIns="254" bIns="254" rtlCol="0" anchor="t"/>
          <a:lstStyle/>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LLMにSQLを書かせるとJOINや期間条件の誤りが起きうる。前処理で作る方が再現性も高い</a:t>
            </a:r>
            <a:endParaRPr lang="en-US" sz="1150" dirty="0"/>
          </a:p>
        </p:txBody>
      </p:sp>
      <p:sp>
        <p:nvSpPr>
          <p:cNvPr id="40" name="Shape 32"/>
          <p:cNvSpPr/>
          <p:nvPr/>
        </p:nvSpPr>
        <p:spPr>
          <a:xfrm>
            <a:off x="8046720" y="3246120"/>
            <a:ext cx="3566160" cy="1325880"/>
          </a:xfrm>
          <a:prstGeom prst="roundRect">
            <a:avLst>
              <a:gd name="adj" fmla="val 4138"/>
            </a:avLst>
          </a:prstGeom>
          <a:solidFill>
            <a:srgbClr val="D9F2F1"/>
          </a:solidFill>
          <a:ln/>
        </p:spPr>
      </p:sp>
      <p:sp>
        <p:nvSpPr>
          <p:cNvPr id="41" name="Shape 33"/>
          <p:cNvSpPr/>
          <p:nvPr/>
        </p:nvSpPr>
        <p:spPr>
          <a:xfrm>
            <a:off x="8183880" y="3364992"/>
            <a:ext cx="384048" cy="384048"/>
          </a:xfrm>
          <a:prstGeom prst="ellipse">
            <a:avLst/>
          </a:prstGeom>
          <a:solidFill>
            <a:srgbClr val="FFFFFF"/>
          </a:solidFill>
          <a:ln/>
        </p:spPr>
      </p:sp>
      <p:pic>
        <p:nvPicPr>
          <p:cNvPr id="42" name="Image 6" descr="preencoded.png">    </p:cNvPr>
          <p:cNvPicPr>
            <a:picLocks noChangeAspect="1"/>
          </p:cNvPicPr>
          <p:nvPr/>
        </p:nvPicPr>
        <p:blipFill>
          <a:blip r:embed="rId7"/>
          <a:stretch>
            <a:fillRect/>
          </a:stretch>
        </p:blipFill>
        <p:spPr>
          <a:xfrm>
            <a:off x="8260690" y="3441802"/>
            <a:ext cx="230429" cy="230429"/>
          </a:xfrm>
          <a:prstGeom prst="rect">
            <a:avLst/>
          </a:prstGeom>
        </p:spPr>
      </p:pic>
      <p:sp>
        <p:nvSpPr>
          <p:cNvPr id="43" name="Text 34"/>
          <p:cNvSpPr txBox="1"/>
          <p:nvPr/>
        </p:nvSpPr>
        <p:spPr>
          <a:xfrm>
            <a:off x="8641080" y="3364992"/>
            <a:ext cx="2880360" cy="384048"/>
          </a:xfrm>
          <a:prstGeom prst="rect">
            <a:avLst/>
          </a:prstGeom>
          <a:noFill/>
          <a:ln/>
        </p:spPr>
        <p:txBody>
          <a:bodyPr wrap="square" lIns="0" tIns="0" rIns="0" bIns="0" rtlCol="0" anchor="ctr"/>
          <a:lstStyle/>
          <a:p>
            <a:pPr indent="0" marL="0">
              <a:buNone/>
            </a:pPr>
            <a:r>
              <a:rPr lang="en-US" sz="1250" b="1" dirty="0">
                <a:solidFill>
                  <a:srgbClr val="1B2A49"/>
                </a:solidFill>
                <a:latin typeface="Meiryo UI" pitchFamily="34" charset="0"/>
                <a:ea typeface="Meiryo UI" pitchFamily="34" charset="-122"/>
                <a:cs typeface="Meiryo UI" pitchFamily="34" charset="-120"/>
              </a:rPr>
              <a:t>日次更新で足りる</a:t>
            </a:r>
            <a:endParaRPr lang="en-US" sz="1250" dirty="0"/>
          </a:p>
        </p:txBody>
      </p:sp>
      <p:sp>
        <p:nvSpPr>
          <p:cNvPr id="44" name="Text 35"/>
          <p:cNvSpPr txBox="1"/>
          <p:nvPr/>
        </p:nvSpPr>
        <p:spPr>
          <a:xfrm>
            <a:off x="8229600" y="3849624"/>
            <a:ext cx="3246120" cy="630936"/>
          </a:xfrm>
          <a:prstGeom prst="rect">
            <a:avLst/>
          </a:prstGeom>
          <a:noFill/>
          <a:ln/>
        </p:spPr>
        <p:txBody>
          <a:bodyPr wrap="square" lIns="254" tIns="254" rIns="254" bIns="254" rtlCol="0" anchor="t"/>
          <a:lstStyle/>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企画の対象は数日〜数週間先の配信。数値は日次の更新で十分</a:t>
            </a:r>
            <a:endParaRPr lang="en-US" sz="1150" dirty="0"/>
          </a:p>
        </p:txBody>
      </p:sp>
      <p:sp>
        <p:nvSpPr>
          <p:cNvPr id="45" name="Shape 36"/>
          <p:cNvSpPr/>
          <p:nvPr/>
        </p:nvSpPr>
        <p:spPr>
          <a:xfrm>
            <a:off x="548640" y="4709160"/>
            <a:ext cx="6949440" cy="1600200"/>
          </a:xfrm>
          <a:prstGeom prst="roundRect">
            <a:avLst>
              <a:gd name="adj" fmla="val 3429"/>
            </a:avLst>
          </a:prstGeom>
          <a:solidFill>
            <a:srgbClr val="E3EAF5"/>
          </a:solidFill>
          <a:ln/>
        </p:spPr>
      </p:sp>
      <p:sp>
        <p:nvSpPr>
          <p:cNvPr id="46" name="Text 37"/>
          <p:cNvSpPr txBox="1"/>
          <p:nvPr/>
        </p:nvSpPr>
        <p:spPr>
          <a:xfrm>
            <a:off x="731520" y="4754880"/>
            <a:ext cx="6583680" cy="310896"/>
          </a:xfrm>
          <a:prstGeom prst="rect">
            <a:avLst/>
          </a:prstGeom>
          <a:noFill/>
          <a:ln/>
        </p:spPr>
        <p:txBody>
          <a:bodyPr wrap="square" lIns="508" tIns="508" rIns="508" bIns="508" rtlCol="0" anchor="ctr"/>
          <a:lstStyle/>
          <a:p>
            <a:pPr indent="0" marL="0">
              <a:buNone/>
            </a:pPr>
            <a:r>
              <a:rPr lang="en-US" sz="1250" b="1" dirty="0">
                <a:solidFill>
                  <a:srgbClr val="1B2A49"/>
                </a:solidFill>
                <a:latin typeface="Meiryo UI" pitchFamily="34" charset="0"/>
                <a:ea typeface="Meiryo UI" pitchFamily="34" charset="-122"/>
                <a:cs typeface="Meiryo UI" pitchFamily="34" charset="-120"/>
              </a:rPr>
              <a:t>前処理の層：基本はBigQueryのSQLだけで完結できる</a:t>
            </a:r>
            <a:endParaRPr lang="en-US" sz="1250" dirty="0"/>
          </a:p>
        </p:txBody>
      </p:sp>
      <p:sp>
        <p:nvSpPr>
          <p:cNvPr id="47" name="Shape 38"/>
          <p:cNvSpPr/>
          <p:nvPr/>
        </p:nvSpPr>
        <p:spPr>
          <a:xfrm>
            <a:off x="731520" y="5102352"/>
            <a:ext cx="2788920" cy="731520"/>
          </a:xfrm>
          <a:prstGeom prst="roundRect">
            <a:avLst>
              <a:gd name="adj" fmla="val 10000"/>
            </a:avLst>
          </a:prstGeom>
          <a:solidFill>
            <a:srgbClr val="FFFFFF"/>
          </a:solidFill>
          <a:ln w="25400">
            <a:solidFill>
              <a:srgbClr val="0E9F9A"/>
            </a:solidFill>
            <a:prstDash val="solid"/>
          </a:ln>
        </p:spPr>
      </p:sp>
      <p:pic>
        <p:nvPicPr>
          <p:cNvPr id="48" name="Image 7" descr="preencoded.png">    </p:cNvPr>
          <p:cNvPicPr>
            <a:picLocks noChangeAspect="1"/>
          </p:cNvPicPr>
          <p:nvPr/>
        </p:nvPicPr>
        <p:blipFill>
          <a:blip r:embed="rId8"/>
          <a:stretch>
            <a:fillRect/>
          </a:stretch>
        </p:blipFill>
        <p:spPr>
          <a:xfrm>
            <a:off x="841248" y="5285232"/>
            <a:ext cx="365760" cy="365760"/>
          </a:xfrm>
          <a:prstGeom prst="rect">
            <a:avLst/>
          </a:prstGeom>
        </p:spPr>
      </p:pic>
      <p:sp>
        <p:nvSpPr>
          <p:cNvPr id="49" name="Text 39"/>
          <p:cNvSpPr txBox="1"/>
          <p:nvPr/>
        </p:nvSpPr>
        <p:spPr>
          <a:xfrm>
            <a:off x="1298448" y="5102352"/>
            <a:ext cx="2176272" cy="731520"/>
          </a:xfrm>
          <a:prstGeom prst="rect">
            <a:avLst/>
          </a:prstGeom>
          <a:noFill/>
          <a:ln/>
        </p:spPr>
        <p:txBody>
          <a:bodyPr wrap="square" lIns="0" tIns="0" rIns="0" bIns="0" rtlCol="0" anchor="ctr"/>
          <a:lstStyle/>
          <a:p>
            <a:pPr indent="0" marL="0">
              <a:buNone/>
            </a:pPr>
            <a:r>
              <a:rPr lang="en-US" sz="1050" b="1" dirty="0">
                <a:solidFill>
                  <a:srgbClr val="1B2A49"/>
                </a:solidFill>
                <a:latin typeface="Meiryo UI" pitchFamily="34" charset="0"/>
                <a:ea typeface="Meiryo UI" pitchFamily="34" charset="-122"/>
                <a:cs typeface="Meiryo UI" pitchFamily="34" charset="-120"/>
              </a:rPr>
              <a:t>基本：BigQueryのSQL</a:t>
            </a:r>
            <a:endParaRPr lang="en-US" sz="1050" dirty="0"/>
          </a:p>
          <a:p>
            <a:pPr indent="0" marL="0">
              <a:buNone/>
            </a:pPr>
            <a:r>
              <a:rPr lang="en-US" sz="850" dirty="0">
                <a:solidFill>
                  <a:srgbClr val="6B7280"/>
                </a:solidFill>
                <a:latin typeface="Meiryo UI" pitchFamily="34" charset="0"/>
                <a:ea typeface="Meiryo UI" pitchFamily="34" charset="-122"/>
                <a:cs typeface="Meiryo UI" pitchFamily="34" charset="-120"/>
              </a:rPr>
              <a:t>AIに渡すJSONまで作り、スケジュールクエリで日次実行</a:t>
            </a:r>
            <a:endParaRPr lang="en-US" sz="1050" dirty="0"/>
          </a:p>
        </p:txBody>
      </p:sp>
      <p:sp>
        <p:nvSpPr>
          <p:cNvPr id="50" name="Text 40"/>
          <p:cNvSpPr txBox="1"/>
          <p:nvPr/>
        </p:nvSpPr>
        <p:spPr>
          <a:xfrm>
            <a:off x="3566160" y="5102352"/>
            <a:ext cx="731520" cy="731520"/>
          </a:xfrm>
          <a:prstGeom prst="rect">
            <a:avLst/>
          </a:prstGeom>
          <a:noFill/>
          <a:ln/>
        </p:spPr>
        <p:txBody>
          <a:bodyPr wrap="square" lIns="0" tIns="0" rIns="0" bIns="0" rtlCol="0" anchor="ctr"/>
          <a:lstStyle/>
          <a:p>
            <a:pPr algn="ctr" indent="0" marL="0">
              <a:buNone/>
            </a:pPr>
            <a:r>
              <a:rPr lang="en-US" sz="900" b="1" dirty="0">
                <a:solidFill>
                  <a:srgbClr val="6B7280"/>
                </a:solidFill>
                <a:latin typeface="Meiryo UI" pitchFamily="34" charset="0"/>
                <a:ea typeface="Meiryo UI" pitchFamily="34" charset="-122"/>
                <a:cs typeface="Meiryo UI" pitchFamily="34" charset="-120"/>
              </a:rPr>
              <a:t>＋必要な</a:t>
            </a:r>
            <a:endParaRPr lang="en-US" sz="900" dirty="0"/>
          </a:p>
          <a:p>
            <a:pPr algn="ctr" indent="0" marL="0">
              <a:buNone/>
            </a:pPr>
            <a:r>
              <a:rPr lang="en-US" sz="900" b="1" dirty="0">
                <a:solidFill>
                  <a:srgbClr val="6B7280"/>
                </a:solidFill>
                <a:latin typeface="Meiryo UI" pitchFamily="34" charset="0"/>
                <a:ea typeface="Meiryo UI" pitchFamily="34" charset="-122"/>
                <a:cs typeface="Meiryo UI" pitchFamily="34" charset="-120"/>
              </a:rPr>
              <a:t>場合のみ</a:t>
            </a:r>
            <a:endParaRPr lang="en-US" sz="900" dirty="0"/>
          </a:p>
        </p:txBody>
      </p:sp>
      <p:sp>
        <p:nvSpPr>
          <p:cNvPr id="51" name="Shape 41"/>
          <p:cNvSpPr/>
          <p:nvPr/>
        </p:nvSpPr>
        <p:spPr>
          <a:xfrm>
            <a:off x="4343400" y="5102352"/>
            <a:ext cx="1508760" cy="731520"/>
          </a:xfrm>
          <a:prstGeom prst="roundRect">
            <a:avLst>
              <a:gd name="adj" fmla="val 10000"/>
            </a:avLst>
          </a:prstGeom>
          <a:solidFill>
            <a:srgbClr val="FFFFFF"/>
          </a:solidFill>
          <a:ln w="12700">
            <a:solidFill>
              <a:srgbClr val="D5DBE3"/>
            </a:solidFill>
            <a:prstDash val="solid"/>
          </a:ln>
        </p:spPr>
      </p:sp>
      <p:pic>
        <p:nvPicPr>
          <p:cNvPr id="52" name="Image 8" descr="preencoded.png">    </p:cNvPr>
          <p:cNvPicPr>
            <a:picLocks noChangeAspect="1"/>
          </p:cNvPicPr>
          <p:nvPr/>
        </p:nvPicPr>
        <p:blipFill>
          <a:blip r:embed="rId9"/>
          <a:stretch>
            <a:fillRect/>
          </a:stretch>
        </p:blipFill>
        <p:spPr>
          <a:xfrm>
            <a:off x="4453128" y="5312664"/>
            <a:ext cx="310896" cy="310896"/>
          </a:xfrm>
          <a:prstGeom prst="rect">
            <a:avLst/>
          </a:prstGeom>
        </p:spPr>
      </p:pic>
      <p:sp>
        <p:nvSpPr>
          <p:cNvPr id="53" name="Text 42"/>
          <p:cNvSpPr txBox="1"/>
          <p:nvPr/>
        </p:nvSpPr>
        <p:spPr>
          <a:xfrm>
            <a:off x="4855464" y="5102352"/>
            <a:ext cx="950976" cy="731520"/>
          </a:xfrm>
          <a:prstGeom prst="rect">
            <a:avLst/>
          </a:prstGeom>
          <a:noFill/>
          <a:ln/>
        </p:spPr>
        <p:txBody>
          <a:bodyPr wrap="square" lIns="0" tIns="0" rIns="0" bIns="0" rtlCol="0" anchor="ctr"/>
          <a:lstStyle/>
          <a:p>
            <a:pPr algn="l" indent="0" marL="0">
              <a:buNone/>
            </a:pPr>
            <a:r>
              <a:rPr lang="en-US" sz="1000" b="1" dirty="0">
                <a:solidFill>
                  <a:srgbClr val="1B2A49"/>
                </a:solidFill>
                <a:latin typeface="Meiryo UI" pitchFamily="34" charset="0"/>
                <a:ea typeface="Meiryo UI" pitchFamily="34" charset="-122"/>
                <a:cs typeface="Meiryo UI" pitchFamily="34" charset="-120"/>
              </a:rPr>
              <a:t>Python</a:t>
            </a:r>
            <a:endParaRPr lang="en-US" sz="1000" dirty="0"/>
          </a:p>
          <a:p>
            <a:pPr algn="l" indent="0" marL="0">
              <a:buNone/>
            </a:pPr>
            <a:r>
              <a:rPr lang="en-US" sz="850" dirty="0">
                <a:solidFill>
                  <a:srgbClr val="6B7280"/>
                </a:solidFill>
                <a:latin typeface="Meiryo UI" pitchFamily="34" charset="0"/>
                <a:ea typeface="Meiryo UI" pitchFamily="34" charset="-122"/>
                <a:cs typeface="Meiryo UI" pitchFamily="34" charset="-120"/>
              </a:rPr>
              <a:t>Cloud Run Job</a:t>
            </a:r>
            <a:endParaRPr lang="en-US" sz="1000" dirty="0"/>
          </a:p>
        </p:txBody>
      </p:sp>
      <p:sp>
        <p:nvSpPr>
          <p:cNvPr id="54" name="Shape 43"/>
          <p:cNvSpPr/>
          <p:nvPr/>
        </p:nvSpPr>
        <p:spPr>
          <a:xfrm>
            <a:off x="5897880" y="5102352"/>
            <a:ext cx="1463040" cy="731520"/>
          </a:xfrm>
          <a:prstGeom prst="roundRect">
            <a:avLst>
              <a:gd name="adj" fmla="val 10000"/>
            </a:avLst>
          </a:prstGeom>
          <a:solidFill>
            <a:srgbClr val="FFFFFF"/>
          </a:solidFill>
          <a:ln w="12700">
            <a:solidFill>
              <a:srgbClr val="D5DBE3"/>
            </a:solidFill>
            <a:prstDash val="solid"/>
          </a:ln>
        </p:spPr>
      </p:sp>
      <p:pic>
        <p:nvPicPr>
          <p:cNvPr id="55" name="Image 9" descr="preencoded.png">    </p:cNvPr>
          <p:cNvPicPr>
            <a:picLocks noChangeAspect="1"/>
          </p:cNvPicPr>
          <p:nvPr/>
        </p:nvPicPr>
        <p:blipFill>
          <a:blip r:embed="rId10"/>
          <a:stretch>
            <a:fillRect/>
          </a:stretch>
        </p:blipFill>
        <p:spPr>
          <a:xfrm>
            <a:off x="6007608" y="5312664"/>
            <a:ext cx="310896" cy="310896"/>
          </a:xfrm>
          <a:prstGeom prst="rect">
            <a:avLst/>
          </a:prstGeom>
        </p:spPr>
      </p:pic>
      <p:sp>
        <p:nvSpPr>
          <p:cNvPr id="56" name="Text 44"/>
          <p:cNvSpPr txBox="1"/>
          <p:nvPr/>
        </p:nvSpPr>
        <p:spPr>
          <a:xfrm>
            <a:off x="6409944" y="5102352"/>
            <a:ext cx="905256" cy="731520"/>
          </a:xfrm>
          <a:prstGeom prst="rect">
            <a:avLst/>
          </a:prstGeom>
          <a:noFill/>
          <a:ln/>
        </p:spPr>
        <p:txBody>
          <a:bodyPr wrap="square" lIns="0" tIns="0" rIns="0" bIns="0" rtlCol="0" anchor="ctr"/>
          <a:lstStyle/>
          <a:p>
            <a:pPr algn="l" indent="0" marL="0">
              <a:buNone/>
            </a:pPr>
            <a:r>
              <a:rPr lang="en-US" sz="1000" b="1" dirty="0">
                <a:solidFill>
                  <a:srgbClr val="1B2A49"/>
                </a:solidFill>
                <a:latin typeface="Meiryo UI" pitchFamily="34" charset="0"/>
                <a:ea typeface="Meiryo UI" pitchFamily="34" charset="-122"/>
                <a:cs typeface="Meiryo UI" pitchFamily="34" charset="-120"/>
              </a:rPr>
              <a:t>M365側</a:t>
            </a:r>
            <a:endParaRPr lang="en-US" sz="1000" dirty="0"/>
          </a:p>
          <a:p>
            <a:pPr algn="l" indent="0" marL="0">
              <a:buNone/>
            </a:pPr>
            <a:r>
              <a:rPr lang="en-US" sz="800" dirty="0">
                <a:solidFill>
                  <a:srgbClr val="6B7280"/>
                </a:solidFill>
                <a:latin typeface="Meiryo UI" pitchFamily="34" charset="0"/>
                <a:ea typeface="Meiryo UI" pitchFamily="34" charset="-122"/>
                <a:cs typeface="Meiryo UI" pitchFamily="34" charset="-120"/>
              </a:rPr>
              <a:t>Power Automate等</a:t>
            </a:r>
            <a:endParaRPr lang="en-US" sz="1000" dirty="0"/>
          </a:p>
        </p:txBody>
      </p:sp>
      <p:sp>
        <p:nvSpPr>
          <p:cNvPr id="57" name="Text 45"/>
          <p:cNvSpPr txBox="1"/>
          <p:nvPr/>
        </p:nvSpPr>
        <p:spPr>
          <a:xfrm>
            <a:off x="731520" y="5870448"/>
            <a:ext cx="6629400" cy="411480"/>
          </a:xfrm>
          <a:prstGeom prst="rect">
            <a:avLst/>
          </a:prstGeom>
          <a:noFill/>
          <a:ln/>
        </p:spPr>
        <p:txBody>
          <a:bodyPr wrap="square" lIns="0" tIns="0" rIns="0" bIns="0" rtlCol="0" anchor="ctr"/>
          <a:lstStyle/>
          <a:p>
            <a:pPr indent="0" marL="0">
              <a:buNone/>
            </a:pPr>
            <a:r>
              <a:rPr lang="en-US" sz="900" b="1" dirty="0">
                <a:solidFill>
                  <a:srgbClr val="1B2A49"/>
                </a:solidFill>
                <a:latin typeface="Meiryo UI" pitchFamily="34" charset="0"/>
                <a:ea typeface="Meiryo UI" pitchFamily="34" charset="-122"/>
                <a:cs typeface="Meiryo UI" pitchFamily="34" charset="-120"/>
              </a:rPr>
              <a:t>追加が必要になる条件：</a:t>
            </a:r>
            <a:pPr indent="0" marL="0">
              <a:buNone/>
            </a:pPr>
            <a:r>
              <a:rPr lang="en-US" sz="900" dirty="0">
                <a:solidFill>
                  <a:srgbClr val="000000"/>
                </a:solidFill>
                <a:latin typeface="Meiryo UI" pitchFamily="34" charset="0"/>
                <a:ea typeface="Meiryo UI" pitchFamily="34" charset="-122"/>
                <a:cs typeface="Meiryo UI" pitchFamily="34" charset="-120"/>
              </a:rPr>
              <a:t>BigQuery外のデータ（SharePointの商品マスタ・ポリシー）との結合／SQLでは読みにくい複雑なロジック</a:t>
            </a:r>
            <a:endParaRPr lang="en-US" sz="900" dirty="0"/>
          </a:p>
        </p:txBody>
      </p:sp>
      <p:sp>
        <p:nvSpPr>
          <p:cNvPr id="58" name="Shape 46"/>
          <p:cNvSpPr/>
          <p:nvPr/>
        </p:nvSpPr>
        <p:spPr>
          <a:xfrm>
            <a:off x="7680960" y="4709160"/>
            <a:ext cx="3931920" cy="1600200"/>
          </a:xfrm>
          <a:prstGeom prst="roundRect">
            <a:avLst>
              <a:gd name="adj" fmla="val 3429"/>
            </a:avLst>
          </a:prstGeom>
          <a:solidFill>
            <a:srgbClr val="FDEBD3"/>
          </a:solidFill>
          <a:ln/>
        </p:spPr>
      </p:sp>
      <p:sp>
        <p:nvSpPr>
          <p:cNvPr id="59" name="Text 47"/>
          <p:cNvSpPr txBox="1"/>
          <p:nvPr/>
        </p:nvSpPr>
        <p:spPr>
          <a:xfrm>
            <a:off x="7863840" y="4773168"/>
            <a:ext cx="3657600" cy="320040"/>
          </a:xfrm>
          <a:prstGeom prst="rect">
            <a:avLst/>
          </a:prstGeom>
          <a:noFill/>
          <a:ln/>
        </p:spPr>
        <p:txBody>
          <a:bodyPr wrap="square" lIns="508" tIns="508" rIns="508" bIns="508" rtlCol="0" anchor="ctr"/>
          <a:lstStyle/>
          <a:p>
            <a:pPr indent="0" marL="0">
              <a:buNone/>
            </a:pPr>
            <a:r>
              <a:rPr lang="en-US" sz="1200" b="1" dirty="0">
                <a:solidFill>
                  <a:srgbClr val="E8912D"/>
                </a:solidFill>
                <a:latin typeface="Meiryo UI" pitchFamily="34" charset="0"/>
                <a:ea typeface="Meiryo UI" pitchFamily="34" charset="-122"/>
                <a:cs typeface="Meiryo UI" pitchFamily="34" charset="-120"/>
              </a:rPr>
              <a:t>随時SQLが必要になる例外</a:t>
            </a:r>
            <a:endParaRPr lang="en-US" sz="1200" dirty="0"/>
          </a:p>
        </p:txBody>
      </p:sp>
      <p:sp>
        <p:nvSpPr>
          <p:cNvPr id="60" name="Text 48"/>
          <p:cNvSpPr txBox="1"/>
          <p:nvPr/>
        </p:nvSpPr>
        <p:spPr>
          <a:xfrm>
            <a:off x="7863840" y="5120640"/>
            <a:ext cx="3657600" cy="1143000"/>
          </a:xfrm>
          <a:prstGeom prst="rect">
            <a:avLst/>
          </a:prstGeom>
          <a:noFill/>
          <a:ln/>
        </p:spPr>
        <p:txBody>
          <a:bodyPr wrap="square" lIns="254" tIns="254" rIns="254" bIns="254" rtlCol="0" anchor="t"/>
          <a:lstStyle/>
          <a:p>
            <a:pPr marL="152400" indent="-152400">
              <a:spcAft>
                <a:spcPts val="200"/>
              </a:spcAft>
              <a:buSzPct val="100000"/>
              <a:buChar char="•"/>
            </a:pPr>
            <a:r>
              <a:rPr lang="en-US" sz="1100" dirty="0">
                <a:solidFill>
                  <a:srgbClr val="000000"/>
                </a:solidFill>
                <a:latin typeface="Meiryo UI" pitchFamily="34" charset="0"/>
                <a:ea typeface="Meiryo UI" pitchFamily="34" charset="-122"/>
                <a:cs typeface="Meiryo UI" pitchFamily="34" charset="-120"/>
              </a:rPr>
              <a:t>対話の中で想定外の数値の問いを投げたい</a:t>
            </a:r>
            <a:endParaRPr lang="en-US" sz="1100" dirty="0"/>
          </a:p>
          <a:p>
            <a:pPr marL="152400" indent="-152400">
              <a:spcAft>
                <a:spcPts val="200"/>
              </a:spcAft>
              <a:buSzPct val="100000"/>
              <a:buChar char="•"/>
            </a:pPr>
            <a:r>
              <a:rPr lang="en-US" sz="1100" dirty="0">
                <a:solidFill>
                  <a:srgbClr val="000000"/>
                </a:solidFill>
                <a:latin typeface="Meiryo UI" pitchFamily="34" charset="0"/>
                <a:ea typeface="Meiryo UI" pitchFamily="34" charset="-122"/>
                <a:cs typeface="Meiryo UI" pitchFamily="34" charset="-120"/>
              </a:rPr>
              <a:t>当日の在庫切れなど、日次より高い鮮度が必要</a:t>
            </a:r>
            <a:endParaRPr lang="en-US" sz="1100" dirty="0"/>
          </a:p>
          <a:p>
            <a:pPr marL="152400" indent="-152400">
              <a:spcAft>
                <a:spcPts val="200"/>
              </a:spcAft>
              <a:buSzPct val="100000"/>
              <a:buChar char="•"/>
            </a:pPr>
            <a:r>
              <a:rPr lang="en-US" sz="1100" dirty="0">
                <a:solidFill>
                  <a:srgbClr val="000000"/>
                </a:solidFill>
                <a:latin typeface="Meiryo UI" pitchFamily="34" charset="0"/>
                <a:ea typeface="Meiryo UI" pitchFamily="34" charset="-122"/>
                <a:cs typeface="Meiryo UI" pitchFamily="34" charset="-120"/>
              </a:rPr>
              <a:t>事前に絞ると落ちる情報が多すぎる</a:t>
            </a:r>
            <a:endParaRPr lang="en-US" sz="11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548640"/>
          </a:xfrm>
          <a:prstGeom prst="rect">
            <a:avLst/>
          </a:prstGeom>
          <a:noFill/>
          <a:ln/>
        </p:spPr>
        <p:txBody>
          <a:bodyPr wrap="square" lIns="0" tIns="0" rIns="0" bIns="0" rtlCol="0" anchor="ctr"/>
          <a:lstStyle/>
          <a:p>
            <a:pPr indent="0" marL="0">
              <a:buNone/>
            </a:pPr>
            <a:r>
              <a:rPr lang="en-US" sz="2600" b="1" dirty="0">
                <a:solidFill>
                  <a:srgbClr val="1B2A49"/>
                </a:solidFill>
                <a:latin typeface="Meiryo UI" pitchFamily="34" charset="0"/>
                <a:ea typeface="Meiryo UI" pitchFamily="34" charset="-122"/>
                <a:cs typeface="Meiryo UI" pitchFamily="34" charset="-120"/>
              </a:rPr>
              <a:t>論点：Airtableの操作をきっかけにエージェントを動かし、結果を書き戻せるか</a:t>
            </a:r>
            <a:endParaRPr lang="en-US" sz="2600" dirty="0"/>
          </a:p>
        </p:txBody>
      </p:sp>
      <p:sp>
        <p:nvSpPr>
          <p:cNvPr id="3" name="Text 1"/>
          <p:cNvSpPr txBox="1"/>
          <p:nvPr/>
        </p:nvSpPr>
        <p:spPr>
          <a:xfrm>
            <a:off x="548640" y="896112"/>
            <a:ext cx="11064240" cy="365760"/>
          </a:xfrm>
          <a:prstGeom prst="rect">
            <a:avLst/>
          </a:prstGeom>
          <a:noFill/>
          <a:ln/>
        </p:spPr>
        <p:txBody>
          <a:bodyPr wrap="square" lIns="0" tIns="0" rIns="0" bIns="0" rtlCol="0" anchor="ctr"/>
          <a:lstStyle/>
          <a:p>
            <a:pPr indent="0" marL="0">
              <a:buNone/>
            </a:pPr>
            <a:r>
              <a:rPr lang="en-US" sz="1400" dirty="0">
                <a:solidFill>
                  <a:srgbClr val="6B7280"/>
                </a:solidFill>
                <a:latin typeface="Meiryo UI" pitchFamily="34" charset="0"/>
                <a:ea typeface="Meiryo UI" pitchFamily="34" charset="-122"/>
                <a:cs typeface="Meiryo UI" pitchFamily="34" charset="-120"/>
              </a:rPr>
              <a:t>結論：実現は可能。ただし標準機能だけでは完結せず、HTTP連携（Premium）とトークンの管理が前提になる</a:t>
            </a:r>
            <a:endParaRPr lang="en-US" sz="1400" dirty="0"/>
          </a:p>
        </p:txBody>
      </p:sp>
      <p:sp>
        <p:nvSpPr>
          <p:cNvPr id="4" name="Text 2"/>
          <p:cNvSpPr txBox="1"/>
          <p:nvPr/>
        </p:nvSpPr>
        <p:spPr>
          <a:xfrm>
            <a:off x="7498080" y="91440"/>
            <a:ext cx="4114800" cy="22860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5. 個別論点</a:t>
            </a:r>
            <a:endParaRPr lang="en-US" sz="900" dirty="0"/>
          </a:p>
        </p:txBody>
      </p:sp>
      <p:sp>
        <p:nvSpPr>
          <p:cNvPr id="5" name="Text 3"/>
          <p:cNvSpPr txBox="1"/>
          <p:nvPr/>
        </p:nvSpPr>
        <p:spPr>
          <a:xfrm>
            <a:off x="11247120" y="6446520"/>
            <a:ext cx="457200" cy="27432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34</a:t>
            </a:r>
            <a:endParaRPr lang="en-US" sz="900" dirty="0"/>
          </a:p>
        </p:txBody>
      </p:sp>
      <p:sp>
        <p:nvSpPr>
          <p:cNvPr id="6" name="Shape 4"/>
          <p:cNvSpPr/>
          <p:nvPr/>
        </p:nvSpPr>
        <p:spPr>
          <a:xfrm>
            <a:off x="548640" y="1463040"/>
            <a:ext cx="3566160" cy="3246120"/>
          </a:xfrm>
          <a:prstGeom prst="roundRect">
            <a:avLst>
              <a:gd name="adj" fmla="val 1690"/>
            </a:avLst>
          </a:prstGeom>
          <a:solidFill>
            <a:srgbClr val="F3F5F8"/>
          </a:solidFill>
          <a:ln/>
        </p:spPr>
      </p:sp>
      <p:sp>
        <p:nvSpPr>
          <p:cNvPr id="7" name="Shape 5"/>
          <p:cNvSpPr/>
          <p:nvPr/>
        </p:nvSpPr>
        <p:spPr>
          <a:xfrm>
            <a:off x="713232" y="1600200"/>
            <a:ext cx="502920" cy="502920"/>
          </a:xfrm>
          <a:prstGeom prst="ellipse">
            <a:avLst/>
          </a:prstGeom>
          <a:solidFill>
            <a:srgbClr val="FFFFFF"/>
          </a:solidFill>
          <a:ln/>
        </p:spPr>
      </p:sp>
      <p:pic>
        <p:nvPicPr>
          <p:cNvPr id="8" name="Image 0" descr="preencoded.png">    </p:cNvPr>
          <p:cNvPicPr>
            <a:picLocks noChangeAspect="1"/>
          </p:cNvPicPr>
          <p:nvPr/>
        </p:nvPicPr>
        <p:blipFill>
          <a:blip r:embed="rId1"/>
          <a:stretch>
            <a:fillRect/>
          </a:stretch>
        </p:blipFill>
        <p:spPr>
          <a:xfrm>
            <a:off x="813816" y="1700784"/>
            <a:ext cx="301752" cy="301752"/>
          </a:xfrm>
          <a:prstGeom prst="rect">
            <a:avLst/>
          </a:prstGeom>
        </p:spPr>
      </p:pic>
      <p:sp>
        <p:nvSpPr>
          <p:cNvPr id="9" name="Text 6"/>
          <p:cNvSpPr txBox="1"/>
          <p:nvPr/>
        </p:nvSpPr>
        <p:spPr>
          <a:xfrm>
            <a:off x="1325880" y="1572768"/>
            <a:ext cx="2651760" cy="329184"/>
          </a:xfrm>
          <a:prstGeom prst="rect">
            <a:avLst/>
          </a:prstGeom>
          <a:noFill/>
          <a:ln/>
        </p:spPr>
        <p:txBody>
          <a:bodyPr wrap="square" lIns="508" tIns="508" rIns="508" bIns="508" rtlCol="0" anchor="ctr"/>
          <a:lstStyle/>
          <a:p>
            <a:pPr indent="0" marL="0">
              <a:buNone/>
            </a:pPr>
            <a:r>
              <a:rPr lang="en-US" sz="1600" b="1" dirty="0">
                <a:solidFill>
                  <a:srgbClr val="1B2A49"/>
                </a:solidFill>
                <a:latin typeface="Meiryo UI" pitchFamily="34" charset="0"/>
                <a:ea typeface="Meiryo UI" pitchFamily="34" charset="-122"/>
                <a:cs typeface="Meiryo UI" pitchFamily="34" charset="-120"/>
              </a:rPr>
              <a:t>① 起動</a:t>
            </a:r>
            <a:endParaRPr lang="en-US" sz="1600" dirty="0"/>
          </a:p>
        </p:txBody>
      </p:sp>
      <p:sp>
        <p:nvSpPr>
          <p:cNvPr id="10" name="Text 7"/>
          <p:cNvSpPr txBox="1"/>
          <p:nvPr/>
        </p:nvSpPr>
        <p:spPr>
          <a:xfrm>
            <a:off x="1325880" y="1883664"/>
            <a:ext cx="2651760" cy="274320"/>
          </a:xfrm>
          <a:prstGeom prst="rect">
            <a:avLst/>
          </a:prstGeom>
          <a:noFill/>
          <a:ln/>
        </p:spPr>
        <p:txBody>
          <a:bodyPr wrap="square" lIns="508" tIns="508" rIns="508" bIns="508" rtlCol="0" anchor="ctr"/>
          <a:lstStyle/>
          <a:p>
            <a:pPr indent="0" marL="0">
              <a:buNone/>
            </a:pPr>
            <a:r>
              <a:rPr lang="en-US" sz="1050" dirty="0">
                <a:solidFill>
                  <a:srgbClr val="6B7280"/>
                </a:solidFill>
                <a:latin typeface="Meiryo UI" pitchFamily="34" charset="0"/>
                <a:ea typeface="Meiryo UI" pitchFamily="34" charset="-122"/>
                <a:cs typeface="Meiryo UI" pitchFamily="34" charset="-120"/>
              </a:rPr>
              <a:t>Airtable側のイベントを外に伝える</a:t>
            </a:r>
            <a:endParaRPr lang="en-US" sz="1050" dirty="0"/>
          </a:p>
        </p:txBody>
      </p:sp>
      <p:sp>
        <p:nvSpPr>
          <p:cNvPr id="11" name="Text 8"/>
          <p:cNvSpPr txBox="1"/>
          <p:nvPr/>
        </p:nvSpPr>
        <p:spPr>
          <a:xfrm>
            <a:off x="731520" y="2286000"/>
            <a:ext cx="3246120" cy="2331720"/>
          </a:xfrm>
          <a:prstGeom prst="rect">
            <a:avLst/>
          </a:prstGeom>
          <a:noFill/>
          <a:ln/>
        </p:spPr>
        <p:txBody>
          <a:bodyPr wrap="square" lIns="254" tIns="254" rIns="254" bIns="254" rtlCol="0" anchor="t"/>
          <a:lstStyle/>
          <a:p>
            <a:pPr marL="152400" indent="-152400">
              <a:spcAft>
                <a:spcPts val="600"/>
              </a:spcAft>
              <a:buSzPct val="100000"/>
              <a:buChar char="•"/>
            </a:pPr>
            <a:r>
              <a:rPr lang="en-US" sz="1200" dirty="0">
                <a:solidFill>
                  <a:srgbClr val="000000"/>
                </a:solidFill>
                <a:latin typeface="Meiryo UI" pitchFamily="34" charset="0"/>
                <a:ea typeface="Meiryo UI" pitchFamily="34" charset="-122"/>
                <a:cs typeface="Meiryo UI" pitchFamily="34" charset="-120"/>
              </a:rPr>
              <a:t>オートメーション（レコード作成・条件一致・ボタンなど）の「スクリプト実行」で外部へHTTP送信できる</a:t>
            </a:r>
            <a:endParaRPr lang="en-US" sz="1200" dirty="0"/>
          </a:p>
          <a:p>
            <a:pPr marL="152400" indent="-152400">
              <a:spcAft>
                <a:spcPts val="600"/>
              </a:spcAft>
              <a:buSzPct val="100000"/>
              <a:buChar char="•"/>
            </a:pPr>
            <a:r>
              <a:rPr lang="en-US" sz="1200" dirty="0">
                <a:solidFill>
                  <a:srgbClr val="000000"/>
                </a:solidFill>
                <a:latin typeface="Meiryo UI" pitchFamily="34" charset="0"/>
                <a:ea typeface="Meiryo UI" pitchFamily="34" charset="-122"/>
                <a:cs typeface="Meiryo UI" pitchFamily="34" charset="-120"/>
              </a:rPr>
              <a:t>外部通信の待ち時間は30秒が上限（暫定的に120秒へ緩和中）</a:t>
            </a:r>
            <a:endParaRPr lang="en-US" sz="1200" dirty="0"/>
          </a:p>
          <a:p>
            <a:pPr marL="152400" indent="-152400">
              <a:spcAft>
                <a:spcPts val="600"/>
              </a:spcAft>
              <a:buSzPct val="100000"/>
              <a:buChar char="•"/>
            </a:pPr>
            <a:r>
              <a:rPr lang="en-US" sz="1200" dirty="0">
                <a:solidFill>
                  <a:srgbClr val="000000"/>
                </a:solidFill>
                <a:latin typeface="Meiryo UI" pitchFamily="34" charset="0"/>
                <a:ea typeface="Meiryo UI" pitchFamily="34" charset="-122"/>
                <a:cs typeface="Meiryo UI" pitchFamily="34" charset="-120"/>
              </a:rPr>
              <a:t>Webhooks APIは「変更があった」通知のみ。7日で失効するため更新が必要</a:t>
            </a:r>
            <a:endParaRPr lang="en-US" sz="1200" dirty="0"/>
          </a:p>
        </p:txBody>
      </p:sp>
      <p:sp>
        <p:nvSpPr>
          <p:cNvPr id="12" name="Shape 9"/>
          <p:cNvSpPr/>
          <p:nvPr/>
        </p:nvSpPr>
        <p:spPr>
          <a:xfrm>
            <a:off x="4123944" y="3063240"/>
            <a:ext cx="164592" cy="0"/>
          </a:xfrm>
          <a:prstGeom prst="line">
            <a:avLst/>
          </a:prstGeom>
          <a:noFill/>
          <a:ln w="31750">
            <a:solidFill>
              <a:srgbClr val="1B2A49"/>
            </a:solidFill>
            <a:prstDash val="solid"/>
            <a:tailEnd type="triangle"/>
          </a:ln>
        </p:spPr>
      </p:sp>
      <p:sp>
        <p:nvSpPr>
          <p:cNvPr id="13" name="Shape 10"/>
          <p:cNvSpPr/>
          <p:nvPr/>
        </p:nvSpPr>
        <p:spPr>
          <a:xfrm>
            <a:off x="4297680" y="1463040"/>
            <a:ext cx="3566160" cy="3246120"/>
          </a:xfrm>
          <a:prstGeom prst="roundRect">
            <a:avLst>
              <a:gd name="adj" fmla="val 1690"/>
            </a:avLst>
          </a:prstGeom>
          <a:solidFill>
            <a:srgbClr val="F3F5F8"/>
          </a:solidFill>
          <a:ln/>
        </p:spPr>
      </p:sp>
      <p:sp>
        <p:nvSpPr>
          <p:cNvPr id="14" name="Shape 11"/>
          <p:cNvSpPr/>
          <p:nvPr/>
        </p:nvSpPr>
        <p:spPr>
          <a:xfrm>
            <a:off x="4462272" y="1600200"/>
            <a:ext cx="502920" cy="502920"/>
          </a:xfrm>
          <a:prstGeom prst="ellipse">
            <a:avLst/>
          </a:prstGeom>
          <a:solidFill>
            <a:srgbClr val="FFFFFF"/>
          </a:solidFill>
          <a:ln/>
        </p:spPr>
      </p:sp>
      <p:pic>
        <p:nvPicPr>
          <p:cNvPr id="15" name="Image 1" descr="preencoded.png">    </p:cNvPr>
          <p:cNvPicPr>
            <a:picLocks noChangeAspect="1"/>
          </p:cNvPicPr>
          <p:nvPr/>
        </p:nvPicPr>
        <p:blipFill>
          <a:blip r:embed="rId2"/>
          <a:stretch>
            <a:fillRect/>
          </a:stretch>
        </p:blipFill>
        <p:spPr>
          <a:xfrm>
            <a:off x="4562856" y="1700784"/>
            <a:ext cx="301752" cy="301752"/>
          </a:xfrm>
          <a:prstGeom prst="rect">
            <a:avLst/>
          </a:prstGeom>
        </p:spPr>
      </p:pic>
      <p:sp>
        <p:nvSpPr>
          <p:cNvPr id="16" name="Text 12"/>
          <p:cNvSpPr txBox="1"/>
          <p:nvPr/>
        </p:nvSpPr>
        <p:spPr>
          <a:xfrm>
            <a:off x="5074920" y="1572768"/>
            <a:ext cx="2651760" cy="329184"/>
          </a:xfrm>
          <a:prstGeom prst="rect">
            <a:avLst/>
          </a:prstGeom>
          <a:noFill/>
          <a:ln/>
        </p:spPr>
        <p:txBody>
          <a:bodyPr wrap="square" lIns="508" tIns="508" rIns="508" bIns="508" rtlCol="0" anchor="ctr"/>
          <a:lstStyle/>
          <a:p>
            <a:pPr indent="0" marL="0">
              <a:buNone/>
            </a:pPr>
            <a:r>
              <a:rPr lang="en-US" sz="1600" b="1" dirty="0">
                <a:solidFill>
                  <a:srgbClr val="1B2A49"/>
                </a:solidFill>
                <a:latin typeface="Meiryo UI" pitchFamily="34" charset="0"/>
                <a:ea typeface="Meiryo UI" pitchFamily="34" charset="-122"/>
                <a:cs typeface="Meiryo UI" pitchFamily="34" charset="-120"/>
              </a:rPr>
              <a:t>② 実行</a:t>
            </a:r>
            <a:endParaRPr lang="en-US" sz="1600" dirty="0"/>
          </a:p>
        </p:txBody>
      </p:sp>
      <p:sp>
        <p:nvSpPr>
          <p:cNvPr id="17" name="Text 13"/>
          <p:cNvSpPr txBox="1"/>
          <p:nvPr/>
        </p:nvSpPr>
        <p:spPr>
          <a:xfrm>
            <a:off x="5074920" y="1883664"/>
            <a:ext cx="2651760" cy="274320"/>
          </a:xfrm>
          <a:prstGeom prst="rect">
            <a:avLst/>
          </a:prstGeom>
          <a:noFill/>
          <a:ln/>
        </p:spPr>
        <p:txBody>
          <a:bodyPr wrap="square" lIns="508" tIns="508" rIns="508" bIns="508" rtlCol="0" anchor="ctr"/>
          <a:lstStyle/>
          <a:p>
            <a:pPr indent="0" marL="0">
              <a:buNone/>
            </a:pPr>
            <a:r>
              <a:rPr lang="en-US" sz="1050" dirty="0">
                <a:solidFill>
                  <a:srgbClr val="6B7280"/>
                </a:solidFill>
                <a:latin typeface="Meiryo UI" pitchFamily="34" charset="0"/>
                <a:ea typeface="Meiryo UI" pitchFamily="34" charset="-122"/>
                <a:cs typeface="Meiryo UI" pitchFamily="34" charset="-120"/>
              </a:rPr>
              <a:t>エージェントを動かす</a:t>
            </a:r>
            <a:endParaRPr lang="en-US" sz="1050" dirty="0"/>
          </a:p>
        </p:txBody>
      </p:sp>
      <p:sp>
        <p:nvSpPr>
          <p:cNvPr id="18" name="Text 14"/>
          <p:cNvSpPr txBox="1"/>
          <p:nvPr/>
        </p:nvSpPr>
        <p:spPr>
          <a:xfrm>
            <a:off x="4480560" y="2286000"/>
            <a:ext cx="3246120" cy="2331720"/>
          </a:xfrm>
          <a:prstGeom prst="rect">
            <a:avLst/>
          </a:prstGeom>
          <a:noFill/>
          <a:ln/>
        </p:spPr>
        <p:txBody>
          <a:bodyPr wrap="square" lIns="254" tIns="254" rIns="254" bIns="254" rtlCol="0" anchor="t"/>
          <a:lstStyle/>
          <a:p>
            <a:pPr marL="152400" indent="-152400">
              <a:spcAft>
                <a:spcPts val="600"/>
              </a:spcAft>
              <a:buSzPct val="100000"/>
              <a:buChar char="•"/>
            </a:pPr>
            <a:r>
              <a:rPr lang="en-US" sz="1200" dirty="0">
                <a:solidFill>
                  <a:srgbClr val="000000"/>
                </a:solidFill>
                <a:latin typeface="Meiryo UI" pitchFamily="34" charset="0"/>
                <a:ea typeface="Meiryo UI" pitchFamily="34" charset="-122"/>
                <a:cs typeface="Meiryo UI" pitchFamily="34" charset="-120"/>
              </a:rPr>
              <a:t>Power Automate「HTTP要求の受信時」トリガー（Premium）</a:t>
            </a:r>
            <a:endParaRPr lang="en-US" sz="1200" dirty="0"/>
          </a:p>
          <a:p>
            <a:pPr marL="152400" indent="-152400">
              <a:spcAft>
                <a:spcPts val="600"/>
              </a:spcAft>
              <a:buSzPct val="100000"/>
              <a:buChar char="•"/>
            </a:pPr>
            <a:r>
              <a:rPr lang="en-US" sz="1200" dirty="0">
                <a:solidFill>
                  <a:srgbClr val="000000"/>
                </a:solidFill>
                <a:latin typeface="Meiryo UI" pitchFamily="34" charset="0"/>
                <a:ea typeface="Meiryo UI" pitchFamily="34" charset="-122"/>
                <a:cs typeface="Meiryo UI" pitchFamily="34" charset="-120"/>
              </a:rPr>
              <a:t>Copilot Studioコネクタの「Execute Agent and wait」で応答を待って受け取れる</a:t>
            </a:r>
            <a:endParaRPr lang="en-US" sz="1200" dirty="0"/>
          </a:p>
          <a:p>
            <a:pPr marL="152400" indent="-152400">
              <a:spcAft>
                <a:spcPts val="600"/>
              </a:spcAft>
              <a:buSzPct val="100000"/>
              <a:buChar char="•"/>
            </a:pPr>
            <a:r>
              <a:rPr lang="en-US" sz="1200" dirty="0">
                <a:solidFill>
                  <a:srgbClr val="000000"/>
                </a:solidFill>
                <a:latin typeface="Meiryo UI" pitchFamily="34" charset="0"/>
                <a:ea typeface="Meiryo UI" pitchFamily="34" charset="-122"/>
                <a:cs typeface="Meiryo UI" pitchFamily="34" charset="-120"/>
              </a:rPr>
              <a:t>Copilot Studioのイベントトリガーで、エージェントを自律的に起動する方法もある</a:t>
            </a:r>
            <a:endParaRPr lang="en-US" sz="1200" dirty="0"/>
          </a:p>
          <a:p>
            <a:pPr marL="152400" indent="-152400">
              <a:spcAft>
                <a:spcPts val="600"/>
              </a:spcAft>
              <a:buSzPct val="100000"/>
              <a:buChar char="•"/>
            </a:pPr>
            <a:r>
              <a:rPr lang="en-US" sz="1200" dirty="0">
                <a:solidFill>
                  <a:srgbClr val="000000"/>
                </a:solidFill>
                <a:latin typeface="Meiryo UI" pitchFamily="34" charset="0"/>
                <a:ea typeface="Meiryo UI" pitchFamily="34" charset="-122"/>
                <a:cs typeface="Meiryo UI" pitchFamily="34" charset="-120"/>
              </a:rPr>
              <a:t>Direct Line APIで直接呼ぶこともできる（手順が多い）</a:t>
            </a:r>
            <a:endParaRPr lang="en-US" sz="1200" dirty="0"/>
          </a:p>
        </p:txBody>
      </p:sp>
      <p:sp>
        <p:nvSpPr>
          <p:cNvPr id="19" name="Shape 15"/>
          <p:cNvSpPr/>
          <p:nvPr/>
        </p:nvSpPr>
        <p:spPr>
          <a:xfrm>
            <a:off x="7872984" y="3063240"/>
            <a:ext cx="164592" cy="0"/>
          </a:xfrm>
          <a:prstGeom prst="line">
            <a:avLst/>
          </a:prstGeom>
          <a:noFill/>
          <a:ln w="31750">
            <a:solidFill>
              <a:srgbClr val="1B2A49"/>
            </a:solidFill>
            <a:prstDash val="solid"/>
            <a:tailEnd type="triangle"/>
          </a:ln>
        </p:spPr>
      </p:sp>
      <p:sp>
        <p:nvSpPr>
          <p:cNvPr id="20" name="Shape 16"/>
          <p:cNvSpPr/>
          <p:nvPr/>
        </p:nvSpPr>
        <p:spPr>
          <a:xfrm>
            <a:off x="8046720" y="1463040"/>
            <a:ext cx="3566160" cy="3246120"/>
          </a:xfrm>
          <a:prstGeom prst="roundRect">
            <a:avLst>
              <a:gd name="adj" fmla="val 1690"/>
            </a:avLst>
          </a:prstGeom>
          <a:solidFill>
            <a:srgbClr val="F3F5F8"/>
          </a:solidFill>
          <a:ln/>
        </p:spPr>
      </p:sp>
      <p:sp>
        <p:nvSpPr>
          <p:cNvPr id="21" name="Shape 17"/>
          <p:cNvSpPr/>
          <p:nvPr/>
        </p:nvSpPr>
        <p:spPr>
          <a:xfrm>
            <a:off x="8211312" y="1600200"/>
            <a:ext cx="502920" cy="502920"/>
          </a:xfrm>
          <a:prstGeom prst="ellipse">
            <a:avLst/>
          </a:prstGeom>
          <a:solidFill>
            <a:srgbClr val="FFFFFF"/>
          </a:solidFill>
          <a:ln/>
        </p:spPr>
      </p:sp>
      <p:pic>
        <p:nvPicPr>
          <p:cNvPr id="22" name="Image 2" descr="preencoded.png">    </p:cNvPr>
          <p:cNvPicPr>
            <a:picLocks noChangeAspect="1"/>
          </p:cNvPicPr>
          <p:nvPr/>
        </p:nvPicPr>
        <p:blipFill>
          <a:blip r:embed="rId3"/>
          <a:stretch>
            <a:fillRect/>
          </a:stretch>
        </p:blipFill>
        <p:spPr>
          <a:xfrm>
            <a:off x="8311896" y="1700784"/>
            <a:ext cx="301752" cy="301752"/>
          </a:xfrm>
          <a:prstGeom prst="rect">
            <a:avLst/>
          </a:prstGeom>
        </p:spPr>
      </p:pic>
      <p:sp>
        <p:nvSpPr>
          <p:cNvPr id="23" name="Text 18"/>
          <p:cNvSpPr txBox="1"/>
          <p:nvPr/>
        </p:nvSpPr>
        <p:spPr>
          <a:xfrm>
            <a:off x="8823960" y="1572768"/>
            <a:ext cx="2651760" cy="329184"/>
          </a:xfrm>
          <a:prstGeom prst="rect">
            <a:avLst/>
          </a:prstGeom>
          <a:noFill/>
          <a:ln/>
        </p:spPr>
        <p:txBody>
          <a:bodyPr wrap="square" lIns="508" tIns="508" rIns="508" bIns="508" rtlCol="0" anchor="ctr"/>
          <a:lstStyle/>
          <a:p>
            <a:pPr indent="0" marL="0">
              <a:buNone/>
            </a:pPr>
            <a:r>
              <a:rPr lang="en-US" sz="1600" b="1" dirty="0">
                <a:solidFill>
                  <a:srgbClr val="1B2A49"/>
                </a:solidFill>
                <a:latin typeface="Meiryo UI" pitchFamily="34" charset="0"/>
                <a:ea typeface="Meiryo UI" pitchFamily="34" charset="-122"/>
                <a:cs typeface="Meiryo UI" pitchFamily="34" charset="-120"/>
              </a:rPr>
              <a:t>③ 書き戻し</a:t>
            </a:r>
            <a:endParaRPr lang="en-US" sz="1600" dirty="0"/>
          </a:p>
        </p:txBody>
      </p:sp>
      <p:sp>
        <p:nvSpPr>
          <p:cNvPr id="24" name="Text 19"/>
          <p:cNvSpPr txBox="1"/>
          <p:nvPr/>
        </p:nvSpPr>
        <p:spPr>
          <a:xfrm>
            <a:off x="8823960" y="1883664"/>
            <a:ext cx="2651760" cy="274320"/>
          </a:xfrm>
          <a:prstGeom prst="rect">
            <a:avLst/>
          </a:prstGeom>
          <a:noFill/>
          <a:ln/>
        </p:spPr>
        <p:txBody>
          <a:bodyPr wrap="square" lIns="508" tIns="508" rIns="508" bIns="508" rtlCol="0" anchor="ctr"/>
          <a:lstStyle/>
          <a:p>
            <a:pPr indent="0" marL="0">
              <a:buNone/>
            </a:pPr>
            <a:r>
              <a:rPr lang="en-US" sz="1050" dirty="0">
                <a:solidFill>
                  <a:srgbClr val="6B7280"/>
                </a:solidFill>
                <a:latin typeface="Meiryo UI" pitchFamily="34" charset="0"/>
                <a:ea typeface="Meiryo UI" pitchFamily="34" charset="-122"/>
                <a:cs typeface="Meiryo UI" pitchFamily="34" charset="-120"/>
              </a:rPr>
              <a:t>結果をAirtableに返す</a:t>
            </a:r>
            <a:endParaRPr lang="en-US" sz="1050" dirty="0"/>
          </a:p>
        </p:txBody>
      </p:sp>
      <p:sp>
        <p:nvSpPr>
          <p:cNvPr id="25" name="Text 20"/>
          <p:cNvSpPr txBox="1"/>
          <p:nvPr/>
        </p:nvSpPr>
        <p:spPr>
          <a:xfrm>
            <a:off x="8229600" y="2286000"/>
            <a:ext cx="3246120" cy="2331720"/>
          </a:xfrm>
          <a:prstGeom prst="rect">
            <a:avLst/>
          </a:prstGeom>
          <a:noFill/>
          <a:ln/>
        </p:spPr>
        <p:txBody>
          <a:bodyPr wrap="square" lIns="254" tIns="254" rIns="254" bIns="254" rtlCol="0" anchor="t"/>
          <a:lstStyle/>
          <a:p>
            <a:pPr marL="152400" indent="-152400">
              <a:spcAft>
                <a:spcPts val="600"/>
              </a:spcAft>
              <a:buSzPct val="100000"/>
              <a:buChar char="•"/>
            </a:pPr>
            <a:r>
              <a:rPr lang="en-US" sz="1200" dirty="0">
                <a:solidFill>
                  <a:srgbClr val="000000"/>
                </a:solidFill>
                <a:latin typeface="Meiryo UI" pitchFamily="34" charset="0"/>
                <a:ea typeface="Meiryo UI" pitchFamily="34" charset="-122"/>
                <a:cs typeface="Meiryo UI" pitchFamily="34" charset="-120"/>
              </a:rPr>
              <a:t>Power AutomateのAirtableコネクタは非推奨（廃止済みのAPIキー認証）</a:t>
            </a:r>
            <a:endParaRPr lang="en-US" sz="1200" dirty="0"/>
          </a:p>
          <a:p>
            <a:pPr marL="152400" indent="-152400">
              <a:spcAft>
                <a:spcPts val="600"/>
              </a:spcAft>
              <a:buSzPct val="100000"/>
              <a:buChar char="•"/>
            </a:pPr>
            <a:r>
              <a:rPr lang="en-US" sz="1200" dirty="0">
                <a:solidFill>
                  <a:srgbClr val="000000"/>
                </a:solidFill>
                <a:latin typeface="Meiryo UI" pitchFamily="34" charset="0"/>
                <a:ea typeface="Meiryo UI" pitchFamily="34" charset="-122"/>
                <a:cs typeface="Meiryo UI" pitchFamily="34" charset="-120"/>
              </a:rPr>
              <a:t>HTTPアクションで、AirtableのREST APIを個人アクセストークン（PAT）で呼ぶ</a:t>
            </a:r>
            <a:endParaRPr lang="en-US" sz="1200" dirty="0"/>
          </a:p>
          <a:p>
            <a:pPr marL="152400" indent="-152400">
              <a:spcAft>
                <a:spcPts val="600"/>
              </a:spcAft>
              <a:buSzPct val="100000"/>
              <a:buChar char="•"/>
            </a:pPr>
            <a:r>
              <a:rPr lang="en-US" sz="1200" dirty="0">
                <a:solidFill>
                  <a:srgbClr val="000000"/>
                </a:solidFill>
                <a:latin typeface="Meiryo UI" pitchFamily="34" charset="0"/>
                <a:ea typeface="Meiryo UI" pitchFamily="34" charset="-122"/>
                <a:cs typeface="Meiryo UI" pitchFamily="34" charset="-120"/>
              </a:rPr>
              <a:t>またはカスタムコネクタを作って再利用する</a:t>
            </a:r>
            <a:endParaRPr lang="en-US" sz="1200" dirty="0"/>
          </a:p>
        </p:txBody>
      </p:sp>
      <p:sp>
        <p:nvSpPr>
          <p:cNvPr id="26" name="Text 21"/>
          <p:cNvSpPr txBox="1"/>
          <p:nvPr/>
        </p:nvSpPr>
        <p:spPr>
          <a:xfrm>
            <a:off x="548640" y="4846320"/>
            <a:ext cx="4572000" cy="320040"/>
          </a:xfrm>
          <a:prstGeom prst="rect">
            <a:avLst/>
          </a:prstGeom>
          <a:noFill/>
          <a:ln/>
        </p:spPr>
        <p:txBody>
          <a:bodyPr wrap="square" lIns="508" tIns="508" rIns="508" bIns="508"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共通の設計ポイント</a:t>
            </a:r>
            <a:endParaRPr lang="en-US" sz="1300" dirty="0"/>
          </a:p>
        </p:txBody>
      </p:sp>
      <p:sp>
        <p:nvSpPr>
          <p:cNvPr id="27" name="Shape 22"/>
          <p:cNvSpPr/>
          <p:nvPr/>
        </p:nvSpPr>
        <p:spPr>
          <a:xfrm>
            <a:off x="548640" y="5212080"/>
            <a:ext cx="2651760" cy="1097280"/>
          </a:xfrm>
          <a:prstGeom prst="roundRect">
            <a:avLst>
              <a:gd name="adj" fmla="val 5000"/>
            </a:avLst>
          </a:prstGeom>
          <a:solidFill>
            <a:srgbClr val="D9F2F1"/>
          </a:solidFill>
          <a:ln/>
        </p:spPr>
      </p:sp>
      <p:pic>
        <p:nvPicPr>
          <p:cNvPr id="28" name="Image 3" descr="preencoded.png">    </p:cNvPr>
          <p:cNvPicPr>
            <a:picLocks noChangeAspect="1"/>
          </p:cNvPicPr>
          <p:nvPr/>
        </p:nvPicPr>
        <p:blipFill>
          <a:blip r:embed="rId4"/>
          <a:stretch>
            <a:fillRect/>
          </a:stretch>
        </p:blipFill>
        <p:spPr>
          <a:xfrm>
            <a:off x="685800" y="5321808"/>
            <a:ext cx="310896" cy="310896"/>
          </a:xfrm>
          <a:prstGeom prst="rect">
            <a:avLst/>
          </a:prstGeom>
        </p:spPr>
      </p:pic>
      <p:sp>
        <p:nvSpPr>
          <p:cNvPr id="29" name="Text 23"/>
          <p:cNvSpPr txBox="1"/>
          <p:nvPr/>
        </p:nvSpPr>
        <p:spPr>
          <a:xfrm>
            <a:off x="1078992" y="5303520"/>
            <a:ext cx="2057400" cy="347472"/>
          </a:xfrm>
          <a:prstGeom prst="rect">
            <a:avLst/>
          </a:prstGeom>
          <a:noFill/>
          <a:ln/>
        </p:spPr>
        <p:txBody>
          <a:bodyPr wrap="square" lIns="508" tIns="508" rIns="508" bIns="508" rtlCol="0" anchor="ctr"/>
          <a:lstStyle/>
          <a:p>
            <a:pPr indent="0" marL="0">
              <a:buNone/>
            </a:pPr>
            <a:r>
              <a:rPr lang="en-US" sz="1150" b="1" dirty="0">
                <a:solidFill>
                  <a:srgbClr val="1B2A49"/>
                </a:solidFill>
                <a:latin typeface="Meiryo UI" pitchFamily="34" charset="0"/>
                <a:ea typeface="Meiryo UI" pitchFamily="34" charset="-122"/>
                <a:cs typeface="Meiryo UI" pitchFamily="34" charset="-120"/>
              </a:rPr>
              <a:t>状態管理</a:t>
            </a:r>
            <a:endParaRPr lang="en-US" sz="1150" dirty="0"/>
          </a:p>
        </p:txBody>
      </p:sp>
      <p:sp>
        <p:nvSpPr>
          <p:cNvPr id="30" name="Text 24"/>
          <p:cNvSpPr txBox="1"/>
          <p:nvPr/>
        </p:nvSpPr>
        <p:spPr>
          <a:xfrm>
            <a:off x="685800" y="5669280"/>
            <a:ext cx="2423160" cy="603504"/>
          </a:xfrm>
          <a:prstGeom prst="rect">
            <a:avLst/>
          </a:prstGeom>
          <a:noFill/>
          <a:ln/>
        </p:spPr>
        <p:txBody>
          <a:bodyPr wrap="square" lIns="508" tIns="508" rIns="508" bIns="508" rtlCol="0" anchor="t"/>
          <a:lstStyle/>
          <a:p>
            <a:pPr indent="0" marL="0">
              <a:buNone/>
            </a:pPr>
            <a:r>
              <a:rPr lang="en-US" sz="950" dirty="0">
                <a:solidFill>
                  <a:srgbClr val="2B2B2B"/>
                </a:solidFill>
                <a:latin typeface="Meiryo UI" pitchFamily="34" charset="0"/>
                <a:ea typeface="Meiryo UI" pitchFamily="34" charset="-122"/>
                <a:cs typeface="Meiryo UI" pitchFamily="34" charset="-120"/>
              </a:rPr>
              <a:t>ステータス列（生成待ち→生成中→完了／エラー）で二重実行を防ぐ</a:t>
            </a:r>
            <a:endParaRPr lang="en-US" sz="950" dirty="0"/>
          </a:p>
        </p:txBody>
      </p:sp>
      <p:sp>
        <p:nvSpPr>
          <p:cNvPr id="31" name="Shape 25"/>
          <p:cNvSpPr/>
          <p:nvPr/>
        </p:nvSpPr>
        <p:spPr>
          <a:xfrm>
            <a:off x="3346704" y="5212080"/>
            <a:ext cx="2651760" cy="1097280"/>
          </a:xfrm>
          <a:prstGeom prst="roundRect">
            <a:avLst>
              <a:gd name="adj" fmla="val 5000"/>
            </a:avLst>
          </a:prstGeom>
          <a:solidFill>
            <a:srgbClr val="D9F2F1"/>
          </a:solidFill>
          <a:ln/>
        </p:spPr>
      </p:sp>
      <p:pic>
        <p:nvPicPr>
          <p:cNvPr id="32" name="Image 4" descr="preencoded.png">    </p:cNvPr>
          <p:cNvPicPr>
            <a:picLocks noChangeAspect="1"/>
          </p:cNvPicPr>
          <p:nvPr/>
        </p:nvPicPr>
        <p:blipFill>
          <a:blip r:embed="rId5"/>
          <a:stretch>
            <a:fillRect/>
          </a:stretch>
        </p:blipFill>
        <p:spPr>
          <a:xfrm>
            <a:off x="3483864" y="5321808"/>
            <a:ext cx="310896" cy="310896"/>
          </a:xfrm>
          <a:prstGeom prst="rect">
            <a:avLst/>
          </a:prstGeom>
        </p:spPr>
      </p:pic>
      <p:sp>
        <p:nvSpPr>
          <p:cNvPr id="33" name="Text 26"/>
          <p:cNvSpPr txBox="1"/>
          <p:nvPr/>
        </p:nvSpPr>
        <p:spPr>
          <a:xfrm>
            <a:off x="3877056" y="5303520"/>
            <a:ext cx="2057400" cy="347472"/>
          </a:xfrm>
          <a:prstGeom prst="rect">
            <a:avLst/>
          </a:prstGeom>
          <a:noFill/>
          <a:ln/>
        </p:spPr>
        <p:txBody>
          <a:bodyPr wrap="square" lIns="508" tIns="508" rIns="508" bIns="508" rtlCol="0" anchor="ctr"/>
          <a:lstStyle/>
          <a:p>
            <a:pPr indent="0" marL="0">
              <a:buNone/>
            </a:pPr>
            <a:r>
              <a:rPr lang="en-US" sz="1150" b="1" dirty="0">
                <a:solidFill>
                  <a:srgbClr val="1B2A49"/>
                </a:solidFill>
                <a:latin typeface="Meiryo UI" pitchFamily="34" charset="0"/>
                <a:ea typeface="Meiryo UI" pitchFamily="34" charset="-122"/>
                <a:cs typeface="Meiryo UI" pitchFamily="34" charset="-120"/>
              </a:rPr>
              <a:t>認証情報</a:t>
            </a:r>
            <a:endParaRPr lang="en-US" sz="1150" dirty="0"/>
          </a:p>
        </p:txBody>
      </p:sp>
      <p:sp>
        <p:nvSpPr>
          <p:cNvPr id="34" name="Text 27"/>
          <p:cNvSpPr txBox="1"/>
          <p:nvPr/>
        </p:nvSpPr>
        <p:spPr>
          <a:xfrm>
            <a:off x="3483864" y="5669280"/>
            <a:ext cx="2423160" cy="603504"/>
          </a:xfrm>
          <a:prstGeom prst="rect">
            <a:avLst/>
          </a:prstGeom>
          <a:noFill/>
          <a:ln/>
        </p:spPr>
        <p:txBody>
          <a:bodyPr wrap="square" lIns="508" tIns="508" rIns="508" bIns="508" rtlCol="0" anchor="t"/>
          <a:lstStyle/>
          <a:p>
            <a:pPr indent="0" marL="0">
              <a:buNone/>
            </a:pPr>
            <a:r>
              <a:rPr lang="en-US" sz="950" dirty="0">
                <a:solidFill>
                  <a:srgbClr val="2B2B2B"/>
                </a:solidFill>
                <a:latin typeface="Meiryo UI" pitchFamily="34" charset="0"/>
                <a:ea typeface="Meiryo UI" pitchFamily="34" charset="-122"/>
                <a:cs typeface="Meiryo UI" pitchFamily="34" charset="-120"/>
              </a:rPr>
              <a:t>PATは対象ベース・書き込み権限だけに絞る。フローのURLも秘密情報として扱う</a:t>
            </a:r>
            <a:endParaRPr lang="en-US" sz="950" dirty="0"/>
          </a:p>
        </p:txBody>
      </p:sp>
      <p:sp>
        <p:nvSpPr>
          <p:cNvPr id="35" name="Shape 28"/>
          <p:cNvSpPr/>
          <p:nvPr/>
        </p:nvSpPr>
        <p:spPr>
          <a:xfrm>
            <a:off x="6144768" y="5212080"/>
            <a:ext cx="2651760" cy="1097280"/>
          </a:xfrm>
          <a:prstGeom prst="roundRect">
            <a:avLst>
              <a:gd name="adj" fmla="val 5000"/>
            </a:avLst>
          </a:prstGeom>
          <a:solidFill>
            <a:srgbClr val="D9F2F1"/>
          </a:solidFill>
          <a:ln/>
        </p:spPr>
      </p:sp>
      <p:pic>
        <p:nvPicPr>
          <p:cNvPr id="36" name="Image 5" descr="preencoded.png">    </p:cNvPr>
          <p:cNvPicPr>
            <a:picLocks noChangeAspect="1"/>
          </p:cNvPicPr>
          <p:nvPr/>
        </p:nvPicPr>
        <p:blipFill>
          <a:blip r:embed="rId6"/>
          <a:stretch>
            <a:fillRect/>
          </a:stretch>
        </p:blipFill>
        <p:spPr>
          <a:xfrm>
            <a:off x="6281928" y="5321808"/>
            <a:ext cx="310896" cy="310896"/>
          </a:xfrm>
          <a:prstGeom prst="rect">
            <a:avLst/>
          </a:prstGeom>
        </p:spPr>
      </p:pic>
      <p:sp>
        <p:nvSpPr>
          <p:cNvPr id="37" name="Text 29"/>
          <p:cNvSpPr txBox="1"/>
          <p:nvPr/>
        </p:nvSpPr>
        <p:spPr>
          <a:xfrm>
            <a:off x="6675120" y="5303520"/>
            <a:ext cx="2057400" cy="347472"/>
          </a:xfrm>
          <a:prstGeom prst="rect">
            <a:avLst/>
          </a:prstGeom>
          <a:noFill/>
          <a:ln/>
        </p:spPr>
        <p:txBody>
          <a:bodyPr wrap="square" lIns="508" tIns="508" rIns="508" bIns="508" rtlCol="0" anchor="ctr"/>
          <a:lstStyle/>
          <a:p>
            <a:pPr indent="0" marL="0">
              <a:buNone/>
            </a:pPr>
            <a:r>
              <a:rPr lang="en-US" sz="1150" b="1" dirty="0">
                <a:solidFill>
                  <a:srgbClr val="1B2A49"/>
                </a:solidFill>
                <a:latin typeface="Meiryo UI" pitchFamily="34" charset="0"/>
                <a:ea typeface="Meiryo UI" pitchFamily="34" charset="-122"/>
                <a:cs typeface="Meiryo UI" pitchFamily="34" charset="-120"/>
              </a:rPr>
              <a:t>時間とエラー</a:t>
            </a:r>
            <a:endParaRPr lang="en-US" sz="1150" dirty="0"/>
          </a:p>
        </p:txBody>
      </p:sp>
      <p:sp>
        <p:nvSpPr>
          <p:cNvPr id="38" name="Text 30"/>
          <p:cNvSpPr txBox="1"/>
          <p:nvPr/>
        </p:nvSpPr>
        <p:spPr>
          <a:xfrm>
            <a:off x="6281928" y="5669280"/>
            <a:ext cx="2423160" cy="603504"/>
          </a:xfrm>
          <a:prstGeom prst="rect">
            <a:avLst/>
          </a:prstGeom>
          <a:noFill/>
          <a:ln/>
        </p:spPr>
        <p:txBody>
          <a:bodyPr wrap="square" lIns="508" tIns="508" rIns="508" bIns="508" rtlCol="0" anchor="t"/>
          <a:lstStyle/>
          <a:p>
            <a:pPr indent="0" marL="0">
              <a:buNone/>
            </a:pPr>
            <a:r>
              <a:rPr lang="en-US" sz="950" dirty="0">
                <a:solidFill>
                  <a:srgbClr val="2B2B2B"/>
                </a:solidFill>
                <a:latin typeface="Meiryo UI" pitchFamily="34" charset="0"/>
                <a:ea typeface="Meiryo UI" pitchFamily="34" charset="-122"/>
                <a:cs typeface="Meiryo UI" pitchFamily="34" charset="-120"/>
              </a:rPr>
              <a:t>30秒制限を避けるため非同期で処理。失敗時はTeamsに通知</a:t>
            </a:r>
            <a:endParaRPr lang="en-US" sz="950" dirty="0"/>
          </a:p>
        </p:txBody>
      </p:sp>
      <p:sp>
        <p:nvSpPr>
          <p:cNvPr id="39" name="Shape 31"/>
          <p:cNvSpPr/>
          <p:nvPr/>
        </p:nvSpPr>
        <p:spPr>
          <a:xfrm>
            <a:off x="8942832" y="5212080"/>
            <a:ext cx="2651760" cy="1097280"/>
          </a:xfrm>
          <a:prstGeom prst="roundRect">
            <a:avLst>
              <a:gd name="adj" fmla="val 5000"/>
            </a:avLst>
          </a:prstGeom>
          <a:solidFill>
            <a:srgbClr val="D9F2F1"/>
          </a:solidFill>
          <a:ln/>
        </p:spPr>
      </p:sp>
      <p:pic>
        <p:nvPicPr>
          <p:cNvPr id="40" name="Image 6" descr="preencoded.png">    </p:cNvPr>
          <p:cNvPicPr>
            <a:picLocks noChangeAspect="1"/>
          </p:cNvPicPr>
          <p:nvPr/>
        </p:nvPicPr>
        <p:blipFill>
          <a:blip r:embed="rId7"/>
          <a:stretch>
            <a:fillRect/>
          </a:stretch>
        </p:blipFill>
        <p:spPr>
          <a:xfrm>
            <a:off x="9079992" y="5321808"/>
            <a:ext cx="310896" cy="310896"/>
          </a:xfrm>
          <a:prstGeom prst="rect">
            <a:avLst/>
          </a:prstGeom>
        </p:spPr>
      </p:pic>
      <p:sp>
        <p:nvSpPr>
          <p:cNvPr id="41" name="Text 32"/>
          <p:cNvSpPr txBox="1"/>
          <p:nvPr/>
        </p:nvSpPr>
        <p:spPr>
          <a:xfrm>
            <a:off x="9473184" y="5303520"/>
            <a:ext cx="2057400" cy="347472"/>
          </a:xfrm>
          <a:prstGeom prst="rect">
            <a:avLst/>
          </a:prstGeom>
          <a:noFill/>
          <a:ln/>
        </p:spPr>
        <p:txBody>
          <a:bodyPr wrap="square" lIns="508" tIns="508" rIns="508" bIns="508" rtlCol="0" anchor="ctr"/>
          <a:lstStyle/>
          <a:p>
            <a:pPr indent="0" marL="0">
              <a:buNone/>
            </a:pPr>
            <a:r>
              <a:rPr lang="en-US" sz="1150" b="1" dirty="0">
                <a:solidFill>
                  <a:srgbClr val="1B2A49"/>
                </a:solidFill>
                <a:latin typeface="Meiryo UI" pitchFamily="34" charset="0"/>
                <a:ea typeface="Meiryo UI" pitchFamily="34" charset="-122"/>
                <a:cs typeface="Meiryo UI" pitchFamily="34" charset="-120"/>
              </a:rPr>
              <a:t>上限</a:t>
            </a:r>
            <a:endParaRPr lang="en-US" sz="1150" dirty="0"/>
          </a:p>
        </p:txBody>
      </p:sp>
      <p:sp>
        <p:nvSpPr>
          <p:cNvPr id="42" name="Text 33"/>
          <p:cNvSpPr txBox="1"/>
          <p:nvPr/>
        </p:nvSpPr>
        <p:spPr>
          <a:xfrm>
            <a:off x="9079992" y="5669280"/>
            <a:ext cx="2423160" cy="603504"/>
          </a:xfrm>
          <a:prstGeom prst="rect">
            <a:avLst/>
          </a:prstGeom>
          <a:noFill/>
          <a:ln/>
        </p:spPr>
        <p:txBody>
          <a:bodyPr wrap="square" lIns="508" tIns="508" rIns="508" bIns="508" rtlCol="0" anchor="t"/>
          <a:lstStyle/>
          <a:p>
            <a:pPr indent="0" marL="0">
              <a:buNone/>
            </a:pPr>
            <a:r>
              <a:rPr lang="en-US" sz="950" dirty="0">
                <a:solidFill>
                  <a:srgbClr val="2B2B2B"/>
                </a:solidFill>
                <a:latin typeface="Meiryo UI" pitchFamily="34" charset="0"/>
                <a:ea typeface="Meiryo UI" pitchFamily="34" charset="-122"/>
                <a:cs typeface="Meiryo UI" pitchFamily="34" charset="-120"/>
              </a:rPr>
              <a:t>AirtableのAPIは1ベースあたり毎秒5リクエストまで</a:t>
            </a:r>
            <a:endParaRPr lang="en-US" sz="9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548640"/>
          </a:xfrm>
          <a:prstGeom prst="rect">
            <a:avLst/>
          </a:prstGeom>
          <a:noFill/>
          <a:ln/>
        </p:spPr>
        <p:txBody>
          <a:bodyPr wrap="square" lIns="0" tIns="0" rIns="0" bIns="0" rtlCol="0" anchor="ctr"/>
          <a:lstStyle/>
          <a:p>
            <a:pPr indent="0" marL="0">
              <a:buNone/>
            </a:pPr>
            <a:r>
              <a:rPr lang="en-US" sz="2600" b="1" dirty="0">
                <a:solidFill>
                  <a:srgbClr val="1B2A49"/>
                </a:solidFill>
                <a:latin typeface="Meiryo UI" pitchFamily="34" charset="0"/>
                <a:ea typeface="Meiryo UI" pitchFamily="34" charset="-122"/>
                <a:cs typeface="Meiryo UI" pitchFamily="34" charset="-120"/>
              </a:rPr>
              <a:t>Airtable起点でエージェントを動かす方式の比較</a:t>
            </a:r>
            <a:endParaRPr lang="en-US" sz="2600" dirty="0"/>
          </a:p>
        </p:txBody>
      </p:sp>
      <p:sp>
        <p:nvSpPr>
          <p:cNvPr id="3" name="Text 1"/>
          <p:cNvSpPr txBox="1"/>
          <p:nvPr/>
        </p:nvSpPr>
        <p:spPr>
          <a:xfrm>
            <a:off x="548640" y="896112"/>
            <a:ext cx="11064240" cy="365760"/>
          </a:xfrm>
          <a:prstGeom prst="rect">
            <a:avLst/>
          </a:prstGeom>
          <a:noFill/>
          <a:ln/>
        </p:spPr>
        <p:txBody>
          <a:bodyPr wrap="square" lIns="0" tIns="0" rIns="0" bIns="0" rtlCol="0" anchor="ctr"/>
          <a:lstStyle/>
          <a:p>
            <a:pPr indent="0" marL="0">
              <a:buNone/>
            </a:pPr>
            <a:r>
              <a:rPr lang="en-US" sz="1400" dirty="0">
                <a:solidFill>
                  <a:srgbClr val="6B7280"/>
                </a:solidFill>
                <a:latin typeface="Meiryo UI" pitchFamily="34" charset="0"/>
                <a:ea typeface="Meiryo UI" pitchFamily="34" charset="-122"/>
                <a:cs typeface="Meiryo UI" pitchFamily="34" charset="-120"/>
              </a:rPr>
              <a:t>起動のしかた（定期確認か、即時送信か）と、エージェントの呼び方の組み合わせで7つの方式がある</a:t>
            </a:r>
            <a:endParaRPr lang="en-US" sz="1400" dirty="0"/>
          </a:p>
        </p:txBody>
      </p:sp>
      <p:sp>
        <p:nvSpPr>
          <p:cNvPr id="4" name="Text 2"/>
          <p:cNvSpPr txBox="1"/>
          <p:nvPr/>
        </p:nvSpPr>
        <p:spPr>
          <a:xfrm>
            <a:off x="7498080" y="91440"/>
            <a:ext cx="4114800" cy="22860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5. 個別論点</a:t>
            </a:r>
            <a:endParaRPr lang="en-US" sz="900" dirty="0"/>
          </a:p>
        </p:txBody>
      </p:sp>
      <p:sp>
        <p:nvSpPr>
          <p:cNvPr id="5" name="Text 3"/>
          <p:cNvSpPr txBox="1"/>
          <p:nvPr/>
        </p:nvSpPr>
        <p:spPr>
          <a:xfrm>
            <a:off x="11247120" y="6446520"/>
            <a:ext cx="457200" cy="27432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35</a:t>
            </a:r>
            <a:endParaRPr lang="en-US" sz="900" dirty="0"/>
          </a:p>
        </p:txBody>
      </p:sp>
      <p:sp>
        <p:nvSpPr>
          <p:cNvPr id="6" name="Shape 4"/>
          <p:cNvSpPr/>
          <p:nvPr/>
        </p:nvSpPr>
        <p:spPr>
          <a:xfrm>
            <a:off x="548640" y="1371600"/>
            <a:ext cx="2331720" cy="329184"/>
          </a:xfrm>
          <a:prstGeom prst="roundRect">
            <a:avLst>
              <a:gd name="adj" fmla="val 11111"/>
            </a:avLst>
          </a:prstGeom>
          <a:solidFill>
            <a:srgbClr val="1B2A49"/>
          </a:solidFill>
          <a:ln/>
        </p:spPr>
      </p:sp>
      <p:sp>
        <p:nvSpPr>
          <p:cNvPr id="7" name="Text 5"/>
          <p:cNvSpPr txBox="1"/>
          <p:nvPr/>
        </p:nvSpPr>
        <p:spPr>
          <a:xfrm>
            <a:off x="548640" y="1371600"/>
            <a:ext cx="2331720" cy="329184"/>
          </a:xfrm>
          <a:prstGeom prst="rect">
            <a:avLst/>
          </a:prstGeom>
          <a:noFill/>
          <a:ln/>
        </p:spPr>
        <p:txBody>
          <a:bodyPr wrap="square" lIns="762" tIns="762" rIns="762" bIns="762" rtlCol="0" anchor="ctr"/>
          <a:lstStyle/>
          <a:p>
            <a:pPr algn="ctr" indent="0" marL="0">
              <a:buNone/>
            </a:pPr>
            <a:r>
              <a:rPr lang="en-US" sz="1050" b="1" dirty="0">
                <a:solidFill>
                  <a:srgbClr val="FFFFFF"/>
                </a:solidFill>
                <a:latin typeface="Meiryo UI" pitchFamily="34" charset="0"/>
                <a:ea typeface="Meiryo UI" pitchFamily="34" charset="-122"/>
                <a:cs typeface="Meiryo UI" pitchFamily="34" charset="-120"/>
              </a:rPr>
              <a:t>方式</a:t>
            </a:r>
            <a:endParaRPr lang="en-US" sz="1050" dirty="0"/>
          </a:p>
        </p:txBody>
      </p:sp>
      <p:sp>
        <p:nvSpPr>
          <p:cNvPr id="8" name="Shape 6"/>
          <p:cNvSpPr/>
          <p:nvPr/>
        </p:nvSpPr>
        <p:spPr>
          <a:xfrm>
            <a:off x="2926080" y="1371600"/>
            <a:ext cx="3977640" cy="329184"/>
          </a:xfrm>
          <a:prstGeom prst="roundRect">
            <a:avLst>
              <a:gd name="adj" fmla="val 11111"/>
            </a:avLst>
          </a:prstGeom>
          <a:solidFill>
            <a:srgbClr val="1B2A49"/>
          </a:solidFill>
          <a:ln/>
        </p:spPr>
      </p:sp>
      <p:sp>
        <p:nvSpPr>
          <p:cNvPr id="9" name="Text 7"/>
          <p:cNvSpPr txBox="1"/>
          <p:nvPr/>
        </p:nvSpPr>
        <p:spPr>
          <a:xfrm>
            <a:off x="2926080" y="1371600"/>
            <a:ext cx="3977640" cy="329184"/>
          </a:xfrm>
          <a:prstGeom prst="rect">
            <a:avLst/>
          </a:prstGeom>
          <a:noFill/>
          <a:ln/>
        </p:spPr>
        <p:txBody>
          <a:bodyPr wrap="square" lIns="762" tIns="762" rIns="762" bIns="762" rtlCol="0" anchor="ctr"/>
          <a:lstStyle/>
          <a:p>
            <a:pPr algn="ctr" indent="0" marL="0">
              <a:buNone/>
            </a:pPr>
            <a:r>
              <a:rPr lang="en-US" sz="1050" b="1" dirty="0">
                <a:solidFill>
                  <a:srgbClr val="FFFFFF"/>
                </a:solidFill>
                <a:latin typeface="Meiryo UI" pitchFamily="34" charset="0"/>
                <a:ea typeface="Meiryo UI" pitchFamily="34" charset="-122"/>
                <a:cs typeface="Meiryo UI" pitchFamily="34" charset="-120"/>
              </a:rPr>
              <a:t>流れ</a:t>
            </a:r>
            <a:endParaRPr lang="en-US" sz="1050" dirty="0"/>
          </a:p>
        </p:txBody>
      </p:sp>
      <p:sp>
        <p:nvSpPr>
          <p:cNvPr id="10" name="Shape 8"/>
          <p:cNvSpPr/>
          <p:nvPr/>
        </p:nvSpPr>
        <p:spPr>
          <a:xfrm>
            <a:off x="6949440" y="1371600"/>
            <a:ext cx="1417320" cy="329184"/>
          </a:xfrm>
          <a:prstGeom prst="roundRect">
            <a:avLst>
              <a:gd name="adj" fmla="val 11111"/>
            </a:avLst>
          </a:prstGeom>
          <a:solidFill>
            <a:srgbClr val="1B2A49"/>
          </a:solidFill>
          <a:ln/>
        </p:spPr>
      </p:sp>
      <p:sp>
        <p:nvSpPr>
          <p:cNvPr id="11" name="Text 9"/>
          <p:cNvSpPr txBox="1"/>
          <p:nvPr/>
        </p:nvSpPr>
        <p:spPr>
          <a:xfrm>
            <a:off x="6949440" y="1371600"/>
            <a:ext cx="1417320" cy="329184"/>
          </a:xfrm>
          <a:prstGeom prst="rect">
            <a:avLst/>
          </a:prstGeom>
          <a:noFill/>
          <a:ln/>
        </p:spPr>
        <p:txBody>
          <a:bodyPr wrap="square" lIns="762" tIns="762" rIns="762" bIns="762" rtlCol="0" anchor="ctr"/>
          <a:lstStyle/>
          <a:p>
            <a:pPr algn="ctr" indent="0" marL="0">
              <a:buNone/>
            </a:pPr>
            <a:r>
              <a:rPr lang="en-US" sz="1050" b="1" dirty="0">
                <a:solidFill>
                  <a:srgbClr val="FFFFFF"/>
                </a:solidFill>
                <a:latin typeface="Meiryo UI" pitchFamily="34" charset="0"/>
                <a:ea typeface="Meiryo UI" pitchFamily="34" charset="-122"/>
                <a:cs typeface="Meiryo UI" pitchFamily="34" charset="-120"/>
              </a:rPr>
              <a:t>即時性</a:t>
            </a:r>
            <a:endParaRPr lang="en-US" sz="1050" dirty="0"/>
          </a:p>
        </p:txBody>
      </p:sp>
      <p:sp>
        <p:nvSpPr>
          <p:cNvPr id="12" name="Shape 10"/>
          <p:cNvSpPr/>
          <p:nvPr/>
        </p:nvSpPr>
        <p:spPr>
          <a:xfrm>
            <a:off x="8412480" y="1371600"/>
            <a:ext cx="1005840" cy="329184"/>
          </a:xfrm>
          <a:prstGeom prst="roundRect">
            <a:avLst>
              <a:gd name="adj" fmla="val 11111"/>
            </a:avLst>
          </a:prstGeom>
          <a:solidFill>
            <a:srgbClr val="1B2A49"/>
          </a:solidFill>
          <a:ln/>
        </p:spPr>
      </p:sp>
      <p:sp>
        <p:nvSpPr>
          <p:cNvPr id="13" name="Text 11"/>
          <p:cNvSpPr txBox="1"/>
          <p:nvPr/>
        </p:nvSpPr>
        <p:spPr>
          <a:xfrm>
            <a:off x="8412480" y="1371600"/>
            <a:ext cx="1005840" cy="329184"/>
          </a:xfrm>
          <a:prstGeom prst="rect">
            <a:avLst/>
          </a:prstGeom>
          <a:noFill/>
          <a:ln/>
        </p:spPr>
        <p:txBody>
          <a:bodyPr wrap="square" lIns="762" tIns="762" rIns="762" bIns="762" rtlCol="0" anchor="ctr"/>
          <a:lstStyle/>
          <a:p>
            <a:pPr algn="ctr" indent="0" marL="0">
              <a:buNone/>
            </a:pPr>
            <a:r>
              <a:rPr lang="en-US" sz="1050" b="1" dirty="0">
                <a:solidFill>
                  <a:srgbClr val="FFFFFF"/>
                </a:solidFill>
                <a:latin typeface="Meiryo UI" pitchFamily="34" charset="0"/>
                <a:ea typeface="Meiryo UI" pitchFamily="34" charset="-122"/>
                <a:cs typeface="Meiryo UI" pitchFamily="34" charset="-120"/>
              </a:rPr>
              <a:t>難易度</a:t>
            </a:r>
            <a:endParaRPr lang="en-US" sz="1050" dirty="0"/>
          </a:p>
        </p:txBody>
      </p:sp>
      <p:sp>
        <p:nvSpPr>
          <p:cNvPr id="14" name="Shape 12"/>
          <p:cNvSpPr/>
          <p:nvPr/>
        </p:nvSpPr>
        <p:spPr>
          <a:xfrm>
            <a:off x="9464040" y="1371600"/>
            <a:ext cx="2148840" cy="329184"/>
          </a:xfrm>
          <a:prstGeom prst="roundRect">
            <a:avLst>
              <a:gd name="adj" fmla="val 11111"/>
            </a:avLst>
          </a:prstGeom>
          <a:solidFill>
            <a:srgbClr val="1B2A49"/>
          </a:solidFill>
          <a:ln/>
        </p:spPr>
      </p:sp>
      <p:sp>
        <p:nvSpPr>
          <p:cNvPr id="15" name="Text 13"/>
          <p:cNvSpPr txBox="1"/>
          <p:nvPr/>
        </p:nvSpPr>
        <p:spPr>
          <a:xfrm>
            <a:off x="9464040" y="1371600"/>
            <a:ext cx="2148840" cy="329184"/>
          </a:xfrm>
          <a:prstGeom prst="rect">
            <a:avLst/>
          </a:prstGeom>
          <a:noFill/>
          <a:ln/>
        </p:spPr>
        <p:txBody>
          <a:bodyPr wrap="square" lIns="762" tIns="762" rIns="762" bIns="762" rtlCol="0" anchor="ctr"/>
          <a:lstStyle/>
          <a:p>
            <a:pPr algn="ctr" indent="0" marL="0">
              <a:buNone/>
            </a:pPr>
            <a:r>
              <a:rPr lang="en-US" sz="1050" b="1" dirty="0">
                <a:solidFill>
                  <a:srgbClr val="FFFFFF"/>
                </a:solidFill>
                <a:latin typeface="Meiryo UI" pitchFamily="34" charset="0"/>
                <a:ea typeface="Meiryo UI" pitchFamily="34" charset="-122"/>
                <a:cs typeface="Meiryo UI" pitchFamily="34" charset="-120"/>
              </a:rPr>
              <a:t>特徴・留意点</a:t>
            </a:r>
            <a:endParaRPr lang="en-US" sz="1050" dirty="0"/>
          </a:p>
        </p:txBody>
      </p:sp>
      <p:sp>
        <p:nvSpPr>
          <p:cNvPr id="16" name="Shape 14"/>
          <p:cNvSpPr/>
          <p:nvPr/>
        </p:nvSpPr>
        <p:spPr>
          <a:xfrm>
            <a:off x="548640" y="1783080"/>
            <a:ext cx="11064240" cy="585216"/>
          </a:xfrm>
          <a:prstGeom prst="roundRect">
            <a:avLst>
              <a:gd name="adj" fmla="val 7813"/>
            </a:avLst>
          </a:prstGeom>
          <a:solidFill>
            <a:srgbClr val="F3F5F8"/>
          </a:solidFill>
          <a:ln/>
        </p:spPr>
      </p:sp>
      <p:sp>
        <p:nvSpPr>
          <p:cNvPr id="17" name="Shape 15"/>
          <p:cNvSpPr/>
          <p:nvPr/>
        </p:nvSpPr>
        <p:spPr>
          <a:xfrm>
            <a:off x="640080" y="1892808"/>
            <a:ext cx="365760" cy="365760"/>
          </a:xfrm>
          <a:prstGeom prst="ellipse">
            <a:avLst/>
          </a:prstGeom>
          <a:solidFill>
            <a:srgbClr val="0E9F9A"/>
          </a:solidFill>
          <a:ln/>
        </p:spPr>
      </p:sp>
      <p:sp>
        <p:nvSpPr>
          <p:cNvPr id="18" name="Text 16"/>
          <p:cNvSpPr txBox="1"/>
          <p:nvPr/>
        </p:nvSpPr>
        <p:spPr>
          <a:xfrm>
            <a:off x="640080" y="1892808"/>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O1</a:t>
            </a:r>
            <a:endParaRPr lang="en-US" sz="1100" dirty="0"/>
          </a:p>
        </p:txBody>
      </p:sp>
      <p:sp>
        <p:nvSpPr>
          <p:cNvPr id="19" name="Text 17"/>
          <p:cNvSpPr txBox="1"/>
          <p:nvPr/>
        </p:nvSpPr>
        <p:spPr>
          <a:xfrm>
            <a:off x="1097280" y="1783080"/>
            <a:ext cx="1783080" cy="585216"/>
          </a:xfrm>
          <a:prstGeom prst="rect">
            <a:avLst/>
          </a:prstGeom>
          <a:noFill/>
          <a:ln/>
        </p:spPr>
        <p:txBody>
          <a:bodyPr wrap="square" lIns="508" tIns="508" rIns="508" bIns="508" rtlCol="0" anchor="ctr"/>
          <a:lstStyle/>
          <a:p>
            <a:pPr indent="0" marL="0">
              <a:buNone/>
            </a:pPr>
            <a:r>
              <a:rPr lang="en-US" sz="1050" b="1" dirty="0">
                <a:solidFill>
                  <a:srgbClr val="1B2A49"/>
                </a:solidFill>
                <a:latin typeface="Meiryo UI" pitchFamily="34" charset="0"/>
                <a:ea typeface="Meiryo UI" pitchFamily="34" charset="-122"/>
                <a:cs typeface="Meiryo UI" pitchFamily="34" charset="-120"/>
              </a:rPr>
              <a:t>定期確認（ポーリング）</a:t>
            </a:r>
            <a:endParaRPr lang="en-US" sz="1050" dirty="0"/>
          </a:p>
        </p:txBody>
      </p:sp>
      <p:pic>
        <p:nvPicPr>
          <p:cNvPr id="20" name="Image 0" descr="preencoded.png">    </p:cNvPr>
          <p:cNvPicPr>
            <a:picLocks noChangeAspect="1"/>
          </p:cNvPicPr>
          <p:nvPr/>
        </p:nvPicPr>
        <p:blipFill>
          <a:blip r:embed="rId1"/>
          <a:stretch>
            <a:fillRect/>
          </a:stretch>
        </p:blipFill>
        <p:spPr>
          <a:xfrm>
            <a:off x="3291840" y="1828800"/>
            <a:ext cx="256032" cy="256032"/>
          </a:xfrm>
          <a:prstGeom prst="rect">
            <a:avLst/>
          </a:prstGeom>
        </p:spPr>
      </p:pic>
      <p:sp>
        <p:nvSpPr>
          <p:cNvPr id="21" name="Text 18"/>
          <p:cNvSpPr txBox="1"/>
          <p:nvPr/>
        </p:nvSpPr>
        <p:spPr>
          <a:xfrm>
            <a:off x="2971800" y="2112264"/>
            <a:ext cx="896112" cy="256032"/>
          </a:xfrm>
          <a:prstGeom prst="rect">
            <a:avLst/>
          </a:prstGeom>
          <a:noFill/>
          <a:ln/>
        </p:spPr>
        <p:txBody>
          <a:bodyPr wrap="square" lIns="0" tIns="0" rIns="0" bIns="0" rtlCol="0" anchor="t"/>
          <a:lstStyle/>
          <a:p>
            <a:pPr algn="ctr" indent="0" marL="0">
              <a:buNone/>
            </a:pPr>
            <a:r>
              <a:rPr lang="en-US" sz="750" dirty="0">
                <a:solidFill>
                  <a:srgbClr val="6B7280"/>
                </a:solidFill>
                <a:latin typeface="Meiryo UI" pitchFamily="34" charset="0"/>
                <a:ea typeface="Meiryo UI" pitchFamily="34" charset="-122"/>
                <a:cs typeface="Meiryo UI" pitchFamily="34" charset="-120"/>
              </a:rPr>
              <a:t>定期実行</a:t>
            </a:r>
            <a:endParaRPr lang="en-US" sz="750" dirty="0"/>
          </a:p>
        </p:txBody>
      </p:sp>
      <p:sp>
        <p:nvSpPr>
          <p:cNvPr id="22" name="Shape 19"/>
          <p:cNvSpPr/>
          <p:nvPr/>
        </p:nvSpPr>
        <p:spPr>
          <a:xfrm>
            <a:off x="3621024" y="1956816"/>
            <a:ext cx="585216" cy="0"/>
          </a:xfrm>
          <a:prstGeom prst="line">
            <a:avLst/>
          </a:prstGeom>
          <a:noFill/>
          <a:ln w="15875">
            <a:solidFill>
              <a:srgbClr val="9AA5B4"/>
            </a:solidFill>
            <a:prstDash val="solid"/>
            <a:tailEnd type="triangle"/>
          </a:ln>
        </p:spPr>
      </p:sp>
      <p:pic>
        <p:nvPicPr>
          <p:cNvPr id="23" name="Image 1" descr="preencoded.png">    </p:cNvPr>
          <p:cNvPicPr>
            <a:picLocks noChangeAspect="1"/>
          </p:cNvPicPr>
          <p:nvPr/>
        </p:nvPicPr>
        <p:blipFill>
          <a:blip r:embed="rId2"/>
          <a:stretch>
            <a:fillRect/>
          </a:stretch>
        </p:blipFill>
        <p:spPr>
          <a:xfrm>
            <a:off x="4279392" y="1828800"/>
            <a:ext cx="256032" cy="256032"/>
          </a:xfrm>
          <a:prstGeom prst="rect">
            <a:avLst/>
          </a:prstGeom>
        </p:spPr>
      </p:pic>
      <p:sp>
        <p:nvSpPr>
          <p:cNvPr id="24" name="Text 20"/>
          <p:cNvSpPr txBox="1"/>
          <p:nvPr/>
        </p:nvSpPr>
        <p:spPr>
          <a:xfrm>
            <a:off x="3959352" y="2112264"/>
            <a:ext cx="896112" cy="256032"/>
          </a:xfrm>
          <a:prstGeom prst="rect">
            <a:avLst/>
          </a:prstGeom>
          <a:noFill/>
          <a:ln/>
        </p:spPr>
        <p:txBody>
          <a:bodyPr wrap="square" lIns="0" tIns="0" rIns="0" bIns="0" rtlCol="0" anchor="t"/>
          <a:lstStyle/>
          <a:p>
            <a:pPr algn="ctr" indent="0" marL="0">
              <a:buNone/>
            </a:pPr>
            <a:r>
              <a:rPr lang="en-US" sz="750" dirty="0">
                <a:solidFill>
                  <a:srgbClr val="6B7280"/>
                </a:solidFill>
                <a:latin typeface="Meiryo UI" pitchFamily="34" charset="0"/>
                <a:ea typeface="Meiryo UI" pitchFamily="34" charset="-122"/>
                <a:cs typeface="Meiryo UI" pitchFamily="34" charset="-120"/>
              </a:rPr>
              <a:t>待ちを取得</a:t>
            </a:r>
            <a:endParaRPr lang="en-US" sz="750" dirty="0"/>
          </a:p>
        </p:txBody>
      </p:sp>
      <p:sp>
        <p:nvSpPr>
          <p:cNvPr id="25" name="Shape 21"/>
          <p:cNvSpPr/>
          <p:nvPr/>
        </p:nvSpPr>
        <p:spPr>
          <a:xfrm>
            <a:off x="4608576" y="1956816"/>
            <a:ext cx="585216" cy="0"/>
          </a:xfrm>
          <a:prstGeom prst="line">
            <a:avLst/>
          </a:prstGeom>
          <a:noFill/>
          <a:ln w="15875">
            <a:solidFill>
              <a:srgbClr val="9AA5B4"/>
            </a:solidFill>
            <a:prstDash val="solid"/>
            <a:tailEnd type="triangle"/>
          </a:ln>
        </p:spPr>
      </p:sp>
      <p:pic>
        <p:nvPicPr>
          <p:cNvPr id="26" name="Image 2" descr="preencoded.png">    </p:cNvPr>
          <p:cNvPicPr>
            <a:picLocks noChangeAspect="1"/>
          </p:cNvPicPr>
          <p:nvPr/>
        </p:nvPicPr>
        <p:blipFill>
          <a:blip r:embed="rId3"/>
          <a:stretch>
            <a:fillRect/>
          </a:stretch>
        </p:blipFill>
        <p:spPr>
          <a:xfrm>
            <a:off x="5266944" y="1828800"/>
            <a:ext cx="256032" cy="256032"/>
          </a:xfrm>
          <a:prstGeom prst="rect">
            <a:avLst/>
          </a:prstGeom>
        </p:spPr>
      </p:pic>
      <p:sp>
        <p:nvSpPr>
          <p:cNvPr id="27" name="Text 22"/>
          <p:cNvSpPr txBox="1"/>
          <p:nvPr/>
        </p:nvSpPr>
        <p:spPr>
          <a:xfrm>
            <a:off x="4946904" y="2112264"/>
            <a:ext cx="896112" cy="256032"/>
          </a:xfrm>
          <a:prstGeom prst="rect">
            <a:avLst/>
          </a:prstGeom>
          <a:noFill/>
          <a:ln/>
        </p:spPr>
        <p:txBody>
          <a:bodyPr wrap="square" lIns="0" tIns="0" rIns="0" bIns="0" rtlCol="0" anchor="t"/>
          <a:lstStyle/>
          <a:p>
            <a:pPr algn="ctr" indent="0" marL="0">
              <a:buNone/>
            </a:pPr>
            <a:r>
              <a:rPr lang="en-US" sz="750" dirty="0">
                <a:solidFill>
                  <a:srgbClr val="6B7280"/>
                </a:solidFill>
                <a:latin typeface="Meiryo UI" pitchFamily="34" charset="0"/>
                <a:ea typeface="Meiryo UI" pitchFamily="34" charset="-122"/>
                <a:cs typeface="Meiryo UI" pitchFamily="34" charset="-120"/>
              </a:rPr>
              <a:t>エージェント</a:t>
            </a:r>
            <a:endParaRPr lang="en-US" sz="750" dirty="0"/>
          </a:p>
        </p:txBody>
      </p:sp>
      <p:sp>
        <p:nvSpPr>
          <p:cNvPr id="28" name="Shape 23"/>
          <p:cNvSpPr/>
          <p:nvPr/>
        </p:nvSpPr>
        <p:spPr>
          <a:xfrm>
            <a:off x="5596128" y="1956816"/>
            <a:ext cx="585216" cy="0"/>
          </a:xfrm>
          <a:prstGeom prst="line">
            <a:avLst/>
          </a:prstGeom>
          <a:noFill/>
          <a:ln w="15875">
            <a:solidFill>
              <a:srgbClr val="9AA5B4"/>
            </a:solidFill>
            <a:prstDash val="solid"/>
            <a:tailEnd type="triangle"/>
          </a:ln>
        </p:spPr>
      </p:sp>
      <p:pic>
        <p:nvPicPr>
          <p:cNvPr id="29" name="Image 3" descr="preencoded.png">    </p:cNvPr>
          <p:cNvPicPr>
            <a:picLocks noChangeAspect="1"/>
          </p:cNvPicPr>
          <p:nvPr/>
        </p:nvPicPr>
        <p:blipFill>
          <a:blip r:embed="rId4"/>
          <a:stretch>
            <a:fillRect/>
          </a:stretch>
        </p:blipFill>
        <p:spPr>
          <a:xfrm>
            <a:off x="6254496" y="1828800"/>
            <a:ext cx="256032" cy="256032"/>
          </a:xfrm>
          <a:prstGeom prst="rect">
            <a:avLst/>
          </a:prstGeom>
        </p:spPr>
      </p:pic>
      <p:sp>
        <p:nvSpPr>
          <p:cNvPr id="30" name="Text 24"/>
          <p:cNvSpPr txBox="1"/>
          <p:nvPr/>
        </p:nvSpPr>
        <p:spPr>
          <a:xfrm>
            <a:off x="5934456" y="2112264"/>
            <a:ext cx="896112" cy="256032"/>
          </a:xfrm>
          <a:prstGeom prst="rect">
            <a:avLst/>
          </a:prstGeom>
          <a:noFill/>
          <a:ln/>
        </p:spPr>
        <p:txBody>
          <a:bodyPr wrap="square" lIns="0" tIns="0" rIns="0" bIns="0" rtlCol="0" anchor="t"/>
          <a:lstStyle/>
          <a:p>
            <a:pPr algn="ctr" indent="0" marL="0">
              <a:buNone/>
            </a:pPr>
            <a:r>
              <a:rPr lang="en-US" sz="750" dirty="0">
                <a:solidFill>
                  <a:srgbClr val="6B7280"/>
                </a:solidFill>
                <a:latin typeface="Meiryo UI" pitchFamily="34" charset="0"/>
                <a:ea typeface="Meiryo UI" pitchFamily="34" charset="-122"/>
                <a:cs typeface="Meiryo UI" pitchFamily="34" charset="-120"/>
              </a:rPr>
              <a:t>書き戻し</a:t>
            </a:r>
            <a:endParaRPr lang="en-US" sz="750" dirty="0"/>
          </a:p>
        </p:txBody>
      </p:sp>
      <p:sp>
        <p:nvSpPr>
          <p:cNvPr id="31" name="Text 25"/>
          <p:cNvSpPr txBox="1"/>
          <p:nvPr/>
        </p:nvSpPr>
        <p:spPr>
          <a:xfrm>
            <a:off x="6949440" y="1783080"/>
            <a:ext cx="1417320" cy="585216"/>
          </a:xfrm>
          <a:prstGeom prst="rect">
            <a:avLst/>
          </a:prstGeom>
          <a:noFill/>
          <a:ln/>
        </p:spPr>
        <p:txBody>
          <a:bodyPr wrap="square" lIns="508" tIns="508" rIns="508" bIns="508" rtlCol="0" anchor="ctr"/>
          <a:lstStyle/>
          <a:p>
            <a:pPr algn="ctr" indent="0" marL="0">
              <a:buNone/>
            </a:pPr>
            <a:r>
              <a:rPr lang="en-US" sz="950" dirty="0">
                <a:solidFill>
                  <a:srgbClr val="2B2B2B"/>
                </a:solidFill>
                <a:latin typeface="Meiryo UI" pitchFamily="34" charset="0"/>
                <a:ea typeface="Meiryo UI" pitchFamily="34" charset="-122"/>
                <a:cs typeface="Meiryo UI" pitchFamily="34" charset="-120"/>
              </a:rPr>
              <a:t>数分（実行間隔による）</a:t>
            </a:r>
            <a:endParaRPr lang="en-US" sz="950" dirty="0"/>
          </a:p>
        </p:txBody>
      </p:sp>
      <p:sp>
        <p:nvSpPr>
          <p:cNvPr id="32" name="Text 26"/>
          <p:cNvSpPr txBox="1"/>
          <p:nvPr/>
        </p:nvSpPr>
        <p:spPr>
          <a:xfrm>
            <a:off x="8412480" y="1783080"/>
            <a:ext cx="1005840" cy="585216"/>
          </a:xfrm>
          <a:prstGeom prst="rect">
            <a:avLst/>
          </a:prstGeom>
          <a:noFill/>
          <a:ln/>
        </p:spPr>
        <p:txBody>
          <a:bodyPr wrap="square" lIns="508" tIns="508" rIns="508" bIns="508" rtlCol="0" anchor="ctr"/>
          <a:lstStyle/>
          <a:p>
            <a:pPr algn="ctr" indent="0" marL="0">
              <a:buNone/>
            </a:pPr>
            <a:r>
              <a:rPr lang="en-US" sz="1000" b="1" dirty="0">
                <a:solidFill>
                  <a:srgbClr val="E8912D"/>
                </a:solidFill>
                <a:latin typeface="Meiryo UI" pitchFamily="34" charset="0"/>
                <a:ea typeface="Meiryo UI" pitchFamily="34" charset="-122"/>
                <a:cs typeface="Meiryo UI" pitchFamily="34" charset="-120"/>
              </a:rPr>
              <a:t>★★☆☆☆</a:t>
            </a:r>
            <a:endParaRPr lang="en-US" sz="1000" dirty="0"/>
          </a:p>
        </p:txBody>
      </p:sp>
      <p:sp>
        <p:nvSpPr>
          <p:cNvPr id="33" name="Text 27"/>
          <p:cNvSpPr txBox="1"/>
          <p:nvPr/>
        </p:nvSpPr>
        <p:spPr>
          <a:xfrm>
            <a:off x="9509760" y="1783080"/>
            <a:ext cx="2057400" cy="585216"/>
          </a:xfrm>
          <a:prstGeom prst="rect">
            <a:avLst/>
          </a:prstGeom>
          <a:noFill/>
          <a:ln/>
        </p:spPr>
        <p:txBody>
          <a:bodyPr wrap="square" lIns="508" tIns="508" rIns="508" bIns="508" rtlCol="0" anchor="ctr"/>
          <a:lstStyle/>
          <a:p>
            <a:pPr indent="0" marL="0">
              <a:buNone/>
            </a:pPr>
            <a:r>
              <a:rPr lang="en-US" sz="900" dirty="0">
                <a:solidFill>
                  <a:srgbClr val="2B2B2B"/>
                </a:solidFill>
                <a:latin typeface="Meiryo UI" pitchFamily="34" charset="0"/>
                <a:ea typeface="Meiryo UI" pitchFamily="34" charset="-122"/>
                <a:cs typeface="Meiryo UI" pitchFamily="34" charset="-120"/>
              </a:rPr>
              <a:t>外部に受け口を公開しないため安全で壊れにくい。即時性は低い</a:t>
            </a:r>
            <a:endParaRPr lang="en-US" sz="900" dirty="0"/>
          </a:p>
        </p:txBody>
      </p:sp>
      <p:sp>
        <p:nvSpPr>
          <p:cNvPr id="34" name="Shape 28"/>
          <p:cNvSpPr/>
          <p:nvPr/>
        </p:nvSpPr>
        <p:spPr>
          <a:xfrm>
            <a:off x="548640" y="2423160"/>
            <a:ext cx="11064240" cy="585216"/>
          </a:xfrm>
          <a:prstGeom prst="roundRect">
            <a:avLst>
              <a:gd name="adj" fmla="val 7813"/>
            </a:avLst>
          </a:prstGeom>
          <a:solidFill>
            <a:srgbClr val="FFFFFF"/>
          </a:solidFill>
          <a:ln/>
        </p:spPr>
      </p:sp>
      <p:sp>
        <p:nvSpPr>
          <p:cNvPr id="35" name="Shape 29"/>
          <p:cNvSpPr/>
          <p:nvPr/>
        </p:nvSpPr>
        <p:spPr>
          <a:xfrm>
            <a:off x="640080" y="2532888"/>
            <a:ext cx="365760" cy="365760"/>
          </a:xfrm>
          <a:prstGeom prst="ellipse">
            <a:avLst/>
          </a:prstGeom>
          <a:solidFill>
            <a:srgbClr val="0E9F9A"/>
          </a:solidFill>
          <a:ln/>
        </p:spPr>
      </p:sp>
      <p:sp>
        <p:nvSpPr>
          <p:cNvPr id="36" name="Text 30"/>
          <p:cNvSpPr txBox="1"/>
          <p:nvPr/>
        </p:nvSpPr>
        <p:spPr>
          <a:xfrm>
            <a:off x="640080" y="2532888"/>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O2</a:t>
            </a:r>
            <a:endParaRPr lang="en-US" sz="1100" dirty="0"/>
          </a:p>
        </p:txBody>
      </p:sp>
      <p:sp>
        <p:nvSpPr>
          <p:cNvPr id="37" name="Text 31"/>
          <p:cNvSpPr txBox="1"/>
          <p:nvPr/>
        </p:nvSpPr>
        <p:spPr>
          <a:xfrm>
            <a:off x="1097280" y="2423160"/>
            <a:ext cx="1783080" cy="585216"/>
          </a:xfrm>
          <a:prstGeom prst="rect">
            <a:avLst/>
          </a:prstGeom>
          <a:noFill/>
          <a:ln/>
        </p:spPr>
        <p:txBody>
          <a:bodyPr wrap="square" lIns="508" tIns="508" rIns="508" bIns="508" rtlCol="0" anchor="ctr"/>
          <a:lstStyle/>
          <a:p>
            <a:pPr indent="0" marL="0">
              <a:buNone/>
            </a:pPr>
            <a:r>
              <a:rPr lang="en-US" sz="1050" b="1" dirty="0">
                <a:solidFill>
                  <a:srgbClr val="1B2A49"/>
                </a:solidFill>
                <a:latin typeface="Meiryo UI" pitchFamily="34" charset="0"/>
                <a:ea typeface="Meiryo UI" pitchFamily="34" charset="-122"/>
                <a:cs typeface="Meiryo UI" pitchFamily="34" charset="-120"/>
              </a:rPr>
              <a:t>スクリプトでフローを起動</a:t>
            </a:r>
            <a:endParaRPr lang="en-US" sz="1050" dirty="0"/>
          </a:p>
        </p:txBody>
      </p:sp>
      <p:pic>
        <p:nvPicPr>
          <p:cNvPr id="38" name="Image 4" descr="preencoded.png">    </p:cNvPr>
          <p:cNvPicPr>
            <a:picLocks noChangeAspect="1"/>
          </p:cNvPicPr>
          <p:nvPr/>
        </p:nvPicPr>
        <p:blipFill>
          <a:blip r:embed="rId5"/>
          <a:stretch>
            <a:fillRect/>
          </a:stretch>
        </p:blipFill>
        <p:spPr>
          <a:xfrm>
            <a:off x="3291840" y="2468880"/>
            <a:ext cx="256032" cy="256032"/>
          </a:xfrm>
          <a:prstGeom prst="rect">
            <a:avLst/>
          </a:prstGeom>
        </p:spPr>
      </p:pic>
      <p:sp>
        <p:nvSpPr>
          <p:cNvPr id="39" name="Text 32"/>
          <p:cNvSpPr txBox="1"/>
          <p:nvPr/>
        </p:nvSpPr>
        <p:spPr>
          <a:xfrm>
            <a:off x="2971800" y="2752344"/>
            <a:ext cx="896112" cy="256032"/>
          </a:xfrm>
          <a:prstGeom prst="rect">
            <a:avLst/>
          </a:prstGeom>
          <a:noFill/>
          <a:ln/>
        </p:spPr>
        <p:txBody>
          <a:bodyPr wrap="square" lIns="0" tIns="0" rIns="0" bIns="0" rtlCol="0" anchor="t"/>
          <a:lstStyle/>
          <a:p>
            <a:pPr algn="ctr" indent="0" marL="0">
              <a:buNone/>
            </a:pPr>
            <a:r>
              <a:rPr lang="en-US" sz="750" dirty="0">
                <a:solidFill>
                  <a:srgbClr val="6B7280"/>
                </a:solidFill>
                <a:latin typeface="Meiryo UI" pitchFamily="34" charset="0"/>
                <a:ea typeface="Meiryo UI" pitchFamily="34" charset="-122"/>
                <a:cs typeface="Meiryo UI" pitchFamily="34" charset="-120"/>
              </a:rPr>
              <a:t>スクリプト</a:t>
            </a:r>
            <a:endParaRPr lang="en-US" sz="750" dirty="0"/>
          </a:p>
        </p:txBody>
      </p:sp>
      <p:sp>
        <p:nvSpPr>
          <p:cNvPr id="40" name="Shape 33"/>
          <p:cNvSpPr/>
          <p:nvPr/>
        </p:nvSpPr>
        <p:spPr>
          <a:xfrm>
            <a:off x="3621024" y="2596896"/>
            <a:ext cx="585216" cy="0"/>
          </a:xfrm>
          <a:prstGeom prst="line">
            <a:avLst/>
          </a:prstGeom>
          <a:noFill/>
          <a:ln w="15875">
            <a:solidFill>
              <a:srgbClr val="9AA5B4"/>
            </a:solidFill>
            <a:prstDash val="solid"/>
            <a:tailEnd type="triangle"/>
          </a:ln>
        </p:spPr>
      </p:sp>
      <p:pic>
        <p:nvPicPr>
          <p:cNvPr id="41" name="Image 5" descr="preencoded.png">    </p:cNvPr>
          <p:cNvPicPr>
            <a:picLocks noChangeAspect="1"/>
          </p:cNvPicPr>
          <p:nvPr/>
        </p:nvPicPr>
        <p:blipFill>
          <a:blip r:embed="rId6"/>
          <a:stretch>
            <a:fillRect/>
          </a:stretch>
        </p:blipFill>
        <p:spPr>
          <a:xfrm>
            <a:off x="4279392" y="2468880"/>
            <a:ext cx="256032" cy="256032"/>
          </a:xfrm>
          <a:prstGeom prst="rect">
            <a:avLst/>
          </a:prstGeom>
        </p:spPr>
      </p:pic>
      <p:sp>
        <p:nvSpPr>
          <p:cNvPr id="42" name="Text 34"/>
          <p:cNvSpPr txBox="1"/>
          <p:nvPr/>
        </p:nvSpPr>
        <p:spPr>
          <a:xfrm>
            <a:off x="3959352" y="2752344"/>
            <a:ext cx="896112" cy="256032"/>
          </a:xfrm>
          <a:prstGeom prst="rect">
            <a:avLst/>
          </a:prstGeom>
          <a:noFill/>
          <a:ln/>
        </p:spPr>
        <p:txBody>
          <a:bodyPr wrap="square" lIns="0" tIns="0" rIns="0" bIns="0" rtlCol="0" anchor="t"/>
          <a:lstStyle/>
          <a:p>
            <a:pPr algn="ctr" indent="0" marL="0">
              <a:buNone/>
            </a:pPr>
            <a:r>
              <a:rPr lang="en-US" sz="750" dirty="0">
                <a:solidFill>
                  <a:srgbClr val="6B7280"/>
                </a:solidFill>
                <a:latin typeface="Meiryo UI" pitchFamily="34" charset="0"/>
                <a:ea typeface="Meiryo UI" pitchFamily="34" charset="-122"/>
                <a:cs typeface="Meiryo UI" pitchFamily="34" charset="-120"/>
              </a:rPr>
              <a:t>HTTPトリガー</a:t>
            </a:r>
            <a:endParaRPr lang="en-US" sz="750" dirty="0"/>
          </a:p>
        </p:txBody>
      </p:sp>
      <p:sp>
        <p:nvSpPr>
          <p:cNvPr id="43" name="Shape 35"/>
          <p:cNvSpPr/>
          <p:nvPr/>
        </p:nvSpPr>
        <p:spPr>
          <a:xfrm>
            <a:off x="4608576" y="2596896"/>
            <a:ext cx="585216" cy="0"/>
          </a:xfrm>
          <a:prstGeom prst="line">
            <a:avLst/>
          </a:prstGeom>
          <a:noFill/>
          <a:ln w="15875">
            <a:solidFill>
              <a:srgbClr val="9AA5B4"/>
            </a:solidFill>
            <a:prstDash val="solid"/>
            <a:tailEnd type="triangle"/>
          </a:ln>
        </p:spPr>
      </p:sp>
      <p:pic>
        <p:nvPicPr>
          <p:cNvPr id="44" name="Image 6" descr="preencoded.png">    </p:cNvPr>
          <p:cNvPicPr>
            <a:picLocks noChangeAspect="1"/>
          </p:cNvPicPr>
          <p:nvPr/>
        </p:nvPicPr>
        <p:blipFill>
          <a:blip r:embed="rId7"/>
          <a:stretch>
            <a:fillRect/>
          </a:stretch>
        </p:blipFill>
        <p:spPr>
          <a:xfrm>
            <a:off x="5266944" y="2468880"/>
            <a:ext cx="256032" cy="256032"/>
          </a:xfrm>
          <a:prstGeom prst="rect">
            <a:avLst/>
          </a:prstGeom>
        </p:spPr>
      </p:pic>
      <p:sp>
        <p:nvSpPr>
          <p:cNvPr id="45" name="Text 36"/>
          <p:cNvSpPr txBox="1"/>
          <p:nvPr/>
        </p:nvSpPr>
        <p:spPr>
          <a:xfrm>
            <a:off x="4946904" y="2752344"/>
            <a:ext cx="896112" cy="256032"/>
          </a:xfrm>
          <a:prstGeom prst="rect">
            <a:avLst/>
          </a:prstGeom>
          <a:noFill/>
          <a:ln/>
        </p:spPr>
        <p:txBody>
          <a:bodyPr wrap="square" lIns="0" tIns="0" rIns="0" bIns="0" rtlCol="0" anchor="t"/>
          <a:lstStyle/>
          <a:p>
            <a:pPr algn="ctr" indent="0" marL="0">
              <a:buNone/>
            </a:pPr>
            <a:r>
              <a:rPr lang="en-US" sz="750" dirty="0">
                <a:solidFill>
                  <a:srgbClr val="6B7280"/>
                </a:solidFill>
                <a:latin typeface="Meiryo UI" pitchFamily="34" charset="0"/>
                <a:ea typeface="Meiryo UI" pitchFamily="34" charset="-122"/>
                <a:cs typeface="Meiryo UI" pitchFamily="34" charset="-120"/>
              </a:rPr>
              <a:t>Execute Agent</a:t>
            </a:r>
            <a:endParaRPr lang="en-US" sz="750" dirty="0"/>
          </a:p>
        </p:txBody>
      </p:sp>
      <p:sp>
        <p:nvSpPr>
          <p:cNvPr id="46" name="Shape 37"/>
          <p:cNvSpPr/>
          <p:nvPr/>
        </p:nvSpPr>
        <p:spPr>
          <a:xfrm>
            <a:off x="5596128" y="2596896"/>
            <a:ext cx="585216" cy="0"/>
          </a:xfrm>
          <a:prstGeom prst="line">
            <a:avLst/>
          </a:prstGeom>
          <a:noFill/>
          <a:ln w="15875">
            <a:solidFill>
              <a:srgbClr val="9AA5B4"/>
            </a:solidFill>
            <a:prstDash val="solid"/>
            <a:tailEnd type="triangle"/>
          </a:ln>
        </p:spPr>
      </p:sp>
      <p:pic>
        <p:nvPicPr>
          <p:cNvPr id="47" name="Image 7" descr="preencoded.png">    </p:cNvPr>
          <p:cNvPicPr>
            <a:picLocks noChangeAspect="1"/>
          </p:cNvPicPr>
          <p:nvPr/>
        </p:nvPicPr>
        <p:blipFill>
          <a:blip r:embed="rId8"/>
          <a:stretch>
            <a:fillRect/>
          </a:stretch>
        </p:blipFill>
        <p:spPr>
          <a:xfrm>
            <a:off x="6254496" y="2468880"/>
            <a:ext cx="256032" cy="256032"/>
          </a:xfrm>
          <a:prstGeom prst="rect">
            <a:avLst/>
          </a:prstGeom>
        </p:spPr>
      </p:pic>
      <p:sp>
        <p:nvSpPr>
          <p:cNvPr id="48" name="Text 38"/>
          <p:cNvSpPr txBox="1"/>
          <p:nvPr/>
        </p:nvSpPr>
        <p:spPr>
          <a:xfrm>
            <a:off x="5934456" y="2752344"/>
            <a:ext cx="896112" cy="256032"/>
          </a:xfrm>
          <a:prstGeom prst="rect">
            <a:avLst/>
          </a:prstGeom>
          <a:noFill/>
          <a:ln/>
        </p:spPr>
        <p:txBody>
          <a:bodyPr wrap="square" lIns="0" tIns="0" rIns="0" bIns="0" rtlCol="0" anchor="t"/>
          <a:lstStyle/>
          <a:p>
            <a:pPr algn="ctr" indent="0" marL="0">
              <a:buNone/>
            </a:pPr>
            <a:r>
              <a:rPr lang="en-US" sz="750" dirty="0">
                <a:solidFill>
                  <a:srgbClr val="6B7280"/>
                </a:solidFill>
                <a:latin typeface="Meiryo UI" pitchFamily="34" charset="0"/>
                <a:ea typeface="Meiryo UI" pitchFamily="34" charset="-122"/>
                <a:cs typeface="Meiryo UI" pitchFamily="34" charset="-120"/>
              </a:rPr>
              <a:t>書き戻し</a:t>
            </a:r>
            <a:endParaRPr lang="en-US" sz="750" dirty="0"/>
          </a:p>
        </p:txBody>
      </p:sp>
      <p:sp>
        <p:nvSpPr>
          <p:cNvPr id="49" name="Text 39"/>
          <p:cNvSpPr txBox="1"/>
          <p:nvPr/>
        </p:nvSpPr>
        <p:spPr>
          <a:xfrm>
            <a:off x="6949440" y="2423160"/>
            <a:ext cx="1417320" cy="585216"/>
          </a:xfrm>
          <a:prstGeom prst="rect">
            <a:avLst/>
          </a:prstGeom>
          <a:noFill/>
          <a:ln/>
        </p:spPr>
        <p:txBody>
          <a:bodyPr wrap="square" lIns="508" tIns="508" rIns="508" bIns="508" rtlCol="0" anchor="ctr"/>
          <a:lstStyle/>
          <a:p>
            <a:pPr algn="ctr" indent="0" marL="0">
              <a:buNone/>
            </a:pPr>
            <a:r>
              <a:rPr lang="en-US" sz="950" dirty="0">
                <a:solidFill>
                  <a:srgbClr val="2B2B2B"/>
                </a:solidFill>
                <a:latin typeface="Meiryo UI" pitchFamily="34" charset="0"/>
                <a:ea typeface="Meiryo UI" pitchFamily="34" charset="-122"/>
                <a:cs typeface="Meiryo UI" pitchFamily="34" charset="-120"/>
              </a:rPr>
              <a:t>数十秒〜数分</a:t>
            </a:r>
            <a:endParaRPr lang="en-US" sz="950" dirty="0"/>
          </a:p>
        </p:txBody>
      </p:sp>
      <p:sp>
        <p:nvSpPr>
          <p:cNvPr id="50" name="Text 40"/>
          <p:cNvSpPr txBox="1"/>
          <p:nvPr/>
        </p:nvSpPr>
        <p:spPr>
          <a:xfrm>
            <a:off x="8412480" y="2423160"/>
            <a:ext cx="1005840" cy="585216"/>
          </a:xfrm>
          <a:prstGeom prst="rect">
            <a:avLst/>
          </a:prstGeom>
          <a:noFill/>
          <a:ln/>
        </p:spPr>
        <p:txBody>
          <a:bodyPr wrap="square" lIns="508" tIns="508" rIns="508" bIns="508" rtlCol="0" anchor="ctr"/>
          <a:lstStyle/>
          <a:p>
            <a:pPr algn="ctr" indent="0" marL="0">
              <a:buNone/>
            </a:pPr>
            <a:r>
              <a:rPr lang="en-US" sz="1000" b="1" dirty="0">
                <a:solidFill>
                  <a:srgbClr val="E8912D"/>
                </a:solidFill>
                <a:latin typeface="Meiryo UI" pitchFamily="34" charset="0"/>
                <a:ea typeface="Meiryo UI" pitchFamily="34" charset="-122"/>
                <a:cs typeface="Meiryo UI" pitchFamily="34" charset="-120"/>
              </a:rPr>
              <a:t>★★★☆☆</a:t>
            </a:r>
            <a:endParaRPr lang="en-US" sz="1000" dirty="0"/>
          </a:p>
        </p:txBody>
      </p:sp>
      <p:sp>
        <p:nvSpPr>
          <p:cNvPr id="51" name="Text 41"/>
          <p:cNvSpPr txBox="1"/>
          <p:nvPr/>
        </p:nvSpPr>
        <p:spPr>
          <a:xfrm>
            <a:off x="9509760" y="2423160"/>
            <a:ext cx="2057400" cy="585216"/>
          </a:xfrm>
          <a:prstGeom prst="rect">
            <a:avLst/>
          </a:prstGeom>
          <a:noFill/>
          <a:ln/>
        </p:spPr>
        <p:txBody>
          <a:bodyPr wrap="square" lIns="508" tIns="508" rIns="508" bIns="508" rtlCol="0" anchor="ctr"/>
          <a:lstStyle/>
          <a:p>
            <a:pPr indent="0" marL="0">
              <a:buNone/>
            </a:pPr>
            <a:r>
              <a:rPr lang="en-US" sz="900" dirty="0">
                <a:solidFill>
                  <a:srgbClr val="2B2B2B"/>
                </a:solidFill>
                <a:latin typeface="Meiryo UI" pitchFamily="34" charset="0"/>
                <a:ea typeface="Meiryo UI" pitchFamily="34" charset="-122"/>
                <a:cs typeface="Meiryo UI" pitchFamily="34" charset="-120"/>
              </a:rPr>
              <a:t>即時性と確実さのバランスが良い。外部から呼べる設定が前提（次ページ）</a:t>
            </a:r>
            <a:endParaRPr lang="en-US" sz="900" dirty="0"/>
          </a:p>
        </p:txBody>
      </p:sp>
      <p:sp>
        <p:nvSpPr>
          <p:cNvPr id="52" name="Shape 42"/>
          <p:cNvSpPr/>
          <p:nvPr/>
        </p:nvSpPr>
        <p:spPr>
          <a:xfrm>
            <a:off x="548640" y="3063240"/>
            <a:ext cx="11064240" cy="585216"/>
          </a:xfrm>
          <a:prstGeom prst="roundRect">
            <a:avLst>
              <a:gd name="adj" fmla="val 7813"/>
            </a:avLst>
          </a:prstGeom>
          <a:solidFill>
            <a:srgbClr val="F3F5F8"/>
          </a:solidFill>
          <a:ln/>
        </p:spPr>
      </p:sp>
      <p:sp>
        <p:nvSpPr>
          <p:cNvPr id="53" name="Shape 43"/>
          <p:cNvSpPr/>
          <p:nvPr/>
        </p:nvSpPr>
        <p:spPr>
          <a:xfrm>
            <a:off x="640080" y="3172968"/>
            <a:ext cx="365760" cy="365760"/>
          </a:xfrm>
          <a:prstGeom prst="ellipse">
            <a:avLst/>
          </a:prstGeom>
          <a:solidFill>
            <a:srgbClr val="0E9F9A"/>
          </a:solidFill>
          <a:ln/>
        </p:spPr>
      </p:sp>
      <p:sp>
        <p:nvSpPr>
          <p:cNvPr id="54" name="Text 44"/>
          <p:cNvSpPr txBox="1"/>
          <p:nvPr/>
        </p:nvSpPr>
        <p:spPr>
          <a:xfrm>
            <a:off x="640080" y="3172968"/>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O3</a:t>
            </a:r>
            <a:endParaRPr lang="en-US" sz="1100" dirty="0"/>
          </a:p>
        </p:txBody>
      </p:sp>
      <p:sp>
        <p:nvSpPr>
          <p:cNvPr id="55" name="Text 45"/>
          <p:cNvSpPr txBox="1"/>
          <p:nvPr/>
        </p:nvSpPr>
        <p:spPr>
          <a:xfrm>
            <a:off x="1097280" y="3063240"/>
            <a:ext cx="1783080" cy="585216"/>
          </a:xfrm>
          <a:prstGeom prst="rect">
            <a:avLst/>
          </a:prstGeom>
          <a:noFill/>
          <a:ln/>
        </p:spPr>
        <p:txBody>
          <a:bodyPr wrap="square" lIns="508" tIns="508" rIns="508" bIns="508" rtlCol="0" anchor="ctr"/>
          <a:lstStyle/>
          <a:p>
            <a:pPr indent="0" marL="0">
              <a:buNone/>
            </a:pPr>
            <a:r>
              <a:rPr lang="en-US" sz="1050" b="1" dirty="0">
                <a:solidFill>
                  <a:srgbClr val="1B2A49"/>
                </a:solidFill>
                <a:latin typeface="Meiryo UI" pitchFamily="34" charset="0"/>
                <a:ea typeface="Meiryo UI" pitchFamily="34" charset="-122"/>
                <a:cs typeface="Meiryo UI" pitchFamily="34" charset="-120"/>
              </a:rPr>
              <a:t>エージェントのイベントトリガー</a:t>
            </a:r>
            <a:endParaRPr lang="en-US" sz="1050" dirty="0"/>
          </a:p>
        </p:txBody>
      </p:sp>
      <p:pic>
        <p:nvPicPr>
          <p:cNvPr id="56" name="Image 8" descr="preencoded.png">    </p:cNvPr>
          <p:cNvPicPr>
            <a:picLocks noChangeAspect="1"/>
          </p:cNvPicPr>
          <p:nvPr/>
        </p:nvPicPr>
        <p:blipFill>
          <a:blip r:embed="rId9"/>
          <a:stretch>
            <a:fillRect/>
          </a:stretch>
        </p:blipFill>
        <p:spPr>
          <a:xfrm>
            <a:off x="3291840" y="3108960"/>
            <a:ext cx="256032" cy="256032"/>
          </a:xfrm>
          <a:prstGeom prst="rect">
            <a:avLst/>
          </a:prstGeom>
        </p:spPr>
      </p:pic>
      <p:sp>
        <p:nvSpPr>
          <p:cNvPr id="57" name="Text 46"/>
          <p:cNvSpPr txBox="1"/>
          <p:nvPr/>
        </p:nvSpPr>
        <p:spPr>
          <a:xfrm>
            <a:off x="2971800" y="3392424"/>
            <a:ext cx="896112" cy="256032"/>
          </a:xfrm>
          <a:prstGeom prst="rect">
            <a:avLst/>
          </a:prstGeom>
          <a:noFill/>
          <a:ln/>
        </p:spPr>
        <p:txBody>
          <a:bodyPr wrap="square" lIns="0" tIns="0" rIns="0" bIns="0" rtlCol="0" anchor="t"/>
          <a:lstStyle/>
          <a:p>
            <a:pPr algn="ctr" indent="0" marL="0">
              <a:buNone/>
            </a:pPr>
            <a:r>
              <a:rPr lang="en-US" sz="750" dirty="0">
                <a:solidFill>
                  <a:srgbClr val="6B7280"/>
                </a:solidFill>
                <a:latin typeface="Meiryo UI" pitchFamily="34" charset="0"/>
                <a:ea typeface="Meiryo UI" pitchFamily="34" charset="-122"/>
                <a:cs typeface="Meiryo UI" pitchFamily="34" charset="-120"/>
              </a:rPr>
              <a:t>スクリプト</a:t>
            </a:r>
            <a:endParaRPr lang="en-US" sz="750" dirty="0"/>
          </a:p>
        </p:txBody>
      </p:sp>
      <p:sp>
        <p:nvSpPr>
          <p:cNvPr id="58" name="Shape 47"/>
          <p:cNvSpPr/>
          <p:nvPr/>
        </p:nvSpPr>
        <p:spPr>
          <a:xfrm>
            <a:off x="3621024" y="3236976"/>
            <a:ext cx="585216" cy="0"/>
          </a:xfrm>
          <a:prstGeom prst="line">
            <a:avLst/>
          </a:prstGeom>
          <a:noFill/>
          <a:ln w="15875">
            <a:solidFill>
              <a:srgbClr val="9AA5B4"/>
            </a:solidFill>
            <a:prstDash val="solid"/>
            <a:tailEnd type="triangle"/>
          </a:ln>
        </p:spPr>
      </p:sp>
      <p:pic>
        <p:nvPicPr>
          <p:cNvPr id="59" name="Image 9" descr="preencoded.png">    </p:cNvPr>
          <p:cNvPicPr>
            <a:picLocks noChangeAspect="1"/>
          </p:cNvPicPr>
          <p:nvPr/>
        </p:nvPicPr>
        <p:blipFill>
          <a:blip r:embed="rId10"/>
          <a:stretch>
            <a:fillRect/>
          </a:stretch>
        </p:blipFill>
        <p:spPr>
          <a:xfrm>
            <a:off x="4279392" y="3108960"/>
            <a:ext cx="256032" cy="256032"/>
          </a:xfrm>
          <a:prstGeom prst="rect">
            <a:avLst/>
          </a:prstGeom>
        </p:spPr>
      </p:pic>
      <p:sp>
        <p:nvSpPr>
          <p:cNvPr id="60" name="Text 48"/>
          <p:cNvSpPr txBox="1"/>
          <p:nvPr/>
        </p:nvSpPr>
        <p:spPr>
          <a:xfrm>
            <a:off x="3959352" y="3392424"/>
            <a:ext cx="896112" cy="256032"/>
          </a:xfrm>
          <a:prstGeom prst="rect">
            <a:avLst/>
          </a:prstGeom>
          <a:noFill/>
          <a:ln/>
        </p:spPr>
        <p:txBody>
          <a:bodyPr wrap="square" lIns="0" tIns="0" rIns="0" bIns="0" rtlCol="0" anchor="t"/>
          <a:lstStyle/>
          <a:p>
            <a:pPr algn="ctr" indent="0" marL="0">
              <a:buNone/>
            </a:pPr>
            <a:r>
              <a:rPr lang="en-US" sz="750" dirty="0">
                <a:solidFill>
                  <a:srgbClr val="6B7280"/>
                </a:solidFill>
                <a:latin typeface="Meiryo UI" pitchFamily="34" charset="0"/>
                <a:ea typeface="Meiryo UI" pitchFamily="34" charset="-122"/>
                <a:cs typeface="Meiryo UI" pitchFamily="34" charset="-120"/>
              </a:rPr>
              <a:t>HTTPトリガー</a:t>
            </a:r>
            <a:endParaRPr lang="en-US" sz="750" dirty="0"/>
          </a:p>
        </p:txBody>
      </p:sp>
      <p:sp>
        <p:nvSpPr>
          <p:cNvPr id="61" name="Shape 49"/>
          <p:cNvSpPr/>
          <p:nvPr/>
        </p:nvSpPr>
        <p:spPr>
          <a:xfrm>
            <a:off x="4608576" y="3236976"/>
            <a:ext cx="585216" cy="0"/>
          </a:xfrm>
          <a:prstGeom prst="line">
            <a:avLst/>
          </a:prstGeom>
          <a:noFill/>
          <a:ln w="15875">
            <a:solidFill>
              <a:srgbClr val="9AA5B4"/>
            </a:solidFill>
            <a:prstDash val="solid"/>
            <a:tailEnd type="triangle"/>
          </a:ln>
        </p:spPr>
      </p:sp>
      <p:pic>
        <p:nvPicPr>
          <p:cNvPr id="62" name="Image 10" descr="preencoded.png">    </p:cNvPr>
          <p:cNvPicPr>
            <a:picLocks noChangeAspect="1"/>
          </p:cNvPicPr>
          <p:nvPr/>
        </p:nvPicPr>
        <p:blipFill>
          <a:blip r:embed="rId11"/>
          <a:stretch>
            <a:fillRect/>
          </a:stretch>
        </p:blipFill>
        <p:spPr>
          <a:xfrm>
            <a:off x="5266944" y="3108960"/>
            <a:ext cx="256032" cy="256032"/>
          </a:xfrm>
          <a:prstGeom prst="rect">
            <a:avLst/>
          </a:prstGeom>
        </p:spPr>
      </p:pic>
      <p:sp>
        <p:nvSpPr>
          <p:cNvPr id="63" name="Text 50"/>
          <p:cNvSpPr txBox="1"/>
          <p:nvPr/>
        </p:nvSpPr>
        <p:spPr>
          <a:xfrm>
            <a:off x="4946904" y="3392424"/>
            <a:ext cx="896112" cy="256032"/>
          </a:xfrm>
          <a:prstGeom prst="rect">
            <a:avLst/>
          </a:prstGeom>
          <a:noFill/>
          <a:ln/>
        </p:spPr>
        <p:txBody>
          <a:bodyPr wrap="square" lIns="0" tIns="0" rIns="0" bIns="0" rtlCol="0" anchor="t"/>
          <a:lstStyle/>
          <a:p>
            <a:pPr algn="ctr" indent="0" marL="0">
              <a:buNone/>
            </a:pPr>
            <a:r>
              <a:rPr lang="en-US" sz="750" dirty="0">
                <a:solidFill>
                  <a:srgbClr val="6B7280"/>
                </a:solidFill>
                <a:latin typeface="Meiryo UI" pitchFamily="34" charset="0"/>
                <a:ea typeface="Meiryo UI" pitchFamily="34" charset="-122"/>
                <a:cs typeface="Meiryo UI" pitchFamily="34" charset="-120"/>
              </a:rPr>
              <a:t>自律エージェント</a:t>
            </a:r>
            <a:endParaRPr lang="en-US" sz="750" dirty="0"/>
          </a:p>
        </p:txBody>
      </p:sp>
      <p:sp>
        <p:nvSpPr>
          <p:cNvPr id="64" name="Shape 51"/>
          <p:cNvSpPr/>
          <p:nvPr/>
        </p:nvSpPr>
        <p:spPr>
          <a:xfrm>
            <a:off x="5596128" y="3236976"/>
            <a:ext cx="585216" cy="0"/>
          </a:xfrm>
          <a:prstGeom prst="line">
            <a:avLst/>
          </a:prstGeom>
          <a:noFill/>
          <a:ln w="15875">
            <a:solidFill>
              <a:srgbClr val="9AA5B4"/>
            </a:solidFill>
            <a:prstDash val="solid"/>
            <a:tailEnd type="triangle"/>
          </a:ln>
        </p:spPr>
      </p:sp>
      <p:pic>
        <p:nvPicPr>
          <p:cNvPr id="65" name="Image 11" descr="preencoded.png">    </p:cNvPr>
          <p:cNvPicPr>
            <a:picLocks noChangeAspect="1"/>
          </p:cNvPicPr>
          <p:nvPr/>
        </p:nvPicPr>
        <p:blipFill>
          <a:blip r:embed="rId12"/>
          <a:stretch>
            <a:fillRect/>
          </a:stretch>
        </p:blipFill>
        <p:spPr>
          <a:xfrm>
            <a:off x="6254496" y="3108960"/>
            <a:ext cx="256032" cy="256032"/>
          </a:xfrm>
          <a:prstGeom prst="rect">
            <a:avLst/>
          </a:prstGeom>
        </p:spPr>
      </p:pic>
      <p:sp>
        <p:nvSpPr>
          <p:cNvPr id="66" name="Text 52"/>
          <p:cNvSpPr txBox="1"/>
          <p:nvPr/>
        </p:nvSpPr>
        <p:spPr>
          <a:xfrm>
            <a:off x="5934456" y="3392424"/>
            <a:ext cx="896112" cy="256032"/>
          </a:xfrm>
          <a:prstGeom prst="rect">
            <a:avLst/>
          </a:prstGeom>
          <a:noFill/>
          <a:ln/>
        </p:spPr>
        <p:txBody>
          <a:bodyPr wrap="square" lIns="0" tIns="0" rIns="0" bIns="0" rtlCol="0" anchor="t"/>
          <a:lstStyle/>
          <a:p>
            <a:pPr algn="ctr" indent="0" marL="0">
              <a:buNone/>
            </a:pPr>
            <a:r>
              <a:rPr lang="en-US" sz="750" dirty="0">
                <a:solidFill>
                  <a:srgbClr val="6B7280"/>
                </a:solidFill>
                <a:latin typeface="Meiryo UI" pitchFamily="34" charset="0"/>
                <a:ea typeface="Meiryo UI" pitchFamily="34" charset="-122"/>
                <a:cs typeface="Meiryo UI" pitchFamily="34" charset="-120"/>
              </a:rPr>
              <a:t>ツールで書き戻し</a:t>
            </a:r>
            <a:endParaRPr lang="en-US" sz="750" dirty="0"/>
          </a:p>
        </p:txBody>
      </p:sp>
      <p:sp>
        <p:nvSpPr>
          <p:cNvPr id="67" name="Text 53"/>
          <p:cNvSpPr txBox="1"/>
          <p:nvPr/>
        </p:nvSpPr>
        <p:spPr>
          <a:xfrm>
            <a:off x="6949440" y="3063240"/>
            <a:ext cx="1417320" cy="585216"/>
          </a:xfrm>
          <a:prstGeom prst="rect">
            <a:avLst/>
          </a:prstGeom>
          <a:noFill/>
          <a:ln/>
        </p:spPr>
        <p:txBody>
          <a:bodyPr wrap="square" lIns="508" tIns="508" rIns="508" bIns="508" rtlCol="0" anchor="ctr"/>
          <a:lstStyle/>
          <a:p>
            <a:pPr algn="ctr" indent="0" marL="0">
              <a:buNone/>
            </a:pPr>
            <a:r>
              <a:rPr lang="en-US" sz="950" dirty="0">
                <a:solidFill>
                  <a:srgbClr val="2B2B2B"/>
                </a:solidFill>
                <a:latin typeface="Meiryo UI" pitchFamily="34" charset="0"/>
                <a:ea typeface="Meiryo UI" pitchFamily="34" charset="-122"/>
                <a:cs typeface="Meiryo UI" pitchFamily="34" charset="-120"/>
              </a:rPr>
              <a:t>数十秒〜数分</a:t>
            </a:r>
            <a:endParaRPr lang="en-US" sz="950" dirty="0"/>
          </a:p>
        </p:txBody>
      </p:sp>
      <p:sp>
        <p:nvSpPr>
          <p:cNvPr id="68" name="Text 54"/>
          <p:cNvSpPr txBox="1"/>
          <p:nvPr/>
        </p:nvSpPr>
        <p:spPr>
          <a:xfrm>
            <a:off x="8412480" y="3063240"/>
            <a:ext cx="1005840" cy="585216"/>
          </a:xfrm>
          <a:prstGeom prst="rect">
            <a:avLst/>
          </a:prstGeom>
          <a:noFill/>
          <a:ln/>
        </p:spPr>
        <p:txBody>
          <a:bodyPr wrap="square" lIns="508" tIns="508" rIns="508" bIns="508" rtlCol="0" anchor="ctr"/>
          <a:lstStyle/>
          <a:p>
            <a:pPr algn="ctr" indent="0" marL="0">
              <a:buNone/>
            </a:pPr>
            <a:r>
              <a:rPr lang="en-US" sz="1000" b="1" dirty="0">
                <a:solidFill>
                  <a:srgbClr val="E8912D"/>
                </a:solidFill>
                <a:latin typeface="Meiryo UI" pitchFamily="34" charset="0"/>
                <a:ea typeface="Meiryo UI" pitchFamily="34" charset="-122"/>
                <a:cs typeface="Meiryo UI" pitchFamily="34" charset="-120"/>
              </a:rPr>
              <a:t>★★★☆☆</a:t>
            </a:r>
            <a:endParaRPr lang="en-US" sz="1000" dirty="0"/>
          </a:p>
        </p:txBody>
      </p:sp>
      <p:sp>
        <p:nvSpPr>
          <p:cNvPr id="69" name="Text 55"/>
          <p:cNvSpPr txBox="1"/>
          <p:nvPr/>
        </p:nvSpPr>
        <p:spPr>
          <a:xfrm>
            <a:off x="9509760" y="3063240"/>
            <a:ext cx="2057400" cy="585216"/>
          </a:xfrm>
          <a:prstGeom prst="rect">
            <a:avLst/>
          </a:prstGeom>
          <a:noFill/>
          <a:ln/>
        </p:spPr>
        <p:txBody>
          <a:bodyPr wrap="square" lIns="508" tIns="508" rIns="508" bIns="508" rtlCol="0" anchor="ctr"/>
          <a:lstStyle/>
          <a:p>
            <a:pPr indent="0" marL="0">
              <a:buNone/>
            </a:pPr>
            <a:r>
              <a:rPr lang="en-US" sz="900" dirty="0">
                <a:solidFill>
                  <a:srgbClr val="2B2B2B"/>
                </a:solidFill>
                <a:latin typeface="Meiryo UI" pitchFamily="34" charset="0"/>
                <a:ea typeface="Meiryo UI" pitchFamily="34" charset="-122"/>
                <a:cs typeface="Meiryo UI" pitchFamily="34" charset="-120"/>
              </a:rPr>
              <a:t>エージェントが自律的に処理。書き戻しの確実さはフローより制御しにくい</a:t>
            </a:r>
            <a:endParaRPr lang="en-US" sz="900" dirty="0"/>
          </a:p>
        </p:txBody>
      </p:sp>
      <p:sp>
        <p:nvSpPr>
          <p:cNvPr id="70" name="Shape 56"/>
          <p:cNvSpPr/>
          <p:nvPr/>
        </p:nvSpPr>
        <p:spPr>
          <a:xfrm>
            <a:off x="548640" y="3703320"/>
            <a:ext cx="11064240" cy="585216"/>
          </a:xfrm>
          <a:prstGeom prst="roundRect">
            <a:avLst>
              <a:gd name="adj" fmla="val 7813"/>
            </a:avLst>
          </a:prstGeom>
          <a:solidFill>
            <a:srgbClr val="FFFFFF"/>
          </a:solidFill>
          <a:ln/>
        </p:spPr>
      </p:sp>
      <p:sp>
        <p:nvSpPr>
          <p:cNvPr id="71" name="Shape 57"/>
          <p:cNvSpPr/>
          <p:nvPr/>
        </p:nvSpPr>
        <p:spPr>
          <a:xfrm>
            <a:off x="640080" y="3813048"/>
            <a:ext cx="365760" cy="365760"/>
          </a:xfrm>
          <a:prstGeom prst="ellipse">
            <a:avLst/>
          </a:prstGeom>
          <a:solidFill>
            <a:srgbClr val="0E9F9A"/>
          </a:solidFill>
          <a:ln/>
        </p:spPr>
      </p:sp>
      <p:sp>
        <p:nvSpPr>
          <p:cNvPr id="72" name="Text 58"/>
          <p:cNvSpPr txBox="1"/>
          <p:nvPr/>
        </p:nvSpPr>
        <p:spPr>
          <a:xfrm>
            <a:off x="640080" y="3813048"/>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O4</a:t>
            </a:r>
            <a:endParaRPr lang="en-US" sz="1100" dirty="0"/>
          </a:p>
        </p:txBody>
      </p:sp>
      <p:sp>
        <p:nvSpPr>
          <p:cNvPr id="73" name="Text 59"/>
          <p:cNvSpPr txBox="1"/>
          <p:nvPr/>
        </p:nvSpPr>
        <p:spPr>
          <a:xfrm>
            <a:off x="1097280" y="3703320"/>
            <a:ext cx="1783080" cy="585216"/>
          </a:xfrm>
          <a:prstGeom prst="rect">
            <a:avLst/>
          </a:prstGeom>
          <a:noFill/>
          <a:ln/>
        </p:spPr>
        <p:txBody>
          <a:bodyPr wrap="square" lIns="508" tIns="508" rIns="508" bIns="508" rtlCol="0" anchor="ctr"/>
          <a:lstStyle/>
          <a:p>
            <a:pPr indent="0" marL="0">
              <a:buNone/>
            </a:pPr>
            <a:r>
              <a:rPr lang="en-US" sz="1050" b="1" dirty="0">
                <a:solidFill>
                  <a:srgbClr val="1B2A49"/>
                </a:solidFill>
                <a:latin typeface="Meiryo UI" pitchFamily="34" charset="0"/>
                <a:ea typeface="Meiryo UI" pitchFamily="34" charset="-122"/>
                <a:cs typeface="Meiryo UI" pitchFamily="34" charset="-120"/>
              </a:rPr>
              <a:t>Direct Lineで直接呼ぶ</a:t>
            </a:r>
            <a:endParaRPr lang="en-US" sz="1050" dirty="0"/>
          </a:p>
        </p:txBody>
      </p:sp>
      <p:pic>
        <p:nvPicPr>
          <p:cNvPr id="74" name="Image 12" descr="preencoded.png">    </p:cNvPr>
          <p:cNvPicPr>
            <a:picLocks noChangeAspect="1"/>
          </p:cNvPicPr>
          <p:nvPr/>
        </p:nvPicPr>
        <p:blipFill>
          <a:blip r:embed="rId13"/>
          <a:stretch>
            <a:fillRect/>
          </a:stretch>
        </p:blipFill>
        <p:spPr>
          <a:xfrm>
            <a:off x="3291840" y="3749040"/>
            <a:ext cx="256032" cy="256032"/>
          </a:xfrm>
          <a:prstGeom prst="rect">
            <a:avLst/>
          </a:prstGeom>
        </p:spPr>
      </p:pic>
      <p:sp>
        <p:nvSpPr>
          <p:cNvPr id="75" name="Text 60"/>
          <p:cNvSpPr txBox="1"/>
          <p:nvPr/>
        </p:nvSpPr>
        <p:spPr>
          <a:xfrm>
            <a:off x="2971800" y="4032504"/>
            <a:ext cx="896112" cy="256032"/>
          </a:xfrm>
          <a:prstGeom prst="rect">
            <a:avLst/>
          </a:prstGeom>
          <a:noFill/>
          <a:ln/>
        </p:spPr>
        <p:txBody>
          <a:bodyPr wrap="square" lIns="0" tIns="0" rIns="0" bIns="0" rtlCol="0" anchor="t"/>
          <a:lstStyle/>
          <a:p>
            <a:pPr algn="ctr" indent="0" marL="0">
              <a:buNone/>
            </a:pPr>
            <a:r>
              <a:rPr lang="en-US" sz="750" dirty="0">
                <a:solidFill>
                  <a:srgbClr val="6B7280"/>
                </a:solidFill>
                <a:latin typeface="Meiryo UI" pitchFamily="34" charset="0"/>
                <a:ea typeface="Meiryo UI" pitchFamily="34" charset="-122"/>
                <a:cs typeface="Meiryo UI" pitchFamily="34" charset="-120"/>
              </a:rPr>
              <a:t>スクリプト</a:t>
            </a:r>
            <a:endParaRPr lang="en-US" sz="750" dirty="0"/>
          </a:p>
        </p:txBody>
      </p:sp>
      <p:sp>
        <p:nvSpPr>
          <p:cNvPr id="76" name="Shape 61"/>
          <p:cNvSpPr/>
          <p:nvPr/>
        </p:nvSpPr>
        <p:spPr>
          <a:xfrm>
            <a:off x="3621024" y="3877056"/>
            <a:ext cx="585216" cy="0"/>
          </a:xfrm>
          <a:prstGeom prst="line">
            <a:avLst/>
          </a:prstGeom>
          <a:noFill/>
          <a:ln w="15875">
            <a:solidFill>
              <a:srgbClr val="9AA5B4"/>
            </a:solidFill>
            <a:prstDash val="solid"/>
            <a:tailEnd type="triangle"/>
          </a:ln>
        </p:spPr>
      </p:sp>
      <p:pic>
        <p:nvPicPr>
          <p:cNvPr id="77" name="Image 13" descr="preencoded.png">    </p:cNvPr>
          <p:cNvPicPr>
            <a:picLocks noChangeAspect="1"/>
          </p:cNvPicPr>
          <p:nvPr/>
        </p:nvPicPr>
        <p:blipFill>
          <a:blip r:embed="rId14"/>
          <a:stretch>
            <a:fillRect/>
          </a:stretch>
        </p:blipFill>
        <p:spPr>
          <a:xfrm>
            <a:off x="4279392" y="3749040"/>
            <a:ext cx="256032" cy="256032"/>
          </a:xfrm>
          <a:prstGeom prst="rect">
            <a:avLst/>
          </a:prstGeom>
        </p:spPr>
      </p:pic>
      <p:sp>
        <p:nvSpPr>
          <p:cNvPr id="78" name="Text 62"/>
          <p:cNvSpPr txBox="1"/>
          <p:nvPr/>
        </p:nvSpPr>
        <p:spPr>
          <a:xfrm>
            <a:off x="3959352" y="4032504"/>
            <a:ext cx="896112" cy="256032"/>
          </a:xfrm>
          <a:prstGeom prst="rect">
            <a:avLst/>
          </a:prstGeom>
          <a:noFill/>
          <a:ln/>
        </p:spPr>
        <p:txBody>
          <a:bodyPr wrap="square" lIns="0" tIns="0" rIns="0" bIns="0" rtlCol="0" anchor="t"/>
          <a:lstStyle/>
          <a:p>
            <a:pPr algn="ctr" indent="0" marL="0">
              <a:buNone/>
            </a:pPr>
            <a:r>
              <a:rPr lang="en-US" sz="750" dirty="0">
                <a:solidFill>
                  <a:srgbClr val="6B7280"/>
                </a:solidFill>
                <a:latin typeface="Meiryo UI" pitchFamily="34" charset="0"/>
                <a:ea typeface="Meiryo UI" pitchFamily="34" charset="-122"/>
                <a:cs typeface="Meiryo UI" pitchFamily="34" charset="-120"/>
              </a:rPr>
              <a:t>Direct Line</a:t>
            </a:r>
            <a:endParaRPr lang="en-US" sz="750" dirty="0"/>
          </a:p>
        </p:txBody>
      </p:sp>
      <p:sp>
        <p:nvSpPr>
          <p:cNvPr id="79" name="Shape 63"/>
          <p:cNvSpPr/>
          <p:nvPr/>
        </p:nvSpPr>
        <p:spPr>
          <a:xfrm>
            <a:off x="4608576" y="3877056"/>
            <a:ext cx="585216" cy="0"/>
          </a:xfrm>
          <a:prstGeom prst="line">
            <a:avLst/>
          </a:prstGeom>
          <a:noFill/>
          <a:ln w="15875">
            <a:solidFill>
              <a:srgbClr val="9AA5B4"/>
            </a:solidFill>
            <a:prstDash val="solid"/>
            <a:tailEnd type="triangle"/>
          </a:ln>
        </p:spPr>
      </p:sp>
      <p:pic>
        <p:nvPicPr>
          <p:cNvPr id="80" name="Image 14" descr="preencoded.png">    </p:cNvPr>
          <p:cNvPicPr>
            <a:picLocks noChangeAspect="1"/>
          </p:cNvPicPr>
          <p:nvPr/>
        </p:nvPicPr>
        <p:blipFill>
          <a:blip r:embed="rId15"/>
          <a:stretch>
            <a:fillRect/>
          </a:stretch>
        </p:blipFill>
        <p:spPr>
          <a:xfrm>
            <a:off x="5266944" y="3749040"/>
            <a:ext cx="256032" cy="256032"/>
          </a:xfrm>
          <a:prstGeom prst="rect">
            <a:avLst/>
          </a:prstGeom>
        </p:spPr>
      </p:pic>
      <p:sp>
        <p:nvSpPr>
          <p:cNvPr id="81" name="Text 64"/>
          <p:cNvSpPr txBox="1"/>
          <p:nvPr/>
        </p:nvSpPr>
        <p:spPr>
          <a:xfrm>
            <a:off x="4946904" y="4032504"/>
            <a:ext cx="896112" cy="256032"/>
          </a:xfrm>
          <a:prstGeom prst="rect">
            <a:avLst/>
          </a:prstGeom>
          <a:noFill/>
          <a:ln/>
        </p:spPr>
        <p:txBody>
          <a:bodyPr wrap="square" lIns="0" tIns="0" rIns="0" bIns="0" rtlCol="0" anchor="t"/>
          <a:lstStyle/>
          <a:p>
            <a:pPr algn="ctr" indent="0" marL="0">
              <a:buNone/>
            </a:pPr>
            <a:r>
              <a:rPr lang="en-US" sz="750" dirty="0">
                <a:solidFill>
                  <a:srgbClr val="6B7280"/>
                </a:solidFill>
                <a:latin typeface="Meiryo UI" pitchFamily="34" charset="0"/>
                <a:ea typeface="Meiryo UI" pitchFamily="34" charset="-122"/>
                <a:cs typeface="Meiryo UI" pitchFamily="34" charset="-120"/>
              </a:rPr>
              <a:t>同期で更新</a:t>
            </a:r>
            <a:endParaRPr lang="en-US" sz="750" dirty="0"/>
          </a:p>
        </p:txBody>
      </p:sp>
      <p:sp>
        <p:nvSpPr>
          <p:cNvPr id="82" name="Text 65"/>
          <p:cNvSpPr txBox="1"/>
          <p:nvPr/>
        </p:nvSpPr>
        <p:spPr>
          <a:xfrm>
            <a:off x="6949440" y="3703320"/>
            <a:ext cx="1417320" cy="585216"/>
          </a:xfrm>
          <a:prstGeom prst="rect">
            <a:avLst/>
          </a:prstGeom>
          <a:noFill/>
          <a:ln/>
        </p:spPr>
        <p:txBody>
          <a:bodyPr wrap="square" lIns="508" tIns="508" rIns="508" bIns="508" rtlCol="0" anchor="ctr"/>
          <a:lstStyle/>
          <a:p>
            <a:pPr algn="ctr" indent="0" marL="0">
              <a:buNone/>
            </a:pPr>
            <a:r>
              <a:rPr lang="en-US" sz="950" dirty="0">
                <a:solidFill>
                  <a:srgbClr val="2B2B2B"/>
                </a:solidFill>
                <a:latin typeface="Meiryo UI" pitchFamily="34" charset="0"/>
                <a:ea typeface="Meiryo UI" pitchFamily="34" charset="-122"/>
                <a:cs typeface="Meiryo UI" pitchFamily="34" charset="-120"/>
              </a:rPr>
              <a:t>即時（30秒以内に終わる場合）</a:t>
            </a:r>
            <a:endParaRPr lang="en-US" sz="950" dirty="0"/>
          </a:p>
        </p:txBody>
      </p:sp>
      <p:sp>
        <p:nvSpPr>
          <p:cNvPr id="83" name="Text 66"/>
          <p:cNvSpPr txBox="1"/>
          <p:nvPr/>
        </p:nvSpPr>
        <p:spPr>
          <a:xfrm>
            <a:off x="8412480" y="3703320"/>
            <a:ext cx="1005840" cy="585216"/>
          </a:xfrm>
          <a:prstGeom prst="rect">
            <a:avLst/>
          </a:prstGeom>
          <a:noFill/>
          <a:ln/>
        </p:spPr>
        <p:txBody>
          <a:bodyPr wrap="square" lIns="508" tIns="508" rIns="508" bIns="508" rtlCol="0" anchor="ctr"/>
          <a:lstStyle/>
          <a:p>
            <a:pPr algn="ctr" indent="0" marL="0">
              <a:buNone/>
            </a:pPr>
            <a:r>
              <a:rPr lang="en-US" sz="1000" b="1" dirty="0">
                <a:solidFill>
                  <a:srgbClr val="E8912D"/>
                </a:solidFill>
                <a:latin typeface="Meiryo UI" pitchFamily="34" charset="0"/>
                <a:ea typeface="Meiryo UI" pitchFamily="34" charset="-122"/>
                <a:cs typeface="Meiryo UI" pitchFamily="34" charset="-120"/>
              </a:rPr>
              <a:t>★★★★☆</a:t>
            </a:r>
            <a:endParaRPr lang="en-US" sz="1000" dirty="0"/>
          </a:p>
        </p:txBody>
      </p:sp>
      <p:sp>
        <p:nvSpPr>
          <p:cNvPr id="84" name="Text 67"/>
          <p:cNvSpPr txBox="1"/>
          <p:nvPr/>
        </p:nvSpPr>
        <p:spPr>
          <a:xfrm>
            <a:off x="9509760" y="3703320"/>
            <a:ext cx="2057400" cy="585216"/>
          </a:xfrm>
          <a:prstGeom prst="rect">
            <a:avLst/>
          </a:prstGeom>
          <a:noFill/>
          <a:ln/>
        </p:spPr>
        <p:txBody>
          <a:bodyPr wrap="square" lIns="508" tIns="508" rIns="508" bIns="508" rtlCol="0" anchor="ctr"/>
          <a:lstStyle/>
          <a:p>
            <a:pPr indent="0" marL="0">
              <a:buNone/>
            </a:pPr>
            <a:r>
              <a:rPr lang="en-US" sz="900" dirty="0">
                <a:solidFill>
                  <a:srgbClr val="2B2B2B"/>
                </a:solidFill>
                <a:latin typeface="Meiryo UI" pitchFamily="34" charset="0"/>
                <a:ea typeface="Meiryo UI" pitchFamily="34" charset="-122"/>
                <a:cs typeface="Meiryo UI" pitchFamily="34" charset="-120"/>
              </a:rPr>
              <a:t>4段階のAPI呼び出しと秘密鍵の管理が必要。時間制限に当たりやすい</a:t>
            </a:r>
            <a:endParaRPr lang="en-US" sz="900" dirty="0"/>
          </a:p>
        </p:txBody>
      </p:sp>
      <p:sp>
        <p:nvSpPr>
          <p:cNvPr id="85" name="Shape 68"/>
          <p:cNvSpPr/>
          <p:nvPr/>
        </p:nvSpPr>
        <p:spPr>
          <a:xfrm>
            <a:off x="548640" y="4343400"/>
            <a:ext cx="11064240" cy="585216"/>
          </a:xfrm>
          <a:prstGeom prst="roundRect">
            <a:avLst>
              <a:gd name="adj" fmla="val 7813"/>
            </a:avLst>
          </a:prstGeom>
          <a:solidFill>
            <a:srgbClr val="F3F5F8"/>
          </a:solidFill>
          <a:ln/>
        </p:spPr>
      </p:sp>
      <p:sp>
        <p:nvSpPr>
          <p:cNvPr id="86" name="Shape 69"/>
          <p:cNvSpPr/>
          <p:nvPr/>
        </p:nvSpPr>
        <p:spPr>
          <a:xfrm>
            <a:off x="640080" y="4453128"/>
            <a:ext cx="365760" cy="365760"/>
          </a:xfrm>
          <a:prstGeom prst="ellipse">
            <a:avLst/>
          </a:prstGeom>
          <a:solidFill>
            <a:srgbClr val="0E9F9A"/>
          </a:solidFill>
          <a:ln/>
        </p:spPr>
      </p:sp>
      <p:sp>
        <p:nvSpPr>
          <p:cNvPr id="87" name="Text 70"/>
          <p:cNvSpPr txBox="1"/>
          <p:nvPr/>
        </p:nvSpPr>
        <p:spPr>
          <a:xfrm>
            <a:off x="640080" y="4453128"/>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O5</a:t>
            </a:r>
            <a:endParaRPr lang="en-US" sz="1100" dirty="0"/>
          </a:p>
        </p:txBody>
      </p:sp>
      <p:sp>
        <p:nvSpPr>
          <p:cNvPr id="88" name="Text 71"/>
          <p:cNvSpPr txBox="1"/>
          <p:nvPr/>
        </p:nvSpPr>
        <p:spPr>
          <a:xfrm>
            <a:off x="1097280" y="4343400"/>
            <a:ext cx="1783080" cy="585216"/>
          </a:xfrm>
          <a:prstGeom prst="rect">
            <a:avLst/>
          </a:prstGeom>
          <a:noFill/>
          <a:ln/>
        </p:spPr>
        <p:txBody>
          <a:bodyPr wrap="square" lIns="508" tIns="508" rIns="508" bIns="508" rtlCol="0" anchor="ctr"/>
          <a:lstStyle/>
          <a:p>
            <a:pPr indent="0" marL="0">
              <a:buNone/>
            </a:pPr>
            <a:r>
              <a:rPr lang="en-US" sz="1050" b="1" dirty="0">
                <a:solidFill>
                  <a:srgbClr val="1B2A49"/>
                </a:solidFill>
                <a:latin typeface="Meiryo UI" pitchFamily="34" charset="0"/>
                <a:ea typeface="Meiryo UI" pitchFamily="34" charset="-122"/>
                <a:cs typeface="Meiryo UI" pitchFamily="34" charset="-120"/>
              </a:rPr>
              <a:t>Webhooks APIで通知</a:t>
            </a:r>
            <a:endParaRPr lang="en-US" sz="1050" dirty="0"/>
          </a:p>
        </p:txBody>
      </p:sp>
      <p:pic>
        <p:nvPicPr>
          <p:cNvPr id="89" name="Image 15" descr="preencoded.png">    </p:cNvPr>
          <p:cNvPicPr>
            <a:picLocks noChangeAspect="1"/>
          </p:cNvPicPr>
          <p:nvPr/>
        </p:nvPicPr>
        <p:blipFill>
          <a:blip r:embed="rId16"/>
          <a:stretch>
            <a:fillRect/>
          </a:stretch>
        </p:blipFill>
        <p:spPr>
          <a:xfrm>
            <a:off x="3291840" y="4389120"/>
            <a:ext cx="256032" cy="256032"/>
          </a:xfrm>
          <a:prstGeom prst="rect">
            <a:avLst/>
          </a:prstGeom>
        </p:spPr>
      </p:pic>
      <p:sp>
        <p:nvSpPr>
          <p:cNvPr id="90" name="Text 72"/>
          <p:cNvSpPr txBox="1"/>
          <p:nvPr/>
        </p:nvSpPr>
        <p:spPr>
          <a:xfrm>
            <a:off x="2971800" y="4672584"/>
            <a:ext cx="896112" cy="256032"/>
          </a:xfrm>
          <a:prstGeom prst="rect">
            <a:avLst/>
          </a:prstGeom>
          <a:noFill/>
          <a:ln/>
        </p:spPr>
        <p:txBody>
          <a:bodyPr wrap="square" lIns="0" tIns="0" rIns="0" bIns="0" rtlCol="0" anchor="t"/>
          <a:lstStyle/>
          <a:p>
            <a:pPr algn="ctr" indent="0" marL="0">
              <a:buNone/>
            </a:pPr>
            <a:r>
              <a:rPr lang="en-US" sz="750" dirty="0">
                <a:solidFill>
                  <a:srgbClr val="6B7280"/>
                </a:solidFill>
                <a:latin typeface="Meiryo UI" pitchFamily="34" charset="0"/>
                <a:ea typeface="Meiryo UI" pitchFamily="34" charset="-122"/>
                <a:cs typeface="Meiryo UI" pitchFamily="34" charset="-120"/>
              </a:rPr>
              <a:t>変更通知</a:t>
            </a:r>
            <a:endParaRPr lang="en-US" sz="750" dirty="0"/>
          </a:p>
        </p:txBody>
      </p:sp>
      <p:sp>
        <p:nvSpPr>
          <p:cNvPr id="91" name="Shape 73"/>
          <p:cNvSpPr/>
          <p:nvPr/>
        </p:nvSpPr>
        <p:spPr>
          <a:xfrm>
            <a:off x="3621024" y="4517136"/>
            <a:ext cx="585216" cy="0"/>
          </a:xfrm>
          <a:prstGeom prst="line">
            <a:avLst/>
          </a:prstGeom>
          <a:noFill/>
          <a:ln w="15875">
            <a:solidFill>
              <a:srgbClr val="9AA5B4"/>
            </a:solidFill>
            <a:prstDash val="solid"/>
            <a:tailEnd type="triangle"/>
          </a:ln>
        </p:spPr>
      </p:sp>
      <p:pic>
        <p:nvPicPr>
          <p:cNvPr id="92" name="Image 16" descr="preencoded.png">    </p:cNvPr>
          <p:cNvPicPr>
            <a:picLocks noChangeAspect="1"/>
          </p:cNvPicPr>
          <p:nvPr/>
        </p:nvPicPr>
        <p:blipFill>
          <a:blip r:embed="rId17"/>
          <a:stretch>
            <a:fillRect/>
          </a:stretch>
        </p:blipFill>
        <p:spPr>
          <a:xfrm>
            <a:off x="4279392" y="4389120"/>
            <a:ext cx="256032" cy="256032"/>
          </a:xfrm>
          <a:prstGeom prst="rect">
            <a:avLst/>
          </a:prstGeom>
        </p:spPr>
      </p:pic>
      <p:sp>
        <p:nvSpPr>
          <p:cNvPr id="93" name="Text 74"/>
          <p:cNvSpPr txBox="1"/>
          <p:nvPr/>
        </p:nvSpPr>
        <p:spPr>
          <a:xfrm>
            <a:off x="3959352" y="4672584"/>
            <a:ext cx="896112" cy="256032"/>
          </a:xfrm>
          <a:prstGeom prst="rect">
            <a:avLst/>
          </a:prstGeom>
          <a:noFill/>
          <a:ln/>
        </p:spPr>
        <p:txBody>
          <a:bodyPr wrap="square" lIns="0" tIns="0" rIns="0" bIns="0" rtlCol="0" anchor="t"/>
          <a:lstStyle/>
          <a:p>
            <a:pPr algn="ctr" indent="0" marL="0">
              <a:buNone/>
            </a:pPr>
            <a:r>
              <a:rPr lang="en-US" sz="750" dirty="0">
                <a:solidFill>
                  <a:srgbClr val="6B7280"/>
                </a:solidFill>
                <a:latin typeface="Meiryo UI" pitchFamily="34" charset="0"/>
                <a:ea typeface="Meiryo UI" pitchFamily="34" charset="-122"/>
                <a:cs typeface="Meiryo UI" pitchFamily="34" charset="-120"/>
              </a:rPr>
              <a:t>差分を取得</a:t>
            </a:r>
            <a:endParaRPr lang="en-US" sz="750" dirty="0"/>
          </a:p>
        </p:txBody>
      </p:sp>
      <p:sp>
        <p:nvSpPr>
          <p:cNvPr id="94" name="Shape 75"/>
          <p:cNvSpPr/>
          <p:nvPr/>
        </p:nvSpPr>
        <p:spPr>
          <a:xfrm>
            <a:off x="4608576" y="4517136"/>
            <a:ext cx="585216" cy="0"/>
          </a:xfrm>
          <a:prstGeom prst="line">
            <a:avLst/>
          </a:prstGeom>
          <a:noFill/>
          <a:ln w="15875">
            <a:solidFill>
              <a:srgbClr val="9AA5B4"/>
            </a:solidFill>
            <a:prstDash val="solid"/>
            <a:tailEnd type="triangle"/>
          </a:ln>
        </p:spPr>
      </p:sp>
      <p:pic>
        <p:nvPicPr>
          <p:cNvPr id="95" name="Image 17" descr="preencoded.png">    </p:cNvPr>
          <p:cNvPicPr>
            <a:picLocks noChangeAspect="1"/>
          </p:cNvPicPr>
          <p:nvPr/>
        </p:nvPicPr>
        <p:blipFill>
          <a:blip r:embed="rId18"/>
          <a:stretch>
            <a:fillRect/>
          </a:stretch>
        </p:blipFill>
        <p:spPr>
          <a:xfrm>
            <a:off x="5266944" y="4389120"/>
            <a:ext cx="256032" cy="256032"/>
          </a:xfrm>
          <a:prstGeom prst="rect">
            <a:avLst/>
          </a:prstGeom>
        </p:spPr>
      </p:pic>
      <p:sp>
        <p:nvSpPr>
          <p:cNvPr id="96" name="Text 76"/>
          <p:cNvSpPr txBox="1"/>
          <p:nvPr/>
        </p:nvSpPr>
        <p:spPr>
          <a:xfrm>
            <a:off x="4946904" y="4672584"/>
            <a:ext cx="896112" cy="256032"/>
          </a:xfrm>
          <a:prstGeom prst="rect">
            <a:avLst/>
          </a:prstGeom>
          <a:noFill/>
          <a:ln/>
        </p:spPr>
        <p:txBody>
          <a:bodyPr wrap="square" lIns="0" tIns="0" rIns="0" bIns="0" rtlCol="0" anchor="t"/>
          <a:lstStyle/>
          <a:p>
            <a:pPr algn="ctr" indent="0" marL="0">
              <a:buNone/>
            </a:pPr>
            <a:r>
              <a:rPr lang="en-US" sz="750" dirty="0">
                <a:solidFill>
                  <a:srgbClr val="6B7280"/>
                </a:solidFill>
                <a:latin typeface="Meiryo UI" pitchFamily="34" charset="0"/>
                <a:ea typeface="Meiryo UI" pitchFamily="34" charset="-122"/>
                <a:cs typeface="Meiryo UI" pitchFamily="34" charset="-120"/>
              </a:rPr>
              <a:t>エージェント</a:t>
            </a:r>
            <a:endParaRPr lang="en-US" sz="750" dirty="0"/>
          </a:p>
        </p:txBody>
      </p:sp>
      <p:sp>
        <p:nvSpPr>
          <p:cNvPr id="97" name="Shape 77"/>
          <p:cNvSpPr/>
          <p:nvPr/>
        </p:nvSpPr>
        <p:spPr>
          <a:xfrm>
            <a:off x="5596128" y="4517136"/>
            <a:ext cx="585216" cy="0"/>
          </a:xfrm>
          <a:prstGeom prst="line">
            <a:avLst/>
          </a:prstGeom>
          <a:noFill/>
          <a:ln w="15875">
            <a:solidFill>
              <a:srgbClr val="9AA5B4"/>
            </a:solidFill>
            <a:prstDash val="solid"/>
            <a:tailEnd type="triangle"/>
          </a:ln>
        </p:spPr>
      </p:sp>
      <p:pic>
        <p:nvPicPr>
          <p:cNvPr id="98" name="Image 18" descr="preencoded.png">    </p:cNvPr>
          <p:cNvPicPr>
            <a:picLocks noChangeAspect="1"/>
          </p:cNvPicPr>
          <p:nvPr/>
        </p:nvPicPr>
        <p:blipFill>
          <a:blip r:embed="rId19"/>
          <a:stretch>
            <a:fillRect/>
          </a:stretch>
        </p:blipFill>
        <p:spPr>
          <a:xfrm>
            <a:off x="6254496" y="4389120"/>
            <a:ext cx="256032" cy="256032"/>
          </a:xfrm>
          <a:prstGeom prst="rect">
            <a:avLst/>
          </a:prstGeom>
        </p:spPr>
      </p:pic>
      <p:sp>
        <p:nvSpPr>
          <p:cNvPr id="99" name="Text 78"/>
          <p:cNvSpPr txBox="1"/>
          <p:nvPr/>
        </p:nvSpPr>
        <p:spPr>
          <a:xfrm>
            <a:off x="5934456" y="4672584"/>
            <a:ext cx="896112" cy="256032"/>
          </a:xfrm>
          <a:prstGeom prst="rect">
            <a:avLst/>
          </a:prstGeom>
          <a:noFill/>
          <a:ln/>
        </p:spPr>
        <p:txBody>
          <a:bodyPr wrap="square" lIns="0" tIns="0" rIns="0" bIns="0" rtlCol="0" anchor="t"/>
          <a:lstStyle/>
          <a:p>
            <a:pPr algn="ctr" indent="0" marL="0">
              <a:buNone/>
            </a:pPr>
            <a:r>
              <a:rPr lang="en-US" sz="750" dirty="0">
                <a:solidFill>
                  <a:srgbClr val="6B7280"/>
                </a:solidFill>
                <a:latin typeface="Meiryo UI" pitchFamily="34" charset="0"/>
                <a:ea typeface="Meiryo UI" pitchFamily="34" charset="-122"/>
                <a:cs typeface="Meiryo UI" pitchFamily="34" charset="-120"/>
              </a:rPr>
              <a:t>書き戻し</a:t>
            </a:r>
            <a:endParaRPr lang="en-US" sz="750" dirty="0"/>
          </a:p>
        </p:txBody>
      </p:sp>
      <p:sp>
        <p:nvSpPr>
          <p:cNvPr id="100" name="Text 79"/>
          <p:cNvSpPr txBox="1"/>
          <p:nvPr/>
        </p:nvSpPr>
        <p:spPr>
          <a:xfrm>
            <a:off x="6949440" y="4343400"/>
            <a:ext cx="1417320" cy="585216"/>
          </a:xfrm>
          <a:prstGeom prst="rect">
            <a:avLst/>
          </a:prstGeom>
          <a:noFill/>
          <a:ln/>
        </p:spPr>
        <p:txBody>
          <a:bodyPr wrap="square" lIns="508" tIns="508" rIns="508" bIns="508" rtlCol="0" anchor="ctr"/>
          <a:lstStyle/>
          <a:p>
            <a:pPr algn="ctr" indent="0" marL="0">
              <a:buNone/>
            </a:pPr>
            <a:r>
              <a:rPr lang="en-US" sz="950" dirty="0">
                <a:solidFill>
                  <a:srgbClr val="2B2B2B"/>
                </a:solidFill>
                <a:latin typeface="Meiryo UI" pitchFamily="34" charset="0"/>
                <a:ea typeface="Meiryo UI" pitchFamily="34" charset="-122"/>
                <a:cs typeface="Meiryo UI" pitchFamily="34" charset="-120"/>
              </a:rPr>
              <a:t>数十秒〜数分</a:t>
            </a:r>
            <a:endParaRPr lang="en-US" sz="950" dirty="0"/>
          </a:p>
        </p:txBody>
      </p:sp>
      <p:sp>
        <p:nvSpPr>
          <p:cNvPr id="101" name="Text 80"/>
          <p:cNvSpPr txBox="1"/>
          <p:nvPr/>
        </p:nvSpPr>
        <p:spPr>
          <a:xfrm>
            <a:off x="8412480" y="4343400"/>
            <a:ext cx="1005840" cy="585216"/>
          </a:xfrm>
          <a:prstGeom prst="rect">
            <a:avLst/>
          </a:prstGeom>
          <a:noFill/>
          <a:ln/>
        </p:spPr>
        <p:txBody>
          <a:bodyPr wrap="square" lIns="508" tIns="508" rIns="508" bIns="508" rtlCol="0" anchor="ctr"/>
          <a:lstStyle/>
          <a:p>
            <a:pPr algn="ctr" indent="0" marL="0">
              <a:buNone/>
            </a:pPr>
            <a:r>
              <a:rPr lang="en-US" sz="1000" b="1" dirty="0">
                <a:solidFill>
                  <a:srgbClr val="E8912D"/>
                </a:solidFill>
                <a:latin typeface="Meiryo UI" pitchFamily="34" charset="0"/>
                <a:ea typeface="Meiryo UI" pitchFamily="34" charset="-122"/>
                <a:cs typeface="Meiryo UI" pitchFamily="34" charset="-120"/>
              </a:rPr>
              <a:t>★★★★☆</a:t>
            </a:r>
            <a:endParaRPr lang="en-US" sz="1000" dirty="0"/>
          </a:p>
        </p:txBody>
      </p:sp>
      <p:sp>
        <p:nvSpPr>
          <p:cNvPr id="102" name="Text 81"/>
          <p:cNvSpPr txBox="1"/>
          <p:nvPr/>
        </p:nvSpPr>
        <p:spPr>
          <a:xfrm>
            <a:off x="9509760" y="4343400"/>
            <a:ext cx="2057400" cy="585216"/>
          </a:xfrm>
          <a:prstGeom prst="rect">
            <a:avLst/>
          </a:prstGeom>
          <a:noFill/>
          <a:ln/>
        </p:spPr>
        <p:txBody>
          <a:bodyPr wrap="square" lIns="508" tIns="508" rIns="508" bIns="508" rtlCol="0" anchor="ctr"/>
          <a:lstStyle/>
          <a:p>
            <a:pPr indent="0" marL="0">
              <a:buNone/>
            </a:pPr>
            <a:r>
              <a:rPr lang="en-US" sz="900" dirty="0">
                <a:solidFill>
                  <a:srgbClr val="2B2B2B"/>
                </a:solidFill>
                <a:latin typeface="Meiryo UI" pitchFamily="34" charset="0"/>
                <a:ea typeface="Meiryo UI" pitchFamily="34" charset="-122"/>
                <a:cs typeface="Meiryo UI" pitchFamily="34" charset="-120"/>
              </a:rPr>
              <a:t>通知には中身がなく差分の取得が必要。7日ごとの更新も必要</a:t>
            </a:r>
            <a:endParaRPr lang="en-US" sz="900" dirty="0"/>
          </a:p>
        </p:txBody>
      </p:sp>
      <p:sp>
        <p:nvSpPr>
          <p:cNvPr id="103" name="Shape 82"/>
          <p:cNvSpPr/>
          <p:nvPr/>
        </p:nvSpPr>
        <p:spPr>
          <a:xfrm>
            <a:off x="548640" y="4983480"/>
            <a:ext cx="11064240" cy="585216"/>
          </a:xfrm>
          <a:prstGeom prst="roundRect">
            <a:avLst>
              <a:gd name="adj" fmla="val 7813"/>
            </a:avLst>
          </a:prstGeom>
          <a:solidFill>
            <a:srgbClr val="FFFFFF"/>
          </a:solidFill>
          <a:ln/>
        </p:spPr>
      </p:sp>
      <p:sp>
        <p:nvSpPr>
          <p:cNvPr id="104" name="Shape 83"/>
          <p:cNvSpPr/>
          <p:nvPr/>
        </p:nvSpPr>
        <p:spPr>
          <a:xfrm>
            <a:off x="640080" y="5093208"/>
            <a:ext cx="365760" cy="365760"/>
          </a:xfrm>
          <a:prstGeom prst="ellipse">
            <a:avLst/>
          </a:prstGeom>
          <a:solidFill>
            <a:srgbClr val="0E9F9A"/>
          </a:solidFill>
          <a:ln/>
        </p:spPr>
      </p:sp>
      <p:sp>
        <p:nvSpPr>
          <p:cNvPr id="105" name="Text 84"/>
          <p:cNvSpPr txBox="1"/>
          <p:nvPr/>
        </p:nvSpPr>
        <p:spPr>
          <a:xfrm>
            <a:off x="640080" y="5093208"/>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O6</a:t>
            </a:r>
            <a:endParaRPr lang="en-US" sz="1100" dirty="0"/>
          </a:p>
        </p:txBody>
      </p:sp>
      <p:sp>
        <p:nvSpPr>
          <p:cNvPr id="106" name="Text 85"/>
          <p:cNvSpPr txBox="1"/>
          <p:nvPr/>
        </p:nvSpPr>
        <p:spPr>
          <a:xfrm>
            <a:off x="1097280" y="4983480"/>
            <a:ext cx="1783080" cy="585216"/>
          </a:xfrm>
          <a:prstGeom prst="rect">
            <a:avLst/>
          </a:prstGeom>
          <a:noFill/>
          <a:ln/>
        </p:spPr>
        <p:txBody>
          <a:bodyPr wrap="square" lIns="508" tIns="508" rIns="508" bIns="508" rtlCol="0" anchor="ctr"/>
          <a:lstStyle/>
          <a:p>
            <a:pPr indent="0" marL="0">
              <a:buNone/>
            </a:pPr>
            <a:r>
              <a:rPr lang="en-US" sz="1050" b="1" dirty="0">
                <a:solidFill>
                  <a:srgbClr val="1B2A49"/>
                </a:solidFill>
                <a:latin typeface="Meiryo UI" pitchFamily="34" charset="0"/>
                <a:ea typeface="Meiryo UI" pitchFamily="34" charset="-122"/>
                <a:cs typeface="Meiryo UI" pitchFamily="34" charset="-120"/>
              </a:rPr>
              <a:t>iPaaS（Make・Zapierなど）</a:t>
            </a:r>
            <a:endParaRPr lang="en-US" sz="1050" dirty="0"/>
          </a:p>
        </p:txBody>
      </p:sp>
      <p:pic>
        <p:nvPicPr>
          <p:cNvPr id="107" name="Image 19" descr="preencoded.png">    </p:cNvPr>
          <p:cNvPicPr>
            <a:picLocks noChangeAspect="1"/>
          </p:cNvPicPr>
          <p:nvPr/>
        </p:nvPicPr>
        <p:blipFill>
          <a:blip r:embed="rId20"/>
          <a:stretch>
            <a:fillRect/>
          </a:stretch>
        </p:blipFill>
        <p:spPr>
          <a:xfrm>
            <a:off x="3291840" y="5029200"/>
            <a:ext cx="256032" cy="256032"/>
          </a:xfrm>
          <a:prstGeom prst="rect">
            <a:avLst/>
          </a:prstGeom>
        </p:spPr>
      </p:pic>
      <p:sp>
        <p:nvSpPr>
          <p:cNvPr id="108" name="Text 86"/>
          <p:cNvSpPr txBox="1"/>
          <p:nvPr/>
        </p:nvSpPr>
        <p:spPr>
          <a:xfrm>
            <a:off x="2971800" y="5312664"/>
            <a:ext cx="896112" cy="256032"/>
          </a:xfrm>
          <a:prstGeom prst="rect">
            <a:avLst/>
          </a:prstGeom>
          <a:noFill/>
          <a:ln/>
        </p:spPr>
        <p:txBody>
          <a:bodyPr wrap="square" lIns="0" tIns="0" rIns="0" bIns="0" rtlCol="0" anchor="t"/>
          <a:lstStyle/>
          <a:p>
            <a:pPr algn="ctr" indent="0" marL="0">
              <a:buNone/>
            </a:pPr>
            <a:r>
              <a:rPr lang="en-US" sz="750" dirty="0">
                <a:solidFill>
                  <a:srgbClr val="6B7280"/>
                </a:solidFill>
                <a:latin typeface="Meiryo UI" pitchFamily="34" charset="0"/>
                <a:ea typeface="Meiryo UI" pitchFamily="34" charset="-122"/>
                <a:cs typeface="Meiryo UI" pitchFamily="34" charset="-120"/>
              </a:rPr>
              <a:t>標準トリガー</a:t>
            </a:r>
            <a:endParaRPr lang="en-US" sz="750" dirty="0"/>
          </a:p>
        </p:txBody>
      </p:sp>
      <p:sp>
        <p:nvSpPr>
          <p:cNvPr id="109" name="Shape 87"/>
          <p:cNvSpPr/>
          <p:nvPr/>
        </p:nvSpPr>
        <p:spPr>
          <a:xfrm>
            <a:off x="3621024" y="5157216"/>
            <a:ext cx="585216" cy="0"/>
          </a:xfrm>
          <a:prstGeom prst="line">
            <a:avLst/>
          </a:prstGeom>
          <a:noFill/>
          <a:ln w="15875">
            <a:solidFill>
              <a:srgbClr val="9AA5B4"/>
            </a:solidFill>
            <a:prstDash val="solid"/>
            <a:tailEnd type="triangle"/>
          </a:ln>
        </p:spPr>
      </p:sp>
      <p:pic>
        <p:nvPicPr>
          <p:cNvPr id="110" name="Image 20" descr="preencoded.png">    </p:cNvPr>
          <p:cNvPicPr>
            <a:picLocks noChangeAspect="1"/>
          </p:cNvPicPr>
          <p:nvPr/>
        </p:nvPicPr>
        <p:blipFill>
          <a:blip r:embed="rId21"/>
          <a:stretch>
            <a:fillRect/>
          </a:stretch>
        </p:blipFill>
        <p:spPr>
          <a:xfrm>
            <a:off x="4279392" y="5029200"/>
            <a:ext cx="256032" cy="256032"/>
          </a:xfrm>
          <a:prstGeom prst="rect">
            <a:avLst/>
          </a:prstGeom>
        </p:spPr>
      </p:pic>
      <p:sp>
        <p:nvSpPr>
          <p:cNvPr id="111" name="Text 88"/>
          <p:cNvSpPr txBox="1"/>
          <p:nvPr/>
        </p:nvSpPr>
        <p:spPr>
          <a:xfrm>
            <a:off x="3959352" y="5312664"/>
            <a:ext cx="896112" cy="256032"/>
          </a:xfrm>
          <a:prstGeom prst="rect">
            <a:avLst/>
          </a:prstGeom>
          <a:noFill/>
          <a:ln/>
        </p:spPr>
        <p:txBody>
          <a:bodyPr wrap="square" lIns="0" tIns="0" rIns="0" bIns="0" rtlCol="0" anchor="t"/>
          <a:lstStyle/>
          <a:p>
            <a:pPr algn="ctr" indent="0" marL="0">
              <a:buNone/>
            </a:pPr>
            <a:r>
              <a:rPr lang="en-US" sz="750" dirty="0">
                <a:solidFill>
                  <a:srgbClr val="6B7280"/>
                </a:solidFill>
                <a:latin typeface="Meiryo UI" pitchFamily="34" charset="0"/>
                <a:ea typeface="Meiryo UI" pitchFamily="34" charset="-122"/>
                <a:cs typeface="Meiryo UI" pitchFamily="34" charset="-120"/>
              </a:rPr>
              <a:t>iPaaS</a:t>
            </a:r>
            <a:endParaRPr lang="en-US" sz="750" dirty="0"/>
          </a:p>
        </p:txBody>
      </p:sp>
      <p:sp>
        <p:nvSpPr>
          <p:cNvPr id="112" name="Shape 89"/>
          <p:cNvSpPr/>
          <p:nvPr/>
        </p:nvSpPr>
        <p:spPr>
          <a:xfrm>
            <a:off x="4608576" y="5157216"/>
            <a:ext cx="585216" cy="0"/>
          </a:xfrm>
          <a:prstGeom prst="line">
            <a:avLst/>
          </a:prstGeom>
          <a:noFill/>
          <a:ln w="15875">
            <a:solidFill>
              <a:srgbClr val="9AA5B4"/>
            </a:solidFill>
            <a:prstDash val="solid"/>
            <a:tailEnd type="triangle"/>
          </a:ln>
        </p:spPr>
      </p:sp>
      <p:pic>
        <p:nvPicPr>
          <p:cNvPr id="113" name="Image 21" descr="preencoded.png">    </p:cNvPr>
          <p:cNvPicPr>
            <a:picLocks noChangeAspect="1"/>
          </p:cNvPicPr>
          <p:nvPr/>
        </p:nvPicPr>
        <p:blipFill>
          <a:blip r:embed="rId22"/>
          <a:stretch>
            <a:fillRect/>
          </a:stretch>
        </p:blipFill>
        <p:spPr>
          <a:xfrm>
            <a:off x="5266944" y="5029200"/>
            <a:ext cx="256032" cy="256032"/>
          </a:xfrm>
          <a:prstGeom prst="rect">
            <a:avLst/>
          </a:prstGeom>
        </p:spPr>
      </p:pic>
      <p:sp>
        <p:nvSpPr>
          <p:cNvPr id="114" name="Text 90"/>
          <p:cNvSpPr txBox="1"/>
          <p:nvPr/>
        </p:nvSpPr>
        <p:spPr>
          <a:xfrm>
            <a:off x="4946904" y="5312664"/>
            <a:ext cx="896112" cy="256032"/>
          </a:xfrm>
          <a:prstGeom prst="rect">
            <a:avLst/>
          </a:prstGeom>
          <a:noFill/>
          <a:ln/>
        </p:spPr>
        <p:txBody>
          <a:bodyPr wrap="square" lIns="0" tIns="0" rIns="0" bIns="0" rtlCol="0" anchor="t"/>
          <a:lstStyle/>
          <a:p>
            <a:pPr algn="ctr" indent="0" marL="0">
              <a:buNone/>
            </a:pPr>
            <a:r>
              <a:rPr lang="en-US" sz="750" dirty="0">
                <a:solidFill>
                  <a:srgbClr val="6B7280"/>
                </a:solidFill>
                <a:latin typeface="Meiryo UI" pitchFamily="34" charset="0"/>
                <a:ea typeface="Meiryo UI" pitchFamily="34" charset="-122"/>
                <a:cs typeface="Meiryo UI" pitchFamily="34" charset="-120"/>
              </a:rPr>
              <a:t>LLM API</a:t>
            </a:r>
            <a:endParaRPr lang="en-US" sz="750" dirty="0"/>
          </a:p>
        </p:txBody>
      </p:sp>
      <p:sp>
        <p:nvSpPr>
          <p:cNvPr id="115" name="Shape 91"/>
          <p:cNvSpPr/>
          <p:nvPr/>
        </p:nvSpPr>
        <p:spPr>
          <a:xfrm>
            <a:off x="5596128" y="5157216"/>
            <a:ext cx="585216" cy="0"/>
          </a:xfrm>
          <a:prstGeom prst="line">
            <a:avLst/>
          </a:prstGeom>
          <a:noFill/>
          <a:ln w="15875">
            <a:solidFill>
              <a:srgbClr val="9AA5B4"/>
            </a:solidFill>
            <a:prstDash val="solid"/>
            <a:tailEnd type="triangle"/>
          </a:ln>
        </p:spPr>
      </p:sp>
      <p:pic>
        <p:nvPicPr>
          <p:cNvPr id="116" name="Image 22" descr="preencoded.png">    </p:cNvPr>
          <p:cNvPicPr>
            <a:picLocks noChangeAspect="1"/>
          </p:cNvPicPr>
          <p:nvPr/>
        </p:nvPicPr>
        <p:blipFill>
          <a:blip r:embed="rId23"/>
          <a:stretch>
            <a:fillRect/>
          </a:stretch>
        </p:blipFill>
        <p:spPr>
          <a:xfrm>
            <a:off x="6254496" y="5029200"/>
            <a:ext cx="256032" cy="256032"/>
          </a:xfrm>
          <a:prstGeom prst="rect">
            <a:avLst/>
          </a:prstGeom>
        </p:spPr>
      </p:pic>
      <p:sp>
        <p:nvSpPr>
          <p:cNvPr id="117" name="Text 92"/>
          <p:cNvSpPr txBox="1"/>
          <p:nvPr/>
        </p:nvSpPr>
        <p:spPr>
          <a:xfrm>
            <a:off x="5934456" y="5312664"/>
            <a:ext cx="896112" cy="256032"/>
          </a:xfrm>
          <a:prstGeom prst="rect">
            <a:avLst/>
          </a:prstGeom>
          <a:noFill/>
          <a:ln/>
        </p:spPr>
        <p:txBody>
          <a:bodyPr wrap="square" lIns="0" tIns="0" rIns="0" bIns="0" rtlCol="0" anchor="t"/>
          <a:lstStyle/>
          <a:p>
            <a:pPr algn="ctr" indent="0" marL="0">
              <a:buNone/>
            </a:pPr>
            <a:r>
              <a:rPr lang="en-US" sz="750" dirty="0">
                <a:solidFill>
                  <a:srgbClr val="6B7280"/>
                </a:solidFill>
                <a:latin typeface="Meiryo UI" pitchFamily="34" charset="0"/>
                <a:ea typeface="Meiryo UI" pitchFamily="34" charset="-122"/>
                <a:cs typeface="Meiryo UI" pitchFamily="34" charset="-120"/>
              </a:rPr>
              <a:t>書き戻し</a:t>
            </a:r>
            <a:endParaRPr lang="en-US" sz="750" dirty="0"/>
          </a:p>
        </p:txBody>
      </p:sp>
      <p:sp>
        <p:nvSpPr>
          <p:cNvPr id="118" name="Text 93"/>
          <p:cNvSpPr txBox="1"/>
          <p:nvPr/>
        </p:nvSpPr>
        <p:spPr>
          <a:xfrm>
            <a:off x="6949440" y="4983480"/>
            <a:ext cx="1417320" cy="585216"/>
          </a:xfrm>
          <a:prstGeom prst="rect">
            <a:avLst/>
          </a:prstGeom>
          <a:noFill/>
          <a:ln/>
        </p:spPr>
        <p:txBody>
          <a:bodyPr wrap="square" lIns="508" tIns="508" rIns="508" bIns="508" rtlCol="0" anchor="ctr"/>
          <a:lstStyle/>
          <a:p>
            <a:pPr algn="ctr" indent="0" marL="0">
              <a:buNone/>
            </a:pPr>
            <a:r>
              <a:rPr lang="en-US" sz="950" dirty="0">
                <a:solidFill>
                  <a:srgbClr val="2B2B2B"/>
                </a:solidFill>
                <a:latin typeface="Meiryo UI" pitchFamily="34" charset="0"/>
                <a:ea typeface="Meiryo UI" pitchFamily="34" charset="-122"/>
                <a:cs typeface="Meiryo UI" pitchFamily="34" charset="-120"/>
              </a:rPr>
              <a:t>数十秒〜数分</a:t>
            </a:r>
            <a:endParaRPr lang="en-US" sz="950" dirty="0"/>
          </a:p>
        </p:txBody>
      </p:sp>
      <p:sp>
        <p:nvSpPr>
          <p:cNvPr id="119" name="Text 94"/>
          <p:cNvSpPr txBox="1"/>
          <p:nvPr/>
        </p:nvSpPr>
        <p:spPr>
          <a:xfrm>
            <a:off x="8412480" y="4983480"/>
            <a:ext cx="1005840" cy="585216"/>
          </a:xfrm>
          <a:prstGeom prst="rect">
            <a:avLst/>
          </a:prstGeom>
          <a:noFill/>
          <a:ln/>
        </p:spPr>
        <p:txBody>
          <a:bodyPr wrap="square" lIns="508" tIns="508" rIns="508" bIns="508" rtlCol="0" anchor="ctr"/>
          <a:lstStyle/>
          <a:p>
            <a:pPr algn="ctr" indent="0" marL="0">
              <a:buNone/>
            </a:pPr>
            <a:r>
              <a:rPr lang="en-US" sz="1000" b="1" dirty="0">
                <a:solidFill>
                  <a:srgbClr val="E8912D"/>
                </a:solidFill>
                <a:latin typeface="Meiryo UI" pitchFamily="34" charset="0"/>
                <a:ea typeface="Meiryo UI" pitchFamily="34" charset="-122"/>
                <a:cs typeface="Meiryo UI" pitchFamily="34" charset="-120"/>
              </a:rPr>
              <a:t>★★☆☆☆</a:t>
            </a:r>
            <a:endParaRPr lang="en-US" sz="1000" dirty="0"/>
          </a:p>
        </p:txBody>
      </p:sp>
      <p:sp>
        <p:nvSpPr>
          <p:cNvPr id="120" name="Text 95"/>
          <p:cNvSpPr txBox="1"/>
          <p:nvPr/>
        </p:nvSpPr>
        <p:spPr>
          <a:xfrm>
            <a:off x="9509760" y="4983480"/>
            <a:ext cx="2057400" cy="585216"/>
          </a:xfrm>
          <a:prstGeom prst="rect">
            <a:avLst/>
          </a:prstGeom>
          <a:noFill/>
          <a:ln/>
        </p:spPr>
        <p:txBody>
          <a:bodyPr wrap="square" lIns="508" tIns="508" rIns="508" bIns="508" rtlCol="0" anchor="ctr"/>
          <a:lstStyle/>
          <a:p>
            <a:pPr indent="0" marL="0">
              <a:buNone/>
            </a:pPr>
            <a:r>
              <a:rPr lang="en-US" sz="900" dirty="0">
                <a:solidFill>
                  <a:srgbClr val="2B2B2B"/>
                </a:solidFill>
                <a:latin typeface="Meiryo UI" pitchFamily="34" charset="0"/>
                <a:ea typeface="Meiryo UI" pitchFamily="34" charset="-122"/>
                <a:cs typeface="Meiryo UI" pitchFamily="34" charset="-120"/>
              </a:rPr>
              <a:t>Airtableの変更を標準機能で検知できる。新たな外部SaaSの契約・審査が必要。Copilot Studioは直接呼べない</a:t>
            </a:r>
            <a:endParaRPr lang="en-US" sz="900" dirty="0"/>
          </a:p>
        </p:txBody>
      </p:sp>
      <p:sp>
        <p:nvSpPr>
          <p:cNvPr id="121" name="Shape 96"/>
          <p:cNvSpPr/>
          <p:nvPr/>
        </p:nvSpPr>
        <p:spPr>
          <a:xfrm>
            <a:off x="548640" y="5623560"/>
            <a:ext cx="11064240" cy="585216"/>
          </a:xfrm>
          <a:prstGeom prst="roundRect">
            <a:avLst>
              <a:gd name="adj" fmla="val 7813"/>
            </a:avLst>
          </a:prstGeom>
          <a:solidFill>
            <a:srgbClr val="FFFFFF"/>
          </a:solidFill>
          <a:ln w="12700">
            <a:solidFill>
              <a:srgbClr val="D5DBE3"/>
            </a:solidFill>
            <a:prstDash val="dash"/>
          </a:ln>
        </p:spPr>
      </p:sp>
      <p:sp>
        <p:nvSpPr>
          <p:cNvPr id="122" name="Shape 97"/>
          <p:cNvSpPr/>
          <p:nvPr/>
        </p:nvSpPr>
        <p:spPr>
          <a:xfrm>
            <a:off x="640080" y="5733288"/>
            <a:ext cx="365760" cy="365760"/>
          </a:xfrm>
          <a:prstGeom prst="ellipse">
            <a:avLst/>
          </a:prstGeom>
          <a:solidFill>
            <a:srgbClr val="9AA5B4"/>
          </a:solidFill>
          <a:ln/>
        </p:spPr>
      </p:sp>
      <p:sp>
        <p:nvSpPr>
          <p:cNvPr id="123" name="Text 98"/>
          <p:cNvSpPr txBox="1"/>
          <p:nvPr/>
        </p:nvSpPr>
        <p:spPr>
          <a:xfrm>
            <a:off x="640080" y="5733288"/>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O7</a:t>
            </a:r>
            <a:endParaRPr lang="en-US" sz="1100" dirty="0"/>
          </a:p>
        </p:txBody>
      </p:sp>
      <p:sp>
        <p:nvSpPr>
          <p:cNvPr id="124" name="Text 99"/>
          <p:cNvSpPr txBox="1"/>
          <p:nvPr/>
        </p:nvSpPr>
        <p:spPr>
          <a:xfrm>
            <a:off x="1097280" y="5623560"/>
            <a:ext cx="1783080" cy="585216"/>
          </a:xfrm>
          <a:prstGeom prst="rect">
            <a:avLst/>
          </a:prstGeom>
          <a:noFill/>
          <a:ln/>
        </p:spPr>
        <p:txBody>
          <a:bodyPr wrap="square" lIns="508" tIns="508" rIns="508" bIns="508" rtlCol="0" anchor="ctr"/>
          <a:lstStyle/>
          <a:p>
            <a:pPr indent="0" marL="0">
              <a:buNone/>
            </a:pPr>
            <a:r>
              <a:rPr lang="en-US" sz="1050" b="1" dirty="0">
                <a:solidFill>
                  <a:srgbClr val="1B2A49"/>
                </a:solidFill>
                <a:latin typeface="Meiryo UI" pitchFamily="34" charset="0"/>
                <a:ea typeface="Meiryo UI" pitchFamily="34" charset="-122"/>
                <a:cs typeface="Meiryo UI" pitchFamily="34" charset="-120"/>
              </a:rPr>
              <a:t>参考：エージェントの代わりにAI Builder</a:t>
            </a:r>
            <a:endParaRPr lang="en-US" sz="1050" dirty="0"/>
          </a:p>
        </p:txBody>
      </p:sp>
      <p:pic>
        <p:nvPicPr>
          <p:cNvPr id="125" name="Image 23" descr="preencoded.png">    </p:cNvPr>
          <p:cNvPicPr>
            <a:picLocks noChangeAspect="1"/>
          </p:cNvPicPr>
          <p:nvPr/>
        </p:nvPicPr>
        <p:blipFill>
          <a:blip r:embed="rId24"/>
          <a:stretch>
            <a:fillRect/>
          </a:stretch>
        </p:blipFill>
        <p:spPr>
          <a:xfrm>
            <a:off x="3291840" y="5669280"/>
            <a:ext cx="256032" cy="256032"/>
          </a:xfrm>
          <a:prstGeom prst="rect">
            <a:avLst/>
          </a:prstGeom>
        </p:spPr>
      </p:pic>
      <p:sp>
        <p:nvSpPr>
          <p:cNvPr id="126" name="Text 100"/>
          <p:cNvSpPr txBox="1"/>
          <p:nvPr/>
        </p:nvSpPr>
        <p:spPr>
          <a:xfrm>
            <a:off x="2971800" y="5952744"/>
            <a:ext cx="896112" cy="256032"/>
          </a:xfrm>
          <a:prstGeom prst="rect">
            <a:avLst/>
          </a:prstGeom>
          <a:noFill/>
          <a:ln/>
        </p:spPr>
        <p:txBody>
          <a:bodyPr wrap="square" lIns="0" tIns="0" rIns="0" bIns="0" rtlCol="0" anchor="t"/>
          <a:lstStyle/>
          <a:p>
            <a:pPr algn="ctr" indent="0" marL="0">
              <a:buNone/>
            </a:pPr>
            <a:r>
              <a:rPr lang="en-US" sz="750" dirty="0">
                <a:solidFill>
                  <a:srgbClr val="6B7280"/>
                </a:solidFill>
                <a:latin typeface="Meiryo UI" pitchFamily="34" charset="0"/>
                <a:ea typeface="Meiryo UI" pitchFamily="34" charset="-122"/>
                <a:cs typeface="Meiryo UI" pitchFamily="34" charset="-120"/>
              </a:rPr>
              <a:t>O1／O2で起動</a:t>
            </a:r>
            <a:endParaRPr lang="en-US" sz="750" dirty="0"/>
          </a:p>
        </p:txBody>
      </p:sp>
      <p:sp>
        <p:nvSpPr>
          <p:cNvPr id="127" name="Shape 101"/>
          <p:cNvSpPr/>
          <p:nvPr/>
        </p:nvSpPr>
        <p:spPr>
          <a:xfrm>
            <a:off x="3621024" y="5797296"/>
            <a:ext cx="585216" cy="0"/>
          </a:xfrm>
          <a:prstGeom prst="line">
            <a:avLst/>
          </a:prstGeom>
          <a:noFill/>
          <a:ln w="15875">
            <a:solidFill>
              <a:srgbClr val="9AA5B4"/>
            </a:solidFill>
            <a:prstDash val="solid"/>
            <a:tailEnd type="triangle"/>
          </a:ln>
        </p:spPr>
      </p:sp>
      <p:pic>
        <p:nvPicPr>
          <p:cNvPr id="128" name="Image 24" descr="preencoded.png">    </p:cNvPr>
          <p:cNvPicPr>
            <a:picLocks noChangeAspect="1"/>
          </p:cNvPicPr>
          <p:nvPr/>
        </p:nvPicPr>
        <p:blipFill>
          <a:blip r:embed="rId25"/>
          <a:stretch>
            <a:fillRect/>
          </a:stretch>
        </p:blipFill>
        <p:spPr>
          <a:xfrm>
            <a:off x="4279392" y="5669280"/>
            <a:ext cx="256032" cy="256032"/>
          </a:xfrm>
          <a:prstGeom prst="rect">
            <a:avLst/>
          </a:prstGeom>
        </p:spPr>
      </p:pic>
      <p:sp>
        <p:nvSpPr>
          <p:cNvPr id="129" name="Text 102"/>
          <p:cNvSpPr txBox="1"/>
          <p:nvPr/>
        </p:nvSpPr>
        <p:spPr>
          <a:xfrm>
            <a:off x="3959352" y="5952744"/>
            <a:ext cx="896112" cy="256032"/>
          </a:xfrm>
          <a:prstGeom prst="rect">
            <a:avLst/>
          </a:prstGeom>
          <a:noFill/>
          <a:ln/>
        </p:spPr>
        <p:txBody>
          <a:bodyPr wrap="square" lIns="0" tIns="0" rIns="0" bIns="0" rtlCol="0" anchor="t"/>
          <a:lstStyle/>
          <a:p>
            <a:pPr algn="ctr" indent="0" marL="0">
              <a:buNone/>
            </a:pPr>
            <a:r>
              <a:rPr lang="en-US" sz="750" dirty="0">
                <a:solidFill>
                  <a:srgbClr val="6B7280"/>
                </a:solidFill>
                <a:latin typeface="Meiryo UI" pitchFamily="34" charset="0"/>
                <a:ea typeface="Meiryo UI" pitchFamily="34" charset="-122"/>
                <a:cs typeface="Meiryo UI" pitchFamily="34" charset="-120"/>
              </a:rPr>
              <a:t>プロンプト</a:t>
            </a:r>
            <a:endParaRPr lang="en-US" sz="750" dirty="0"/>
          </a:p>
        </p:txBody>
      </p:sp>
      <p:sp>
        <p:nvSpPr>
          <p:cNvPr id="130" name="Shape 103"/>
          <p:cNvSpPr/>
          <p:nvPr/>
        </p:nvSpPr>
        <p:spPr>
          <a:xfrm>
            <a:off x="4608576" y="5797296"/>
            <a:ext cx="585216" cy="0"/>
          </a:xfrm>
          <a:prstGeom prst="line">
            <a:avLst/>
          </a:prstGeom>
          <a:noFill/>
          <a:ln w="15875">
            <a:solidFill>
              <a:srgbClr val="9AA5B4"/>
            </a:solidFill>
            <a:prstDash val="solid"/>
            <a:tailEnd type="triangle"/>
          </a:ln>
        </p:spPr>
      </p:sp>
      <p:pic>
        <p:nvPicPr>
          <p:cNvPr id="131" name="Image 25" descr="preencoded.png">    </p:cNvPr>
          <p:cNvPicPr>
            <a:picLocks noChangeAspect="1"/>
          </p:cNvPicPr>
          <p:nvPr/>
        </p:nvPicPr>
        <p:blipFill>
          <a:blip r:embed="rId26"/>
          <a:stretch>
            <a:fillRect/>
          </a:stretch>
        </p:blipFill>
        <p:spPr>
          <a:xfrm>
            <a:off x="5266944" y="5669280"/>
            <a:ext cx="256032" cy="256032"/>
          </a:xfrm>
          <a:prstGeom prst="rect">
            <a:avLst/>
          </a:prstGeom>
        </p:spPr>
      </p:pic>
      <p:sp>
        <p:nvSpPr>
          <p:cNvPr id="132" name="Text 104"/>
          <p:cNvSpPr txBox="1"/>
          <p:nvPr/>
        </p:nvSpPr>
        <p:spPr>
          <a:xfrm>
            <a:off x="4946904" y="5952744"/>
            <a:ext cx="896112" cy="256032"/>
          </a:xfrm>
          <a:prstGeom prst="rect">
            <a:avLst/>
          </a:prstGeom>
          <a:noFill/>
          <a:ln/>
        </p:spPr>
        <p:txBody>
          <a:bodyPr wrap="square" lIns="0" tIns="0" rIns="0" bIns="0" rtlCol="0" anchor="t"/>
          <a:lstStyle/>
          <a:p>
            <a:pPr algn="ctr" indent="0" marL="0">
              <a:buNone/>
            </a:pPr>
            <a:r>
              <a:rPr lang="en-US" sz="750" dirty="0">
                <a:solidFill>
                  <a:srgbClr val="6B7280"/>
                </a:solidFill>
                <a:latin typeface="Meiryo UI" pitchFamily="34" charset="0"/>
                <a:ea typeface="Meiryo UI" pitchFamily="34" charset="-122"/>
                <a:cs typeface="Meiryo UI" pitchFamily="34" charset="-120"/>
              </a:rPr>
              <a:t>書き戻し</a:t>
            </a:r>
            <a:endParaRPr lang="en-US" sz="750" dirty="0"/>
          </a:p>
        </p:txBody>
      </p:sp>
      <p:sp>
        <p:nvSpPr>
          <p:cNvPr id="133" name="Text 105"/>
          <p:cNvSpPr txBox="1"/>
          <p:nvPr/>
        </p:nvSpPr>
        <p:spPr>
          <a:xfrm>
            <a:off x="6949440" y="5623560"/>
            <a:ext cx="1417320" cy="585216"/>
          </a:xfrm>
          <a:prstGeom prst="rect">
            <a:avLst/>
          </a:prstGeom>
          <a:noFill/>
          <a:ln/>
        </p:spPr>
        <p:txBody>
          <a:bodyPr wrap="square" lIns="508" tIns="508" rIns="508" bIns="508" rtlCol="0" anchor="ctr"/>
          <a:lstStyle/>
          <a:p>
            <a:pPr algn="ctr" indent="0" marL="0">
              <a:buNone/>
            </a:pPr>
            <a:r>
              <a:rPr lang="en-US" sz="950" dirty="0">
                <a:solidFill>
                  <a:srgbClr val="2B2B2B"/>
                </a:solidFill>
                <a:latin typeface="Meiryo UI" pitchFamily="34" charset="0"/>
                <a:ea typeface="Meiryo UI" pitchFamily="34" charset="-122"/>
                <a:cs typeface="Meiryo UI" pitchFamily="34" charset="-120"/>
              </a:rPr>
              <a:t>O1／O2と同じ</a:t>
            </a:r>
            <a:endParaRPr lang="en-US" sz="950" dirty="0"/>
          </a:p>
        </p:txBody>
      </p:sp>
      <p:sp>
        <p:nvSpPr>
          <p:cNvPr id="134" name="Text 106"/>
          <p:cNvSpPr txBox="1"/>
          <p:nvPr/>
        </p:nvSpPr>
        <p:spPr>
          <a:xfrm>
            <a:off x="8412480" y="5623560"/>
            <a:ext cx="1005840" cy="585216"/>
          </a:xfrm>
          <a:prstGeom prst="rect">
            <a:avLst/>
          </a:prstGeom>
          <a:noFill/>
          <a:ln/>
        </p:spPr>
        <p:txBody>
          <a:bodyPr wrap="square" lIns="508" tIns="508" rIns="508" bIns="508" rtlCol="0" anchor="ctr"/>
          <a:lstStyle/>
          <a:p>
            <a:pPr algn="ctr" indent="0" marL="0">
              <a:buNone/>
            </a:pPr>
            <a:r>
              <a:rPr lang="en-US" sz="1000" b="1" dirty="0">
                <a:solidFill>
                  <a:srgbClr val="E8912D"/>
                </a:solidFill>
                <a:latin typeface="Meiryo UI" pitchFamily="34" charset="0"/>
                <a:ea typeface="Meiryo UI" pitchFamily="34" charset="-122"/>
                <a:cs typeface="Meiryo UI" pitchFamily="34" charset="-120"/>
              </a:rPr>
              <a:t>★★☆☆☆</a:t>
            </a:r>
            <a:endParaRPr lang="en-US" sz="1000" dirty="0"/>
          </a:p>
        </p:txBody>
      </p:sp>
      <p:sp>
        <p:nvSpPr>
          <p:cNvPr id="135" name="Text 107"/>
          <p:cNvSpPr txBox="1"/>
          <p:nvPr/>
        </p:nvSpPr>
        <p:spPr>
          <a:xfrm>
            <a:off x="9509760" y="5623560"/>
            <a:ext cx="2057400" cy="585216"/>
          </a:xfrm>
          <a:prstGeom prst="rect">
            <a:avLst/>
          </a:prstGeom>
          <a:noFill/>
          <a:ln/>
        </p:spPr>
        <p:txBody>
          <a:bodyPr wrap="square" lIns="508" tIns="508" rIns="508" bIns="508" rtlCol="0" anchor="ctr"/>
          <a:lstStyle/>
          <a:p>
            <a:pPr indent="0" marL="0">
              <a:buNone/>
            </a:pPr>
            <a:r>
              <a:rPr lang="en-US" sz="900" dirty="0">
                <a:solidFill>
                  <a:srgbClr val="2B2B2B"/>
                </a:solidFill>
                <a:latin typeface="Meiryo UI" pitchFamily="34" charset="0"/>
                <a:ea typeface="Meiryo UI" pitchFamily="34" charset="-122"/>
                <a:cs typeface="Meiryo UI" pitchFamily="34" charset="-120"/>
              </a:rPr>
              <a:t>出力の形式を固定しやすい。会話型の判断や複数ツールの利用はできない</a:t>
            </a:r>
            <a:endParaRPr lang="en-US" sz="900" dirty="0"/>
          </a:p>
        </p:txBody>
      </p:sp>
      <p:sp>
        <p:nvSpPr>
          <p:cNvPr id="136" name="Text 108"/>
          <p:cNvSpPr txBox="1"/>
          <p:nvPr/>
        </p:nvSpPr>
        <p:spPr>
          <a:xfrm>
            <a:off x="548640" y="6355080"/>
            <a:ext cx="11064240" cy="274320"/>
          </a:xfrm>
          <a:prstGeom prst="rect">
            <a:avLst/>
          </a:prstGeom>
          <a:noFill/>
          <a:ln/>
        </p:spPr>
        <p:txBody>
          <a:bodyPr wrap="square" lIns="0" tIns="0" rIns="0" bIns="0" rtlCol="0" anchor="t"/>
          <a:lstStyle/>
          <a:p>
            <a:pPr indent="0" marL="0">
              <a:buNone/>
            </a:pPr>
            <a:r>
              <a:rPr lang="en-US" sz="950" dirty="0">
                <a:solidFill>
                  <a:srgbClr val="6B7280"/>
                </a:solidFill>
                <a:latin typeface="Meiryo UI" pitchFamily="34" charset="0"/>
                <a:ea typeface="Meiryo UI" pitchFamily="34" charset="-122"/>
                <a:cs typeface="Meiryo UI" pitchFamily="34" charset="-120"/>
              </a:rPr>
              <a:t>すべての方式で、書き戻しはHTTPアクション＋PATが前提（Power AutomateのAirtableコネクタは非推奨）。O1とO2は同じフローの起動部分だけが違うため、併用や切り替えがしやすい</a:t>
            </a:r>
            <a:endParaRPr lang="en-US" sz="9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548640"/>
          </a:xfrm>
          <a:prstGeom prst="rect">
            <a:avLst/>
          </a:prstGeom>
          <a:noFill/>
          <a:ln/>
        </p:spPr>
        <p:txBody>
          <a:bodyPr wrap="square" lIns="0" tIns="0" rIns="0" bIns="0" rtlCol="0" anchor="ctr"/>
          <a:lstStyle/>
          <a:p>
            <a:pPr indent="0" marL="0">
              <a:buNone/>
            </a:pPr>
            <a:r>
              <a:rPr lang="en-US" sz="2600" b="1" dirty="0">
                <a:solidFill>
                  <a:srgbClr val="1B2A49"/>
                </a:solidFill>
                <a:latin typeface="Meiryo UI" pitchFamily="34" charset="0"/>
                <a:ea typeface="Meiryo UI" pitchFamily="34" charset="-122"/>
                <a:cs typeface="Meiryo UI" pitchFamily="34" charset="-120"/>
              </a:rPr>
              <a:t>O2の前提：外部（Airtable）から社内のPower Automateを呼べるか</a:t>
            </a:r>
            <a:endParaRPr lang="en-US" sz="2600" dirty="0"/>
          </a:p>
        </p:txBody>
      </p:sp>
      <p:sp>
        <p:nvSpPr>
          <p:cNvPr id="3" name="Text 1"/>
          <p:cNvSpPr txBox="1"/>
          <p:nvPr/>
        </p:nvSpPr>
        <p:spPr>
          <a:xfrm>
            <a:off x="548640" y="896112"/>
            <a:ext cx="11064240" cy="365760"/>
          </a:xfrm>
          <a:prstGeom prst="rect">
            <a:avLst/>
          </a:prstGeom>
          <a:noFill/>
          <a:ln/>
        </p:spPr>
        <p:txBody>
          <a:bodyPr wrap="square" lIns="0" tIns="0" rIns="0" bIns="0" rtlCol="0" anchor="ctr"/>
          <a:lstStyle/>
          <a:p>
            <a:pPr indent="0" marL="0">
              <a:buNone/>
            </a:pPr>
            <a:r>
              <a:rPr lang="en-US" sz="1400" dirty="0">
                <a:solidFill>
                  <a:srgbClr val="6B7280"/>
                </a:solidFill>
                <a:latin typeface="Meiryo UI" pitchFamily="34" charset="0"/>
                <a:ea typeface="Meiryo UI" pitchFamily="34" charset="-122"/>
                <a:cs typeface="Meiryo UI" pitchFamily="34" charset="-120"/>
              </a:rPr>
              <a:t>技術的には呼べる。ただしフローの設定・管理者のポリシー・ライセンスの3点次第</a:t>
            </a:r>
            <a:endParaRPr lang="en-US" sz="1400" dirty="0"/>
          </a:p>
        </p:txBody>
      </p:sp>
      <p:sp>
        <p:nvSpPr>
          <p:cNvPr id="4" name="Text 2"/>
          <p:cNvSpPr txBox="1"/>
          <p:nvPr/>
        </p:nvSpPr>
        <p:spPr>
          <a:xfrm>
            <a:off x="7498080" y="91440"/>
            <a:ext cx="4114800" cy="22860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5. 個別論点</a:t>
            </a:r>
            <a:endParaRPr lang="en-US" sz="900" dirty="0"/>
          </a:p>
        </p:txBody>
      </p:sp>
      <p:sp>
        <p:nvSpPr>
          <p:cNvPr id="5" name="Text 3"/>
          <p:cNvSpPr txBox="1"/>
          <p:nvPr/>
        </p:nvSpPr>
        <p:spPr>
          <a:xfrm>
            <a:off x="11247120" y="6446520"/>
            <a:ext cx="457200" cy="27432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36</a:t>
            </a:r>
            <a:endParaRPr lang="en-US" sz="900" dirty="0"/>
          </a:p>
        </p:txBody>
      </p:sp>
      <p:sp>
        <p:nvSpPr>
          <p:cNvPr id="6" name="Shape 4"/>
          <p:cNvSpPr/>
          <p:nvPr/>
        </p:nvSpPr>
        <p:spPr>
          <a:xfrm>
            <a:off x="548640" y="1417320"/>
            <a:ext cx="3566160" cy="2240280"/>
          </a:xfrm>
          <a:prstGeom prst="roundRect">
            <a:avLst>
              <a:gd name="adj" fmla="val 2449"/>
            </a:avLst>
          </a:prstGeom>
          <a:solidFill>
            <a:srgbClr val="F3F5F8"/>
          </a:solidFill>
          <a:ln/>
        </p:spPr>
      </p:sp>
      <p:sp>
        <p:nvSpPr>
          <p:cNvPr id="7" name="Shape 5"/>
          <p:cNvSpPr/>
          <p:nvPr/>
        </p:nvSpPr>
        <p:spPr>
          <a:xfrm>
            <a:off x="713232" y="1536192"/>
            <a:ext cx="438912" cy="438912"/>
          </a:xfrm>
          <a:prstGeom prst="ellipse">
            <a:avLst/>
          </a:prstGeom>
          <a:solidFill>
            <a:srgbClr val="FFFFFF"/>
          </a:solidFill>
          <a:ln/>
        </p:spPr>
      </p:sp>
      <p:pic>
        <p:nvPicPr>
          <p:cNvPr id="8" name="Image 0" descr="preencoded.png">    </p:cNvPr>
          <p:cNvPicPr>
            <a:picLocks noChangeAspect="1"/>
          </p:cNvPicPr>
          <p:nvPr/>
        </p:nvPicPr>
        <p:blipFill>
          <a:blip r:embed="rId1"/>
          <a:stretch>
            <a:fillRect/>
          </a:stretch>
        </p:blipFill>
        <p:spPr>
          <a:xfrm>
            <a:off x="801014" y="1623974"/>
            <a:ext cx="263347" cy="263347"/>
          </a:xfrm>
          <a:prstGeom prst="rect">
            <a:avLst/>
          </a:prstGeom>
        </p:spPr>
      </p:pic>
      <p:sp>
        <p:nvSpPr>
          <p:cNvPr id="9" name="Text 6"/>
          <p:cNvSpPr txBox="1"/>
          <p:nvPr/>
        </p:nvSpPr>
        <p:spPr>
          <a:xfrm>
            <a:off x="1234440" y="1517904"/>
            <a:ext cx="2788920" cy="274320"/>
          </a:xfrm>
          <a:prstGeom prst="rect">
            <a:avLst/>
          </a:prstGeom>
          <a:noFill/>
          <a:ln/>
        </p:spPr>
        <p:txBody>
          <a:bodyPr wrap="square" lIns="508" tIns="508" rIns="508" bIns="508"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① 誰が起動できるか</a:t>
            </a:r>
            <a:endParaRPr lang="en-US" sz="1300" dirty="0"/>
          </a:p>
        </p:txBody>
      </p:sp>
      <p:sp>
        <p:nvSpPr>
          <p:cNvPr id="10" name="Text 7"/>
          <p:cNvSpPr txBox="1"/>
          <p:nvPr/>
        </p:nvSpPr>
        <p:spPr>
          <a:xfrm>
            <a:off x="1234440" y="1792224"/>
            <a:ext cx="2788920" cy="237744"/>
          </a:xfrm>
          <a:prstGeom prst="rect">
            <a:avLst/>
          </a:prstGeom>
          <a:noFill/>
          <a:ln/>
        </p:spPr>
        <p:txBody>
          <a:bodyPr wrap="square" lIns="508" tIns="508" rIns="508" bIns="508" rtlCol="0" anchor="ctr"/>
          <a:lstStyle/>
          <a:p>
            <a:pPr indent="0" marL="0">
              <a:buNone/>
            </a:pPr>
            <a:r>
              <a:rPr lang="en-US" sz="900" dirty="0">
                <a:solidFill>
                  <a:srgbClr val="6B7280"/>
                </a:solidFill>
                <a:latin typeface="Meiryo UI" pitchFamily="34" charset="0"/>
                <a:ea typeface="Meiryo UI" pitchFamily="34" charset="-122"/>
                <a:cs typeface="Meiryo UI" pitchFamily="34" charset="-120"/>
              </a:rPr>
              <a:t>トリガーの「フローをトリガーできるユーザー」設定</a:t>
            </a:r>
            <a:endParaRPr lang="en-US" sz="900" dirty="0"/>
          </a:p>
        </p:txBody>
      </p:sp>
      <p:sp>
        <p:nvSpPr>
          <p:cNvPr id="11" name="Text 8"/>
          <p:cNvSpPr txBox="1"/>
          <p:nvPr/>
        </p:nvSpPr>
        <p:spPr>
          <a:xfrm>
            <a:off x="731520" y="2148840"/>
            <a:ext cx="3246120" cy="1463040"/>
          </a:xfrm>
          <a:prstGeom prst="rect">
            <a:avLst/>
          </a:prstGeom>
          <a:noFill/>
          <a:ln/>
        </p:spPr>
        <p:txBody>
          <a:bodyPr wrap="square" lIns="254" tIns="254" rIns="254" bIns="254" rtlCol="0" anchor="t"/>
          <a:lstStyle/>
          <a:p>
            <a:pPr marL="152400" indent="-152400">
              <a:spcAft>
                <a:spcPts val="500"/>
              </a:spcAft>
              <a:buSzPct val="100000"/>
              <a:buChar char="•"/>
            </a:pPr>
            <a:r>
              <a:rPr lang="en-US" sz="1150" dirty="0">
                <a:solidFill>
                  <a:srgbClr val="000000"/>
                </a:solidFill>
                <a:latin typeface="Meiryo UI" pitchFamily="34" charset="0"/>
                <a:ea typeface="Meiryo UI" pitchFamily="34" charset="-122"/>
                <a:cs typeface="Meiryo UI" pitchFamily="34" charset="-120"/>
              </a:rPr>
              <a:t>Anyone：URLの署名（SAS）だけで誰でも呼べる</a:t>
            </a:r>
            <a:endParaRPr lang="en-US" sz="1150" dirty="0"/>
          </a:p>
          <a:p>
            <a:pPr marL="152400" indent="-152400">
              <a:spcAft>
                <a:spcPts val="500"/>
              </a:spcAft>
              <a:buSzPct val="100000"/>
              <a:buChar char="•"/>
            </a:pPr>
            <a:r>
              <a:rPr lang="en-US" sz="1150" dirty="0">
                <a:solidFill>
                  <a:srgbClr val="000000"/>
                </a:solidFill>
                <a:latin typeface="Meiryo UI" pitchFamily="34" charset="0"/>
                <a:ea typeface="Meiryo UI" pitchFamily="34" charset="-122"/>
                <a:cs typeface="Meiryo UI" pitchFamily="34" charset="-120"/>
              </a:rPr>
              <a:t>テナント内の任意のユーザー：新規フローの既定。Entraのトークンが必要</a:t>
            </a:r>
            <a:endParaRPr lang="en-US" sz="1150" dirty="0"/>
          </a:p>
          <a:p>
            <a:pPr marL="152400" indent="-152400">
              <a:spcAft>
                <a:spcPts val="500"/>
              </a:spcAft>
              <a:buSzPct val="100000"/>
              <a:buChar char="•"/>
            </a:pPr>
            <a:r>
              <a:rPr lang="en-US" sz="1150" dirty="0">
                <a:solidFill>
                  <a:srgbClr val="000000"/>
                </a:solidFill>
                <a:latin typeface="Meiryo UI" pitchFamily="34" charset="0"/>
                <a:ea typeface="Meiryo UI" pitchFamily="34" charset="-122"/>
                <a:cs typeface="Meiryo UI" pitchFamily="34" charset="-120"/>
              </a:rPr>
              <a:t>特定のユーザー：ユーザーやサービスプリンシパルを指定</a:t>
            </a:r>
            <a:endParaRPr lang="en-US" sz="1150" dirty="0"/>
          </a:p>
        </p:txBody>
      </p:sp>
      <p:sp>
        <p:nvSpPr>
          <p:cNvPr id="12" name="Shape 9"/>
          <p:cNvSpPr/>
          <p:nvPr/>
        </p:nvSpPr>
        <p:spPr>
          <a:xfrm>
            <a:off x="4297680" y="1417320"/>
            <a:ext cx="3566160" cy="2240280"/>
          </a:xfrm>
          <a:prstGeom prst="roundRect">
            <a:avLst>
              <a:gd name="adj" fmla="val 2449"/>
            </a:avLst>
          </a:prstGeom>
          <a:solidFill>
            <a:srgbClr val="F3F5F8"/>
          </a:solidFill>
          <a:ln/>
        </p:spPr>
      </p:sp>
      <p:sp>
        <p:nvSpPr>
          <p:cNvPr id="13" name="Shape 10"/>
          <p:cNvSpPr/>
          <p:nvPr/>
        </p:nvSpPr>
        <p:spPr>
          <a:xfrm>
            <a:off x="4462272" y="1536192"/>
            <a:ext cx="438912" cy="438912"/>
          </a:xfrm>
          <a:prstGeom prst="ellipse">
            <a:avLst/>
          </a:prstGeom>
          <a:solidFill>
            <a:srgbClr val="FFFFFF"/>
          </a:solidFill>
          <a:ln/>
        </p:spPr>
      </p:sp>
      <p:pic>
        <p:nvPicPr>
          <p:cNvPr id="14" name="Image 1" descr="preencoded.png">    </p:cNvPr>
          <p:cNvPicPr>
            <a:picLocks noChangeAspect="1"/>
          </p:cNvPicPr>
          <p:nvPr/>
        </p:nvPicPr>
        <p:blipFill>
          <a:blip r:embed="rId2"/>
          <a:stretch>
            <a:fillRect/>
          </a:stretch>
        </p:blipFill>
        <p:spPr>
          <a:xfrm>
            <a:off x="4550054" y="1623974"/>
            <a:ext cx="263347" cy="263347"/>
          </a:xfrm>
          <a:prstGeom prst="rect">
            <a:avLst/>
          </a:prstGeom>
        </p:spPr>
      </p:pic>
      <p:sp>
        <p:nvSpPr>
          <p:cNvPr id="15" name="Text 11"/>
          <p:cNvSpPr txBox="1"/>
          <p:nvPr/>
        </p:nvSpPr>
        <p:spPr>
          <a:xfrm>
            <a:off x="4983480" y="1517904"/>
            <a:ext cx="2788920" cy="274320"/>
          </a:xfrm>
          <a:prstGeom prst="rect">
            <a:avLst/>
          </a:prstGeom>
          <a:noFill/>
          <a:ln/>
        </p:spPr>
        <p:txBody>
          <a:bodyPr wrap="square" lIns="508" tIns="508" rIns="508" bIns="508"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② 管理者のポリシー</a:t>
            </a:r>
            <a:endParaRPr lang="en-US" sz="1300" dirty="0"/>
          </a:p>
        </p:txBody>
      </p:sp>
      <p:sp>
        <p:nvSpPr>
          <p:cNvPr id="16" name="Text 12"/>
          <p:cNvSpPr txBox="1"/>
          <p:nvPr/>
        </p:nvSpPr>
        <p:spPr>
          <a:xfrm>
            <a:off x="4983480" y="1792224"/>
            <a:ext cx="2788920" cy="237744"/>
          </a:xfrm>
          <a:prstGeom prst="rect">
            <a:avLst/>
          </a:prstGeom>
          <a:noFill/>
          <a:ln/>
        </p:spPr>
        <p:txBody>
          <a:bodyPr wrap="square" lIns="508" tIns="508" rIns="508" bIns="508" rtlCol="0" anchor="ctr"/>
          <a:lstStyle/>
          <a:p>
            <a:pPr indent="0" marL="0">
              <a:buNone/>
            </a:pPr>
            <a:r>
              <a:rPr lang="en-US" sz="900" dirty="0">
                <a:solidFill>
                  <a:srgbClr val="6B7280"/>
                </a:solidFill>
                <a:latin typeface="Meiryo UI" pitchFamily="34" charset="0"/>
                <a:ea typeface="Meiryo UI" pitchFamily="34" charset="-122"/>
                <a:cs typeface="Meiryo UI" pitchFamily="34" charset="-120"/>
              </a:rPr>
              <a:t>Power PlatformのDLPポリシー</a:t>
            </a:r>
            <a:endParaRPr lang="en-US" sz="900" dirty="0"/>
          </a:p>
        </p:txBody>
      </p:sp>
      <p:sp>
        <p:nvSpPr>
          <p:cNvPr id="17" name="Text 13"/>
          <p:cNvSpPr txBox="1"/>
          <p:nvPr/>
        </p:nvSpPr>
        <p:spPr>
          <a:xfrm>
            <a:off x="4480560" y="2148840"/>
            <a:ext cx="3246120" cy="1463040"/>
          </a:xfrm>
          <a:prstGeom prst="rect">
            <a:avLst/>
          </a:prstGeom>
          <a:noFill/>
          <a:ln/>
        </p:spPr>
        <p:txBody>
          <a:bodyPr wrap="square" lIns="254" tIns="254" rIns="254" bIns="254" rtlCol="0" anchor="t"/>
          <a:lstStyle/>
          <a:p>
            <a:pPr marL="152400" indent="-152400">
              <a:spcAft>
                <a:spcPts val="500"/>
              </a:spcAft>
              <a:buSzPct val="100000"/>
              <a:buChar char="•"/>
            </a:pPr>
            <a:r>
              <a:rPr lang="en-US" sz="1150" dirty="0">
                <a:solidFill>
                  <a:srgbClr val="000000"/>
                </a:solidFill>
                <a:latin typeface="Meiryo UI" pitchFamily="34" charset="0"/>
                <a:ea typeface="Meiryo UI" pitchFamily="34" charset="-122"/>
                <a:cs typeface="Meiryo UI" pitchFamily="34" charset="-120"/>
              </a:rPr>
              <a:t>HTTPトリガーがブロックされていると、フローは停止し起動しない</a:t>
            </a:r>
            <a:endParaRPr lang="en-US" sz="1150" dirty="0"/>
          </a:p>
          <a:p>
            <a:pPr marL="152400" indent="-152400">
              <a:spcAft>
                <a:spcPts val="500"/>
              </a:spcAft>
              <a:buSzPct val="100000"/>
              <a:buChar char="•"/>
            </a:pPr>
            <a:r>
              <a:rPr lang="en-US" sz="1150" dirty="0">
                <a:solidFill>
                  <a:srgbClr val="000000"/>
                </a:solidFill>
                <a:latin typeface="Meiryo UI" pitchFamily="34" charset="0"/>
                <a:ea typeface="Meiryo UI" pitchFamily="34" charset="-122"/>
                <a:cs typeface="Meiryo UI" pitchFamily="34" charset="-120"/>
              </a:rPr>
              <a:t>「Anyone」の利用を組織として認めるかは情シスの判断</a:t>
            </a:r>
            <a:endParaRPr lang="en-US" sz="1150" dirty="0"/>
          </a:p>
        </p:txBody>
      </p:sp>
      <p:sp>
        <p:nvSpPr>
          <p:cNvPr id="18" name="Shape 14"/>
          <p:cNvSpPr/>
          <p:nvPr/>
        </p:nvSpPr>
        <p:spPr>
          <a:xfrm>
            <a:off x="8046720" y="1417320"/>
            <a:ext cx="3566160" cy="2240280"/>
          </a:xfrm>
          <a:prstGeom prst="roundRect">
            <a:avLst>
              <a:gd name="adj" fmla="val 2449"/>
            </a:avLst>
          </a:prstGeom>
          <a:solidFill>
            <a:srgbClr val="F3F5F8"/>
          </a:solidFill>
          <a:ln/>
        </p:spPr>
      </p:sp>
      <p:sp>
        <p:nvSpPr>
          <p:cNvPr id="19" name="Shape 15"/>
          <p:cNvSpPr/>
          <p:nvPr/>
        </p:nvSpPr>
        <p:spPr>
          <a:xfrm>
            <a:off x="8211312" y="1536192"/>
            <a:ext cx="438912" cy="438912"/>
          </a:xfrm>
          <a:prstGeom prst="ellipse">
            <a:avLst/>
          </a:prstGeom>
          <a:solidFill>
            <a:srgbClr val="FFFFFF"/>
          </a:solidFill>
          <a:ln/>
        </p:spPr>
      </p:sp>
      <p:pic>
        <p:nvPicPr>
          <p:cNvPr id="20" name="Image 2" descr="preencoded.png">    </p:cNvPr>
          <p:cNvPicPr>
            <a:picLocks noChangeAspect="1"/>
          </p:cNvPicPr>
          <p:nvPr/>
        </p:nvPicPr>
        <p:blipFill>
          <a:blip r:embed="rId3"/>
          <a:stretch>
            <a:fillRect/>
          </a:stretch>
        </p:blipFill>
        <p:spPr>
          <a:xfrm>
            <a:off x="8299094" y="1623974"/>
            <a:ext cx="263347" cy="263347"/>
          </a:xfrm>
          <a:prstGeom prst="rect">
            <a:avLst/>
          </a:prstGeom>
        </p:spPr>
      </p:pic>
      <p:sp>
        <p:nvSpPr>
          <p:cNvPr id="21" name="Text 16"/>
          <p:cNvSpPr txBox="1"/>
          <p:nvPr/>
        </p:nvSpPr>
        <p:spPr>
          <a:xfrm>
            <a:off x="8732520" y="1517904"/>
            <a:ext cx="2788920" cy="274320"/>
          </a:xfrm>
          <a:prstGeom prst="rect">
            <a:avLst/>
          </a:prstGeom>
          <a:noFill/>
          <a:ln/>
        </p:spPr>
        <p:txBody>
          <a:bodyPr wrap="square" lIns="508" tIns="508" rIns="508" bIns="508"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③ ライセンスとURL</a:t>
            </a:r>
            <a:endParaRPr lang="en-US" sz="1300" dirty="0"/>
          </a:p>
        </p:txBody>
      </p:sp>
      <p:sp>
        <p:nvSpPr>
          <p:cNvPr id="22" name="Text 17"/>
          <p:cNvSpPr txBox="1"/>
          <p:nvPr/>
        </p:nvSpPr>
        <p:spPr>
          <a:xfrm>
            <a:off x="8732520" y="1792224"/>
            <a:ext cx="2788920" cy="237744"/>
          </a:xfrm>
          <a:prstGeom prst="rect">
            <a:avLst/>
          </a:prstGeom>
          <a:noFill/>
          <a:ln/>
        </p:spPr>
        <p:txBody>
          <a:bodyPr wrap="square" lIns="508" tIns="508" rIns="508" bIns="508" rtlCol="0" anchor="ctr"/>
          <a:lstStyle/>
          <a:p>
            <a:pPr indent="0" marL="0">
              <a:buNone/>
            </a:pPr>
            <a:r>
              <a:rPr lang="en-US" sz="900" dirty="0">
                <a:solidFill>
                  <a:srgbClr val="6B7280"/>
                </a:solidFill>
                <a:latin typeface="Meiryo UI" pitchFamily="34" charset="0"/>
                <a:ea typeface="Meiryo UI" pitchFamily="34" charset="-122"/>
                <a:cs typeface="Meiryo UI" pitchFamily="34" charset="-120"/>
              </a:rPr>
              <a:t>Premiumと新しいURL</a:t>
            </a:r>
            <a:endParaRPr lang="en-US" sz="900" dirty="0"/>
          </a:p>
        </p:txBody>
      </p:sp>
      <p:sp>
        <p:nvSpPr>
          <p:cNvPr id="23" name="Text 18"/>
          <p:cNvSpPr txBox="1"/>
          <p:nvPr/>
        </p:nvSpPr>
        <p:spPr>
          <a:xfrm>
            <a:off x="8229600" y="2148840"/>
            <a:ext cx="3246120" cy="1463040"/>
          </a:xfrm>
          <a:prstGeom prst="rect">
            <a:avLst/>
          </a:prstGeom>
          <a:noFill/>
          <a:ln/>
        </p:spPr>
        <p:txBody>
          <a:bodyPr wrap="square" lIns="254" tIns="254" rIns="254" bIns="254" rtlCol="0" anchor="t"/>
          <a:lstStyle/>
          <a:p>
            <a:pPr marL="152400" indent="-152400">
              <a:spcAft>
                <a:spcPts val="500"/>
              </a:spcAft>
              <a:buSzPct val="100000"/>
              <a:buChar char="•"/>
            </a:pPr>
            <a:r>
              <a:rPr lang="en-US" sz="1150" dirty="0">
                <a:solidFill>
                  <a:srgbClr val="000000"/>
                </a:solidFill>
                <a:latin typeface="Meiryo UI" pitchFamily="34" charset="0"/>
                <a:ea typeface="Meiryo UI" pitchFamily="34" charset="-122"/>
                <a:cs typeface="Meiryo UI" pitchFamily="34" charset="-120"/>
              </a:rPr>
              <a:t>HTTPトリガーはPremium</a:t>
            </a:r>
            <a:endParaRPr lang="en-US" sz="1150" dirty="0"/>
          </a:p>
          <a:p>
            <a:pPr marL="152400" indent="-152400">
              <a:spcAft>
                <a:spcPts val="500"/>
              </a:spcAft>
              <a:buSzPct val="100000"/>
              <a:buChar char="•"/>
            </a:pPr>
            <a:r>
              <a:rPr lang="en-US" sz="1150" dirty="0">
                <a:solidFill>
                  <a:srgbClr val="000000"/>
                </a:solidFill>
                <a:latin typeface="Meiryo UI" pitchFamily="34" charset="0"/>
                <a:ea typeface="Meiryo UI" pitchFamily="34" charset="-122"/>
                <a:cs typeface="Meiryo UI" pitchFamily="34" charset="-120"/>
              </a:rPr>
              <a:t>2025年11月末からURLはapi.powerplatform.comに移行（旧URLは動かない）</a:t>
            </a:r>
            <a:endParaRPr lang="en-US" sz="1150" dirty="0"/>
          </a:p>
        </p:txBody>
      </p:sp>
      <p:sp>
        <p:nvSpPr>
          <p:cNvPr id="24" name="Text 19"/>
          <p:cNvSpPr txBox="1"/>
          <p:nvPr/>
        </p:nvSpPr>
        <p:spPr>
          <a:xfrm>
            <a:off x="548640" y="3767328"/>
            <a:ext cx="5486400" cy="320040"/>
          </a:xfrm>
          <a:prstGeom prst="rect">
            <a:avLst/>
          </a:prstGeom>
          <a:noFill/>
          <a:ln/>
        </p:spPr>
        <p:txBody>
          <a:bodyPr wrap="square" lIns="508" tIns="508" rIns="508" bIns="508"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Airtableから呼ぶ場合の選択肢</a:t>
            </a:r>
            <a:endParaRPr lang="en-US" sz="1300" dirty="0"/>
          </a:p>
        </p:txBody>
      </p:sp>
      <p:sp>
        <p:nvSpPr>
          <p:cNvPr id="25" name="Shape 20"/>
          <p:cNvSpPr/>
          <p:nvPr/>
        </p:nvSpPr>
        <p:spPr>
          <a:xfrm>
            <a:off x="548640" y="4133088"/>
            <a:ext cx="11064240" cy="658368"/>
          </a:xfrm>
          <a:prstGeom prst="roundRect">
            <a:avLst>
              <a:gd name="adj" fmla="val 6944"/>
            </a:avLst>
          </a:prstGeom>
          <a:solidFill>
            <a:srgbClr val="F3F5F8"/>
          </a:solidFill>
          <a:ln/>
        </p:spPr>
      </p:sp>
      <p:sp>
        <p:nvSpPr>
          <p:cNvPr id="26" name="Shape 21"/>
          <p:cNvSpPr/>
          <p:nvPr/>
        </p:nvSpPr>
        <p:spPr>
          <a:xfrm>
            <a:off x="640080" y="4270248"/>
            <a:ext cx="384048" cy="384048"/>
          </a:xfrm>
          <a:prstGeom prst="ellipse">
            <a:avLst/>
          </a:prstGeom>
          <a:solidFill>
            <a:srgbClr val="0F6CBD"/>
          </a:solidFill>
          <a:ln/>
        </p:spPr>
      </p:sp>
      <p:sp>
        <p:nvSpPr>
          <p:cNvPr id="27" name="Text 22"/>
          <p:cNvSpPr txBox="1"/>
          <p:nvPr/>
        </p:nvSpPr>
        <p:spPr>
          <a:xfrm>
            <a:off x="640080" y="4270248"/>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a</a:t>
            </a:r>
            <a:endParaRPr lang="en-US" sz="1100" dirty="0"/>
          </a:p>
        </p:txBody>
      </p:sp>
      <p:sp>
        <p:nvSpPr>
          <p:cNvPr id="28" name="Text 23"/>
          <p:cNvSpPr txBox="1"/>
          <p:nvPr/>
        </p:nvSpPr>
        <p:spPr>
          <a:xfrm>
            <a:off x="1097280" y="4133088"/>
            <a:ext cx="2103120" cy="658368"/>
          </a:xfrm>
          <a:prstGeom prst="rect">
            <a:avLst/>
          </a:prstGeom>
          <a:noFill/>
          <a:ln/>
        </p:spPr>
        <p:txBody>
          <a:bodyPr wrap="square" lIns="508" tIns="508" rIns="508" bIns="508" rtlCol="0" anchor="ctr"/>
          <a:lstStyle/>
          <a:p>
            <a:pPr indent="0" marL="0">
              <a:buNone/>
            </a:pPr>
            <a:r>
              <a:rPr lang="en-US" sz="1100" b="1" dirty="0">
                <a:solidFill>
                  <a:srgbClr val="1B2A49"/>
                </a:solidFill>
                <a:latin typeface="Meiryo UI" pitchFamily="34" charset="0"/>
                <a:ea typeface="Meiryo UI" pitchFamily="34" charset="-122"/>
                <a:cs typeface="Meiryo UI" pitchFamily="34" charset="-120"/>
              </a:rPr>
              <a:t>Anyone＋URLの署名</a:t>
            </a:r>
            <a:endParaRPr lang="en-US" sz="1100" dirty="0"/>
          </a:p>
        </p:txBody>
      </p:sp>
      <p:sp>
        <p:nvSpPr>
          <p:cNvPr id="29" name="Text 24"/>
          <p:cNvSpPr txBox="1"/>
          <p:nvPr/>
        </p:nvSpPr>
        <p:spPr>
          <a:xfrm>
            <a:off x="3200400" y="4133088"/>
            <a:ext cx="3291840" cy="658368"/>
          </a:xfrm>
          <a:prstGeom prst="rect">
            <a:avLst/>
          </a:prstGeom>
          <a:noFill/>
          <a:ln/>
        </p:spPr>
        <p:txBody>
          <a:bodyPr wrap="square" lIns="508" tIns="508" rIns="508" bIns="508" rtlCol="0" anchor="ctr"/>
          <a:lstStyle/>
          <a:p>
            <a:pPr indent="0" marL="0">
              <a:buNone/>
            </a:pPr>
            <a:r>
              <a:rPr lang="en-US" sz="950" dirty="0">
                <a:solidFill>
                  <a:srgbClr val="2B2B2B"/>
                </a:solidFill>
                <a:latin typeface="Meiryo UI" pitchFamily="34" charset="0"/>
                <a:ea typeface="Meiryo UI" pitchFamily="34" charset="-122"/>
                <a:cs typeface="Meiryo UI" pitchFamily="34" charset="-120"/>
              </a:rPr>
              <a:t>Airtableのスクリプトから、URLにPOSTするだけ</a:t>
            </a:r>
            <a:endParaRPr lang="en-US" sz="950" dirty="0"/>
          </a:p>
        </p:txBody>
      </p:sp>
      <p:sp>
        <p:nvSpPr>
          <p:cNvPr id="30" name="Text 25"/>
          <p:cNvSpPr txBox="1"/>
          <p:nvPr/>
        </p:nvSpPr>
        <p:spPr>
          <a:xfrm>
            <a:off x="6492240" y="4133088"/>
            <a:ext cx="1463040" cy="658368"/>
          </a:xfrm>
          <a:prstGeom prst="rect">
            <a:avLst/>
          </a:prstGeom>
          <a:noFill/>
          <a:ln/>
        </p:spPr>
        <p:txBody>
          <a:bodyPr wrap="square" lIns="508" tIns="508" rIns="508" bIns="508" rtlCol="0" anchor="ctr"/>
          <a:lstStyle/>
          <a:p>
            <a:pPr algn="ctr" indent="0" marL="0">
              <a:buNone/>
            </a:pPr>
            <a:r>
              <a:rPr lang="en-US" sz="950" b="1" dirty="0">
                <a:solidFill>
                  <a:srgbClr val="E8912D"/>
                </a:solidFill>
                <a:latin typeface="Meiryo UI" pitchFamily="34" charset="0"/>
                <a:ea typeface="Meiryo UI" pitchFamily="34" charset="-122"/>
                <a:cs typeface="Meiryo UI" pitchFamily="34" charset="-120"/>
              </a:rPr>
              <a:t>難易度 ★☆☆☆☆</a:t>
            </a:r>
            <a:endParaRPr lang="en-US" sz="950" dirty="0"/>
          </a:p>
        </p:txBody>
      </p:sp>
      <p:sp>
        <p:nvSpPr>
          <p:cNvPr id="31" name="Text 26"/>
          <p:cNvSpPr txBox="1"/>
          <p:nvPr/>
        </p:nvSpPr>
        <p:spPr>
          <a:xfrm>
            <a:off x="7955280" y="4133088"/>
            <a:ext cx="3566160" cy="658368"/>
          </a:xfrm>
          <a:prstGeom prst="rect">
            <a:avLst/>
          </a:prstGeom>
          <a:noFill/>
          <a:ln/>
        </p:spPr>
        <p:txBody>
          <a:bodyPr wrap="square" lIns="508" tIns="508" rIns="508" bIns="508" rtlCol="0" anchor="ctr"/>
          <a:lstStyle/>
          <a:p>
            <a:pPr indent="0" marL="0">
              <a:buNone/>
            </a:pPr>
            <a:r>
              <a:rPr lang="en-US" sz="900" dirty="0">
                <a:solidFill>
                  <a:srgbClr val="2B2B2B"/>
                </a:solidFill>
                <a:latin typeface="Meiryo UI" pitchFamily="34" charset="0"/>
                <a:ea typeface="Meiryo UI" pitchFamily="34" charset="-122"/>
                <a:cs typeface="Meiryo UI" pitchFamily="34" charset="-120"/>
              </a:rPr>
              <a:t>URLが漏れると誰でも起動できる。フロー側で共有キーのヘッダーを検証するなどの対策と、情シスの許可が必要</a:t>
            </a:r>
            <a:endParaRPr lang="en-US" sz="900" dirty="0"/>
          </a:p>
        </p:txBody>
      </p:sp>
      <p:sp>
        <p:nvSpPr>
          <p:cNvPr id="32" name="Shape 27"/>
          <p:cNvSpPr/>
          <p:nvPr/>
        </p:nvSpPr>
        <p:spPr>
          <a:xfrm>
            <a:off x="548640" y="4864608"/>
            <a:ext cx="11064240" cy="658368"/>
          </a:xfrm>
          <a:prstGeom prst="roundRect">
            <a:avLst>
              <a:gd name="adj" fmla="val 6944"/>
            </a:avLst>
          </a:prstGeom>
          <a:solidFill>
            <a:srgbClr val="FFFFFF"/>
          </a:solidFill>
          <a:ln w="12700">
            <a:solidFill>
              <a:srgbClr val="D5DBE3"/>
            </a:solidFill>
            <a:prstDash val="solid"/>
          </a:ln>
        </p:spPr>
      </p:sp>
      <p:sp>
        <p:nvSpPr>
          <p:cNvPr id="33" name="Shape 28"/>
          <p:cNvSpPr/>
          <p:nvPr/>
        </p:nvSpPr>
        <p:spPr>
          <a:xfrm>
            <a:off x="640080" y="5001768"/>
            <a:ext cx="384048" cy="384048"/>
          </a:xfrm>
          <a:prstGeom prst="ellipse">
            <a:avLst/>
          </a:prstGeom>
          <a:solidFill>
            <a:srgbClr val="0F6CBD"/>
          </a:solidFill>
          <a:ln/>
        </p:spPr>
      </p:sp>
      <p:sp>
        <p:nvSpPr>
          <p:cNvPr id="34" name="Text 29"/>
          <p:cNvSpPr txBox="1"/>
          <p:nvPr/>
        </p:nvSpPr>
        <p:spPr>
          <a:xfrm>
            <a:off x="640080" y="5001768"/>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b</a:t>
            </a:r>
            <a:endParaRPr lang="en-US" sz="1100" dirty="0"/>
          </a:p>
        </p:txBody>
      </p:sp>
      <p:sp>
        <p:nvSpPr>
          <p:cNvPr id="35" name="Text 30"/>
          <p:cNvSpPr txBox="1"/>
          <p:nvPr/>
        </p:nvSpPr>
        <p:spPr>
          <a:xfrm>
            <a:off x="1097280" y="4864608"/>
            <a:ext cx="2103120" cy="658368"/>
          </a:xfrm>
          <a:prstGeom prst="rect">
            <a:avLst/>
          </a:prstGeom>
          <a:noFill/>
          <a:ln/>
        </p:spPr>
        <p:txBody>
          <a:bodyPr wrap="square" lIns="508" tIns="508" rIns="508" bIns="508" rtlCol="0" anchor="ctr"/>
          <a:lstStyle/>
          <a:p>
            <a:pPr indent="0" marL="0">
              <a:buNone/>
            </a:pPr>
            <a:r>
              <a:rPr lang="en-US" sz="1100" b="1" dirty="0">
                <a:solidFill>
                  <a:srgbClr val="1B2A49"/>
                </a:solidFill>
                <a:latin typeface="Meiryo UI" pitchFamily="34" charset="0"/>
                <a:ea typeface="Meiryo UI" pitchFamily="34" charset="-122"/>
                <a:cs typeface="Meiryo UI" pitchFamily="34" charset="-120"/>
              </a:rPr>
              <a:t>テナント限定＋OAuth</a:t>
            </a:r>
            <a:endParaRPr lang="en-US" sz="1100" dirty="0"/>
          </a:p>
        </p:txBody>
      </p:sp>
      <p:sp>
        <p:nvSpPr>
          <p:cNvPr id="36" name="Text 31"/>
          <p:cNvSpPr txBox="1"/>
          <p:nvPr/>
        </p:nvSpPr>
        <p:spPr>
          <a:xfrm>
            <a:off x="3200400" y="4864608"/>
            <a:ext cx="3291840" cy="658368"/>
          </a:xfrm>
          <a:prstGeom prst="rect">
            <a:avLst/>
          </a:prstGeom>
          <a:noFill/>
          <a:ln/>
        </p:spPr>
        <p:txBody>
          <a:bodyPr wrap="square" lIns="508" tIns="508" rIns="508" bIns="508" rtlCol="0" anchor="ctr"/>
          <a:lstStyle/>
          <a:p>
            <a:pPr indent="0" marL="0">
              <a:buNone/>
            </a:pPr>
            <a:r>
              <a:rPr lang="en-US" sz="950" dirty="0">
                <a:solidFill>
                  <a:srgbClr val="2B2B2B"/>
                </a:solidFill>
                <a:latin typeface="Meiryo UI" pitchFamily="34" charset="0"/>
                <a:ea typeface="Meiryo UI" pitchFamily="34" charset="-122"/>
                <a:cs typeface="Meiryo UI" pitchFamily="34" charset="-120"/>
              </a:rPr>
              <a:t>スクリプトでEntraのトークン（クライアント資格情報）を取得してから呼ぶ</a:t>
            </a:r>
            <a:endParaRPr lang="en-US" sz="950" dirty="0"/>
          </a:p>
        </p:txBody>
      </p:sp>
      <p:sp>
        <p:nvSpPr>
          <p:cNvPr id="37" name="Text 32"/>
          <p:cNvSpPr txBox="1"/>
          <p:nvPr/>
        </p:nvSpPr>
        <p:spPr>
          <a:xfrm>
            <a:off x="6492240" y="4864608"/>
            <a:ext cx="1463040" cy="658368"/>
          </a:xfrm>
          <a:prstGeom prst="rect">
            <a:avLst/>
          </a:prstGeom>
          <a:noFill/>
          <a:ln/>
        </p:spPr>
        <p:txBody>
          <a:bodyPr wrap="square" lIns="508" tIns="508" rIns="508" bIns="508" rtlCol="0" anchor="ctr"/>
          <a:lstStyle/>
          <a:p>
            <a:pPr algn="ctr" indent="0" marL="0">
              <a:buNone/>
            </a:pPr>
            <a:r>
              <a:rPr lang="en-US" sz="950" b="1" dirty="0">
                <a:solidFill>
                  <a:srgbClr val="E8912D"/>
                </a:solidFill>
                <a:latin typeface="Meiryo UI" pitchFamily="34" charset="0"/>
                <a:ea typeface="Meiryo UI" pitchFamily="34" charset="-122"/>
                <a:cs typeface="Meiryo UI" pitchFamily="34" charset="-120"/>
              </a:rPr>
              <a:t>難易度 ★★★☆☆</a:t>
            </a:r>
            <a:endParaRPr lang="en-US" sz="950" dirty="0"/>
          </a:p>
        </p:txBody>
      </p:sp>
      <p:sp>
        <p:nvSpPr>
          <p:cNvPr id="38" name="Text 33"/>
          <p:cNvSpPr txBox="1"/>
          <p:nvPr/>
        </p:nvSpPr>
        <p:spPr>
          <a:xfrm>
            <a:off x="7955280" y="4864608"/>
            <a:ext cx="3566160" cy="658368"/>
          </a:xfrm>
          <a:prstGeom prst="rect">
            <a:avLst/>
          </a:prstGeom>
          <a:noFill/>
          <a:ln/>
        </p:spPr>
        <p:txBody>
          <a:bodyPr wrap="square" lIns="508" tIns="508" rIns="508" bIns="508" rtlCol="0" anchor="ctr"/>
          <a:lstStyle/>
          <a:p>
            <a:pPr indent="0" marL="0">
              <a:buNone/>
            </a:pPr>
            <a:r>
              <a:rPr lang="en-US" sz="900" dirty="0">
                <a:solidFill>
                  <a:srgbClr val="2B2B2B"/>
                </a:solidFill>
                <a:latin typeface="Meiryo UI" pitchFamily="34" charset="0"/>
                <a:ea typeface="Meiryo UI" pitchFamily="34" charset="-122"/>
                <a:cs typeface="Meiryo UI" pitchFamily="34" charset="-120"/>
              </a:rPr>
              <a:t>Entraのアプリ登録が必要。クライアントシークレットをAirtable側に置くことになる</a:t>
            </a:r>
            <a:endParaRPr lang="en-US" sz="900" dirty="0"/>
          </a:p>
        </p:txBody>
      </p:sp>
      <p:sp>
        <p:nvSpPr>
          <p:cNvPr id="39" name="Shape 34"/>
          <p:cNvSpPr/>
          <p:nvPr/>
        </p:nvSpPr>
        <p:spPr>
          <a:xfrm>
            <a:off x="548640" y="5596128"/>
            <a:ext cx="11064240" cy="658368"/>
          </a:xfrm>
          <a:prstGeom prst="roundRect">
            <a:avLst>
              <a:gd name="adj" fmla="val 6944"/>
            </a:avLst>
          </a:prstGeom>
          <a:solidFill>
            <a:srgbClr val="F3F5F8"/>
          </a:solidFill>
          <a:ln/>
        </p:spPr>
      </p:sp>
      <p:sp>
        <p:nvSpPr>
          <p:cNvPr id="40" name="Shape 35"/>
          <p:cNvSpPr/>
          <p:nvPr/>
        </p:nvSpPr>
        <p:spPr>
          <a:xfrm>
            <a:off x="640080" y="5733288"/>
            <a:ext cx="384048" cy="384048"/>
          </a:xfrm>
          <a:prstGeom prst="ellipse">
            <a:avLst/>
          </a:prstGeom>
          <a:solidFill>
            <a:srgbClr val="0E9F9A"/>
          </a:solidFill>
          <a:ln/>
        </p:spPr>
      </p:sp>
      <p:sp>
        <p:nvSpPr>
          <p:cNvPr id="41" name="Text 36"/>
          <p:cNvSpPr txBox="1"/>
          <p:nvPr/>
        </p:nvSpPr>
        <p:spPr>
          <a:xfrm>
            <a:off x="640080" y="5733288"/>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c</a:t>
            </a:r>
            <a:endParaRPr lang="en-US" sz="1100" dirty="0"/>
          </a:p>
        </p:txBody>
      </p:sp>
      <p:sp>
        <p:nvSpPr>
          <p:cNvPr id="42" name="Text 37"/>
          <p:cNvSpPr txBox="1"/>
          <p:nvPr/>
        </p:nvSpPr>
        <p:spPr>
          <a:xfrm>
            <a:off x="1097280" y="5596128"/>
            <a:ext cx="2103120" cy="658368"/>
          </a:xfrm>
          <a:prstGeom prst="rect">
            <a:avLst/>
          </a:prstGeom>
          <a:noFill/>
          <a:ln/>
        </p:spPr>
        <p:txBody>
          <a:bodyPr wrap="square" lIns="508" tIns="508" rIns="508" bIns="508" rtlCol="0" anchor="ctr"/>
          <a:lstStyle/>
          <a:p>
            <a:pPr indent="0" marL="0">
              <a:buNone/>
            </a:pPr>
            <a:r>
              <a:rPr lang="en-US" sz="1100" b="1" dirty="0">
                <a:solidFill>
                  <a:srgbClr val="1B2A49"/>
                </a:solidFill>
                <a:latin typeface="Meiryo UI" pitchFamily="34" charset="0"/>
                <a:ea typeface="Meiryo UI" pitchFamily="34" charset="-122"/>
                <a:cs typeface="Meiryo UI" pitchFamily="34" charset="-120"/>
              </a:rPr>
              <a:t>外部から呼ばない（O1）</a:t>
            </a:r>
            <a:endParaRPr lang="en-US" sz="1100" dirty="0"/>
          </a:p>
        </p:txBody>
      </p:sp>
      <p:sp>
        <p:nvSpPr>
          <p:cNvPr id="43" name="Text 38"/>
          <p:cNvSpPr txBox="1"/>
          <p:nvPr/>
        </p:nvSpPr>
        <p:spPr>
          <a:xfrm>
            <a:off x="3200400" y="5596128"/>
            <a:ext cx="3291840" cy="658368"/>
          </a:xfrm>
          <a:prstGeom prst="rect">
            <a:avLst/>
          </a:prstGeom>
          <a:noFill/>
          <a:ln/>
        </p:spPr>
        <p:txBody>
          <a:bodyPr wrap="square" lIns="508" tIns="508" rIns="508" bIns="508" rtlCol="0" anchor="ctr"/>
          <a:lstStyle/>
          <a:p>
            <a:pPr indent="0" marL="0">
              <a:buNone/>
            </a:pPr>
            <a:r>
              <a:rPr lang="en-US" sz="950" dirty="0">
                <a:solidFill>
                  <a:srgbClr val="2B2B2B"/>
                </a:solidFill>
                <a:latin typeface="Meiryo UI" pitchFamily="34" charset="0"/>
                <a:ea typeface="Meiryo UI" pitchFamily="34" charset="-122"/>
                <a:cs typeface="Meiryo UI" pitchFamily="34" charset="-120"/>
              </a:rPr>
              <a:t>Power Automateが定期的にAirtableを見に行く（外向きの通信だけ）</a:t>
            </a:r>
            <a:endParaRPr lang="en-US" sz="950" dirty="0"/>
          </a:p>
        </p:txBody>
      </p:sp>
      <p:sp>
        <p:nvSpPr>
          <p:cNvPr id="44" name="Text 39"/>
          <p:cNvSpPr txBox="1"/>
          <p:nvPr/>
        </p:nvSpPr>
        <p:spPr>
          <a:xfrm>
            <a:off x="6492240" y="5596128"/>
            <a:ext cx="1463040" cy="658368"/>
          </a:xfrm>
          <a:prstGeom prst="rect">
            <a:avLst/>
          </a:prstGeom>
          <a:noFill/>
          <a:ln/>
        </p:spPr>
        <p:txBody>
          <a:bodyPr wrap="square" lIns="508" tIns="508" rIns="508" bIns="508" rtlCol="0" anchor="ctr"/>
          <a:lstStyle/>
          <a:p>
            <a:pPr algn="ctr" indent="0" marL="0">
              <a:buNone/>
            </a:pPr>
            <a:r>
              <a:rPr lang="en-US" sz="950" b="1" dirty="0">
                <a:solidFill>
                  <a:srgbClr val="E8912D"/>
                </a:solidFill>
                <a:latin typeface="Meiryo UI" pitchFamily="34" charset="0"/>
                <a:ea typeface="Meiryo UI" pitchFamily="34" charset="-122"/>
                <a:cs typeface="Meiryo UI" pitchFamily="34" charset="-120"/>
              </a:rPr>
              <a:t>難易度 ★☆☆☆☆</a:t>
            </a:r>
            <a:endParaRPr lang="en-US" sz="950" dirty="0"/>
          </a:p>
        </p:txBody>
      </p:sp>
      <p:sp>
        <p:nvSpPr>
          <p:cNvPr id="45" name="Text 40"/>
          <p:cNvSpPr txBox="1"/>
          <p:nvPr/>
        </p:nvSpPr>
        <p:spPr>
          <a:xfrm>
            <a:off x="7955280" y="5596128"/>
            <a:ext cx="3566160" cy="658368"/>
          </a:xfrm>
          <a:prstGeom prst="rect">
            <a:avLst/>
          </a:prstGeom>
          <a:noFill/>
          <a:ln/>
        </p:spPr>
        <p:txBody>
          <a:bodyPr wrap="square" lIns="508" tIns="508" rIns="508" bIns="508" rtlCol="0" anchor="ctr"/>
          <a:lstStyle/>
          <a:p>
            <a:pPr indent="0" marL="0">
              <a:buNone/>
            </a:pPr>
            <a:r>
              <a:rPr lang="en-US" sz="900" dirty="0">
                <a:solidFill>
                  <a:srgbClr val="2B2B2B"/>
                </a:solidFill>
                <a:latin typeface="Meiryo UI" pitchFamily="34" charset="0"/>
                <a:ea typeface="Meiryo UI" pitchFamily="34" charset="-122"/>
                <a:cs typeface="Meiryo UI" pitchFamily="34" charset="-120"/>
              </a:rPr>
              <a:t>受け口を公開しないため最も安全。即時性は数分</a:t>
            </a:r>
            <a:endParaRPr lang="en-US" sz="900" dirty="0"/>
          </a:p>
        </p:txBody>
      </p:sp>
      <p:sp>
        <p:nvSpPr>
          <p:cNvPr id="46" name="Text 41"/>
          <p:cNvSpPr txBox="1"/>
          <p:nvPr/>
        </p:nvSpPr>
        <p:spPr>
          <a:xfrm>
            <a:off x="548640" y="6355080"/>
            <a:ext cx="11064240" cy="256032"/>
          </a:xfrm>
          <a:prstGeom prst="rect">
            <a:avLst/>
          </a:prstGeom>
          <a:noFill/>
          <a:ln/>
        </p:spPr>
        <p:txBody>
          <a:bodyPr wrap="square" lIns="0" tIns="0" rIns="0" bIns="0" rtlCol="0" anchor="t"/>
          <a:lstStyle/>
          <a:p>
            <a:pPr indent="0" marL="0">
              <a:buNone/>
            </a:pPr>
            <a:r>
              <a:rPr lang="en-US" sz="950" dirty="0">
                <a:solidFill>
                  <a:srgbClr val="6B7280"/>
                </a:solidFill>
                <a:latin typeface="Meiryo UI" pitchFamily="34" charset="0"/>
                <a:ea typeface="Meiryo UI" pitchFamily="34" charset="-122"/>
                <a:cs typeface="Meiryo UI" pitchFamily="34" charset="-120"/>
              </a:rPr>
              <a:t>情シスが「Anyone」を認めない場合、O1（定期確認）が現実的な選択肢になる</a:t>
            </a:r>
            <a:endParaRPr lang="en-US" sz="9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548640"/>
          </a:xfrm>
          <a:prstGeom prst="rect">
            <a:avLst/>
          </a:prstGeom>
          <a:noFill/>
          <a:ln/>
        </p:spPr>
        <p:txBody>
          <a:bodyPr wrap="square" lIns="0" tIns="0" rIns="0" bIns="0" rtlCol="0" anchor="ctr"/>
          <a:lstStyle/>
          <a:p>
            <a:pPr indent="0" marL="0">
              <a:buNone/>
            </a:pPr>
            <a:r>
              <a:rPr lang="en-US" sz="2600" b="1" dirty="0">
                <a:solidFill>
                  <a:srgbClr val="1B2A49"/>
                </a:solidFill>
                <a:latin typeface="Meiryo UI" pitchFamily="34" charset="0"/>
                <a:ea typeface="Meiryo UI" pitchFamily="34" charset="-122"/>
                <a:cs typeface="Meiryo UI" pitchFamily="34" charset="-120"/>
              </a:rPr>
              <a:t>参考：Power Apps code appsとは</a:t>
            </a:r>
            <a:endParaRPr lang="en-US" sz="2600" dirty="0"/>
          </a:p>
        </p:txBody>
      </p:sp>
      <p:sp>
        <p:nvSpPr>
          <p:cNvPr id="3" name="Text 1"/>
          <p:cNvSpPr txBox="1"/>
          <p:nvPr/>
        </p:nvSpPr>
        <p:spPr>
          <a:xfrm>
            <a:off x="548640" y="896112"/>
            <a:ext cx="11064240" cy="365760"/>
          </a:xfrm>
          <a:prstGeom prst="rect">
            <a:avLst/>
          </a:prstGeom>
          <a:noFill/>
          <a:ln/>
        </p:spPr>
        <p:txBody>
          <a:bodyPr wrap="square" lIns="0" tIns="0" rIns="0" bIns="0" rtlCol="0" anchor="ctr"/>
          <a:lstStyle/>
          <a:p>
            <a:pPr indent="0" marL="0">
              <a:buNone/>
            </a:pPr>
            <a:r>
              <a:rPr lang="en-US" sz="1400" dirty="0">
                <a:solidFill>
                  <a:srgbClr val="6B7280"/>
                </a:solidFill>
                <a:latin typeface="Meiryo UI" pitchFamily="34" charset="0"/>
                <a:ea typeface="Meiryo UI" pitchFamily="34" charset="-122"/>
                <a:cs typeface="Meiryo UI" pitchFamily="34" charset="-120"/>
              </a:rPr>
              <a:t>TypeScript・Reactで書いたWebアプリを、Power Platformの管理下で動かす仕組み（2026年2月にGA）</a:t>
            </a:r>
            <a:endParaRPr lang="en-US" sz="1400" dirty="0"/>
          </a:p>
        </p:txBody>
      </p:sp>
      <p:sp>
        <p:nvSpPr>
          <p:cNvPr id="4" name="Text 2"/>
          <p:cNvSpPr txBox="1"/>
          <p:nvPr/>
        </p:nvSpPr>
        <p:spPr>
          <a:xfrm>
            <a:off x="7498080" y="91440"/>
            <a:ext cx="4114800" cy="22860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5. 個別論点</a:t>
            </a:r>
            <a:endParaRPr lang="en-US" sz="900" dirty="0"/>
          </a:p>
        </p:txBody>
      </p:sp>
      <p:sp>
        <p:nvSpPr>
          <p:cNvPr id="5" name="Text 3"/>
          <p:cNvSpPr txBox="1"/>
          <p:nvPr/>
        </p:nvSpPr>
        <p:spPr>
          <a:xfrm>
            <a:off x="11247120" y="6446520"/>
            <a:ext cx="457200" cy="27432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37</a:t>
            </a:r>
            <a:endParaRPr lang="en-US" sz="900" dirty="0"/>
          </a:p>
        </p:txBody>
      </p:sp>
      <p:sp>
        <p:nvSpPr>
          <p:cNvPr id="6" name="Shape 4"/>
          <p:cNvSpPr/>
          <p:nvPr/>
        </p:nvSpPr>
        <p:spPr>
          <a:xfrm>
            <a:off x="548640" y="1417320"/>
            <a:ext cx="6675120" cy="3017520"/>
          </a:xfrm>
          <a:prstGeom prst="roundRect">
            <a:avLst>
              <a:gd name="adj" fmla="val 1818"/>
            </a:avLst>
          </a:prstGeom>
          <a:solidFill>
            <a:srgbClr val="F3F5F8"/>
          </a:solidFill>
          <a:ln/>
        </p:spPr>
      </p:sp>
      <p:sp>
        <p:nvSpPr>
          <p:cNvPr id="7" name="Shape 5"/>
          <p:cNvSpPr/>
          <p:nvPr/>
        </p:nvSpPr>
        <p:spPr>
          <a:xfrm>
            <a:off x="731520" y="1645920"/>
            <a:ext cx="1737360" cy="1097280"/>
          </a:xfrm>
          <a:prstGeom prst="roundRect">
            <a:avLst>
              <a:gd name="adj" fmla="val 6667"/>
            </a:avLst>
          </a:prstGeom>
          <a:solidFill>
            <a:srgbClr val="FFFFFF"/>
          </a:solidFill>
          <a:ln w="12700">
            <a:solidFill>
              <a:srgbClr val="D5DBE3"/>
            </a:solidFill>
            <a:prstDash val="solid"/>
          </a:ln>
        </p:spPr>
      </p:sp>
      <p:pic>
        <p:nvPicPr>
          <p:cNvPr id="8" name="Image 0" descr="preencoded.png">    </p:cNvPr>
          <p:cNvPicPr>
            <a:picLocks noChangeAspect="1"/>
          </p:cNvPicPr>
          <p:nvPr/>
        </p:nvPicPr>
        <p:blipFill>
          <a:blip r:embed="rId1"/>
          <a:stretch>
            <a:fillRect/>
          </a:stretch>
        </p:blipFill>
        <p:spPr>
          <a:xfrm>
            <a:off x="1402690" y="1773936"/>
            <a:ext cx="395021" cy="395021"/>
          </a:xfrm>
          <a:prstGeom prst="rect">
            <a:avLst/>
          </a:prstGeom>
        </p:spPr>
      </p:pic>
      <p:sp>
        <p:nvSpPr>
          <p:cNvPr id="9" name="Text 6"/>
          <p:cNvSpPr txBox="1"/>
          <p:nvPr/>
        </p:nvSpPr>
        <p:spPr>
          <a:xfrm>
            <a:off x="777240" y="2200558"/>
            <a:ext cx="1645920" cy="487778"/>
          </a:xfrm>
          <a:prstGeom prst="rect">
            <a:avLst/>
          </a:prstGeom>
          <a:noFill/>
          <a:ln/>
        </p:spPr>
        <p:txBody>
          <a:bodyPr wrap="square" lIns="0" tIns="0" rIns="0" bIns="0" rtlCol="0" anchor="ctr"/>
          <a:lstStyle/>
          <a:p>
            <a:pPr algn="ctr" indent="0" marL="0">
              <a:buNone/>
            </a:pPr>
            <a:r>
              <a:rPr lang="en-US" sz="1050" b="1" dirty="0">
                <a:solidFill>
                  <a:srgbClr val="1B2A49"/>
                </a:solidFill>
                <a:latin typeface="Meiryo UI" pitchFamily="34" charset="0"/>
                <a:ea typeface="Meiryo UI" pitchFamily="34" charset="-122"/>
                <a:cs typeface="Meiryo UI" pitchFamily="34" charset="-120"/>
              </a:rPr>
              <a:t>開発者</a:t>
            </a:r>
            <a:endParaRPr lang="en-US" sz="1050" dirty="0"/>
          </a:p>
          <a:p>
            <a:pPr algn="ctr" indent="0" marL="0">
              <a:buNone/>
            </a:pPr>
            <a:r>
              <a:rPr lang="en-US" sz="850" dirty="0">
                <a:solidFill>
                  <a:srgbClr val="6B7280"/>
                </a:solidFill>
                <a:latin typeface="Meiryo UI" pitchFamily="34" charset="0"/>
                <a:ea typeface="Meiryo UI" pitchFamily="34" charset="-122"/>
                <a:cs typeface="Meiryo UI" pitchFamily="34" charset="-120"/>
              </a:rPr>
              <a:t>VS Code・Node.js</a:t>
            </a:r>
            <a:endParaRPr lang="en-US" sz="1050" dirty="0"/>
          </a:p>
          <a:p>
            <a:pPr algn="ctr" indent="0" marL="0">
              <a:buNone/>
            </a:pPr>
            <a:r>
              <a:rPr lang="en-US" sz="850" dirty="0">
                <a:solidFill>
                  <a:srgbClr val="6B7280"/>
                </a:solidFill>
                <a:latin typeface="Meiryo UI" pitchFamily="34" charset="0"/>
                <a:ea typeface="Meiryo UI" pitchFamily="34" charset="-122"/>
                <a:cs typeface="Meiryo UI" pitchFamily="34" charset="-120"/>
              </a:rPr>
              <a:t>React／TypeScript</a:t>
            </a:r>
            <a:endParaRPr lang="en-US" sz="1050" dirty="0"/>
          </a:p>
        </p:txBody>
      </p:sp>
      <p:sp>
        <p:nvSpPr>
          <p:cNvPr id="10" name="Shape 7"/>
          <p:cNvSpPr/>
          <p:nvPr/>
        </p:nvSpPr>
        <p:spPr>
          <a:xfrm>
            <a:off x="2514600" y="2194560"/>
            <a:ext cx="320040" cy="0"/>
          </a:xfrm>
          <a:prstGeom prst="line">
            <a:avLst/>
          </a:prstGeom>
          <a:noFill/>
          <a:ln w="22225">
            <a:solidFill>
              <a:srgbClr val="9AA5B4"/>
            </a:solidFill>
            <a:prstDash val="solid"/>
            <a:tailEnd type="triangle"/>
          </a:ln>
        </p:spPr>
      </p:sp>
      <p:sp>
        <p:nvSpPr>
          <p:cNvPr id="11" name="Text 8"/>
          <p:cNvSpPr txBox="1"/>
          <p:nvPr/>
        </p:nvSpPr>
        <p:spPr>
          <a:xfrm>
            <a:off x="2487168" y="2286000"/>
            <a:ext cx="411480" cy="411480"/>
          </a:xfrm>
          <a:prstGeom prst="rect">
            <a:avLst/>
          </a:prstGeom>
          <a:noFill/>
          <a:ln/>
        </p:spPr>
        <p:txBody>
          <a:bodyPr wrap="square" lIns="0" tIns="0" rIns="0" bIns="0" rtlCol="0" anchor="t"/>
          <a:lstStyle/>
          <a:p>
            <a:pPr algn="ctr" indent="0" marL="0">
              <a:buNone/>
            </a:pPr>
            <a:r>
              <a:rPr lang="en-US" sz="800" dirty="0">
                <a:solidFill>
                  <a:srgbClr val="6B7280"/>
                </a:solidFill>
                <a:latin typeface="Meiryo UI" pitchFamily="34" charset="0"/>
                <a:ea typeface="Meiryo UI" pitchFamily="34" charset="-122"/>
                <a:cs typeface="Meiryo UI" pitchFamily="34" charset="-120"/>
              </a:rPr>
              <a:t>CLIで</a:t>
            </a:r>
            <a:endParaRPr lang="en-US" sz="800" dirty="0"/>
          </a:p>
          <a:p>
            <a:pPr algn="ctr" indent="0" marL="0">
              <a:buNone/>
            </a:pPr>
            <a:r>
              <a:rPr lang="en-US" sz="800" dirty="0">
                <a:solidFill>
                  <a:srgbClr val="6B7280"/>
                </a:solidFill>
                <a:latin typeface="Meiryo UI" pitchFamily="34" charset="0"/>
                <a:ea typeface="Meiryo UI" pitchFamily="34" charset="-122"/>
                <a:cs typeface="Meiryo UI" pitchFamily="34" charset="-120"/>
              </a:rPr>
              <a:t>公開</a:t>
            </a:r>
            <a:endParaRPr lang="en-US" sz="800" dirty="0"/>
          </a:p>
        </p:txBody>
      </p:sp>
      <p:sp>
        <p:nvSpPr>
          <p:cNvPr id="12" name="Shape 9"/>
          <p:cNvSpPr/>
          <p:nvPr/>
        </p:nvSpPr>
        <p:spPr>
          <a:xfrm>
            <a:off x="2880360" y="1554480"/>
            <a:ext cx="4206240" cy="2148840"/>
          </a:xfrm>
          <a:prstGeom prst="roundRect">
            <a:avLst>
              <a:gd name="adj" fmla="val 2128"/>
            </a:avLst>
          </a:prstGeom>
          <a:solidFill>
            <a:srgbClr val="FFFFFF"/>
          </a:solidFill>
          <a:ln w="12700">
            <a:solidFill>
              <a:srgbClr val="0F6CBD"/>
            </a:solidFill>
            <a:prstDash val="dash"/>
          </a:ln>
        </p:spPr>
      </p:sp>
      <p:sp>
        <p:nvSpPr>
          <p:cNvPr id="13" name="Text 10"/>
          <p:cNvSpPr txBox="1"/>
          <p:nvPr/>
        </p:nvSpPr>
        <p:spPr>
          <a:xfrm>
            <a:off x="2953512" y="1572768"/>
            <a:ext cx="1828800" cy="237744"/>
          </a:xfrm>
          <a:prstGeom prst="rect">
            <a:avLst/>
          </a:prstGeom>
          <a:noFill/>
          <a:ln/>
        </p:spPr>
        <p:txBody>
          <a:bodyPr wrap="square" lIns="0" tIns="0" rIns="0" bIns="0" rtlCol="0" anchor="ctr"/>
          <a:lstStyle/>
          <a:p>
            <a:pPr indent="0" marL="0">
              <a:buNone/>
            </a:pPr>
            <a:r>
              <a:rPr lang="en-US" sz="900" b="1" dirty="0">
                <a:solidFill>
                  <a:srgbClr val="0F6CBD"/>
                </a:solidFill>
                <a:latin typeface="Meiryo UI" pitchFamily="34" charset="0"/>
                <a:ea typeface="Meiryo UI" pitchFamily="34" charset="-122"/>
                <a:cs typeface="Meiryo UI" pitchFamily="34" charset="-120"/>
              </a:rPr>
              <a:t>Power Platform環境</a:t>
            </a:r>
            <a:endParaRPr lang="en-US" sz="900" dirty="0"/>
          </a:p>
        </p:txBody>
      </p:sp>
      <p:sp>
        <p:nvSpPr>
          <p:cNvPr id="14" name="Shape 11"/>
          <p:cNvSpPr/>
          <p:nvPr/>
        </p:nvSpPr>
        <p:spPr>
          <a:xfrm>
            <a:off x="3017520" y="1874520"/>
            <a:ext cx="1920240" cy="731520"/>
          </a:xfrm>
          <a:prstGeom prst="roundRect">
            <a:avLst>
              <a:gd name="adj" fmla="val 10000"/>
            </a:avLst>
          </a:prstGeom>
          <a:solidFill>
            <a:srgbClr val="FDEBD3"/>
          </a:solidFill>
          <a:ln/>
        </p:spPr>
      </p:sp>
      <p:pic>
        <p:nvPicPr>
          <p:cNvPr id="15" name="Image 1" descr="preencoded.png">    </p:cNvPr>
          <p:cNvPicPr>
            <a:picLocks noChangeAspect="1"/>
          </p:cNvPicPr>
          <p:nvPr/>
        </p:nvPicPr>
        <p:blipFill>
          <a:blip r:embed="rId2"/>
          <a:stretch>
            <a:fillRect/>
          </a:stretch>
        </p:blipFill>
        <p:spPr>
          <a:xfrm>
            <a:off x="3127248" y="2057400"/>
            <a:ext cx="365760" cy="365760"/>
          </a:xfrm>
          <a:prstGeom prst="rect">
            <a:avLst/>
          </a:prstGeom>
        </p:spPr>
      </p:pic>
      <p:sp>
        <p:nvSpPr>
          <p:cNvPr id="16" name="Text 12"/>
          <p:cNvSpPr txBox="1"/>
          <p:nvPr/>
        </p:nvSpPr>
        <p:spPr>
          <a:xfrm>
            <a:off x="3584448" y="1874520"/>
            <a:ext cx="1307592" cy="731520"/>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code app</a:t>
            </a:r>
            <a:endParaRPr lang="en-US" sz="1050" dirty="0"/>
          </a:p>
          <a:p>
            <a:pPr algn="l" indent="0" marL="0">
              <a:buNone/>
            </a:pPr>
            <a:r>
              <a:rPr lang="en-US" sz="900" dirty="0">
                <a:solidFill>
                  <a:srgbClr val="6B7280"/>
                </a:solidFill>
                <a:latin typeface="Meiryo UI" pitchFamily="34" charset="0"/>
                <a:ea typeface="Meiryo UI" pitchFamily="34" charset="-122"/>
                <a:cs typeface="Meiryo UI" pitchFamily="34" charset="-120"/>
              </a:rPr>
              <a:t>ホスティング</a:t>
            </a:r>
            <a:endParaRPr lang="en-US" sz="1050" dirty="0"/>
          </a:p>
        </p:txBody>
      </p:sp>
      <p:sp>
        <p:nvSpPr>
          <p:cNvPr id="17" name="Shape 13"/>
          <p:cNvSpPr/>
          <p:nvPr/>
        </p:nvSpPr>
        <p:spPr>
          <a:xfrm>
            <a:off x="5074920" y="1874520"/>
            <a:ext cx="1874520" cy="731520"/>
          </a:xfrm>
          <a:prstGeom prst="roundRect">
            <a:avLst>
              <a:gd name="adj" fmla="val 10000"/>
            </a:avLst>
          </a:prstGeom>
          <a:solidFill>
            <a:srgbClr val="E3EAF5"/>
          </a:solidFill>
          <a:ln/>
        </p:spPr>
      </p:sp>
      <p:pic>
        <p:nvPicPr>
          <p:cNvPr id="18" name="Image 2" descr="preencoded.png">    </p:cNvPr>
          <p:cNvPicPr>
            <a:picLocks noChangeAspect="1"/>
          </p:cNvPicPr>
          <p:nvPr/>
        </p:nvPicPr>
        <p:blipFill>
          <a:blip r:embed="rId3"/>
          <a:stretch>
            <a:fillRect/>
          </a:stretch>
        </p:blipFill>
        <p:spPr>
          <a:xfrm>
            <a:off x="5184648" y="2057400"/>
            <a:ext cx="365760" cy="365760"/>
          </a:xfrm>
          <a:prstGeom prst="rect">
            <a:avLst/>
          </a:prstGeom>
        </p:spPr>
      </p:pic>
      <p:sp>
        <p:nvSpPr>
          <p:cNvPr id="19" name="Text 14"/>
          <p:cNvSpPr txBox="1"/>
          <p:nvPr/>
        </p:nvSpPr>
        <p:spPr>
          <a:xfrm>
            <a:off x="5641848" y="1874520"/>
            <a:ext cx="1261872" cy="731520"/>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管理機能</a:t>
            </a:r>
            <a:endParaRPr lang="en-US" sz="1050" dirty="0"/>
          </a:p>
          <a:p>
            <a:pPr algn="l" indent="0" marL="0">
              <a:buNone/>
            </a:pPr>
            <a:r>
              <a:rPr lang="en-US" sz="900" dirty="0">
                <a:solidFill>
                  <a:srgbClr val="6B7280"/>
                </a:solidFill>
                <a:latin typeface="Meiryo UI" pitchFamily="34" charset="0"/>
                <a:ea typeface="Meiryo UI" pitchFamily="34" charset="-122"/>
                <a:cs typeface="Meiryo UI" pitchFamily="34" charset="-120"/>
              </a:rPr>
              <a:t>Entra認証・DLP</a:t>
            </a:r>
            <a:endParaRPr lang="en-US" sz="1050" dirty="0"/>
          </a:p>
        </p:txBody>
      </p:sp>
      <p:sp>
        <p:nvSpPr>
          <p:cNvPr id="20" name="Shape 15"/>
          <p:cNvSpPr/>
          <p:nvPr/>
        </p:nvSpPr>
        <p:spPr>
          <a:xfrm>
            <a:off x="3017520" y="2788920"/>
            <a:ext cx="3931920" cy="731520"/>
          </a:xfrm>
          <a:prstGeom prst="roundRect">
            <a:avLst>
              <a:gd name="adj" fmla="val 10000"/>
            </a:avLst>
          </a:prstGeom>
          <a:solidFill>
            <a:srgbClr val="D9F2F1"/>
          </a:solidFill>
          <a:ln/>
        </p:spPr>
      </p:sp>
      <p:pic>
        <p:nvPicPr>
          <p:cNvPr id="21" name="Image 3" descr="preencoded.png">    </p:cNvPr>
          <p:cNvPicPr>
            <a:picLocks noChangeAspect="1"/>
          </p:cNvPicPr>
          <p:nvPr/>
        </p:nvPicPr>
        <p:blipFill>
          <a:blip r:embed="rId4"/>
          <a:stretch>
            <a:fillRect/>
          </a:stretch>
        </p:blipFill>
        <p:spPr>
          <a:xfrm>
            <a:off x="3127248" y="2971800"/>
            <a:ext cx="365760" cy="365760"/>
          </a:xfrm>
          <a:prstGeom prst="rect">
            <a:avLst/>
          </a:prstGeom>
        </p:spPr>
      </p:pic>
      <p:sp>
        <p:nvSpPr>
          <p:cNvPr id="22" name="Text 16"/>
          <p:cNvSpPr txBox="1"/>
          <p:nvPr/>
        </p:nvSpPr>
        <p:spPr>
          <a:xfrm>
            <a:off x="3584448" y="2788920"/>
            <a:ext cx="3319272" cy="731520"/>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コネクタ（1,500以上）</a:t>
            </a:r>
            <a:endParaRPr lang="en-US" sz="1050" dirty="0"/>
          </a:p>
          <a:p>
            <a:pPr algn="l" indent="0" marL="0">
              <a:buNone/>
            </a:pPr>
            <a:r>
              <a:rPr lang="en-US" sz="850" dirty="0">
                <a:solidFill>
                  <a:srgbClr val="6B7280"/>
                </a:solidFill>
                <a:latin typeface="Meiryo UI" pitchFamily="34" charset="0"/>
                <a:ea typeface="Meiryo UI" pitchFamily="34" charset="-122"/>
                <a:cs typeface="Meiryo UI" pitchFamily="34" charset="-120"/>
              </a:rPr>
              <a:t>SharePoint・Lists／Dataverse／Office 365／Copilot Studio／カスタム（Cloud Run APIなど）</a:t>
            </a:r>
            <a:endParaRPr lang="en-US" sz="1050" dirty="0"/>
          </a:p>
        </p:txBody>
      </p:sp>
      <p:sp>
        <p:nvSpPr>
          <p:cNvPr id="23" name="Shape 17"/>
          <p:cNvSpPr/>
          <p:nvPr/>
        </p:nvSpPr>
        <p:spPr>
          <a:xfrm>
            <a:off x="731520" y="3017520"/>
            <a:ext cx="1737360" cy="1188720"/>
          </a:xfrm>
          <a:prstGeom prst="roundRect">
            <a:avLst>
              <a:gd name="adj" fmla="val 6154"/>
            </a:avLst>
          </a:prstGeom>
          <a:solidFill>
            <a:srgbClr val="FFFFFF"/>
          </a:solidFill>
          <a:ln w="12700">
            <a:solidFill>
              <a:srgbClr val="D5DBE3"/>
            </a:solidFill>
            <a:prstDash val="solid"/>
          </a:ln>
        </p:spPr>
      </p:sp>
      <p:pic>
        <p:nvPicPr>
          <p:cNvPr id="24" name="Image 4" descr="preencoded.png">    </p:cNvPr>
          <p:cNvPicPr>
            <a:picLocks noChangeAspect="1"/>
          </p:cNvPicPr>
          <p:nvPr/>
        </p:nvPicPr>
        <p:blipFill>
          <a:blip r:embed="rId5"/>
          <a:stretch>
            <a:fillRect/>
          </a:stretch>
        </p:blipFill>
        <p:spPr>
          <a:xfrm>
            <a:off x="1386230" y="3145536"/>
            <a:ext cx="427939" cy="427939"/>
          </a:xfrm>
          <a:prstGeom prst="rect">
            <a:avLst/>
          </a:prstGeom>
        </p:spPr>
      </p:pic>
      <p:sp>
        <p:nvSpPr>
          <p:cNvPr id="25" name="Text 18"/>
          <p:cNvSpPr txBox="1"/>
          <p:nvPr/>
        </p:nvSpPr>
        <p:spPr>
          <a:xfrm>
            <a:off x="777240" y="3607710"/>
            <a:ext cx="1645920" cy="543666"/>
          </a:xfrm>
          <a:prstGeom prst="rect">
            <a:avLst/>
          </a:prstGeom>
          <a:noFill/>
          <a:ln/>
        </p:spPr>
        <p:txBody>
          <a:bodyPr wrap="square" lIns="0" tIns="0" rIns="0" bIns="0" rtlCol="0" anchor="ctr"/>
          <a:lstStyle/>
          <a:p>
            <a:pPr algn="ctr" indent="0" marL="0">
              <a:buNone/>
            </a:pPr>
            <a:r>
              <a:rPr lang="en-US" sz="1050" b="1" dirty="0">
                <a:solidFill>
                  <a:srgbClr val="1B2A49"/>
                </a:solidFill>
                <a:latin typeface="Meiryo UI" pitchFamily="34" charset="0"/>
                <a:ea typeface="Meiryo UI" pitchFamily="34" charset="-122"/>
                <a:cs typeface="Meiryo UI" pitchFamily="34" charset="-120"/>
              </a:rPr>
              <a:t>利用者</a:t>
            </a:r>
            <a:endParaRPr lang="en-US" sz="1050" dirty="0"/>
          </a:p>
          <a:p>
            <a:pPr algn="ctr" indent="0" marL="0">
              <a:buNone/>
            </a:pPr>
            <a:r>
              <a:rPr lang="en-US" sz="850" dirty="0">
                <a:solidFill>
                  <a:srgbClr val="6B7280"/>
                </a:solidFill>
                <a:latin typeface="Meiryo UI" pitchFamily="34" charset="0"/>
                <a:ea typeface="Meiryo UI" pitchFamily="34" charset="-122"/>
                <a:cs typeface="Meiryo UI" pitchFamily="34" charset="-120"/>
              </a:rPr>
              <a:t>ブラウザで利用</a:t>
            </a:r>
            <a:endParaRPr lang="en-US" sz="1050" dirty="0"/>
          </a:p>
          <a:p>
            <a:pPr algn="ctr" indent="0" marL="0">
              <a:buNone/>
            </a:pPr>
            <a:r>
              <a:rPr lang="en-US" sz="850" dirty="0">
                <a:solidFill>
                  <a:srgbClr val="6B7280"/>
                </a:solidFill>
                <a:latin typeface="Meiryo UI" pitchFamily="34" charset="0"/>
                <a:ea typeface="Meiryo UI" pitchFamily="34" charset="-122"/>
                <a:cs typeface="Meiryo UI" pitchFamily="34" charset="-120"/>
              </a:rPr>
              <a:t>（Premium）</a:t>
            </a:r>
            <a:endParaRPr lang="en-US" sz="1050" dirty="0"/>
          </a:p>
        </p:txBody>
      </p:sp>
      <p:sp>
        <p:nvSpPr>
          <p:cNvPr id="26" name="Shape 19"/>
          <p:cNvSpPr/>
          <p:nvPr/>
        </p:nvSpPr>
        <p:spPr>
          <a:xfrm flipV="1">
            <a:off x="2514600" y="2377440"/>
            <a:ext cx="457200" cy="1234440"/>
          </a:xfrm>
          <a:prstGeom prst="line">
            <a:avLst/>
          </a:prstGeom>
          <a:noFill/>
          <a:ln w="22225">
            <a:solidFill>
              <a:srgbClr val="9AA5B4"/>
            </a:solidFill>
            <a:prstDash val="solid"/>
            <a:tailEnd type="triangle"/>
          </a:ln>
        </p:spPr>
      </p:sp>
      <p:sp>
        <p:nvSpPr>
          <p:cNvPr id="27" name="Shape 20"/>
          <p:cNvSpPr/>
          <p:nvPr/>
        </p:nvSpPr>
        <p:spPr>
          <a:xfrm>
            <a:off x="7406640" y="1417320"/>
            <a:ext cx="4206240" cy="1463040"/>
          </a:xfrm>
          <a:prstGeom prst="roundRect">
            <a:avLst>
              <a:gd name="adj" fmla="val 3750"/>
            </a:avLst>
          </a:prstGeom>
          <a:solidFill>
            <a:srgbClr val="D9F2F1"/>
          </a:solidFill>
          <a:ln/>
        </p:spPr>
      </p:sp>
      <p:sp>
        <p:nvSpPr>
          <p:cNvPr id="28" name="Shape 21"/>
          <p:cNvSpPr/>
          <p:nvPr/>
        </p:nvSpPr>
        <p:spPr>
          <a:xfrm>
            <a:off x="7543800" y="1536192"/>
            <a:ext cx="384048" cy="384048"/>
          </a:xfrm>
          <a:prstGeom prst="ellipse">
            <a:avLst/>
          </a:prstGeom>
          <a:solidFill>
            <a:srgbClr val="FFFFFF"/>
          </a:solidFill>
          <a:ln/>
        </p:spPr>
      </p:sp>
      <p:pic>
        <p:nvPicPr>
          <p:cNvPr id="29" name="Image 5" descr="preencoded.png">    </p:cNvPr>
          <p:cNvPicPr>
            <a:picLocks noChangeAspect="1"/>
          </p:cNvPicPr>
          <p:nvPr/>
        </p:nvPicPr>
        <p:blipFill>
          <a:blip r:embed="rId6"/>
          <a:stretch>
            <a:fillRect/>
          </a:stretch>
        </p:blipFill>
        <p:spPr>
          <a:xfrm>
            <a:off x="7620610" y="1613002"/>
            <a:ext cx="230429" cy="230429"/>
          </a:xfrm>
          <a:prstGeom prst="rect">
            <a:avLst/>
          </a:prstGeom>
        </p:spPr>
      </p:pic>
      <p:sp>
        <p:nvSpPr>
          <p:cNvPr id="30" name="Text 22"/>
          <p:cNvSpPr txBox="1"/>
          <p:nvPr/>
        </p:nvSpPr>
        <p:spPr>
          <a:xfrm>
            <a:off x="8001000" y="1536192"/>
            <a:ext cx="3520440" cy="384048"/>
          </a:xfrm>
          <a:prstGeom prst="rect">
            <a:avLst/>
          </a:prstGeom>
          <a:noFill/>
          <a:ln/>
        </p:spPr>
        <p:txBody>
          <a:bodyPr wrap="square" lIns="0" tIns="0" rIns="0" bIns="0"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できること</a:t>
            </a:r>
            <a:endParaRPr lang="en-US" sz="1300" dirty="0"/>
          </a:p>
        </p:txBody>
      </p:sp>
      <p:sp>
        <p:nvSpPr>
          <p:cNvPr id="31" name="Text 23"/>
          <p:cNvSpPr txBox="1"/>
          <p:nvPr/>
        </p:nvSpPr>
        <p:spPr>
          <a:xfrm>
            <a:off x="7589520" y="2020824"/>
            <a:ext cx="3886200" cy="768096"/>
          </a:xfrm>
          <a:prstGeom prst="rect">
            <a:avLst/>
          </a:prstGeom>
          <a:noFill/>
          <a:ln/>
        </p:spPr>
        <p:txBody>
          <a:bodyPr wrap="square" lIns="254" tIns="254" rIns="254" bIns="254" rtlCol="0" anchor="t"/>
          <a:lstStyle/>
          <a:p>
            <a:pPr marL="152400" indent="-152400">
              <a:spcAft>
                <a:spcPts val="200"/>
              </a:spcAft>
              <a:buSzPct val="100000"/>
              <a:buChar char="•"/>
            </a:pPr>
            <a:r>
              <a:rPr lang="en-US" sz="1000" dirty="0">
                <a:solidFill>
                  <a:srgbClr val="2B2B2B"/>
                </a:solidFill>
                <a:latin typeface="Meiryo UI" pitchFamily="34" charset="0"/>
                <a:ea typeface="Meiryo UI" pitchFamily="34" charset="-122"/>
                <a:cs typeface="Meiryo UI" pitchFamily="34" charset="-120"/>
              </a:rPr>
              <a:t>React・Vueなどで画面を自由に作れる</a:t>
            </a:r>
            <a:endParaRPr lang="en-US" sz="1000" dirty="0"/>
          </a:p>
          <a:p>
            <a:pPr marL="152400" indent="-152400">
              <a:spcAft>
                <a:spcPts val="200"/>
              </a:spcAft>
              <a:buSzPct val="100000"/>
              <a:buChar char="•"/>
            </a:pPr>
            <a:r>
              <a:rPr lang="en-US" sz="1000" dirty="0">
                <a:solidFill>
                  <a:srgbClr val="2B2B2B"/>
                </a:solidFill>
                <a:latin typeface="Meiryo UI" pitchFamily="34" charset="0"/>
                <a:ea typeface="Meiryo UI" pitchFamily="34" charset="-122"/>
                <a:cs typeface="Meiryo UI" pitchFamily="34" charset="-120"/>
              </a:rPr>
              <a:t>コネクタをTypeScriptから型付きで呼べる</a:t>
            </a:r>
            <a:endParaRPr lang="en-US" sz="1000" dirty="0"/>
          </a:p>
          <a:p>
            <a:pPr marL="152400" indent="-152400">
              <a:spcAft>
                <a:spcPts val="200"/>
              </a:spcAft>
              <a:buSzPct val="100000"/>
              <a:buChar char="•"/>
            </a:pPr>
            <a:r>
              <a:rPr lang="en-US" sz="1000" dirty="0">
                <a:solidFill>
                  <a:srgbClr val="2B2B2B"/>
                </a:solidFill>
                <a:latin typeface="Meiryo UI" pitchFamily="34" charset="0"/>
                <a:ea typeface="Meiryo UI" pitchFamily="34" charset="-122"/>
                <a:cs typeface="Meiryo UI" pitchFamily="34" charset="-120"/>
              </a:rPr>
              <a:t>共有・DLP・条件付きアクセスが効く</a:t>
            </a:r>
            <a:endParaRPr lang="en-US" sz="1000" dirty="0"/>
          </a:p>
        </p:txBody>
      </p:sp>
      <p:sp>
        <p:nvSpPr>
          <p:cNvPr id="32" name="Shape 24"/>
          <p:cNvSpPr/>
          <p:nvPr/>
        </p:nvSpPr>
        <p:spPr>
          <a:xfrm>
            <a:off x="7406640" y="2971800"/>
            <a:ext cx="4206240" cy="1463040"/>
          </a:xfrm>
          <a:prstGeom prst="roundRect">
            <a:avLst>
              <a:gd name="adj" fmla="val 3750"/>
            </a:avLst>
          </a:prstGeom>
          <a:solidFill>
            <a:srgbClr val="E3EAF5"/>
          </a:solidFill>
          <a:ln/>
        </p:spPr>
      </p:sp>
      <p:sp>
        <p:nvSpPr>
          <p:cNvPr id="33" name="Shape 25"/>
          <p:cNvSpPr/>
          <p:nvPr/>
        </p:nvSpPr>
        <p:spPr>
          <a:xfrm>
            <a:off x="7543800" y="3090672"/>
            <a:ext cx="384048" cy="384048"/>
          </a:xfrm>
          <a:prstGeom prst="ellipse">
            <a:avLst/>
          </a:prstGeom>
          <a:solidFill>
            <a:srgbClr val="FFFFFF"/>
          </a:solidFill>
          <a:ln/>
        </p:spPr>
      </p:sp>
      <p:pic>
        <p:nvPicPr>
          <p:cNvPr id="34" name="Image 6" descr="preencoded.png">    </p:cNvPr>
          <p:cNvPicPr>
            <a:picLocks noChangeAspect="1"/>
          </p:cNvPicPr>
          <p:nvPr/>
        </p:nvPicPr>
        <p:blipFill>
          <a:blip r:embed="rId7"/>
          <a:stretch>
            <a:fillRect/>
          </a:stretch>
        </p:blipFill>
        <p:spPr>
          <a:xfrm>
            <a:off x="7620610" y="3167482"/>
            <a:ext cx="230429" cy="230429"/>
          </a:xfrm>
          <a:prstGeom prst="rect">
            <a:avLst/>
          </a:prstGeom>
        </p:spPr>
      </p:pic>
      <p:sp>
        <p:nvSpPr>
          <p:cNvPr id="35" name="Text 26"/>
          <p:cNvSpPr txBox="1"/>
          <p:nvPr/>
        </p:nvSpPr>
        <p:spPr>
          <a:xfrm>
            <a:off x="8001000" y="3090672"/>
            <a:ext cx="3520440" cy="384048"/>
          </a:xfrm>
          <a:prstGeom prst="rect">
            <a:avLst/>
          </a:prstGeom>
          <a:noFill/>
          <a:ln/>
        </p:spPr>
        <p:txBody>
          <a:bodyPr wrap="square" lIns="0" tIns="0" rIns="0" bIns="0"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必要なもの</a:t>
            </a:r>
            <a:endParaRPr lang="en-US" sz="1300" dirty="0"/>
          </a:p>
        </p:txBody>
      </p:sp>
      <p:sp>
        <p:nvSpPr>
          <p:cNvPr id="36" name="Text 27"/>
          <p:cNvSpPr txBox="1"/>
          <p:nvPr/>
        </p:nvSpPr>
        <p:spPr>
          <a:xfrm>
            <a:off x="7589520" y="3575304"/>
            <a:ext cx="3886200" cy="768096"/>
          </a:xfrm>
          <a:prstGeom prst="rect">
            <a:avLst/>
          </a:prstGeom>
          <a:noFill/>
          <a:ln/>
        </p:spPr>
        <p:txBody>
          <a:bodyPr wrap="square" lIns="254" tIns="254" rIns="254" bIns="254" rtlCol="0" anchor="t"/>
          <a:lstStyle/>
          <a:p>
            <a:pPr marL="152400" indent="-152400">
              <a:spcAft>
                <a:spcPts val="200"/>
              </a:spcAft>
              <a:buSzPct val="100000"/>
              <a:buChar char="•"/>
            </a:pPr>
            <a:r>
              <a:rPr lang="en-US" sz="1000" dirty="0">
                <a:solidFill>
                  <a:srgbClr val="2B2B2B"/>
                </a:solidFill>
                <a:latin typeface="Meiryo UI" pitchFamily="34" charset="0"/>
                <a:ea typeface="Meiryo UI" pitchFamily="34" charset="-122"/>
                <a:cs typeface="Meiryo UI" pitchFamily="34" charset="-120"/>
              </a:rPr>
              <a:t>開発環境：VS Code、Node.js、Git、Power Apps CLI</a:t>
            </a:r>
            <a:endParaRPr lang="en-US" sz="1000" dirty="0"/>
          </a:p>
          <a:p>
            <a:pPr marL="152400" indent="-152400">
              <a:spcAft>
                <a:spcPts val="200"/>
              </a:spcAft>
              <a:buSzPct val="100000"/>
              <a:buChar char="•"/>
            </a:pPr>
            <a:r>
              <a:rPr lang="en-US" sz="1000" dirty="0">
                <a:solidFill>
                  <a:srgbClr val="2B2B2B"/>
                </a:solidFill>
                <a:latin typeface="Meiryo UI" pitchFamily="34" charset="0"/>
                <a:ea typeface="Meiryo UI" pitchFamily="34" charset="-122"/>
                <a:cs typeface="Meiryo UI" pitchFamily="34" charset="-120"/>
              </a:rPr>
              <a:t>管理者による環境での有効化</a:t>
            </a:r>
            <a:endParaRPr lang="en-US" sz="1000" dirty="0"/>
          </a:p>
          <a:p>
            <a:pPr marL="152400" indent="-152400">
              <a:spcAft>
                <a:spcPts val="200"/>
              </a:spcAft>
              <a:buSzPct val="100000"/>
              <a:buChar char="•"/>
            </a:pPr>
            <a:r>
              <a:rPr lang="en-US" sz="1000" dirty="0">
                <a:solidFill>
                  <a:srgbClr val="2B2B2B"/>
                </a:solidFill>
                <a:latin typeface="Meiryo UI" pitchFamily="34" charset="0"/>
                <a:ea typeface="Meiryo UI" pitchFamily="34" charset="-122"/>
                <a:cs typeface="Meiryo UI" pitchFamily="34" charset="-120"/>
              </a:rPr>
              <a:t>利用者：Power Apps Premium（または従量課金・App Pass）</a:t>
            </a:r>
            <a:endParaRPr lang="en-US" sz="1000" dirty="0"/>
          </a:p>
        </p:txBody>
      </p:sp>
      <p:sp>
        <p:nvSpPr>
          <p:cNvPr id="37" name="Shape 28"/>
          <p:cNvSpPr/>
          <p:nvPr/>
        </p:nvSpPr>
        <p:spPr>
          <a:xfrm>
            <a:off x="548640" y="4572000"/>
            <a:ext cx="4206240" cy="1737360"/>
          </a:xfrm>
          <a:prstGeom prst="roundRect">
            <a:avLst>
              <a:gd name="adj" fmla="val 3158"/>
            </a:avLst>
          </a:prstGeom>
          <a:solidFill>
            <a:srgbClr val="FBE3E3"/>
          </a:solidFill>
          <a:ln/>
        </p:spPr>
      </p:sp>
      <p:sp>
        <p:nvSpPr>
          <p:cNvPr id="38" name="Shape 29"/>
          <p:cNvSpPr/>
          <p:nvPr/>
        </p:nvSpPr>
        <p:spPr>
          <a:xfrm>
            <a:off x="685800" y="4690872"/>
            <a:ext cx="384048" cy="384048"/>
          </a:xfrm>
          <a:prstGeom prst="ellipse">
            <a:avLst/>
          </a:prstGeom>
          <a:solidFill>
            <a:srgbClr val="FFFFFF"/>
          </a:solidFill>
          <a:ln/>
        </p:spPr>
      </p:sp>
      <p:pic>
        <p:nvPicPr>
          <p:cNvPr id="39" name="Image 7" descr="preencoded.png">    </p:cNvPr>
          <p:cNvPicPr>
            <a:picLocks noChangeAspect="1"/>
          </p:cNvPicPr>
          <p:nvPr/>
        </p:nvPicPr>
        <p:blipFill>
          <a:blip r:embed="rId8"/>
          <a:stretch>
            <a:fillRect/>
          </a:stretch>
        </p:blipFill>
        <p:spPr>
          <a:xfrm>
            <a:off x="762610" y="4767682"/>
            <a:ext cx="230429" cy="230429"/>
          </a:xfrm>
          <a:prstGeom prst="rect">
            <a:avLst/>
          </a:prstGeom>
        </p:spPr>
      </p:pic>
      <p:sp>
        <p:nvSpPr>
          <p:cNvPr id="40" name="Text 30"/>
          <p:cNvSpPr txBox="1"/>
          <p:nvPr/>
        </p:nvSpPr>
        <p:spPr>
          <a:xfrm>
            <a:off x="1143000" y="4690872"/>
            <a:ext cx="3520440" cy="384048"/>
          </a:xfrm>
          <a:prstGeom prst="rect">
            <a:avLst/>
          </a:prstGeom>
          <a:noFill/>
          <a:ln/>
        </p:spPr>
        <p:txBody>
          <a:bodyPr wrap="square" lIns="0" tIns="0" rIns="0" bIns="0"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現時点の制約</a:t>
            </a:r>
            <a:endParaRPr lang="en-US" sz="1300" dirty="0"/>
          </a:p>
        </p:txBody>
      </p:sp>
      <p:sp>
        <p:nvSpPr>
          <p:cNvPr id="41" name="Text 31"/>
          <p:cNvSpPr txBox="1"/>
          <p:nvPr/>
        </p:nvSpPr>
        <p:spPr>
          <a:xfrm>
            <a:off x="731520" y="5175504"/>
            <a:ext cx="3886200" cy="1042416"/>
          </a:xfrm>
          <a:prstGeom prst="rect">
            <a:avLst/>
          </a:prstGeom>
          <a:noFill/>
          <a:ln/>
        </p:spPr>
        <p:txBody>
          <a:bodyPr wrap="square" lIns="254" tIns="254" rIns="254" bIns="254" rtlCol="0" anchor="t"/>
          <a:lstStyle/>
          <a:p>
            <a:pPr marL="152400" indent="-152400">
              <a:spcAft>
                <a:spcPts val="200"/>
              </a:spcAft>
              <a:buSzPct val="100000"/>
              <a:buChar char="•"/>
            </a:pPr>
            <a:r>
              <a:rPr lang="en-US" sz="1000" dirty="0">
                <a:solidFill>
                  <a:srgbClr val="2B2B2B"/>
                </a:solidFill>
                <a:latin typeface="Meiryo UI" pitchFamily="34" charset="0"/>
                <a:ea typeface="Meiryo UI" pitchFamily="34" charset="-122"/>
                <a:cs typeface="Meiryo UI" pitchFamily="34" charset="-120"/>
              </a:rPr>
              <a:t>IPアドレスでのアクセス制限は不可（条件付きアクセスで代替）</a:t>
            </a:r>
            <a:endParaRPr lang="en-US" sz="1000" dirty="0"/>
          </a:p>
          <a:p>
            <a:pPr marL="152400" indent="-152400">
              <a:spcAft>
                <a:spcPts val="200"/>
              </a:spcAft>
              <a:buSzPct val="100000"/>
              <a:buChar char="•"/>
            </a:pPr>
            <a:r>
              <a:rPr lang="en-US" sz="1000" dirty="0">
                <a:solidFill>
                  <a:srgbClr val="2B2B2B"/>
                </a:solidFill>
                <a:latin typeface="Meiryo UI" pitchFamily="34" charset="0"/>
                <a:ea typeface="Meiryo UI" pitchFamily="34" charset="-122"/>
                <a:cs typeface="Meiryo UI" pitchFamily="34" charset="-120"/>
              </a:rPr>
              <a:t>Power PlatformのGit統合に非対応</a:t>
            </a:r>
            <a:endParaRPr lang="en-US" sz="1000" dirty="0"/>
          </a:p>
          <a:p>
            <a:pPr marL="152400" indent="-152400">
              <a:spcAft>
                <a:spcPts val="200"/>
              </a:spcAft>
              <a:buSzPct val="100000"/>
              <a:buChar char="•"/>
            </a:pPr>
            <a:r>
              <a:rPr lang="en-US" sz="1000" dirty="0">
                <a:solidFill>
                  <a:srgbClr val="2B2B2B"/>
                </a:solidFill>
                <a:latin typeface="Meiryo UI" pitchFamily="34" charset="0"/>
                <a:ea typeface="Meiryo UI" pitchFamily="34" charset="-122"/>
                <a:cs typeface="Meiryo UI" pitchFamily="34" charset="-120"/>
              </a:rPr>
              <a:t>Power Apps for Windows、SharePointフォーム統合に非対応</a:t>
            </a:r>
            <a:endParaRPr lang="en-US" sz="1000" dirty="0"/>
          </a:p>
        </p:txBody>
      </p:sp>
      <p:graphicFrame>
        <p:nvGraphicFramePr>
          <p:cNvPr id="38" name="Table 0"/>
          <p:cNvGraphicFramePr>
            <a:graphicFrameLocks noGrp="1"/>
          </p:cNvGraphicFramePr>
          <p:nvPr>
            <p:extLst>
              <p:ext uri="{D42A27DB-BD31-4B8C-83A1-F6EECF244321}">
                <p14:modId xmlns:p14="http://schemas.microsoft.com/office/powerpoint/2010/main" val="1579011935"/>
              </p:ext>
            </p:extLst>
          </p:nvPr>
        </p:nvGraphicFramePr>
        <p:xfrm>
          <a:off x="4937760" y="4572000"/>
          <a:ext cx="6675120" cy="914400"/>
        </p:xfrm>
        <a:graphic>
          <a:graphicData uri="http://schemas.openxmlformats.org/drawingml/2006/table">
            <a:tbl>
              <a:tblPr/>
              <a:tblGrid>
                <a:gridCol w="1737360"/>
                <a:gridCol w="1645920"/>
                <a:gridCol w="1645920"/>
                <a:gridCol w="1645920"/>
              </a:tblGrid>
              <a:tr h="329184">
                <a:tc>
                  <a:txBody>
                    <a:bodyPr/>
                    <a:lstStyle/>
                    <a:p>
                      <a:pPr algn="ctr" indent="0" marL="0">
                        <a:buNone/>
                      </a:pP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B2A49"/>
                    </a:solidFill>
                  </a:tcPr>
                </a:tc>
                <a:tc>
                  <a:txBody>
                    <a:bodyPr/>
                    <a:lstStyle/>
                    <a:p>
                      <a:pPr algn="ctr" indent="0" marL="0">
                        <a:buNone/>
                      </a:pPr>
                      <a:r>
                        <a:rPr lang="en-US" sz="950" b="1" dirty="0">
                          <a:solidFill>
                            <a:srgbClr val="FFFFFF"/>
                          </a:solidFill>
                          <a:latin typeface="Meiryo UI" pitchFamily="34" charset="0"/>
                          <a:ea typeface="Meiryo UI" pitchFamily="34" charset="-122"/>
                          <a:cs typeface="Meiryo UI" pitchFamily="34" charset="-120"/>
                        </a:rPr>
                        <a:t>キャンバス</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B2A49"/>
                    </a:solidFill>
                  </a:tcPr>
                </a:tc>
                <a:tc>
                  <a:txBody>
                    <a:bodyPr/>
                    <a:lstStyle/>
                    <a:p>
                      <a:pPr algn="ctr" indent="0" marL="0">
                        <a:buNone/>
                      </a:pPr>
                      <a:r>
                        <a:rPr lang="en-US" sz="950" b="1" dirty="0">
                          <a:solidFill>
                            <a:srgbClr val="FFFFFF"/>
                          </a:solidFill>
                          <a:latin typeface="Meiryo UI" pitchFamily="34" charset="0"/>
                          <a:ea typeface="Meiryo UI" pitchFamily="34" charset="-122"/>
                          <a:cs typeface="Meiryo UI" pitchFamily="34" charset="-120"/>
                        </a:rPr>
                        <a:t>code apps</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B2A49"/>
                    </a:solidFill>
                  </a:tcPr>
                </a:tc>
                <a:tc>
                  <a:txBody>
                    <a:bodyPr/>
                    <a:lstStyle/>
                    <a:p>
                      <a:pPr algn="ctr" indent="0" marL="0">
                        <a:buNone/>
                      </a:pPr>
                      <a:r>
                        <a:rPr lang="en-US" sz="950" b="1" dirty="0">
                          <a:solidFill>
                            <a:srgbClr val="FFFFFF"/>
                          </a:solidFill>
                          <a:latin typeface="Meiryo UI" pitchFamily="34" charset="0"/>
                          <a:ea typeface="Meiryo UI" pitchFamily="34" charset="-122"/>
                          <a:cs typeface="Meiryo UI" pitchFamily="34" charset="-120"/>
                        </a:rPr>
                        <a:t>Cloud Run</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B2A49"/>
                    </a:solidFill>
                  </a:tcPr>
                </a:tc>
              </a:tr>
              <a:tr h="329184">
                <a:tc>
                  <a:txBody>
                    <a:bodyPr/>
                    <a:lstStyle/>
                    <a:p>
                      <a:pPr algn="l" indent="0" marL="0">
                        <a:buNone/>
                      </a:pPr>
                      <a:r>
                        <a:rPr lang="en-US" sz="950" b="1" dirty="0">
                          <a:solidFill>
                            <a:srgbClr val="1B2A49"/>
                          </a:solidFill>
                          <a:latin typeface="Meiryo UI" pitchFamily="34" charset="0"/>
                          <a:ea typeface="Meiryo UI" pitchFamily="34" charset="-122"/>
                          <a:cs typeface="Meiryo UI" pitchFamily="34" charset="-120"/>
                        </a:rPr>
                        <a:t>画面の自由度</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3EAF5"/>
                    </a:solidFill>
                  </a:tcPr>
                </a:tc>
                <a:tc>
                  <a:txBody>
                    <a:bodyPr/>
                    <a:lstStyle/>
                    <a:p>
                      <a:pPr algn="ctr" indent="0" marL="0">
                        <a:buNone/>
                      </a:pPr>
                      <a:r>
                        <a:rPr lang="en-US" sz="950" dirty="0">
                          <a:solidFill>
                            <a:srgbClr val="2B2B2B"/>
                          </a:solidFill>
                          <a:latin typeface="Meiryo UI" pitchFamily="34" charset="0"/>
                          <a:ea typeface="Meiryo UI" pitchFamily="34" charset="-122"/>
                          <a:cs typeface="Meiryo UI" pitchFamily="34" charset="-120"/>
                        </a:rPr>
                        <a:t>低（ローコード）</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2B2B2B"/>
                          </a:solidFill>
                          <a:latin typeface="Meiryo UI" pitchFamily="34" charset="0"/>
                          <a:ea typeface="Meiryo UI" pitchFamily="34" charset="-122"/>
                          <a:cs typeface="Meiryo UI" pitchFamily="34" charset="-120"/>
                        </a:rPr>
                        <a:t>高（TS）</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0FAF9"/>
                    </a:solidFill>
                  </a:tcPr>
                </a:tc>
                <a:tc>
                  <a:txBody>
                    <a:bodyPr/>
                    <a:lstStyle/>
                    <a:p>
                      <a:pPr algn="ctr" indent="0" marL="0">
                        <a:buNone/>
                      </a:pPr>
                      <a:r>
                        <a:rPr lang="en-US" sz="950" dirty="0">
                          <a:solidFill>
                            <a:srgbClr val="2B2B2B"/>
                          </a:solidFill>
                          <a:latin typeface="Meiryo UI" pitchFamily="34" charset="0"/>
                          <a:ea typeface="Meiryo UI" pitchFamily="34" charset="-122"/>
                          <a:cs typeface="Meiryo UI" pitchFamily="34" charset="-120"/>
                        </a:rPr>
                        <a:t>高（TS）</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329184">
                <a:tc>
                  <a:txBody>
                    <a:bodyPr/>
                    <a:lstStyle/>
                    <a:p>
                      <a:pPr algn="l" indent="0" marL="0">
                        <a:buNone/>
                      </a:pPr>
                      <a:r>
                        <a:rPr lang="en-US" sz="950" b="1" dirty="0">
                          <a:solidFill>
                            <a:srgbClr val="1B2A49"/>
                          </a:solidFill>
                          <a:latin typeface="Meiryo UI" pitchFamily="34" charset="0"/>
                          <a:ea typeface="Meiryo UI" pitchFamily="34" charset="-122"/>
                          <a:cs typeface="Meiryo UI" pitchFamily="34" charset="-120"/>
                        </a:rPr>
                        <a:t>認証・ホスティング</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3EAF5"/>
                    </a:solidFill>
                  </a:tcPr>
                </a:tc>
                <a:tc>
                  <a:txBody>
                    <a:bodyPr/>
                    <a:lstStyle/>
                    <a:p>
                      <a:pPr algn="ctr" indent="0" marL="0">
                        <a:buNone/>
                      </a:pPr>
                      <a:r>
                        <a:rPr lang="en-US" sz="950" dirty="0">
                          <a:solidFill>
                            <a:srgbClr val="2B2B2B"/>
                          </a:solidFill>
                          <a:latin typeface="Meiryo UI" pitchFamily="34" charset="0"/>
                          <a:ea typeface="Meiryo UI" pitchFamily="34" charset="-122"/>
                          <a:cs typeface="Meiryo UI" pitchFamily="34" charset="-120"/>
                        </a:rPr>
                        <a:t>標準</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2B2B2B"/>
                          </a:solidFill>
                          <a:latin typeface="Meiryo UI" pitchFamily="34" charset="0"/>
                          <a:ea typeface="Meiryo UI" pitchFamily="34" charset="-122"/>
                          <a:cs typeface="Meiryo UI" pitchFamily="34" charset="-120"/>
                        </a:rPr>
                        <a:t>標準（Entra）</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0FAF9"/>
                    </a:solidFill>
                  </a:tcPr>
                </a:tc>
                <a:tc>
                  <a:txBody>
                    <a:bodyPr/>
                    <a:lstStyle/>
                    <a:p>
                      <a:pPr algn="ctr" indent="0" marL="0">
                        <a:buNone/>
                      </a:pPr>
                      <a:r>
                        <a:rPr lang="en-US" sz="950" dirty="0">
                          <a:solidFill>
                            <a:srgbClr val="2B2B2B"/>
                          </a:solidFill>
                          <a:latin typeface="Meiryo UI" pitchFamily="34" charset="0"/>
                          <a:ea typeface="Meiryo UI" pitchFamily="34" charset="-122"/>
                          <a:cs typeface="Meiryo UI" pitchFamily="34" charset="-120"/>
                        </a:rPr>
                        <a:t>自前で用意</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329184">
                <a:tc>
                  <a:txBody>
                    <a:bodyPr/>
                    <a:lstStyle/>
                    <a:p>
                      <a:pPr algn="l" indent="0" marL="0">
                        <a:buNone/>
                      </a:pPr>
                      <a:r>
                        <a:rPr lang="en-US" sz="950" b="1" dirty="0">
                          <a:solidFill>
                            <a:srgbClr val="1B2A49"/>
                          </a:solidFill>
                          <a:latin typeface="Meiryo UI" pitchFamily="34" charset="0"/>
                          <a:ea typeface="Meiryo UI" pitchFamily="34" charset="-122"/>
                          <a:cs typeface="Meiryo UI" pitchFamily="34" charset="-120"/>
                        </a:rPr>
                        <a:t>利用者ライセンス</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3EAF5"/>
                    </a:solidFill>
                  </a:tcPr>
                </a:tc>
                <a:tc>
                  <a:txBody>
                    <a:bodyPr/>
                    <a:lstStyle/>
                    <a:p>
                      <a:pPr algn="ctr" indent="0" marL="0">
                        <a:buNone/>
                      </a:pPr>
                      <a:r>
                        <a:rPr lang="en-US" sz="950" dirty="0">
                          <a:solidFill>
                            <a:srgbClr val="2B2B2B"/>
                          </a:solidFill>
                          <a:latin typeface="Meiryo UI" pitchFamily="34" charset="0"/>
                          <a:ea typeface="Meiryo UI" pitchFamily="34" charset="-122"/>
                          <a:cs typeface="Meiryo UI" pitchFamily="34" charset="-120"/>
                        </a:rPr>
                        <a:t>標準〜Premium</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2B2B2B"/>
                          </a:solidFill>
                          <a:latin typeface="Meiryo UI" pitchFamily="34" charset="0"/>
                          <a:ea typeface="Meiryo UI" pitchFamily="34" charset="-122"/>
                          <a:cs typeface="Meiryo UI" pitchFamily="34" charset="-120"/>
                        </a:rPr>
                        <a:t>Premium</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0FAF9"/>
                    </a:solidFill>
                  </a:tcPr>
                </a:tc>
                <a:tc>
                  <a:txBody>
                    <a:bodyPr/>
                    <a:lstStyle/>
                    <a:p>
                      <a:pPr algn="ctr" indent="0" marL="0">
                        <a:buNone/>
                      </a:pPr>
                      <a:r>
                        <a:rPr lang="en-US" sz="950" dirty="0">
                          <a:solidFill>
                            <a:srgbClr val="2B2B2B"/>
                          </a:solidFill>
                          <a:latin typeface="Meiryo UI" pitchFamily="34" charset="0"/>
                          <a:ea typeface="Meiryo UI" pitchFamily="34" charset="-122"/>
                          <a:cs typeface="Meiryo UI" pitchFamily="34" charset="-120"/>
                        </a:rPr>
                        <a:t>不要（GCP料金）</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329184">
                <a:tc>
                  <a:txBody>
                    <a:bodyPr/>
                    <a:lstStyle/>
                    <a:p>
                      <a:pPr algn="l" indent="0" marL="0">
                        <a:buNone/>
                      </a:pPr>
                      <a:r>
                        <a:rPr lang="en-US" sz="950" b="1" dirty="0">
                          <a:solidFill>
                            <a:srgbClr val="1B2A49"/>
                          </a:solidFill>
                          <a:latin typeface="Meiryo UI" pitchFamily="34" charset="0"/>
                          <a:ea typeface="Meiryo UI" pitchFamily="34" charset="-122"/>
                          <a:cs typeface="Meiryo UI" pitchFamily="34" charset="-120"/>
                        </a:rPr>
                        <a:t>BigQuery直接参照</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3EAF5"/>
                    </a:solidFill>
                  </a:tcPr>
                </a:tc>
                <a:tc>
                  <a:txBody>
                    <a:bodyPr/>
                    <a:lstStyle/>
                    <a:p>
                      <a:pPr algn="ctr" indent="0" marL="0">
                        <a:buNone/>
                      </a:pPr>
                      <a:r>
                        <a:rPr lang="en-US" sz="950" dirty="0">
                          <a:solidFill>
                            <a:srgbClr val="2B2B2B"/>
                          </a:solidFill>
                          <a:latin typeface="Meiryo UI" pitchFamily="34" charset="0"/>
                          <a:ea typeface="Meiryo UI" pitchFamily="34" charset="-122"/>
                          <a:cs typeface="Meiryo UI" pitchFamily="34" charset="-120"/>
                        </a:rPr>
                        <a:t>不可</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2B2B2B"/>
                          </a:solidFill>
                          <a:latin typeface="Meiryo UI" pitchFamily="34" charset="0"/>
                          <a:ea typeface="Meiryo UI" pitchFamily="34" charset="-122"/>
                          <a:cs typeface="Meiryo UI" pitchFamily="34" charset="-120"/>
                        </a:rPr>
                        <a:t>カスタムコネクタ経由</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0FAF9"/>
                    </a:solidFill>
                  </a:tcPr>
                </a:tc>
                <a:tc>
                  <a:txBody>
                    <a:bodyPr/>
                    <a:lstStyle/>
                    <a:p>
                      <a:pPr algn="ctr" indent="0" marL="0">
                        <a:buNone/>
                      </a:pPr>
                      <a:r>
                        <a:rPr lang="en-US" sz="950" dirty="0">
                          <a:solidFill>
                            <a:srgbClr val="2B2B2B"/>
                          </a:solidFill>
                          <a:latin typeface="Meiryo UI" pitchFamily="34" charset="0"/>
                          <a:ea typeface="Meiryo UI" pitchFamily="34" charset="-122"/>
                          <a:cs typeface="Meiryo UI" pitchFamily="34" charset="-120"/>
                        </a:rPr>
                        <a:t>可</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548640"/>
          </a:xfrm>
          <a:prstGeom prst="rect">
            <a:avLst/>
          </a:prstGeom>
          <a:noFill/>
          <a:ln/>
        </p:spPr>
        <p:txBody>
          <a:bodyPr wrap="square" lIns="0" tIns="0" rIns="0" bIns="0" rtlCol="0" anchor="ctr"/>
          <a:lstStyle/>
          <a:p>
            <a:pPr indent="0" marL="0">
              <a:buNone/>
            </a:pPr>
            <a:r>
              <a:rPr lang="en-US" sz="2600" b="1" dirty="0">
                <a:solidFill>
                  <a:srgbClr val="1B2A49"/>
                </a:solidFill>
                <a:latin typeface="Meiryo UI" pitchFamily="34" charset="0"/>
                <a:ea typeface="Meiryo UI" pitchFamily="34" charset="-122"/>
                <a:cs typeface="Meiryo UI" pitchFamily="34" charset="-120"/>
              </a:rPr>
              <a:t>参考：Gemini Enterpriseの最新動向（2026年9月時点）</a:t>
            </a:r>
            <a:endParaRPr lang="en-US" sz="2600" dirty="0"/>
          </a:p>
        </p:txBody>
      </p:sp>
      <p:sp>
        <p:nvSpPr>
          <p:cNvPr id="3" name="Text 1"/>
          <p:cNvSpPr txBox="1"/>
          <p:nvPr/>
        </p:nvSpPr>
        <p:spPr>
          <a:xfrm>
            <a:off x="548640" y="896112"/>
            <a:ext cx="11064240" cy="365760"/>
          </a:xfrm>
          <a:prstGeom prst="rect">
            <a:avLst/>
          </a:prstGeom>
          <a:noFill/>
          <a:ln/>
        </p:spPr>
        <p:txBody>
          <a:bodyPr wrap="square" lIns="0" tIns="0" rIns="0" bIns="0" rtlCol="0" anchor="ctr"/>
          <a:lstStyle/>
          <a:p>
            <a:pPr indent="0" marL="0">
              <a:buNone/>
            </a:pPr>
            <a:r>
              <a:rPr lang="en-US" sz="1400" dirty="0">
                <a:solidFill>
                  <a:srgbClr val="6B7280"/>
                </a:solidFill>
                <a:latin typeface="Meiryo UI" pitchFamily="34" charset="0"/>
                <a:ea typeface="Meiryo UI" pitchFamily="34" charset="-122"/>
                <a:cs typeface="Meiryo UI" pitchFamily="34" charset="-120"/>
              </a:rPr>
              <a:t>B1〜B3の前提となるGoogle側の製品構成が、2026年に再編されている</a:t>
            </a:r>
            <a:endParaRPr lang="en-US" sz="1400" dirty="0"/>
          </a:p>
        </p:txBody>
      </p:sp>
      <p:sp>
        <p:nvSpPr>
          <p:cNvPr id="4" name="Text 2"/>
          <p:cNvSpPr txBox="1"/>
          <p:nvPr/>
        </p:nvSpPr>
        <p:spPr>
          <a:xfrm>
            <a:off x="7498080" y="91440"/>
            <a:ext cx="4114800" cy="22860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5. 個別論点</a:t>
            </a:r>
            <a:endParaRPr lang="en-US" sz="900" dirty="0"/>
          </a:p>
        </p:txBody>
      </p:sp>
      <p:sp>
        <p:nvSpPr>
          <p:cNvPr id="5" name="Text 3"/>
          <p:cNvSpPr txBox="1"/>
          <p:nvPr/>
        </p:nvSpPr>
        <p:spPr>
          <a:xfrm>
            <a:off x="11247120" y="6446520"/>
            <a:ext cx="457200" cy="27432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38</a:t>
            </a:r>
            <a:endParaRPr lang="en-US" sz="900" dirty="0"/>
          </a:p>
        </p:txBody>
      </p:sp>
      <p:sp>
        <p:nvSpPr>
          <p:cNvPr id="6" name="Shape 4"/>
          <p:cNvSpPr/>
          <p:nvPr/>
        </p:nvSpPr>
        <p:spPr>
          <a:xfrm>
            <a:off x="548640" y="1417320"/>
            <a:ext cx="4846320" cy="4160520"/>
          </a:xfrm>
          <a:prstGeom prst="roundRect">
            <a:avLst>
              <a:gd name="adj" fmla="val 1319"/>
            </a:avLst>
          </a:prstGeom>
          <a:solidFill>
            <a:srgbClr val="E8F0FE"/>
          </a:solidFill>
          <a:ln/>
        </p:spPr>
      </p:sp>
      <p:sp>
        <p:nvSpPr>
          <p:cNvPr id="7" name="Shape 5"/>
          <p:cNvSpPr/>
          <p:nvPr/>
        </p:nvSpPr>
        <p:spPr>
          <a:xfrm>
            <a:off x="777240" y="1645920"/>
            <a:ext cx="4389120" cy="960120"/>
          </a:xfrm>
          <a:prstGeom prst="roundRect">
            <a:avLst>
              <a:gd name="adj" fmla="val 7619"/>
            </a:avLst>
          </a:prstGeom>
          <a:solidFill>
            <a:srgbClr val="FFFFFF"/>
          </a:solidFill>
          <a:ln w="12700">
            <a:solidFill>
              <a:srgbClr val="D5DBE3"/>
            </a:solidFill>
            <a:prstDash val="solid"/>
          </a:ln>
        </p:spPr>
      </p:sp>
      <p:pic>
        <p:nvPicPr>
          <p:cNvPr id="8" name="Image 0" descr="preencoded.png">    </p:cNvPr>
          <p:cNvPicPr>
            <a:picLocks noChangeAspect="1"/>
          </p:cNvPicPr>
          <p:nvPr/>
        </p:nvPicPr>
        <p:blipFill>
          <a:blip r:embed="rId1"/>
          <a:stretch>
            <a:fillRect/>
          </a:stretch>
        </p:blipFill>
        <p:spPr>
          <a:xfrm>
            <a:off x="886968" y="1943100"/>
            <a:ext cx="365760" cy="365760"/>
          </a:xfrm>
          <a:prstGeom prst="rect">
            <a:avLst/>
          </a:prstGeom>
        </p:spPr>
      </p:pic>
      <p:sp>
        <p:nvSpPr>
          <p:cNvPr id="9" name="Text 6"/>
          <p:cNvSpPr txBox="1"/>
          <p:nvPr/>
        </p:nvSpPr>
        <p:spPr>
          <a:xfrm>
            <a:off x="1344168" y="1645920"/>
            <a:ext cx="3776472" cy="960120"/>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Gemini Enterprise（アプリ）</a:t>
            </a:r>
            <a:endParaRPr lang="en-US" sz="1050" dirty="0"/>
          </a:p>
          <a:p>
            <a:pPr algn="l" indent="0" marL="0">
              <a:buNone/>
            </a:pPr>
            <a:r>
              <a:rPr lang="en-US" sz="900" dirty="0">
                <a:solidFill>
                  <a:srgbClr val="6B7280"/>
                </a:solidFill>
                <a:latin typeface="Meiryo UI" pitchFamily="34" charset="0"/>
                <a:ea typeface="Meiryo UI" pitchFamily="34" charset="-122"/>
                <a:cs typeface="Meiryo UI" pitchFamily="34" charset="-120"/>
              </a:rPr>
              <a:t>利用者向け：社内データの検索・アシスタント・エージェントの利用</a:t>
            </a:r>
            <a:endParaRPr lang="en-US" sz="1050" dirty="0"/>
          </a:p>
        </p:txBody>
      </p:sp>
      <p:sp>
        <p:nvSpPr>
          <p:cNvPr id="10" name="Shape 7"/>
          <p:cNvSpPr/>
          <p:nvPr/>
        </p:nvSpPr>
        <p:spPr>
          <a:xfrm flipV="1">
            <a:off x="2971800" y="2670048"/>
            <a:ext cx="0" cy="484632"/>
          </a:xfrm>
          <a:prstGeom prst="line">
            <a:avLst/>
          </a:prstGeom>
          <a:noFill/>
          <a:ln w="25400">
            <a:solidFill>
              <a:srgbClr val="4285F4"/>
            </a:solidFill>
            <a:prstDash val="solid"/>
            <a:tailEnd type="triangle"/>
          </a:ln>
        </p:spPr>
      </p:sp>
      <p:sp>
        <p:nvSpPr>
          <p:cNvPr id="11" name="Text 8"/>
          <p:cNvSpPr txBox="1"/>
          <p:nvPr/>
        </p:nvSpPr>
        <p:spPr>
          <a:xfrm>
            <a:off x="3063240" y="2743200"/>
            <a:ext cx="2194560" cy="365760"/>
          </a:xfrm>
          <a:prstGeom prst="rect">
            <a:avLst/>
          </a:prstGeom>
          <a:noFill/>
          <a:ln/>
        </p:spPr>
        <p:txBody>
          <a:bodyPr wrap="square" lIns="508" tIns="508" rIns="508" bIns="508" rtlCol="0" anchor="ctr"/>
          <a:lstStyle/>
          <a:p>
            <a:pPr indent="0" marL="0">
              <a:buNone/>
            </a:pPr>
            <a:r>
              <a:rPr lang="en-US" sz="900" b="1" dirty="0">
                <a:solidFill>
                  <a:srgbClr val="4285F4"/>
                </a:solidFill>
                <a:latin typeface="Meiryo UI" pitchFamily="34" charset="0"/>
                <a:ea typeface="Meiryo UI" pitchFamily="34" charset="-122"/>
                <a:cs typeface="Meiryo UI" pitchFamily="34" charset="-120"/>
              </a:rPr>
              <a:t>作ったエージェントを公開</a:t>
            </a:r>
            <a:endParaRPr lang="en-US" sz="900" dirty="0"/>
          </a:p>
        </p:txBody>
      </p:sp>
      <p:sp>
        <p:nvSpPr>
          <p:cNvPr id="12" name="Shape 9"/>
          <p:cNvSpPr/>
          <p:nvPr/>
        </p:nvSpPr>
        <p:spPr>
          <a:xfrm>
            <a:off x="777240" y="3200400"/>
            <a:ext cx="4389120" cy="960120"/>
          </a:xfrm>
          <a:prstGeom prst="roundRect">
            <a:avLst>
              <a:gd name="adj" fmla="val 7619"/>
            </a:avLst>
          </a:prstGeom>
          <a:solidFill>
            <a:srgbClr val="FFFFFF"/>
          </a:solidFill>
          <a:ln w="12700">
            <a:solidFill>
              <a:srgbClr val="D5DBE3"/>
            </a:solidFill>
            <a:prstDash val="solid"/>
          </a:ln>
        </p:spPr>
      </p:sp>
      <p:pic>
        <p:nvPicPr>
          <p:cNvPr id="13" name="Image 1" descr="preencoded.png">    </p:cNvPr>
          <p:cNvPicPr>
            <a:picLocks noChangeAspect="1"/>
          </p:cNvPicPr>
          <p:nvPr/>
        </p:nvPicPr>
        <p:blipFill>
          <a:blip r:embed="rId2"/>
          <a:stretch>
            <a:fillRect/>
          </a:stretch>
        </p:blipFill>
        <p:spPr>
          <a:xfrm>
            <a:off x="886968" y="3497580"/>
            <a:ext cx="365760" cy="365760"/>
          </a:xfrm>
          <a:prstGeom prst="rect">
            <a:avLst/>
          </a:prstGeom>
        </p:spPr>
      </p:pic>
      <p:sp>
        <p:nvSpPr>
          <p:cNvPr id="14" name="Text 10"/>
          <p:cNvSpPr txBox="1"/>
          <p:nvPr/>
        </p:nvSpPr>
        <p:spPr>
          <a:xfrm>
            <a:off x="1344168" y="3200400"/>
            <a:ext cx="3776472" cy="960120"/>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Gemini Enterprise Agent Platform</a:t>
            </a:r>
            <a:endParaRPr lang="en-US" sz="1050" dirty="0"/>
          </a:p>
          <a:p>
            <a:pPr algn="l" indent="0" marL="0">
              <a:buNone/>
            </a:pPr>
            <a:r>
              <a:rPr lang="en-US" sz="900" dirty="0">
                <a:solidFill>
                  <a:srgbClr val="6B7280"/>
                </a:solidFill>
                <a:latin typeface="Meiryo UI" pitchFamily="34" charset="0"/>
                <a:ea typeface="Meiryo UI" pitchFamily="34" charset="-122"/>
                <a:cs typeface="Meiryo UI" pitchFamily="34" charset="-120"/>
              </a:rPr>
              <a:t>開発者向け：旧Vertex AI。エージェントの構築・実行・管理</a:t>
            </a:r>
            <a:endParaRPr lang="en-US" sz="1050" dirty="0"/>
          </a:p>
        </p:txBody>
      </p:sp>
      <p:sp>
        <p:nvSpPr>
          <p:cNvPr id="15" name="Text 11"/>
          <p:cNvSpPr txBox="1"/>
          <p:nvPr/>
        </p:nvSpPr>
        <p:spPr>
          <a:xfrm>
            <a:off x="777240" y="4315968"/>
            <a:ext cx="4389120" cy="274320"/>
          </a:xfrm>
          <a:prstGeom prst="rect">
            <a:avLst/>
          </a:prstGeom>
          <a:noFill/>
          <a:ln/>
        </p:spPr>
        <p:txBody>
          <a:bodyPr wrap="square" lIns="508" tIns="508" rIns="508" bIns="508" rtlCol="0" anchor="t"/>
          <a:lstStyle/>
          <a:p>
            <a:pPr indent="0" marL="0">
              <a:buNone/>
            </a:pPr>
            <a:r>
              <a:rPr lang="en-US" sz="1000" b="1" dirty="0">
                <a:solidFill>
                  <a:srgbClr val="1B2A49"/>
                </a:solidFill>
                <a:latin typeface="Meiryo UI" pitchFamily="34" charset="0"/>
                <a:ea typeface="Meiryo UI" pitchFamily="34" charset="-122"/>
                <a:cs typeface="Meiryo UI" pitchFamily="34" charset="-120"/>
              </a:rPr>
              <a:t>つながるデータ</a:t>
            </a:r>
            <a:endParaRPr lang="en-US" sz="1000" dirty="0"/>
          </a:p>
        </p:txBody>
      </p:sp>
      <p:pic>
        <p:nvPicPr>
          <p:cNvPr id="16" name="Image 2" descr="preencoded.png">    </p:cNvPr>
          <p:cNvPicPr>
            <a:picLocks noChangeAspect="1"/>
          </p:cNvPicPr>
          <p:nvPr/>
        </p:nvPicPr>
        <p:blipFill>
          <a:blip r:embed="rId3"/>
          <a:stretch>
            <a:fillRect/>
          </a:stretch>
        </p:blipFill>
        <p:spPr>
          <a:xfrm>
            <a:off x="914400" y="4645152"/>
            <a:ext cx="365760" cy="365760"/>
          </a:xfrm>
          <a:prstGeom prst="rect">
            <a:avLst/>
          </a:prstGeom>
        </p:spPr>
      </p:pic>
      <p:sp>
        <p:nvSpPr>
          <p:cNvPr id="17" name="Text 12"/>
          <p:cNvSpPr txBox="1"/>
          <p:nvPr/>
        </p:nvSpPr>
        <p:spPr>
          <a:xfrm>
            <a:off x="640080" y="5047488"/>
            <a:ext cx="914400" cy="274320"/>
          </a:xfrm>
          <a:prstGeom prst="rect">
            <a:avLst/>
          </a:prstGeom>
          <a:noFill/>
          <a:ln/>
        </p:spPr>
        <p:txBody>
          <a:bodyPr wrap="square" lIns="0" tIns="0" rIns="0" bIns="0" rtlCol="0" anchor="t"/>
          <a:lstStyle/>
          <a:p>
            <a:pPr algn="ctr" indent="0" marL="0">
              <a:buNone/>
            </a:pPr>
            <a:r>
              <a:rPr lang="en-US" sz="850" dirty="0">
                <a:solidFill>
                  <a:srgbClr val="6B7280"/>
                </a:solidFill>
                <a:latin typeface="Meiryo UI" pitchFamily="34" charset="0"/>
                <a:ea typeface="Meiryo UI" pitchFamily="34" charset="-122"/>
                <a:cs typeface="Meiryo UI" pitchFamily="34" charset="-120"/>
              </a:rPr>
              <a:t>SharePoint</a:t>
            </a:r>
            <a:endParaRPr lang="en-US" sz="850" dirty="0"/>
          </a:p>
        </p:txBody>
      </p:sp>
      <p:pic>
        <p:nvPicPr>
          <p:cNvPr id="18" name="Image 3" descr="preencoded.png">    </p:cNvPr>
          <p:cNvPicPr>
            <a:picLocks noChangeAspect="1"/>
          </p:cNvPicPr>
          <p:nvPr/>
        </p:nvPicPr>
        <p:blipFill>
          <a:blip r:embed="rId4"/>
          <a:stretch>
            <a:fillRect/>
          </a:stretch>
        </p:blipFill>
        <p:spPr>
          <a:xfrm>
            <a:off x="2011680" y="4645152"/>
            <a:ext cx="365760" cy="365760"/>
          </a:xfrm>
          <a:prstGeom prst="rect">
            <a:avLst/>
          </a:prstGeom>
        </p:spPr>
      </p:pic>
      <p:sp>
        <p:nvSpPr>
          <p:cNvPr id="19" name="Text 13"/>
          <p:cNvSpPr txBox="1"/>
          <p:nvPr/>
        </p:nvSpPr>
        <p:spPr>
          <a:xfrm>
            <a:off x="1737360" y="5047488"/>
            <a:ext cx="914400" cy="274320"/>
          </a:xfrm>
          <a:prstGeom prst="rect">
            <a:avLst/>
          </a:prstGeom>
          <a:noFill/>
          <a:ln/>
        </p:spPr>
        <p:txBody>
          <a:bodyPr wrap="square" lIns="0" tIns="0" rIns="0" bIns="0" rtlCol="0" anchor="t"/>
          <a:lstStyle/>
          <a:p>
            <a:pPr algn="ctr" indent="0" marL="0">
              <a:buNone/>
            </a:pPr>
            <a:r>
              <a:rPr lang="en-US" sz="850" dirty="0">
                <a:solidFill>
                  <a:srgbClr val="6B7280"/>
                </a:solidFill>
                <a:latin typeface="Meiryo UI" pitchFamily="34" charset="0"/>
                <a:ea typeface="Meiryo UI" pitchFamily="34" charset="-122"/>
                <a:cs typeface="Meiryo UI" pitchFamily="34" charset="-120"/>
              </a:rPr>
              <a:t>Teams</a:t>
            </a:r>
            <a:endParaRPr lang="en-US" sz="850" dirty="0"/>
          </a:p>
        </p:txBody>
      </p:sp>
      <p:pic>
        <p:nvPicPr>
          <p:cNvPr id="20" name="Image 4" descr="preencoded.png">    </p:cNvPr>
          <p:cNvPicPr>
            <a:picLocks noChangeAspect="1"/>
          </p:cNvPicPr>
          <p:nvPr/>
        </p:nvPicPr>
        <p:blipFill>
          <a:blip r:embed="rId5"/>
          <a:stretch>
            <a:fillRect/>
          </a:stretch>
        </p:blipFill>
        <p:spPr>
          <a:xfrm>
            <a:off x="3108960" y="4645152"/>
            <a:ext cx="365760" cy="365760"/>
          </a:xfrm>
          <a:prstGeom prst="rect">
            <a:avLst/>
          </a:prstGeom>
        </p:spPr>
      </p:pic>
      <p:sp>
        <p:nvSpPr>
          <p:cNvPr id="21" name="Text 14"/>
          <p:cNvSpPr txBox="1"/>
          <p:nvPr/>
        </p:nvSpPr>
        <p:spPr>
          <a:xfrm>
            <a:off x="2834640" y="5047488"/>
            <a:ext cx="914400" cy="274320"/>
          </a:xfrm>
          <a:prstGeom prst="rect">
            <a:avLst/>
          </a:prstGeom>
          <a:noFill/>
          <a:ln/>
        </p:spPr>
        <p:txBody>
          <a:bodyPr wrap="square" lIns="0" tIns="0" rIns="0" bIns="0" rtlCol="0" anchor="t"/>
          <a:lstStyle/>
          <a:p>
            <a:pPr algn="ctr" indent="0" marL="0">
              <a:buNone/>
            </a:pPr>
            <a:r>
              <a:rPr lang="en-US" sz="850" dirty="0">
                <a:solidFill>
                  <a:srgbClr val="6B7280"/>
                </a:solidFill>
                <a:latin typeface="Meiryo UI" pitchFamily="34" charset="0"/>
                <a:ea typeface="Meiryo UI" pitchFamily="34" charset="-122"/>
                <a:cs typeface="Meiryo UI" pitchFamily="34" charset="-120"/>
              </a:rPr>
              <a:t>OneDrive等</a:t>
            </a:r>
            <a:endParaRPr lang="en-US" sz="850" dirty="0"/>
          </a:p>
        </p:txBody>
      </p:sp>
      <p:pic>
        <p:nvPicPr>
          <p:cNvPr id="22" name="Image 5" descr="preencoded.png">    </p:cNvPr>
          <p:cNvPicPr>
            <a:picLocks noChangeAspect="1"/>
          </p:cNvPicPr>
          <p:nvPr/>
        </p:nvPicPr>
        <p:blipFill>
          <a:blip r:embed="rId6"/>
          <a:stretch>
            <a:fillRect/>
          </a:stretch>
        </p:blipFill>
        <p:spPr>
          <a:xfrm>
            <a:off x="4206240" y="4645152"/>
            <a:ext cx="365760" cy="365760"/>
          </a:xfrm>
          <a:prstGeom prst="rect">
            <a:avLst/>
          </a:prstGeom>
        </p:spPr>
      </p:pic>
      <p:sp>
        <p:nvSpPr>
          <p:cNvPr id="23" name="Text 15"/>
          <p:cNvSpPr txBox="1"/>
          <p:nvPr/>
        </p:nvSpPr>
        <p:spPr>
          <a:xfrm>
            <a:off x="3931920" y="5047488"/>
            <a:ext cx="914400" cy="274320"/>
          </a:xfrm>
          <a:prstGeom prst="rect">
            <a:avLst/>
          </a:prstGeom>
          <a:noFill/>
          <a:ln/>
        </p:spPr>
        <p:txBody>
          <a:bodyPr wrap="square" lIns="0" tIns="0" rIns="0" bIns="0" rtlCol="0" anchor="t"/>
          <a:lstStyle/>
          <a:p>
            <a:pPr algn="ctr" indent="0" marL="0">
              <a:buNone/>
            </a:pPr>
            <a:r>
              <a:rPr lang="en-US" sz="850" dirty="0">
                <a:solidFill>
                  <a:srgbClr val="6B7280"/>
                </a:solidFill>
                <a:latin typeface="Meiryo UI" pitchFamily="34" charset="0"/>
                <a:ea typeface="Meiryo UI" pitchFamily="34" charset="-122"/>
                <a:cs typeface="Meiryo UI" pitchFamily="34" charset="-120"/>
              </a:rPr>
              <a:t>BigQuery</a:t>
            </a:r>
            <a:endParaRPr lang="en-US" sz="850" dirty="0"/>
          </a:p>
        </p:txBody>
      </p:sp>
      <p:sp>
        <p:nvSpPr>
          <p:cNvPr id="24" name="Shape 16"/>
          <p:cNvSpPr/>
          <p:nvPr/>
        </p:nvSpPr>
        <p:spPr>
          <a:xfrm>
            <a:off x="5577840" y="1417320"/>
            <a:ext cx="6035040" cy="969264"/>
          </a:xfrm>
          <a:prstGeom prst="roundRect">
            <a:avLst>
              <a:gd name="adj" fmla="val 5660"/>
            </a:avLst>
          </a:prstGeom>
          <a:solidFill>
            <a:srgbClr val="F3F5F8"/>
          </a:solidFill>
          <a:ln/>
        </p:spPr>
      </p:sp>
      <p:sp>
        <p:nvSpPr>
          <p:cNvPr id="25" name="Shape 17"/>
          <p:cNvSpPr/>
          <p:nvPr/>
        </p:nvSpPr>
        <p:spPr>
          <a:xfrm>
            <a:off x="5687568" y="1527048"/>
            <a:ext cx="384048" cy="384048"/>
          </a:xfrm>
          <a:prstGeom prst="ellipse">
            <a:avLst/>
          </a:prstGeom>
          <a:solidFill>
            <a:srgbClr val="FFFFFF"/>
          </a:solidFill>
          <a:ln/>
        </p:spPr>
      </p:sp>
      <p:pic>
        <p:nvPicPr>
          <p:cNvPr id="26" name="Image 6" descr="preencoded.png">    </p:cNvPr>
          <p:cNvPicPr>
            <a:picLocks noChangeAspect="1"/>
          </p:cNvPicPr>
          <p:nvPr/>
        </p:nvPicPr>
        <p:blipFill>
          <a:blip r:embed="rId7"/>
          <a:stretch>
            <a:fillRect/>
          </a:stretch>
        </p:blipFill>
        <p:spPr>
          <a:xfrm>
            <a:off x="5764378" y="1603858"/>
            <a:ext cx="230429" cy="230429"/>
          </a:xfrm>
          <a:prstGeom prst="rect">
            <a:avLst/>
          </a:prstGeom>
        </p:spPr>
      </p:pic>
      <p:sp>
        <p:nvSpPr>
          <p:cNvPr id="27" name="Text 18"/>
          <p:cNvSpPr txBox="1"/>
          <p:nvPr/>
        </p:nvSpPr>
        <p:spPr>
          <a:xfrm>
            <a:off x="6144768" y="1508760"/>
            <a:ext cx="5394960" cy="310896"/>
          </a:xfrm>
          <a:prstGeom prst="rect">
            <a:avLst/>
          </a:prstGeom>
          <a:noFill/>
          <a:ln/>
        </p:spPr>
        <p:txBody>
          <a:bodyPr wrap="square" lIns="508" tIns="508" rIns="508" bIns="508" rtlCol="0" anchor="ctr"/>
          <a:lstStyle/>
          <a:p>
            <a:pPr indent="0" marL="0">
              <a:buNone/>
            </a:pPr>
            <a:r>
              <a:rPr lang="en-US" sz="1200" b="1" dirty="0">
                <a:solidFill>
                  <a:srgbClr val="1B2A49"/>
                </a:solidFill>
                <a:latin typeface="Meiryo UI" pitchFamily="34" charset="0"/>
                <a:ea typeface="Meiryo UI" pitchFamily="34" charset="-122"/>
                <a:cs typeface="Meiryo UI" pitchFamily="34" charset="-120"/>
              </a:rPr>
              <a:t>Vertex AIの再編</a:t>
            </a:r>
            <a:endParaRPr lang="en-US" sz="1200" dirty="0"/>
          </a:p>
        </p:txBody>
      </p:sp>
      <p:sp>
        <p:nvSpPr>
          <p:cNvPr id="28" name="Text 19"/>
          <p:cNvSpPr txBox="1"/>
          <p:nvPr/>
        </p:nvSpPr>
        <p:spPr>
          <a:xfrm>
            <a:off x="6144768" y="1819656"/>
            <a:ext cx="5394960" cy="548640"/>
          </a:xfrm>
          <a:prstGeom prst="rect">
            <a:avLst/>
          </a:prstGeom>
          <a:noFill/>
          <a:ln/>
        </p:spPr>
        <p:txBody>
          <a:bodyPr wrap="square" lIns="508" tIns="508" rIns="508" bIns="508" rtlCol="0" anchor="t"/>
          <a:lstStyle/>
          <a:p>
            <a:pPr indent="0" marL="0">
              <a:buNone/>
            </a:pPr>
            <a:r>
              <a:rPr lang="en-US" sz="950" dirty="0">
                <a:solidFill>
                  <a:srgbClr val="2B2B2B"/>
                </a:solidFill>
                <a:latin typeface="Meiryo UI" pitchFamily="34" charset="0"/>
                <a:ea typeface="Meiryo UI" pitchFamily="34" charset="-122"/>
                <a:cs typeface="Meiryo UI" pitchFamily="34" charset="-120"/>
              </a:rPr>
              <a:t>2026年4月（Google Cloud Next）に、Vertex AIがGemini Enterprise Agent Platformへ再編された。既存のAPI・SDKはそのまま使える</a:t>
            </a:r>
            <a:endParaRPr lang="en-US" sz="950" dirty="0"/>
          </a:p>
        </p:txBody>
      </p:sp>
      <p:sp>
        <p:nvSpPr>
          <p:cNvPr id="29" name="Shape 20"/>
          <p:cNvSpPr/>
          <p:nvPr/>
        </p:nvSpPr>
        <p:spPr>
          <a:xfrm>
            <a:off x="5577840" y="2478024"/>
            <a:ext cx="6035040" cy="969264"/>
          </a:xfrm>
          <a:prstGeom prst="roundRect">
            <a:avLst>
              <a:gd name="adj" fmla="val 5660"/>
            </a:avLst>
          </a:prstGeom>
          <a:solidFill>
            <a:srgbClr val="F3F5F8"/>
          </a:solidFill>
          <a:ln/>
        </p:spPr>
      </p:sp>
      <p:sp>
        <p:nvSpPr>
          <p:cNvPr id="30" name="Shape 21"/>
          <p:cNvSpPr/>
          <p:nvPr/>
        </p:nvSpPr>
        <p:spPr>
          <a:xfrm>
            <a:off x="5687568" y="2587752"/>
            <a:ext cx="384048" cy="384048"/>
          </a:xfrm>
          <a:prstGeom prst="ellipse">
            <a:avLst/>
          </a:prstGeom>
          <a:solidFill>
            <a:srgbClr val="FFFFFF"/>
          </a:solidFill>
          <a:ln/>
        </p:spPr>
      </p:sp>
      <p:pic>
        <p:nvPicPr>
          <p:cNvPr id="31" name="Image 7" descr="preencoded.png">    </p:cNvPr>
          <p:cNvPicPr>
            <a:picLocks noChangeAspect="1"/>
          </p:cNvPicPr>
          <p:nvPr/>
        </p:nvPicPr>
        <p:blipFill>
          <a:blip r:embed="rId8"/>
          <a:stretch>
            <a:fillRect/>
          </a:stretch>
        </p:blipFill>
        <p:spPr>
          <a:xfrm>
            <a:off x="5764378" y="2664562"/>
            <a:ext cx="230429" cy="230429"/>
          </a:xfrm>
          <a:prstGeom prst="rect">
            <a:avLst/>
          </a:prstGeom>
        </p:spPr>
      </p:pic>
      <p:sp>
        <p:nvSpPr>
          <p:cNvPr id="32" name="Text 22"/>
          <p:cNvSpPr txBox="1"/>
          <p:nvPr/>
        </p:nvSpPr>
        <p:spPr>
          <a:xfrm>
            <a:off x="6144768" y="2569464"/>
            <a:ext cx="5394960" cy="310896"/>
          </a:xfrm>
          <a:prstGeom prst="rect">
            <a:avLst/>
          </a:prstGeom>
          <a:noFill/>
          <a:ln/>
        </p:spPr>
        <p:txBody>
          <a:bodyPr wrap="square" lIns="508" tIns="508" rIns="508" bIns="508" rtlCol="0" anchor="ctr"/>
          <a:lstStyle/>
          <a:p>
            <a:pPr indent="0" marL="0">
              <a:buNone/>
            </a:pPr>
            <a:r>
              <a:rPr lang="en-US" sz="1200" b="1" dirty="0">
                <a:solidFill>
                  <a:srgbClr val="1B2A49"/>
                </a:solidFill>
                <a:latin typeface="Meiryo UI" pitchFamily="34" charset="0"/>
                <a:ea typeface="Meiryo UI" pitchFamily="34" charset="-122"/>
                <a:cs typeface="Meiryo UI" pitchFamily="34" charset="-120"/>
              </a:rPr>
              <a:t>SharePointコネクタ（GA）</a:t>
            </a:r>
            <a:endParaRPr lang="en-US" sz="1200" dirty="0"/>
          </a:p>
        </p:txBody>
      </p:sp>
      <p:sp>
        <p:nvSpPr>
          <p:cNvPr id="33" name="Text 23"/>
          <p:cNvSpPr txBox="1"/>
          <p:nvPr/>
        </p:nvSpPr>
        <p:spPr>
          <a:xfrm>
            <a:off x="6144768" y="2880360"/>
            <a:ext cx="5394960" cy="548640"/>
          </a:xfrm>
          <a:prstGeom prst="rect">
            <a:avLst/>
          </a:prstGeom>
          <a:noFill/>
          <a:ln/>
        </p:spPr>
        <p:txBody>
          <a:bodyPr wrap="square" lIns="508" tIns="508" rIns="508" bIns="508" rtlCol="0" anchor="t"/>
          <a:lstStyle/>
          <a:p>
            <a:pPr indent="0" marL="0">
              <a:buNone/>
            </a:pPr>
            <a:r>
              <a:rPr lang="en-US" sz="950" dirty="0">
                <a:solidFill>
                  <a:srgbClr val="2B2B2B"/>
                </a:solidFill>
                <a:latin typeface="Meiryo UI" pitchFamily="34" charset="0"/>
                <a:ea typeface="Meiryo UI" pitchFamily="34" charset="-122"/>
                <a:cs typeface="Meiryo UI" pitchFamily="34" charset="-120"/>
              </a:rPr>
              <a:t>「フェデレーション」（コピーせず、利用者の権限で都度検索）と「取り込み」（インデックス化、同期は3時間〜7日間隔）を選べる。Entraのアプリ登録が必要。リスト項目の作成・更新にも対応</a:t>
            </a:r>
            <a:endParaRPr lang="en-US" sz="950" dirty="0"/>
          </a:p>
        </p:txBody>
      </p:sp>
      <p:sp>
        <p:nvSpPr>
          <p:cNvPr id="34" name="Shape 24"/>
          <p:cNvSpPr/>
          <p:nvPr/>
        </p:nvSpPr>
        <p:spPr>
          <a:xfrm>
            <a:off x="5577840" y="3538728"/>
            <a:ext cx="6035040" cy="969264"/>
          </a:xfrm>
          <a:prstGeom prst="roundRect">
            <a:avLst>
              <a:gd name="adj" fmla="val 5660"/>
            </a:avLst>
          </a:prstGeom>
          <a:solidFill>
            <a:srgbClr val="F3F5F8"/>
          </a:solidFill>
          <a:ln/>
        </p:spPr>
      </p:sp>
      <p:sp>
        <p:nvSpPr>
          <p:cNvPr id="35" name="Shape 25"/>
          <p:cNvSpPr/>
          <p:nvPr/>
        </p:nvSpPr>
        <p:spPr>
          <a:xfrm>
            <a:off x="5687568" y="3648456"/>
            <a:ext cx="384048" cy="384048"/>
          </a:xfrm>
          <a:prstGeom prst="ellipse">
            <a:avLst/>
          </a:prstGeom>
          <a:solidFill>
            <a:srgbClr val="FFFFFF"/>
          </a:solidFill>
          <a:ln/>
        </p:spPr>
      </p:sp>
      <p:pic>
        <p:nvPicPr>
          <p:cNvPr id="36" name="Image 8" descr="preencoded.png">    </p:cNvPr>
          <p:cNvPicPr>
            <a:picLocks noChangeAspect="1"/>
          </p:cNvPicPr>
          <p:nvPr/>
        </p:nvPicPr>
        <p:blipFill>
          <a:blip r:embed="rId9"/>
          <a:stretch>
            <a:fillRect/>
          </a:stretch>
        </p:blipFill>
        <p:spPr>
          <a:xfrm>
            <a:off x="5764378" y="3725266"/>
            <a:ext cx="230429" cy="230429"/>
          </a:xfrm>
          <a:prstGeom prst="rect">
            <a:avLst/>
          </a:prstGeom>
        </p:spPr>
      </p:pic>
      <p:sp>
        <p:nvSpPr>
          <p:cNvPr id="37" name="Text 26"/>
          <p:cNvSpPr txBox="1"/>
          <p:nvPr/>
        </p:nvSpPr>
        <p:spPr>
          <a:xfrm>
            <a:off x="6144768" y="3630168"/>
            <a:ext cx="5394960" cy="310896"/>
          </a:xfrm>
          <a:prstGeom prst="rect">
            <a:avLst/>
          </a:prstGeom>
          <a:noFill/>
          <a:ln/>
        </p:spPr>
        <p:txBody>
          <a:bodyPr wrap="square" lIns="508" tIns="508" rIns="508" bIns="508" rtlCol="0" anchor="ctr"/>
          <a:lstStyle/>
          <a:p>
            <a:pPr indent="0" marL="0">
              <a:buNone/>
            </a:pPr>
            <a:r>
              <a:rPr lang="en-US" sz="1200" b="1" dirty="0">
                <a:solidFill>
                  <a:srgbClr val="1B2A49"/>
                </a:solidFill>
                <a:latin typeface="Meiryo UI" pitchFamily="34" charset="0"/>
                <a:ea typeface="Meiryo UI" pitchFamily="34" charset="-122"/>
                <a:cs typeface="Meiryo UI" pitchFamily="34" charset="-120"/>
              </a:rPr>
              <a:t>BigQueryとの連携</a:t>
            </a:r>
            <a:endParaRPr lang="en-US" sz="1200" dirty="0"/>
          </a:p>
        </p:txBody>
      </p:sp>
      <p:sp>
        <p:nvSpPr>
          <p:cNvPr id="38" name="Text 27"/>
          <p:cNvSpPr txBox="1"/>
          <p:nvPr/>
        </p:nvSpPr>
        <p:spPr>
          <a:xfrm>
            <a:off x="6144768" y="3941064"/>
            <a:ext cx="5394960" cy="548640"/>
          </a:xfrm>
          <a:prstGeom prst="rect">
            <a:avLst/>
          </a:prstGeom>
          <a:noFill/>
          <a:ln/>
        </p:spPr>
        <p:txBody>
          <a:bodyPr wrap="square" lIns="508" tIns="508" rIns="508" bIns="508" rtlCol="0" anchor="t"/>
          <a:lstStyle/>
          <a:p>
            <a:pPr indent="0" marL="0">
              <a:buNone/>
            </a:pPr>
            <a:r>
              <a:rPr lang="en-US" sz="950" dirty="0">
                <a:solidFill>
                  <a:srgbClr val="2B2B2B"/>
                </a:solidFill>
                <a:latin typeface="Meiryo UI" pitchFamily="34" charset="0"/>
                <a:ea typeface="Meiryo UI" pitchFamily="34" charset="-122"/>
                <a:cs typeface="Meiryo UI" pitchFamily="34" charset="-120"/>
              </a:rPr>
              <a:t>BigQueryの会話型分析（Conversational Analytics、GA）で作ったデータエージェントを、Gemini Enterpriseのアプリに公開できる</a:t>
            </a:r>
            <a:endParaRPr lang="en-US" sz="950" dirty="0"/>
          </a:p>
        </p:txBody>
      </p:sp>
      <p:sp>
        <p:nvSpPr>
          <p:cNvPr id="39" name="Shape 28"/>
          <p:cNvSpPr/>
          <p:nvPr/>
        </p:nvSpPr>
        <p:spPr>
          <a:xfrm>
            <a:off x="5577840" y="4599432"/>
            <a:ext cx="6035040" cy="969264"/>
          </a:xfrm>
          <a:prstGeom prst="roundRect">
            <a:avLst>
              <a:gd name="adj" fmla="val 5660"/>
            </a:avLst>
          </a:prstGeom>
          <a:solidFill>
            <a:srgbClr val="F3F5F8"/>
          </a:solidFill>
          <a:ln/>
        </p:spPr>
      </p:sp>
      <p:sp>
        <p:nvSpPr>
          <p:cNvPr id="40" name="Shape 29"/>
          <p:cNvSpPr/>
          <p:nvPr/>
        </p:nvSpPr>
        <p:spPr>
          <a:xfrm>
            <a:off x="5687568" y="4709160"/>
            <a:ext cx="384048" cy="384048"/>
          </a:xfrm>
          <a:prstGeom prst="ellipse">
            <a:avLst/>
          </a:prstGeom>
          <a:solidFill>
            <a:srgbClr val="FFFFFF"/>
          </a:solidFill>
          <a:ln/>
        </p:spPr>
      </p:sp>
      <p:pic>
        <p:nvPicPr>
          <p:cNvPr id="41" name="Image 9" descr="preencoded.png">    </p:cNvPr>
          <p:cNvPicPr>
            <a:picLocks noChangeAspect="1"/>
          </p:cNvPicPr>
          <p:nvPr/>
        </p:nvPicPr>
        <p:blipFill>
          <a:blip r:embed="rId10"/>
          <a:stretch>
            <a:fillRect/>
          </a:stretch>
        </p:blipFill>
        <p:spPr>
          <a:xfrm>
            <a:off x="5764378" y="4785970"/>
            <a:ext cx="230429" cy="230429"/>
          </a:xfrm>
          <a:prstGeom prst="rect">
            <a:avLst/>
          </a:prstGeom>
        </p:spPr>
      </p:pic>
      <p:sp>
        <p:nvSpPr>
          <p:cNvPr id="42" name="Text 30"/>
          <p:cNvSpPr txBox="1"/>
          <p:nvPr/>
        </p:nvSpPr>
        <p:spPr>
          <a:xfrm>
            <a:off x="6144768" y="4690872"/>
            <a:ext cx="5394960" cy="310896"/>
          </a:xfrm>
          <a:prstGeom prst="rect">
            <a:avLst/>
          </a:prstGeom>
          <a:noFill/>
          <a:ln/>
        </p:spPr>
        <p:txBody>
          <a:bodyPr wrap="square" lIns="508" tIns="508" rIns="508" bIns="508" rtlCol="0" anchor="ctr"/>
          <a:lstStyle/>
          <a:p>
            <a:pPr indent="0" marL="0">
              <a:buNone/>
            </a:pPr>
            <a:r>
              <a:rPr lang="en-US" sz="1200" b="1" dirty="0">
                <a:solidFill>
                  <a:srgbClr val="1B2A49"/>
                </a:solidFill>
                <a:latin typeface="Meiryo UI" pitchFamily="34" charset="0"/>
                <a:ea typeface="Meiryo UI" pitchFamily="34" charset="-122"/>
                <a:cs typeface="Meiryo UI" pitchFamily="34" charset="-120"/>
              </a:rPr>
              <a:t>エディションと課金</a:t>
            </a:r>
            <a:endParaRPr lang="en-US" sz="1200" dirty="0"/>
          </a:p>
        </p:txBody>
      </p:sp>
      <p:sp>
        <p:nvSpPr>
          <p:cNvPr id="43" name="Text 31"/>
          <p:cNvSpPr txBox="1"/>
          <p:nvPr/>
        </p:nvSpPr>
        <p:spPr>
          <a:xfrm>
            <a:off x="6144768" y="5001768"/>
            <a:ext cx="5394960" cy="548640"/>
          </a:xfrm>
          <a:prstGeom prst="rect">
            <a:avLst/>
          </a:prstGeom>
          <a:noFill/>
          <a:ln/>
        </p:spPr>
        <p:txBody>
          <a:bodyPr wrap="square" lIns="508" tIns="508" rIns="508" bIns="508" rtlCol="0" anchor="t"/>
          <a:lstStyle/>
          <a:p>
            <a:pPr indent="0" marL="0">
              <a:buNone/>
            </a:pPr>
            <a:r>
              <a:rPr lang="en-US" sz="950" dirty="0">
                <a:solidFill>
                  <a:srgbClr val="2B2B2B"/>
                </a:solidFill>
                <a:latin typeface="Meiryo UI" pitchFamily="34" charset="0"/>
                <a:ea typeface="Meiryo UI" pitchFamily="34" charset="-122"/>
                <a:cs typeface="Meiryo UI" pitchFamily="34" charset="-120"/>
              </a:rPr>
              <a:t>Business／Standard／Plus／従量課金／Frontline。Agent Platformでは2026年から一部機能の課金が始まる（Agent Gateway：7月、Memory Bank・Sessions：9月）</a:t>
            </a:r>
            <a:endParaRPr lang="en-US" sz="950" dirty="0"/>
          </a:p>
        </p:txBody>
      </p:sp>
      <p:sp>
        <p:nvSpPr>
          <p:cNvPr id="44" name="Shape 32"/>
          <p:cNvSpPr/>
          <p:nvPr/>
        </p:nvSpPr>
        <p:spPr>
          <a:xfrm>
            <a:off x="548640" y="5715000"/>
            <a:ext cx="11064240" cy="566928"/>
          </a:xfrm>
          <a:prstGeom prst="roundRect">
            <a:avLst>
              <a:gd name="adj" fmla="val 9677"/>
            </a:avLst>
          </a:prstGeom>
          <a:solidFill>
            <a:srgbClr val="FDEBD3"/>
          </a:solidFill>
          <a:ln/>
        </p:spPr>
      </p:sp>
      <p:sp>
        <p:nvSpPr>
          <p:cNvPr id="45" name="Text 33"/>
          <p:cNvSpPr txBox="1"/>
          <p:nvPr/>
        </p:nvSpPr>
        <p:spPr>
          <a:xfrm>
            <a:off x="731520" y="5715000"/>
            <a:ext cx="10789920" cy="566928"/>
          </a:xfrm>
          <a:prstGeom prst="rect">
            <a:avLst/>
          </a:prstGeom>
          <a:noFill/>
          <a:ln/>
        </p:spPr>
        <p:txBody>
          <a:bodyPr wrap="square" lIns="0" tIns="0" rIns="0" bIns="0" rtlCol="0" anchor="ctr"/>
          <a:lstStyle/>
          <a:p>
            <a:pPr indent="0" marL="0">
              <a:buNone/>
            </a:pPr>
            <a:r>
              <a:rPr lang="en-US" sz="1100" b="1" dirty="0">
                <a:solidFill>
                  <a:srgbClr val="E8912D"/>
                </a:solidFill>
                <a:latin typeface="Meiryo UI" pitchFamily="34" charset="0"/>
                <a:ea typeface="Meiryo UI" pitchFamily="34" charset="-122"/>
                <a:cs typeface="Meiryo UI" pitchFamily="34" charset="-120"/>
              </a:rPr>
              <a:t>本資料への反映：</a:t>
            </a:r>
            <a:pPr indent="0" marL="0">
              <a:buNone/>
            </a:pPr>
            <a:r>
              <a:rPr lang="en-US" sz="1100" dirty="0">
                <a:solidFill>
                  <a:srgbClr val="000000"/>
                </a:solidFill>
                <a:latin typeface="Meiryo UI" pitchFamily="34" charset="0"/>
                <a:ea typeface="Meiryo UI" pitchFamily="34" charset="-122"/>
                <a:cs typeface="Meiryo UI" pitchFamily="34" charset="-120"/>
              </a:rPr>
              <a:t>社内資料のGCP取り込みは可と確認済み（フェデレーションも選べる）。社内ではAgent Platformを使ったサンプルアプリの試作実績がある</a:t>
            </a:r>
            <a:endParaRPr lang="en-US" sz="1100" dirty="0"/>
          </a:p>
        </p:txBody>
      </p:sp>
      <p:sp>
        <p:nvSpPr>
          <p:cNvPr id="46" name="Text 34"/>
          <p:cNvSpPr txBox="1"/>
          <p:nvPr/>
        </p:nvSpPr>
        <p:spPr>
          <a:xfrm>
            <a:off x="548640" y="6327648"/>
            <a:ext cx="10515600" cy="228600"/>
          </a:xfrm>
          <a:prstGeom prst="rect">
            <a:avLst/>
          </a:prstGeom>
          <a:noFill/>
          <a:ln/>
        </p:spPr>
        <p:txBody>
          <a:bodyPr wrap="square" lIns="0" tIns="0" rIns="0" bIns="0" rtlCol="0" anchor="t"/>
          <a:lstStyle/>
          <a:p>
            <a:pPr indent="0" marL="0">
              <a:buNone/>
            </a:pPr>
            <a:r>
              <a:rPr lang="en-US" sz="800" dirty="0">
                <a:solidFill>
                  <a:srgbClr val="6B7280"/>
                </a:solidFill>
                <a:latin typeface="Meiryo UI" pitchFamily="34" charset="0"/>
                <a:ea typeface="Meiryo UI" pitchFamily="34" charset="-122"/>
                <a:cs typeface="Meiryo UI" pitchFamily="34" charset="-120"/>
              </a:rPr>
              <a:t>出典：Google Cloud「What is Gemini Enterprise?」「SharePoint connector overview」「Gemini Enterprise Agent Platform」、各社報道（2026年4〜9月）</a:t>
            </a:r>
            <a:endParaRPr lang="en-US" sz="8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548640"/>
          </a:xfrm>
          <a:prstGeom prst="rect">
            <a:avLst/>
          </a:prstGeom>
          <a:noFill/>
          <a:ln/>
        </p:spPr>
        <p:txBody>
          <a:bodyPr wrap="square" lIns="0" tIns="0" rIns="0" bIns="0" rtlCol="0" anchor="ctr"/>
          <a:lstStyle/>
          <a:p>
            <a:pPr indent="0" marL="0">
              <a:buNone/>
            </a:pPr>
            <a:r>
              <a:rPr lang="en-US" sz="2600" b="1" dirty="0">
                <a:solidFill>
                  <a:srgbClr val="1B2A49"/>
                </a:solidFill>
                <a:latin typeface="Meiryo UI" pitchFamily="34" charset="0"/>
                <a:ea typeface="Meiryo UI" pitchFamily="34" charset="-122"/>
                <a:cs typeface="Meiryo UI" pitchFamily="34" charset="-120"/>
              </a:rPr>
              <a:t>判断に必要な要件（確認すべきこと）</a:t>
            </a:r>
            <a:endParaRPr lang="en-US" sz="2600" dirty="0"/>
          </a:p>
        </p:txBody>
      </p:sp>
      <p:sp>
        <p:nvSpPr>
          <p:cNvPr id="3" name="Text 1"/>
          <p:cNvSpPr txBox="1"/>
          <p:nvPr/>
        </p:nvSpPr>
        <p:spPr>
          <a:xfrm>
            <a:off x="548640" y="896112"/>
            <a:ext cx="11064240" cy="365760"/>
          </a:xfrm>
          <a:prstGeom prst="rect">
            <a:avLst/>
          </a:prstGeom>
          <a:noFill/>
          <a:ln/>
        </p:spPr>
        <p:txBody>
          <a:bodyPr wrap="square" lIns="0" tIns="0" rIns="0" bIns="0" rtlCol="0" anchor="ctr"/>
          <a:lstStyle/>
          <a:p>
            <a:pPr indent="0" marL="0">
              <a:buNone/>
            </a:pPr>
            <a:r>
              <a:rPr lang="en-US" sz="1400" dirty="0">
                <a:solidFill>
                  <a:srgbClr val="6B7280"/>
                </a:solidFill>
                <a:latin typeface="Meiryo UI" pitchFamily="34" charset="0"/>
                <a:ea typeface="Meiryo UI" pitchFamily="34" charset="-122"/>
                <a:cs typeface="Meiryo UI" pitchFamily="34" charset="-120"/>
              </a:rPr>
              <a:t>以下の要件が明らかになると、選択肢を絞り込みやすくなる</a:t>
            </a:r>
            <a:endParaRPr lang="en-US" sz="1400" dirty="0"/>
          </a:p>
        </p:txBody>
      </p:sp>
      <p:sp>
        <p:nvSpPr>
          <p:cNvPr id="4" name="Text 2"/>
          <p:cNvSpPr txBox="1"/>
          <p:nvPr/>
        </p:nvSpPr>
        <p:spPr>
          <a:xfrm>
            <a:off x="7498080" y="91440"/>
            <a:ext cx="4114800" cy="22860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6. 判断材料</a:t>
            </a:r>
            <a:endParaRPr lang="en-US" sz="900" dirty="0"/>
          </a:p>
        </p:txBody>
      </p:sp>
      <p:sp>
        <p:nvSpPr>
          <p:cNvPr id="5" name="Text 3"/>
          <p:cNvSpPr txBox="1"/>
          <p:nvPr/>
        </p:nvSpPr>
        <p:spPr>
          <a:xfrm>
            <a:off x="11247120" y="6446520"/>
            <a:ext cx="457200" cy="27432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39</a:t>
            </a:r>
            <a:endParaRPr lang="en-US" sz="900" dirty="0"/>
          </a:p>
        </p:txBody>
      </p:sp>
      <p:sp>
        <p:nvSpPr>
          <p:cNvPr id="6" name="Shape 4"/>
          <p:cNvSpPr/>
          <p:nvPr/>
        </p:nvSpPr>
        <p:spPr>
          <a:xfrm>
            <a:off x="548640" y="1417320"/>
            <a:ext cx="3566160" cy="2331720"/>
          </a:xfrm>
          <a:prstGeom prst="roundRect">
            <a:avLst>
              <a:gd name="adj" fmla="val 2353"/>
            </a:avLst>
          </a:prstGeom>
          <a:solidFill>
            <a:srgbClr val="F3F5F8"/>
          </a:solidFill>
          <a:ln/>
        </p:spPr>
      </p:sp>
      <p:sp>
        <p:nvSpPr>
          <p:cNvPr id="7" name="Shape 5"/>
          <p:cNvSpPr/>
          <p:nvPr/>
        </p:nvSpPr>
        <p:spPr>
          <a:xfrm>
            <a:off x="713232" y="1554480"/>
            <a:ext cx="457200" cy="457200"/>
          </a:xfrm>
          <a:prstGeom prst="ellipse">
            <a:avLst/>
          </a:prstGeom>
          <a:solidFill>
            <a:srgbClr val="FFFFFF"/>
          </a:solidFill>
          <a:ln/>
        </p:spPr>
      </p:sp>
      <p:pic>
        <p:nvPicPr>
          <p:cNvPr id="8" name="Image 0" descr="preencoded.png">    </p:cNvPr>
          <p:cNvPicPr>
            <a:picLocks noChangeAspect="1"/>
          </p:cNvPicPr>
          <p:nvPr/>
        </p:nvPicPr>
        <p:blipFill>
          <a:blip r:embed="rId1"/>
          <a:stretch>
            <a:fillRect/>
          </a:stretch>
        </p:blipFill>
        <p:spPr>
          <a:xfrm>
            <a:off x="804672" y="1645920"/>
            <a:ext cx="274320" cy="274320"/>
          </a:xfrm>
          <a:prstGeom prst="rect">
            <a:avLst/>
          </a:prstGeom>
        </p:spPr>
      </p:pic>
      <p:sp>
        <p:nvSpPr>
          <p:cNvPr id="9" name="Text 6"/>
          <p:cNvSpPr txBox="1"/>
          <p:nvPr/>
        </p:nvSpPr>
        <p:spPr>
          <a:xfrm>
            <a:off x="1261872" y="1554480"/>
            <a:ext cx="1920240" cy="457200"/>
          </a:xfrm>
          <a:prstGeom prst="rect">
            <a:avLst/>
          </a:prstGeom>
          <a:noFill/>
          <a:ln/>
        </p:spPr>
        <p:txBody>
          <a:bodyPr wrap="square" lIns="508" tIns="508" rIns="508" bIns="508" rtlCol="0" anchor="ctr"/>
          <a:lstStyle/>
          <a:p>
            <a:pPr indent="0" marL="0">
              <a:buNone/>
            </a:pPr>
            <a:r>
              <a:rPr lang="en-US" sz="1350" b="1" dirty="0">
                <a:solidFill>
                  <a:srgbClr val="1B2A49"/>
                </a:solidFill>
                <a:latin typeface="Meiryo UI" pitchFamily="34" charset="0"/>
                <a:ea typeface="Meiryo UI" pitchFamily="34" charset="-122"/>
                <a:cs typeface="Meiryo UI" pitchFamily="34" charset="-120"/>
              </a:rPr>
              <a:t>セキュリティ・ガバナンス</a:t>
            </a:r>
            <a:endParaRPr lang="en-US" sz="1350" dirty="0"/>
          </a:p>
        </p:txBody>
      </p:sp>
      <p:sp>
        <p:nvSpPr>
          <p:cNvPr id="10" name="Shape 7"/>
          <p:cNvSpPr/>
          <p:nvPr/>
        </p:nvSpPr>
        <p:spPr>
          <a:xfrm>
            <a:off x="3154680" y="1636776"/>
            <a:ext cx="822960" cy="292608"/>
          </a:xfrm>
          <a:prstGeom prst="roundRect">
            <a:avLst>
              <a:gd name="adj" fmla="val 50000"/>
            </a:avLst>
          </a:prstGeom>
          <a:solidFill>
            <a:srgbClr val="1B2A49"/>
          </a:solidFill>
          <a:ln/>
        </p:spPr>
      </p:sp>
      <p:sp>
        <p:nvSpPr>
          <p:cNvPr id="11" name="Text 8"/>
          <p:cNvSpPr txBox="1"/>
          <p:nvPr/>
        </p:nvSpPr>
        <p:spPr>
          <a:xfrm>
            <a:off x="3154680" y="1636776"/>
            <a:ext cx="822960" cy="292608"/>
          </a:xfrm>
          <a:prstGeom prst="rect">
            <a:avLst/>
          </a:prstGeom>
          <a:noFill/>
          <a:ln/>
        </p:spPr>
        <p:txBody>
          <a:bodyPr wrap="square" lIns="762" tIns="762" rIns="762" bIns="762" rtlCol="0" anchor="ctr"/>
          <a:lstStyle/>
          <a:p>
            <a:pPr algn="ctr" indent="0" marL="0">
              <a:buNone/>
            </a:pPr>
            <a:r>
              <a:rPr lang="en-US" sz="900" b="1" dirty="0">
                <a:solidFill>
                  <a:srgbClr val="FFFFFF"/>
                </a:solidFill>
                <a:latin typeface="Meiryo UI" pitchFamily="34" charset="0"/>
                <a:ea typeface="Meiryo UI" pitchFamily="34" charset="-122"/>
                <a:cs typeface="Meiryo UI" pitchFamily="34" charset="-120"/>
              </a:rPr>
              <a:t>軸1</a:t>
            </a:r>
            <a:endParaRPr lang="en-US" sz="900" dirty="0"/>
          </a:p>
        </p:txBody>
      </p:sp>
      <p:sp>
        <p:nvSpPr>
          <p:cNvPr id="12" name="Text 9"/>
          <p:cNvSpPr txBox="1"/>
          <p:nvPr/>
        </p:nvSpPr>
        <p:spPr>
          <a:xfrm>
            <a:off x="731520" y="2148840"/>
            <a:ext cx="3246120" cy="1508760"/>
          </a:xfrm>
          <a:prstGeom prst="rect">
            <a:avLst/>
          </a:prstGeom>
          <a:noFill/>
          <a:ln/>
        </p:spPr>
        <p:txBody>
          <a:bodyPr wrap="square" lIns="254" tIns="254" rIns="254" bIns="254" rtlCol="0" anchor="t"/>
          <a:lstStyle/>
          <a:p>
            <a:pPr marL="152400" indent="-152400">
              <a:spcAft>
                <a:spcPts val="600"/>
              </a:spcAft>
              <a:buSzPct val="100000"/>
              <a:buChar char="•"/>
            </a:pPr>
            <a:r>
              <a:rPr lang="en-US" sz="1150" dirty="0">
                <a:solidFill>
                  <a:srgbClr val="000000"/>
                </a:solidFill>
                <a:latin typeface="Meiryo UI" pitchFamily="34" charset="0"/>
                <a:ea typeface="Meiryo UI" pitchFamily="34" charset="-122"/>
                <a:cs typeface="Meiryo UI" pitchFamily="34" charset="-120"/>
              </a:rPr>
              <a:t>✔ 社内資料のGCP取り込み：可（確認済み）</a:t>
            </a:r>
            <a:endParaRPr lang="en-US" sz="1150" dirty="0"/>
          </a:p>
          <a:p>
            <a:pPr marL="152400" indent="-152400">
              <a:spcAft>
                <a:spcPts val="600"/>
              </a:spcAft>
              <a:buSzPct val="100000"/>
              <a:buChar char="•"/>
            </a:pPr>
            <a:r>
              <a:rPr lang="en-US" sz="1150" dirty="0">
                <a:solidFill>
                  <a:srgbClr val="000000"/>
                </a:solidFill>
                <a:latin typeface="Meiryo UI" pitchFamily="34" charset="0"/>
                <a:ea typeface="Meiryo UI" pitchFamily="34" charset="-122"/>
                <a:cs typeface="Meiryo UI" pitchFamily="34" charset="-120"/>
              </a:rPr>
              <a:t>Entraのアプリ登録・Graph APIの権限を付与できるか</a:t>
            </a:r>
            <a:endParaRPr lang="en-US" sz="1150" dirty="0"/>
          </a:p>
          <a:p>
            <a:pPr marL="152400" indent="-152400">
              <a:spcAft>
                <a:spcPts val="600"/>
              </a:spcAft>
              <a:buSzPct val="100000"/>
              <a:buChar char="•"/>
            </a:pPr>
            <a:r>
              <a:rPr lang="en-US" sz="1150" dirty="0">
                <a:solidFill>
                  <a:srgbClr val="000000"/>
                </a:solidFill>
                <a:latin typeface="Meiryo UI" pitchFamily="34" charset="0"/>
                <a:ea typeface="Meiryo UI" pitchFamily="34" charset="-122"/>
                <a:cs typeface="Meiryo UI" pitchFamily="34" charset="-120"/>
              </a:rPr>
              <a:t>Power PlatformのDLPポリシーで外部連携は可能か</a:t>
            </a:r>
            <a:endParaRPr lang="en-US" sz="1150" dirty="0"/>
          </a:p>
          <a:p>
            <a:pPr marL="152400" indent="-152400">
              <a:spcAft>
                <a:spcPts val="600"/>
              </a:spcAft>
              <a:buSzPct val="100000"/>
              <a:buChar char="•"/>
            </a:pPr>
            <a:r>
              <a:rPr lang="en-US" sz="1150" dirty="0">
                <a:solidFill>
                  <a:srgbClr val="000000"/>
                </a:solidFill>
                <a:latin typeface="Meiryo UI" pitchFamily="34" charset="0"/>
                <a:ea typeface="Meiryo UI" pitchFamily="34" charset="-122"/>
                <a:cs typeface="Meiryo UI" pitchFamily="34" charset="-120"/>
              </a:rPr>
              <a:t>Airtable標準のAIに社内情報を渡してよいか（C1）</a:t>
            </a:r>
            <a:endParaRPr lang="en-US" sz="1150" dirty="0"/>
          </a:p>
        </p:txBody>
      </p:sp>
      <p:sp>
        <p:nvSpPr>
          <p:cNvPr id="13" name="Shape 10"/>
          <p:cNvSpPr/>
          <p:nvPr/>
        </p:nvSpPr>
        <p:spPr>
          <a:xfrm>
            <a:off x="4297680" y="1417320"/>
            <a:ext cx="3566160" cy="2331720"/>
          </a:xfrm>
          <a:prstGeom prst="roundRect">
            <a:avLst>
              <a:gd name="adj" fmla="val 2353"/>
            </a:avLst>
          </a:prstGeom>
          <a:solidFill>
            <a:srgbClr val="F3F5F8"/>
          </a:solidFill>
          <a:ln/>
        </p:spPr>
      </p:sp>
      <p:sp>
        <p:nvSpPr>
          <p:cNvPr id="14" name="Shape 11"/>
          <p:cNvSpPr/>
          <p:nvPr/>
        </p:nvSpPr>
        <p:spPr>
          <a:xfrm>
            <a:off x="4462272" y="1554480"/>
            <a:ext cx="457200" cy="457200"/>
          </a:xfrm>
          <a:prstGeom prst="ellipse">
            <a:avLst/>
          </a:prstGeom>
          <a:solidFill>
            <a:srgbClr val="FFFFFF"/>
          </a:solidFill>
          <a:ln/>
        </p:spPr>
      </p:sp>
      <p:pic>
        <p:nvPicPr>
          <p:cNvPr id="15" name="Image 1" descr="preencoded.png">    </p:cNvPr>
          <p:cNvPicPr>
            <a:picLocks noChangeAspect="1"/>
          </p:cNvPicPr>
          <p:nvPr/>
        </p:nvPicPr>
        <p:blipFill>
          <a:blip r:embed="rId2"/>
          <a:stretch>
            <a:fillRect/>
          </a:stretch>
        </p:blipFill>
        <p:spPr>
          <a:xfrm>
            <a:off x="4553712" y="1645920"/>
            <a:ext cx="274320" cy="274320"/>
          </a:xfrm>
          <a:prstGeom prst="rect">
            <a:avLst/>
          </a:prstGeom>
        </p:spPr>
      </p:pic>
      <p:sp>
        <p:nvSpPr>
          <p:cNvPr id="16" name="Text 12"/>
          <p:cNvSpPr txBox="1"/>
          <p:nvPr/>
        </p:nvSpPr>
        <p:spPr>
          <a:xfrm>
            <a:off x="5010912" y="1554480"/>
            <a:ext cx="1920240" cy="457200"/>
          </a:xfrm>
          <a:prstGeom prst="rect">
            <a:avLst/>
          </a:prstGeom>
          <a:noFill/>
          <a:ln/>
        </p:spPr>
        <p:txBody>
          <a:bodyPr wrap="square" lIns="508" tIns="508" rIns="508" bIns="508" rtlCol="0" anchor="ctr"/>
          <a:lstStyle/>
          <a:p>
            <a:pPr indent="0" marL="0">
              <a:buNone/>
            </a:pPr>
            <a:r>
              <a:rPr lang="en-US" sz="1350" b="1" dirty="0">
                <a:solidFill>
                  <a:srgbClr val="1B2A49"/>
                </a:solidFill>
                <a:latin typeface="Meiryo UI" pitchFamily="34" charset="0"/>
                <a:ea typeface="Meiryo UI" pitchFamily="34" charset="-122"/>
                <a:cs typeface="Meiryo UI" pitchFamily="34" charset="-120"/>
              </a:rPr>
              <a:t>データ要件</a:t>
            </a:r>
            <a:endParaRPr lang="en-US" sz="1350" dirty="0"/>
          </a:p>
        </p:txBody>
      </p:sp>
      <p:sp>
        <p:nvSpPr>
          <p:cNvPr id="17" name="Shape 13"/>
          <p:cNvSpPr/>
          <p:nvPr/>
        </p:nvSpPr>
        <p:spPr>
          <a:xfrm>
            <a:off x="6903720" y="1636776"/>
            <a:ext cx="822960" cy="292608"/>
          </a:xfrm>
          <a:prstGeom prst="roundRect">
            <a:avLst>
              <a:gd name="adj" fmla="val 50000"/>
            </a:avLst>
          </a:prstGeom>
          <a:solidFill>
            <a:srgbClr val="1B2A49"/>
          </a:solidFill>
          <a:ln/>
        </p:spPr>
      </p:sp>
      <p:sp>
        <p:nvSpPr>
          <p:cNvPr id="18" name="Text 14"/>
          <p:cNvSpPr txBox="1"/>
          <p:nvPr/>
        </p:nvSpPr>
        <p:spPr>
          <a:xfrm>
            <a:off x="6903720" y="1636776"/>
            <a:ext cx="822960" cy="292608"/>
          </a:xfrm>
          <a:prstGeom prst="rect">
            <a:avLst/>
          </a:prstGeom>
          <a:noFill/>
          <a:ln/>
        </p:spPr>
        <p:txBody>
          <a:bodyPr wrap="square" lIns="762" tIns="762" rIns="762" bIns="762" rtlCol="0" anchor="ctr"/>
          <a:lstStyle/>
          <a:p>
            <a:pPr algn="ctr" indent="0" marL="0">
              <a:buNone/>
            </a:pPr>
            <a:r>
              <a:rPr lang="en-US" sz="900" b="1" dirty="0">
                <a:solidFill>
                  <a:srgbClr val="FFFFFF"/>
                </a:solidFill>
                <a:latin typeface="Meiryo UI" pitchFamily="34" charset="0"/>
                <a:ea typeface="Meiryo UI" pitchFamily="34" charset="-122"/>
                <a:cs typeface="Meiryo UI" pitchFamily="34" charset="-120"/>
              </a:rPr>
              <a:t>軸1</a:t>
            </a:r>
            <a:endParaRPr lang="en-US" sz="900" dirty="0"/>
          </a:p>
        </p:txBody>
      </p:sp>
      <p:sp>
        <p:nvSpPr>
          <p:cNvPr id="19" name="Text 15"/>
          <p:cNvSpPr txBox="1"/>
          <p:nvPr/>
        </p:nvSpPr>
        <p:spPr>
          <a:xfrm>
            <a:off x="4480560" y="2148840"/>
            <a:ext cx="3246120" cy="1508760"/>
          </a:xfrm>
          <a:prstGeom prst="rect">
            <a:avLst/>
          </a:prstGeom>
          <a:noFill/>
          <a:ln/>
        </p:spPr>
        <p:txBody>
          <a:bodyPr wrap="square" lIns="254" tIns="254" rIns="254" bIns="254" rtlCol="0" anchor="t"/>
          <a:lstStyle/>
          <a:p>
            <a:pPr marL="152400" indent="-152400">
              <a:spcAft>
                <a:spcPts val="600"/>
              </a:spcAft>
              <a:buSzPct val="100000"/>
              <a:buChar char="•"/>
            </a:pPr>
            <a:r>
              <a:rPr lang="en-US" sz="1150" dirty="0">
                <a:solidFill>
                  <a:srgbClr val="000000"/>
                </a:solidFill>
                <a:latin typeface="Meiryo UI" pitchFamily="34" charset="0"/>
                <a:ea typeface="Meiryo UI" pitchFamily="34" charset="-122"/>
                <a:cs typeface="Meiryo UI" pitchFamily="34" charset="-120"/>
              </a:rPr>
              <a:t>数値データに必要な鮮度・粒度はどの程度か</a:t>
            </a:r>
            <a:endParaRPr lang="en-US" sz="1150" dirty="0"/>
          </a:p>
          <a:p>
            <a:pPr marL="152400" indent="-152400">
              <a:spcAft>
                <a:spcPts val="600"/>
              </a:spcAft>
              <a:buSzPct val="100000"/>
              <a:buChar char="•"/>
            </a:pPr>
            <a:r>
              <a:rPr lang="en-US" sz="1150" dirty="0">
                <a:solidFill>
                  <a:srgbClr val="000000"/>
                </a:solidFill>
                <a:latin typeface="Meiryo UI" pitchFamily="34" charset="0"/>
                <a:ea typeface="Meiryo UI" pitchFamily="34" charset="-122"/>
                <a:cs typeface="Meiryo UI" pitchFamily="34" charset="-120"/>
              </a:rPr>
              <a:t>商品マスタとポリシー（SharePoint）をBigQueryに取り込めるか（取り込めればSQLだけで前処理が完結）</a:t>
            </a:r>
            <a:endParaRPr lang="en-US" sz="1150" dirty="0"/>
          </a:p>
          <a:p>
            <a:pPr marL="152400" indent="-152400">
              <a:spcAft>
                <a:spcPts val="600"/>
              </a:spcAft>
              <a:buSzPct val="100000"/>
              <a:buChar char="•"/>
            </a:pPr>
            <a:r>
              <a:rPr lang="en-US" sz="1150" dirty="0">
                <a:solidFill>
                  <a:srgbClr val="000000"/>
                </a:solidFill>
                <a:latin typeface="Meiryo UI" pitchFamily="34" charset="0"/>
                <a:ea typeface="Meiryo UI" pitchFamily="34" charset="-122"/>
                <a:cs typeface="Meiryo UI" pitchFamily="34" charset="-120"/>
              </a:rPr>
              <a:t>対話の中で想定外の数値の問いを投げる必要があるか</a:t>
            </a:r>
            <a:endParaRPr lang="en-US" sz="1150" dirty="0"/>
          </a:p>
        </p:txBody>
      </p:sp>
      <p:sp>
        <p:nvSpPr>
          <p:cNvPr id="20" name="Shape 16"/>
          <p:cNvSpPr/>
          <p:nvPr/>
        </p:nvSpPr>
        <p:spPr>
          <a:xfrm>
            <a:off x="8046720" y="1417320"/>
            <a:ext cx="3566160" cy="2331720"/>
          </a:xfrm>
          <a:prstGeom prst="roundRect">
            <a:avLst>
              <a:gd name="adj" fmla="val 2353"/>
            </a:avLst>
          </a:prstGeom>
          <a:solidFill>
            <a:srgbClr val="F3F5F8"/>
          </a:solidFill>
          <a:ln/>
        </p:spPr>
      </p:sp>
      <p:sp>
        <p:nvSpPr>
          <p:cNvPr id="21" name="Shape 17"/>
          <p:cNvSpPr/>
          <p:nvPr/>
        </p:nvSpPr>
        <p:spPr>
          <a:xfrm>
            <a:off x="8211312" y="1554480"/>
            <a:ext cx="457200" cy="457200"/>
          </a:xfrm>
          <a:prstGeom prst="ellipse">
            <a:avLst/>
          </a:prstGeom>
          <a:solidFill>
            <a:srgbClr val="FFFFFF"/>
          </a:solidFill>
          <a:ln/>
        </p:spPr>
      </p:sp>
      <p:pic>
        <p:nvPicPr>
          <p:cNvPr id="22" name="Image 2" descr="preencoded.png">    </p:cNvPr>
          <p:cNvPicPr>
            <a:picLocks noChangeAspect="1"/>
          </p:cNvPicPr>
          <p:nvPr/>
        </p:nvPicPr>
        <p:blipFill>
          <a:blip r:embed="rId3"/>
          <a:stretch>
            <a:fillRect/>
          </a:stretch>
        </p:blipFill>
        <p:spPr>
          <a:xfrm>
            <a:off x="8302752" y="1645920"/>
            <a:ext cx="274320" cy="274320"/>
          </a:xfrm>
          <a:prstGeom prst="rect">
            <a:avLst/>
          </a:prstGeom>
        </p:spPr>
      </p:pic>
      <p:sp>
        <p:nvSpPr>
          <p:cNvPr id="23" name="Text 18"/>
          <p:cNvSpPr txBox="1"/>
          <p:nvPr/>
        </p:nvSpPr>
        <p:spPr>
          <a:xfrm>
            <a:off x="8759952" y="1554480"/>
            <a:ext cx="1920240" cy="457200"/>
          </a:xfrm>
          <a:prstGeom prst="rect">
            <a:avLst/>
          </a:prstGeom>
          <a:noFill/>
          <a:ln/>
        </p:spPr>
        <p:txBody>
          <a:bodyPr wrap="square" lIns="508" tIns="508" rIns="508" bIns="508" rtlCol="0" anchor="ctr"/>
          <a:lstStyle/>
          <a:p>
            <a:pPr indent="0" marL="0">
              <a:buNone/>
            </a:pPr>
            <a:r>
              <a:rPr lang="en-US" sz="1350" b="1" dirty="0">
                <a:solidFill>
                  <a:srgbClr val="1B2A49"/>
                </a:solidFill>
                <a:latin typeface="Meiryo UI" pitchFamily="34" charset="0"/>
                <a:ea typeface="Meiryo UI" pitchFamily="34" charset="-122"/>
                <a:cs typeface="Meiryo UI" pitchFamily="34" charset="-120"/>
              </a:rPr>
              <a:t>業務要件</a:t>
            </a:r>
            <a:endParaRPr lang="en-US" sz="1350" dirty="0"/>
          </a:p>
        </p:txBody>
      </p:sp>
      <p:sp>
        <p:nvSpPr>
          <p:cNvPr id="24" name="Shape 19"/>
          <p:cNvSpPr/>
          <p:nvPr/>
        </p:nvSpPr>
        <p:spPr>
          <a:xfrm>
            <a:off x="10652760" y="1636776"/>
            <a:ext cx="822960" cy="292608"/>
          </a:xfrm>
          <a:prstGeom prst="roundRect">
            <a:avLst>
              <a:gd name="adj" fmla="val 50000"/>
            </a:avLst>
          </a:prstGeom>
          <a:solidFill>
            <a:srgbClr val="1B2A49"/>
          </a:solidFill>
          <a:ln/>
        </p:spPr>
      </p:sp>
      <p:sp>
        <p:nvSpPr>
          <p:cNvPr id="25" name="Text 20"/>
          <p:cNvSpPr txBox="1"/>
          <p:nvPr/>
        </p:nvSpPr>
        <p:spPr>
          <a:xfrm>
            <a:off x="10652760" y="1636776"/>
            <a:ext cx="822960" cy="292608"/>
          </a:xfrm>
          <a:prstGeom prst="rect">
            <a:avLst/>
          </a:prstGeom>
          <a:noFill/>
          <a:ln/>
        </p:spPr>
        <p:txBody>
          <a:bodyPr wrap="square" lIns="762" tIns="762" rIns="762" bIns="762" rtlCol="0" anchor="ctr"/>
          <a:lstStyle/>
          <a:p>
            <a:pPr algn="ctr" indent="0" marL="0">
              <a:buNone/>
            </a:pPr>
            <a:r>
              <a:rPr lang="en-US" sz="900" b="1" dirty="0">
                <a:solidFill>
                  <a:srgbClr val="FFFFFF"/>
                </a:solidFill>
                <a:latin typeface="Meiryo UI" pitchFamily="34" charset="0"/>
                <a:ea typeface="Meiryo UI" pitchFamily="34" charset="-122"/>
                <a:cs typeface="Meiryo UI" pitchFamily="34" charset="-120"/>
              </a:rPr>
              <a:t>軸2・軸3</a:t>
            </a:r>
            <a:endParaRPr lang="en-US" sz="900" dirty="0"/>
          </a:p>
        </p:txBody>
      </p:sp>
      <p:sp>
        <p:nvSpPr>
          <p:cNvPr id="26" name="Text 21"/>
          <p:cNvSpPr txBox="1"/>
          <p:nvPr/>
        </p:nvSpPr>
        <p:spPr>
          <a:xfrm>
            <a:off x="8229600" y="2148840"/>
            <a:ext cx="3246120" cy="1508760"/>
          </a:xfrm>
          <a:prstGeom prst="rect">
            <a:avLst/>
          </a:prstGeom>
          <a:noFill/>
          <a:ln/>
        </p:spPr>
        <p:txBody>
          <a:bodyPr wrap="square" lIns="254" tIns="254" rIns="254" bIns="254" rtlCol="0" anchor="t"/>
          <a:lstStyle/>
          <a:p>
            <a:pPr marL="152400" indent="-152400">
              <a:spcAft>
                <a:spcPts val="600"/>
              </a:spcAft>
              <a:buSzPct val="100000"/>
              <a:buChar char="•"/>
            </a:pPr>
            <a:r>
              <a:rPr lang="en-US" sz="1150" dirty="0">
                <a:solidFill>
                  <a:srgbClr val="000000"/>
                </a:solidFill>
                <a:latin typeface="Meiryo UI" pitchFamily="34" charset="0"/>
                <a:ea typeface="Meiryo UI" pitchFamily="34" charset="-122"/>
                <a:cs typeface="Meiryo UI" pitchFamily="34" charset="-120"/>
              </a:rPr>
              <a:t>どこまでAIに起案させたいか（対話か、自動起案か）</a:t>
            </a:r>
            <a:endParaRPr lang="en-US" sz="1150" dirty="0"/>
          </a:p>
          <a:p>
            <a:pPr marL="152400" indent="-152400">
              <a:spcAft>
                <a:spcPts val="600"/>
              </a:spcAft>
              <a:buSzPct val="100000"/>
              <a:buChar char="•"/>
            </a:pPr>
            <a:r>
              <a:rPr lang="en-US" sz="1150" dirty="0">
                <a:solidFill>
                  <a:srgbClr val="000000"/>
                </a:solidFill>
                <a:latin typeface="Meiryo UI" pitchFamily="34" charset="0"/>
                <a:ea typeface="Meiryo UI" pitchFamily="34" charset="-122"/>
                <a:cs typeface="Meiryo UI" pitchFamily="34" charset="-120"/>
              </a:rPr>
              <a:t>レビュー・承認のフローと責任者</a:t>
            </a:r>
            <a:endParaRPr lang="en-US" sz="1150" dirty="0"/>
          </a:p>
          <a:p>
            <a:pPr marL="152400" indent="-152400">
              <a:spcAft>
                <a:spcPts val="600"/>
              </a:spcAft>
              <a:buSzPct val="100000"/>
              <a:buChar char="•"/>
            </a:pPr>
            <a:r>
              <a:rPr lang="en-US" sz="1150" dirty="0">
                <a:solidFill>
                  <a:srgbClr val="000000"/>
                </a:solidFill>
                <a:latin typeface="Meiryo UI" pitchFamily="34" charset="0"/>
                <a:ea typeface="Meiryo UI" pitchFamily="34" charset="-122"/>
                <a:cs typeface="Meiryo UI" pitchFamily="34" charset="-120"/>
              </a:rPr>
              <a:t>Airtable相当の操作性（カレンダー・ボード）がどこまで必要か</a:t>
            </a:r>
            <a:endParaRPr lang="en-US" sz="1150" dirty="0"/>
          </a:p>
        </p:txBody>
      </p:sp>
      <p:sp>
        <p:nvSpPr>
          <p:cNvPr id="27" name="Shape 22"/>
          <p:cNvSpPr/>
          <p:nvPr/>
        </p:nvSpPr>
        <p:spPr>
          <a:xfrm>
            <a:off x="548640" y="3904488"/>
            <a:ext cx="3566160" cy="2331720"/>
          </a:xfrm>
          <a:prstGeom prst="roundRect">
            <a:avLst>
              <a:gd name="adj" fmla="val 2353"/>
            </a:avLst>
          </a:prstGeom>
          <a:solidFill>
            <a:srgbClr val="F3F5F8"/>
          </a:solidFill>
          <a:ln/>
        </p:spPr>
      </p:sp>
      <p:sp>
        <p:nvSpPr>
          <p:cNvPr id="28" name="Shape 23"/>
          <p:cNvSpPr/>
          <p:nvPr/>
        </p:nvSpPr>
        <p:spPr>
          <a:xfrm>
            <a:off x="713232" y="4041648"/>
            <a:ext cx="457200" cy="457200"/>
          </a:xfrm>
          <a:prstGeom prst="ellipse">
            <a:avLst/>
          </a:prstGeom>
          <a:solidFill>
            <a:srgbClr val="FFFFFF"/>
          </a:solidFill>
          <a:ln/>
        </p:spPr>
      </p:sp>
      <p:pic>
        <p:nvPicPr>
          <p:cNvPr id="29" name="Image 3" descr="preencoded.png">    </p:cNvPr>
          <p:cNvPicPr>
            <a:picLocks noChangeAspect="1"/>
          </p:cNvPicPr>
          <p:nvPr/>
        </p:nvPicPr>
        <p:blipFill>
          <a:blip r:embed="rId4"/>
          <a:stretch>
            <a:fillRect/>
          </a:stretch>
        </p:blipFill>
        <p:spPr>
          <a:xfrm>
            <a:off x="804672" y="4133088"/>
            <a:ext cx="274320" cy="274320"/>
          </a:xfrm>
          <a:prstGeom prst="rect">
            <a:avLst/>
          </a:prstGeom>
        </p:spPr>
      </p:pic>
      <p:sp>
        <p:nvSpPr>
          <p:cNvPr id="30" name="Text 24"/>
          <p:cNvSpPr txBox="1"/>
          <p:nvPr/>
        </p:nvSpPr>
        <p:spPr>
          <a:xfrm>
            <a:off x="1261872" y="4041648"/>
            <a:ext cx="1920240" cy="457200"/>
          </a:xfrm>
          <a:prstGeom prst="rect">
            <a:avLst/>
          </a:prstGeom>
          <a:noFill/>
          <a:ln/>
        </p:spPr>
        <p:txBody>
          <a:bodyPr wrap="square" lIns="508" tIns="508" rIns="508" bIns="508" rtlCol="0" anchor="ctr"/>
          <a:lstStyle/>
          <a:p>
            <a:pPr indent="0" marL="0">
              <a:buNone/>
            </a:pPr>
            <a:r>
              <a:rPr lang="en-US" sz="1350" b="1" dirty="0">
                <a:solidFill>
                  <a:srgbClr val="1B2A49"/>
                </a:solidFill>
                <a:latin typeface="Meiryo UI" pitchFamily="34" charset="0"/>
                <a:ea typeface="Meiryo UI" pitchFamily="34" charset="-122"/>
                <a:cs typeface="Meiryo UI" pitchFamily="34" charset="-120"/>
              </a:rPr>
              <a:t>体制・スキル</a:t>
            </a:r>
            <a:endParaRPr lang="en-US" sz="1350" dirty="0"/>
          </a:p>
        </p:txBody>
      </p:sp>
      <p:sp>
        <p:nvSpPr>
          <p:cNvPr id="31" name="Shape 25"/>
          <p:cNvSpPr/>
          <p:nvPr/>
        </p:nvSpPr>
        <p:spPr>
          <a:xfrm>
            <a:off x="3154680" y="4123944"/>
            <a:ext cx="822960" cy="292608"/>
          </a:xfrm>
          <a:prstGeom prst="roundRect">
            <a:avLst>
              <a:gd name="adj" fmla="val 50000"/>
            </a:avLst>
          </a:prstGeom>
          <a:solidFill>
            <a:srgbClr val="1B2A49"/>
          </a:solidFill>
          <a:ln/>
        </p:spPr>
      </p:sp>
      <p:sp>
        <p:nvSpPr>
          <p:cNvPr id="32" name="Text 26"/>
          <p:cNvSpPr txBox="1"/>
          <p:nvPr/>
        </p:nvSpPr>
        <p:spPr>
          <a:xfrm>
            <a:off x="3154680" y="4123944"/>
            <a:ext cx="822960" cy="292608"/>
          </a:xfrm>
          <a:prstGeom prst="rect">
            <a:avLst/>
          </a:prstGeom>
          <a:noFill/>
          <a:ln/>
        </p:spPr>
        <p:txBody>
          <a:bodyPr wrap="square" lIns="762" tIns="762" rIns="762" bIns="762" rtlCol="0" anchor="ctr"/>
          <a:lstStyle/>
          <a:p>
            <a:pPr algn="ctr" indent="0" marL="0">
              <a:buNone/>
            </a:pPr>
            <a:r>
              <a:rPr lang="en-US" sz="900" b="1" dirty="0">
                <a:solidFill>
                  <a:srgbClr val="FFFFFF"/>
                </a:solidFill>
                <a:latin typeface="Meiryo UI" pitchFamily="34" charset="0"/>
                <a:ea typeface="Meiryo UI" pitchFamily="34" charset="-122"/>
                <a:cs typeface="Meiryo UI" pitchFamily="34" charset="-120"/>
              </a:rPr>
              <a:t>軸1・軸2</a:t>
            </a:r>
            <a:endParaRPr lang="en-US" sz="900" dirty="0"/>
          </a:p>
        </p:txBody>
      </p:sp>
      <p:sp>
        <p:nvSpPr>
          <p:cNvPr id="33" name="Text 27"/>
          <p:cNvSpPr txBox="1"/>
          <p:nvPr/>
        </p:nvSpPr>
        <p:spPr>
          <a:xfrm>
            <a:off x="731520" y="4636008"/>
            <a:ext cx="3246120" cy="1508760"/>
          </a:xfrm>
          <a:prstGeom prst="rect">
            <a:avLst/>
          </a:prstGeom>
          <a:noFill/>
          <a:ln/>
        </p:spPr>
        <p:txBody>
          <a:bodyPr wrap="square" lIns="254" tIns="254" rIns="254" bIns="254" rtlCol="0" anchor="t"/>
          <a:lstStyle/>
          <a:p>
            <a:pPr marL="152400" indent="-152400">
              <a:spcAft>
                <a:spcPts val="600"/>
              </a:spcAft>
              <a:buSzPct val="100000"/>
              <a:buChar char="•"/>
            </a:pPr>
            <a:r>
              <a:rPr lang="en-US" sz="1150" dirty="0">
                <a:solidFill>
                  <a:srgbClr val="000000"/>
                </a:solidFill>
                <a:latin typeface="Meiryo UI" pitchFamily="34" charset="0"/>
                <a:ea typeface="Meiryo UI" pitchFamily="34" charset="-122"/>
                <a:cs typeface="Meiryo UI" pitchFamily="34" charset="-120"/>
              </a:rPr>
              <a:t>構築・保守を担うのは業務部門か、IT部門か</a:t>
            </a:r>
            <a:endParaRPr lang="en-US" sz="1150" dirty="0"/>
          </a:p>
          <a:p>
            <a:pPr marL="152400" indent="-152400">
              <a:spcAft>
                <a:spcPts val="600"/>
              </a:spcAft>
              <a:buSzPct val="100000"/>
              <a:buChar char="•"/>
            </a:pPr>
            <a:r>
              <a:rPr lang="en-US" sz="1150" dirty="0">
                <a:solidFill>
                  <a:srgbClr val="000000"/>
                </a:solidFill>
                <a:latin typeface="Meiryo UI" pitchFamily="34" charset="0"/>
                <a:ea typeface="Meiryo UI" pitchFamily="34" charset="-122"/>
                <a:cs typeface="Meiryo UI" pitchFamily="34" charset="-120"/>
              </a:rPr>
              <a:t>内製か外注か</a:t>
            </a:r>
            <a:endParaRPr lang="en-US" sz="1150" dirty="0"/>
          </a:p>
          <a:p>
            <a:pPr marL="152400" indent="-152400">
              <a:spcAft>
                <a:spcPts val="600"/>
              </a:spcAft>
              <a:buSzPct val="100000"/>
              <a:buChar char="•"/>
            </a:pPr>
            <a:r>
              <a:rPr lang="en-US" sz="1150" dirty="0">
                <a:solidFill>
                  <a:srgbClr val="000000"/>
                </a:solidFill>
                <a:latin typeface="Meiryo UI" pitchFamily="34" charset="0"/>
                <a:ea typeface="Meiryo UI" pitchFamily="34" charset="-122"/>
                <a:cs typeface="Meiryo UI" pitchFamily="34" charset="-120"/>
              </a:rPr>
              <a:t>Power PlatformとGCPのどちらのスキルがあるか</a:t>
            </a:r>
            <a:endParaRPr lang="en-US" sz="1150" dirty="0"/>
          </a:p>
        </p:txBody>
      </p:sp>
      <p:sp>
        <p:nvSpPr>
          <p:cNvPr id="34" name="Shape 28"/>
          <p:cNvSpPr/>
          <p:nvPr/>
        </p:nvSpPr>
        <p:spPr>
          <a:xfrm>
            <a:off x="4297680" y="3904488"/>
            <a:ext cx="3566160" cy="2331720"/>
          </a:xfrm>
          <a:prstGeom prst="roundRect">
            <a:avLst>
              <a:gd name="adj" fmla="val 2353"/>
            </a:avLst>
          </a:prstGeom>
          <a:solidFill>
            <a:srgbClr val="F3F5F8"/>
          </a:solidFill>
          <a:ln/>
        </p:spPr>
      </p:sp>
      <p:sp>
        <p:nvSpPr>
          <p:cNvPr id="35" name="Shape 29"/>
          <p:cNvSpPr/>
          <p:nvPr/>
        </p:nvSpPr>
        <p:spPr>
          <a:xfrm>
            <a:off x="4462272" y="4041648"/>
            <a:ext cx="457200" cy="457200"/>
          </a:xfrm>
          <a:prstGeom prst="ellipse">
            <a:avLst/>
          </a:prstGeom>
          <a:solidFill>
            <a:srgbClr val="FFFFFF"/>
          </a:solidFill>
          <a:ln/>
        </p:spPr>
      </p:sp>
      <p:pic>
        <p:nvPicPr>
          <p:cNvPr id="36" name="Image 4" descr="preencoded.png">    </p:cNvPr>
          <p:cNvPicPr>
            <a:picLocks noChangeAspect="1"/>
          </p:cNvPicPr>
          <p:nvPr/>
        </p:nvPicPr>
        <p:blipFill>
          <a:blip r:embed="rId5"/>
          <a:stretch>
            <a:fillRect/>
          </a:stretch>
        </p:blipFill>
        <p:spPr>
          <a:xfrm>
            <a:off x="4553712" y="4133088"/>
            <a:ext cx="274320" cy="274320"/>
          </a:xfrm>
          <a:prstGeom prst="rect">
            <a:avLst/>
          </a:prstGeom>
        </p:spPr>
      </p:pic>
      <p:sp>
        <p:nvSpPr>
          <p:cNvPr id="37" name="Text 30"/>
          <p:cNvSpPr txBox="1"/>
          <p:nvPr/>
        </p:nvSpPr>
        <p:spPr>
          <a:xfrm>
            <a:off x="5010912" y="4041648"/>
            <a:ext cx="1920240" cy="457200"/>
          </a:xfrm>
          <a:prstGeom prst="rect">
            <a:avLst/>
          </a:prstGeom>
          <a:noFill/>
          <a:ln/>
        </p:spPr>
        <p:txBody>
          <a:bodyPr wrap="square" lIns="508" tIns="508" rIns="508" bIns="508" rtlCol="0" anchor="ctr"/>
          <a:lstStyle/>
          <a:p>
            <a:pPr indent="0" marL="0">
              <a:buNone/>
            </a:pPr>
            <a:r>
              <a:rPr lang="en-US" sz="1350" b="1" dirty="0">
                <a:solidFill>
                  <a:srgbClr val="1B2A49"/>
                </a:solidFill>
                <a:latin typeface="Meiryo UI" pitchFamily="34" charset="0"/>
                <a:ea typeface="Meiryo UI" pitchFamily="34" charset="-122"/>
                <a:cs typeface="Meiryo UI" pitchFamily="34" charset="-120"/>
              </a:rPr>
              <a:t>コスト</a:t>
            </a:r>
            <a:endParaRPr lang="en-US" sz="1350" dirty="0"/>
          </a:p>
        </p:txBody>
      </p:sp>
      <p:sp>
        <p:nvSpPr>
          <p:cNvPr id="38" name="Shape 31"/>
          <p:cNvSpPr/>
          <p:nvPr/>
        </p:nvSpPr>
        <p:spPr>
          <a:xfrm>
            <a:off x="6903720" y="4123944"/>
            <a:ext cx="822960" cy="292608"/>
          </a:xfrm>
          <a:prstGeom prst="roundRect">
            <a:avLst>
              <a:gd name="adj" fmla="val 50000"/>
            </a:avLst>
          </a:prstGeom>
          <a:solidFill>
            <a:srgbClr val="1B2A49"/>
          </a:solidFill>
          <a:ln/>
        </p:spPr>
      </p:sp>
      <p:sp>
        <p:nvSpPr>
          <p:cNvPr id="39" name="Text 32"/>
          <p:cNvSpPr txBox="1"/>
          <p:nvPr/>
        </p:nvSpPr>
        <p:spPr>
          <a:xfrm>
            <a:off x="6903720" y="4123944"/>
            <a:ext cx="822960" cy="292608"/>
          </a:xfrm>
          <a:prstGeom prst="rect">
            <a:avLst/>
          </a:prstGeom>
          <a:noFill/>
          <a:ln/>
        </p:spPr>
        <p:txBody>
          <a:bodyPr wrap="square" lIns="762" tIns="762" rIns="762" bIns="762" rtlCol="0" anchor="ctr"/>
          <a:lstStyle/>
          <a:p>
            <a:pPr algn="ctr" indent="0" marL="0">
              <a:buNone/>
            </a:pPr>
            <a:r>
              <a:rPr lang="en-US" sz="900" b="1" dirty="0">
                <a:solidFill>
                  <a:srgbClr val="FFFFFF"/>
                </a:solidFill>
                <a:latin typeface="Meiryo UI" pitchFamily="34" charset="0"/>
                <a:ea typeface="Meiryo UI" pitchFamily="34" charset="-122"/>
                <a:cs typeface="Meiryo UI" pitchFamily="34" charset="-120"/>
              </a:rPr>
              <a:t>全体</a:t>
            </a:r>
            <a:endParaRPr lang="en-US" sz="900" dirty="0"/>
          </a:p>
        </p:txBody>
      </p:sp>
      <p:sp>
        <p:nvSpPr>
          <p:cNvPr id="40" name="Text 33"/>
          <p:cNvSpPr txBox="1"/>
          <p:nvPr/>
        </p:nvSpPr>
        <p:spPr>
          <a:xfrm>
            <a:off x="4480560" y="4636008"/>
            <a:ext cx="3246120" cy="1508760"/>
          </a:xfrm>
          <a:prstGeom prst="rect">
            <a:avLst/>
          </a:prstGeom>
          <a:noFill/>
          <a:ln/>
        </p:spPr>
        <p:txBody>
          <a:bodyPr wrap="square" lIns="254" tIns="254" rIns="254" bIns="254" rtlCol="0" anchor="t"/>
          <a:lstStyle/>
          <a:p>
            <a:pPr marL="152400" indent="-152400">
              <a:spcAft>
                <a:spcPts val="600"/>
              </a:spcAft>
              <a:buSzPct val="100000"/>
              <a:buChar char="•"/>
            </a:pPr>
            <a:r>
              <a:rPr lang="en-US" sz="1150" dirty="0">
                <a:solidFill>
                  <a:srgbClr val="000000"/>
                </a:solidFill>
                <a:latin typeface="Meiryo UI" pitchFamily="34" charset="0"/>
                <a:ea typeface="Meiryo UI" pitchFamily="34" charset="-122"/>
                <a:cs typeface="Meiryo UI" pitchFamily="34" charset="-120"/>
              </a:rPr>
              <a:t>Power Apps Premium（code apps・Dataverse）、Copilot Studio、Gemini Enterprise</a:t>
            </a:r>
            <a:endParaRPr lang="en-US" sz="1150" dirty="0"/>
          </a:p>
          <a:p>
            <a:pPr marL="152400" indent="-152400">
              <a:spcAft>
                <a:spcPts val="600"/>
              </a:spcAft>
              <a:buSzPct val="100000"/>
              <a:buChar char="•"/>
            </a:pPr>
            <a:r>
              <a:rPr lang="en-US" sz="1150" dirty="0">
                <a:solidFill>
                  <a:srgbClr val="000000"/>
                </a:solidFill>
                <a:latin typeface="Meiryo UI" pitchFamily="34" charset="0"/>
                <a:ea typeface="Meiryo UI" pitchFamily="34" charset="-122"/>
                <a:cs typeface="Meiryo UI" pitchFamily="34" charset="-120"/>
              </a:rPr>
              <a:t>GCP・Agent Platformの利用料（2026年から一部課金開始）</a:t>
            </a:r>
            <a:endParaRPr lang="en-US" sz="1150" dirty="0"/>
          </a:p>
          <a:p>
            <a:pPr marL="152400" indent="-152400">
              <a:spcAft>
                <a:spcPts val="600"/>
              </a:spcAft>
              <a:buSzPct val="100000"/>
              <a:buChar char="•"/>
            </a:pPr>
            <a:r>
              <a:rPr lang="en-US" sz="1150" dirty="0">
                <a:solidFill>
                  <a:srgbClr val="000000"/>
                </a:solidFill>
                <a:latin typeface="Meiryo UI" pitchFamily="34" charset="0"/>
                <a:ea typeface="Meiryo UI" pitchFamily="34" charset="-122"/>
                <a:cs typeface="Meiryo UI" pitchFamily="34" charset="-120"/>
              </a:rPr>
              <a:t>開発・保守にかかる人件費</a:t>
            </a:r>
            <a:endParaRPr lang="en-US" sz="1150" dirty="0"/>
          </a:p>
        </p:txBody>
      </p:sp>
      <p:sp>
        <p:nvSpPr>
          <p:cNvPr id="41" name="Shape 34"/>
          <p:cNvSpPr/>
          <p:nvPr/>
        </p:nvSpPr>
        <p:spPr>
          <a:xfrm>
            <a:off x="8046720" y="3904488"/>
            <a:ext cx="3566160" cy="2331720"/>
          </a:xfrm>
          <a:prstGeom prst="roundRect">
            <a:avLst>
              <a:gd name="adj" fmla="val 2353"/>
            </a:avLst>
          </a:prstGeom>
          <a:solidFill>
            <a:srgbClr val="F3F5F8"/>
          </a:solidFill>
          <a:ln/>
        </p:spPr>
      </p:sp>
      <p:sp>
        <p:nvSpPr>
          <p:cNvPr id="42" name="Shape 35"/>
          <p:cNvSpPr/>
          <p:nvPr/>
        </p:nvSpPr>
        <p:spPr>
          <a:xfrm>
            <a:off x="8211312" y="4041648"/>
            <a:ext cx="457200" cy="457200"/>
          </a:xfrm>
          <a:prstGeom prst="ellipse">
            <a:avLst/>
          </a:prstGeom>
          <a:solidFill>
            <a:srgbClr val="FFFFFF"/>
          </a:solidFill>
          <a:ln/>
        </p:spPr>
      </p:sp>
      <p:pic>
        <p:nvPicPr>
          <p:cNvPr id="43" name="Image 5" descr="preencoded.png">    </p:cNvPr>
          <p:cNvPicPr>
            <a:picLocks noChangeAspect="1"/>
          </p:cNvPicPr>
          <p:nvPr/>
        </p:nvPicPr>
        <p:blipFill>
          <a:blip r:embed="rId6"/>
          <a:stretch>
            <a:fillRect/>
          </a:stretch>
        </p:blipFill>
        <p:spPr>
          <a:xfrm>
            <a:off x="8302752" y="4133088"/>
            <a:ext cx="274320" cy="274320"/>
          </a:xfrm>
          <a:prstGeom prst="rect">
            <a:avLst/>
          </a:prstGeom>
        </p:spPr>
      </p:pic>
      <p:sp>
        <p:nvSpPr>
          <p:cNvPr id="44" name="Text 36"/>
          <p:cNvSpPr txBox="1"/>
          <p:nvPr/>
        </p:nvSpPr>
        <p:spPr>
          <a:xfrm>
            <a:off x="8759952" y="4041648"/>
            <a:ext cx="1920240" cy="457200"/>
          </a:xfrm>
          <a:prstGeom prst="rect">
            <a:avLst/>
          </a:prstGeom>
          <a:noFill/>
          <a:ln/>
        </p:spPr>
        <p:txBody>
          <a:bodyPr wrap="square" lIns="508" tIns="508" rIns="508" bIns="508" rtlCol="0" anchor="ctr"/>
          <a:lstStyle/>
          <a:p>
            <a:pPr indent="0" marL="0">
              <a:buNone/>
            </a:pPr>
            <a:r>
              <a:rPr lang="en-US" sz="1350" b="1" dirty="0">
                <a:solidFill>
                  <a:srgbClr val="1B2A49"/>
                </a:solidFill>
                <a:latin typeface="Meiryo UI" pitchFamily="34" charset="0"/>
                <a:ea typeface="Meiryo UI" pitchFamily="34" charset="-122"/>
                <a:cs typeface="Meiryo UI" pitchFamily="34" charset="-120"/>
              </a:rPr>
              <a:t>将来の拡張</a:t>
            </a:r>
            <a:endParaRPr lang="en-US" sz="1350" dirty="0"/>
          </a:p>
        </p:txBody>
      </p:sp>
      <p:sp>
        <p:nvSpPr>
          <p:cNvPr id="45" name="Shape 37"/>
          <p:cNvSpPr/>
          <p:nvPr/>
        </p:nvSpPr>
        <p:spPr>
          <a:xfrm>
            <a:off x="10652760" y="4123944"/>
            <a:ext cx="822960" cy="292608"/>
          </a:xfrm>
          <a:prstGeom prst="roundRect">
            <a:avLst>
              <a:gd name="adj" fmla="val 50000"/>
            </a:avLst>
          </a:prstGeom>
          <a:solidFill>
            <a:srgbClr val="1B2A49"/>
          </a:solidFill>
          <a:ln/>
        </p:spPr>
      </p:sp>
      <p:sp>
        <p:nvSpPr>
          <p:cNvPr id="46" name="Text 38"/>
          <p:cNvSpPr txBox="1"/>
          <p:nvPr/>
        </p:nvSpPr>
        <p:spPr>
          <a:xfrm>
            <a:off x="10652760" y="4123944"/>
            <a:ext cx="822960" cy="292608"/>
          </a:xfrm>
          <a:prstGeom prst="rect">
            <a:avLst/>
          </a:prstGeom>
          <a:noFill/>
          <a:ln/>
        </p:spPr>
        <p:txBody>
          <a:bodyPr wrap="square" lIns="762" tIns="762" rIns="762" bIns="762" rtlCol="0" anchor="ctr"/>
          <a:lstStyle/>
          <a:p>
            <a:pPr algn="ctr" indent="0" marL="0">
              <a:buNone/>
            </a:pPr>
            <a:r>
              <a:rPr lang="en-US" sz="900" b="1" dirty="0">
                <a:solidFill>
                  <a:srgbClr val="FFFFFF"/>
                </a:solidFill>
                <a:latin typeface="Meiryo UI" pitchFamily="34" charset="0"/>
                <a:ea typeface="Meiryo UI" pitchFamily="34" charset="-122"/>
                <a:cs typeface="Meiryo UI" pitchFamily="34" charset="-120"/>
              </a:rPr>
              <a:t>軸2〜4</a:t>
            </a:r>
            <a:endParaRPr lang="en-US" sz="900" dirty="0"/>
          </a:p>
        </p:txBody>
      </p:sp>
      <p:sp>
        <p:nvSpPr>
          <p:cNvPr id="47" name="Text 39"/>
          <p:cNvSpPr txBox="1"/>
          <p:nvPr/>
        </p:nvSpPr>
        <p:spPr>
          <a:xfrm>
            <a:off x="8229600" y="4636008"/>
            <a:ext cx="3246120" cy="1508760"/>
          </a:xfrm>
          <a:prstGeom prst="rect">
            <a:avLst/>
          </a:prstGeom>
          <a:noFill/>
          <a:ln/>
        </p:spPr>
        <p:txBody>
          <a:bodyPr wrap="square" lIns="254" tIns="254" rIns="254" bIns="254" rtlCol="0" anchor="t"/>
          <a:lstStyle/>
          <a:p>
            <a:pPr marL="152400" indent="-152400">
              <a:spcAft>
                <a:spcPts val="600"/>
              </a:spcAft>
              <a:buSzPct val="100000"/>
              <a:buChar char="•"/>
            </a:pPr>
            <a:r>
              <a:rPr lang="en-US" sz="1150" dirty="0">
                <a:solidFill>
                  <a:srgbClr val="000000"/>
                </a:solidFill>
                <a:latin typeface="Meiryo UI" pitchFamily="34" charset="0"/>
                <a:ea typeface="Meiryo UI" pitchFamily="34" charset="-122"/>
                <a:cs typeface="Meiryo UI" pitchFamily="34" charset="-120"/>
              </a:rPr>
              <a:t>配信実績をフィードバックして改善したいか</a:t>
            </a:r>
            <a:endParaRPr lang="en-US" sz="1150" dirty="0"/>
          </a:p>
          <a:p>
            <a:pPr marL="152400" indent="-152400">
              <a:spcAft>
                <a:spcPts val="600"/>
              </a:spcAft>
              <a:buSzPct val="100000"/>
              <a:buChar char="•"/>
            </a:pPr>
            <a:r>
              <a:rPr lang="en-US" sz="1150" dirty="0">
                <a:solidFill>
                  <a:srgbClr val="000000"/>
                </a:solidFill>
                <a:latin typeface="Meiryo UI" pitchFamily="34" charset="0"/>
                <a:ea typeface="Meiryo UI" pitchFamily="34" charset="-122"/>
                <a:cs typeface="Meiryo UI" pitchFamily="34" charset="-120"/>
              </a:rPr>
              <a:t>国ごとに作るか、共通の仕組みにするか</a:t>
            </a:r>
            <a:endParaRPr lang="en-US" sz="1150" dirty="0"/>
          </a:p>
          <a:p>
            <a:pPr marL="152400" indent="-152400">
              <a:spcAft>
                <a:spcPts val="600"/>
              </a:spcAft>
              <a:buSzPct val="100000"/>
              <a:buChar char="•"/>
            </a:pPr>
            <a:r>
              <a:rPr lang="en-US" sz="1150" dirty="0">
                <a:solidFill>
                  <a:srgbClr val="000000"/>
                </a:solidFill>
                <a:latin typeface="Meiryo UI" pitchFamily="34" charset="0"/>
                <a:ea typeface="Meiryo UI" pitchFamily="34" charset="-122"/>
                <a:cs typeface="Meiryo UI" pitchFamily="34" charset="-120"/>
              </a:rPr>
              <a:t>他国の事例を参照したいか（好事例ライブラリを持つか）</a:t>
            </a:r>
            <a:endParaRPr lang="en-US" sz="1150" dirty="0"/>
          </a:p>
          <a:p>
            <a:pPr marL="152400" indent="-152400">
              <a:spcAft>
                <a:spcPts val="600"/>
              </a:spcAft>
              <a:buSzPct val="100000"/>
              <a:buChar char="•"/>
            </a:pPr>
            <a:r>
              <a:rPr lang="en-US" sz="1150" dirty="0">
                <a:solidFill>
                  <a:srgbClr val="000000"/>
                </a:solidFill>
                <a:latin typeface="Meiryo UI" pitchFamily="34" charset="0"/>
                <a:ea typeface="Meiryo UI" pitchFamily="34" charset="-122"/>
                <a:cs typeface="Meiryo UI" pitchFamily="34" charset="-120"/>
              </a:rPr>
              <a:t>Airtableを中長期的に使い続けるか</a:t>
            </a:r>
            <a:endParaRPr lang="en-US" sz="11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548640"/>
          </a:xfrm>
          <a:prstGeom prst="rect">
            <a:avLst/>
          </a:prstGeom>
          <a:noFill/>
          <a:ln/>
        </p:spPr>
        <p:txBody>
          <a:bodyPr wrap="square" lIns="0" tIns="0" rIns="0" bIns="0" rtlCol="0" anchor="ctr"/>
          <a:lstStyle/>
          <a:p>
            <a:pPr indent="0" marL="0">
              <a:buNone/>
            </a:pPr>
            <a:r>
              <a:rPr lang="en-US" sz="2600" b="1" dirty="0">
                <a:solidFill>
                  <a:srgbClr val="1B2A49"/>
                </a:solidFill>
                <a:latin typeface="Meiryo UI" pitchFamily="34" charset="0"/>
                <a:ea typeface="Meiryo UI" pitchFamily="34" charset="-122"/>
                <a:cs typeface="Meiryo UI" pitchFamily="34" charset="-120"/>
              </a:rPr>
              <a:t>検証で確かめられること（PoCの候補）</a:t>
            </a:r>
            <a:endParaRPr lang="en-US" sz="2600" dirty="0"/>
          </a:p>
        </p:txBody>
      </p:sp>
      <p:sp>
        <p:nvSpPr>
          <p:cNvPr id="3" name="Text 1"/>
          <p:cNvSpPr txBox="1"/>
          <p:nvPr/>
        </p:nvSpPr>
        <p:spPr>
          <a:xfrm>
            <a:off x="548640" y="896112"/>
            <a:ext cx="11064240" cy="365760"/>
          </a:xfrm>
          <a:prstGeom prst="rect">
            <a:avLst/>
          </a:prstGeom>
          <a:noFill/>
          <a:ln/>
        </p:spPr>
        <p:txBody>
          <a:bodyPr wrap="square" lIns="0" tIns="0" rIns="0" bIns="0" rtlCol="0" anchor="ctr"/>
          <a:lstStyle/>
          <a:p>
            <a:pPr indent="0" marL="0">
              <a:buNone/>
            </a:pPr>
            <a:r>
              <a:rPr lang="en-US" sz="1400" dirty="0">
                <a:solidFill>
                  <a:srgbClr val="6B7280"/>
                </a:solidFill>
                <a:latin typeface="Meiryo UI" pitchFamily="34" charset="0"/>
                <a:ea typeface="Meiryo UI" pitchFamily="34" charset="-122"/>
                <a:cs typeface="Meiryo UI" pitchFamily="34" charset="-120"/>
              </a:rPr>
              <a:t>構成を選ぶ前に、判断を分ける論点を小さく試すことができる</a:t>
            </a:r>
            <a:endParaRPr lang="en-US" sz="1400" dirty="0"/>
          </a:p>
        </p:txBody>
      </p:sp>
      <p:sp>
        <p:nvSpPr>
          <p:cNvPr id="4" name="Text 2"/>
          <p:cNvSpPr txBox="1"/>
          <p:nvPr/>
        </p:nvSpPr>
        <p:spPr>
          <a:xfrm>
            <a:off x="7498080" y="91440"/>
            <a:ext cx="4114800" cy="22860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6. 判断材料</a:t>
            </a:r>
            <a:endParaRPr lang="en-US" sz="900" dirty="0"/>
          </a:p>
        </p:txBody>
      </p:sp>
      <p:sp>
        <p:nvSpPr>
          <p:cNvPr id="5" name="Text 3"/>
          <p:cNvSpPr txBox="1"/>
          <p:nvPr/>
        </p:nvSpPr>
        <p:spPr>
          <a:xfrm>
            <a:off x="11247120" y="6446520"/>
            <a:ext cx="457200" cy="27432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40</a:t>
            </a:r>
            <a:endParaRPr lang="en-US" sz="900" dirty="0"/>
          </a:p>
        </p:txBody>
      </p:sp>
      <p:graphicFrame>
        <p:nvGraphicFramePr>
          <p:cNvPr id="41"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64240" cy="914400"/>
        </p:xfrm>
        <a:graphic>
          <a:graphicData uri="http://schemas.openxmlformats.org/drawingml/2006/table">
            <a:tbl>
              <a:tblPr/>
              <a:tblGrid>
                <a:gridCol w="548640"/>
                <a:gridCol w="2194560"/>
                <a:gridCol w="6766560"/>
                <a:gridCol w="1554480"/>
              </a:tblGrid>
              <a:tr h="365760">
                <a:tc>
                  <a:txBody>
                    <a:bodyPr/>
                    <a:lstStyle/>
                    <a:p>
                      <a:pPr indent="0" marL="0">
                        <a:buNone/>
                      </a:pPr>
                      <a:r>
                        <a:rPr lang="en-US" sz="1100" b="1" dirty="0">
                          <a:solidFill>
                            <a:srgbClr val="FFFFFF"/>
                          </a:solidFill>
                          <a:latin typeface="Meiryo UI" pitchFamily="34" charset="0"/>
                          <a:ea typeface="Meiryo UI" pitchFamily="34" charset="-122"/>
                          <a:cs typeface="Meiryo UI" pitchFamily="34" charset="-120"/>
                        </a:rPr>
                        <a:t>#</a:t>
                      </a:r>
                      <a:endParaRPr lang="en-US" sz="11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B2A49"/>
                    </a:solidFill>
                  </a:tcPr>
                </a:tc>
                <a:tc>
                  <a:txBody>
                    <a:bodyPr/>
                    <a:lstStyle/>
                    <a:p>
                      <a:pPr indent="0" marL="0">
                        <a:buNone/>
                      </a:pPr>
                      <a:r>
                        <a:rPr lang="en-US" sz="1100" b="1" dirty="0">
                          <a:solidFill>
                            <a:srgbClr val="FFFFFF"/>
                          </a:solidFill>
                          <a:latin typeface="Meiryo UI" pitchFamily="34" charset="0"/>
                          <a:ea typeface="Meiryo UI" pitchFamily="34" charset="-122"/>
                          <a:cs typeface="Meiryo UI" pitchFamily="34" charset="-120"/>
                        </a:rPr>
                        <a:t>テーマ</a:t>
                      </a:r>
                      <a:endParaRPr lang="en-US" sz="11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B2A49"/>
                    </a:solidFill>
                  </a:tcPr>
                </a:tc>
                <a:tc>
                  <a:txBody>
                    <a:bodyPr/>
                    <a:lstStyle/>
                    <a:p>
                      <a:pPr indent="0" marL="0">
                        <a:buNone/>
                      </a:pPr>
                      <a:r>
                        <a:rPr lang="en-US" sz="1100" b="1" dirty="0">
                          <a:solidFill>
                            <a:srgbClr val="FFFFFF"/>
                          </a:solidFill>
                          <a:latin typeface="Meiryo UI" pitchFamily="34" charset="0"/>
                          <a:ea typeface="Meiryo UI" pitchFamily="34" charset="-122"/>
                          <a:cs typeface="Meiryo UI" pitchFamily="34" charset="-120"/>
                        </a:rPr>
                        <a:t>内容</a:t>
                      </a:r>
                      <a:endParaRPr lang="en-US" sz="11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B2A49"/>
                    </a:solidFill>
                  </a:tcPr>
                </a:tc>
                <a:tc>
                  <a:txBody>
                    <a:bodyPr/>
                    <a:lstStyle/>
                    <a:p>
                      <a:pPr indent="0" marL="0">
                        <a:buNone/>
                      </a:pPr>
                      <a:r>
                        <a:rPr lang="en-US" sz="1100" b="1" dirty="0">
                          <a:solidFill>
                            <a:srgbClr val="FFFFFF"/>
                          </a:solidFill>
                          <a:latin typeface="Meiryo UI" pitchFamily="34" charset="0"/>
                          <a:ea typeface="Meiryo UI" pitchFamily="34" charset="-122"/>
                          <a:cs typeface="Meiryo UI" pitchFamily="34" charset="-120"/>
                        </a:rPr>
                        <a:t>関係する軸</a:t>
                      </a:r>
                      <a:endParaRPr lang="en-US" sz="11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B2A49"/>
                    </a:solidFill>
                  </a:tcPr>
                </a:tc>
              </a:tr>
              <a:tr h="530352">
                <a:tc>
                  <a:txBody>
                    <a:bodyPr/>
                    <a:lstStyle/>
                    <a:p>
                      <a:pPr algn="ctr" indent="0" marL="0">
                        <a:buNone/>
                      </a:pPr>
                      <a:r>
                        <a:rPr lang="en-US" sz="1100" b="1" dirty="0">
                          <a:solidFill>
                            <a:srgbClr val="0E9F9A"/>
                          </a:solidFill>
                          <a:latin typeface="Meiryo UI" pitchFamily="34" charset="0"/>
                          <a:ea typeface="Meiryo UI" pitchFamily="34" charset="-122"/>
                          <a:cs typeface="Meiryo UI" pitchFamily="34" charset="-120"/>
                        </a:rPr>
                        <a:t>V0</a:t>
                      </a:r>
                      <a:endParaRPr lang="en-US" sz="11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l" indent="0" marL="0">
                        <a:buNone/>
                      </a:pPr>
                      <a:r>
                        <a:rPr lang="en-US" sz="1100" b="1" dirty="0">
                          <a:solidFill>
                            <a:srgbClr val="2B2B2B"/>
                          </a:solidFill>
                          <a:latin typeface="Meiryo UI" pitchFamily="34" charset="0"/>
                          <a:ea typeface="Meiryo UI" pitchFamily="34" charset="-122"/>
                          <a:cs typeface="Meiryo UI" pitchFamily="34" charset="-120"/>
                        </a:rPr>
                        <a:t>情報システム部門への確認</a:t>
                      </a:r>
                      <a:endParaRPr lang="en-US" sz="11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l" indent="0" marL="0">
                        <a:buNone/>
                      </a:pPr>
                      <a:r>
                        <a:rPr lang="en-US" sz="1100" dirty="0">
                          <a:solidFill>
                            <a:srgbClr val="2B2B2B"/>
                          </a:solidFill>
                          <a:latin typeface="Meiryo UI" pitchFamily="34" charset="0"/>
                          <a:ea typeface="Meiryo UI" pitchFamily="34" charset="-122"/>
                          <a:cs typeface="Meiryo UI" pitchFamily="34" charset="-120"/>
                        </a:rPr>
                        <a:t>Graph APIの権限、Premium・Copilot Studio・Gemini Enterpriseの利用、DLPポリシー</a:t>
                      </a:r>
                      <a:endParaRPr lang="en-US" sz="11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ctr" indent="0" marL="0">
                        <a:buNone/>
                      </a:pPr>
                      <a:r>
                        <a:rPr lang="en-US" sz="1100" dirty="0">
                          <a:solidFill>
                            <a:srgbClr val="2B2B2B"/>
                          </a:solidFill>
                          <a:latin typeface="Meiryo UI" pitchFamily="34" charset="0"/>
                          <a:ea typeface="Meiryo UI" pitchFamily="34" charset="-122"/>
                          <a:cs typeface="Meiryo UI" pitchFamily="34" charset="-120"/>
                        </a:rPr>
                        <a:t>軸1・全体</a:t>
                      </a:r>
                      <a:endParaRPr lang="en-US" sz="11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r>
              <a:tr h="530352">
                <a:tc>
                  <a:txBody>
                    <a:bodyPr/>
                    <a:lstStyle/>
                    <a:p>
                      <a:pPr algn="ctr" indent="0" marL="0">
                        <a:buNone/>
                      </a:pPr>
                      <a:r>
                        <a:rPr lang="en-US" sz="1100" b="1" dirty="0">
                          <a:solidFill>
                            <a:srgbClr val="0E9F9A"/>
                          </a:solidFill>
                          <a:latin typeface="Meiryo UI" pitchFamily="34" charset="0"/>
                          <a:ea typeface="Meiryo UI" pitchFamily="34" charset="-122"/>
                          <a:cs typeface="Meiryo UI" pitchFamily="34" charset="-120"/>
                        </a:rPr>
                        <a:t>V1</a:t>
                      </a:r>
                      <a:endParaRPr lang="en-US" sz="11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l" indent="0" marL="0">
                        <a:buNone/>
                      </a:pPr>
                      <a:r>
                        <a:rPr lang="en-US" sz="1100" b="1" dirty="0">
                          <a:solidFill>
                            <a:srgbClr val="2B2B2B"/>
                          </a:solidFill>
                          <a:latin typeface="Meiryo UI" pitchFamily="34" charset="0"/>
                          <a:ea typeface="Meiryo UI" pitchFamily="34" charset="-122"/>
                          <a:cs typeface="Meiryo UI" pitchFamily="34" charset="-120"/>
                        </a:rPr>
                        <a:t>生成品質</a:t>
                      </a:r>
                      <a:endParaRPr lang="en-US" sz="11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B2B2B"/>
                          </a:solidFill>
                          <a:latin typeface="Meiryo UI" pitchFamily="34" charset="0"/>
                          <a:ea typeface="Meiryo UI" pitchFamily="34" charset="-122"/>
                          <a:cs typeface="Meiryo UI" pitchFamily="34" charset="-120"/>
                        </a:rPr>
                        <a:t>過去の配信カード20〜30件について、CopilotとGeminiそれぞれの生成案を実際のカードと比較評価</a:t>
                      </a:r>
                      <a:endParaRPr lang="en-US" sz="11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B2B2B"/>
                          </a:solidFill>
                          <a:latin typeface="Meiryo UI" pitchFamily="34" charset="0"/>
                          <a:ea typeface="Meiryo UI" pitchFamily="34" charset="-122"/>
                          <a:cs typeface="Meiryo UI" pitchFamily="34" charset="-120"/>
                        </a:rPr>
                        <a:t>軸1・全体</a:t>
                      </a:r>
                      <a:endParaRPr lang="en-US" sz="11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493776">
                <a:tc>
                  <a:txBody>
                    <a:bodyPr/>
                    <a:lstStyle/>
                    <a:p>
                      <a:pPr algn="ctr" indent="0" marL="0">
                        <a:buNone/>
                      </a:pPr>
                      <a:r>
                        <a:rPr lang="en-US" sz="1100" b="1" dirty="0">
                          <a:solidFill>
                            <a:srgbClr val="0E9F9A"/>
                          </a:solidFill>
                          <a:latin typeface="Meiryo UI" pitchFamily="34" charset="0"/>
                          <a:ea typeface="Meiryo UI" pitchFamily="34" charset="-122"/>
                          <a:cs typeface="Meiryo UI" pitchFamily="34" charset="-120"/>
                        </a:rPr>
                        <a:t>V2</a:t>
                      </a:r>
                      <a:endParaRPr lang="en-US" sz="11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l" indent="0" marL="0">
                        <a:buNone/>
                      </a:pPr>
                      <a:r>
                        <a:rPr lang="en-US" sz="1100" b="1" dirty="0">
                          <a:solidFill>
                            <a:srgbClr val="2B2B2B"/>
                          </a:solidFill>
                          <a:latin typeface="Meiryo UI" pitchFamily="34" charset="0"/>
                          <a:ea typeface="Meiryo UI" pitchFamily="34" charset="-122"/>
                          <a:cs typeface="Meiryo UI" pitchFamily="34" charset="-120"/>
                        </a:rPr>
                        <a:t>商品選定の方式</a:t>
                      </a:r>
                      <a:endParaRPr lang="en-US" sz="11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l" indent="0" marL="0">
                        <a:buNone/>
                      </a:pPr>
                      <a:r>
                        <a:rPr lang="en-US" sz="1100" dirty="0">
                          <a:solidFill>
                            <a:srgbClr val="2B2B2B"/>
                          </a:solidFill>
                          <a:latin typeface="Meiryo UI" pitchFamily="34" charset="0"/>
                          <a:ea typeface="Meiryo UI" pitchFamily="34" charset="-122"/>
                          <a:cs typeface="Meiryo UI" pitchFamily="34" charset="-120"/>
                        </a:rPr>
                        <a:t>スコア方式とAI単独方式で、選定結果の妥当性と安定性を比較</a:t>
                      </a:r>
                      <a:endParaRPr lang="en-US" sz="11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ctr" indent="0" marL="0">
                        <a:buNone/>
                      </a:pPr>
                      <a:r>
                        <a:rPr lang="en-US" sz="1100" dirty="0">
                          <a:solidFill>
                            <a:srgbClr val="2B2B2B"/>
                          </a:solidFill>
                          <a:latin typeface="Meiryo UI" pitchFamily="34" charset="0"/>
                          <a:ea typeface="Meiryo UI" pitchFamily="34" charset="-122"/>
                          <a:cs typeface="Meiryo UI" pitchFamily="34" charset="-120"/>
                        </a:rPr>
                        <a:t>全パターン</a:t>
                      </a:r>
                      <a:endParaRPr lang="en-US" sz="11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r>
              <a:tr h="530352">
                <a:tc>
                  <a:txBody>
                    <a:bodyPr/>
                    <a:lstStyle/>
                    <a:p>
                      <a:pPr algn="ctr" indent="0" marL="0">
                        <a:buNone/>
                      </a:pPr>
                      <a:r>
                        <a:rPr lang="en-US" sz="1100" b="1" dirty="0">
                          <a:solidFill>
                            <a:srgbClr val="0E9F9A"/>
                          </a:solidFill>
                          <a:latin typeface="Meiryo UI" pitchFamily="34" charset="0"/>
                          <a:ea typeface="Meiryo UI" pitchFamily="34" charset="-122"/>
                          <a:cs typeface="Meiryo UI" pitchFamily="34" charset="-120"/>
                        </a:rPr>
                        <a:t>V3</a:t>
                      </a:r>
                      <a:endParaRPr lang="en-US" sz="11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l" indent="0" marL="0">
                        <a:buNone/>
                      </a:pPr>
                      <a:r>
                        <a:rPr lang="en-US" sz="1100" b="1" dirty="0">
                          <a:solidFill>
                            <a:srgbClr val="2B2B2B"/>
                          </a:solidFill>
                          <a:latin typeface="Meiryo UI" pitchFamily="34" charset="0"/>
                          <a:ea typeface="Meiryo UI" pitchFamily="34" charset="-122"/>
                          <a:cs typeface="Meiryo UI" pitchFamily="34" charset="-120"/>
                        </a:rPr>
                        <a:t>加工済みデータの渡し方</a:t>
                      </a:r>
                      <a:endParaRPr lang="en-US" sz="11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B2B2B"/>
                          </a:solidFill>
                          <a:latin typeface="Meiryo UI" pitchFamily="34" charset="0"/>
                          <a:ea typeface="Meiryo UI" pitchFamily="34" charset="-122"/>
                          <a:cs typeface="Meiryo UI" pitchFamily="34" charset="-120"/>
                        </a:rPr>
                        <a:t>加工済みデータをプロンプトに直接渡す方式と、ナレッジ検索に任せる方式で精度を比較</a:t>
                      </a:r>
                      <a:endParaRPr lang="en-US" sz="11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B2B2B"/>
                          </a:solidFill>
                          <a:latin typeface="Meiryo UI" pitchFamily="34" charset="0"/>
                          <a:ea typeface="Meiryo UI" pitchFamily="34" charset="-122"/>
                          <a:cs typeface="Meiryo UI" pitchFamily="34" charset="-120"/>
                        </a:rPr>
                        <a:t>全パターン</a:t>
                      </a:r>
                      <a:endParaRPr lang="en-US" sz="11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493776">
                <a:tc>
                  <a:txBody>
                    <a:bodyPr/>
                    <a:lstStyle/>
                    <a:p>
                      <a:pPr algn="ctr" indent="0" marL="0">
                        <a:buNone/>
                      </a:pPr>
                      <a:r>
                        <a:rPr lang="en-US" sz="1100" b="1" dirty="0">
                          <a:solidFill>
                            <a:srgbClr val="0E9F9A"/>
                          </a:solidFill>
                          <a:latin typeface="Meiryo UI" pitchFamily="34" charset="0"/>
                          <a:ea typeface="Meiryo UI" pitchFamily="34" charset="-122"/>
                          <a:cs typeface="Meiryo UI" pitchFamily="34" charset="-120"/>
                        </a:rPr>
                        <a:t>V4</a:t>
                      </a:r>
                      <a:endParaRPr lang="en-US" sz="11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l" indent="0" marL="0">
                        <a:buNone/>
                      </a:pPr>
                      <a:r>
                        <a:rPr lang="en-US" sz="1100" b="1" dirty="0">
                          <a:solidFill>
                            <a:srgbClr val="2B2B2B"/>
                          </a:solidFill>
                          <a:latin typeface="Meiryo UI" pitchFamily="34" charset="0"/>
                          <a:ea typeface="Meiryo UI" pitchFamily="34" charset="-122"/>
                          <a:cs typeface="Meiryo UI" pitchFamily="34" charset="-120"/>
                        </a:rPr>
                        <a:t>データの受け渡し</a:t>
                      </a:r>
                      <a:endParaRPr lang="en-US" sz="11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l" indent="0" marL="0">
                        <a:buNone/>
                      </a:pPr>
                      <a:r>
                        <a:rPr lang="en-US" sz="1100" dirty="0">
                          <a:solidFill>
                            <a:srgbClr val="2B2B2B"/>
                          </a:solidFill>
                          <a:latin typeface="Meiryo UI" pitchFamily="34" charset="0"/>
                          <a:ea typeface="Meiryo UI" pitchFamily="34" charset="-122"/>
                          <a:cs typeface="Meiryo UI" pitchFamily="34" charset="-120"/>
                        </a:rPr>
                        <a:t>GCP→M365の転送と、SharePoint→GCP（同期／Gemini Enterpriseのフェデレーション検索）を試す</a:t>
                      </a:r>
                      <a:endParaRPr lang="en-US" sz="11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ctr" indent="0" marL="0">
                        <a:buNone/>
                      </a:pPr>
                      <a:r>
                        <a:rPr lang="en-US" sz="1100" dirty="0">
                          <a:solidFill>
                            <a:srgbClr val="2B2B2B"/>
                          </a:solidFill>
                          <a:latin typeface="Meiryo UI" pitchFamily="34" charset="0"/>
                          <a:ea typeface="Meiryo UI" pitchFamily="34" charset="-122"/>
                          <a:cs typeface="Meiryo UI" pitchFamily="34" charset="-120"/>
                        </a:rPr>
                        <a:t>軸1</a:t>
                      </a:r>
                      <a:endParaRPr lang="en-US" sz="11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r>
              <a:tr h="493776">
                <a:tc>
                  <a:txBody>
                    <a:bodyPr/>
                    <a:lstStyle/>
                    <a:p>
                      <a:pPr algn="ctr" indent="0" marL="0">
                        <a:buNone/>
                      </a:pPr>
                      <a:r>
                        <a:rPr lang="en-US" sz="1100" b="1" dirty="0">
                          <a:solidFill>
                            <a:srgbClr val="0E9F9A"/>
                          </a:solidFill>
                          <a:latin typeface="Meiryo UI" pitchFamily="34" charset="0"/>
                          <a:ea typeface="Meiryo UI" pitchFamily="34" charset="-122"/>
                          <a:cs typeface="Meiryo UI" pitchFamily="34" charset="-120"/>
                        </a:rPr>
                        <a:t>V5</a:t>
                      </a:r>
                      <a:endParaRPr lang="en-US" sz="11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l" indent="0" marL="0">
                        <a:buNone/>
                      </a:pPr>
                      <a:r>
                        <a:rPr lang="en-US" sz="1100" b="1" dirty="0">
                          <a:solidFill>
                            <a:srgbClr val="2B2B2B"/>
                          </a:solidFill>
                          <a:latin typeface="Meiryo UI" pitchFamily="34" charset="0"/>
                          <a:ea typeface="Meiryo UI" pitchFamily="34" charset="-122"/>
                          <a:cs typeface="Meiryo UI" pitchFamily="34" charset="-120"/>
                        </a:rPr>
                        <a:t>ルールの遵守</a:t>
                      </a:r>
                      <a:endParaRPr lang="en-US" sz="11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B2B2B"/>
                          </a:solidFill>
                          <a:latin typeface="Meiryo UI" pitchFamily="34" charset="0"/>
                          <a:ea typeface="Meiryo UI" pitchFamily="34" charset="-122"/>
                          <a:cs typeface="Meiryo UI" pitchFamily="34" charset="-120"/>
                        </a:rPr>
                        <a:t>NG表現を含むテストケースで、「常に指示に含める」方式とRAG方式を比較</a:t>
                      </a:r>
                      <a:endParaRPr lang="en-US" sz="11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B2B2B"/>
                          </a:solidFill>
                          <a:latin typeface="Meiryo UI" pitchFamily="34" charset="0"/>
                          <a:ea typeface="Meiryo UI" pitchFamily="34" charset="-122"/>
                          <a:cs typeface="Meiryo UI" pitchFamily="34" charset="-120"/>
                        </a:rPr>
                        <a:t>全パターン</a:t>
                      </a:r>
                      <a:endParaRPr lang="en-US" sz="11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493776">
                <a:tc>
                  <a:txBody>
                    <a:bodyPr/>
                    <a:lstStyle/>
                    <a:p>
                      <a:pPr algn="ctr" indent="0" marL="0">
                        <a:buNone/>
                      </a:pPr>
                      <a:r>
                        <a:rPr lang="en-US" sz="1100" b="1" dirty="0">
                          <a:solidFill>
                            <a:srgbClr val="0E9F9A"/>
                          </a:solidFill>
                          <a:latin typeface="Meiryo UI" pitchFamily="34" charset="0"/>
                          <a:ea typeface="Meiryo UI" pitchFamily="34" charset="-122"/>
                          <a:cs typeface="Meiryo UI" pitchFamily="34" charset="-120"/>
                        </a:rPr>
                        <a:t>V6</a:t>
                      </a:r>
                      <a:endParaRPr lang="en-US" sz="11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l" indent="0" marL="0">
                        <a:buNone/>
                      </a:pPr>
                      <a:r>
                        <a:rPr lang="en-US" sz="1100" b="1" dirty="0">
                          <a:solidFill>
                            <a:srgbClr val="2B2B2B"/>
                          </a:solidFill>
                          <a:latin typeface="Meiryo UI" pitchFamily="34" charset="0"/>
                          <a:ea typeface="Meiryo UI" pitchFamily="34" charset="-122"/>
                          <a:cs typeface="Meiryo UI" pitchFamily="34" charset="-120"/>
                        </a:rPr>
                        <a:t>操作性</a:t>
                      </a:r>
                      <a:endParaRPr lang="en-US" sz="11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l" indent="0" marL="0">
                        <a:buNone/>
                      </a:pPr>
                      <a:r>
                        <a:rPr lang="en-US" sz="1100" dirty="0">
                          <a:solidFill>
                            <a:srgbClr val="2B2B2B"/>
                          </a:solidFill>
                          <a:latin typeface="Meiryo UI" pitchFamily="34" charset="0"/>
                          <a:ea typeface="Meiryo UI" pitchFamily="34" charset="-122"/>
                          <a:cs typeface="Meiryo UI" pitchFamily="34" charset="-120"/>
                        </a:rPr>
                        <a:t>Airtable、Listsのカレンダービュー、code apps（TS）の画面モックをマーケターが評価</a:t>
                      </a:r>
                      <a:endParaRPr lang="en-US" sz="11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ctr" indent="0" marL="0">
                        <a:buNone/>
                      </a:pPr>
                      <a:r>
                        <a:rPr lang="en-US" sz="1100" dirty="0">
                          <a:solidFill>
                            <a:srgbClr val="2B2B2B"/>
                          </a:solidFill>
                          <a:latin typeface="Meiryo UI" pitchFamily="34" charset="0"/>
                          <a:ea typeface="Meiryo UI" pitchFamily="34" charset="-122"/>
                          <a:cs typeface="Meiryo UI" pitchFamily="34" charset="-120"/>
                        </a:rPr>
                        <a:t>軸2</a:t>
                      </a:r>
                      <a:endParaRPr lang="en-US" sz="11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r>
              <a:tr h="493776">
                <a:tc>
                  <a:txBody>
                    <a:bodyPr/>
                    <a:lstStyle/>
                    <a:p>
                      <a:pPr algn="ctr" indent="0" marL="0">
                        <a:buNone/>
                      </a:pPr>
                      <a:r>
                        <a:rPr lang="en-US" sz="1100" b="1" dirty="0">
                          <a:solidFill>
                            <a:srgbClr val="0E9F9A"/>
                          </a:solidFill>
                          <a:latin typeface="Meiryo UI" pitchFamily="34" charset="0"/>
                          <a:ea typeface="Meiryo UI" pitchFamily="34" charset="-122"/>
                          <a:cs typeface="Meiryo UI" pitchFamily="34" charset="-120"/>
                        </a:rPr>
                        <a:t>V7</a:t>
                      </a:r>
                      <a:endParaRPr lang="en-US" sz="11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l" indent="0" marL="0">
                        <a:buNone/>
                      </a:pPr>
                      <a:r>
                        <a:rPr lang="en-US" sz="1100" b="1" dirty="0">
                          <a:solidFill>
                            <a:srgbClr val="2B2B2B"/>
                          </a:solidFill>
                          <a:latin typeface="Meiryo UI" pitchFamily="34" charset="0"/>
                          <a:ea typeface="Meiryo UI" pitchFamily="34" charset="-122"/>
                          <a:cs typeface="Meiryo UI" pitchFamily="34" charset="-120"/>
                        </a:rPr>
                        <a:t>Airtable起点の連携</a:t>
                      </a:r>
                      <a:endParaRPr lang="en-US" sz="11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B2B2B"/>
                          </a:solidFill>
                          <a:latin typeface="Meiryo UI" pitchFamily="34" charset="0"/>
                          <a:ea typeface="Meiryo UI" pitchFamily="34" charset="-122"/>
                          <a:cs typeface="Meiryo UI" pitchFamily="34" charset="-120"/>
                        </a:rPr>
                        <a:t>O1（定期確認）とO2（スクリプトでフロー起動）を試作し、所要時間と失敗時の挙動を確認</a:t>
                      </a:r>
                      <a:endParaRPr lang="en-US" sz="11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B2B2B"/>
                          </a:solidFill>
                          <a:latin typeface="Meiryo UI" pitchFamily="34" charset="0"/>
                          <a:ea typeface="Meiryo UI" pitchFamily="34" charset="-122"/>
                          <a:cs typeface="Meiryo UI" pitchFamily="34" charset="-120"/>
                        </a:rPr>
                        <a:t>A4・H1</a:t>
                      </a:r>
                      <a:endParaRPr lang="en-US" sz="11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493776">
                <a:tc>
                  <a:txBody>
                    <a:bodyPr/>
                    <a:lstStyle/>
                    <a:p>
                      <a:pPr algn="ctr" indent="0" marL="0">
                        <a:buNone/>
                      </a:pPr>
                      <a:r>
                        <a:rPr lang="en-US" sz="1100" b="1" dirty="0">
                          <a:solidFill>
                            <a:srgbClr val="0E9F9A"/>
                          </a:solidFill>
                          <a:latin typeface="Meiryo UI" pitchFamily="34" charset="0"/>
                          <a:ea typeface="Meiryo UI" pitchFamily="34" charset="-122"/>
                          <a:cs typeface="Meiryo UI" pitchFamily="34" charset="-120"/>
                        </a:rPr>
                        <a:t>V8</a:t>
                      </a:r>
                      <a:endParaRPr lang="en-US" sz="11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l" indent="0" marL="0">
                        <a:buNone/>
                      </a:pPr>
                      <a:r>
                        <a:rPr lang="en-US" sz="1100" b="1" dirty="0">
                          <a:solidFill>
                            <a:srgbClr val="2B2B2B"/>
                          </a:solidFill>
                          <a:latin typeface="Meiryo UI" pitchFamily="34" charset="0"/>
                          <a:ea typeface="Meiryo UI" pitchFamily="34" charset="-122"/>
                          <a:cs typeface="Meiryo UI" pitchFamily="34" charset="-120"/>
                        </a:rPr>
                        <a:t>Agent Builderのデモ評価</a:t>
                      </a:r>
                      <a:endParaRPr lang="en-US" sz="11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l" indent="0" marL="0">
                        <a:buNone/>
                      </a:pPr>
                      <a:r>
                        <a:rPr lang="en-US" sz="1100" dirty="0">
                          <a:solidFill>
                            <a:srgbClr val="2B2B2B"/>
                          </a:solidFill>
                          <a:latin typeface="Meiryo UI" pitchFamily="34" charset="0"/>
                          <a:ea typeface="Meiryo UI" pitchFamily="34" charset="-122"/>
                          <a:cs typeface="Meiryo UI" pitchFamily="34" charset="-120"/>
                        </a:rPr>
                        <a:t>作成済みのデモを使い、生成品質とナレッジ参照の精度をマーケターと確認</a:t>
                      </a:r>
                      <a:endParaRPr lang="en-US" sz="11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ctr" indent="0" marL="0">
                        <a:buNone/>
                      </a:pPr>
                      <a:r>
                        <a:rPr lang="en-US" sz="1100" dirty="0">
                          <a:solidFill>
                            <a:srgbClr val="2B2B2B"/>
                          </a:solidFill>
                          <a:latin typeface="Meiryo UI" pitchFamily="34" charset="0"/>
                          <a:ea typeface="Meiryo UI" pitchFamily="34" charset="-122"/>
                          <a:cs typeface="Meiryo UI" pitchFamily="34" charset="-120"/>
                        </a:rPr>
                        <a:t>A2</a:t>
                      </a:r>
                      <a:endParaRPr lang="en-US" sz="11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r>
            </a:tbl>
          </a:graphicData>
        </a:graphic>
      </p:graphicFrame>
      <p:pic>
        <p:nvPicPr>
          <p:cNvPr id="7" name="Image 0" descr="preencoded.png">    </p:cNvPr>
          <p:cNvPicPr>
            <a:picLocks noChangeAspect="1"/>
          </p:cNvPicPr>
          <p:nvPr/>
        </p:nvPicPr>
        <p:blipFill>
          <a:blip r:embed="rId1"/>
          <a:stretch>
            <a:fillRect/>
          </a:stretch>
        </p:blipFill>
        <p:spPr>
          <a:xfrm>
            <a:off x="11109960" y="411480"/>
            <a:ext cx="457200" cy="457200"/>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548640"/>
          </a:xfrm>
          <a:prstGeom prst="rect">
            <a:avLst/>
          </a:prstGeom>
          <a:noFill/>
          <a:ln/>
        </p:spPr>
        <p:txBody>
          <a:bodyPr wrap="square" lIns="0" tIns="0" rIns="0" bIns="0" rtlCol="0" anchor="ctr"/>
          <a:lstStyle/>
          <a:p>
            <a:pPr indent="0" marL="0">
              <a:buNone/>
            </a:pPr>
            <a:r>
              <a:rPr lang="en-US" sz="2600" b="1" dirty="0">
                <a:solidFill>
                  <a:srgbClr val="1B2A49"/>
                </a:solidFill>
                <a:latin typeface="Meiryo UI" pitchFamily="34" charset="0"/>
                <a:ea typeface="Meiryo UI" pitchFamily="34" charset="-122"/>
                <a:cs typeface="Meiryo UI" pitchFamily="34" charset="-120"/>
              </a:rPr>
              <a:t>段階的な進め方の例</a:t>
            </a:r>
            <a:endParaRPr lang="en-US" sz="2600" dirty="0"/>
          </a:p>
        </p:txBody>
      </p:sp>
      <p:sp>
        <p:nvSpPr>
          <p:cNvPr id="3" name="Text 1"/>
          <p:cNvSpPr txBox="1"/>
          <p:nvPr/>
        </p:nvSpPr>
        <p:spPr>
          <a:xfrm>
            <a:off x="548640" y="896112"/>
            <a:ext cx="11064240" cy="365760"/>
          </a:xfrm>
          <a:prstGeom prst="rect">
            <a:avLst/>
          </a:prstGeom>
          <a:noFill/>
          <a:ln/>
        </p:spPr>
        <p:txBody>
          <a:bodyPr wrap="square" lIns="0" tIns="0" rIns="0" bIns="0" rtlCol="0" anchor="ctr"/>
          <a:lstStyle/>
          <a:p>
            <a:pPr indent="0" marL="0">
              <a:buNone/>
            </a:pPr>
            <a:r>
              <a:rPr lang="en-US" sz="1400" dirty="0">
                <a:solidFill>
                  <a:srgbClr val="6B7280"/>
                </a:solidFill>
                <a:latin typeface="Meiryo UI" pitchFamily="34" charset="0"/>
                <a:ea typeface="Meiryo UI" pitchFamily="34" charset="-122"/>
                <a:cs typeface="Meiryo UI" pitchFamily="34" charset="-120"/>
              </a:rPr>
              <a:t>どの経路を選んでも、途中で方向を切り替えることもできる</a:t>
            </a:r>
            <a:endParaRPr lang="en-US" sz="1400" dirty="0"/>
          </a:p>
        </p:txBody>
      </p:sp>
      <p:sp>
        <p:nvSpPr>
          <p:cNvPr id="4" name="Text 2"/>
          <p:cNvSpPr txBox="1"/>
          <p:nvPr/>
        </p:nvSpPr>
        <p:spPr>
          <a:xfrm>
            <a:off x="7498080" y="91440"/>
            <a:ext cx="4114800" cy="22860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6. 判断材料</a:t>
            </a:r>
            <a:endParaRPr lang="en-US" sz="900" dirty="0"/>
          </a:p>
        </p:txBody>
      </p:sp>
      <p:sp>
        <p:nvSpPr>
          <p:cNvPr id="5" name="Text 3"/>
          <p:cNvSpPr txBox="1"/>
          <p:nvPr/>
        </p:nvSpPr>
        <p:spPr>
          <a:xfrm>
            <a:off x="11247120" y="6446520"/>
            <a:ext cx="457200" cy="27432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41</a:t>
            </a:r>
            <a:endParaRPr lang="en-US" sz="900" dirty="0"/>
          </a:p>
        </p:txBody>
      </p:sp>
      <p:sp>
        <p:nvSpPr>
          <p:cNvPr id="6" name="Shape 4"/>
          <p:cNvSpPr/>
          <p:nvPr/>
        </p:nvSpPr>
        <p:spPr>
          <a:xfrm>
            <a:off x="548640" y="1463040"/>
            <a:ext cx="11064240" cy="1188720"/>
          </a:xfrm>
          <a:prstGeom prst="roundRect">
            <a:avLst>
              <a:gd name="adj" fmla="val 4615"/>
            </a:avLst>
          </a:prstGeom>
          <a:solidFill>
            <a:srgbClr val="E5F0FA"/>
          </a:solidFill>
          <a:ln/>
        </p:spPr>
      </p:sp>
      <p:sp>
        <p:nvSpPr>
          <p:cNvPr id="7" name="Shape 5"/>
          <p:cNvSpPr/>
          <p:nvPr/>
        </p:nvSpPr>
        <p:spPr>
          <a:xfrm>
            <a:off x="731520" y="1783080"/>
            <a:ext cx="548640" cy="548640"/>
          </a:xfrm>
          <a:prstGeom prst="ellipse">
            <a:avLst/>
          </a:prstGeom>
          <a:solidFill>
            <a:srgbClr val="FFFFFF"/>
          </a:solidFill>
          <a:ln/>
        </p:spPr>
      </p:sp>
      <p:pic>
        <p:nvPicPr>
          <p:cNvPr id="8" name="Image 0" descr="preencoded.png">    </p:cNvPr>
          <p:cNvPicPr>
            <a:picLocks noChangeAspect="1"/>
          </p:cNvPicPr>
          <p:nvPr/>
        </p:nvPicPr>
        <p:blipFill>
          <a:blip r:embed="rId1"/>
          <a:stretch>
            <a:fillRect/>
          </a:stretch>
        </p:blipFill>
        <p:spPr>
          <a:xfrm>
            <a:off x="841248" y="1892808"/>
            <a:ext cx="329184" cy="329184"/>
          </a:xfrm>
          <a:prstGeom prst="rect">
            <a:avLst/>
          </a:prstGeom>
        </p:spPr>
      </p:pic>
      <p:sp>
        <p:nvSpPr>
          <p:cNvPr id="9" name="Text 6"/>
          <p:cNvSpPr txBox="1"/>
          <p:nvPr/>
        </p:nvSpPr>
        <p:spPr>
          <a:xfrm>
            <a:off x="1371600" y="1463040"/>
            <a:ext cx="2286000" cy="1188720"/>
          </a:xfrm>
          <a:prstGeom prst="rect">
            <a:avLst/>
          </a:prstGeom>
          <a:noFill/>
          <a:ln/>
        </p:spPr>
        <p:txBody>
          <a:bodyPr wrap="square" lIns="508" tIns="508" rIns="508" bIns="508" rtlCol="0" anchor="ctr"/>
          <a:lstStyle/>
          <a:p>
            <a:pPr indent="0" marL="0">
              <a:buNone/>
            </a:pPr>
            <a:r>
              <a:rPr lang="en-US" sz="1250" b="1" dirty="0">
                <a:solidFill>
                  <a:srgbClr val="0F6CBD"/>
                </a:solidFill>
                <a:latin typeface="Meiryo UI" pitchFamily="34" charset="0"/>
                <a:ea typeface="Meiryo UI" pitchFamily="34" charset="-122"/>
                <a:cs typeface="Meiryo UI" pitchFamily="34" charset="-120"/>
              </a:rPr>
              <a:t>例1：M365を中心に進める</a:t>
            </a:r>
            <a:endParaRPr lang="en-US" sz="1250" dirty="0"/>
          </a:p>
        </p:txBody>
      </p:sp>
      <p:sp>
        <p:nvSpPr>
          <p:cNvPr id="10" name="Shape 7"/>
          <p:cNvSpPr/>
          <p:nvPr/>
        </p:nvSpPr>
        <p:spPr>
          <a:xfrm>
            <a:off x="3749040" y="1691640"/>
            <a:ext cx="1325880" cy="731520"/>
          </a:xfrm>
          <a:prstGeom prst="roundRect">
            <a:avLst>
              <a:gd name="adj" fmla="val 10000"/>
            </a:avLst>
          </a:prstGeom>
          <a:solidFill>
            <a:srgbClr val="FFFFFF"/>
          </a:solidFill>
          <a:ln/>
          <a:effectLst>
            <a:outerShdw sx="100000" sy="100000" kx="0" ky="0" algn="bl" rotWithShape="0" blurRad="50800" dist="19050" dir="5400000">
              <a:srgbClr val="000000">
                <a:alpha val="12000"/>
              </a:srgbClr>
            </a:outerShdw>
          </a:effectLst>
        </p:spPr>
      </p:sp>
      <p:sp>
        <p:nvSpPr>
          <p:cNvPr id="11" name="Text 8"/>
          <p:cNvSpPr txBox="1"/>
          <p:nvPr/>
        </p:nvSpPr>
        <p:spPr>
          <a:xfrm>
            <a:off x="3749040" y="1719072"/>
            <a:ext cx="1325880" cy="365760"/>
          </a:xfrm>
          <a:prstGeom prst="rect">
            <a:avLst/>
          </a:prstGeom>
          <a:noFill/>
          <a:ln/>
        </p:spPr>
        <p:txBody>
          <a:bodyPr wrap="square" lIns="508" tIns="508" rIns="508" bIns="508" rtlCol="0" anchor="ctr"/>
          <a:lstStyle/>
          <a:p>
            <a:pPr algn="ctr" indent="0" marL="0">
              <a:buNone/>
            </a:pPr>
            <a:r>
              <a:rPr lang="en-US" sz="1400" b="1" dirty="0">
                <a:solidFill>
                  <a:srgbClr val="0F6CBD"/>
                </a:solidFill>
                <a:latin typeface="Meiryo UI" pitchFamily="34" charset="0"/>
                <a:ea typeface="Meiryo UI" pitchFamily="34" charset="-122"/>
                <a:cs typeface="Meiryo UI" pitchFamily="34" charset="-120"/>
              </a:rPr>
              <a:t>A1</a:t>
            </a:r>
            <a:endParaRPr lang="en-US" sz="1400" dirty="0"/>
          </a:p>
        </p:txBody>
      </p:sp>
      <p:sp>
        <p:nvSpPr>
          <p:cNvPr id="12" name="Text 9"/>
          <p:cNvSpPr txBox="1"/>
          <p:nvPr/>
        </p:nvSpPr>
        <p:spPr>
          <a:xfrm>
            <a:off x="3749040" y="2066544"/>
            <a:ext cx="1325880" cy="292608"/>
          </a:xfrm>
          <a:prstGeom prst="rect">
            <a:avLst/>
          </a:prstGeom>
          <a:noFill/>
          <a:ln/>
        </p:spPr>
        <p:txBody>
          <a:bodyPr wrap="square" lIns="508" tIns="508" rIns="508" bIns="508" rtlCol="0" anchor="ctr"/>
          <a:lstStyle/>
          <a:p>
            <a:pPr algn="ctr" indent="0" marL="0">
              <a:buNone/>
            </a:pPr>
            <a:r>
              <a:rPr lang="en-US" sz="850" dirty="0">
                <a:solidFill>
                  <a:srgbClr val="6B7280"/>
                </a:solidFill>
                <a:latin typeface="Meiryo UI" pitchFamily="34" charset="0"/>
                <a:ea typeface="Meiryo UI" pitchFamily="34" charset="-122"/>
                <a:cs typeface="Meiryo UI" pitchFamily="34" charset="-120"/>
              </a:rPr>
              <a:t>手動アシスト</a:t>
            </a:r>
            <a:endParaRPr lang="en-US" sz="850" dirty="0"/>
          </a:p>
        </p:txBody>
      </p:sp>
      <p:sp>
        <p:nvSpPr>
          <p:cNvPr id="13" name="Shape 10"/>
          <p:cNvSpPr/>
          <p:nvPr/>
        </p:nvSpPr>
        <p:spPr>
          <a:xfrm>
            <a:off x="5102352" y="2057400"/>
            <a:ext cx="192024" cy="0"/>
          </a:xfrm>
          <a:prstGeom prst="line">
            <a:avLst/>
          </a:prstGeom>
          <a:noFill/>
          <a:ln w="25400">
            <a:solidFill>
              <a:srgbClr val="0F6CBD"/>
            </a:solidFill>
            <a:prstDash val="solid"/>
            <a:tailEnd type="triangle"/>
          </a:ln>
        </p:spPr>
      </p:sp>
      <p:sp>
        <p:nvSpPr>
          <p:cNvPr id="14" name="Shape 11"/>
          <p:cNvSpPr/>
          <p:nvPr/>
        </p:nvSpPr>
        <p:spPr>
          <a:xfrm>
            <a:off x="5321808" y="1691640"/>
            <a:ext cx="1325880" cy="731520"/>
          </a:xfrm>
          <a:prstGeom prst="roundRect">
            <a:avLst>
              <a:gd name="adj" fmla="val 10000"/>
            </a:avLst>
          </a:prstGeom>
          <a:solidFill>
            <a:srgbClr val="FFFFFF"/>
          </a:solidFill>
          <a:ln/>
          <a:effectLst>
            <a:outerShdw sx="100000" sy="100000" kx="0" ky="0" algn="bl" rotWithShape="0" blurRad="50800" dist="19050" dir="5400000">
              <a:srgbClr val="000000">
                <a:alpha val="12000"/>
              </a:srgbClr>
            </a:outerShdw>
          </a:effectLst>
        </p:spPr>
      </p:sp>
      <p:sp>
        <p:nvSpPr>
          <p:cNvPr id="15" name="Text 12"/>
          <p:cNvSpPr txBox="1"/>
          <p:nvPr/>
        </p:nvSpPr>
        <p:spPr>
          <a:xfrm>
            <a:off x="5321808" y="1719072"/>
            <a:ext cx="1325880" cy="365760"/>
          </a:xfrm>
          <a:prstGeom prst="rect">
            <a:avLst/>
          </a:prstGeom>
          <a:noFill/>
          <a:ln/>
        </p:spPr>
        <p:txBody>
          <a:bodyPr wrap="square" lIns="508" tIns="508" rIns="508" bIns="508" rtlCol="0" anchor="ctr"/>
          <a:lstStyle/>
          <a:p>
            <a:pPr algn="ctr" indent="0" marL="0">
              <a:buNone/>
            </a:pPr>
            <a:r>
              <a:rPr lang="en-US" sz="1400" b="1" dirty="0">
                <a:solidFill>
                  <a:srgbClr val="0F6CBD"/>
                </a:solidFill>
                <a:latin typeface="Meiryo UI" pitchFamily="34" charset="0"/>
                <a:ea typeface="Meiryo UI" pitchFamily="34" charset="-122"/>
                <a:cs typeface="Meiryo UI" pitchFamily="34" charset="-120"/>
              </a:rPr>
              <a:t>A2</a:t>
            </a:r>
            <a:endParaRPr lang="en-US" sz="1400" dirty="0"/>
          </a:p>
        </p:txBody>
      </p:sp>
      <p:sp>
        <p:nvSpPr>
          <p:cNvPr id="16" name="Text 13"/>
          <p:cNvSpPr txBox="1"/>
          <p:nvPr/>
        </p:nvSpPr>
        <p:spPr>
          <a:xfrm>
            <a:off x="5321808" y="2066544"/>
            <a:ext cx="1325880" cy="292608"/>
          </a:xfrm>
          <a:prstGeom prst="rect">
            <a:avLst/>
          </a:prstGeom>
          <a:noFill/>
          <a:ln/>
        </p:spPr>
        <p:txBody>
          <a:bodyPr wrap="square" lIns="508" tIns="508" rIns="508" bIns="508" rtlCol="0" anchor="ctr"/>
          <a:lstStyle/>
          <a:p>
            <a:pPr algn="ctr" indent="0" marL="0">
              <a:buNone/>
            </a:pPr>
            <a:r>
              <a:rPr lang="en-US" sz="850" dirty="0">
                <a:solidFill>
                  <a:srgbClr val="6B7280"/>
                </a:solidFill>
                <a:latin typeface="Meiryo UI" pitchFamily="34" charset="0"/>
                <a:ea typeface="Meiryo UI" pitchFamily="34" charset="-122"/>
                <a:cs typeface="Meiryo UI" pitchFamily="34" charset="-120"/>
              </a:rPr>
              <a:t>Agent Builder</a:t>
            </a:r>
            <a:endParaRPr lang="en-US" sz="850" dirty="0"/>
          </a:p>
        </p:txBody>
      </p:sp>
      <p:sp>
        <p:nvSpPr>
          <p:cNvPr id="17" name="Shape 14"/>
          <p:cNvSpPr/>
          <p:nvPr/>
        </p:nvSpPr>
        <p:spPr>
          <a:xfrm>
            <a:off x="6675120" y="2057400"/>
            <a:ext cx="192024" cy="0"/>
          </a:xfrm>
          <a:prstGeom prst="line">
            <a:avLst/>
          </a:prstGeom>
          <a:noFill/>
          <a:ln w="25400">
            <a:solidFill>
              <a:srgbClr val="0F6CBD"/>
            </a:solidFill>
            <a:prstDash val="solid"/>
            <a:tailEnd type="triangle"/>
          </a:ln>
        </p:spPr>
      </p:sp>
      <p:sp>
        <p:nvSpPr>
          <p:cNvPr id="18" name="Shape 15"/>
          <p:cNvSpPr/>
          <p:nvPr/>
        </p:nvSpPr>
        <p:spPr>
          <a:xfrm>
            <a:off x="6894576" y="1691640"/>
            <a:ext cx="1325880" cy="731520"/>
          </a:xfrm>
          <a:prstGeom prst="roundRect">
            <a:avLst>
              <a:gd name="adj" fmla="val 10000"/>
            </a:avLst>
          </a:prstGeom>
          <a:solidFill>
            <a:srgbClr val="FFFFFF"/>
          </a:solidFill>
          <a:ln/>
          <a:effectLst>
            <a:outerShdw sx="100000" sy="100000" kx="0" ky="0" algn="bl" rotWithShape="0" blurRad="50800" dist="19050" dir="5400000">
              <a:srgbClr val="000000">
                <a:alpha val="12000"/>
              </a:srgbClr>
            </a:outerShdw>
          </a:effectLst>
        </p:spPr>
      </p:sp>
      <p:sp>
        <p:nvSpPr>
          <p:cNvPr id="19" name="Text 16"/>
          <p:cNvSpPr txBox="1"/>
          <p:nvPr/>
        </p:nvSpPr>
        <p:spPr>
          <a:xfrm>
            <a:off x="6894576" y="1719072"/>
            <a:ext cx="1325880" cy="365760"/>
          </a:xfrm>
          <a:prstGeom prst="rect">
            <a:avLst/>
          </a:prstGeom>
          <a:noFill/>
          <a:ln/>
        </p:spPr>
        <p:txBody>
          <a:bodyPr wrap="square" lIns="508" tIns="508" rIns="508" bIns="508" rtlCol="0" anchor="ctr"/>
          <a:lstStyle/>
          <a:p>
            <a:pPr algn="ctr" indent="0" marL="0">
              <a:buNone/>
            </a:pPr>
            <a:r>
              <a:rPr lang="en-US" sz="1400" b="1" dirty="0">
                <a:solidFill>
                  <a:srgbClr val="0F6CBD"/>
                </a:solidFill>
                <a:latin typeface="Meiryo UI" pitchFamily="34" charset="0"/>
                <a:ea typeface="Meiryo UI" pitchFamily="34" charset="-122"/>
                <a:cs typeface="Meiryo UI" pitchFamily="34" charset="-120"/>
              </a:rPr>
              <a:t>A3</a:t>
            </a:r>
            <a:endParaRPr lang="en-US" sz="1400" dirty="0"/>
          </a:p>
        </p:txBody>
      </p:sp>
      <p:sp>
        <p:nvSpPr>
          <p:cNvPr id="20" name="Text 17"/>
          <p:cNvSpPr txBox="1"/>
          <p:nvPr/>
        </p:nvSpPr>
        <p:spPr>
          <a:xfrm>
            <a:off x="6894576" y="2066544"/>
            <a:ext cx="1325880" cy="292608"/>
          </a:xfrm>
          <a:prstGeom prst="rect">
            <a:avLst/>
          </a:prstGeom>
          <a:noFill/>
          <a:ln/>
        </p:spPr>
        <p:txBody>
          <a:bodyPr wrap="square" lIns="508" tIns="508" rIns="508" bIns="508" rtlCol="0" anchor="ctr"/>
          <a:lstStyle/>
          <a:p>
            <a:pPr algn="ctr" indent="0" marL="0">
              <a:buNone/>
            </a:pPr>
            <a:r>
              <a:rPr lang="en-US" sz="850" dirty="0">
                <a:solidFill>
                  <a:srgbClr val="6B7280"/>
                </a:solidFill>
                <a:latin typeface="Meiryo UI" pitchFamily="34" charset="0"/>
                <a:ea typeface="Meiryo UI" pitchFamily="34" charset="-122"/>
                <a:cs typeface="Meiryo UI" pitchFamily="34" charset="-120"/>
              </a:rPr>
              <a:t>Copilot Studio</a:t>
            </a:r>
            <a:endParaRPr lang="en-US" sz="850" dirty="0"/>
          </a:p>
        </p:txBody>
      </p:sp>
      <p:sp>
        <p:nvSpPr>
          <p:cNvPr id="21" name="Shape 18"/>
          <p:cNvSpPr/>
          <p:nvPr/>
        </p:nvSpPr>
        <p:spPr>
          <a:xfrm>
            <a:off x="8247888" y="2057400"/>
            <a:ext cx="192024" cy="0"/>
          </a:xfrm>
          <a:prstGeom prst="line">
            <a:avLst/>
          </a:prstGeom>
          <a:noFill/>
          <a:ln w="25400">
            <a:solidFill>
              <a:srgbClr val="0F6CBD"/>
            </a:solidFill>
            <a:prstDash val="solid"/>
            <a:tailEnd type="triangle"/>
          </a:ln>
        </p:spPr>
      </p:sp>
      <p:sp>
        <p:nvSpPr>
          <p:cNvPr id="22" name="Shape 19"/>
          <p:cNvSpPr/>
          <p:nvPr/>
        </p:nvSpPr>
        <p:spPr>
          <a:xfrm>
            <a:off x="8467344" y="1691640"/>
            <a:ext cx="1325880" cy="731520"/>
          </a:xfrm>
          <a:prstGeom prst="roundRect">
            <a:avLst>
              <a:gd name="adj" fmla="val 10000"/>
            </a:avLst>
          </a:prstGeom>
          <a:solidFill>
            <a:srgbClr val="FFFFFF"/>
          </a:solidFill>
          <a:ln/>
          <a:effectLst>
            <a:outerShdw sx="100000" sy="100000" kx="0" ky="0" algn="bl" rotWithShape="0" blurRad="50800" dist="19050" dir="5400000">
              <a:srgbClr val="000000">
                <a:alpha val="12000"/>
              </a:srgbClr>
            </a:outerShdw>
          </a:effectLst>
        </p:spPr>
      </p:sp>
      <p:sp>
        <p:nvSpPr>
          <p:cNvPr id="23" name="Text 20"/>
          <p:cNvSpPr txBox="1"/>
          <p:nvPr/>
        </p:nvSpPr>
        <p:spPr>
          <a:xfrm>
            <a:off x="8467344" y="1719072"/>
            <a:ext cx="1325880" cy="365760"/>
          </a:xfrm>
          <a:prstGeom prst="rect">
            <a:avLst/>
          </a:prstGeom>
          <a:noFill/>
          <a:ln/>
        </p:spPr>
        <p:txBody>
          <a:bodyPr wrap="square" lIns="508" tIns="508" rIns="508" bIns="508" rtlCol="0" anchor="ctr"/>
          <a:lstStyle/>
          <a:p>
            <a:pPr algn="ctr" indent="0" marL="0">
              <a:buNone/>
            </a:pPr>
            <a:r>
              <a:rPr lang="en-US" sz="1400" b="1" dirty="0">
                <a:solidFill>
                  <a:srgbClr val="0F6CBD"/>
                </a:solidFill>
                <a:latin typeface="Meiryo UI" pitchFamily="34" charset="0"/>
                <a:ea typeface="Meiryo UI" pitchFamily="34" charset="-122"/>
                <a:cs typeface="Meiryo UI" pitchFamily="34" charset="-120"/>
              </a:rPr>
              <a:t>A5</a:t>
            </a:r>
            <a:endParaRPr lang="en-US" sz="1400" dirty="0"/>
          </a:p>
        </p:txBody>
      </p:sp>
      <p:sp>
        <p:nvSpPr>
          <p:cNvPr id="24" name="Text 21"/>
          <p:cNvSpPr txBox="1"/>
          <p:nvPr/>
        </p:nvSpPr>
        <p:spPr>
          <a:xfrm>
            <a:off x="8467344" y="2066544"/>
            <a:ext cx="1325880" cy="292608"/>
          </a:xfrm>
          <a:prstGeom prst="rect">
            <a:avLst/>
          </a:prstGeom>
          <a:noFill/>
          <a:ln/>
        </p:spPr>
        <p:txBody>
          <a:bodyPr wrap="square" lIns="508" tIns="508" rIns="508" bIns="508" rtlCol="0" anchor="ctr"/>
          <a:lstStyle/>
          <a:p>
            <a:pPr algn="ctr" indent="0" marL="0">
              <a:buNone/>
            </a:pPr>
            <a:r>
              <a:rPr lang="en-US" sz="850" dirty="0">
                <a:solidFill>
                  <a:srgbClr val="6B7280"/>
                </a:solidFill>
                <a:latin typeface="Meiryo UI" pitchFamily="34" charset="0"/>
                <a:ea typeface="Meiryo UI" pitchFamily="34" charset="-122"/>
                <a:cs typeface="Meiryo UI" pitchFamily="34" charset="-120"/>
              </a:rPr>
              <a:t>Listsに移行</a:t>
            </a:r>
            <a:endParaRPr lang="en-US" sz="850" dirty="0"/>
          </a:p>
        </p:txBody>
      </p:sp>
      <p:sp>
        <p:nvSpPr>
          <p:cNvPr id="25" name="Shape 22"/>
          <p:cNvSpPr/>
          <p:nvPr/>
        </p:nvSpPr>
        <p:spPr>
          <a:xfrm>
            <a:off x="9820656" y="2057400"/>
            <a:ext cx="192024" cy="0"/>
          </a:xfrm>
          <a:prstGeom prst="line">
            <a:avLst/>
          </a:prstGeom>
          <a:noFill/>
          <a:ln w="25400">
            <a:solidFill>
              <a:srgbClr val="0F6CBD"/>
            </a:solidFill>
            <a:prstDash val="solid"/>
            <a:tailEnd type="triangle"/>
          </a:ln>
        </p:spPr>
      </p:sp>
      <p:sp>
        <p:nvSpPr>
          <p:cNvPr id="26" name="Shape 23"/>
          <p:cNvSpPr/>
          <p:nvPr/>
        </p:nvSpPr>
        <p:spPr>
          <a:xfrm>
            <a:off x="10040112" y="1691640"/>
            <a:ext cx="1325880" cy="731520"/>
          </a:xfrm>
          <a:prstGeom prst="roundRect">
            <a:avLst>
              <a:gd name="adj" fmla="val 10000"/>
            </a:avLst>
          </a:prstGeom>
          <a:solidFill>
            <a:srgbClr val="FFFFFF"/>
          </a:solidFill>
          <a:ln/>
          <a:effectLst>
            <a:outerShdw sx="100000" sy="100000" kx="0" ky="0" algn="bl" rotWithShape="0" blurRad="50800" dist="19050" dir="5400000">
              <a:srgbClr val="000000">
                <a:alpha val="12000"/>
              </a:srgbClr>
            </a:outerShdw>
          </a:effectLst>
        </p:spPr>
      </p:sp>
      <p:sp>
        <p:nvSpPr>
          <p:cNvPr id="27" name="Text 24"/>
          <p:cNvSpPr txBox="1"/>
          <p:nvPr/>
        </p:nvSpPr>
        <p:spPr>
          <a:xfrm>
            <a:off x="10040112" y="1719072"/>
            <a:ext cx="1325880" cy="365760"/>
          </a:xfrm>
          <a:prstGeom prst="rect">
            <a:avLst/>
          </a:prstGeom>
          <a:noFill/>
          <a:ln/>
        </p:spPr>
        <p:txBody>
          <a:bodyPr wrap="square" lIns="508" tIns="508" rIns="508" bIns="508" rtlCol="0" anchor="ctr"/>
          <a:lstStyle/>
          <a:p>
            <a:pPr algn="ctr" indent="0" marL="0">
              <a:buNone/>
            </a:pPr>
            <a:r>
              <a:rPr lang="en-US" sz="1400" b="1" dirty="0">
                <a:solidFill>
                  <a:srgbClr val="0F6CBD"/>
                </a:solidFill>
                <a:latin typeface="Meiryo UI" pitchFamily="34" charset="0"/>
                <a:ea typeface="Meiryo UI" pitchFamily="34" charset="-122"/>
                <a:cs typeface="Meiryo UI" pitchFamily="34" charset="-120"/>
              </a:rPr>
              <a:t>A7</a:t>
            </a:r>
            <a:endParaRPr lang="en-US" sz="1400" dirty="0"/>
          </a:p>
        </p:txBody>
      </p:sp>
      <p:sp>
        <p:nvSpPr>
          <p:cNvPr id="28" name="Text 25"/>
          <p:cNvSpPr txBox="1"/>
          <p:nvPr/>
        </p:nvSpPr>
        <p:spPr>
          <a:xfrm>
            <a:off x="10040112" y="2066544"/>
            <a:ext cx="1325880" cy="292608"/>
          </a:xfrm>
          <a:prstGeom prst="rect">
            <a:avLst/>
          </a:prstGeom>
          <a:noFill/>
          <a:ln/>
        </p:spPr>
        <p:txBody>
          <a:bodyPr wrap="square" lIns="508" tIns="508" rIns="508" bIns="508" rtlCol="0" anchor="ctr"/>
          <a:lstStyle/>
          <a:p>
            <a:pPr algn="ctr" indent="0" marL="0">
              <a:buNone/>
            </a:pPr>
            <a:r>
              <a:rPr lang="en-US" sz="850" dirty="0">
                <a:solidFill>
                  <a:srgbClr val="6B7280"/>
                </a:solidFill>
                <a:latin typeface="Meiryo UI" pitchFamily="34" charset="0"/>
                <a:ea typeface="Meiryo UI" pitchFamily="34" charset="-122"/>
                <a:cs typeface="Meiryo UI" pitchFamily="34" charset="-120"/>
              </a:rPr>
              <a:t>Lists＋code apps</a:t>
            </a:r>
            <a:endParaRPr lang="en-US" sz="850" dirty="0"/>
          </a:p>
        </p:txBody>
      </p:sp>
      <p:sp>
        <p:nvSpPr>
          <p:cNvPr id="29" name="Shape 26"/>
          <p:cNvSpPr/>
          <p:nvPr/>
        </p:nvSpPr>
        <p:spPr>
          <a:xfrm>
            <a:off x="548640" y="2834640"/>
            <a:ext cx="11064240" cy="1188720"/>
          </a:xfrm>
          <a:prstGeom prst="roundRect">
            <a:avLst>
              <a:gd name="adj" fmla="val 4615"/>
            </a:avLst>
          </a:prstGeom>
          <a:solidFill>
            <a:srgbClr val="EEEAF8"/>
          </a:solidFill>
          <a:ln/>
        </p:spPr>
      </p:sp>
      <p:sp>
        <p:nvSpPr>
          <p:cNvPr id="30" name="Shape 27"/>
          <p:cNvSpPr/>
          <p:nvPr/>
        </p:nvSpPr>
        <p:spPr>
          <a:xfrm>
            <a:off x="731520" y="3154680"/>
            <a:ext cx="548640" cy="548640"/>
          </a:xfrm>
          <a:prstGeom prst="ellipse">
            <a:avLst/>
          </a:prstGeom>
          <a:solidFill>
            <a:srgbClr val="FFFFFF"/>
          </a:solidFill>
          <a:ln/>
        </p:spPr>
      </p:sp>
      <p:pic>
        <p:nvPicPr>
          <p:cNvPr id="31" name="Image 1" descr="preencoded.png">    </p:cNvPr>
          <p:cNvPicPr>
            <a:picLocks noChangeAspect="1"/>
          </p:cNvPicPr>
          <p:nvPr/>
        </p:nvPicPr>
        <p:blipFill>
          <a:blip r:embed="rId2"/>
          <a:stretch>
            <a:fillRect/>
          </a:stretch>
        </p:blipFill>
        <p:spPr>
          <a:xfrm>
            <a:off x="841248" y="3264408"/>
            <a:ext cx="329184" cy="329184"/>
          </a:xfrm>
          <a:prstGeom prst="rect">
            <a:avLst/>
          </a:prstGeom>
        </p:spPr>
      </p:pic>
      <p:sp>
        <p:nvSpPr>
          <p:cNvPr id="32" name="Text 28"/>
          <p:cNvSpPr txBox="1"/>
          <p:nvPr/>
        </p:nvSpPr>
        <p:spPr>
          <a:xfrm>
            <a:off x="1371600" y="2834640"/>
            <a:ext cx="2286000" cy="1188720"/>
          </a:xfrm>
          <a:prstGeom prst="rect">
            <a:avLst/>
          </a:prstGeom>
          <a:noFill/>
          <a:ln/>
        </p:spPr>
        <p:txBody>
          <a:bodyPr wrap="square" lIns="508" tIns="508" rIns="508" bIns="508" rtlCol="0" anchor="ctr"/>
          <a:lstStyle/>
          <a:p>
            <a:pPr indent="0" marL="0">
              <a:buNone/>
            </a:pPr>
            <a:r>
              <a:rPr lang="en-US" sz="1250" b="1" dirty="0">
                <a:solidFill>
                  <a:srgbClr val="6B4FBB"/>
                </a:solidFill>
                <a:latin typeface="Meiryo UI" pitchFamily="34" charset="0"/>
                <a:ea typeface="Meiryo UI" pitchFamily="34" charset="-122"/>
                <a:cs typeface="Meiryo UI" pitchFamily="34" charset="-120"/>
              </a:rPr>
              <a:t>例2：ハイブリッドで進める</a:t>
            </a:r>
            <a:endParaRPr lang="en-US" sz="1250" dirty="0"/>
          </a:p>
        </p:txBody>
      </p:sp>
      <p:sp>
        <p:nvSpPr>
          <p:cNvPr id="33" name="Shape 29"/>
          <p:cNvSpPr/>
          <p:nvPr/>
        </p:nvSpPr>
        <p:spPr>
          <a:xfrm>
            <a:off x="3749040" y="3063240"/>
            <a:ext cx="1325880" cy="731520"/>
          </a:xfrm>
          <a:prstGeom prst="roundRect">
            <a:avLst>
              <a:gd name="adj" fmla="val 10000"/>
            </a:avLst>
          </a:prstGeom>
          <a:solidFill>
            <a:srgbClr val="FFFFFF"/>
          </a:solidFill>
          <a:ln/>
          <a:effectLst>
            <a:outerShdw sx="100000" sy="100000" kx="0" ky="0" algn="bl" rotWithShape="0" blurRad="50800" dist="19050" dir="5400000">
              <a:srgbClr val="000000">
                <a:alpha val="12000"/>
              </a:srgbClr>
            </a:outerShdw>
          </a:effectLst>
        </p:spPr>
      </p:sp>
      <p:sp>
        <p:nvSpPr>
          <p:cNvPr id="34" name="Text 30"/>
          <p:cNvSpPr txBox="1"/>
          <p:nvPr/>
        </p:nvSpPr>
        <p:spPr>
          <a:xfrm>
            <a:off x="3749040" y="3090672"/>
            <a:ext cx="1325880" cy="365760"/>
          </a:xfrm>
          <a:prstGeom prst="rect">
            <a:avLst/>
          </a:prstGeom>
          <a:noFill/>
          <a:ln/>
        </p:spPr>
        <p:txBody>
          <a:bodyPr wrap="square" lIns="508" tIns="508" rIns="508" bIns="508" rtlCol="0" anchor="ctr"/>
          <a:lstStyle/>
          <a:p>
            <a:pPr algn="ctr" indent="0" marL="0">
              <a:buNone/>
            </a:pPr>
            <a:r>
              <a:rPr lang="en-US" sz="1400" b="1" dirty="0">
                <a:solidFill>
                  <a:srgbClr val="6B4FBB"/>
                </a:solidFill>
                <a:latin typeface="Meiryo UI" pitchFamily="34" charset="0"/>
                <a:ea typeface="Meiryo UI" pitchFamily="34" charset="-122"/>
                <a:cs typeface="Meiryo UI" pitchFamily="34" charset="-120"/>
              </a:rPr>
              <a:t>A1</a:t>
            </a:r>
            <a:endParaRPr lang="en-US" sz="1400" dirty="0"/>
          </a:p>
        </p:txBody>
      </p:sp>
      <p:sp>
        <p:nvSpPr>
          <p:cNvPr id="35" name="Text 31"/>
          <p:cNvSpPr txBox="1"/>
          <p:nvPr/>
        </p:nvSpPr>
        <p:spPr>
          <a:xfrm>
            <a:off x="3749040" y="3438144"/>
            <a:ext cx="1325880" cy="292608"/>
          </a:xfrm>
          <a:prstGeom prst="rect">
            <a:avLst/>
          </a:prstGeom>
          <a:noFill/>
          <a:ln/>
        </p:spPr>
        <p:txBody>
          <a:bodyPr wrap="square" lIns="508" tIns="508" rIns="508" bIns="508" rtlCol="0" anchor="ctr"/>
          <a:lstStyle/>
          <a:p>
            <a:pPr algn="ctr" indent="0" marL="0">
              <a:buNone/>
            </a:pPr>
            <a:r>
              <a:rPr lang="en-US" sz="850" dirty="0">
                <a:solidFill>
                  <a:srgbClr val="6B7280"/>
                </a:solidFill>
                <a:latin typeface="Meiryo UI" pitchFamily="34" charset="0"/>
                <a:ea typeface="Meiryo UI" pitchFamily="34" charset="-122"/>
                <a:cs typeface="Meiryo UI" pitchFamily="34" charset="-120"/>
              </a:rPr>
              <a:t>手動アシスト</a:t>
            </a:r>
            <a:endParaRPr lang="en-US" sz="850" dirty="0"/>
          </a:p>
        </p:txBody>
      </p:sp>
      <p:sp>
        <p:nvSpPr>
          <p:cNvPr id="36" name="Shape 32"/>
          <p:cNvSpPr/>
          <p:nvPr/>
        </p:nvSpPr>
        <p:spPr>
          <a:xfrm>
            <a:off x="5102352" y="3429000"/>
            <a:ext cx="192024" cy="0"/>
          </a:xfrm>
          <a:prstGeom prst="line">
            <a:avLst/>
          </a:prstGeom>
          <a:noFill/>
          <a:ln w="25400">
            <a:solidFill>
              <a:srgbClr val="6B4FBB"/>
            </a:solidFill>
            <a:prstDash val="solid"/>
            <a:tailEnd type="triangle"/>
          </a:ln>
        </p:spPr>
      </p:sp>
      <p:sp>
        <p:nvSpPr>
          <p:cNvPr id="37" name="Shape 33"/>
          <p:cNvSpPr/>
          <p:nvPr/>
        </p:nvSpPr>
        <p:spPr>
          <a:xfrm>
            <a:off x="5321808" y="3063240"/>
            <a:ext cx="1325880" cy="731520"/>
          </a:xfrm>
          <a:prstGeom prst="roundRect">
            <a:avLst>
              <a:gd name="adj" fmla="val 10000"/>
            </a:avLst>
          </a:prstGeom>
          <a:solidFill>
            <a:srgbClr val="FFFFFF"/>
          </a:solidFill>
          <a:ln/>
          <a:effectLst>
            <a:outerShdw sx="100000" sy="100000" kx="0" ky="0" algn="bl" rotWithShape="0" blurRad="50800" dist="19050" dir="5400000">
              <a:srgbClr val="000000">
                <a:alpha val="12000"/>
              </a:srgbClr>
            </a:outerShdw>
          </a:effectLst>
        </p:spPr>
      </p:sp>
      <p:sp>
        <p:nvSpPr>
          <p:cNvPr id="38" name="Text 34"/>
          <p:cNvSpPr txBox="1"/>
          <p:nvPr/>
        </p:nvSpPr>
        <p:spPr>
          <a:xfrm>
            <a:off x="5321808" y="3090672"/>
            <a:ext cx="1325880" cy="365760"/>
          </a:xfrm>
          <a:prstGeom prst="rect">
            <a:avLst/>
          </a:prstGeom>
          <a:noFill/>
          <a:ln/>
        </p:spPr>
        <p:txBody>
          <a:bodyPr wrap="square" lIns="508" tIns="508" rIns="508" bIns="508" rtlCol="0" anchor="ctr"/>
          <a:lstStyle/>
          <a:p>
            <a:pPr algn="ctr" indent="0" marL="0">
              <a:buNone/>
            </a:pPr>
            <a:r>
              <a:rPr lang="en-US" sz="1400" b="1" dirty="0">
                <a:solidFill>
                  <a:srgbClr val="6B4FBB"/>
                </a:solidFill>
                <a:latin typeface="Meiryo UI" pitchFamily="34" charset="0"/>
                <a:ea typeface="Meiryo UI" pitchFamily="34" charset="-122"/>
                <a:cs typeface="Meiryo UI" pitchFamily="34" charset="-120"/>
              </a:rPr>
              <a:t>A2</a:t>
            </a:r>
            <a:endParaRPr lang="en-US" sz="1400" dirty="0"/>
          </a:p>
        </p:txBody>
      </p:sp>
      <p:sp>
        <p:nvSpPr>
          <p:cNvPr id="39" name="Text 35"/>
          <p:cNvSpPr txBox="1"/>
          <p:nvPr/>
        </p:nvSpPr>
        <p:spPr>
          <a:xfrm>
            <a:off x="5321808" y="3438144"/>
            <a:ext cx="1325880" cy="292608"/>
          </a:xfrm>
          <a:prstGeom prst="rect">
            <a:avLst/>
          </a:prstGeom>
          <a:noFill/>
          <a:ln/>
        </p:spPr>
        <p:txBody>
          <a:bodyPr wrap="square" lIns="508" tIns="508" rIns="508" bIns="508" rtlCol="0" anchor="ctr"/>
          <a:lstStyle/>
          <a:p>
            <a:pPr algn="ctr" indent="0" marL="0">
              <a:buNone/>
            </a:pPr>
            <a:r>
              <a:rPr lang="en-US" sz="850" dirty="0">
                <a:solidFill>
                  <a:srgbClr val="6B7280"/>
                </a:solidFill>
                <a:latin typeface="Meiryo UI" pitchFamily="34" charset="0"/>
                <a:ea typeface="Meiryo UI" pitchFamily="34" charset="-122"/>
                <a:cs typeface="Meiryo UI" pitchFamily="34" charset="-120"/>
              </a:rPr>
              <a:t>Agent Builder</a:t>
            </a:r>
            <a:endParaRPr lang="en-US" sz="850" dirty="0"/>
          </a:p>
        </p:txBody>
      </p:sp>
      <p:sp>
        <p:nvSpPr>
          <p:cNvPr id="40" name="Shape 36"/>
          <p:cNvSpPr/>
          <p:nvPr/>
        </p:nvSpPr>
        <p:spPr>
          <a:xfrm>
            <a:off x="6675120" y="3429000"/>
            <a:ext cx="192024" cy="0"/>
          </a:xfrm>
          <a:prstGeom prst="line">
            <a:avLst/>
          </a:prstGeom>
          <a:noFill/>
          <a:ln w="25400">
            <a:solidFill>
              <a:srgbClr val="6B4FBB"/>
            </a:solidFill>
            <a:prstDash val="solid"/>
            <a:tailEnd type="triangle"/>
          </a:ln>
        </p:spPr>
      </p:sp>
      <p:sp>
        <p:nvSpPr>
          <p:cNvPr id="41" name="Shape 37"/>
          <p:cNvSpPr/>
          <p:nvPr/>
        </p:nvSpPr>
        <p:spPr>
          <a:xfrm>
            <a:off x="6894576" y="3063240"/>
            <a:ext cx="1325880" cy="731520"/>
          </a:xfrm>
          <a:prstGeom prst="roundRect">
            <a:avLst>
              <a:gd name="adj" fmla="val 10000"/>
            </a:avLst>
          </a:prstGeom>
          <a:solidFill>
            <a:srgbClr val="FFFFFF"/>
          </a:solidFill>
          <a:ln/>
          <a:effectLst>
            <a:outerShdw sx="100000" sy="100000" kx="0" ky="0" algn="bl" rotWithShape="0" blurRad="50800" dist="19050" dir="5400000">
              <a:srgbClr val="000000">
                <a:alpha val="12000"/>
              </a:srgbClr>
            </a:outerShdw>
          </a:effectLst>
        </p:spPr>
      </p:sp>
      <p:sp>
        <p:nvSpPr>
          <p:cNvPr id="42" name="Text 38"/>
          <p:cNvSpPr txBox="1"/>
          <p:nvPr/>
        </p:nvSpPr>
        <p:spPr>
          <a:xfrm>
            <a:off x="6894576" y="3090672"/>
            <a:ext cx="1325880" cy="365760"/>
          </a:xfrm>
          <a:prstGeom prst="rect">
            <a:avLst/>
          </a:prstGeom>
          <a:noFill/>
          <a:ln/>
        </p:spPr>
        <p:txBody>
          <a:bodyPr wrap="square" lIns="508" tIns="508" rIns="508" bIns="508" rtlCol="0" anchor="ctr"/>
          <a:lstStyle/>
          <a:p>
            <a:pPr algn="ctr" indent="0" marL="0">
              <a:buNone/>
            </a:pPr>
            <a:r>
              <a:rPr lang="en-US" sz="1400" b="1" dirty="0">
                <a:solidFill>
                  <a:srgbClr val="6B4FBB"/>
                </a:solidFill>
                <a:latin typeface="Meiryo UI" pitchFamily="34" charset="0"/>
                <a:ea typeface="Meiryo UI" pitchFamily="34" charset="-122"/>
                <a:cs typeface="Meiryo UI" pitchFamily="34" charset="-120"/>
              </a:rPr>
              <a:t>H1</a:t>
            </a:r>
            <a:endParaRPr lang="en-US" sz="1400" dirty="0"/>
          </a:p>
        </p:txBody>
      </p:sp>
      <p:sp>
        <p:nvSpPr>
          <p:cNvPr id="43" name="Text 39"/>
          <p:cNvSpPr txBox="1"/>
          <p:nvPr/>
        </p:nvSpPr>
        <p:spPr>
          <a:xfrm>
            <a:off x="6894576" y="3438144"/>
            <a:ext cx="1325880" cy="292608"/>
          </a:xfrm>
          <a:prstGeom prst="rect">
            <a:avLst/>
          </a:prstGeom>
          <a:noFill/>
          <a:ln/>
        </p:spPr>
        <p:txBody>
          <a:bodyPr wrap="square" lIns="508" tIns="508" rIns="508" bIns="508" rtlCol="0" anchor="ctr"/>
          <a:lstStyle/>
          <a:p>
            <a:pPr algn="ctr" indent="0" marL="0">
              <a:buNone/>
            </a:pPr>
            <a:r>
              <a:rPr lang="en-US" sz="850" dirty="0">
                <a:solidFill>
                  <a:srgbClr val="6B7280"/>
                </a:solidFill>
                <a:latin typeface="Meiryo UI" pitchFamily="34" charset="0"/>
                <a:ea typeface="Meiryo UI" pitchFamily="34" charset="-122"/>
                <a:cs typeface="Meiryo UI" pitchFamily="34" charset="-120"/>
              </a:rPr>
              <a:t>Copilot Studio＋API</a:t>
            </a:r>
            <a:endParaRPr lang="en-US" sz="850" dirty="0"/>
          </a:p>
        </p:txBody>
      </p:sp>
      <p:sp>
        <p:nvSpPr>
          <p:cNvPr id="44" name="Shape 40"/>
          <p:cNvSpPr/>
          <p:nvPr/>
        </p:nvSpPr>
        <p:spPr>
          <a:xfrm>
            <a:off x="8247888" y="3429000"/>
            <a:ext cx="192024" cy="0"/>
          </a:xfrm>
          <a:prstGeom prst="line">
            <a:avLst/>
          </a:prstGeom>
          <a:noFill/>
          <a:ln w="25400">
            <a:solidFill>
              <a:srgbClr val="6B4FBB"/>
            </a:solidFill>
            <a:prstDash val="solid"/>
            <a:tailEnd type="triangle"/>
          </a:ln>
        </p:spPr>
      </p:sp>
      <p:sp>
        <p:nvSpPr>
          <p:cNvPr id="45" name="Shape 41"/>
          <p:cNvSpPr/>
          <p:nvPr/>
        </p:nvSpPr>
        <p:spPr>
          <a:xfrm>
            <a:off x="8467344" y="3063240"/>
            <a:ext cx="1325880" cy="731520"/>
          </a:xfrm>
          <a:prstGeom prst="roundRect">
            <a:avLst>
              <a:gd name="adj" fmla="val 10000"/>
            </a:avLst>
          </a:prstGeom>
          <a:solidFill>
            <a:srgbClr val="FFFFFF"/>
          </a:solidFill>
          <a:ln/>
          <a:effectLst>
            <a:outerShdw sx="100000" sy="100000" kx="0" ky="0" algn="bl" rotWithShape="0" blurRad="50800" dist="19050" dir="5400000">
              <a:srgbClr val="000000">
                <a:alpha val="12000"/>
              </a:srgbClr>
            </a:outerShdw>
          </a:effectLst>
        </p:spPr>
      </p:sp>
      <p:sp>
        <p:nvSpPr>
          <p:cNvPr id="46" name="Text 42"/>
          <p:cNvSpPr txBox="1"/>
          <p:nvPr/>
        </p:nvSpPr>
        <p:spPr>
          <a:xfrm>
            <a:off x="8467344" y="3090672"/>
            <a:ext cx="1325880" cy="365760"/>
          </a:xfrm>
          <a:prstGeom prst="rect">
            <a:avLst/>
          </a:prstGeom>
          <a:noFill/>
          <a:ln/>
        </p:spPr>
        <p:txBody>
          <a:bodyPr wrap="square" lIns="508" tIns="508" rIns="508" bIns="508" rtlCol="0" anchor="ctr"/>
          <a:lstStyle/>
          <a:p>
            <a:pPr algn="ctr" indent="0" marL="0">
              <a:buNone/>
            </a:pPr>
            <a:r>
              <a:rPr lang="en-US" sz="1400" b="1" dirty="0">
                <a:solidFill>
                  <a:srgbClr val="6B4FBB"/>
                </a:solidFill>
                <a:latin typeface="Meiryo UI" pitchFamily="34" charset="0"/>
                <a:ea typeface="Meiryo UI" pitchFamily="34" charset="-122"/>
                <a:cs typeface="Meiryo UI" pitchFamily="34" charset="-120"/>
              </a:rPr>
              <a:t>A4/B2</a:t>
            </a:r>
            <a:endParaRPr lang="en-US" sz="1400" dirty="0"/>
          </a:p>
        </p:txBody>
      </p:sp>
      <p:sp>
        <p:nvSpPr>
          <p:cNvPr id="47" name="Text 43"/>
          <p:cNvSpPr txBox="1"/>
          <p:nvPr/>
        </p:nvSpPr>
        <p:spPr>
          <a:xfrm>
            <a:off x="8467344" y="3438144"/>
            <a:ext cx="1325880" cy="292608"/>
          </a:xfrm>
          <a:prstGeom prst="rect">
            <a:avLst/>
          </a:prstGeom>
          <a:noFill/>
          <a:ln/>
        </p:spPr>
        <p:txBody>
          <a:bodyPr wrap="square" lIns="508" tIns="508" rIns="508" bIns="508" rtlCol="0" anchor="ctr"/>
          <a:lstStyle/>
          <a:p>
            <a:pPr algn="ctr" indent="0" marL="0">
              <a:buNone/>
            </a:pPr>
            <a:r>
              <a:rPr lang="en-US" sz="850" dirty="0">
                <a:solidFill>
                  <a:srgbClr val="6B7280"/>
                </a:solidFill>
                <a:latin typeface="Meiryo UI" pitchFamily="34" charset="0"/>
                <a:ea typeface="Meiryo UI" pitchFamily="34" charset="-122"/>
                <a:cs typeface="Meiryo UI" pitchFamily="34" charset="-120"/>
              </a:rPr>
              <a:t>自動起案</a:t>
            </a:r>
            <a:endParaRPr lang="en-US" sz="850" dirty="0"/>
          </a:p>
        </p:txBody>
      </p:sp>
      <p:sp>
        <p:nvSpPr>
          <p:cNvPr id="48" name="Shape 44"/>
          <p:cNvSpPr/>
          <p:nvPr/>
        </p:nvSpPr>
        <p:spPr>
          <a:xfrm>
            <a:off x="548640" y="4206240"/>
            <a:ext cx="11064240" cy="1188720"/>
          </a:xfrm>
          <a:prstGeom prst="roundRect">
            <a:avLst>
              <a:gd name="adj" fmla="val 4615"/>
            </a:avLst>
          </a:prstGeom>
          <a:solidFill>
            <a:srgbClr val="E8F0FE"/>
          </a:solidFill>
          <a:ln/>
        </p:spPr>
      </p:sp>
      <p:sp>
        <p:nvSpPr>
          <p:cNvPr id="49" name="Shape 45"/>
          <p:cNvSpPr/>
          <p:nvPr/>
        </p:nvSpPr>
        <p:spPr>
          <a:xfrm>
            <a:off x="731520" y="4526280"/>
            <a:ext cx="548640" cy="548640"/>
          </a:xfrm>
          <a:prstGeom prst="ellipse">
            <a:avLst/>
          </a:prstGeom>
          <a:solidFill>
            <a:srgbClr val="FFFFFF"/>
          </a:solidFill>
          <a:ln/>
        </p:spPr>
      </p:sp>
      <p:pic>
        <p:nvPicPr>
          <p:cNvPr id="50" name="Image 2" descr="preencoded.png">    </p:cNvPr>
          <p:cNvPicPr>
            <a:picLocks noChangeAspect="1"/>
          </p:cNvPicPr>
          <p:nvPr/>
        </p:nvPicPr>
        <p:blipFill>
          <a:blip r:embed="rId3"/>
          <a:stretch>
            <a:fillRect/>
          </a:stretch>
        </p:blipFill>
        <p:spPr>
          <a:xfrm>
            <a:off x="841248" y="4636008"/>
            <a:ext cx="329184" cy="329184"/>
          </a:xfrm>
          <a:prstGeom prst="rect">
            <a:avLst/>
          </a:prstGeom>
        </p:spPr>
      </p:pic>
      <p:sp>
        <p:nvSpPr>
          <p:cNvPr id="51" name="Text 46"/>
          <p:cNvSpPr txBox="1"/>
          <p:nvPr/>
        </p:nvSpPr>
        <p:spPr>
          <a:xfrm>
            <a:off x="1371600" y="4206240"/>
            <a:ext cx="2286000" cy="1188720"/>
          </a:xfrm>
          <a:prstGeom prst="rect">
            <a:avLst/>
          </a:prstGeom>
          <a:noFill/>
          <a:ln/>
        </p:spPr>
        <p:txBody>
          <a:bodyPr wrap="square" lIns="508" tIns="508" rIns="508" bIns="508" rtlCol="0" anchor="ctr"/>
          <a:lstStyle/>
          <a:p>
            <a:pPr indent="0" marL="0">
              <a:buNone/>
            </a:pPr>
            <a:r>
              <a:rPr lang="en-US" sz="1250" b="1" dirty="0">
                <a:solidFill>
                  <a:srgbClr val="4285F4"/>
                </a:solidFill>
                <a:latin typeface="Meiryo UI" pitchFamily="34" charset="0"/>
                <a:ea typeface="Meiryo UI" pitchFamily="34" charset="-122"/>
                <a:cs typeface="Meiryo UI" pitchFamily="34" charset="-120"/>
              </a:rPr>
              <a:t>例3：GCPを中心に進める</a:t>
            </a:r>
            <a:endParaRPr lang="en-US" sz="1250" dirty="0"/>
          </a:p>
        </p:txBody>
      </p:sp>
      <p:sp>
        <p:nvSpPr>
          <p:cNvPr id="52" name="Shape 47"/>
          <p:cNvSpPr/>
          <p:nvPr/>
        </p:nvSpPr>
        <p:spPr>
          <a:xfrm>
            <a:off x="3749040" y="4434840"/>
            <a:ext cx="1325880" cy="731520"/>
          </a:xfrm>
          <a:prstGeom prst="roundRect">
            <a:avLst>
              <a:gd name="adj" fmla="val 10000"/>
            </a:avLst>
          </a:prstGeom>
          <a:solidFill>
            <a:srgbClr val="FFFFFF"/>
          </a:solidFill>
          <a:ln/>
          <a:effectLst>
            <a:outerShdw sx="100000" sy="100000" kx="0" ky="0" algn="bl" rotWithShape="0" blurRad="50800" dist="19050" dir="5400000">
              <a:srgbClr val="000000">
                <a:alpha val="12000"/>
              </a:srgbClr>
            </a:outerShdw>
          </a:effectLst>
        </p:spPr>
      </p:sp>
      <p:sp>
        <p:nvSpPr>
          <p:cNvPr id="53" name="Text 48"/>
          <p:cNvSpPr txBox="1"/>
          <p:nvPr/>
        </p:nvSpPr>
        <p:spPr>
          <a:xfrm>
            <a:off x="3749040" y="4462272"/>
            <a:ext cx="1325880" cy="365760"/>
          </a:xfrm>
          <a:prstGeom prst="rect">
            <a:avLst/>
          </a:prstGeom>
          <a:noFill/>
          <a:ln/>
        </p:spPr>
        <p:txBody>
          <a:bodyPr wrap="square" lIns="508" tIns="508" rIns="508" bIns="508" rtlCol="0" anchor="ctr"/>
          <a:lstStyle/>
          <a:p>
            <a:pPr algn="ctr" indent="0" marL="0">
              <a:buNone/>
            </a:pPr>
            <a:r>
              <a:rPr lang="en-US" sz="1400" b="1" dirty="0">
                <a:solidFill>
                  <a:srgbClr val="4285F4"/>
                </a:solidFill>
                <a:latin typeface="Meiryo UI" pitchFamily="34" charset="0"/>
                <a:ea typeface="Meiryo UI" pitchFamily="34" charset="-122"/>
                <a:cs typeface="Meiryo UI" pitchFamily="34" charset="-120"/>
              </a:rPr>
              <a:t>A1</a:t>
            </a:r>
            <a:endParaRPr lang="en-US" sz="1400" dirty="0"/>
          </a:p>
        </p:txBody>
      </p:sp>
      <p:sp>
        <p:nvSpPr>
          <p:cNvPr id="54" name="Text 49"/>
          <p:cNvSpPr txBox="1"/>
          <p:nvPr/>
        </p:nvSpPr>
        <p:spPr>
          <a:xfrm>
            <a:off x="3749040" y="4809744"/>
            <a:ext cx="1325880" cy="292608"/>
          </a:xfrm>
          <a:prstGeom prst="rect">
            <a:avLst/>
          </a:prstGeom>
          <a:noFill/>
          <a:ln/>
        </p:spPr>
        <p:txBody>
          <a:bodyPr wrap="square" lIns="508" tIns="508" rIns="508" bIns="508" rtlCol="0" anchor="ctr"/>
          <a:lstStyle/>
          <a:p>
            <a:pPr algn="ctr" indent="0" marL="0">
              <a:buNone/>
            </a:pPr>
            <a:r>
              <a:rPr lang="en-US" sz="850" dirty="0">
                <a:solidFill>
                  <a:srgbClr val="6B7280"/>
                </a:solidFill>
                <a:latin typeface="Meiryo UI" pitchFamily="34" charset="0"/>
                <a:ea typeface="Meiryo UI" pitchFamily="34" charset="-122"/>
                <a:cs typeface="Meiryo UI" pitchFamily="34" charset="-120"/>
              </a:rPr>
              <a:t>手動アシスト</a:t>
            </a:r>
            <a:endParaRPr lang="en-US" sz="850" dirty="0"/>
          </a:p>
        </p:txBody>
      </p:sp>
      <p:sp>
        <p:nvSpPr>
          <p:cNvPr id="55" name="Shape 50"/>
          <p:cNvSpPr/>
          <p:nvPr/>
        </p:nvSpPr>
        <p:spPr>
          <a:xfrm>
            <a:off x="5102352" y="4800600"/>
            <a:ext cx="192024" cy="0"/>
          </a:xfrm>
          <a:prstGeom prst="line">
            <a:avLst/>
          </a:prstGeom>
          <a:noFill/>
          <a:ln w="25400">
            <a:solidFill>
              <a:srgbClr val="4285F4"/>
            </a:solidFill>
            <a:prstDash val="solid"/>
            <a:tailEnd type="triangle"/>
          </a:ln>
        </p:spPr>
      </p:sp>
      <p:sp>
        <p:nvSpPr>
          <p:cNvPr id="56" name="Shape 51"/>
          <p:cNvSpPr/>
          <p:nvPr/>
        </p:nvSpPr>
        <p:spPr>
          <a:xfrm>
            <a:off x="5321808" y="4434840"/>
            <a:ext cx="1325880" cy="731520"/>
          </a:xfrm>
          <a:prstGeom prst="roundRect">
            <a:avLst>
              <a:gd name="adj" fmla="val 10000"/>
            </a:avLst>
          </a:prstGeom>
          <a:solidFill>
            <a:srgbClr val="FFFFFF"/>
          </a:solidFill>
          <a:ln/>
          <a:effectLst>
            <a:outerShdw sx="100000" sy="100000" kx="0" ky="0" algn="bl" rotWithShape="0" blurRad="50800" dist="19050" dir="5400000">
              <a:srgbClr val="000000">
                <a:alpha val="12000"/>
              </a:srgbClr>
            </a:outerShdw>
          </a:effectLst>
        </p:spPr>
      </p:sp>
      <p:sp>
        <p:nvSpPr>
          <p:cNvPr id="57" name="Text 52"/>
          <p:cNvSpPr txBox="1"/>
          <p:nvPr/>
        </p:nvSpPr>
        <p:spPr>
          <a:xfrm>
            <a:off x="5321808" y="4462272"/>
            <a:ext cx="1325880" cy="365760"/>
          </a:xfrm>
          <a:prstGeom prst="rect">
            <a:avLst/>
          </a:prstGeom>
          <a:noFill/>
          <a:ln/>
        </p:spPr>
        <p:txBody>
          <a:bodyPr wrap="square" lIns="508" tIns="508" rIns="508" bIns="508" rtlCol="0" anchor="ctr"/>
          <a:lstStyle/>
          <a:p>
            <a:pPr algn="ctr" indent="0" marL="0">
              <a:buNone/>
            </a:pPr>
            <a:r>
              <a:rPr lang="en-US" sz="1400" b="1" dirty="0">
                <a:solidFill>
                  <a:srgbClr val="4285F4"/>
                </a:solidFill>
                <a:latin typeface="Meiryo UI" pitchFamily="34" charset="0"/>
                <a:ea typeface="Meiryo UI" pitchFamily="34" charset="-122"/>
                <a:cs typeface="Meiryo UI" pitchFamily="34" charset="-120"/>
              </a:rPr>
              <a:t>B1</a:t>
            </a:r>
            <a:endParaRPr lang="en-US" sz="1400" dirty="0"/>
          </a:p>
        </p:txBody>
      </p:sp>
      <p:sp>
        <p:nvSpPr>
          <p:cNvPr id="58" name="Text 53"/>
          <p:cNvSpPr txBox="1"/>
          <p:nvPr/>
        </p:nvSpPr>
        <p:spPr>
          <a:xfrm>
            <a:off x="5321808" y="4809744"/>
            <a:ext cx="1325880" cy="292608"/>
          </a:xfrm>
          <a:prstGeom prst="rect">
            <a:avLst/>
          </a:prstGeom>
          <a:noFill/>
          <a:ln/>
        </p:spPr>
        <p:txBody>
          <a:bodyPr wrap="square" lIns="508" tIns="508" rIns="508" bIns="508" rtlCol="0" anchor="ctr"/>
          <a:lstStyle/>
          <a:p>
            <a:pPr algn="ctr" indent="0" marL="0">
              <a:buNone/>
            </a:pPr>
            <a:r>
              <a:rPr lang="en-US" sz="850" dirty="0">
                <a:solidFill>
                  <a:srgbClr val="6B7280"/>
                </a:solidFill>
                <a:latin typeface="Meiryo UI" pitchFamily="34" charset="0"/>
                <a:ea typeface="Meiryo UI" pitchFamily="34" charset="-122"/>
                <a:cs typeface="Meiryo UI" pitchFamily="34" charset="-120"/>
              </a:rPr>
              <a:t>Gemini Ent.</a:t>
            </a:r>
            <a:endParaRPr lang="en-US" sz="850" dirty="0"/>
          </a:p>
        </p:txBody>
      </p:sp>
      <p:sp>
        <p:nvSpPr>
          <p:cNvPr id="59" name="Shape 54"/>
          <p:cNvSpPr/>
          <p:nvPr/>
        </p:nvSpPr>
        <p:spPr>
          <a:xfrm>
            <a:off x="6675120" y="4800600"/>
            <a:ext cx="192024" cy="0"/>
          </a:xfrm>
          <a:prstGeom prst="line">
            <a:avLst/>
          </a:prstGeom>
          <a:noFill/>
          <a:ln w="25400">
            <a:solidFill>
              <a:srgbClr val="4285F4"/>
            </a:solidFill>
            <a:prstDash val="solid"/>
            <a:tailEnd type="triangle"/>
          </a:ln>
        </p:spPr>
      </p:sp>
      <p:sp>
        <p:nvSpPr>
          <p:cNvPr id="60" name="Shape 55"/>
          <p:cNvSpPr/>
          <p:nvPr/>
        </p:nvSpPr>
        <p:spPr>
          <a:xfrm>
            <a:off x="6894576" y="4434840"/>
            <a:ext cx="1325880" cy="731520"/>
          </a:xfrm>
          <a:prstGeom prst="roundRect">
            <a:avLst>
              <a:gd name="adj" fmla="val 10000"/>
            </a:avLst>
          </a:prstGeom>
          <a:solidFill>
            <a:srgbClr val="FFFFFF"/>
          </a:solidFill>
          <a:ln/>
          <a:effectLst>
            <a:outerShdw sx="100000" sy="100000" kx="0" ky="0" algn="bl" rotWithShape="0" blurRad="50800" dist="19050" dir="5400000">
              <a:srgbClr val="000000">
                <a:alpha val="12000"/>
              </a:srgbClr>
            </a:outerShdw>
          </a:effectLst>
        </p:spPr>
      </p:sp>
      <p:sp>
        <p:nvSpPr>
          <p:cNvPr id="61" name="Text 56"/>
          <p:cNvSpPr txBox="1"/>
          <p:nvPr/>
        </p:nvSpPr>
        <p:spPr>
          <a:xfrm>
            <a:off x="6894576" y="4462272"/>
            <a:ext cx="1325880" cy="365760"/>
          </a:xfrm>
          <a:prstGeom prst="rect">
            <a:avLst/>
          </a:prstGeom>
          <a:noFill/>
          <a:ln/>
        </p:spPr>
        <p:txBody>
          <a:bodyPr wrap="square" lIns="508" tIns="508" rIns="508" bIns="508" rtlCol="0" anchor="ctr"/>
          <a:lstStyle/>
          <a:p>
            <a:pPr algn="ctr" indent="0" marL="0">
              <a:buNone/>
            </a:pPr>
            <a:r>
              <a:rPr lang="en-US" sz="1400" b="1" dirty="0">
                <a:solidFill>
                  <a:srgbClr val="4285F4"/>
                </a:solidFill>
                <a:latin typeface="Meiryo UI" pitchFamily="34" charset="0"/>
                <a:ea typeface="Meiryo UI" pitchFamily="34" charset="-122"/>
                <a:cs typeface="Meiryo UI" pitchFamily="34" charset="-120"/>
              </a:rPr>
              <a:t>B2</a:t>
            </a:r>
            <a:endParaRPr lang="en-US" sz="1400" dirty="0"/>
          </a:p>
        </p:txBody>
      </p:sp>
      <p:sp>
        <p:nvSpPr>
          <p:cNvPr id="62" name="Text 57"/>
          <p:cNvSpPr txBox="1"/>
          <p:nvPr/>
        </p:nvSpPr>
        <p:spPr>
          <a:xfrm>
            <a:off x="6894576" y="4809744"/>
            <a:ext cx="1325880" cy="292608"/>
          </a:xfrm>
          <a:prstGeom prst="rect">
            <a:avLst/>
          </a:prstGeom>
          <a:noFill/>
          <a:ln/>
        </p:spPr>
        <p:txBody>
          <a:bodyPr wrap="square" lIns="508" tIns="508" rIns="508" bIns="508" rtlCol="0" anchor="ctr"/>
          <a:lstStyle/>
          <a:p>
            <a:pPr algn="ctr" indent="0" marL="0">
              <a:buNone/>
            </a:pPr>
            <a:r>
              <a:rPr lang="en-US" sz="850" dirty="0">
                <a:solidFill>
                  <a:srgbClr val="6B7280"/>
                </a:solidFill>
                <a:latin typeface="Meiryo UI" pitchFamily="34" charset="0"/>
                <a:ea typeface="Meiryo UI" pitchFamily="34" charset="-122"/>
                <a:cs typeface="Meiryo UI" pitchFamily="34" charset="-120"/>
              </a:rPr>
              <a:t>自動起案</a:t>
            </a:r>
            <a:endParaRPr lang="en-US" sz="850" dirty="0"/>
          </a:p>
        </p:txBody>
      </p:sp>
      <p:sp>
        <p:nvSpPr>
          <p:cNvPr id="63" name="Shape 58"/>
          <p:cNvSpPr/>
          <p:nvPr/>
        </p:nvSpPr>
        <p:spPr>
          <a:xfrm>
            <a:off x="8247888" y="4800600"/>
            <a:ext cx="192024" cy="0"/>
          </a:xfrm>
          <a:prstGeom prst="line">
            <a:avLst/>
          </a:prstGeom>
          <a:noFill/>
          <a:ln w="25400">
            <a:solidFill>
              <a:srgbClr val="4285F4"/>
            </a:solidFill>
            <a:prstDash val="solid"/>
            <a:tailEnd type="triangle"/>
          </a:ln>
        </p:spPr>
      </p:sp>
      <p:sp>
        <p:nvSpPr>
          <p:cNvPr id="64" name="Shape 59"/>
          <p:cNvSpPr/>
          <p:nvPr/>
        </p:nvSpPr>
        <p:spPr>
          <a:xfrm>
            <a:off x="8467344" y="4434840"/>
            <a:ext cx="1325880" cy="731520"/>
          </a:xfrm>
          <a:prstGeom prst="roundRect">
            <a:avLst>
              <a:gd name="adj" fmla="val 10000"/>
            </a:avLst>
          </a:prstGeom>
          <a:solidFill>
            <a:srgbClr val="FFFFFF"/>
          </a:solidFill>
          <a:ln/>
          <a:effectLst>
            <a:outerShdw sx="100000" sy="100000" kx="0" ky="0" algn="bl" rotWithShape="0" blurRad="50800" dist="19050" dir="5400000">
              <a:srgbClr val="000000">
                <a:alpha val="12000"/>
              </a:srgbClr>
            </a:outerShdw>
          </a:effectLst>
        </p:spPr>
      </p:sp>
      <p:sp>
        <p:nvSpPr>
          <p:cNvPr id="65" name="Text 60"/>
          <p:cNvSpPr txBox="1"/>
          <p:nvPr/>
        </p:nvSpPr>
        <p:spPr>
          <a:xfrm>
            <a:off x="8467344" y="4462272"/>
            <a:ext cx="1325880" cy="365760"/>
          </a:xfrm>
          <a:prstGeom prst="rect">
            <a:avLst/>
          </a:prstGeom>
          <a:noFill/>
          <a:ln/>
        </p:spPr>
        <p:txBody>
          <a:bodyPr wrap="square" lIns="508" tIns="508" rIns="508" bIns="508" rtlCol="0" anchor="ctr"/>
          <a:lstStyle/>
          <a:p>
            <a:pPr algn="ctr" indent="0" marL="0">
              <a:buNone/>
            </a:pPr>
            <a:r>
              <a:rPr lang="en-US" sz="1400" b="1" dirty="0">
                <a:solidFill>
                  <a:srgbClr val="4285F4"/>
                </a:solidFill>
                <a:latin typeface="Meiryo UI" pitchFamily="34" charset="0"/>
                <a:ea typeface="Meiryo UI" pitchFamily="34" charset="-122"/>
                <a:cs typeface="Meiryo UI" pitchFamily="34" charset="-120"/>
              </a:rPr>
              <a:t>B3</a:t>
            </a:r>
            <a:endParaRPr lang="en-US" sz="1400" dirty="0"/>
          </a:p>
        </p:txBody>
      </p:sp>
      <p:sp>
        <p:nvSpPr>
          <p:cNvPr id="66" name="Text 61"/>
          <p:cNvSpPr txBox="1"/>
          <p:nvPr/>
        </p:nvSpPr>
        <p:spPr>
          <a:xfrm>
            <a:off x="8467344" y="4809744"/>
            <a:ext cx="1325880" cy="292608"/>
          </a:xfrm>
          <a:prstGeom prst="rect">
            <a:avLst/>
          </a:prstGeom>
          <a:noFill/>
          <a:ln/>
        </p:spPr>
        <p:txBody>
          <a:bodyPr wrap="square" lIns="508" tIns="508" rIns="508" bIns="508" rtlCol="0" anchor="ctr"/>
          <a:lstStyle/>
          <a:p>
            <a:pPr algn="ctr" indent="0" marL="0">
              <a:buNone/>
            </a:pPr>
            <a:r>
              <a:rPr lang="en-US" sz="850" dirty="0">
                <a:solidFill>
                  <a:srgbClr val="6B7280"/>
                </a:solidFill>
                <a:latin typeface="Meiryo UI" pitchFamily="34" charset="0"/>
                <a:ea typeface="Meiryo UI" pitchFamily="34" charset="-122"/>
                <a:cs typeface="Meiryo UI" pitchFamily="34" charset="-120"/>
              </a:rPr>
              <a:t>スクラッチ</a:t>
            </a:r>
            <a:endParaRPr lang="en-US" sz="850" dirty="0"/>
          </a:p>
        </p:txBody>
      </p:sp>
      <p:sp>
        <p:nvSpPr>
          <p:cNvPr id="67" name="Shape 62"/>
          <p:cNvSpPr/>
          <p:nvPr/>
        </p:nvSpPr>
        <p:spPr>
          <a:xfrm>
            <a:off x="548640" y="5669280"/>
            <a:ext cx="11064240" cy="658368"/>
          </a:xfrm>
          <a:prstGeom prst="roundRect">
            <a:avLst>
              <a:gd name="adj" fmla="val 8333"/>
            </a:avLst>
          </a:prstGeom>
          <a:solidFill>
            <a:srgbClr val="F3F5F8"/>
          </a:solidFill>
          <a:ln/>
        </p:spPr>
      </p:sp>
      <p:sp>
        <p:nvSpPr>
          <p:cNvPr id="68" name="Shape 63"/>
          <p:cNvSpPr/>
          <p:nvPr/>
        </p:nvSpPr>
        <p:spPr>
          <a:xfrm>
            <a:off x="685800" y="5751576"/>
            <a:ext cx="493776" cy="493776"/>
          </a:xfrm>
          <a:prstGeom prst="ellipse">
            <a:avLst/>
          </a:prstGeom>
          <a:solidFill>
            <a:srgbClr val="FFFFFF"/>
          </a:solidFill>
          <a:ln/>
        </p:spPr>
      </p:sp>
      <p:pic>
        <p:nvPicPr>
          <p:cNvPr id="69" name="Image 3" descr="preencoded.png">    </p:cNvPr>
          <p:cNvPicPr>
            <a:picLocks noChangeAspect="1"/>
          </p:cNvPicPr>
          <p:nvPr/>
        </p:nvPicPr>
        <p:blipFill>
          <a:blip r:embed="rId4"/>
          <a:stretch>
            <a:fillRect/>
          </a:stretch>
        </p:blipFill>
        <p:spPr>
          <a:xfrm>
            <a:off x="784555" y="5850331"/>
            <a:ext cx="296266" cy="296266"/>
          </a:xfrm>
          <a:prstGeom prst="rect">
            <a:avLst/>
          </a:prstGeom>
        </p:spPr>
      </p:pic>
      <p:sp>
        <p:nvSpPr>
          <p:cNvPr id="70" name="Text 64"/>
          <p:cNvSpPr txBox="1"/>
          <p:nvPr/>
        </p:nvSpPr>
        <p:spPr>
          <a:xfrm>
            <a:off x="1325880" y="5669280"/>
            <a:ext cx="10149840" cy="658368"/>
          </a:xfrm>
          <a:prstGeom prst="rect">
            <a:avLst/>
          </a:prstGeom>
          <a:noFill/>
          <a:ln/>
        </p:spPr>
        <p:txBody>
          <a:bodyPr wrap="square" lIns="508" tIns="508" rIns="508" bIns="508" rtlCol="0" anchor="ctr"/>
          <a:lstStyle/>
          <a:p>
            <a:pPr indent="0" marL="0">
              <a:buNone/>
            </a:pPr>
            <a:r>
              <a:rPr lang="en-US" sz="1200" dirty="0">
                <a:solidFill>
                  <a:srgbClr val="2B2B2B"/>
                </a:solidFill>
                <a:latin typeface="Meiryo UI" pitchFamily="34" charset="0"/>
                <a:ea typeface="Meiryo UI" pitchFamily="34" charset="-122"/>
                <a:cs typeface="Meiryo UI" pitchFamily="34" charset="-120"/>
              </a:rPr>
              <a:t>ガイドラインのMD化・評価基準・プロンプトは、どの経路でも共通に使える。A1・A2（デモ作成済み）はどの経路でも共通の出発点にできる</a:t>
            </a:r>
            <a:endParaRPr lang="en-US" sz="12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548640"/>
          </a:xfrm>
          <a:prstGeom prst="rect">
            <a:avLst/>
          </a:prstGeom>
          <a:noFill/>
          <a:ln/>
        </p:spPr>
        <p:txBody>
          <a:bodyPr wrap="square" lIns="0" tIns="0" rIns="0" bIns="0" rtlCol="0" anchor="ctr"/>
          <a:lstStyle/>
          <a:p>
            <a:pPr indent="0" marL="0">
              <a:buNone/>
            </a:pPr>
            <a:r>
              <a:rPr lang="en-US" sz="2600" b="1" dirty="0">
                <a:solidFill>
                  <a:srgbClr val="1B2A49"/>
                </a:solidFill>
                <a:latin typeface="Meiryo UI" pitchFamily="34" charset="0"/>
                <a:ea typeface="Meiryo UI" pitchFamily="34" charset="-122"/>
                <a:cs typeface="Meiryo UI" pitchFamily="34" charset="-120"/>
              </a:rPr>
              <a:t>参考：用語集</a:t>
            </a:r>
            <a:endParaRPr lang="en-US" sz="2600" dirty="0"/>
          </a:p>
        </p:txBody>
      </p:sp>
      <p:sp>
        <p:nvSpPr>
          <p:cNvPr id="3" name="Text 1"/>
          <p:cNvSpPr txBox="1"/>
          <p:nvPr/>
        </p:nvSpPr>
        <p:spPr>
          <a:xfrm>
            <a:off x="7498080" y="91440"/>
            <a:ext cx="4114800" cy="22860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付録</a:t>
            </a:r>
            <a:endParaRPr lang="en-US" sz="900" dirty="0"/>
          </a:p>
        </p:txBody>
      </p:sp>
      <p:sp>
        <p:nvSpPr>
          <p:cNvPr id="4" name="Text 2"/>
          <p:cNvSpPr txBox="1"/>
          <p:nvPr/>
        </p:nvSpPr>
        <p:spPr>
          <a:xfrm>
            <a:off x="11247120" y="6446520"/>
            <a:ext cx="457200" cy="27432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42</a:t>
            </a:r>
            <a:endParaRPr lang="en-US" sz="900" dirty="0"/>
          </a:p>
        </p:txBody>
      </p:sp>
      <p:sp>
        <p:nvSpPr>
          <p:cNvPr id="5" name="Shape 3"/>
          <p:cNvSpPr/>
          <p:nvPr/>
        </p:nvSpPr>
        <p:spPr>
          <a:xfrm>
            <a:off x="548640" y="1097280"/>
            <a:ext cx="11064240" cy="310896"/>
          </a:xfrm>
          <a:prstGeom prst="roundRect">
            <a:avLst>
              <a:gd name="adj" fmla="val 11765"/>
            </a:avLst>
          </a:prstGeom>
          <a:solidFill>
            <a:srgbClr val="F3F5F8"/>
          </a:solidFill>
          <a:ln/>
        </p:spPr>
      </p:sp>
      <p:pic>
        <p:nvPicPr>
          <p:cNvPr id="6" name="Image 0" descr="preencoded.png">    </p:cNvPr>
          <p:cNvPicPr>
            <a:picLocks noChangeAspect="1"/>
          </p:cNvPicPr>
          <p:nvPr/>
        </p:nvPicPr>
        <p:blipFill>
          <a:blip r:embed="rId1"/>
          <a:stretch>
            <a:fillRect/>
          </a:stretch>
        </p:blipFill>
        <p:spPr>
          <a:xfrm>
            <a:off x="658368" y="1133856"/>
            <a:ext cx="237744" cy="237744"/>
          </a:xfrm>
          <a:prstGeom prst="rect">
            <a:avLst/>
          </a:prstGeom>
        </p:spPr>
      </p:pic>
      <p:sp>
        <p:nvSpPr>
          <p:cNvPr id="7" name="Text 4"/>
          <p:cNvSpPr txBox="1"/>
          <p:nvPr/>
        </p:nvSpPr>
        <p:spPr>
          <a:xfrm>
            <a:off x="1097280" y="1097280"/>
            <a:ext cx="3108960" cy="310896"/>
          </a:xfrm>
          <a:prstGeom prst="rect">
            <a:avLst/>
          </a:prstGeom>
          <a:noFill/>
          <a:ln/>
        </p:spPr>
        <p:txBody>
          <a:bodyPr wrap="square" lIns="508" tIns="508" rIns="508" bIns="508" rtlCol="0" anchor="ctr"/>
          <a:lstStyle/>
          <a:p>
            <a:pPr indent="0" marL="0">
              <a:buNone/>
            </a:pPr>
            <a:r>
              <a:rPr lang="en-US" sz="1050" b="1" dirty="0">
                <a:solidFill>
                  <a:srgbClr val="1B2A49"/>
                </a:solidFill>
                <a:latin typeface="Meiryo UI" pitchFamily="34" charset="0"/>
                <a:ea typeface="Meiryo UI" pitchFamily="34" charset="-122"/>
                <a:cs typeface="Meiryo UI" pitchFamily="34" charset="-120"/>
              </a:rPr>
              <a:t>Agent Builder</a:t>
            </a:r>
            <a:endParaRPr lang="en-US" sz="1050" dirty="0"/>
          </a:p>
        </p:txBody>
      </p:sp>
      <p:sp>
        <p:nvSpPr>
          <p:cNvPr id="8" name="Text 5"/>
          <p:cNvSpPr txBox="1"/>
          <p:nvPr/>
        </p:nvSpPr>
        <p:spPr>
          <a:xfrm>
            <a:off x="4206240" y="1097280"/>
            <a:ext cx="7315200" cy="310896"/>
          </a:xfrm>
          <a:prstGeom prst="rect">
            <a:avLst/>
          </a:prstGeom>
          <a:noFill/>
          <a:ln/>
        </p:spPr>
        <p:txBody>
          <a:bodyPr wrap="square" lIns="508" tIns="508" rIns="508" bIns="508" rtlCol="0" anchor="ctr"/>
          <a:lstStyle/>
          <a:p>
            <a:pPr indent="0" marL="0">
              <a:buNone/>
            </a:pPr>
            <a:r>
              <a:rPr lang="en-US" sz="1000" dirty="0">
                <a:solidFill>
                  <a:srgbClr val="2B2B2B"/>
                </a:solidFill>
                <a:latin typeface="Meiryo UI" pitchFamily="34" charset="0"/>
                <a:ea typeface="Meiryo UI" pitchFamily="34" charset="-122"/>
                <a:cs typeface="Meiryo UI" pitchFamily="34" charset="-120"/>
              </a:rPr>
              <a:t>M365 Copilotに含まれる簡易エージェント作成機能。指示とナレッジを固定したQ&amp;A型のエージェントを作れる</a:t>
            </a:r>
            <a:endParaRPr lang="en-US" sz="1000" dirty="0"/>
          </a:p>
        </p:txBody>
      </p:sp>
      <p:sp>
        <p:nvSpPr>
          <p:cNvPr id="9" name="Shape 6"/>
          <p:cNvSpPr/>
          <p:nvPr/>
        </p:nvSpPr>
        <p:spPr>
          <a:xfrm>
            <a:off x="548640" y="1435608"/>
            <a:ext cx="11064240" cy="310896"/>
          </a:xfrm>
          <a:prstGeom prst="roundRect">
            <a:avLst>
              <a:gd name="adj" fmla="val 11765"/>
            </a:avLst>
          </a:prstGeom>
          <a:solidFill>
            <a:srgbClr val="FFFFFF"/>
          </a:solidFill>
          <a:ln/>
        </p:spPr>
      </p:sp>
      <p:pic>
        <p:nvPicPr>
          <p:cNvPr id="10" name="Image 1" descr="preencoded.png">    </p:cNvPr>
          <p:cNvPicPr>
            <a:picLocks noChangeAspect="1"/>
          </p:cNvPicPr>
          <p:nvPr/>
        </p:nvPicPr>
        <p:blipFill>
          <a:blip r:embed="rId2"/>
          <a:stretch>
            <a:fillRect/>
          </a:stretch>
        </p:blipFill>
        <p:spPr>
          <a:xfrm>
            <a:off x="658368" y="1472184"/>
            <a:ext cx="237744" cy="237744"/>
          </a:xfrm>
          <a:prstGeom prst="rect">
            <a:avLst/>
          </a:prstGeom>
        </p:spPr>
      </p:pic>
      <p:sp>
        <p:nvSpPr>
          <p:cNvPr id="11" name="Text 7"/>
          <p:cNvSpPr txBox="1"/>
          <p:nvPr/>
        </p:nvSpPr>
        <p:spPr>
          <a:xfrm>
            <a:off x="1097280" y="1435608"/>
            <a:ext cx="3108960" cy="310896"/>
          </a:xfrm>
          <a:prstGeom prst="rect">
            <a:avLst/>
          </a:prstGeom>
          <a:noFill/>
          <a:ln/>
        </p:spPr>
        <p:txBody>
          <a:bodyPr wrap="square" lIns="508" tIns="508" rIns="508" bIns="508" rtlCol="0" anchor="ctr"/>
          <a:lstStyle/>
          <a:p>
            <a:pPr indent="0" marL="0">
              <a:buNone/>
            </a:pPr>
            <a:r>
              <a:rPr lang="en-US" sz="1050" b="1" dirty="0">
                <a:solidFill>
                  <a:srgbClr val="1B2A49"/>
                </a:solidFill>
                <a:latin typeface="Meiryo UI" pitchFamily="34" charset="0"/>
                <a:ea typeface="Meiryo UI" pitchFamily="34" charset="-122"/>
                <a:cs typeface="Meiryo UI" pitchFamily="34" charset="-120"/>
              </a:rPr>
              <a:t>Copilot Studio</a:t>
            </a:r>
            <a:endParaRPr lang="en-US" sz="1050" dirty="0"/>
          </a:p>
        </p:txBody>
      </p:sp>
      <p:sp>
        <p:nvSpPr>
          <p:cNvPr id="12" name="Text 8"/>
          <p:cNvSpPr txBox="1"/>
          <p:nvPr/>
        </p:nvSpPr>
        <p:spPr>
          <a:xfrm>
            <a:off x="4206240" y="1435608"/>
            <a:ext cx="7315200" cy="310896"/>
          </a:xfrm>
          <a:prstGeom prst="rect">
            <a:avLst/>
          </a:prstGeom>
          <a:noFill/>
          <a:ln/>
        </p:spPr>
        <p:txBody>
          <a:bodyPr wrap="square" lIns="508" tIns="508" rIns="508" bIns="508" rtlCol="0" anchor="ctr"/>
          <a:lstStyle/>
          <a:p>
            <a:pPr indent="0" marL="0">
              <a:buNone/>
            </a:pPr>
            <a:r>
              <a:rPr lang="en-US" sz="1000" dirty="0">
                <a:solidFill>
                  <a:srgbClr val="2B2B2B"/>
                </a:solidFill>
                <a:latin typeface="Meiryo UI" pitchFamily="34" charset="0"/>
                <a:ea typeface="Meiryo UI" pitchFamily="34" charset="-122"/>
                <a:cs typeface="Meiryo UI" pitchFamily="34" charset="-120"/>
              </a:rPr>
              <a:t>社内データを参照する独自のAIエージェントを、ノーコードで作成・公開できるMicrosoftのツール。アクションやワークフローも扱える</a:t>
            </a:r>
            <a:endParaRPr lang="en-US" sz="1000" dirty="0"/>
          </a:p>
        </p:txBody>
      </p:sp>
      <p:sp>
        <p:nvSpPr>
          <p:cNvPr id="13" name="Shape 9"/>
          <p:cNvSpPr/>
          <p:nvPr/>
        </p:nvSpPr>
        <p:spPr>
          <a:xfrm>
            <a:off x="548640" y="1773936"/>
            <a:ext cx="11064240" cy="310896"/>
          </a:xfrm>
          <a:prstGeom prst="roundRect">
            <a:avLst>
              <a:gd name="adj" fmla="val 11765"/>
            </a:avLst>
          </a:prstGeom>
          <a:solidFill>
            <a:srgbClr val="F3F5F8"/>
          </a:solidFill>
          <a:ln/>
        </p:spPr>
      </p:sp>
      <p:pic>
        <p:nvPicPr>
          <p:cNvPr id="14" name="Image 2" descr="preencoded.png">    </p:cNvPr>
          <p:cNvPicPr>
            <a:picLocks noChangeAspect="1"/>
          </p:cNvPicPr>
          <p:nvPr/>
        </p:nvPicPr>
        <p:blipFill>
          <a:blip r:embed="rId3"/>
          <a:stretch>
            <a:fillRect/>
          </a:stretch>
        </p:blipFill>
        <p:spPr>
          <a:xfrm>
            <a:off x="658368" y="1810512"/>
            <a:ext cx="237744" cy="237744"/>
          </a:xfrm>
          <a:prstGeom prst="rect">
            <a:avLst/>
          </a:prstGeom>
        </p:spPr>
      </p:pic>
      <p:sp>
        <p:nvSpPr>
          <p:cNvPr id="15" name="Text 10"/>
          <p:cNvSpPr txBox="1"/>
          <p:nvPr/>
        </p:nvSpPr>
        <p:spPr>
          <a:xfrm>
            <a:off x="1097280" y="1773936"/>
            <a:ext cx="3108960" cy="310896"/>
          </a:xfrm>
          <a:prstGeom prst="rect">
            <a:avLst/>
          </a:prstGeom>
          <a:noFill/>
          <a:ln/>
        </p:spPr>
        <p:txBody>
          <a:bodyPr wrap="square" lIns="508" tIns="508" rIns="508" bIns="508" rtlCol="0" anchor="ctr"/>
          <a:lstStyle/>
          <a:p>
            <a:pPr indent="0" marL="0">
              <a:buNone/>
            </a:pPr>
            <a:r>
              <a:rPr lang="en-US" sz="1050" b="1" dirty="0">
                <a:solidFill>
                  <a:srgbClr val="1B2A49"/>
                </a:solidFill>
                <a:latin typeface="Meiryo UI" pitchFamily="34" charset="0"/>
                <a:ea typeface="Meiryo UI" pitchFamily="34" charset="-122"/>
                <a:cs typeface="Meiryo UI" pitchFamily="34" charset="-120"/>
              </a:rPr>
              <a:t>Power Automate（Premium）</a:t>
            </a:r>
            <a:endParaRPr lang="en-US" sz="1050" dirty="0"/>
          </a:p>
        </p:txBody>
      </p:sp>
      <p:sp>
        <p:nvSpPr>
          <p:cNvPr id="16" name="Text 11"/>
          <p:cNvSpPr txBox="1"/>
          <p:nvPr/>
        </p:nvSpPr>
        <p:spPr>
          <a:xfrm>
            <a:off x="4206240" y="1773936"/>
            <a:ext cx="7315200" cy="310896"/>
          </a:xfrm>
          <a:prstGeom prst="rect">
            <a:avLst/>
          </a:prstGeom>
          <a:noFill/>
          <a:ln/>
        </p:spPr>
        <p:txBody>
          <a:bodyPr wrap="square" lIns="508" tIns="508" rIns="508" bIns="508" rtlCol="0" anchor="ctr"/>
          <a:lstStyle/>
          <a:p>
            <a:pPr indent="0" marL="0">
              <a:buNone/>
            </a:pPr>
            <a:r>
              <a:rPr lang="en-US" sz="1000" dirty="0">
                <a:solidFill>
                  <a:srgbClr val="2B2B2B"/>
                </a:solidFill>
                <a:latin typeface="Meiryo UI" pitchFamily="34" charset="0"/>
                <a:ea typeface="Meiryo UI" pitchFamily="34" charset="-122"/>
                <a:cs typeface="Meiryo UI" pitchFamily="34" charset="-120"/>
              </a:rPr>
              <a:t>業務の自動化ツール。外部サービスとのHTTP連携などにはPremiumライセンスが必要</a:t>
            </a:r>
            <a:endParaRPr lang="en-US" sz="1000" dirty="0"/>
          </a:p>
        </p:txBody>
      </p:sp>
      <p:sp>
        <p:nvSpPr>
          <p:cNvPr id="17" name="Shape 12"/>
          <p:cNvSpPr/>
          <p:nvPr/>
        </p:nvSpPr>
        <p:spPr>
          <a:xfrm>
            <a:off x="548640" y="2112264"/>
            <a:ext cx="11064240" cy="310896"/>
          </a:xfrm>
          <a:prstGeom prst="roundRect">
            <a:avLst>
              <a:gd name="adj" fmla="val 11765"/>
            </a:avLst>
          </a:prstGeom>
          <a:solidFill>
            <a:srgbClr val="FFFFFF"/>
          </a:solidFill>
          <a:ln/>
        </p:spPr>
      </p:sp>
      <p:pic>
        <p:nvPicPr>
          <p:cNvPr id="18" name="Image 3" descr="preencoded.png">    </p:cNvPr>
          <p:cNvPicPr>
            <a:picLocks noChangeAspect="1"/>
          </p:cNvPicPr>
          <p:nvPr/>
        </p:nvPicPr>
        <p:blipFill>
          <a:blip r:embed="rId4"/>
          <a:stretch>
            <a:fillRect/>
          </a:stretch>
        </p:blipFill>
        <p:spPr>
          <a:xfrm>
            <a:off x="658368" y="2148840"/>
            <a:ext cx="237744" cy="237744"/>
          </a:xfrm>
          <a:prstGeom prst="rect">
            <a:avLst/>
          </a:prstGeom>
        </p:spPr>
      </p:pic>
      <p:sp>
        <p:nvSpPr>
          <p:cNvPr id="19" name="Text 13"/>
          <p:cNvSpPr txBox="1"/>
          <p:nvPr/>
        </p:nvSpPr>
        <p:spPr>
          <a:xfrm>
            <a:off x="1097280" y="2112264"/>
            <a:ext cx="3108960" cy="310896"/>
          </a:xfrm>
          <a:prstGeom prst="rect">
            <a:avLst/>
          </a:prstGeom>
          <a:noFill/>
          <a:ln/>
        </p:spPr>
        <p:txBody>
          <a:bodyPr wrap="square" lIns="508" tIns="508" rIns="508" bIns="508" rtlCol="0" anchor="ctr"/>
          <a:lstStyle/>
          <a:p>
            <a:pPr indent="0" marL="0">
              <a:buNone/>
            </a:pPr>
            <a:r>
              <a:rPr lang="en-US" sz="1050" b="1" dirty="0">
                <a:solidFill>
                  <a:srgbClr val="1B2A49"/>
                </a:solidFill>
                <a:latin typeface="Meiryo UI" pitchFamily="34" charset="0"/>
                <a:ea typeface="Meiryo UI" pitchFamily="34" charset="-122"/>
                <a:cs typeface="Meiryo UI" pitchFamily="34" charset="-120"/>
              </a:rPr>
              <a:t>Dataverse</a:t>
            </a:r>
            <a:endParaRPr lang="en-US" sz="1050" dirty="0"/>
          </a:p>
        </p:txBody>
      </p:sp>
      <p:sp>
        <p:nvSpPr>
          <p:cNvPr id="20" name="Text 14"/>
          <p:cNvSpPr txBox="1"/>
          <p:nvPr/>
        </p:nvSpPr>
        <p:spPr>
          <a:xfrm>
            <a:off x="4206240" y="2112264"/>
            <a:ext cx="7315200" cy="310896"/>
          </a:xfrm>
          <a:prstGeom prst="rect">
            <a:avLst/>
          </a:prstGeom>
          <a:noFill/>
          <a:ln/>
        </p:spPr>
        <p:txBody>
          <a:bodyPr wrap="square" lIns="508" tIns="508" rIns="508" bIns="508" rtlCol="0" anchor="ctr"/>
          <a:lstStyle/>
          <a:p>
            <a:pPr indent="0" marL="0">
              <a:buNone/>
            </a:pPr>
            <a:r>
              <a:rPr lang="en-US" sz="1000" dirty="0">
                <a:solidFill>
                  <a:srgbClr val="2B2B2B"/>
                </a:solidFill>
                <a:latin typeface="Meiryo UI" pitchFamily="34" charset="0"/>
                <a:ea typeface="Meiryo UI" pitchFamily="34" charset="-122"/>
                <a:cs typeface="Meiryo UI" pitchFamily="34" charset="-120"/>
              </a:rPr>
              <a:t>Power Platformの標準データベース。権限管理や他ツールとの連携に優れる</a:t>
            </a:r>
            <a:endParaRPr lang="en-US" sz="1000" dirty="0"/>
          </a:p>
        </p:txBody>
      </p:sp>
      <p:sp>
        <p:nvSpPr>
          <p:cNvPr id="21" name="Shape 15"/>
          <p:cNvSpPr/>
          <p:nvPr/>
        </p:nvSpPr>
        <p:spPr>
          <a:xfrm>
            <a:off x="548640" y="2450592"/>
            <a:ext cx="11064240" cy="310896"/>
          </a:xfrm>
          <a:prstGeom prst="roundRect">
            <a:avLst>
              <a:gd name="adj" fmla="val 11765"/>
            </a:avLst>
          </a:prstGeom>
          <a:solidFill>
            <a:srgbClr val="F3F5F8"/>
          </a:solidFill>
          <a:ln/>
        </p:spPr>
      </p:sp>
      <p:pic>
        <p:nvPicPr>
          <p:cNvPr id="22" name="Image 4" descr="preencoded.png">    </p:cNvPr>
          <p:cNvPicPr>
            <a:picLocks noChangeAspect="1"/>
          </p:cNvPicPr>
          <p:nvPr/>
        </p:nvPicPr>
        <p:blipFill>
          <a:blip r:embed="rId5"/>
          <a:stretch>
            <a:fillRect/>
          </a:stretch>
        </p:blipFill>
        <p:spPr>
          <a:xfrm>
            <a:off x="658368" y="2487168"/>
            <a:ext cx="237744" cy="237744"/>
          </a:xfrm>
          <a:prstGeom prst="rect">
            <a:avLst/>
          </a:prstGeom>
        </p:spPr>
      </p:pic>
      <p:sp>
        <p:nvSpPr>
          <p:cNvPr id="23" name="Text 16"/>
          <p:cNvSpPr txBox="1"/>
          <p:nvPr/>
        </p:nvSpPr>
        <p:spPr>
          <a:xfrm>
            <a:off x="1097280" y="2450592"/>
            <a:ext cx="3108960" cy="310896"/>
          </a:xfrm>
          <a:prstGeom prst="rect">
            <a:avLst/>
          </a:prstGeom>
          <a:noFill/>
          <a:ln/>
        </p:spPr>
        <p:txBody>
          <a:bodyPr wrap="square" lIns="508" tIns="508" rIns="508" bIns="508" rtlCol="0" anchor="ctr"/>
          <a:lstStyle/>
          <a:p>
            <a:pPr indent="0" marL="0">
              <a:buNone/>
            </a:pPr>
            <a:r>
              <a:rPr lang="en-US" sz="1050" b="1" dirty="0">
                <a:solidFill>
                  <a:srgbClr val="1B2A49"/>
                </a:solidFill>
                <a:latin typeface="Meiryo UI" pitchFamily="34" charset="0"/>
                <a:ea typeface="Meiryo UI" pitchFamily="34" charset="-122"/>
                <a:cs typeface="Meiryo UI" pitchFamily="34" charset="-120"/>
              </a:rPr>
              <a:t>AI Builder（プロンプト）</a:t>
            </a:r>
            <a:endParaRPr lang="en-US" sz="1050" dirty="0"/>
          </a:p>
        </p:txBody>
      </p:sp>
      <p:sp>
        <p:nvSpPr>
          <p:cNvPr id="24" name="Text 17"/>
          <p:cNvSpPr txBox="1"/>
          <p:nvPr/>
        </p:nvSpPr>
        <p:spPr>
          <a:xfrm>
            <a:off x="4206240" y="2450592"/>
            <a:ext cx="7315200" cy="310896"/>
          </a:xfrm>
          <a:prstGeom prst="rect">
            <a:avLst/>
          </a:prstGeom>
          <a:noFill/>
          <a:ln/>
        </p:spPr>
        <p:txBody>
          <a:bodyPr wrap="square" lIns="508" tIns="508" rIns="508" bIns="508" rtlCol="0" anchor="ctr"/>
          <a:lstStyle/>
          <a:p>
            <a:pPr indent="0" marL="0">
              <a:buNone/>
            </a:pPr>
            <a:r>
              <a:rPr lang="en-US" sz="1000" dirty="0">
                <a:solidFill>
                  <a:srgbClr val="2B2B2B"/>
                </a:solidFill>
                <a:latin typeface="Meiryo UI" pitchFamily="34" charset="0"/>
                <a:ea typeface="Meiryo UI" pitchFamily="34" charset="-122"/>
                <a:cs typeface="Meiryo UI" pitchFamily="34" charset="-120"/>
              </a:rPr>
              <a:t>Power Automateなどから、定型の指示でAIによる文章生成を呼び出せる機能</a:t>
            </a:r>
            <a:endParaRPr lang="en-US" sz="1000" dirty="0"/>
          </a:p>
        </p:txBody>
      </p:sp>
      <p:sp>
        <p:nvSpPr>
          <p:cNvPr id="25" name="Shape 18"/>
          <p:cNvSpPr/>
          <p:nvPr/>
        </p:nvSpPr>
        <p:spPr>
          <a:xfrm>
            <a:off x="548640" y="2788920"/>
            <a:ext cx="11064240" cy="310896"/>
          </a:xfrm>
          <a:prstGeom prst="roundRect">
            <a:avLst>
              <a:gd name="adj" fmla="val 11765"/>
            </a:avLst>
          </a:prstGeom>
          <a:solidFill>
            <a:srgbClr val="FFFFFF"/>
          </a:solidFill>
          <a:ln/>
        </p:spPr>
      </p:sp>
      <p:pic>
        <p:nvPicPr>
          <p:cNvPr id="26" name="Image 5" descr="preencoded.png">    </p:cNvPr>
          <p:cNvPicPr>
            <a:picLocks noChangeAspect="1"/>
          </p:cNvPicPr>
          <p:nvPr/>
        </p:nvPicPr>
        <p:blipFill>
          <a:blip r:embed="rId6"/>
          <a:stretch>
            <a:fillRect/>
          </a:stretch>
        </p:blipFill>
        <p:spPr>
          <a:xfrm>
            <a:off x="658368" y="2825496"/>
            <a:ext cx="237744" cy="237744"/>
          </a:xfrm>
          <a:prstGeom prst="rect">
            <a:avLst/>
          </a:prstGeom>
        </p:spPr>
      </p:pic>
      <p:sp>
        <p:nvSpPr>
          <p:cNvPr id="27" name="Text 19"/>
          <p:cNvSpPr txBox="1"/>
          <p:nvPr/>
        </p:nvSpPr>
        <p:spPr>
          <a:xfrm>
            <a:off x="1097280" y="2788920"/>
            <a:ext cx="3108960" cy="310896"/>
          </a:xfrm>
          <a:prstGeom prst="rect">
            <a:avLst/>
          </a:prstGeom>
          <a:noFill/>
          <a:ln/>
        </p:spPr>
        <p:txBody>
          <a:bodyPr wrap="square" lIns="508" tIns="508" rIns="508" bIns="508" rtlCol="0" anchor="ctr"/>
          <a:lstStyle/>
          <a:p>
            <a:pPr indent="0" marL="0">
              <a:buNone/>
            </a:pPr>
            <a:r>
              <a:rPr lang="en-US" sz="1050" b="1" dirty="0">
                <a:solidFill>
                  <a:srgbClr val="1B2A49"/>
                </a:solidFill>
                <a:latin typeface="Meiryo UI" pitchFamily="34" charset="0"/>
                <a:ea typeface="Meiryo UI" pitchFamily="34" charset="-122"/>
                <a:cs typeface="Meiryo UI" pitchFamily="34" charset="-120"/>
              </a:rPr>
              <a:t>カスタムコネクタ</a:t>
            </a:r>
            <a:endParaRPr lang="en-US" sz="1050" dirty="0"/>
          </a:p>
        </p:txBody>
      </p:sp>
      <p:sp>
        <p:nvSpPr>
          <p:cNvPr id="28" name="Text 20"/>
          <p:cNvSpPr txBox="1"/>
          <p:nvPr/>
        </p:nvSpPr>
        <p:spPr>
          <a:xfrm>
            <a:off x="4206240" y="2788920"/>
            <a:ext cx="7315200" cy="310896"/>
          </a:xfrm>
          <a:prstGeom prst="rect">
            <a:avLst/>
          </a:prstGeom>
          <a:noFill/>
          <a:ln/>
        </p:spPr>
        <p:txBody>
          <a:bodyPr wrap="square" lIns="508" tIns="508" rIns="508" bIns="508" rtlCol="0" anchor="ctr"/>
          <a:lstStyle/>
          <a:p>
            <a:pPr indent="0" marL="0">
              <a:buNone/>
            </a:pPr>
            <a:r>
              <a:rPr lang="en-US" sz="1000" dirty="0">
                <a:solidFill>
                  <a:srgbClr val="2B2B2B"/>
                </a:solidFill>
                <a:latin typeface="Meiryo UI" pitchFamily="34" charset="0"/>
                <a:ea typeface="Meiryo UI" pitchFamily="34" charset="-122"/>
                <a:cs typeface="Meiryo UI" pitchFamily="34" charset="-120"/>
              </a:rPr>
              <a:t>Power PlatformやCopilot Studioから、独自のAPI（例：Cloud Run）を呼び出すための設定</a:t>
            </a:r>
            <a:endParaRPr lang="en-US" sz="1000" dirty="0"/>
          </a:p>
        </p:txBody>
      </p:sp>
      <p:sp>
        <p:nvSpPr>
          <p:cNvPr id="29" name="Shape 21"/>
          <p:cNvSpPr/>
          <p:nvPr/>
        </p:nvSpPr>
        <p:spPr>
          <a:xfrm>
            <a:off x="548640" y="3127248"/>
            <a:ext cx="11064240" cy="310896"/>
          </a:xfrm>
          <a:prstGeom prst="roundRect">
            <a:avLst>
              <a:gd name="adj" fmla="val 11765"/>
            </a:avLst>
          </a:prstGeom>
          <a:solidFill>
            <a:srgbClr val="F3F5F8"/>
          </a:solidFill>
          <a:ln/>
        </p:spPr>
      </p:sp>
      <p:pic>
        <p:nvPicPr>
          <p:cNvPr id="30" name="Image 6" descr="preencoded.png">    </p:cNvPr>
          <p:cNvPicPr>
            <a:picLocks noChangeAspect="1"/>
          </p:cNvPicPr>
          <p:nvPr/>
        </p:nvPicPr>
        <p:blipFill>
          <a:blip r:embed="rId7"/>
          <a:stretch>
            <a:fillRect/>
          </a:stretch>
        </p:blipFill>
        <p:spPr>
          <a:xfrm>
            <a:off x="658368" y="3163824"/>
            <a:ext cx="237744" cy="237744"/>
          </a:xfrm>
          <a:prstGeom prst="rect">
            <a:avLst/>
          </a:prstGeom>
        </p:spPr>
      </p:pic>
      <p:sp>
        <p:nvSpPr>
          <p:cNvPr id="31" name="Text 22"/>
          <p:cNvSpPr txBox="1"/>
          <p:nvPr/>
        </p:nvSpPr>
        <p:spPr>
          <a:xfrm>
            <a:off x="1097280" y="3127248"/>
            <a:ext cx="3108960" cy="310896"/>
          </a:xfrm>
          <a:prstGeom prst="rect">
            <a:avLst/>
          </a:prstGeom>
          <a:noFill/>
          <a:ln/>
        </p:spPr>
        <p:txBody>
          <a:bodyPr wrap="square" lIns="508" tIns="508" rIns="508" bIns="508" rtlCol="0" anchor="ctr"/>
          <a:lstStyle/>
          <a:p>
            <a:pPr indent="0" marL="0">
              <a:buNone/>
            </a:pPr>
            <a:r>
              <a:rPr lang="en-US" sz="1050" b="1" dirty="0">
                <a:solidFill>
                  <a:srgbClr val="1B2A49"/>
                </a:solidFill>
                <a:latin typeface="Meiryo UI" pitchFamily="34" charset="0"/>
                <a:ea typeface="Meiryo UI" pitchFamily="34" charset="-122"/>
                <a:cs typeface="Meiryo UI" pitchFamily="34" charset="-120"/>
              </a:rPr>
              <a:t>Graph API</a:t>
            </a:r>
            <a:endParaRPr lang="en-US" sz="1050" dirty="0"/>
          </a:p>
        </p:txBody>
      </p:sp>
      <p:sp>
        <p:nvSpPr>
          <p:cNvPr id="32" name="Text 23"/>
          <p:cNvSpPr txBox="1"/>
          <p:nvPr/>
        </p:nvSpPr>
        <p:spPr>
          <a:xfrm>
            <a:off x="4206240" y="3127248"/>
            <a:ext cx="7315200" cy="310896"/>
          </a:xfrm>
          <a:prstGeom prst="rect">
            <a:avLst/>
          </a:prstGeom>
          <a:noFill/>
          <a:ln/>
        </p:spPr>
        <p:txBody>
          <a:bodyPr wrap="square" lIns="508" tIns="508" rIns="508" bIns="508" rtlCol="0" anchor="ctr"/>
          <a:lstStyle/>
          <a:p>
            <a:pPr indent="0" marL="0">
              <a:buNone/>
            </a:pPr>
            <a:r>
              <a:rPr lang="en-US" sz="1000" dirty="0">
                <a:solidFill>
                  <a:srgbClr val="2B2B2B"/>
                </a:solidFill>
                <a:latin typeface="Meiryo UI" pitchFamily="34" charset="0"/>
                <a:ea typeface="Meiryo UI" pitchFamily="34" charset="-122"/>
                <a:cs typeface="Meiryo UI" pitchFamily="34" charset="-120"/>
              </a:rPr>
              <a:t>SharePointなどのM365データに、プログラムからアクセスするための仕組み</a:t>
            </a:r>
            <a:endParaRPr lang="en-US" sz="1000" dirty="0"/>
          </a:p>
        </p:txBody>
      </p:sp>
      <p:sp>
        <p:nvSpPr>
          <p:cNvPr id="33" name="Shape 24"/>
          <p:cNvSpPr/>
          <p:nvPr/>
        </p:nvSpPr>
        <p:spPr>
          <a:xfrm>
            <a:off x="548640" y="3465576"/>
            <a:ext cx="11064240" cy="310896"/>
          </a:xfrm>
          <a:prstGeom prst="roundRect">
            <a:avLst>
              <a:gd name="adj" fmla="val 11765"/>
            </a:avLst>
          </a:prstGeom>
          <a:solidFill>
            <a:srgbClr val="FFFFFF"/>
          </a:solidFill>
          <a:ln/>
        </p:spPr>
      </p:sp>
      <p:pic>
        <p:nvPicPr>
          <p:cNvPr id="34" name="Image 7" descr="preencoded.png">    </p:cNvPr>
          <p:cNvPicPr>
            <a:picLocks noChangeAspect="1"/>
          </p:cNvPicPr>
          <p:nvPr/>
        </p:nvPicPr>
        <p:blipFill>
          <a:blip r:embed="rId8"/>
          <a:stretch>
            <a:fillRect/>
          </a:stretch>
        </p:blipFill>
        <p:spPr>
          <a:xfrm>
            <a:off x="658368" y="3502152"/>
            <a:ext cx="237744" cy="237744"/>
          </a:xfrm>
          <a:prstGeom prst="rect">
            <a:avLst/>
          </a:prstGeom>
        </p:spPr>
      </p:pic>
      <p:sp>
        <p:nvSpPr>
          <p:cNvPr id="35" name="Text 25"/>
          <p:cNvSpPr txBox="1"/>
          <p:nvPr/>
        </p:nvSpPr>
        <p:spPr>
          <a:xfrm>
            <a:off x="1097280" y="3465576"/>
            <a:ext cx="3108960" cy="310896"/>
          </a:xfrm>
          <a:prstGeom prst="rect">
            <a:avLst/>
          </a:prstGeom>
          <a:noFill/>
          <a:ln/>
        </p:spPr>
        <p:txBody>
          <a:bodyPr wrap="square" lIns="508" tIns="508" rIns="508" bIns="508" rtlCol="0" anchor="ctr"/>
          <a:lstStyle/>
          <a:p>
            <a:pPr indent="0" marL="0">
              <a:buNone/>
            </a:pPr>
            <a:r>
              <a:rPr lang="en-US" sz="1050" b="1" dirty="0">
                <a:solidFill>
                  <a:srgbClr val="1B2A49"/>
                </a:solidFill>
                <a:latin typeface="Meiryo UI" pitchFamily="34" charset="0"/>
                <a:ea typeface="Meiryo UI" pitchFamily="34" charset="-122"/>
                <a:cs typeface="Meiryo UI" pitchFamily="34" charset="-120"/>
              </a:rPr>
              <a:t>Gemini Enterprise</a:t>
            </a:r>
            <a:endParaRPr lang="en-US" sz="1050" dirty="0"/>
          </a:p>
        </p:txBody>
      </p:sp>
      <p:sp>
        <p:nvSpPr>
          <p:cNvPr id="36" name="Text 26"/>
          <p:cNvSpPr txBox="1"/>
          <p:nvPr/>
        </p:nvSpPr>
        <p:spPr>
          <a:xfrm>
            <a:off x="4206240" y="3465576"/>
            <a:ext cx="7315200" cy="310896"/>
          </a:xfrm>
          <a:prstGeom prst="rect">
            <a:avLst/>
          </a:prstGeom>
          <a:noFill/>
          <a:ln/>
        </p:spPr>
        <p:txBody>
          <a:bodyPr wrap="square" lIns="508" tIns="508" rIns="508" bIns="508" rtlCol="0" anchor="ctr"/>
          <a:lstStyle/>
          <a:p>
            <a:pPr indent="0" marL="0">
              <a:buNone/>
            </a:pPr>
            <a:r>
              <a:rPr lang="en-US" sz="1000" dirty="0">
                <a:solidFill>
                  <a:srgbClr val="2B2B2B"/>
                </a:solidFill>
                <a:latin typeface="Meiryo UI" pitchFamily="34" charset="0"/>
                <a:ea typeface="Meiryo UI" pitchFamily="34" charset="-122"/>
                <a:cs typeface="Meiryo UI" pitchFamily="34" charset="-120"/>
              </a:rPr>
              <a:t>Googleの企業向けAIアプリ（旧Agentspace）。社内データの検索・分析、エージェントの利用ができる</a:t>
            </a:r>
            <a:endParaRPr lang="en-US" sz="1000" dirty="0"/>
          </a:p>
        </p:txBody>
      </p:sp>
      <p:sp>
        <p:nvSpPr>
          <p:cNvPr id="37" name="Shape 27"/>
          <p:cNvSpPr/>
          <p:nvPr/>
        </p:nvSpPr>
        <p:spPr>
          <a:xfrm>
            <a:off x="548640" y="3803904"/>
            <a:ext cx="11064240" cy="310896"/>
          </a:xfrm>
          <a:prstGeom prst="roundRect">
            <a:avLst>
              <a:gd name="adj" fmla="val 11765"/>
            </a:avLst>
          </a:prstGeom>
          <a:solidFill>
            <a:srgbClr val="F3F5F8"/>
          </a:solidFill>
          <a:ln/>
        </p:spPr>
      </p:sp>
      <p:pic>
        <p:nvPicPr>
          <p:cNvPr id="38" name="Image 8" descr="preencoded.png">    </p:cNvPr>
          <p:cNvPicPr>
            <a:picLocks noChangeAspect="1"/>
          </p:cNvPicPr>
          <p:nvPr/>
        </p:nvPicPr>
        <p:blipFill>
          <a:blip r:embed="rId9"/>
          <a:stretch>
            <a:fillRect/>
          </a:stretch>
        </p:blipFill>
        <p:spPr>
          <a:xfrm>
            <a:off x="658368" y="3840480"/>
            <a:ext cx="237744" cy="237744"/>
          </a:xfrm>
          <a:prstGeom prst="rect">
            <a:avLst/>
          </a:prstGeom>
        </p:spPr>
      </p:pic>
      <p:sp>
        <p:nvSpPr>
          <p:cNvPr id="39" name="Text 28"/>
          <p:cNvSpPr txBox="1"/>
          <p:nvPr/>
        </p:nvSpPr>
        <p:spPr>
          <a:xfrm>
            <a:off x="1097280" y="3803904"/>
            <a:ext cx="3108960" cy="310896"/>
          </a:xfrm>
          <a:prstGeom prst="rect">
            <a:avLst/>
          </a:prstGeom>
          <a:noFill/>
          <a:ln/>
        </p:spPr>
        <p:txBody>
          <a:bodyPr wrap="square" lIns="508" tIns="508" rIns="508" bIns="508" rtlCol="0" anchor="ctr"/>
          <a:lstStyle/>
          <a:p>
            <a:pPr indent="0" marL="0">
              <a:buNone/>
            </a:pPr>
            <a:r>
              <a:rPr lang="en-US" sz="1050" b="1" dirty="0">
                <a:solidFill>
                  <a:srgbClr val="1B2A49"/>
                </a:solidFill>
                <a:latin typeface="Meiryo UI" pitchFamily="34" charset="0"/>
                <a:ea typeface="Meiryo UI" pitchFamily="34" charset="-122"/>
                <a:cs typeface="Meiryo UI" pitchFamily="34" charset="-120"/>
              </a:rPr>
              <a:t>Gemini Enterprise Agent Platform</a:t>
            </a:r>
            <a:endParaRPr lang="en-US" sz="1050" dirty="0"/>
          </a:p>
        </p:txBody>
      </p:sp>
      <p:sp>
        <p:nvSpPr>
          <p:cNvPr id="40" name="Text 29"/>
          <p:cNvSpPr txBox="1"/>
          <p:nvPr/>
        </p:nvSpPr>
        <p:spPr>
          <a:xfrm>
            <a:off x="4206240" y="3803904"/>
            <a:ext cx="7315200" cy="310896"/>
          </a:xfrm>
          <a:prstGeom prst="rect">
            <a:avLst/>
          </a:prstGeom>
          <a:noFill/>
          <a:ln/>
        </p:spPr>
        <p:txBody>
          <a:bodyPr wrap="square" lIns="508" tIns="508" rIns="508" bIns="508" rtlCol="0" anchor="ctr"/>
          <a:lstStyle/>
          <a:p>
            <a:pPr indent="0" marL="0">
              <a:buNone/>
            </a:pPr>
            <a:r>
              <a:rPr lang="en-US" sz="1000" dirty="0">
                <a:solidFill>
                  <a:srgbClr val="2B2B2B"/>
                </a:solidFill>
                <a:latin typeface="Meiryo UI" pitchFamily="34" charset="0"/>
                <a:ea typeface="Meiryo UI" pitchFamily="34" charset="-122"/>
                <a:cs typeface="Meiryo UI" pitchFamily="34" charset="-120"/>
              </a:rPr>
              <a:t>旧Vertex AI（2026年4月に再編）。エージェントの構築・実行・管理と、検索・RAG機能を持つ</a:t>
            </a:r>
            <a:endParaRPr lang="en-US" sz="1000" dirty="0"/>
          </a:p>
        </p:txBody>
      </p:sp>
      <p:sp>
        <p:nvSpPr>
          <p:cNvPr id="41" name="Shape 30"/>
          <p:cNvSpPr/>
          <p:nvPr/>
        </p:nvSpPr>
        <p:spPr>
          <a:xfrm>
            <a:off x="548640" y="4142232"/>
            <a:ext cx="11064240" cy="310896"/>
          </a:xfrm>
          <a:prstGeom prst="roundRect">
            <a:avLst>
              <a:gd name="adj" fmla="val 11765"/>
            </a:avLst>
          </a:prstGeom>
          <a:solidFill>
            <a:srgbClr val="FFFFFF"/>
          </a:solidFill>
          <a:ln/>
        </p:spPr>
      </p:sp>
      <p:pic>
        <p:nvPicPr>
          <p:cNvPr id="42" name="Image 9" descr="preencoded.png">    </p:cNvPr>
          <p:cNvPicPr>
            <a:picLocks noChangeAspect="1"/>
          </p:cNvPicPr>
          <p:nvPr/>
        </p:nvPicPr>
        <p:blipFill>
          <a:blip r:embed="rId10"/>
          <a:stretch>
            <a:fillRect/>
          </a:stretch>
        </p:blipFill>
        <p:spPr>
          <a:xfrm>
            <a:off x="658368" y="4178808"/>
            <a:ext cx="237744" cy="237744"/>
          </a:xfrm>
          <a:prstGeom prst="rect">
            <a:avLst/>
          </a:prstGeom>
        </p:spPr>
      </p:pic>
      <p:sp>
        <p:nvSpPr>
          <p:cNvPr id="43" name="Text 31"/>
          <p:cNvSpPr txBox="1"/>
          <p:nvPr/>
        </p:nvSpPr>
        <p:spPr>
          <a:xfrm>
            <a:off x="1097280" y="4142232"/>
            <a:ext cx="3108960" cy="310896"/>
          </a:xfrm>
          <a:prstGeom prst="rect">
            <a:avLst/>
          </a:prstGeom>
          <a:noFill/>
          <a:ln/>
        </p:spPr>
        <p:txBody>
          <a:bodyPr wrap="square" lIns="508" tIns="508" rIns="508" bIns="508" rtlCol="0" anchor="ctr"/>
          <a:lstStyle/>
          <a:p>
            <a:pPr indent="0" marL="0">
              <a:buNone/>
            </a:pPr>
            <a:r>
              <a:rPr lang="en-US" sz="1050" b="1" dirty="0">
                <a:solidFill>
                  <a:srgbClr val="1B2A49"/>
                </a:solidFill>
                <a:latin typeface="Meiryo UI" pitchFamily="34" charset="0"/>
                <a:ea typeface="Meiryo UI" pitchFamily="34" charset="-122"/>
                <a:cs typeface="Meiryo UI" pitchFamily="34" charset="-120"/>
              </a:rPr>
              <a:t>Microsoft Lists</a:t>
            </a:r>
            <a:endParaRPr lang="en-US" sz="1050" dirty="0"/>
          </a:p>
        </p:txBody>
      </p:sp>
      <p:sp>
        <p:nvSpPr>
          <p:cNvPr id="44" name="Text 32"/>
          <p:cNvSpPr txBox="1"/>
          <p:nvPr/>
        </p:nvSpPr>
        <p:spPr>
          <a:xfrm>
            <a:off x="4206240" y="4142232"/>
            <a:ext cx="7315200" cy="310896"/>
          </a:xfrm>
          <a:prstGeom prst="rect">
            <a:avLst/>
          </a:prstGeom>
          <a:noFill/>
          <a:ln/>
        </p:spPr>
        <p:txBody>
          <a:bodyPr wrap="square" lIns="508" tIns="508" rIns="508" bIns="508" rtlCol="0" anchor="ctr"/>
          <a:lstStyle/>
          <a:p>
            <a:pPr indent="0" marL="0">
              <a:buNone/>
            </a:pPr>
            <a:r>
              <a:rPr lang="en-US" sz="1000" dirty="0">
                <a:solidFill>
                  <a:srgbClr val="2B2B2B"/>
                </a:solidFill>
                <a:latin typeface="Meiryo UI" pitchFamily="34" charset="0"/>
                <a:ea typeface="Meiryo UI" pitchFamily="34" charset="-122"/>
                <a:cs typeface="Meiryo UI" pitchFamily="34" charset="-120"/>
              </a:rPr>
              <a:t>M365標準のリスト機能。カレンダー・ボード・グリッドで表示でき、Teamsにも表示できる</a:t>
            </a:r>
            <a:endParaRPr lang="en-US" sz="1000" dirty="0"/>
          </a:p>
        </p:txBody>
      </p:sp>
      <p:sp>
        <p:nvSpPr>
          <p:cNvPr id="45" name="Shape 33"/>
          <p:cNvSpPr/>
          <p:nvPr/>
        </p:nvSpPr>
        <p:spPr>
          <a:xfrm>
            <a:off x="548640" y="4480560"/>
            <a:ext cx="11064240" cy="310896"/>
          </a:xfrm>
          <a:prstGeom prst="roundRect">
            <a:avLst>
              <a:gd name="adj" fmla="val 11765"/>
            </a:avLst>
          </a:prstGeom>
          <a:solidFill>
            <a:srgbClr val="F3F5F8"/>
          </a:solidFill>
          <a:ln/>
        </p:spPr>
      </p:sp>
      <p:pic>
        <p:nvPicPr>
          <p:cNvPr id="46" name="Image 10" descr="preencoded.png">    </p:cNvPr>
          <p:cNvPicPr>
            <a:picLocks noChangeAspect="1"/>
          </p:cNvPicPr>
          <p:nvPr/>
        </p:nvPicPr>
        <p:blipFill>
          <a:blip r:embed="rId11"/>
          <a:stretch>
            <a:fillRect/>
          </a:stretch>
        </p:blipFill>
        <p:spPr>
          <a:xfrm>
            <a:off x="658368" y="4517136"/>
            <a:ext cx="237744" cy="237744"/>
          </a:xfrm>
          <a:prstGeom prst="rect">
            <a:avLst/>
          </a:prstGeom>
        </p:spPr>
      </p:pic>
      <p:sp>
        <p:nvSpPr>
          <p:cNvPr id="47" name="Text 34"/>
          <p:cNvSpPr txBox="1"/>
          <p:nvPr/>
        </p:nvSpPr>
        <p:spPr>
          <a:xfrm>
            <a:off x="1097280" y="4480560"/>
            <a:ext cx="3108960" cy="310896"/>
          </a:xfrm>
          <a:prstGeom prst="rect">
            <a:avLst/>
          </a:prstGeom>
          <a:noFill/>
          <a:ln/>
        </p:spPr>
        <p:txBody>
          <a:bodyPr wrap="square" lIns="508" tIns="508" rIns="508" bIns="508" rtlCol="0" anchor="ctr"/>
          <a:lstStyle/>
          <a:p>
            <a:pPr indent="0" marL="0">
              <a:buNone/>
            </a:pPr>
            <a:r>
              <a:rPr lang="en-US" sz="1050" b="1" dirty="0">
                <a:solidFill>
                  <a:srgbClr val="1B2A49"/>
                </a:solidFill>
                <a:latin typeface="Meiryo UI" pitchFamily="34" charset="0"/>
                <a:ea typeface="Meiryo UI" pitchFamily="34" charset="-122"/>
                <a:cs typeface="Meiryo UI" pitchFamily="34" charset="-120"/>
              </a:rPr>
              <a:t>Power Apps code apps</a:t>
            </a:r>
            <a:endParaRPr lang="en-US" sz="1050" dirty="0"/>
          </a:p>
        </p:txBody>
      </p:sp>
      <p:sp>
        <p:nvSpPr>
          <p:cNvPr id="48" name="Text 35"/>
          <p:cNvSpPr txBox="1"/>
          <p:nvPr/>
        </p:nvSpPr>
        <p:spPr>
          <a:xfrm>
            <a:off x="4206240" y="4480560"/>
            <a:ext cx="7315200" cy="310896"/>
          </a:xfrm>
          <a:prstGeom prst="rect">
            <a:avLst/>
          </a:prstGeom>
          <a:noFill/>
          <a:ln/>
        </p:spPr>
        <p:txBody>
          <a:bodyPr wrap="square" lIns="508" tIns="508" rIns="508" bIns="508" rtlCol="0" anchor="ctr"/>
          <a:lstStyle/>
          <a:p>
            <a:pPr indent="0" marL="0">
              <a:buNone/>
            </a:pPr>
            <a:r>
              <a:rPr lang="en-US" sz="1000" dirty="0">
                <a:solidFill>
                  <a:srgbClr val="2B2B2B"/>
                </a:solidFill>
                <a:latin typeface="Meiryo UI" pitchFamily="34" charset="0"/>
                <a:ea typeface="Meiryo UI" pitchFamily="34" charset="-122"/>
                <a:cs typeface="Meiryo UI" pitchFamily="34" charset="-120"/>
              </a:rPr>
              <a:t>React・TypeScriptで作ったアプリをPower Platform上で動かす仕組み（2026年2月GA）</a:t>
            </a:r>
            <a:endParaRPr lang="en-US" sz="1000" dirty="0"/>
          </a:p>
        </p:txBody>
      </p:sp>
      <p:sp>
        <p:nvSpPr>
          <p:cNvPr id="49" name="Shape 36"/>
          <p:cNvSpPr/>
          <p:nvPr/>
        </p:nvSpPr>
        <p:spPr>
          <a:xfrm>
            <a:off x="548640" y="4818888"/>
            <a:ext cx="11064240" cy="310896"/>
          </a:xfrm>
          <a:prstGeom prst="roundRect">
            <a:avLst>
              <a:gd name="adj" fmla="val 11765"/>
            </a:avLst>
          </a:prstGeom>
          <a:solidFill>
            <a:srgbClr val="FFFFFF"/>
          </a:solidFill>
          <a:ln/>
        </p:spPr>
      </p:sp>
      <p:pic>
        <p:nvPicPr>
          <p:cNvPr id="50" name="Image 11" descr="preencoded.png">    </p:cNvPr>
          <p:cNvPicPr>
            <a:picLocks noChangeAspect="1"/>
          </p:cNvPicPr>
          <p:nvPr/>
        </p:nvPicPr>
        <p:blipFill>
          <a:blip r:embed="rId12"/>
          <a:stretch>
            <a:fillRect/>
          </a:stretch>
        </p:blipFill>
        <p:spPr>
          <a:xfrm>
            <a:off x="658368" y="4855464"/>
            <a:ext cx="237744" cy="237744"/>
          </a:xfrm>
          <a:prstGeom prst="rect">
            <a:avLst/>
          </a:prstGeom>
        </p:spPr>
      </p:pic>
      <p:sp>
        <p:nvSpPr>
          <p:cNvPr id="51" name="Text 37"/>
          <p:cNvSpPr txBox="1"/>
          <p:nvPr/>
        </p:nvSpPr>
        <p:spPr>
          <a:xfrm>
            <a:off x="1097280" y="4818888"/>
            <a:ext cx="3108960" cy="310896"/>
          </a:xfrm>
          <a:prstGeom prst="rect">
            <a:avLst/>
          </a:prstGeom>
          <a:noFill/>
          <a:ln/>
        </p:spPr>
        <p:txBody>
          <a:bodyPr wrap="square" lIns="508" tIns="508" rIns="508" bIns="508" rtlCol="0" anchor="ctr"/>
          <a:lstStyle/>
          <a:p>
            <a:pPr indent="0" marL="0">
              <a:buNone/>
            </a:pPr>
            <a:r>
              <a:rPr lang="en-US" sz="1050" b="1" dirty="0">
                <a:solidFill>
                  <a:srgbClr val="1B2A49"/>
                </a:solidFill>
                <a:latin typeface="Meiryo UI" pitchFamily="34" charset="0"/>
                <a:ea typeface="Meiryo UI" pitchFamily="34" charset="-122"/>
                <a:cs typeface="Meiryo UI" pitchFamily="34" charset="-120"/>
              </a:rPr>
              <a:t>Cloud Run</a:t>
            </a:r>
            <a:endParaRPr lang="en-US" sz="1050" dirty="0"/>
          </a:p>
        </p:txBody>
      </p:sp>
      <p:sp>
        <p:nvSpPr>
          <p:cNvPr id="52" name="Text 38"/>
          <p:cNvSpPr txBox="1"/>
          <p:nvPr/>
        </p:nvSpPr>
        <p:spPr>
          <a:xfrm>
            <a:off x="4206240" y="4818888"/>
            <a:ext cx="7315200" cy="310896"/>
          </a:xfrm>
          <a:prstGeom prst="rect">
            <a:avLst/>
          </a:prstGeom>
          <a:noFill/>
          <a:ln/>
        </p:spPr>
        <p:txBody>
          <a:bodyPr wrap="square" lIns="508" tIns="508" rIns="508" bIns="508" rtlCol="0" anchor="ctr"/>
          <a:lstStyle/>
          <a:p>
            <a:pPr indent="0" marL="0">
              <a:buNone/>
            </a:pPr>
            <a:r>
              <a:rPr lang="en-US" sz="1000" dirty="0">
                <a:solidFill>
                  <a:srgbClr val="2B2B2B"/>
                </a:solidFill>
                <a:latin typeface="Meiryo UI" pitchFamily="34" charset="0"/>
                <a:ea typeface="Meiryo UI" pitchFamily="34" charset="-122"/>
                <a:cs typeface="Meiryo UI" pitchFamily="34" charset="-120"/>
              </a:rPr>
              <a:t>GCPのプログラム実行基盤。APIや定期処理を動かす</a:t>
            </a:r>
            <a:endParaRPr lang="en-US" sz="1000" dirty="0"/>
          </a:p>
        </p:txBody>
      </p:sp>
      <p:sp>
        <p:nvSpPr>
          <p:cNvPr id="53" name="Shape 39"/>
          <p:cNvSpPr/>
          <p:nvPr/>
        </p:nvSpPr>
        <p:spPr>
          <a:xfrm>
            <a:off x="548640" y="5157216"/>
            <a:ext cx="11064240" cy="310896"/>
          </a:xfrm>
          <a:prstGeom prst="roundRect">
            <a:avLst>
              <a:gd name="adj" fmla="val 11765"/>
            </a:avLst>
          </a:prstGeom>
          <a:solidFill>
            <a:srgbClr val="F3F5F8"/>
          </a:solidFill>
          <a:ln/>
        </p:spPr>
      </p:sp>
      <p:pic>
        <p:nvPicPr>
          <p:cNvPr id="54" name="Image 12" descr="preencoded.png">    </p:cNvPr>
          <p:cNvPicPr>
            <a:picLocks noChangeAspect="1"/>
          </p:cNvPicPr>
          <p:nvPr/>
        </p:nvPicPr>
        <p:blipFill>
          <a:blip r:embed="rId13"/>
          <a:stretch>
            <a:fillRect/>
          </a:stretch>
        </p:blipFill>
        <p:spPr>
          <a:xfrm>
            <a:off x="658368" y="5193792"/>
            <a:ext cx="237744" cy="237744"/>
          </a:xfrm>
          <a:prstGeom prst="rect">
            <a:avLst/>
          </a:prstGeom>
        </p:spPr>
      </p:pic>
      <p:sp>
        <p:nvSpPr>
          <p:cNvPr id="55" name="Text 40"/>
          <p:cNvSpPr txBox="1"/>
          <p:nvPr/>
        </p:nvSpPr>
        <p:spPr>
          <a:xfrm>
            <a:off x="1097280" y="5157216"/>
            <a:ext cx="3108960" cy="310896"/>
          </a:xfrm>
          <a:prstGeom prst="rect">
            <a:avLst/>
          </a:prstGeom>
          <a:noFill/>
          <a:ln/>
        </p:spPr>
        <p:txBody>
          <a:bodyPr wrap="square" lIns="508" tIns="508" rIns="508" bIns="508" rtlCol="0" anchor="ctr"/>
          <a:lstStyle/>
          <a:p>
            <a:pPr indent="0" marL="0">
              <a:buNone/>
            </a:pPr>
            <a:r>
              <a:rPr lang="en-US" sz="1050" b="1" dirty="0">
                <a:solidFill>
                  <a:srgbClr val="1B2A49"/>
                </a:solidFill>
                <a:latin typeface="Meiryo UI" pitchFamily="34" charset="0"/>
                <a:ea typeface="Meiryo UI" pitchFamily="34" charset="-122"/>
                <a:cs typeface="Meiryo UI" pitchFamily="34" charset="-120"/>
              </a:rPr>
              <a:t>Airtable AI（Field Agents）</a:t>
            </a:r>
            <a:endParaRPr lang="en-US" sz="1050" dirty="0"/>
          </a:p>
        </p:txBody>
      </p:sp>
      <p:sp>
        <p:nvSpPr>
          <p:cNvPr id="56" name="Text 41"/>
          <p:cNvSpPr txBox="1"/>
          <p:nvPr/>
        </p:nvSpPr>
        <p:spPr>
          <a:xfrm>
            <a:off x="4206240" y="5157216"/>
            <a:ext cx="7315200" cy="310896"/>
          </a:xfrm>
          <a:prstGeom prst="rect">
            <a:avLst/>
          </a:prstGeom>
          <a:noFill/>
          <a:ln/>
        </p:spPr>
        <p:txBody>
          <a:bodyPr wrap="square" lIns="508" tIns="508" rIns="508" bIns="508" rtlCol="0" anchor="ctr"/>
          <a:lstStyle/>
          <a:p>
            <a:pPr indent="0" marL="0">
              <a:buNone/>
            </a:pPr>
            <a:r>
              <a:rPr lang="en-US" sz="1000" dirty="0">
                <a:solidFill>
                  <a:srgbClr val="2B2B2B"/>
                </a:solidFill>
                <a:latin typeface="Meiryo UI" pitchFamily="34" charset="0"/>
                <a:ea typeface="Meiryo UI" pitchFamily="34" charset="-122"/>
                <a:cs typeface="Meiryo UI" pitchFamily="34" charset="-120"/>
              </a:rPr>
              <a:t>Airtableの標準AI機能。レコードの追加・更新をきっかけに項目を自動生成できる（AIクレジット制）</a:t>
            </a:r>
            <a:endParaRPr lang="en-US" sz="1000" dirty="0"/>
          </a:p>
        </p:txBody>
      </p:sp>
      <p:sp>
        <p:nvSpPr>
          <p:cNvPr id="57" name="Shape 42"/>
          <p:cNvSpPr/>
          <p:nvPr/>
        </p:nvSpPr>
        <p:spPr>
          <a:xfrm>
            <a:off x="548640" y="5495544"/>
            <a:ext cx="11064240" cy="310896"/>
          </a:xfrm>
          <a:prstGeom prst="roundRect">
            <a:avLst>
              <a:gd name="adj" fmla="val 11765"/>
            </a:avLst>
          </a:prstGeom>
          <a:solidFill>
            <a:srgbClr val="FFFFFF"/>
          </a:solidFill>
          <a:ln/>
        </p:spPr>
      </p:sp>
      <p:pic>
        <p:nvPicPr>
          <p:cNvPr id="58" name="Image 13" descr="preencoded.png">    </p:cNvPr>
          <p:cNvPicPr>
            <a:picLocks noChangeAspect="1"/>
          </p:cNvPicPr>
          <p:nvPr/>
        </p:nvPicPr>
        <p:blipFill>
          <a:blip r:embed="rId14"/>
          <a:stretch>
            <a:fillRect/>
          </a:stretch>
        </p:blipFill>
        <p:spPr>
          <a:xfrm>
            <a:off x="658368" y="5532120"/>
            <a:ext cx="237744" cy="237744"/>
          </a:xfrm>
          <a:prstGeom prst="rect">
            <a:avLst/>
          </a:prstGeom>
        </p:spPr>
      </p:pic>
      <p:sp>
        <p:nvSpPr>
          <p:cNvPr id="59" name="Text 43"/>
          <p:cNvSpPr txBox="1"/>
          <p:nvPr/>
        </p:nvSpPr>
        <p:spPr>
          <a:xfrm>
            <a:off x="1097280" y="5495544"/>
            <a:ext cx="3108960" cy="310896"/>
          </a:xfrm>
          <a:prstGeom prst="rect">
            <a:avLst/>
          </a:prstGeom>
          <a:noFill/>
          <a:ln/>
        </p:spPr>
        <p:txBody>
          <a:bodyPr wrap="square" lIns="508" tIns="508" rIns="508" bIns="508" rtlCol="0" anchor="ctr"/>
          <a:lstStyle/>
          <a:p>
            <a:pPr indent="0" marL="0">
              <a:buNone/>
            </a:pPr>
            <a:r>
              <a:rPr lang="en-US" sz="1050" b="1" dirty="0">
                <a:solidFill>
                  <a:srgbClr val="1B2A49"/>
                </a:solidFill>
                <a:latin typeface="Meiryo UI" pitchFamily="34" charset="0"/>
                <a:ea typeface="Meiryo UI" pitchFamily="34" charset="-122"/>
                <a:cs typeface="Meiryo UI" pitchFamily="34" charset="-120"/>
              </a:rPr>
              <a:t>iPaaS</a:t>
            </a:r>
            <a:endParaRPr lang="en-US" sz="1050" dirty="0"/>
          </a:p>
        </p:txBody>
      </p:sp>
      <p:sp>
        <p:nvSpPr>
          <p:cNvPr id="60" name="Text 44"/>
          <p:cNvSpPr txBox="1"/>
          <p:nvPr/>
        </p:nvSpPr>
        <p:spPr>
          <a:xfrm>
            <a:off x="4206240" y="5495544"/>
            <a:ext cx="7315200" cy="310896"/>
          </a:xfrm>
          <a:prstGeom prst="rect">
            <a:avLst/>
          </a:prstGeom>
          <a:noFill/>
          <a:ln/>
        </p:spPr>
        <p:txBody>
          <a:bodyPr wrap="square" lIns="508" tIns="508" rIns="508" bIns="508" rtlCol="0" anchor="ctr"/>
          <a:lstStyle/>
          <a:p>
            <a:pPr indent="0" marL="0">
              <a:buNone/>
            </a:pPr>
            <a:r>
              <a:rPr lang="en-US" sz="1000" dirty="0">
                <a:solidFill>
                  <a:srgbClr val="2B2B2B"/>
                </a:solidFill>
                <a:latin typeface="Meiryo UI" pitchFamily="34" charset="0"/>
                <a:ea typeface="Meiryo UI" pitchFamily="34" charset="-122"/>
                <a:cs typeface="Meiryo UI" pitchFamily="34" charset="-120"/>
              </a:rPr>
              <a:t>Make・Zapierなど、SaaS同士をつなぐ連携サービス。Airtableの変更を標準で検知できる</a:t>
            </a:r>
            <a:endParaRPr lang="en-US" sz="1000" dirty="0"/>
          </a:p>
        </p:txBody>
      </p:sp>
      <p:sp>
        <p:nvSpPr>
          <p:cNvPr id="61" name="Shape 45"/>
          <p:cNvSpPr/>
          <p:nvPr/>
        </p:nvSpPr>
        <p:spPr>
          <a:xfrm>
            <a:off x="548640" y="5833872"/>
            <a:ext cx="11064240" cy="310896"/>
          </a:xfrm>
          <a:prstGeom prst="roundRect">
            <a:avLst>
              <a:gd name="adj" fmla="val 11765"/>
            </a:avLst>
          </a:prstGeom>
          <a:solidFill>
            <a:srgbClr val="F3F5F8"/>
          </a:solidFill>
          <a:ln/>
        </p:spPr>
      </p:sp>
      <p:pic>
        <p:nvPicPr>
          <p:cNvPr id="62" name="Image 14" descr="preencoded.png">    </p:cNvPr>
          <p:cNvPicPr>
            <a:picLocks noChangeAspect="1"/>
          </p:cNvPicPr>
          <p:nvPr/>
        </p:nvPicPr>
        <p:blipFill>
          <a:blip r:embed="rId15"/>
          <a:stretch>
            <a:fillRect/>
          </a:stretch>
        </p:blipFill>
        <p:spPr>
          <a:xfrm>
            <a:off x="658368" y="5870448"/>
            <a:ext cx="237744" cy="237744"/>
          </a:xfrm>
          <a:prstGeom prst="rect">
            <a:avLst/>
          </a:prstGeom>
        </p:spPr>
      </p:pic>
      <p:sp>
        <p:nvSpPr>
          <p:cNvPr id="63" name="Text 46"/>
          <p:cNvSpPr txBox="1"/>
          <p:nvPr/>
        </p:nvSpPr>
        <p:spPr>
          <a:xfrm>
            <a:off x="1097280" y="5833872"/>
            <a:ext cx="3108960" cy="310896"/>
          </a:xfrm>
          <a:prstGeom prst="rect">
            <a:avLst/>
          </a:prstGeom>
          <a:noFill/>
          <a:ln/>
        </p:spPr>
        <p:txBody>
          <a:bodyPr wrap="square" lIns="508" tIns="508" rIns="508" bIns="508" rtlCol="0" anchor="ctr"/>
          <a:lstStyle/>
          <a:p>
            <a:pPr indent="0" marL="0">
              <a:buNone/>
            </a:pPr>
            <a:r>
              <a:rPr lang="en-US" sz="1050" b="1" dirty="0">
                <a:solidFill>
                  <a:srgbClr val="1B2A49"/>
                </a:solidFill>
                <a:latin typeface="Meiryo UI" pitchFamily="34" charset="0"/>
                <a:ea typeface="Meiryo UI" pitchFamily="34" charset="-122"/>
                <a:cs typeface="Meiryo UI" pitchFamily="34" charset="-120"/>
              </a:rPr>
              <a:t>RAG</a:t>
            </a:r>
            <a:endParaRPr lang="en-US" sz="1050" dirty="0"/>
          </a:p>
        </p:txBody>
      </p:sp>
      <p:sp>
        <p:nvSpPr>
          <p:cNvPr id="64" name="Text 47"/>
          <p:cNvSpPr txBox="1"/>
          <p:nvPr/>
        </p:nvSpPr>
        <p:spPr>
          <a:xfrm>
            <a:off x="4206240" y="5833872"/>
            <a:ext cx="7315200" cy="310896"/>
          </a:xfrm>
          <a:prstGeom prst="rect">
            <a:avLst/>
          </a:prstGeom>
          <a:noFill/>
          <a:ln/>
        </p:spPr>
        <p:txBody>
          <a:bodyPr wrap="square" lIns="508" tIns="508" rIns="508" bIns="508" rtlCol="0" anchor="ctr"/>
          <a:lstStyle/>
          <a:p>
            <a:pPr indent="0" marL="0">
              <a:buNone/>
            </a:pPr>
            <a:r>
              <a:rPr lang="en-US" sz="1000" dirty="0">
                <a:solidFill>
                  <a:srgbClr val="2B2B2B"/>
                </a:solidFill>
                <a:latin typeface="Meiryo UI" pitchFamily="34" charset="0"/>
                <a:ea typeface="Meiryo UI" pitchFamily="34" charset="-122"/>
                <a:cs typeface="Meiryo UI" pitchFamily="34" charset="-120"/>
              </a:rPr>
              <a:t>AIが回答する際に、関連する資料を検索して参照させる方式</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42</Slides>
  <Notes>42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42</vt:i4>
      </vt:variant>
    </vt:vector>
  </HeadingPairs>
  <TitlesOfParts>
    <vt:vector size="4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配信コンテンツ制作へのAI活用 構成の選択肢と検討ポイント</dc:title>
  <dc:subject>PptxGenJS Presentation</dc:subject>
  <dc:creator>PptxGenJS</dc:creator>
  <cp:lastModifiedBy>PptxGenJS</cp:lastModifiedBy>
  <cp:revision>1</cp:revision>
  <dcterms:created xsi:type="dcterms:W3CDTF">2026-09-26T09:16:37Z</dcterms:created>
  <dcterms:modified xsi:type="dcterms:W3CDTF">2026-09-26T09:16:37Z</dcterms:modified>
</cp:coreProperties>
</file>