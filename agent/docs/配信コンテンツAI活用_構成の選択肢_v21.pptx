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配信コンテンツの企画工程にAIを組み込む際の構成について、取りうる選択肢と検討ポイントを整理した資料です。特定の案を推奨するものではありません。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本資料は結論を示すものではなく、選択肢と検討ポイントを並べることを目的としています。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開の単位は、仕組み（アプリ・フロー・プロンプト）とデータを分けて考える。①国別に独立、②共通の仕組み＋国別データ、③完全に統合の3つの型がある。他国の事例を参考にするためには全データを統合する必要はなく、各国の配信結果から良かったものを選んで登録する好事例ライブラリを共通で持てばよい。言語の違いは、必要に応じてAIに翻訳させて参照する。配信データに個人情報は含まれないため、国をまたいだ共有の制約は小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業務プロセスごとに、各パターンでAIが担う範囲を示した。Step1（A1）とA2は起案工程の支援、Step2（A3・H1・B1）は情報収集の自動化と起案工程の支援、Step3（A4〜A8・B2・B3）はテーマ選定からクリエイティブ制作指示までを自動で下書きし、人はレビュー・承認に集中する。C1はAirtable内の情報だけで項目を自動生成する。同じStepのパターン同士では業務上のカバー範囲は同じで、違いは管理基盤と集約先に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Learn『License autoclaim』『Power Automate licensing FAQ』『FAQ for Copilot Studio billing and licensing』。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Learn『FAQ for Copilot Studio billing and licensing』『Licensing and AI Builder credits』『End of AI Builder credits』、The Custom Engine『No, You Don't Need a Copilot License to Deploy Agents to Microsoft 365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Builderのプロンプトは、決まった指示文に入力を差し込んで文章を生成させる機能。2026年11月以降はCopilotクレジットに一本化されるため、エージェントと同じ単位で費用を比べられる。出典：Microsoft Learn『Licensing and AI Builder credits』。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Learn『Agent Builder in Microsoft 365 Copilot』『Add knowledge sources to your declarative agent』。Agent BuilderはM365 Copilotに含まれる簡易エージェント作成機能。アクション・ワークフロー・ALMは持たないため、それらが必要になった時点でCopilot Studioへ移行する。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Learn『Agent Builder in Microsoft 365 Copilot』『Add knowledge sources to your declarative agent』、Copilot Studioの課金に関するFAQ。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キャンバスアプリはローコード（Power Fx）で作る。工程レイヤーはポップアップ（コンテナの表示切り替え）で表現できる。カレンダー表示やドラッグ＆ドロップは標準部品がないため、ギャラリーの組み合わせか、PCF（Power Apps component framework）で作ったTypeScriptの部品で補う。code appsと違い、Teamsのタブに埋め込める。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appからCopilot Studioのエージェントを呼ぶには、Copilot Studioコネクタの「Execute Agent and wait」（ExecuteCopilotAsyncV2）を使う。呼べるのは公開済みのCopilot Studioエージェントで、Agent Builderで作ったエージェントは呼べない。公式手順では会話IDを引き継ぐ指定がないため、修正時はアプリ側で下書きとやり取りをまとめて送る設計にする。出典：Microsoft Learn『How to: Connect to Copilot Studio（code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画面は検討用のイメージ。配信日ごとに先に作成したカードをカレンダーに並べ、ステータス（確定・下書きあり・検討中・未起案）を色で示す。カードを選ぶと確定情報の概要がポップアップで開き、そこから工程レイヤー（テーマ選定・商品選定・コピー・制作指示）に進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画面は検討用のイメージ。配信カードには確定した情報だけを表示する。各工程（テーマ選定・商品選定・コピー・制作指示）は、カードから前面に開くレイヤーで行う。レイヤーではAIの推奨と理由の確認、全候補からのドラッグでの入れ替え、プレビュー、チャットでの修正を行い、確定するとカードに反映する。途中の内容は下書きとして保存し、あとで再開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A8（Lists＋code apps）のパターン詳細の図は、案a（カード表示もcode app）を基本に、Listsの標準ビューを補助として描いている。案bにすると、カード表示はListsの標準機能、code appは工程レイヤーだけになり、必要な開発範囲とPower Apps Premiumの対象者が変わる。Listsだけで完結させる場合はA5にあたる。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Airtable Help Center『Using Airtable AI in fields』『Airtable AI billing』。Field Agentsはレコードの追加・更新をきっかけに自動実行できる。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試作アプリでも、PythonでSQLを発行しPandasで加工したデータをGeminiに渡していた。AIがSQLを都度発行していたわけではないため、BigQueryをリアルタイムに参照できるかは構成選択の重要論点ではない。さらに、AIに渡す最終形（候補商品をまとめたJSONなど）までBigQueryのSQLで作れば、Pandasの層も不要で、スケジュールクエリだけで前処理が完結する。PythonやM365側の処理が必要になるのは、BigQuery外のデータ（SharePointの商品マスタ・ポリシー）と結合する場合や、SQLでは読みにくい複雑なロジックがある場合に限られる。M365側では、加工済みデータをナレッジ検索に任せず、Power Automateで取得してプロンプトの入力として直接渡すのが確実。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Airtable Help『Run a script action』/ Airtable Community（スクリプトの30秒制限）/ Microsoft Learn『Call Microsoft Copilot Studio agents from Power Automate』/ Microsoft Learn『Airtable (Independent Publisher) [DEPRECATED]』/ Copilot Studio『Event triggers overview』/ Hookdeck『Guide to Airtable Webhooks』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O1はM365側から定期的にAirtableを見に行く方式。定期実行はPower Automateのスケジュール済みクラウドフロー（繰り返しトリガー）が担う。人の操作で動くのではなく、決まった間隔でフローが自動実行される。Airtable側に外部から呼ばれる受け口を用意しないため、HTTPトリガーの公開が不要。HTTPアクションはPremiumのため、Power Automate Premium（またはフロー単位のProcessライセンス）が必要。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「エージェント」と表記していた箇所は、Power AutomateからExecute Agent and waitで呼ぶ使い方（フローが主役）を指す。自律エージェントは、エージェント自身がイベントトリガーで起動し、ツールを使って処理する使い方。どちらも同じCopilot Studioのエージェントで、呼び出し方が違う。自律実行はCopilotクレジットの消費対象。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Learn『OAuth authentication for HTTP request triggers』/ Power Automate HTTP trigger URL migration（logic.azure.com → api.powerplatform.com、2025年11月30日）/ Microsoft Learn『Data loss prevention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Learn『Power Apps Code Apps: Features and Requirements』（2026-09-23更新）/ Microsoft Power Platform Blog『Generally available: host and run code apps in Power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https://docs.cloud.google.com/gemini/enterprise/docs / https://docs.cloud.google.com/gemini/enterprise/docs/connectors/ms-sharepoint / https://cloud.google.com/products/gemini-enterprise-agent-platform / https://cloud.google.com/blog/products/data-analytics/conversational-analytics-in-bigquery-now-ga / https://www.gosearch.ai/faqs/gemini-enterprise-pricing/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Learn『Microsoft Graph overview』、Google Cloud『Connect Microsoft SharePoint Online with data federation』『Connect Microsoft SharePoint Online with data ingestion』。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slideLayout" Target="../slideLayouts/slideLayout1.xml"/><Relationship Id="rId1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slideLayout" Target="../slideLayouts/slideLayout1.xml"/><Relationship Id="rId2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slideLayout" Target="../slideLayouts/slideLayout1.xml"/><Relationship Id="rId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image" Target="../media/image-10-21.png"/><Relationship Id="rId22" Type="http://schemas.openxmlformats.org/officeDocument/2006/relationships/image" Target="../media/image-10-22.png"/><Relationship Id="rId23" Type="http://schemas.openxmlformats.org/officeDocument/2006/relationships/image" Target="../media/image-10-23.png"/><Relationship Id="rId24" Type="http://schemas.openxmlformats.org/officeDocument/2006/relationships/image" Target="../media/image-10-24.png"/><Relationship Id="rId25" Type="http://schemas.openxmlformats.org/officeDocument/2006/relationships/image" Target="../media/image-10-25.png"/><Relationship Id="rId26" Type="http://schemas.openxmlformats.org/officeDocument/2006/relationships/image" Target="../media/image-10-26.png"/><Relationship Id="rId27" Type="http://schemas.openxmlformats.org/officeDocument/2006/relationships/image" Target="../media/image-10-27.png"/><Relationship Id="rId28" Type="http://schemas.openxmlformats.org/officeDocument/2006/relationships/image" Target="../media/image-10-28.png"/><Relationship Id="rId29" Type="http://schemas.openxmlformats.org/officeDocument/2006/relationships/image" Target="../media/image-10-29.png"/><Relationship Id="rId30" Type="http://schemas.openxmlformats.org/officeDocument/2006/relationships/image" Target="../media/image-10-30.png"/><Relationship Id="rId31" Type="http://schemas.openxmlformats.org/officeDocument/2006/relationships/image" Target="../media/image-10-31.png"/><Relationship Id="rId32" Type="http://schemas.openxmlformats.org/officeDocument/2006/relationships/image" Target="../media/image-10-32.png"/><Relationship Id="rId33" Type="http://schemas.openxmlformats.org/officeDocument/2006/relationships/image" Target="../media/image-10-33.png"/><Relationship Id="rId34" Type="http://schemas.openxmlformats.org/officeDocument/2006/relationships/image" Target="../media/image-10-34.png"/><Relationship Id="rId35" Type="http://schemas.openxmlformats.org/officeDocument/2006/relationships/image" Target="../media/image-10-35.png"/><Relationship Id="rId36" Type="http://schemas.openxmlformats.org/officeDocument/2006/relationships/image" Target="../media/image-10-36.png"/><Relationship Id="rId37" Type="http://schemas.openxmlformats.org/officeDocument/2006/relationships/image" Target="../media/image-10-37.png"/><Relationship Id="rId38" Type="http://schemas.openxmlformats.org/officeDocument/2006/relationships/slideLayout" Target="../slideLayouts/slideLayout1.xml"/><Relationship Id="rId3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image" Target="../media/image-17-16.png"/><Relationship Id="rId17" Type="http://schemas.openxmlformats.org/officeDocument/2006/relationships/image" Target="../media/image-17-17.png"/><Relationship Id="rId18" Type="http://schemas.openxmlformats.org/officeDocument/2006/relationships/image" Target="../media/image-17-18.png"/><Relationship Id="rId19" Type="http://schemas.openxmlformats.org/officeDocument/2006/relationships/image" Target="../media/image-17-19.png"/><Relationship Id="rId20" Type="http://schemas.openxmlformats.org/officeDocument/2006/relationships/image" Target="../media/image-17-20.png"/><Relationship Id="rId21" Type="http://schemas.openxmlformats.org/officeDocument/2006/relationships/image" Target="../media/image-17-21.png"/><Relationship Id="rId22" Type="http://schemas.openxmlformats.org/officeDocument/2006/relationships/image" Target="../media/image-17-22.png"/><Relationship Id="rId23" Type="http://schemas.openxmlformats.org/officeDocument/2006/relationships/image" Target="../media/image-17-23.png"/><Relationship Id="rId24" Type="http://schemas.openxmlformats.org/officeDocument/2006/relationships/slideLayout" Target="../slideLayouts/slideLayout1.xml"/><Relationship Id="rId2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slideLayout" Target="../slideLayouts/slideLayout1.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slideLayout" Target="../slideLayouts/slideLayout1.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slideLayout" Target="../slideLayouts/slideLayout1.xml"/><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image" Target="../media/image-25-12.png"/><Relationship Id="rId13" Type="http://schemas.openxmlformats.org/officeDocument/2006/relationships/slideLayout" Target="../slideLayouts/slideLayout1.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slideLayout" Target="../slideLayouts/slideLayout1.xml"/><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slideLayout" Target="../slideLayouts/slideLayout1.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slideLayout" Target="../slideLayouts/slideLayout1.xml"/><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slideLayout" Target="../slideLayouts/slideLayout1.xml"/><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slideLayout" Target="../slideLayouts/slideLayout1.xml"/><Relationship Id="rId1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image" Target="../media/image-34-9.png"/><Relationship Id="rId10" Type="http://schemas.openxmlformats.org/officeDocument/2006/relationships/slideLayout" Target="../slideLayouts/slideLayout1.xml"/><Relationship Id="rId1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image" Target="../media/image-36-9.png"/><Relationship Id="rId10" Type="http://schemas.openxmlformats.org/officeDocument/2006/relationships/image" Target="../media/image-36-10.png"/><Relationship Id="rId11" Type="http://schemas.openxmlformats.org/officeDocument/2006/relationships/slideLayout" Target="../slideLayouts/slideLayout1.xml"/><Relationship Id="rId1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image" Target="../media/image-37-9.png"/><Relationship Id="rId10" Type="http://schemas.openxmlformats.org/officeDocument/2006/relationships/slideLayout" Target="../slideLayouts/slideLayout1.xml"/><Relationship Id="rId11"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image" Target="../media/image-38-10.png"/><Relationship Id="rId11" Type="http://schemas.openxmlformats.org/officeDocument/2006/relationships/slideLayout" Target="../slideLayouts/slideLayout1.xml"/><Relationship Id="rId1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9.png"/><Relationship Id="rId10" Type="http://schemas.openxmlformats.org/officeDocument/2006/relationships/image" Target="../media/image-39-10.png"/><Relationship Id="rId11" Type="http://schemas.openxmlformats.org/officeDocument/2006/relationships/slideLayout" Target="../slideLayouts/slideLayout1.xml"/><Relationship Id="rId1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slideLayout" Target="../slideLayouts/slideLayout1.xml"/><Relationship Id="rId1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1.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image" Target="../media/image-42-10.png"/><Relationship Id="rId11" Type="http://schemas.openxmlformats.org/officeDocument/2006/relationships/slideLayout" Target="../slideLayouts/slideLayout1.xml"/><Relationship Id="rId1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image" Target="../media/image-44-10.png"/><Relationship Id="rId11" Type="http://schemas.openxmlformats.org/officeDocument/2006/relationships/image" Target="../media/image-44-11.png"/><Relationship Id="rId12" Type="http://schemas.openxmlformats.org/officeDocument/2006/relationships/image" Target="../media/image-44-12.png"/><Relationship Id="rId13" Type="http://schemas.openxmlformats.org/officeDocument/2006/relationships/image" Target="../media/image-44-13.png"/><Relationship Id="rId14" Type="http://schemas.openxmlformats.org/officeDocument/2006/relationships/image" Target="../media/image-44-14.png"/><Relationship Id="rId15" Type="http://schemas.openxmlformats.org/officeDocument/2006/relationships/image" Target="../media/image-44-15.png"/><Relationship Id="rId16" Type="http://schemas.openxmlformats.org/officeDocument/2006/relationships/image" Target="../media/image-44-16.png"/><Relationship Id="rId17" Type="http://schemas.openxmlformats.org/officeDocument/2006/relationships/image" Target="../media/image-44-17.png"/><Relationship Id="rId18" Type="http://schemas.openxmlformats.org/officeDocument/2006/relationships/image" Target="../media/image-44-18.png"/><Relationship Id="rId19" Type="http://schemas.openxmlformats.org/officeDocument/2006/relationships/image" Target="../media/image-44-19.png"/><Relationship Id="rId20" Type="http://schemas.openxmlformats.org/officeDocument/2006/relationships/image" Target="../media/image-44-20.png"/><Relationship Id="rId21" Type="http://schemas.openxmlformats.org/officeDocument/2006/relationships/image" Target="../media/image-44-21.png"/><Relationship Id="rId22" Type="http://schemas.openxmlformats.org/officeDocument/2006/relationships/image" Target="../media/image-44-22.png"/><Relationship Id="rId23" Type="http://schemas.openxmlformats.org/officeDocument/2006/relationships/image" Target="../media/image-44-23.png"/><Relationship Id="rId24" Type="http://schemas.openxmlformats.org/officeDocument/2006/relationships/image" Target="../media/image-44-24.png"/><Relationship Id="rId25" Type="http://schemas.openxmlformats.org/officeDocument/2006/relationships/image" Target="../media/image-44-25.png"/><Relationship Id="rId26" Type="http://schemas.openxmlformats.org/officeDocument/2006/relationships/image" Target="../media/image-44-26.png"/><Relationship Id="rId27" Type="http://schemas.openxmlformats.org/officeDocument/2006/relationships/slideLayout" Target="../slideLayouts/slideLayout1.xml"/><Relationship Id="rId2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slideLayout" Target="../slideLayouts/slideLayout1.xml"/><Relationship Id="rId8"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1.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png"/><Relationship Id="rId7" Type="http://schemas.openxmlformats.org/officeDocument/2006/relationships/image" Target="../media/image-48-7.png"/><Relationship Id="rId8" Type="http://schemas.openxmlformats.org/officeDocument/2006/relationships/image" Target="../media/image-48-8.png"/><Relationship Id="rId9" Type="http://schemas.openxmlformats.org/officeDocument/2006/relationships/slideLayout" Target="../slideLayouts/slideLayout1.xml"/><Relationship Id="rId10"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 Id="rId8" Type="http://schemas.openxmlformats.org/officeDocument/2006/relationships/image" Target="../media/image-49-8.png"/><Relationship Id="rId9" Type="http://schemas.openxmlformats.org/officeDocument/2006/relationships/image" Target="../media/image-49-9.png"/><Relationship Id="rId10" Type="http://schemas.openxmlformats.org/officeDocument/2006/relationships/image" Target="../media/image-49-10.png"/><Relationship Id="rId11" Type="http://schemas.openxmlformats.org/officeDocument/2006/relationships/slideLayout" Target="../slideLayouts/slideLayout1.xml"/><Relationship Id="rId1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1.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png"/><Relationship Id="rId7" Type="http://schemas.openxmlformats.org/officeDocument/2006/relationships/slideLayout" Target="../slideLayouts/slideLayout1.xml"/><Relationship Id="rId8"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image" Target="../media/image-53-6.png"/><Relationship Id="rId7" Type="http://schemas.openxmlformats.org/officeDocument/2006/relationships/image" Target="../media/image-53-7.png"/><Relationship Id="rId8" Type="http://schemas.openxmlformats.org/officeDocument/2006/relationships/image" Target="../media/image-53-8.png"/><Relationship Id="rId9" Type="http://schemas.openxmlformats.org/officeDocument/2006/relationships/image" Target="../media/image-53-9.png"/><Relationship Id="rId10" Type="http://schemas.openxmlformats.org/officeDocument/2006/relationships/image" Target="../media/image-53-10.png"/><Relationship Id="rId11" Type="http://schemas.openxmlformats.org/officeDocument/2006/relationships/image" Target="../media/image-53-11.png"/><Relationship Id="rId12" Type="http://schemas.openxmlformats.org/officeDocument/2006/relationships/image" Target="../media/image-53-12.png"/><Relationship Id="rId13" Type="http://schemas.openxmlformats.org/officeDocument/2006/relationships/image" Target="../media/image-53-13.png"/><Relationship Id="rId14" Type="http://schemas.openxmlformats.org/officeDocument/2006/relationships/image" Target="../media/image-53-14.png"/><Relationship Id="rId15" Type="http://schemas.openxmlformats.org/officeDocument/2006/relationships/image" Target="../media/image-53-15.png"/><Relationship Id="rId16" Type="http://schemas.openxmlformats.org/officeDocument/2006/relationships/slideLayout" Target="../slideLayouts/slideLayout1.xml"/><Relationship Id="rId17"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9"/>
        </a:solidFill>
      </p:bgPr>
    </p:bg>
    <p:spTree>
      <p:nvGrpSpPr>
        <p:cNvPr id="1" name=""/>
        <p:cNvGrpSpPr/>
        <p:nvPr/>
      </p:nvGrpSpPr>
      <p:grpSpPr>
        <a:xfrm>
          <a:off x="0" y="0"/>
          <a:ext cx="0" cy="0"/>
          <a:chOff x="0" y="0"/>
          <a:chExt cx="0" cy="0"/>
        </a:xfrm>
      </p:grpSpPr>
      <p:sp>
        <p:nvSpPr>
          <p:cNvPr id="2" name="Text 0"/>
          <p:cNvSpPr txBox="1"/>
          <p:nvPr/>
        </p:nvSpPr>
        <p:spPr>
          <a:xfrm>
            <a:off x="822960" y="1463040"/>
            <a:ext cx="10515600" cy="548640"/>
          </a:xfrm>
          <a:prstGeom prst="rect">
            <a:avLst/>
          </a:prstGeom>
          <a:noFill/>
          <a:ln/>
        </p:spPr>
        <p:txBody>
          <a:bodyPr wrap="square" lIns="0" tIns="0" rIns="0" bIns="0" rtlCol="0" anchor="t"/>
          <a:lstStyle/>
          <a:p>
            <a:pPr indent="0" marL="0">
              <a:buNone/>
            </a:pPr>
            <a:r>
              <a:rPr lang="en-US" sz="2400" dirty="0">
                <a:solidFill>
                  <a:srgbClr val="8FD3CF"/>
                </a:solidFill>
                <a:latin typeface="Meiryo UI" pitchFamily="34" charset="0"/>
                <a:ea typeface="Meiryo UI" pitchFamily="34" charset="-122"/>
                <a:cs typeface="Meiryo UI" pitchFamily="34" charset="-120"/>
              </a:rPr>
              <a:t>メール・アプリプッシュ配信コンテンツ制作への</a:t>
            </a:r>
            <a:endParaRPr lang="en-US" sz="2400" dirty="0"/>
          </a:p>
        </p:txBody>
      </p:sp>
      <p:sp>
        <p:nvSpPr>
          <p:cNvPr id="3" name="Text 1"/>
          <p:cNvSpPr txBox="1"/>
          <p:nvPr/>
        </p:nvSpPr>
        <p:spPr>
          <a:xfrm>
            <a:off x="822960" y="2011680"/>
            <a:ext cx="10789920" cy="914400"/>
          </a:xfrm>
          <a:prstGeom prst="rect">
            <a:avLst/>
          </a:prstGeom>
          <a:noFill/>
          <a:ln/>
        </p:spPr>
        <p:txBody>
          <a:bodyPr wrap="square" lIns="0" tIns="0" rIns="0" bIns="0" rtlCol="0" anchor="t"/>
          <a:lstStyle/>
          <a:p>
            <a:pPr indent="0" marL="0">
              <a:buNone/>
            </a:pPr>
            <a:r>
              <a:rPr lang="en-US" sz="4000" b="1" dirty="0">
                <a:solidFill>
                  <a:srgbClr val="FFFFFF"/>
                </a:solidFill>
                <a:latin typeface="Meiryo UI" pitchFamily="34" charset="0"/>
                <a:ea typeface="Meiryo UI" pitchFamily="34" charset="-122"/>
                <a:cs typeface="Meiryo UI" pitchFamily="34" charset="-120"/>
              </a:rPr>
              <a:t>AI活用 構成の選択肢と検討ポイント</a:t>
            </a:r>
            <a:endParaRPr lang="en-US" sz="4000" dirty="0"/>
          </a:p>
        </p:txBody>
      </p:sp>
      <p:sp>
        <p:nvSpPr>
          <p:cNvPr id="4" name="Text 2"/>
          <p:cNvSpPr txBox="1"/>
          <p:nvPr/>
        </p:nvSpPr>
        <p:spPr>
          <a:xfrm>
            <a:off x="822960" y="3017520"/>
            <a:ext cx="10515600" cy="457200"/>
          </a:xfrm>
          <a:prstGeom prst="rect">
            <a:avLst/>
          </a:prstGeom>
          <a:noFill/>
          <a:ln/>
        </p:spPr>
        <p:txBody>
          <a:bodyPr wrap="square" lIns="0" tIns="0" rIns="0" bIns="0" rtlCol="0" anchor="t"/>
          <a:lstStyle/>
          <a:p>
            <a:pPr indent="0" marL="0">
              <a:buNone/>
            </a:pPr>
            <a:r>
              <a:rPr lang="en-US" sz="1600" dirty="0">
                <a:solidFill>
                  <a:srgbClr val="FFFFFF"/>
                </a:solidFill>
                <a:latin typeface="Meiryo UI" pitchFamily="34" charset="0"/>
                <a:ea typeface="Meiryo UI" pitchFamily="34" charset="-122"/>
                <a:cs typeface="Meiryo UI" pitchFamily="34" charset="-120"/>
              </a:rPr>
              <a:t>M365・GCP・ハイブリッドの各構成パターンと、選択にあたっての判断要件の整理</a:t>
            </a:r>
            <a:endParaRPr lang="en-US" sz="1600" dirty="0"/>
          </a:p>
        </p:txBody>
      </p:sp>
      <p:sp>
        <p:nvSpPr>
          <p:cNvPr id="5" name="Shape 3"/>
          <p:cNvSpPr/>
          <p:nvPr/>
        </p:nvSpPr>
        <p:spPr>
          <a:xfrm>
            <a:off x="822960" y="4114800"/>
            <a:ext cx="548640" cy="54864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932688" y="4224528"/>
            <a:ext cx="329184" cy="329184"/>
          </a:xfrm>
          <a:prstGeom prst="rect">
            <a:avLst/>
          </a:prstGeom>
        </p:spPr>
      </p:pic>
      <p:sp>
        <p:nvSpPr>
          <p:cNvPr id="7" name="Shape 4"/>
          <p:cNvSpPr/>
          <p:nvPr/>
        </p:nvSpPr>
        <p:spPr>
          <a:xfrm>
            <a:off x="1536192" y="4114800"/>
            <a:ext cx="548640" cy="548640"/>
          </a:xfrm>
          <a:prstGeom prst="ellipse">
            <a:avLst/>
          </a:prstGeom>
          <a:solidFill>
            <a:srgbClr val="FFFFFF"/>
          </a:solidFill>
          <a:ln/>
        </p:spPr>
      </p:sp>
      <p:pic>
        <p:nvPicPr>
          <p:cNvPr id="8" name="Image 1" descr="preencoded.png">    </p:cNvPr>
          <p:cNvPicPr>
            <a:picLocks noChangeAspect="1"/>
          </p:cNvPicPr>
          <p:nvPr/>
        </p:nvPicPr>
        <p:blipFill>
          <a:blip r:embed="rId2"/>
          <a:stretch>
            <a:fillRect/>
          </a:stretch>
        </p:blipFill>
        <p:spPr>
          <a:xfrm>
            <a:off x="1645920" y="4224528"/>
            <a:ext cx="329184" cy="329184"/>
          </a:xfrm>
          <a:prstGeom prst="rect">
            <a:avLst/>
          </a:prstGeom>
        </p:spPr>
      </p:pic>
      <p:sp>
        <p:nvSpPr>
          <p:cNvPr id="9" name="Shape 5"/>
          <p:cNvSpPr/>
          <p:nvPr/>
        </p:nvSpPr>
        <p:spPr>
          <a:xfrm>
            <a:off x="2249424" y="4114800"/>
            <a:ext cx="548640" cy="548640"/>
          </a:xfrm>
          <a:prstGeom prst="ellipse">
            <a:avLst/>
          </a:prstGeom>
          <a:solidFill>
            <a:srgbClr val="FFFFFF"/>
          </a:solidFill>
          <a:ln/>
        </p:spPr>
      </p:sp>
      <p:pic>
        <p:nvPicPr>
          <p:cNvPr id="10" name="Image 2" descr="preencoded.png">    </p:cNvPr>
          <p:cNvPicPr>
            <a:picLocks noChangeAspect="1"/>
          </p:cNvPicPr>
          <p:nvPr/>
        </p:nvPicPr>
        <p:blipFill>
          <a:blip r:embed="rId3"/>
          <a:stretch>
            <a:fillRect/>
          </a:stretch>
        </p:blipFill>
        <p:spPr>
          <a:xfrm>
            <a:off x="2359152" y="4224528"/>
            <a:ext cx="329184" cy="329184"/>
          </a:xfrm>
          <a:prstGeom prst="rect">
            <a:avLst/>
          </a:prstGeom>
        </p:spPr>
      </p:pic>
      <p:sp>
        <p:nvSpPr>
          <p:cNvPr id="11" name="Shape 6"/>
          <p:cNvSpPr/>
          <p:nvPr/>
        </p:nvSpPr>
        <p:spPr>
          <a:xfrm>
            <a:off x="2962656" y="4114800"/>
            <a:ext cx="548640" cy="548640"/>
          </a:xfrm>
          <a:prstGeom prst="ellipse">
            <a:avLst/>
          </a:prstGeom>
          <a:solidFill>
            <a:srgbClr val="FFFFFF"/>
          </a:solidFill>
          <a:ln/>
        </p:spPr>
      </p:sp>
      <p:pic>
        <p:nvPicPr>
          <p:cNvPr id="12" name="Image 3" descr="preencoded.png">    </p:cNvPr>
          <p:cNvPicPr>
            <a:picLocks noChangeAspect="1"/>
          </p:cNvPicPr>
          <p:nvPr/>
        </p:nvPicPr>
        <p:blipFill>
          <a:blip r:embed="rId4"/>
          <a:stretch>
            <a:fillRect/>
          </a:stretch>
        </p:blipFill>
        <p:spPr>
          <a:xfrm>
            <a:off x="3072384" y="4224528"/>
            <a:ext cx="329184" cy="329184"/>
          </a:xfrm>
          <a:prstGeom prst="rect">
            <a:avLst/>
          </a:prstGeom>
        </p:spPr>
      </p:pic>
      <p:sp>
        <p:nvSpPr>
          <p:cNvPr id="13" name="Shape 7"/>
          <p:cNvSpPr/>
          <p:nvPr/>
        </p:nvSpPr>
        <p:spPr>
          <a:xfrm>
            <a:off x="3675888" y="4114800"/>
            <a:ext cx="548640" cy="548640"/>
          </a:xfrm>
          <a:prstGeom prst="ellipse">
            <a:avLst/>
          </a:prstGeom>
          <a:solidFill>
            <a:srgbClr val="FFFFFF"/>
          </a:solidFill>
          <a:ln/>
        </p:spPr>
      </p:sp>
      <p:pic>
        <p:nvPicPr>
          <p:cNvPr id="14" name="Image 4" descr="preencoded.png">    </p:cNvPr>
          <p:cNvPicPr>
            <a:picLocks noChangeAspect="1"/>
          </p:cNvPicPr>
          <p:nvPr/>
        </p:nvPicPr>
        <p:blipFill>
          <a:blip r:embed="rId5"/>
          <a:stretch>
            <a:fillRect/>
          </a:stretch>
        </p:blipFill>
        <p:spPr>
          <a:xfrm>
            <a:off x="3785616" y="4224528"/>
            <a:ext cx="329184" cy="329184"/>
          </a:xfrm>
          <a:prstGeom prst="rect">
            <a:avLst/>
          </a:prstGeom>
        </p:spPr>
      </p:pic>
      <p:sp>
        <p:nvSpPr>
          <p:cNvPr id="15" name="Shape 8"/>
          <p:cNvSpPr/>
          <p:nvPr/>
        </p:nvSpPr>
        <p:spPr>
          <a:xfrm>
            <a:off x="4389120" y="4114800"/>
            <a:ext cx="548640" cy="548640"/>
          </a:xfrm>
          <a:prstGeom prst="ellipse">
            <a:avLst/>
          </a:prstGeom>
          <a:solidFill>
            <a:srgbClr val="FFFFFF"/>
          </a:solidFill>
          <a:ln/>
        </p:spPr>
      </p:sp>
      <p:pic>
        <p:nvPicPr>
          <p:cNvPr id="16" name="Image 5" descr="preencoded.png">    </p:cNvPr>
          <p:cNvPicPr>
            <a:picLocks noChangeAspect="1"/>
          </p:cNvPicPr>
          <p:nvPr/>
        </p:nvPicPr>
        <p:blipFill>
          <a:blip r:embed="rId6"/>
          <a:stretch>
            <a:fillRect/>
          </a:stretch>
        </p:blipFill>
        <p:spPr>
          <a:xfrm>
            <a:off x="4498848" y="4224528"/>
            <a:ext cx="329184" cy="329184"/>
          </a:xfrm>
          <a:prstGeom prst="rect">
            <a:avLst/>
          </a:prstGeom>
        </p:spPr>
      </p:pic>
      <p:sp>
        <p:nvSpPr>
          <p:cNvPr id="17" name="Shape 9"/>
          <p:cNvSpPr/>
          <p:nvPr/>
        </p:nvSpPr>
        <p:spPr>
          <a:xfrm>
            <a:off x="5102352" y="4114800"/>
            <a:ext cx="548640" cy="548640"/>
          </a:xfrm>
          <a:prstGeom prst="ellipse">
            <a:avLst/>
          </a:prstGeom>
          <a:solidFill>
            <a:srgbClr val="FFFFFF"/>
          </a:solidFill>
          <a:ln/>
        </p:spPr>
      </p:sp>
      <p:pic>
        <p:nvPicPr>
          <p:cNvPr id="18" name="Image 6" descr="preencoded.png">    </p:cNvPr>
          <p:cNvPicPr>
            <a:picLocks noChangeAspect="1"/>
          </p:cNvPicPr>
          <p:nvPr/>
        </p:nvPicPr>
        <p:blipFill>
          <a:blip r:embed="rId7"/>
          <a:stretch>
            <a:fillRect/>
          </a:stretch>
        </p:blipFill>
        <p:spPr>
          <a:xfrm>
            <a:off x="5212080" y="4224528"/>
            <a:ext cx="329184" cy="329184"/>
          </a:xfrm>
          <a:prstGeom prst="rect">
            <a:avLst/>
          </a:prstGeom>
        </p:spPr>
      </p:pic>
      <p:sp>
        <p:nvSpPr>
          <p:cNvPr id="19" name="Shape 10"/>
          <p:cNvSpPr/>
          <p:nvPr/>
        </p:nvSpPr>
        <p:spPr>
          <a:xfrm>
            <a:off x="5815584" y="4114800"/>
            <a:ext cx="548640" cy="548640"/>
          </a:xfrm>
          <a:prstGeom prst="ellipse">
            <a:avLst/>
          </a:prstGeom>
          <a:solidFill>
            <a:srgbClr val="FFFFFF"/>
          </a:solidFill>
          <a:ln/>
        </p:spPr>
      </p:sp>
      <p:pic>
        <p:nvPicPr>
          <p:cNvPr id="20" name="Image 7" descr="preencoded.png">    </p:cNvPr>
          <p:cNvPicPr>
            <a:picLocks noChangeAspect="1"/>
          </p:cNvPicPr>
          <p:nvPr/>
        </p:nvPicPr>
        <p:blipFill>
          <a:blip r:embed="rId8"/>
          <a:stretch>
            <a:fillRect/>
          </a:stretch>
        </p:blipFill>
        <p:spPr>
          <a:xfrm>
            <a:off x="5925312" y="4224528"/>
            <a:ext cx="329184" cy="329184"/>
          </a:xfrm>
          <a:prstGeom prst="rect">
            <a:avLst/>
          </a:prstGeom>
        </p:spPr>
      </p:pic>
      <p:sp>
        <p:nvSpPr>
          <p:cNvPr id="21" name="Shape 11"/>
          <p:cNvSpPr/>
          <p:nvPr/>
        </p:nvSpPr>
        <p:spPr>
          <a:xfrm>
            <a:off x="6528816" y="4114800"/>
            <a:ext cx="548640" cy="548640"/>
          </a:xfrm>
          <a:prstGeom prst="ellipse">
            <a:avLst/>
          </a:prstGeom>
          <a:solidFill>
            <a:srgbClr val="FFFFFF"/>
          </a:solidFill>
          <a:ln/>
        </p:spPr>
      </p:sp>
      <p:pic>
        <p:nvPicPr>
          <p:cNvPr id="22" name="Image 8" descr="preencoded.png">    </p:cNvPr>
          <p:cNvPicPr>
            <a:picLocks noChangeAspect="1"/>
          </p:cNvPicPr>
          <p:nvPr/>
        </p:nvPicPr>
        <p:blipFill>
          <a:blip r:embed="rId9"/>
          <a:stretch>
            <a:fillRect/>
          </a:stretch>
        </p:blipFill>
        <p:spPr>
          <a:xfrm>
            <a:off x="6638544" y="4224528"/>
            <a:ext cx="329184" cy="329184"/>
          </a:xfrm>
          <a:prstGeom prst="rect">
            <a:avLst/>
          </a:prstGeom>
        </p:spPr>
      </p:pic>
      <p:sp>
        <p:nvSpPr>
          <p:cNvPr id="23" name="Shape 12"/>
          <p:cNvSpPr/>
          <p:nvPr/>
        </p:nvSpPr>
        <p:spPr>
          <a:xfrm>
            <a:off x="7242048" y="4114800"/>
            <a:ext cx="548640" cy="548640"/>
          </a:xfrm>
          <a:prstGeom prst="ellipse">
            <a:avLst/>
          </a:prstGeom>
          <a:solidFill>
            <a:srgbClr val="FFFFFF"/>
          </a:solidFill>
          <a:ln/>
        </p:spPr>
      </p:sp>
      <p:pic>
        <p:nvPicPr>
          <p:cNvPr id="24" name="Image 9" descr="preencoded.png">    </p:cNvPr>
          <p:cNvPicPr>
            <a:picLocks noChangeAspect="1"/>
          </p:cNvPicPr>
          <p:nvPr/>
        </p:nvPicPr>
        <p:blipFill>
          <a:blip r:embed="rId10"/>
          <a:stretch>
            <a:fillRect/>
          </a:stretch>
        </p:blipFill>
        <p:spPr>
          <a:xfrm>
            <a:off x="7351776" y="4224528"/>
            <a:ext cx="329184" cy="329184"/>
          </a:xfrm>
          <a:prstGeom prst="rect">
            <a:avLst/>
          </a:prstGeom>
        </p:spPr>
      </p:pic>
      <p:sp>
        <p:nvSpPr>
          <p:cNvPr id="25" name="Shape 13"/>
          <p:cNvSpPr/>
          <p:nvPr/>
        </p:nvSpPr>
        <p:spPr>
          <a:xfrm>
            <a:off x="7955280" y="4114800"/>
            <a:ext cx="548640" cy="548640"/>
          </a:xfrm>
          <a:prstGeom prst="ellipse">
            <a:avLst/>
          </a:prstGeom>
          <a:solidFill>
            <a:srgbClr val="FFFFFF"/>
          </a:solidFill>
          <a:ln/>
        </p:spPr>
      </p:sp>
      <p:pic>
        <p:nvPicPr>
          <p:cNvPr id="26" name="Image 10" descr="preencoded.png">    </p:cNvPr>
          <p:cNvPicPr>
            <a:picLocks noChangeAspect="1"/>
          </p:cNvPicPr>
          <p:nvPr/>
        </p:nvPicPr>
        <p:blipFill>
          <a:blip r:embed="rId11"/>
          <a:stretch>
            <a:fillRect/>
          </a:stretch>
        </p:blipFill>
        <p:spPr>
          <a:xfrm>
            <a:off x="8065008" y="4224528"/>
            <a:ext cx="329184" cy="329184"/>
          </a:xfrm>
          <a:prstGeom prst="rect">
            <a:avLst/>
          </a:prstGeom>
        </p:spPr>
      </p:pic>
      <p:sp>
        <p:nvSpPr>
          <p:cNvPr id="27" name="Text 14"/>
          <p:cNvSpPr txBox="1"/>
          <p:nvPr/>
        </p:nvSpPr>
        <p:spPr>
          <a:xfrm>
            <a:off x="822960" y="5852160"/>
            <a:ext cx="7315200" cy="365760"/>
          </a:xfrm>
          <a:prstGeom prst="rect">
            <a:avLst/>
          </a:prstGeom>
          <a:noFill/>
          <a:ln/>
        </p:spPr>
        <p:txBody>
          <a:bodyPr wrap="square" lIns="0" tIns="0" rIns="0" bIns="0" rtlCol="0" anchor="t"/>
          <a:lstStyle/>
          <a:p>
            <a:pPr indent="0" marL="0">
              <a:buNone/>
            </a:pPr>
            <a:r>
              <a:rPr lang="en-US" sz="1200" dirty="0">
                <a:solidFill>
                  <a:srgbClr val="8FD3CF"/>
                </a:solidFill>
                <a:latin typeface="Meiryo UI" pitchFamily="34" charset="0"/>
                <a:ea typeface="Meiryo UI" pitchFamily="34" charset="-122"/>
                <a:cs typeface="Meiryo UI" pitchFamily="34" charset="-120"/>
              </a:rPr>
              <a:t>2026年9月｜検討資料</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本資料について</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特定の構成を推すものではなく、取りうる選択肢と検討ポイントを並べて整理する</a:t>
            </a:r>
            <a:endParaRPr lang="en-US" sz="1400" dirty="0"/>
          </a:p>
        </p:txBody>
      </p:sp>
      <p:sp>
        <p:nvSpPr>
          <p:cNvPr id="4" name="Text 2"/>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a:t>
            </a:r>
            <a:endParaRPr lang="en-US" sz="900" dirty="0"/>
          </a:p>
        </p:txBody>
      </p:sp>
      <p:sp>
        <p:nvSpPr>
          <p:cNvPr id="5" name="Shape 3"/>
          <p:cNvSpPr/>
          <p:nvPr/>
        </p:nvSpPr>
        <p:spPr>
          <a:xfrm>
            <a:off x="548640" y="1463040"/>
            <a:ext cx="5486400" cy="1828800"/>
          </a:xfrm>
          <a:prstGeom prst="roundRect">
            <a:avLst>
              <a:gd name="adj" fmla="val 3000"/>
            </a:avLst>
          </a:prstGeom>
          <a:solidFill>
            <a:srgbClr val="D9F2F1"/>
          </a:solidFill>
          <a:ln/>
        </p:spPr>
      </p:sp>
      <p:sp>
        <p:nvSpPr>
          <p:cNvPr id="6" name="Shape 4"/>
          <p:cNvSpPr/>
          <p:nvPr/>
        </p:nvSpPr>
        <p:spPr>
          <a:xfrm>
            <a:off x="731520" y="1627632"/>
            <a:ext cx="457200" cy="45720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822960" y="1719072"/>
            <a:ext cx="274320" cy="274320"/>
          </a:xfrm>
          <a:prstGeom prst="rect">
            <a:avLst/>
          </a:prstGeom>
        </p:spPr>
      </p:pic>
      <p:sp>
        <p:nvSpPr>
          <p:cNvPr id="8" name="Text 5"/>
          <p:cNvSpPr txBox="1"/>
          <p:nvPr/>
        </p:nvSpPr>
        <p:spPr>
          <a:xfrm>
            <a:off x="1280160" y="1627632"/>
            <a:ext cx="365760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目的</a:t>
            </a:r>
            <a:endParaRPr lang="en-US" sz="1500" dirty="0"/>
          </a:p>
        </p:txBody>
      </p:sp>
      <p:sp>
        <p:nvSpPr>
          <p:cNvPr id="9" name="Text 6"/>
          <p:cNvSpPr txBox="1"/>
          <p:nvPr/>
        </p:nvSpPr>
        <p:spPr>
          <a:xfrm>
            <a:off x="731520" y="2194560"/>
            <a:ext cx="5120640" cy="1005840"/>
          </a:xfrm>
          <a:prstGeom prst="rect">
            <a:avLst/>
          </a:prstGeom>
          <a:noFill/>
          <a:ln/>
        </p:spPr>
        <p:txBody>
          <a:bodyPr wrap="square" lIns="508" tIns="508" rIns="508" bIns="508" rtlCol="0" anchor="t"/>
          <a:lstStyle/>
          <a:p>
            <a:pPr indent="0" marL="0">
              <a:buNone/>
            </a:pPr>
            <a:r>
              <a:rPr lang="en-US" sz="1250" dirty="0">
                <a:solidFill>
                  <a:srgbClr val="2B2B2B"/>
                </a:solidFill>
                <a:latin typeface="Meiryo UI" pitchFamily="34" charset="0"/>
                <a:ea typeface="Meiryo UI" pitchFamily="34" charset="-122"/>
                <a:cs typeface="Meiryo UI" pitchFamily="34" charset="-120"/>
              </a:rPr>
              <a:t>配信の企画工程（商品選定・コピー制作・制作指示）にAIを組み込む際に、どのような構成の選択肢があり、それぞれ何が必要で、選ぶときに何を確認すべきかを整理する。</a:t>
            </a:r>
            <a:endParaRPr lang="en-US" sz="1250" dirty="0"/>
          </a:p>
        </p:txBody>
      </p:sp>
      <p:sp>
        <p:nvSpPr>
          <p:cNvPr id="10" name="Shape 7"/>
          <p:cNvSpPr/>
          <p:nvPr/>
        </p:nvSpPr>
        <p:spPr>
          <a:xfrm>
            <a:off x="548640" y="3474720"/>
            <a:ext cx="5486400" cy="2834640"/>
          </a:xfrm>
          <a:prstGeom prst="roundRect">
            <a:avLst>
              <a:gd name="adj" fmla="val 1935"/>
            </a:avLst>
          </a:prstGeom>
          <a:solidFill>
            <a:srgbClr val="F3F5F8"/>
          </a:solidFill>
          <a:ln/>
        </p:spPr>
      </p:sp>
      <p:sp>
        <p:nvSpPr>
          <p:cNvPr id="11" name="Text 8"/>
          <p:cNvSpPr txBox="1"/>
          <p:nvPr/>
        </p:nvSpPr>
        <p:spPr>
          <a:xfrm>
            <a:off x="731520" y="3584448"/>
            <a:ext cx="4572000" cy="365760"/>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本資料の読み方</a:t>
            </a:r>
            <a:endParaRPr lang="en-US" sz="1400" dirty="0"/>
          </a:p>
        </p:txBody>
      </p:sp>
      <p:sp>
        <p:nvSpPr>
          <p:cNvPr id="12" name="Shape 9"/>
          <p:cNvSpPr/>
          <p:nvPr/>
        </p:nvSpPr>
        <p:spPr>
          <a:xfrm>
            <a:off x="731520" y="4114800"/>
            <a:ext cx="457200" cy="457200"/>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822960" y="4206240"/>
            <a:ext cx="274320" cy="274320"/>
          </a:xfrm>
          <a:prstGeom prst="rect">
            <a:avLst/>
          </a:prstGeom>
        </p:spPr>
      </p:pic>
      <p:sp>
        <p:nvSpPr>
          <p:cNvPr id="14" name="Text 10"/>
          <p:cNvSpPr txBox="1"/>
          <p:nvPr/>
        </p:nvSpPr>
        <p:spPr>
          <a:xfrm>
            <a:off x="1325880" y="4114800"/>
            <a:ext cx="4572000" cy="457200"/>
          </a:xfrm>
          <a:prstGeom prst="rect">
            <a:avLst/>
          </a:prstGeom>
          <a:noFill/>
          <a:ln/>
        </p:spPr>
        <p:txBody>
          <a:bodyPr wrap="square" lIns="0" tIns="0" rIns="0" bIns="0"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4つの軸（集約先・管理基盤・自動化の範囲・展開の単位）で選択肢を整理</a:t>
            </a:r>
            <a:endParaRPr lang="en-US" sz="1200" dirty="0"/>
          </a:p>
        </p:txBody>
      </p:sp>
      <p:sp>
        <p:nvSpPr>
          <p:cNvPr id="15" name="Shape 11"/>
          <p:cNvSpPr/>
          <p:nvPr/>
        </p:nvSpPr>
        <p:spPr>
          <a:xfrm>
            <a:off x="731520" y="4800600"/>
            <a:ext cx="457200" cy="45720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822960" y="4892040"/>
            <a:ext cx="274320" cy="274320"/>
          </a:xfrm>
          <a:prstGeom prst="rect">
            <a:avLst/>
          </a:prstGeom>
        </p:spPr>
      </p:pic>
      <p:sp>
        <p:nvSpPr>
          <p:cNvPr id="17" name="Text 12"/>
          <p:cNvSpPr txBox="1"/>
          <p:nvPr/>
        </p:nvSpPr>
        <p:spPr>
          <a:xfrm>
            <a:off x="1325880" y="4800600"/>
            <a:ext cx="4572000" cy="457200"/>
          </a:xfrm>
          <a:prstGeom prst="rect">
            <a:avLst/>
          </a:prstGeom>
          <a:noFill/>
          <a:ln/>
        </p:spPr>
        <p:txBody>
          <a:bodyPr wrap="square" lIns="0" tIns="0" rIns="0" bIns="0"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各パターンは構成図・必要な機能・特徴・留意点・検討ポイントで説明</a:t>
            </a:r>
            <a:endParaRPr lang="en-US" sz="1200" dirty="0"/>
          </a:p>
        </p:txBody>
      </p:sp>
      <p:sp>
        <p:nvSpPr>
          <p:cNvPr id="18" name="Shape 13"/>
          <p:cNvSpPr/>
          <p:nvPr/>
        </p:nvSpPr>
        <p:spPr>
          <a:xfrm>
            <a:off x="731520" y="5486400"/>
            <a:ext cx="457200" cy="457200"/>
          </a:xfrm>
          <a:prstGeom prst="ellipse">
            <a:avLst/>
          </a:prstGeom>
          <a:solidFill>
            <a:srgbClr val="FFFFFF"/>
          </a:solidFill>
          <a:ln/>
        </p:spPr>
      </p:sp>
      <p:pic>
        <p:nvPicPr>
          <p:cNvPr id="19" name="Image 3" descr="preencoded.png">    </p:cNvPr>
          <p:cNvPicPr>
            <a:picLocks noChangeAspect="1"/>
          </p:cNvPicPr>
          <p:nvPr/>
        </p:nvPicPr>
        <p:blipFill>
          <a:blip r:embed="rId4"/>
          <a:stretch>
            <a:fillRect/>
          </a:stretch>
        </p:blipFill>
        <p:spPr>
          <a:xfrm>
            <a:off x="822960" y="5577840"/>
            <a:ext cx="274320" cy="274320"/>
          </a:xfrm>
          <a:prstGeom prst="rect">
            <a:avLst/>
          </a:prstGeom>
        </p:spPr>
      </p:pic>
      <p:sp>
        <p:nvSpPr>
          <p:cNvPr id="20" name="Text 14"/>
          <p:cNvSpPr txBox="1"/>
          <p:nvPr/>
        </p:nvSpPr>
        <p:spPr>
          <a:xfrm>
            <a:off x="1325880" y="5486400"/>
            <a:ext cx="4572000" cy="457200"/>
          </a:xfrm>
          <a:prstGeom prst="rect">
            <a:avLst/>
          </a:prstGeom>
          <a:noFill/>
          <a:ln/>
        </p:spPr>
        <p:txBody>
          <a:bodyPr wrap="square" lIns="0" tIns="0" rIns="0" bIns="0"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最後に、判断に必要な要件と検証の候補をまとめる</a:t>
            </a:r>
            <a:endParaRPr lang="en-US" sz="1200" dirty="0"/>
          </a:p>
        </p:txBody>
      </p:sp>
      <p:sp>
        <p:nvSpPr>
          <p:cNvPr id="21" name="Text 15"/>
          <p:cNvSpPr txBox="1"/>
          <p:nvPr/>
        </p:nvSpPr>
        <p:spPr>
          <a:xfrm>
            <a:off x="6400800" y="1463040"/>
            <a:ext cx="4572000" cy="365760"/>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目次</a:t>
            </a:r>
            <a:endParaRPr lang="en-US" sz="1400" dirty="0"/>
          </a:p>
        </p:txBody>
      </p:sp>
      <p:sp>
        <p:nvSpPr>
          <p:cNvPr id="22" name="Shape 16"/>
          <p:cNvSpPr/>
          <p:nvPr/>
        </p:nvSpPr>
        <p:spPr>
          <a:xfrm>
            <a:off x="6400800" y="1920240"/>
            <a:ext cx="384048" cy="384048"/>
          </a:xfrm>
          <a:prstGeom prst="ellipse">
            <a:avLst/>
          </a:prstGeom>
          <a:solidFill>
            <a:srgbClr val="0E9F9A"/>
          </a:solidFill>
          <a:ln/>
        </p:spPr>
      </p:sp>
      <p:sp>
        <p:nvSpPr>
          <p:cNvPr id="23" name="Text 17"/>
          <p:cNvSpPr txBox="1"/>
          <p:nvPr/>
        </p:nvSpPr>
        <p:spPr>
          <a:xfrm>
            <a:off x="6400800" y="19202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24" name="Text 18"/>
          <p:cNvSpPr txBox="1"/>
          <p:nvPr/>
        </p:nvSpPr>
        <p:spPr>
          <a:xfrm>
            <a:off x="6949440" y="1920240"/>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現状と検討の枠組み（現状・4つの工程・4つの軸）</a:t>
            </a:r>
            <a:endParaRPr lang="en-US" sz="1300" dirty="0"/>
          </a:p>
        </p:txBody>
      </p:sp>
      <p:sp>
        <p:nvSpPr>
          <p:cNvPr id="25" name="Shape 19"/>
          <p:cNvSpPr/>
          <p:nvPr/>
        </p:nvSpPr>
        <p:spPr>
          <a:xfrm>
            <a:off x="6400800" y="2523744"/>
            <a:ext cx="384048" cy="384048"/>
          </a:xfrm>
          <a:prstGeom prst="ellipse">
            <a:avLst/>
          </a:prstGeom>
          <a:solidFill>
            <a:srgbClr val="0E9F9A"/>
          </a:solidFill>
          <a:ln/>
        </p:spPr>
      </p:sp>
      <p:sp>
        <p:nvSpPr>
          <p:cNvPr id="26" name="Text 20"/>
          <p:cNvSpPr txBox="1"/>
          <p:nvPr/>
        </p:nvSpPr>
        <p:spPr>
          <a:xfrm>
            <a:off x="6400800" y="252374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27" name="Text 21"/>
          <p:cNvSpPr txBox="1"/>
          <p:nvPr/>
        </p:nvSpPr>
        <p:spPr>
          <a:xfrm>
            <a:off x="6949440" y="2523744"/>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構成パターンの全体像と比較（13案・コスト構造）</a:t>
            </a:r>
            <a:endParaRPr lang="en-US" sz="1300" dirty="0"/>
          </a:p>
        </p:txBody>
      </p:sp>
      <p:sp>
        <p:nvSpPr>
          <p:cNvPr id="28" name="Shape 22"/>
          <p:cNvSpPr/>
          <p:nvPr/>
        </p:nvSpPr>
        <p:spPr>
          <a:xfrm>
            <a:off x="6400800" y="3127248"/>
            <a:ext cx="384048" cy="384048"/>
          </a:xfrm>
          <a:prstGeom prst="ellipse">
            <a:avLst/>
          </a:prstGeom>
          <a:solidFill>
            <a:srgbClr val="0E9F9A"/>
          </a:solidFill>
          <a:ln/>
        </p:spPr>
      </p:sp>
      <p:sp>
        <p:nvSpPr>
          <p:cNvPr id="29" name="Text 23"/>
          <p:cNvSpPr txBox="1"/>
          <p:nvPr/>
        </p:nvSpPr>
        <p:spPr>
          <a:xfrm>
            <a:off x="6400800" y="312724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30" name="Text 24"/>
          <p:cNvSpPr txBox="1"/>
          <p:nvPr/>
        </p:nvSpPr>
        <p:spPr>
          <a:xfrm>
            <a:off x="6949440" y="3127248"/>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共通要素（データ・ナレッジ・運用・AIの実行方式・権限）</a:t>
            </a:r>
            <a:endParaRPr lang="en-US" sz="1300" dirty="0"/>
          </a:p>
        </p:txBody>
      </p:sp>
      <p:sp>
        <p:nvSpPr>
          <p:cNvPr id="31" name="Shape 25"/>
          <p:cNvSpPr/>
          <p:nvPr/>
        </p:nvSpPr>
        <p:spPr>
          <a:xfrm>
            <a:off x="6400800" y="3730752"/>
            <a:ext cx="384048" cy="384048"/>
          </a:xfrm>
          <a:prstGeom prst="ellipse">
            <a:avLst/>
          </a:prstGeom>
          <a:solidFill>
            <a:srgbClr val="0E9F9A"/>
          </a:solidFill>
          <a:ln/>
        </p:spPr>
      </p:sp>
      <p:sp>
        <p:nvSpPr>
          <p:cNvPr id="32" name="Text 26"/>
          <p:cNvSpPr txBox="1"/>
          <p:nvPr/>
        </p:nvSpPr>
        <p:spPr>
          <a:xfrm>
            <a:off x="6400800" y="373075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4</a:t>
            </a:r>
            <a:endParaRPr lang="en-US" sz="1100" dirty="0"/>
          </a:p>
        </p:txBody>
      </p:sp>
      <p:sp>
        <p:nvSpPr>
          <p:cNvPr id="33" name="Text 27"/>
          <p:cNvSpPr txBox="1"/>
          <p:nvPr/>
        </p:nvSpPr>
        <p:spPr>
          <a:xfrm>
            <a:off x="6949440" y="3730752"/>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各パターンの詳細（A1〜A8、H1、B1〜B3、C1）と進め方の例</a:t>
            </a:r>
            <a:endParaRPr lang="en-US" sz="1300" dirty="0"/>
          </a:p>
        </p:txBody>
      </p:sp>
      <p:sp>
        <p:nvSpPr>
          <p:cNvPr id="34" name="Shape 28"/>
          <p:cNvSpPr/>
          <p:nvPr/>
        </p:nvSpPr>
        <p:spPr>
          <a:xfrm>
            <a:off x="6400800" y="4334256"/>
            <a:ext cx="384048" cy="384048"/>
          </a:xfrm>
          <a:prstGeom prst="ellipse">
            <a:avLst/>
          </a:prstGeom>
          <a:solidFill>
            <a:srgbClr val="0E9F9A"/>
          </a:solidFill>
          <a:ln/>
        </p:spPr>
      </p:sp>
      <p:sp>
        <p:nvSpPr>
          <p:cNvPr id="35" name="Text 29"/>
          <p:cNvSpPr txBox="1"/>
          <p:nvPr/>
        </p:nvSpPr>
        <p:spPr>
          <a:xfrm>
            <a:off x="6400800" y="433425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5</a:t>
            </a:r>
            <a:endParaRPr lang="en-US" sz="1100" dirty="0"/>
          </a:p>
        </p:txBody>
      </p:sp>
      <p:sp>
        <p:nvSpPr>
          <p:cNvPr id="36" name="Text 30"/>
          <p:cNvSpPr txBox="1"/>
          <p:nvPr/>
        </p:nvSpPr>
        <p:spPr>
          <a:xfrm>
            <a:off x="6949440" y="4334256"/>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個別論点（リアルタイムSQL、Airtable連携、code apps、Gemini、Entra・Graph）</a:t>
            </a:r>
            <a:endParaRPr lang="en-US" sz="1300" dirty="0"/>
          </a:p>
        </p:txBody>
      </p:sp>
      <p:sp>
        <p:nvSpPr>
          <p:cNvPr id="37" name="Shape 31"/>
          <p:cNvSpPr/>
          <p:nvPr/>
        </p:nvSpPr>
        <p:spPr>
          <a:xfrm>
            <a:off x="6400800" y="4937760"/>
            <a:ext cx="384048" cy="384048"/>
          </a:xfrm>
          <a:prstGeom prst="ellipse">
            <a:avLst/>
          </a:prstGeom>
          <a:solidFill>
            <a:srgbClr val="0E9F9A"/>
          </a:solidFill>
          <a:ln/>
        </p:spPr>
      </p:sp>
      <p:sp>
        <p:nvSpPr>
          <p:cNvPr id="38" name="Text 32"/>
          <p:cNvSpPr txBox="1"/>
          <p:nvPr/>
        </p:nvSpPr>
        <p:spPr>
          <a:xfrm>
            <a:off x="6400800" y="493776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6</a:t>
            </a:r>
            <a:endParaRPr lang="en-US" sz="1100" dirty="0"/>
          </a:p>
        </p:txBody>
      </p:sp>
      <p:sp>
        <p:nvSpPr>
          <p:cNvPr id="39" name="Text 33"/>
          <p:cNvSpPr txBox="1"/>
          <p:nvPr/>
        </p:nvSpPr>
        <p:spPr>
          <a:xfrm>
            <a:off x="6949440" y="4937760"/>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判断材料（要件・検証候補）</a:t>
            </a:r>
            <a:endParaRPr lang="en-US" sz="1300" dirty="0"/>
          </a:p>
        </p:txBody>
      </p:sp>
      <p:sp>
        <p:nvSpPr>
          <p:cNvPr id="40" name="Shape 34"/>
          <p:cNvSpPr/>
          <p:nvPr/>
        </p:nvSpPr>
        <p:spPr>
          <a:xfrm>
            <a:off x="6400800" y="5541264"/>
            <a:ext cx="384048" cy="384048"/>
          </a:xfrm>
          <a:prstGeom prst="ellipse">
            <a:avLst/>
          </a:prstGeom>
          <a:solidFill>
            <a:srgbClr val="0E9F9A"/>
          </a:solidFill>
          <a:ln/>
        </p:spPr>
      </p:sp>
      <p:sp>
        <p:nvSpPr>
          <p:cNvPr id="41" name="Text 35"/>
          <p:cNvSpPr txBox="1"/>
          <p:nvPr/>
        </p:nvSpPr>
        <p:spPr>
          <a:xfrm>
            <a:off x="6400800" y="554126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7</a:t>
            </a:r>
            <a:endParaRPr lang="en-US" sz="1100" dirty="0"/>
          </a:p>
        </p:txBody>
      </p:sp>
      <p:sp>
        <p:nvSpPr>
          <p:cNvPr id="42" name="Text 36"/>
          <p:cNvSpPr txBox="1"/>
          <p:nvPr/>
        </p:nvSpPr>
        <p:spPr>
          <a:xfrm>
            <a:off x="6949440" y="5541264"/>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付録（用語集）</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現状の業務フローと課題</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SharePointの資料と、別途提供される売上・在庫資料をもとに、マーケターがほぼ毎日、手作業で企画に落とし込んでいる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a:t>
            </a:r>
            <a:endParaRPr lang="en-US" sz="900" dirty="0"/>
          </a:p>
        </p:txBody>
      </p:sp>
      <p:sp>
        <p:nvSpPr>
          <p:cNvPr id="6" name="Shape 4"/>
          <p:cNvSpPr/>
          <p:nvPr/>
        </p:nvSpPr>
        <p:spPr>
          <a:xfrm>
            <a:off x="548640" y="1463040"/>
            <a:ext cx="2926080" cy="475488"/>
          </a:xfrm>
          <a:prstGeom prst="roundRect">
            <a:avLst>
              <a:gd name="adj" fmla="val 15385"/>
            </a:avLst>
          </a:prstGeom>
          <a:solidFill>
            <a:srgbClr val="E3EAF5"/>
          </a:solidFill>
          <a:ln/>
        </p:spPr>
      </p:sp>
      <p:pic>
        <p:nvPicPr>
          <p:cNvPr id="7" name="Image 0" descr="preencoded.png">    </p:cNvPr>
          <p:cNvPicPr>
            <a:picLocks noChangeAspect="1"/>
          </p:cNvPicPr>
          <p:nvPr/>
        </p:nvPicPr>
        <p:blipFill>
          <a:blip r:embed="rId1"/>
          <a:stretch>
            <a:fillRect/>
          </a:stretch>
        </p:blipFill>
        <p:spPr>
          <a:xfrm>
            <a:off x="658368" y="1545336"/>
            <a:ext cx="310896" cy="310896"/>
          </a:xfrm>
          <a:prstGeom prst="rect">
            <a:avLst/>
          </a:prstGeom>
        </p:spPr>
      </p:pic>
      <p:sp>
        <p:nvSpPr>
          <p:cNvPr id="8" name="Text 5"/>
          <p:cNvSpPr txBox="1"/>
          <p:nvPr/>
        </p:nvSpPr>
        <p:spPr>
          <a:xfrm>
            <a:off x="1060704" y="1463040"/>
            <a:ext cx="2368296" cy="47548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マーケティングポリシー</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SharePoint（Excel）</a:t>
            </a:r>
            <a:endParaRPr lang="en-US" sz="1050" dirty="0"/>
          </a:p>
        </p:txBody>
      </p:sp>
      <p:sp>
        <p:nvSpPr>
          <p:cNvPr id="9" name="Shape 6"/>
          <p:cNvSpPr/>
          <p:nvPr/>
        </p:nvSpPr>
        <p:spPr>
          <a:xfrm>
            <a:off x="3520440" y="1700784"/>
            <a:ext cx="548640" cy="996696"/>
          </a:xfrm>
          <a:prstGeom prst="line">
            <a:avLst/>
          </a:prstGeom>
          <a:noFill/>
          <a:ln w="22225">
            <a:solidFill>
              <a:srgbClr val="9AA5B4"/>
            </a:solidFill>
            <a:prstDash val="solid"/>
            <a:tailEnd type="triangle"/>
          </a:ln>
        </p:spPr>
      </p:sp>
      <p:sp>
        <p:nvSpPr>
          <p:cNvPr id="10" name="Shape 7"/>
          <p:cNvSpPr/>
          <p:nvPr/>
        </p:nvSpPr>
        <p:spPr>
          <a:xfrm>
            <a:off x="548640" y="2011680"/>
            <a:ext cx="2926080" cy="475488"/>
          </a:xfrm>
          <a:prstGeom prst="roundRect">
            <a:avLst>
              <a:gd name="adj" fmla="val 15385"/>
            </a:avLst>
          </a:prstGeom>
          <a:solidFill>
            <a:srgbClr val="E3EAF5"/>
          </a:solidFill>
          <a:ln/>
        </p:spPr>
      </p:sp>
      <p:pic>
        <p:nvPicPr>
          <p:cNvPr id="11" name="Image 1" descr="preencoded.png">    </p:cNvPr>
          <p:cNvPicPr>
            <a:picLocks noChangeAspect="1"/>
          </p:cNvPicPr>
          <p:nvPr/>
        </p:nvPicPr>
        <p:blipFill>
          <a:blip r:embed="rId2"/>
          <a:stretch>
            <a:fillRect/>
          </a:stretch>
        </p:blipFill>
        <p:spPr>
          <a:xfrm>
            <a:off x="658368" y="2093976"/>
            <a:ext cx="310896" cy="310896"/>
          </a:xfrm>
          <a:prstGeom prst="rect">
            <a:avLst/>
          </a:prstGeom>
        </p:spPr>
      </p:pic>
      <p:sp>
        <p:nvSpPr>
          <p:cNvPr id="12" name="Text 8"/>
          <p:cNvSpPr txBox="1"/>
          <p:nvPr/>
        </p:nvSpPr>
        <p:spPr>
          <a:xfrm>
            <a:off x="1060704" y="2011680"/>
            <a:ext cx="2368296" cy="47548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商品マスタ</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SharePoint（社内資料）※Airtableにも取込あり</a:t>
            </a:r>
            <a:endParaRPr lang="en-US" sz="1050" dirty="0"/>
          </a:p>
        </p:txBody>
      </p:sp>
      <p:sp>
        <p:nvSpPr>
          <p:cNvPr id="13" name="Shape 9"/>
          <p:cNvSpPr/>
          <p:nvPr/>
        </p:nvSpPr>
        <p:spPr>
          <a:xfrm>
            <a:off x="3520440" y="2249424"/>
            <a:ext cx="548640" cy="448056"/>
          </a:xfrm>
          <a:prstGeom prst="line">
            <a:avLst/>
          </a:prstGeom>
          <a:noFill/>
          <a:ln w="22225">
            <a:solidFill>
              <a:srgbClr val="9AA5B4"/>
            </a:solidFill>
            <a:prstDash val="solid"/>
            <a:tailEnd type="triangle"/>
          </a:ln>
        </p:spPr>
      </p:sp>
      <p:sp>
        <p:nvSpPr>
          <p:cNvPr id="14" name="Shape 10"/>
          <p:cNvSpPr/>
          <p:nvPr/>
        </p:nvSpPr>
        <p:spPr>
          <a:xfrm>
            <a:off x="548640" y="2560320"/>
            <a:ext cx="2926080" cy="475488"/>
          </a:xfrm>
          <a:prstGeom prst="roundRect">
            <a:avLst>
              <a:gd name="adj" fmla="val 15385"/>
            </a:avLst>
          </a:prstGeom>
          <a:solidFill>
            <a:srgbClr val="E3EAF5"/>
          </a:solidFill>
          <a:ln/>
        </p:spPr>
      </p:sp>
      <p:pic>
        <p:nvPicPr>
          <p:cNvPr id="15" name="Image 2" descr="preencoded.png">    </p:cNvPr>
          <p:cNvPicPr>
            <a:picLocks noChangeAspect="1"/>
          </p:cNvPicPr>
          <p:nvPr/>
        </p:nvPicPr>
        <p:blipFill>
          <a:blip r:embed="rId3"/>
          <a:stretch>
            <a:fillRect/>
          </a:stretch>
        </p:blipFill>
        <p:spPr>
          <a:xfrm>
            <a:off x="658368" y="2642616"/>
            <a:ext cx="310896" cy="310896"/>
          </a:xfrm>
          <a:prstGeom prst="rect">
            <a:avLst/>
          </a:prstGeom>
        </p:spPr>
      </p:pic>
      <p:sp>
        <p:nvSpPr>
          <p:cNvPr id="16" name="Text 11"/>
          <p:cNvSpPr txBox="1"/>
          <p:nvPr/>
        </p:nvSpPr>
        <p:spPr>
          <a:xfrm>
            <a:off x="1060704" y="2560320"/>
            <a:ext cx="2368296" cy="47548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売上・在庫資料</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別途提供されるレポート</a:t>
            </a:r>
            <a:endParaRPr lang="en-US" sz="1050" dirty="0"/>
          </a:p>
        </p:txBody>
      </p:sp>
      <p:sp>
        <p:nvSpPr>
          <p:cNvPr id="17" name="Shape 12"/>
          <p:cNvSpPr/>
          <p:nvPr/>
        </p:nvSpPr>
        <p:spPr>
          <a:xfrm flipV="1">
            <a:off x="3520440" y="2697480"/>
            <a:ext cx="548640" cy="100584"/>
          </a:xfrm>
          <a:prstGeom prst="line">
            <a:avLst/>
          </a:prstGeom>
          <a:noFill/>
          <a:ln w="22225">
            <a:solidFill>
              <a:srgbClr val="9AA5B4"/>
            </a:solidFill>
            <a:prstDash val="solid"/>
            <a:tailEnd type="triangle"/>
          </a:ln>
        </p:spPr>
      </p:sp>
      <p:sp>
        <p:nvSpPr>
          <p:cNvPr id="18" name="Shape 13"/>
          <p:cNvSpPr/>
          <p:nvPr/>
        </p:nvSpPr>
        <p:spPr>
          <a:xfrm>
            <a:off x="548640" y="3108960"/>
            <a:ext cx="2926080" cy="475488"/>
          </a:xfrm>
          <a:prstGeom prst="roundRect">
            <a:avLst>
              <a:gd name="adj" fmla="val 15385"/>
            </a:avLst>
          </a:prstGeom>
          <a:solidFill>
            <a:srgbClr val="E3EAF5"/>
          </a:solidFill>
          <a:ln/>
        </p:spPr>
      </p:sp>
      <p:pic>
        <p:nvPicPr>
          <p:cNvPr id="19" name="Image 3" descr="preencoded.png">    </p:cNvPr>
          <p:cNvPicPr>
            <a:picLocks noChangeAspect="1"/>
          </p:cNvPicPr>
          <p:nvPr/>
        </p:nvPicPr>
        <p:blipFill>
          <a:blip r:embed="rId4"/>
          <a:stretch>
            <a:fillRect/>
          </a:stretch>
        </p:blipFill>
        <p:spPr>
          <a:xfrm>
            <a:off x="658368" y="3191256"/>
            <a:ext cx="310896" cy="310896"/>
          </a:xfrm>
          <a:prstGeom prst="rect">
            <a:avLst/>
          </a:prstGeom>
        </p:spPr>
      </p:pic>
      <p:sp>
        <p:nvSpPr>
          <p:cNvPr id="20" name="Text 14"/>
          <p:cNvSpPr txBox="1"/>
          <p:nvPr/>
        </p:nvSpPr>
        <p:spPr>
          <a:xfrm>
            <a:off x="1060704" y="3108960"/>
            <a:ext cx="2368296" cy="47548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各種マーケ資料</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a:t>
            </a:r>
            <a:endParaRPr lang="en-US" sz="1050" dirty="0"/>
          </a:p>
        </p:txBody>
      </p:sp>
      <p:sp>
        <p:nvSpPr>
          <p:cNvPr id="21" name="Shape 15"/>
          <p:cNvSpPr/>
          <p:nvPr/>
        </p:nvSpPr>
        <p:spPr>
          <a:xfrm flipV="1">
            <a:off x="3520440" y="2697480"/>
            <a:ext cx="548640" cy="649224"/>
          </a:xfrm>
          <a:prstGeom prst="line">
            <a:avLst/>
          </a:prstGeom>
          <a:noFill/>
          <a:ln w="22225">
            <a:solidFill>
              <a:srgbClr val="9AA5B4"/>
            </a:solidFill>
            <a:prstDash val="solid"/>
            <a:tailEnd type="triangle"/>
          </a:ln>
        </p:spPr>
      </p:sp>
      <p:sp>
        <p:nvSpPr>
          <p:cNvPr id="22" name="Shape 16"/>
          <p:cNvSpPr/>
          <p:nvPr/>
        </p:nvSpPr>
        <p:spPr>
          <a:xfrm>
            <a:off x="548640" y="3657600"/>
            <a:ext cx="2926080" cy="548640"/>
          </a:xfrm>
          <a:prstGeom prst="roundRect">
            <a:avLst>
              <a:gd name="adj" fmla="val 13333"/>
            </a:avLst>
          </a:prstGeom>
          <a:solidFill>
            <a:srgbClr val="FFFFFF"/>
          </a:solidFill>
          <a:ln w="12700">
            <a:solidFill>
              <a:srgbClr val="9AA5B4"/>
            </a:solidFill>
            <a:prstDash val="dash"/>
          </a:ln>
        </p:spPr>
      </p:sp>
      <p:pic>
        <p:nvPicPr>
          <p:cNvPr id="23" name="Image 4" descr="preencoded.png">    </p:cNvPr>
          <p:cNvPicPr>
            <a:picLocks noChangeAspect="1"/>
          </p:cNvPicPr>
          <p:nvPr/>
        </p:nvPicPr>
        <p:blipFill>
          <a:blip r:embed="rId5">
            <a:alphaModFix amt="60000"/>
          </a:blip>
          <a:stretch>
            <a:fillRect/>
          </a:stretch>
        </p:blipFill>
        <p:spPr>
          <a:xfrm>
            <a:off x="658368" y="3776472"/>
            <a:ext cx="310896" cy="310896"/>
          </a:xfrm>
          <a:prstGeom prst="rect">
            <a:avLst/>
          </a:prstGeom>
        </p:spPr>
      </p:pic>
      <p:sp>
        <p:nvSpPr>
          <p:cNvPr id="24" name="Text 17"/>
          <p:cNvSpPr txBox="1"/>
          <p:nvPr/>
        </p:nvSpPr>
        <p:spPr>
          <a:xfrm>
            <a:off x="1051560" y="3657600"/>
            <a:ext cx="2395728" cy="548640"/>
          </a:xfrm>
          <a:prstGeom prst="rect">
            <a:avLst/>
          </a:prstGeom>
          <a:noFill/>
          <a:ln/>
        </p:spPr>
        <p:txBody>
          <a:bodyPr wrap="square" lIns="0" tIns="0" rIns="0" bIns="0" rtlCol="0" anchor="ctr"/>
          <a:lstStyle/>
          <a:p>
            <a:pPr indent="0" marL="0">
              <a:buNone/>
            </a:pPr>
            <a:r>
              <a:rPr lang="en-US" sz="950" b="1" dirty="0">
                <a:solidFill>
                  <a:srgbClr val="6B7280"/>
                </a:solidFill>
                <a:latin typeface="Meiryo UI" pitchFamily="34" charset="0"/>
                <a:ea typeface="Meiryo UI" pitchFamily="34" charset="-122"/>
                <a:cs typeface="Meiryo UI" pitchFamily="34" charset="-120"/>
              </a:rPr>
              <a:t>BigQuery（企画では直接参照していない）</a:t>
            </a:r>
            <a:endParaRPr lang="en-US" sz="950" dirty="0"/>
          </a:p>
          <a:p>
            <a:pPr indent="0" marL="0">
              <a:buNone/>
            </a:pPr>
            <a:r>
              <a:rPr lang="en-US" sz="800" dirty="0">
                <a:solidFill>
                  <a:srgbClr val="6B7280"/>
                </a:solidFill>
                <a:latin typeface="Meiryo UI" pitchFamily="34" charset="0"/>
                <a:ea typeface="Meiryo UI" pitchFamily="34" charset="-122"/>
                <a:cs typeface="Meiryo UI" pitchFamily="34" charset="-120"/>
              </a:rPr>
              <a:t>直近の売上・在庫、カテゴリ・タグ、レビュー、天気予報など</a:t>
            </a:r>
            <a:endParaRPr lang="en-US" sz="950" dirty="0"/>
          </a:p>
        </p:txBody>
      </p:sp>
      <p:sp>
        <p:nvSpPr>
          <p:cNvPr id="25" name="Shape 18"/>
          <p:cNvSpPr/>
          <p:nvPr/>
        </p:nvSpPr>
        <p:spPr>
          <a:xfrm>
            <a:off x="4114800" y="1463040"/>
            <a:ext cx="3749040" cy="2560320"/>
          </a:xfrm>
          <a:prstGeom prst="roundRect">
            <a:avLst>
              <a:gd name="adj" fmla="val 2143"/>
            </a:avLst>
          </a:prstGeom>
          <a:solidFill>
            <a:srgbClr val="FDEBD3"/>
          </a:solidFill>
          <a:ln/>
        </p:spPr>
      </p:sp>
      <p:sp>
        <p:nvSpPr>
          <p:cNvPr id="26" name="Shape 19"/>
          <p:cNvSpPr/>
          <p:nvPr/>
        </p:nvSpPr>
        <p:spPr>
          <a:xfrm>
            <a:off x="4251960" y="1554480"/>
            <a:ext cx="420624" cy="420624"/>
          </a:xfrm>
          <a:prstGeom prst="ellipse">
            <a:avLst/>
          </a:prstGeom>
          <a:solidFill>
            <a:srgbClr val="FFFFFF"/>
          </a:solidFill>
          <a:ln/>
        </p:spPr>
      </p:sp>
      <p:pic>
        <p:nvPicPr>
          <p:cNvPr id="27" name="Image 5" descr="preencoded.png">    </p:cNvPr>
          <p:cNvPicPr>
            <a:picLocks noChangeAspect="1"/>
          </p:cNvPicPr>
          <p:nvPr/>
        </p:nvPicPr>
        <p:blipFill>
          <a:blip r:embed="rId6"/>
          <a:stretch>
            <a:fillRect/>
          </a:stretch>
        </p:blipFill>
        <p:spPr>
          <a:xfrm>
            <a:off x="4336085" y="1638605"/>
            <a:ext cx="252374" cy="252374"/>
          </a:xfrm>
          <a:prstGeom prst="rect">
            <a:avLst/>
          </a:prstGeom>
        </p:spPr>
      </p:pic>
      <p:sp>
        <p:nvSpPr>
          <p:cNvPr id="28" name="Text 20"/>
          <p:cNvSpPr txBox="1"/>
          <p:nvPr/>
        </p:nvSpPr>
        <p:spPr>
          <a:xfrm>
            <a:off x="4754880" y="1554480"/>
            <a:ext cx="3017520" cy="420624"/>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マーケターが判断</a:t>
            </a:r>
            <a:endParaRPr lang="en-US" sz="1200" dirty="0"/>
          </a:p>
        </p:txBody>
      </p:sp>
      <p:sp>
        <p:nvSpPr>
          <p:cNvPr id="29" name="Shape 21"/>
          <p:cNvSpPr/>
          <p:nvPr/>
        </p:nvSpPr>
        <p:spPr>
          <a:xfrm>
            <a:off x="4343400" y="2084832"/>
            <a:ext cx="3291840" cy="374904"/>
          </a:xfrm>
          <a:prstGeom prst="roundRect">
            <a:avLst>
              <a:gd name="adj" fmla="val 19512"/>
            </a:avLst>
          </a:prstGeom>
          <a:solidFill>
            <a:srgbClr val="FFFFFF"/>
          </a:solidFill>
          <a:ln w="12700">
            <a:solidFill>
              <a:srgbClr val="D5DBE3"/>
            </a:solidFill>
            <a:prstDash val="solid"/>
          </a:ln>
        </p:spPr>
      </p:sp>
      <p:pic>
        <p:nvPicPr>
          <p:cNvPr id="30" name="Image 6" descr="preencoded.png">    </p:cNvPr>
          <p:cNvPicPr>
            <a:picLocks noChangeAspect="1"/>
          </p:cNvPicPr>
          <p:nvPr/>
        </p:nvPicPr>
        <p:blipFill>
          <a:blip r:embed="rId7"/>
          <a:stretch>
            <a:fillRect/>
          </a:stretch>
        </p:blipFill>
        <p:spPr>
          <a:xfrm>
            <a:off x="4453128" y="2144268"/>
            <a:ext cx="256032" cy="256032"/>
          </a:xfrm>
          <a:prstGeom prst="rect">
            <a:avLst/>
          </a:prstGeom>
        </p:spPr>
      </p:pic>
      <p:sp>
        <p:nvSpPr>
          <p:cNvPr id="31" name="Text 22"/>
          <p:cNvSpPr txBox="1"/>
          <p:nvPr/>
        </p:nvSpPr>
        <p:spPr>
          <a:xfrm>
            <a:off x="4800600" y="2084832"/>
            <a:ext cx="2788920" cy="374904"/>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テーマ選定</a:t>
            </a:r>
            <a:endParaRPr lang="en-US" sz="1200" dirty="0"/>
          </a:p>
        </p:txBody>
      </p:sp>
      <p:sp>
        <p:nvSpPr>
          <p:cNvPr id="32" name="Shape 23"/>
          <p:cNvSpPr/>
          <p:nvPr/>
        </p:nvSpPr>
        <p:spPr>
          <a:xfrm>
            <a:off x="4343400" y="2514600"/>
            <a:ext cx="3291840" cy="374904"/>
          </a:xfrm>
          <a:prstGeom prst="roundRect">
            <a:avLst>
              <a:gd name="adj" fmla="val 19512"/>
            </a:avLst>
          </a:prstGeom>
          <a:solidFill>
            <a:srgbClr val="FFFFFF"/>
          </a:solidFill>
          <a:ln w="12700">
            <a:solidFill>
              <a:srgbClr val="D5DBE3"/>
            </a:solidFill>
            <a:prstDash val="solid"/>
          </a:ln>
        </p:spPr>
      </p:sp>
      <p:pic>
        <p:nvPicPr>
          <p:cNvPr id="33" name="Image 7" descr="preencoded.png">    </p:cNvPr>
          <p:cNvPicPr>
            <a:picLocks noChangeAspect="1"/>
          </p:cNvPicPr>
          <p:nvPr/>
        </p:nvPicPr>
        <p:blipFill>
          <a:blip r:embed="rId8"/>
          <a:stretch>
            <a:fillRect/>
          </a:stretch>
        </p:blipFill>
        <p:spPr>
          <a:xfrm>
            <a:off x="4453128" y="2574036"/>
            <a:ext cx="256032" cy="256032"/>
          </a:xfrm>
          <a:prstGeom prst="rect">
            <a:avLst/>
          </a:prstGeom>
        </p:spPr>
      </p:pic>
      <p:sp>
        <p:nvSpPr>
          <p:cNvPr id="34" name="Text 24"/>
          <p:cNvSpPr txBox="1"/>
          <p:nvPr/>
        </p:nvSpPr>
        <p:spPr>
          <a:xfrm>
            <a:off x="4800600" y="2514600"/>
            <a:ext cx="2788920" cy="374904"/>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商品選定</a:t>
            </a:r>
            <a:endParaRPr lang="en-US" sz="1200" dirty="0"/>
          </a:p>
        </p:txBody>
      </p:sp>
      <p:sp>
        <p:nvSpPr>
          <p:cNvPr id="35" name="Shape 25"/>
          <p:cNvSpPr/>
          <p:nvPr/>
        </p:nvSpPr>
        <p:spPr>
          <a:xfrm>
            <a:off x="4343400" y="2944368"/>
            <a:ext cx="3291840" cy="374904"/>
          </a:xfrm>
          <a:prstGeom prst="roundRect">
            <a:avLst>
              <a:gd name="adj" fmla="val 19512"/>
            </a:avLst>
          </a:prstGeom>
          <a:solidFill>
            <a:srgbClr val="FFFFFF"/>
          </a:solidFill>
          <a:ln w="12700">
            <a:solidFill>
              <a:srgbClr val="D5DBE3"/>
            </a:solidFill>
            <a:prstDash val="solid"/>
          </a:ln>
        </p:spPr>
      </p:sp>
      <p:pic>
        <p:nvPicPr>
          <p:cNvPr id="36" name="Image 8" descr="preencoded.png">    </p:cNvPr>
          <p:cNvPicPr>
            <a:picLocks noChangeAspect="1"/>
          </p:cNvPicPr>
          <p:nvPr/>
        </p:nvPicPr>
        <p:blipFill>
          <a:blip r:embed="rId9"/>
          <a:stretch>
            <a:fillRect/>
          </a:stretch>
        </p:blipFill>
        <p:spPr>
          <a:xfrm>
            <a:off x="4453128" y="3003804"/>
            <a:ext cx="256032" cy="256032"/>
          </a:xfrm>
          <a:prstGeom prst="rect">
            <a:avLst/>
          </a:prstGeom>
        </p:spPr>
      </p:pic>
      <p:sp>
        <p:nvSpPr>
          <p:cNvPr id="37" name="Text 26"/>
          <p:cNvSpPr txBox="1"/>
          <p:nvPr/>
        </p:nvSpPr>
        <p:spPr>
          <a:xfrm>
            <a:off x="4800600" y="2944368"/>
            <a:ext cx="2788920" cy="374904"/>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コピー制作</a:t>
            </a:r>
            <a:endParaRPr lang="en-US" sz="1200" dirty="0"/>
          </a:p>
        </p:txBody>
      </p:sp>
      <p:sp>
        <p:nvSpPr>
          <p:cNvPr id="38" name="Shape 27"/>
          <p:cNvSpPr/>
          <p:nvPr/>
        </p:nvSpPr>
        <p:spPr>
          <a:xfrm>
            <a:off x="4343400" y="3374136"/>
            <a:ext cx="3291840" cy="374904"/>
          </a:xfrm>
          <a:prstGeom prst="roundRect">
            <a:avLst>
              <a:gd name="adj" fmla="val 19512"/>
            </a:avLst>
          </a:prstGeom>
          <a:solidFill>
            <a:srgbClr val="FFFFFF"/>
          </a:solidFill>
          <a:ln w="12700">
            <a:solidFill>
              <a:srgbClr val="D5DBE3"/>
            </a:solidFill>
            <a:prstDash val="solid"/>
          </a:ln>
        </p:spPr>
      </p:sp>
      <p:pic>
        <p:nvPicPr>
          <p:cNvPr id="39" name="Image 9" descr="preencoded.png">    </p:cNvPr>
          <p:cNvPicPr>
            <a:picLocks noChangeAspect="1"/>
          </p:cNvPicPr>
          <p:nvPr/>
        </p:nvPicPr>
        <p:blipFill>
          <a:blip r:embed="rId10"/>
          <a:stretch>
            <a:fillRect/>
          </a:stretch>
        </p:blipFill>
        <p:spPr>
          <a:xfrm>
            <a:off x="4453128" y="3433572"/>
            <a:ext cx="256032" cy="256032"/>
          </a:xfrm>
          <a:prstGeom prst="rect">
            <a:avLst/>
          </a:prstGeom>
        </p:spPr>
      </p:pic>
      <p:sp>
        <p:nvSpPr>
          <p:cNvPr id="40" name="Text 28"/>
          <p:cNvSpPr txBox="1"/>
          <p:nvPr/>
        </p:nvSpPr>
        <p:spPr>
          <a:xfrm>
            <a:off x="4800600" y="3374136"/>
            <a:ext cx="2788920" cy="374904"/>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クリエイティブ制作指示</a:t>
            </a:r>
            <a:endParaRPr lang="en-US" sz="1200" dirty="0"/>
          </a:p>
        </p:txBody>
      </p:sp>
      <p:sp>
        <p:nvSpPr>
          <p:cNvPr id="41" name="Text 29"/>
          <p:cNvSpPr txBox="1"/>
          <p:nvPr/>
        </p:nvSpPr>
        <p:spPr>
          <a:xfrm>
            <a:off x="4206240" y="3785616"/>
            <a:ext cx="3566160" cy="256032"/>
          </a:xfrm>
          <a:prstGeom prst="rect">
            <a:avLst/>
          </a:prstGeom>
          <a:noFill/>
          <a:ln/>
        </p:spPr>
        <p:txBody>
          <a:bodyPr wrap="square" lIns="508" tIns="508" rIns="508" bIns="508" rtlCol="0" anchor="t"/>
          <a:lstStyle/>
          <a:p>
            <a:pPr algn="ctr" indent="0" marL="0">
              <a:buNone/>
            </a:pPr>
            <a:r>
              <a:rPr lang="en-US" sz="1000" b="1" dirty="0">
                <a:solidFill>
                  <a:srgbClr val="E8912D"/>
                </a:solidFill>
                <a:latin typeface="Meiryo UI" pitchFamily="34" charset="0"/>
                <a:ea typeface="Meiryo UI" pitchFamily="34" charset="-122"/>
                <a:cs typeface="Meiryo UI" pitchFamily="34" charset="-120"/>
              </a:rPr>
              <a:t>▲ ばらつきが生じやすい工程</a:t>
            </a:r>
            <a:endParaRPr lang="en-US" sz="1000" dirty="0"/>
          </a:p>
        </p:txBody>
      </p:sp>
      <p:sp>
        <p:nvSpPr>
          <p:cNvPr id="42" name="Shape 30"/>
          <p:cNvSpPr/>
          <p:nvPr/>
        </p:nvSpPr>
        <p:spPr>
          <a:xfrm>
            <a:off x="7909560" y="2743200"/>
            <a:ext cx="548640" cy="0"/>
          </a:xfrm>
          <a:prstGeom prst="line">
            <a:avLst/>
          </a:prstGeom>
          <a:noFill/>
          <a:ln w="22225">
            <a:solidFill>
              <a:srgbClr val="9AA5B4"/>
            </a:solidFill>
            <a:prstDash val="solid"/>
            <a:tailEnd type="triangle"/>
          </a:ln>
        </p:spPr>
      </p:sp>
      <p:sp>
        <p:nvSpPr>
          <p:cNvPr id="43" name="Shape 31"/>
          <p:cNvSpPr/>
          <p:nvPr/>
        </p:nvSpPr>
        <p:spPr>
          <a:xfrm>
            <a:off x="8503920" y="1874520"/>
            <a:ext cx="3108960" cy="1737360"/>
          </a:xfrm>
          <a:prstGeom prst="roundRect">
            <a:avLst>
              <a:gd name="adj" fmla="val 4211"/>
            </a:avLst>
          </a:prstGeom>
          <a:solidFill>
            <a:srgbClr val="E3EAF5"/>
          </a:solidFill>
          <a:ln/>
        </p:spPr>
      </p:sp>
      <p:pic>
        <p:nvPicPr>
          <p:cNvPr id="44" name="Image 10" descr="preencoded.png">    </p:cNvPr>
          <p:cNvPicPr>
            <a:picLocks noChangeAspect="1"/>
          </p:cNvPicPr>
          <p:nvPr/>
        </p:nvPicPr>
        <p:blipFill>
          <a:blip r:embed="rId11"/>
          <a:stretch>
            <a:fillRect/>
          </a:stretch>
        </p:blipFill>
        <p:spPr>
          <a:xfrm>
            <a:off x="8686800" y="2057400"/>
            <a:ext cx="411480" cy="411480"/>
          </a:xfrm>
          <a:prstGeom prst="rect">
            <a:avLst/>
          </a:prstGeom>
        </p:spPr>
      </p:pic>
      <p:sp>
        <p:nvSpPr>
          <p:cNvPr id="45" name="Text 32"/>
          <p:cNvSpPr txBox="1"/>
          <p:nvPr/>
        </p:nvSpPr>
        <p:spPr>
          <a:xfrm>
            <a:off x="9189720" y="2057400"/>
            <a:ext cx="2377440" cy="41148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Airtable 配信カード</a:t>
            </a:r>
            <a:endParaRPr lang="en-US" sz="1300" dirty="0"/>
          </a:p>
        </p:txBody>
      </p:sp>
      <p:sp>
        <p:nvSpPr>
          <p:cNvPr id="46" name="Text 33"/>
          <p:cNvSpPr txBox="1"/>
          <p:nvPr/>
        </p:nvSpPr>
        <p:spPr>
          <a:xfrm>
            <a:off x="8686800" y="2560320"/>
            <a:ext cx="2834640" cy="91440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配信日時／配信内容／掲載商品／メール・商品コピー／制作部署への指示</a:t>
            </a:r>
            <a:endParaRPr lang="en-US" sz="1050" dirty="0"/>
          </a:p>
        </p:txBody>
      </p:sp>
      <p:sp>
        <p:nvSpPr>
          <p:cNvPr id="47" name="Shape 34"/>
          <p:cNvSpPr/>
          <p:nvPr/>
        </p:nvSpPr>
        <p:spPr>
          <a:xfrm>
            <a:off x="548640" y="4343400"/>
            <a:ext cx="5440680" cy="1965960"/>
          </a:xfrm>
          <a:prstGeom prst="roundRect">
            <a:avLst>
              <a:gd name="adj" fmla="val 2791"/>
            </a:avLst>
          </a:prstGeom>
          <a:solidFill>
            <a:srgbClr val="FBE3E3"/>
          </a:solidFill>
          <a:ln/>
        </p:spPr>
      </p:sp>
      <p:sp>
        <p:nvSpPr>
          <p:cNvPr id="48" name="Shape 35"/>
          <p:cNvSpPr/>
          <p:nvPr/>
        </p:nvSpPr>
        <p:spPr>
          <a:xfrm>
            <a:off x="685800" y="4462272"/>
            <a:ext cx="384048" cy="384048"/>
          </a:xfrm>
          <a:prstGeom prst="ellipse">
            <a:avLst/>
          </a:prstGeom>
          <a:solidFill>
            <a:srgbClr val="FFFFFF"/>
          </a:solidFill>
          <a:ln/>
        </p:spPr>
      </p:sp>
      <p:pic>
        <p:nvPicPr>
          <p:cNvPr id="49" name="Image 11" descr="preencoded.png">    </p:cNvPr>
          <p:cNvPicPr>
            <a:picLocks noChangeAspect="1"/>
          </p:cNvPicPr>
          <p:nvPr/>
        </p:nvPicPr>
        <p:blipFill>
          <a:blip r:embed="rId12"/>
          <a:stretch>
            <a:fillRect/>
          </a:stretch>
        </p:blipFill>
        <p:spPr>
          <a:xfrm>
            <a:off x="762610" y="4539082"/>
            <a:ext cx="230429" cy="230429"/>
          </a:xfrm>
          <a:prstGeom prst="rect">
            <a:avLst/>
          </a:prstGeom>
        </p:spPr>
      </p:pic>
      <p:sp>
        <p:nvSpPr>
          <p:cNvPr id="50" name="Text 36"/>
          <p:cNvSpPr txBox="1"/>
          <p:nvPr/>
        </p:nvSpPr>
        <p:spPr>
          <a:xfrm>
            <a:off x="1143000" y="4462272"/>
            <a:ext cx="475488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課題1：参照できる情報の制約</a:t>
            </a:r>
            <a:endParaRPr lang="en-US" sz="1300" dirty="0"/>
          </a:p>
        </p:txBody>
      </p:sp>
      <p:sp>
        <p:nvSpPr>
          <p:cNvPr id="51" name="Text 37"/>
          <p:cNvSpPr txBox="1"/>
          <p:nvPr/>
        </p:nvSpPr>
        <p:spPr>
          <a:xfrm>
            <a:off x="731520" y="4946904"/>
            <a:ext cx="5120640" cy="1271016"/>
          </a:xfrm>
          <a:prstGeom prst="rect">
            <a:avLst/>
          </a:prstGeom>
          <a:noFill/>
          <a:ln/>
        </p:spPr>
        <p:txBody>
          <a:bodyPr wrap="square" lIns="254" tIns="254" rIns="254" bIns="254" rtlCol="0" anchor="t"/>
          <a:lstStyle/>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人が一度に確認できる資料・データの量には限りがある</a:t>
            </a:r>
            <a:endParaRPr lang="en-US" sz="1250" dirty="0"/>
          </a:p>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直近の売上・在庫や、カテゴリ・タグ・レビュー・天気予報などは参照しにくい</a:t>
            </a:r>
            <a:endParaRPr lang="en-US" sz="1250" dirty="0"/>
          </a:p>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判断に使う情報が担当者によって異なる</a:t>
            </a:r>
            <a:endParaRPr lang="en-US" sz="1250" dirty="0"/>
          </a:p>
        </p:txBody>
      </p:sp>
      <p:sp>
        <p:nvSpPr>
          <p:cNvPr id="52" name="Shape 38"/>
          <p:cNvSpPr/>
          <p:nvPr/>
        </p:nvSpPr>
        <p:spPr>
          <a:xfrm>
            <a:off x="6172200" y="4343400"/>
            <a:ext cx="5440680" cy="1965960"/>
          </a:xfrm>
          <a:prstGeom prst="roundRect">
            <a:avLst>
              <a:gd name="adj" fmla="val 2791"/>
            </a:avLst>
          </a:prstGeom>
          <a:solidFill>
            <a:srgbClr val="FBE3E3"/>
          </a:solidFill>
          <a:ln/>
        </p:spPr>
      </p:sp>
      <p:sp>
        <p:nvSpPr>
          <p:cNvPr id="53" name="Shape 39"/>
          <p:cNvSpPr/>
          <p:nvPr/>
        </p:nvSpPr>
        <p:spPr>
          <a:xfrm>
            <a:off x="6309360" y="4462272"/>
            <a:ext cx="384048" cy="384048"/>
          </a:xfrm>
          <a:prstGeom prst="ellipse">
            <a:avLst/>
          </a:prstGeom>
          <a:solidFill>
            <a:srgbClr val="FFFFFF"/>
          </a:solidFill>
          <a:ln/>
        </p:spPr>
      </p:sp>
      <p:pic>
        <p:nvPicPr>
          <p:cNvPr id="54" name="Image 12" descr="preencoded.png">    </p:cNvPr>
          <p:cNvPicPr>
            <a:picLocks noChangeAspect="1"/>
          </p:cNvPicPr>
          <p:nvPr/>
        </p:nvPicPr>
        <p:blipFill>
          <a:blip r:embed="rId13"/>
          <a:stretch>
            <a:fillRect/>
          </a:stretch>
        </p:blipFill>
        <p:spPr>
          <a:xfrm>
            <a:off x="6386170" y="4539082"/>
            <a:ext cx="230429" cy="230429"/>
          </a:xfrm>
          <a:prstGeom prst="rect">
            <a:avLst/>
          </a:prstGeom>
        </p:spPr>
      </p:pic>
      <p:sp>
        <p:nvSpPr>
          <p:cNvPr id="55" name="Text 40"/>
          <p:cNvSpPr txBox="1"/>
          <p:nvPr/>
        </p:nvSpPr>
        <p:spPr>
          <a:xfrm>
            <a:off x="6766560" y="4462272"/>
            <a:ext cx="475488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課題2：品質のばらつき（属人化）</a:t>
            </a:r>
            <a:endParaRPr lang="en-US" sz="1300" dirty="0"/>
          </a:p>
        </p:txBody>
      </p:sp>
      <p:sp>
        <p:nvSpPr>
          <p:cNvPr id="56" name="Text 41"/>
          <p:cNvSpPr txBox="1"/>
          <p:nvPr/>
        </p:nvSpPr>
        <p:spPr>
          <a:xfrm>
            <a:off x="6355080" y="4946904"/>
            <a:ext cx="5120640" cy="1271016"/>
          </a:xfrm>
          <a:prstGeom prst="rect">
            <a:avLst/>
          </a:prstGeom>
          <a:noFill/>
          <a:ln/>
        </p:spPr>
        <p:txBody>
          <a:bodyPr wrap="square" lIns="254" tIns="254" rIns="254" bIns="254" rtlCol="0" anchor="t"/>
          <a:lstStyle/>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「良い選定・良いコピー・良い指示」の基準が暗黙知になっている</a:t>
            </a:r>
            <a:endParaRPr lang="en-US" sz="1250" dirty="0"/>
          </a:p>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担当者・国によって、指示の粒度や表現の質に差が出る</a:t>
            </a:r>
            <a:endParaRPr lang="en-US" sz="1250" dirty="0"/>
          </a:p>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ノウハウが共有・蓄積されにくい</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AIを組み込む4つの工程と、任せ方の考え方</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工程ごとに、AIに任せやすい部分と人が判断すべき部分が異なる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a:t>
            </a:r>
            <a:endParaRPr lang="en-US" sz="900" dirty="0"/>
          </a:p>
        </p:txBody>
      </p:sp>
      <p:sp>
        <p:nvSpPr>
          <p:cNvPr id="6" name="Shape 4"/>
          <p:cNvSpPr/>
          <p:nvPr/>
        </p:nvSpPr>
        <p:spPr>
          <a:xfrm>
            <a:off x="548640" y="1417320"/>
            <a:ext cx="2651760" cy="4892040"/>
          </a:xfrm>
          <a:prstGeom prst="roundRect">
            <a:avLst>
              <a:gd name="adj" fmla="val 1724"/>
            </a:avLst>
          </a:prstGeom>
          <a:solidFill>
            <a:srgbClr val="F3F5F8"/>
          </a:solidFill>
          <a:ln/>
        </p:spPr>
      </p:sp>
      <p:sp>
        <p:nvSpPr>
          <p:cNvPr id="7" name="Shape 5"/>
          <p:cNvSpPr/>
          <p:nvPr/>
        </p:nvSpPr>
        <p:spPr>
          <a:xfrm>
            <a:off x="685800" y="1554480"/>
            <a:ext cx="512064" cy="512064"/>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88213" y="1656893"/>
            <a:ext cx="307238" cy="307238"/>
          </a:xfrm>
          <a:prstGeom prst="rect">
            <a:avLst/>
          </a:prstGeom>
        </p:spPr>
      </p:pic>
      <p:sp>
        <p:nvSpPr>
          <p:cNvPr id="9" name="Text 6"/>
          <p:cNvSpPr txBox="1"/>
          <p:nvPr/>
        </p:nvSpPr>
        <p:spPr>
          <a:xfrm>
            <a:off x="1280160" y="1554480"/>
            <a:ext cx="1828800" cy="512064"/>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テーマ選定</a:t>
            </a:r>
            <a:endParaRPr lang="en-US" sz="1400" dirty="0"/>
          </a:p>
        </p:txBody>
      </p:sp>
      <p:sp>
        <p:nvSpPr>
          <p:cNvPr id="10" name="Text 7"/>
          <p:cNvSpPr txBox="1"/>
          <p:nvPr/>
        </p:nvSpPr>
        <p:spPr>
          <a:xfrm>
            <a:off x="713232" y="2212848"/>
            <a:ext cx="2377440" cy="256032"/>
          </a:xfrm>
          <a:prstGeom prst="rect">
            <a:avLst/>
          </a:prstGeom>
          <a:noFill/>
          <a:ln/>
        </p:spPr>
        <p:txBody>
          <a:bodyPr wrap="square" lIns="508" tIns="508" rIns="508" bIns="508"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AIの役割（例）</a:t>
            </a:r>
            <a:endParaRPr lang="en-US" sz="1050" dirty="0"/>
          </a:p>
        </p:txBody>
      </p:sp>
      <p:sp>
        <p:nvSpPr>
          <p:cNvPr id="11" name="Text 8"/>
          <p:cNvSpPr txBox="1"/>
          <p:nvPr/>
        </p:nvSpPr>
        <p:spPr>
          <a:xfrm>
            <a:off x="713232" y="2487168"/>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配信日の施策・各部署の販促テーマ・季節・天気などから候補テーマを出す</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過去に反応が良かったテーマを参考にする</a:t>
            </a:r>
            <a:endParaRPr lang="en-US" sz="1050" dirty="0"/>
          </a:p>
        </p:txBody>
      </p:sp>
      <p:sp>
        <p:nvSpPr>
          <p:cNvPr id="12" name="Shape 9"/>
          <p:cNvSpPr/>
          <p:nvPr/>
        </p:nvSpPr>
        <p:spPr>
          <a:xfrm>
            <a:off x="713232" y="3977640"/>
            <a:ext cx="2322576" cy="420624"/>
          </a:xfrm>
          <a:prstGeom prst="roundRect">
            <a:avLst>
              <a:gd name="adj" fmla="val 17391"/>
            </a:avLst>
          </a:prstGeom>
          <a:solidFill>
            <a:srgbClr val="FDEBD3"/>
          </a:solidFill>
          <a:ln/>
        </p:spPr>
      </p:sp>
      <p:sp>
        <p:nvSpPr>
          <p:cNvPr id="13" name="Text 10"/>
          <p:cNvSpPr txBox="1"/>
          <p:nvPr/>
        </p:nvSpPr>
        <p:spPr>
          <a:xfrm>
            <a:off x="713232" y="3977640"/>
            <a:ext cx="2322576" cy="420624"/>
          </a:xfrm>
          <a:prstGeom prst="rect">
            <a:avLst/>
          </a:prstGeom>
          <a:noFill/>
          <a:ln/>
        </p:spPr>
        <p:txBody>
          <a:bodyPr wrap="square" lIns="0" tIns="0" rIns="0" bIns="0" rtlCol="0" anchor="ctr"/>
          <a:lstStyle/>
          <a:p>
            <a:pPr algn="ctr" indent="0" marL="0">
              <a:buNone/>
            </a:pPr>
            <a:r>
              <a:rPr lang="en-US" sz="1050" b="1" dirty="0">
                <a:solidFill>
                  <a:srgbClr val="E8912D"/>
                </a:solidFill>
                <a:latin typeface="Meiryo UI" pitchFamily="34" charset="0"/>
                <a:ea typeface="Meiryo UI" pitchFamily="34" charset="-122"/>
                <a:cs typeface="Meiryo UI" pitchFamily="34" charset="-120"/>
              </a:rPr>
              <a:t>人の役割：</a:t>
            </a:r>
            <a:pPr algn="ctr" indent="0" marL="0">
              <a:buNone/>
            </a:pPr>
            <a:r>
              <a:rPr lang="en-US" sz="1050" b="1" dirty="0">
                <a:solidFill>
                  <a:srgbClr val="000000"/>
                </a:solidFill>
                <a:latin typeface="Meiryo UI" pitchFamily="34" charset="0"/>
                <a:ea typeface="Meiryo UI" pitchFamily="34" charset="-122"/>
                <a:cs typeface="Meiryo UI" pitchFamily="34" charset="-120"/>
              </a:rPr>
              <a:t>テーマの決定</a:t>
            </a:r>
            <a:endParaRPr lang="en-US" sz="1050" dirty="0"/>
          </a:p>
        </p:txBody>
      </p:sp>
      <p:sp>
        <p:nvSpPr>
          <p:cNvPr id="14" name="Text 11"/>
          <p:cNvSpPr txBox="1"/>
          <p:nvPr/>
        </p:nvSpPr>
        <p:spPr>
          <a:xfrm>
            <a:off x="713232" y="4526280"/>
            <a:ext cx="2377440" cy="256032"/>
          </a:xfrm>
          <a:prstGeom prst="rect">
            <a:avLst/>
          </a:prstGeom>
          <a:noFill/>
          <a:ln/>
        </p:spPr>
        <p:txBody>
          <a:bodyPr wrap="square" lIns="508" tIns="508" rIns="508" bIns="508" rtlCol="0" anchor="t"/>
          <a:lstStyle/>
          <a:p>
            <a:pPr indent="0" marL="0">
              <a:buNone/>
            </a:pPr>
            <a:r>
              <a:rPr lang="en-US" sz="1050" b="1" dirty="0">
                <a:solidFill>
                  <a:srgbClr val="1B2A49"/>
                </a:solidFill>
                <a:latin typeface="Meiryo UI" pitchFamily="34" charset="0"/>
                <a:ea typeface="Meiryo UI" pitchFamily="34" charset="-122"/>
                <a:cs typeface="Meiryo UI" pitchFamily="34" charset="-120"/>
              </a:rPr>
              <a:t>検討ポイント</a:t>
            </a:r>
            <a:endParaRPr lang="en-US" sz="1050" dirty="0"/>
          </a:p>
        </p:txBody>
      </p:sp>
      <p:sp>
        <p:nvSpPr>
          <p:cNvPr id="15" name="Text 12"/>
          <p:cNvSpPr txBox="1"/>
          <p:nvPr/>
        </p:nvSpPr>
        <p:spPr>
          <a:xfrm>
            <a:off x="713232" y="4800600"/>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ポリシーとの整合の取り方</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商品選定と同時に行うか、先に決めるか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候補をいくつ出すか</a:t>
            </a:r>
            <a:endParaRPr lang="en-US" sz="1050" dirty="0"/>
          </a:p>
        </p:txBody>
      </p:sp>
      <p:sp>
        <p:nvSpPr>
          <p:cNvPr id="16" name="Shape 13"/>
          <p:cNvSpPr/>
          <p:nvPr/>
        </p:nvSpPr>
        <p:spPr>
          <a:xfrm>
            <a:off x="3355848" y="1417320"/>
            <a:ext cx="2651760" cy="4892040"/>
          </a:xfrm>
          <a:prstGeom prst="roundRect">
            <a:avLst>
              <a:gd name="adj" fmla="val 1724"/>
            </a:avLst>
          </a:prstGeom>
          <a:solidFill>
            <a:srgbClr val="F3F5F8"/>
          </a:solidFill>
          <a:ln/>
        </p:spPr>
      </p:sp>
      <p:sp>
        <p:nvSpPr>
          <p:cNvPr id="17" name="Shape 14"/>
          <p:cNvSpPr/>
          <p:nvPr/>
        </p:nvSpPr>
        <p:spPr>
          <a:xfrm>
            <a:off x="3493008" y="1554480"/>
            <a:ext cx="512064" cy="512064"/>
          </a:xfrm>
          <a:prstGeom prst="ellipse">
            <a:avLst/>
          </a:prstGeom>
          <a:solidFill>
            <a:srgbClr val="FFFFFF"/>
          </a:solidFill>
          <a:ln/>
        </p:spPr>
      </p:sp>
      <p:pic>
        <p:nvPicPr>
          <p:cNvPr id="18" name="Image 1" descr="preencoded.png">    </p:cNvPr>
          <p:cNvPicPr>
            <a:picLocks noChangeAspect="1"/>
          </p:cNvPicPr>
          <p:nvPr/>
        </p:nvPicPr>
        <p:blipFill>
          <a:blip r:embed="rId2"/>
          <a:stretch>
            <a:fillRect/>
          </a:stretch>
        </p:blipFill>
        <p:spPr>
          <a:xfrm>
            <a:off x="3595421" y="1656893"/>
            <a:ext cx="307238" cy="307238"/>
          </a:xfrm>
          <a:prstGeom prst="rect">
            <a:avLst/>
          </a:prstGeom>
        </p:spPr>
      </p:pic>
      <p:sp>
        <p:nvSpPr>
          <p:cNvPr id="19" name="Text 15"/>
          <p:cNvSpPr txBox="1"/>
          <p:nvPr/>
        </p:nvSpPr>
        <p:spPr>
          <a:xfrm>
            <a:off x="4087368" y="1554480"/>
            <a:ext cx="1828800" cy="512064"/>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商品選定</a:t>
            </a:r>
            <a:endParaRPr lang="en-US" sz="1400" dirty="0"/>
          </a:p>
        </p:txBody>
      </p:sp>
      <p:sp>
        <p:nvSpPr>
          <p:cNvPr id="20" name="Text 16"/>
          <p:cNvSpPr txBox="1"/>
          <p:nvPr/>
        </p:nvSpPr>
        <p:spPr>
          <a:xfrm>
            <a:off x="3520440" y="2212848"/>
            <a:ext cx="2377440" cy="256032"/>
          </a:xfrm>
          <a:prstGeom prst="rect">
            <a:avLst/>
          </a:prstGeom>
          <a:noFill/>
          <a:ln/>
        </p:spPr>
        <p:txBody>
          <a:bodyPr wrap="square" lIns="508" tIns="508" rIns="508" bIns="508"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AIの役割（例）</a:t>
            </a:r>
            <a:endParaRPr lang="en-US" sz="1050" dirty="0"/>
          </a:p>
        </p:txBody>
      </p:sp>
      <p:sp>
        <p:nvSpPr>
          <p:cNvPr id="21" name="Text 17"/>
          <p:cNvSpPr txBox="1"/>
          <p:nvPr/>
        </p:nvSpPr>
        <p:spPr>
          <a:xfrm>
            <a:off x="3520440" y="2487168"/>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在庫・売上・粗利・ポリシー適合度などでスコアを付ける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候補の組み合わせを提案し、理由を説明する</a:t>
            </a:r>
            <a:endParaRPr lang="en-US" sz="1050" dirty="0"/>
          </a:p>
        </p:txBody>
      </p:sp>
      <p:sp>
        <p:nvSpPr>
          <p:cNvPr id="22" name="Shape 18"/>
          <p:cNvSpPr/>
          <p:nvPr/>
        </p:nvSpPr>
        <p:spPr>
          <a:xfrm>
            <a:off x="3520440" y="3977640"/>
            <a:ext cx="2322576" cy="420624"/>
          </a:xfrm>
          <a:prstGeom prst="roundRect">
            <a:avLst>
              <a:gd name="adj" fmla="val 17391"/>
            </a:avLst>
          </a:prstGeom>
          <a:solidFill>
            <a:srgbClr val="FDEBD3"/>
          </a:solidFill>
          <a:ln/>
        </p:spPr>
      </p:sp>
      <p:sp>
        <p:nvSpPr>
          <p:cNvPr id="23" name="Text 19"/>
          <p:cNvSpPr txBox="1"/>
          <p:nvPr/>
        </p:nvSpPr>
        <p:spPr>
          <a:xfrm>
            <a:off x="3520440" y="3977640"/>
            <a:ext cx="2322576" cy="420624"/>
          </a:xfrm>
          <a:prstGeom prst="rect">
            <a:avLst/>
          </a:prstGeom>
          <a:noFill/>
          <a:ln/>
        </p:spPr>
        <p:txBody>
          <a:bodyPr wrap="square" lIns="0" tIns="0" rIns="0" bIns="0" rtlCol="0" anchor="ctr"/>
          <a:lstStyle/>
          <a:p>
            <a:pPr algn="ctr" indent="0" marL="0">
              <a:buNone/>
            </a:pPr>
            <a:r>
              <a:rPr lang="en-US" sz="1050" b="1" dirty="0">
                <a:solidFill>
                  <a:srgbClr val="E8912D"/>
                </a:solidFill>
                <a:latin typeface="Meiryo UI" pitchFamily="34" charset="0"/>
                <a:ea typeface="Meiryo UI" pitchFamily="34" charset="-122"/>
                <a:cs typeface="Meiryo UI" pitchFamily="34" charset="-120"/>
              </a:rPr>
              <a:t>人の役割：</a:t>
            </a:r>
            <a:pPr algn="ctr" indent="0" marL="0">
              <a:buNone/>
            </a:pPr>
            <a:r>
              <a:rPr lang="en-US" sz="1050" b="1" dirty="0">
                <a:solidFill>
                  <a:srgbClr val="000000"/>
                </a:solidFill>
                <a:latin typeface="Meiryo UI" pitchFamily="34" charset="0"/>
                <a:ea typeface="Meiryo UI" pitchFamily="34" charset="-122"/>
                <a:cs typeface="Meiryo UI" pitchFamily="34" charset="-120"/>
              </a:rPr>
              <a:t>最終的な選定</a:t>
            </a:r>
            <a:endParaRPr lang="en-US" sz="1050" dirty="0"/>
          </a:p>
        </p:txBody>
      </p:sp>
      <p:sp>
        <p:nvSpPr>
          <p:cNvPr id="24" name="Text 20"/>
          <p:cNvSpPr txBox="1"/>
          <p:nvPr/>
        </p:nvSpPr>
        <p:spPr>
          <a:xfrm>
            <a:off x="3520440" y="4526280"/>
            <a:ext cx="2377440" cy="256032"/>
          </a:xfrm>
          <a:prstGeom prst="rect">
            <a:avLst/>
          </a:prstGeom>
          <a:noFill/>
          <a:ln/>
        </p:spPr>
        <p:txBody>
          <a:bodyPr wrap="square" lIns="508" tIns="508" rIns="508" bIns="508" rtlCol="0" anchor="t"/>
          <a:lstStyle/>
          <a:p>
            <a:pPr indent="0" marL="0">
              <a:buNone/>
            </a:pPr>
            <a:r>
              <a:rPr lang="en-US" sz="1050" b="1" dirty="0">
                <a:solidFill>
                  <a:srgbClr val="1B2A49"/>
                </a:solidFill>
                <a:latin typeface="Meiryo UI" pitchFamily="34" charset="0"/>
                <a:ea typeface="Meiryo UI" pitchFamily="34" charset="-122"/>
                <a:cs typeface="Meiryo UI" pitchFamily="34" charset="-120"/>
              </a:rPr>
              <a:t>検討ポイント</a:t>
            </a:r>
            <a:endParaRPr lang="en-US" sz="1050" dirty="0"/>
          </a:p>
        </p:txBody>
      </p:sp>
      <p:sp>
        <p:nvSpPr>
          <p:cNvPr id="25" name="Text 21"/>
          <p:cNvSpPr txBox="1"/>
          <p:nvPr/>
        </p:nvSpPr>
        <p:spPr>
          <a:xfrm>
            <a:off x="3520440" y="4800600"/>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スコアで絞るか、AIに直接選ばせるか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結果の再現性・説明のしやすさ</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スコア設計の手間</a:t>
            </a:r>
            <a:endParaRPr lang="en-US" sz="1050" dirty="0"/>
          </a:p>
        </p:txBody>
      </p:sp>
      <p:sp>
        <p:nvSpPr>
          <p:cNvPr id="26" name="Shape 22"/>
          <p:cNvSpPr/>
          <p:nvPr/>
        </p:nvSpPr>
        <p:spPr>
          <a:xfrm>
            <a:off x="6163056" y="1417320"/>
            <a:ext cx="2651760" cy="4892040"/>
          </a:xfrm>
          <a:prstGeom prst="roundRect">
            <a:avLst>
              <a:gd name="adj" fmla="val 1724"/>
            </a:avLst>
          </a:prstGeom>
          <a:solidFill>
            <a:srgbClr val="F3F5F8"/>
          </a:solidFill>
          <a:ln/>
        </p:spPr>
      </p:sp>
      <p:sp>
        <p:nvSpPr>
          <p:cNvPr id="27" name="Shape 23"/>
          <p:cNvSpPr/>
          <p:nvPr/>
        </p:nvSpPr>
        <p:spPr>
          <a:xfrm>
            <a:off x="6300216" y="1554480"/>
            <a:ext cx="512064" cy="512064"/>
          </a:xfrm>
          <a:prstGeom prst="ellipse">
            <a:avLst/>
          </a:prstGeom>
          <a:solidFill>
            <a:srgbClr val="FFFFFF"/>
          </a:solidFill>
          <a:ln/>
        </p:spPr>
      </p:sp>
      <p:pic>
        <p:nvPicPr>
          <p:cNvPr id="28" name="Image 2" descr="preencoded.png">    </p:cNvPr>
          <p:cNvPicPr>
            <a:picLocks noChangeAspect="1"/>
          </p:cNvPicPr>
          <p:nvPr/>
        </p:nvPicPr>
        <p:blipFill>
          <a:blip r:embed="rId3"/>
          <a:stretch>
            <a:fillRect/>
          </a:stretch>
        </p:blipFill>
        <p:spPr>
          <a:xfrm>
            <a:off x="6402629" y="1656893"/>
            <a:ext cx="307238" cy="307238"/>
          </a:xfrm>
          <a:prstGeom prst="rect">
            <a:avLst/>
          </a:prstGeom>
        </p:spPr>
      </p:pic>
      <p:sp>
        <p:nvSpPr>
          <p:cNvPr id="29" name="Text 24"/>
          <p:cNvSpPr txBox="1"/>
          <p:nvPr/>
        </p:nvSpPr>
        <p:spPr>
          <a:xfrm>
            <a:off x="6894576" y="1554480"/>
            <a:ext cx="1828800" cy="512064"/>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コピー制作</a:t>
            </a:r>
            <a:endParaRPr lang="en-US" sz="1400" dirty="0"/>
          </a:p>
        </p:txBody>
      </p:sp>
      <p:sp>
        <p:nvSpPr>
          <p:cNvPr id="30" name="Text 25"/>
          <p:cNvSpPr txBox="1"/>
          <p:nvPr/>
        </p:nvSpPr>
        <p:spPr>
          <a:xfrm>
            <a:off x="6327648" y="2212848"/>
            <a:ext cx="2377440" cy="256032"/>
          </a:xfrm>
          <a:prstGeom prst="rect">
            <a:avLst/>
          </a:prstGeom>
          <a:noFill/>
          <a:ln/>
        </p:spPr>
        <p:txBody>
          <a:bodyPr wrap="square" lIns="508" tIns="508" rIns="508" bIns="508"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AIの役割（例）</a:t>
            </a:r>
            <a:endParaRPr lang="en-US" sz="1050" dirty="0"/>
          </a:p>
        </p:txBody>
      </p:sp>
      <p:sp>
        <p:nvSpPr>
          <p:cNvPr id="31" name="Text 26"/>
          <p:cNvSpPr txBox="1"/>
          <p:nvPr/>
        </p:nvSpPr>
        <p:spPr>
          <a:xfrm>
            <a:off x="6327648" y="2487168"/>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トーン＆マナー・NG表現・法規制をルールとして与える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過去の好成績コピーを参考例として、複数案を作る</a:t>
            </a:r>
            <a:endParaRPr lang="en-US" sz="1050" dirty="0"/>
          </a:p>
        </p:txBody>
      </p:sp>
      <p:sp>
        <p:nvSpPr>
          <p:cNvPr id="32" name="Shape 27"/>
          <p:cNvSpPr/>
          <p:nvPr/>
        </p:nvSpPr>
        <p:spPr>
          <a:xfrm>
            <a:off x="6327648" y="3977640"/>
            <a:ext cx="2322576" cy="420624"/>
          </a:xfrm>
          <a:prstGeom prst="roundRect">
            <a:avLst>
              <a:gd name="adj" fmla="val 17391"/>
            </a:avLst>
          </a:prstGeom>
          <a:solidFill>
            <a:srgbClr val="FDEBD3"/>
          </a:solidFill>
          <a:ln/>
        </p:spPr>
      </p:sp>
      <p:sp>
        <p:nvSpPr>
          <p:cNvPr id="33" name="Text 28"/>
          <p:cNvSpPr txBox="1"/>
          <p:nvPr/>
        </p:nvSpPr>
        <p:spPr>
          <a:xfrm>
            <a:off x="6327648" y="3977640"/>
            <a:ext cx="2322576" cy="420624"/>
          </a:xfrm>
          <a:prstGeom prst="rect">
            <a:avLst/>
          </a:prstGeom>
          <a:noFill/>
          <a:ln/>
        </p:spPr>
        <p:txBody>
          <a:bodyPr wrap="square" lIns="0" tIns="0" rIns="0" bIns="0" rtlCol="0" anchor="ctr"/>
          <a:lstStyle/>
          <a:p>
            <a:pPr algn="ctr" indent="0" marL="0">
              <a:buNone/>
            </a:pPr>
            <a:r>
              <a:rPr lang="en-US" sz="1050" b="1" dirty="0">
                <a:solidFill>
                  <a:srgbClr val="E8912D"/>
                </a:solidFill>
                <a:latin typeface="Meiryo UI" pitchFamily="34" charset="0"/>
                <a:ea typeface="Meiryo UI" pitchFamily="34" charset="-122"/>
                <a:cs typeface="Meiryo UI" pitchFamily="34" charset="-120"/>
              </a:rPr>
              <a:t>人の役割：</a:t>
            </a:r>
            <a:pPr algn="ctr" indent="0" marL="0">
              <a:buNone/>
            </a:pPr>
            <a:r>
              <a:rPr lang="en-US" sz="1050" b="1" dirty="0">
                <a:solidFill>
                  <a:srgbClr val="000000"/>
                </a:solidFill>
                <a:latin typeface="Meiryo UI" pitchFamily="34" charset="0"/>
                <a:ea typeface="Meiryo UI" pitchFamily="34" charset="-122"/>
                <a:cs typeface="Meiryo UI" pitchFamily="34" charset="-120"/>
              </a:rPr>
              <a:t>案の選択・微修正</a:t>
            </a:r>
            <a:endParaRPr lang="en-US" sz="1050" dirty="0"/>
          </a:p>
        </p:txBody>
      </p:sp>
      <p:sp>
        <p:nvSpPr>
          <p:cNvPr id="34" name="Text 29"/>
          <p:cNvSpPr txBox="1"/>
          <p:nvPr/>
        </p:nvSpPr>
        <p:spPr>
          <a:xfrm>
            <a:off x="6327648" y="4526280"/>
            <a:ext cx="2377440" cy="256032"/>
          </a:xfrm>
          <a:prstGeom prst="rect">
            <a:avLst/>
          </a:prstGeom>
          <a:noFill/>
          <a:ln/>
        </p:spPr>
        <p:txBody>
          <a:bodyPr wrap="square" lIns="508" tIns="508" rIns="508" bIns="508" rtlCol="0" anchor="t"/>
          <a:lstStyle/>
          <a:p>
            <a:pPr indent="0" marL="0">
              <a:buNone/>
            </a:pPr>
            <a:r>
              <a:rPr lang="en-US" sz="1050" b="1" dirty="0">
                <a:solidFill>
                  <a:srgbClr val="1B2A49"/>
                </a:solidFill>
                <a:latin typeface="Meiryo UI" pitchFamily="34" charset="0"/>
                <a:ea typeface="Meiryo UI" pitchFamily="34" charset="-122"/>
                <a:cs typeface="Meiryo UI" pitchFamily="34" charset="-120"/>
              </a:rPr>
              <a:t>検討ポイント</a:t>
            </a:r>
            <a:endParaRPr lang="en-US" sz="1050" dirty="0"/>
          </a:p>
        </p:txBody>
      </p:sp>
      <p:sp>
        <p:nvSpPr>
          <p:cNvPr id="35" name="Text 30"/>
          <p:cNvSpPr txBox="1"/>
          <p:nvPr/>
        </p:nvSpPr>
        <p:spPr>
          <a:xfrm>
            <a:off x="6327648" y="4800600"/>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表現規制を確実に守らせる方法</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国・言語ごとの対応</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コピーを依頼するか自作するかの切り分け</a:t>
            </a:r>
            <a:endParaRPr lang="en-US" sz="1050" dirty="0"/>
          </a:p>
        </p:txBody>
      </p:sp>
      <p:sp>
        <p:nvSpPr>
          <p:cNvPr id="36" name="Shape 31"/>
          <p:cNvSpPr/>
          <p:nvPr/>
        </p:nvSpPr>
        <p:spPr>
          <a:xfrm>
            <a:off x="8970264" y="1417320"/>
            <a:ext cx="2651760" cy="4892040"/>
          </a:xfrm>
          <a:prstGeom prst="roundRect">
            <a:avLst>
              <a:gd name="adj" fmla="val 1724"/>
            </a:avLst>
          </a:prstGeom>
          <a:solidFill>
            <a:srgbClr val="F3F5F8"/>
          </a:solidFill>
          <a:ln/>
        </p:spPr>
      </p:sp>
      <p:sp>
        <p:nvSpPr>
          <p:cNvPr id="37" name="Shape 32"/>
          <p:cNvSpPr/>
          <p:nvPr/>
        </p:nvSpPr>
        <p:spPr>
          <a:xfrm>
            <a:off x="9107424" y="1554480"/>
            <a:ext cx="512064" cy="512064"/>
          </a:xfrm>
          <a:prstGeom prst="ellipse">
            <a:avLst/>
          </a:prstGeom>
          <a:solidFill>
            <a:srgbClr val="FFFFFF"/>
          </a:solidFill>
          <a:ln/>
        </p:spPr>
      </p:sp>
      <p:pic>
        <p:nvPicPr>
          <p:cNvPr id="38" name="Image 3" descr="preencoded.png">    </p:cNvPr>
          <p:cNvPicPr>
            <a:picLocks noChangeAspect="1"/>
          </p:cNvPicPr>
          <p:nvPr/>
        </p:nvPicPr>
        <p:blipFill>
          <a:blip r:embed="rId4"/>
          <a:stretch>
            <a:fillRect/>
          </a:stretch>
        </p:blipFill>
        <p:spPr>
          <a:xfrm>
            <a:off x="9209837" y="1656893"/>
            <a:ext cx="307238" cy="307238"/>
          </a:xfrm>
          <a:prstGeom prst="rect">
            <a:avLst/>
          </a:prstGeom>
        </p:spPr>
      </p:pic>
      <p:sp>
        <p:nvSpPr>
          <p:cNvPr id="39" name="Text 33"/>
          <p:cNvSpPr txBox="1"/>
          <p:nvPr/>
        </p:nvSpPr>
        <p:spPr>
          <a:xfrm>
            <a:off x="9701784" y="1554480"/>
            <a:ext cx="1828800" cy="512064"/>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クリエイティブ制作指示</a:t>
            </a:r>
            <a:endParaRPr lang="en-US" sz="1400" dirty="0"/>
          </a:p>
        </p:txBody>
      </p:sp>
      <p:sp>
        <p:nvSpPr>
          <p:cNvPr id="40" name="Text 34"/>
          <p:cNvSpPr txBox="1"/>
          <p:nvPr/>
        </p:nvSpPr>
        <p:spPr>
          <a:xfrm>
            <a:off x="9134856" y="2212848"/>
            <a:ext cx="2377440" cy="256032"/>
          </a:xfrm>
          <a:prstGeom prst="rect">
            <a:avLst/>
          </a:prstGeom>
          <a:noFill/>
          <a:ln/>
        </p:spPr>
        <p:txBody>
          <a:bodyPr wrap="square" lIns="508" tIns="508" rIns="508" bIns="508"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AIの役割（例）</a:t>
            </a:r>
            <a:endParaRPr lang="en-US" sz="1050" dirty="0"/>
          </a:p>
        </p:txBody>
      </p:sp>
      <p:sp>
        <p:nvSpPr>
          <p:cNvPr id="41" name="Text 35"/>
          <p:cNvSpPr txBox="1"/>
          <p:nvPr/>
        </p:nvSpPr>
        <p:spPr>
          <a:xfrm>
            <a:off x="9134856" y="2487168"/>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指示書の項目（目的・構成・トーン・素材）を固定する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テンプレートに沿って内容を記入する</a:t>
            </a:r>
            <a:endParaRPr lang="en-US" sz="1050" dirty="0"/>
          </a:p>
        </p:txBody>
      </p:sp>
      <p:sp>
        <p:nvSpPr>
          <p:cNvPr id="42" name="Shape 36"/>
          <p:cNvSpPr/>
          <p:nvPr/>
        </p:nvSpPr>
        <p:spPr>
          <a:xfrm>
            <a:off x="9134856" y="3977640"/>
            <a:ext cx="2322576" cy="420624"/>
          </a:xfrm>
          <a:prstGeom prst="roundRect">
            <a:avLst>
              <a:gd name="adj" fmla="val 17391"/>
            </a:avLst>
          </a:prstGeom>
          <a:solidFill>
            <a:srgbClr val="FDEBD3"/>
          </a:solidFill>
          <a:ln/>
        </p:spPr>
      </p:sp>
      <p:sp>
        <p:nvSpPr>
          <p:cNvPr id="43" name="Text 37"/>
          <p:cNvSpPr txBox="1"/>
          <p:nvPr/>
        </p:nvSpPr>
        <p:spPr>
          <a:xfrm>
            <a:off x="9134856" y="3977640"/>
            <a:ext cx="2322576" cy="420624"/>
          </a:xfrm>
          <a:prstGeom prst="rect">
            <a:avLst/>
          </a:prstGeom>
          <a:noFill/>
          <a:ln/>
        </p:spPr>
        <p:txBody>
          <a:bodyPr wrap="square" lIns="0" tIns="0" rIns="0" bIns="0" rtlCol="0" anchor="ctr"/>
          <a:lstStyle/>
          <a:p>
            <a:pPr algn="ctr" indent="0" marL="0">
              <a:buNone/>
            </a:pPr>
            <a:r>
              <a:rPr lang="en-US" sz="1050" b="1" dirty="0">
                <a:solidFill>
                  <a:srgbClr val="E8912D"/>
                </a:solidFill>
                <a:latin typeface="Meiryo UI" pitchFamily="34" charset="0"/>
                <a:ea typeface="Meiryo UI" pitchFamily="34" charset="-122"/>
                <a:cs typeface="Meiryo UI" pitchFamily="34" charset="-120"/>
              </a:rPr>
              <a:t>人の役割：</a:t>
            </a:r>
            <a:pPr algn="ctr" indent="0" marL="0">
              <a:buNone/>
            </a:pPr>
            <a:r>
              <a:rPr lang="en-US" sz="1050" b="1" dirty="0">
                <a:solidFill>
                  <a:srgbClr val="000000"/>
                </a:solidFill>
                <a:latin typeface="Meiryo UI" pitchFamily="34" charset="0"/>
                <a:ea typeface="Meiryo UI" pitchFamily="34" charset="-122"/>
                <a:cs typeface="Meiryo UI" pitchFamily="34" charset="-120"/>
              </a:rPr>
              <a:t>内容の確認</a:t>
            </a:r>
            <a:endParaRPr lang="en-US" sz="1050" dirty="0"/>
          </a:p>
        </p:txBody>
      </p:sp>
      <p:sp>
        <p:nvSpPr>
          <p:cNvPr id="44" name="Text 38"/>
          <p:cNvSpPr txBox="1"/>
          <p:nvPr/>
        </p:nvSpPr>
        <p:spPr>
          <a:xfrm>
            <a:off x="9134856" y="4526280"/>
            <a:ext cx="2377440" cy="256032"/>
          </a:xfrm>
          <a:prstGeom prst="rect">
            <a:avLst/>
          </a:prstGeom>
          <a:noFill/>
          <a:ln/>
        </p:spPr>
        <p:txBody>
          <a:bodyPr wrap="square" lIns="508" tIns="508" rIns="508" bIns="508" rtlCol="0" anchor="t"/>
          <a:lstStyle/>
          <a:p>
            <a:pPr indent="0" marL="0">
              <a:buNone/>
            </a:pPr>
            <a:r>
              <a:rPr lang="en-US" sz="1050" b="1" dirty="0">
                <a:solidFill>
                  <a:srgbClr val="1B2A49"/>
                </a:solidFill>
                <a:latin typeface="Meiryo UI" pitchFamily="34" charset="0"/>
                <a:ea typeface="Meiryo UI" pitchFamily="34" charset="-122"/>
                <a:cs typeface="Meiryo UI" pitchFamily="34" charset="-120"/>
              </a:rPr>
              <a:t>検討ポイント</a:t>
            </a:r>
            <a:endParaRPr lang="en-US" sz="1050" dirty="0"/>
          </a:p>
        </p:txBody>
      </p:sp>
      <p:sp>
        <p:nvSpPr>
          <p:cNvPr id="45" name="Text 39"/>
          <p:cNvSpPr txBox="1"/>
          <p:nvPr/>
        </p:nvSpPr>
        <p:spPr>
          <a:xfrm>
            <a:off x="9134856" y="4800600"/>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制作部署が必要とする粒度</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テンプレートをどこまで固定するか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手戻りをどれだけ減らせるか</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検討の4つの軸</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軸1〜3の組み合わせで構成パターンが決まり、軸4（展開の単位）はどのパターンとも組み合わせられる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a:t>
            </a:r>
            <a:endParaRPr lang="en-US" sz="900" dirty="0"/>
          </a:p>
        </p:txBody>
      </p:sp>
      <p:sp>
        <p:nvSpPr>
          <p:cNvPr id="6" name="Shape 4"/>
          <p:cNvSpPr/>
          <p:nvPr/>
        </p:nvSpPr>
        <p:spPr>
          <a:xfrm>
            <a:off x="548640" y="1463040"/>
            <a:ext cx="2651760" cy="4846320"/>
          </a:xfrm>
          <a:prstGeom prst="roundRect">
            <a:avLst>
              <a:gd name="adj" fmla="val 1724"/>
            </a:avLst>
          </a:prstGeom>
          <a:solidFill>
            <a:srgbClr val="F3F5F8"/>
          </a:solidFill>
          <a:ln/>
        </p:spPr>
      </p:sp>
      <p:sp>
        <p:nvSpPr>
          <p:cNvPr id="7" name="Shape 5"/>
          <p:cNvSpPr/>
          <p:nvPr/>
        </p:nvSpPr>
        <p:spPr>
          <a:xfrm>
            <a:off x="731520" y="1645920"/>
            <a:ext cx="685800" cy="310896"/>
          </a:xfrm>
          <a:prstGeom prst="roundRect">
            <a:avLst>
              <a:gd name="adj" fmla="val 50000"/>
            </a:avLst>
          </a:prstGeom>
          <a:solidFill>
            <a:srgbClr val="1B2A49"/>
          </a:solidFill>
          <a:ln/>
        </p:spPr>
      </p:sp>
      <p:sp>
        <p:nvSpPr>
          <p:cNvPr id="8" name="Text 6"/>
          <p:cNvSpPr txBox="1"/>
          <p:nvPr/>
        </p:nvSpPr>
        <p:spPr>
          <a:xfrm>
            <a:off x="731520" y="1645920"/>
            <a:ext cx="6858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軸1</a:t>
            </a:r>
            <a:endParaRPr lang="en-US" sz="1050" dirty="0"/>
          </a:p>
        </p:txBody>
      </p:sp>
      <p:pic>
        <p:nvPicPr>
          <p:cNvPr id="9" name="Image 0" descr="preencoded.png">    </p:cNvPr>
          <p:cNvPicPr>
            <a:picLocks noChangeAspect="1"/>
          </p:cNvPicPr>
          <p:nvPr/>
        </p:nvPicPr>
        <p:blipFill>
          <a:blip r:embed="rId1"/>
          <a:stretch>
            <a:fillRect/>
          </a:stretch>
        </p:blipFill>
        <p:spPr>
          <a:xfrm>
            <a:off x="2606040" y="1572768"/>
            <a:ext cx="402336" cy="402336"/>
          </a:xfrm>
          <a:prstGeom prst="rect">
            <a:avLst/>
          </a:prstGeom>
        </p:spPr>
      </p:pic>
      <p:sp>
        <p:nvSpPr>
          <p:cNvPr id="10" name="Text 7"/>
          <p:cNvSpPr txBox="1"/>
          <p:nvPr/>
        </p:nvSpPr>
        <p:spPr>
          <a:xfrm>
            <a:off x="731520" y="2103120"/>
            <a:ext cx="237744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データとAIの集約先</a:t>
            </a:r>
            <a:endParaRPr lang="en-US" sz="1500" dirty="0"/>
          </a:p>
        </p:txBody>
      </p:sp>
      <p:sp>
        <p:nvSpPr>
          <p:cNvPr id="11" name="Text 8"/>
          <p:cNvSpPr txBox="1"/>
          <p:nvPr/>
        </p:nvSpPr>
        <p:spPr>
          <a:xfrm>
            <a:off x="731520" y="2606040"/>
            <a:ext cx="2377440" cy="59436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資料・数値データ・AIを、どちらのクラウドに寄せるか</a:t>
            </a:r>
            <a:endParaRPr lang="en-US" sz="1050" dirty="0"/>
          </a:p>
        </p:txBody>
      </p:sp>
      <p:sp>
        <p:nvSpPr>
          <p:cNvPr id="12" name="Shape 9"/>
          <p:cNvSpPr/>
          <p:nvPr/>
        </p:nvSpPr>
        <p:spPr>
          <a:xfrm>
            <a:off x="731520" y="3337560"/>
            <a:ext cx="2286000" cy="585216"/>
          </a:xfrm>
          <a:prstGeom prst="roundRect">
            <a:avLst>
              <a:gd name="adj" fmla="val 12500"/>
            </a:avLst>
          </a:prstGeom>
          <a:solidFill>
            <a:srgbClr val="FFFFFF"/>
          </a:solidFill>
          <a:ln w="12700">
            <a:solidFill>
              <a:srgbClr val="D5DBE3"/>
            </a:solidFill>
            <a:prstDash val="solid"/>
          </a:ln>
        </p:spPr>
      </p:sp>
      <p:pic>
        <p:nvPicPr>
          <p:cNvPr id="13" name="Image 1" descr="preencoded.png">    </p:cNvPr>
          <p:cNvPicPr>
            <a:picLocks noChangeAspect="1"/>
          </p:cNvPicPr>
          <p:nvPr/>
        </p:nvPicPr>
        <p:blipFill>
          <a:blip r:embed="rId2"/>
          <a:stretch>
            <a:fillRect/>
          </a:stretch>
        </p:blipFill>
        <p:spPr>
          <a:xfrm>
            <a:off x="841248" y="3483864"/>
            <a:ext cx="292608" cy="292608"/>
          </a:xfrm>
          <a:prstGeom prst="rect">
            <a:avLst/>
          </a:prstGeom>
        </p:spPr>
      </p:pic>
      <p:sp>
        <p:nvSpPr>
          <p:cNvPr id="14" name="Text 10"/>
          <p:cNvSpPr txBox="1"/>
          <p:nvPr/>
        </p:nvSpPr>
        <p:spPr>
          <a:xfrm>
            <a:off x="1225296" y="3337560"/>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M365に寄せる</a:t>
            </a:r>
            <a:endParaRPr lang="en-US" sz="1050" dirty="0"/>
          </a:p>
        </p:txBody>
      </p:sp>
      <p:sp>
        <p:nvSpPr>
          <p:cNvPr id="15" name="Shape 11"/>
          <p:cNvSpPr/>
          <p:nvPr/>
        </p:nvSpPr>
        <p:spPr>
          <a:xfrm>
            <a:off x="731520" y="4050792"/>
            <a:ext cx="2286000" cy="585216"/>
          </a:xfrm>
          <a:prstGeom prst="roundRect">
            <a:avLst>
              <a:gd name="adj" fmla="val 12500"/>
            </a:avLst>
          </a:prstGeom>
          <a:solidFill>
            <a:srgbClr val="FFFFFF"/>
          </a:solidFill>
          <a:ln w="12700">
            <a:solidFill>
              <a:srgbClr val="D5DBE3"/>
            </a:solidFill>
            <a:prstDash val="solid"/>
          </a:ln>
        </p:spPr>
      </p:sp>
      <p:pic>
        <p:nvPicPr>
          <p:cNvPr id="16" name="Image 2" descr="preencoded.png">    </p:cNvPr>
          <p:cNvPicPr>
            <a:picLocks noChangeAspect="1"/>
          </p:cNvPicPr>
          <p:nvPr/>
        </p:nvPicPr>
        <p:blipFill>
          <a:blip r:embed="rId3"/>
          <a:stretch>
            <a:fillRect/>
          </a:stretch>
        </p:blipFill>
        <p:spPr>
          <a:xfrm>
            <a:off x="841248" y="4197096"/>
            <a:ext cx="292608" cy="292608"/>
          </a:xfrm>
          <a:prstGeom prst="rect">
            <a:avLst/>
          </a:prstGeom>
        </p:spPr>
      </p:pic>
      <p:sp>
        <p:nvSpPr>
          <p:cNvPr id="17" name="Text 12"/>
          <p:cNvSpPr txBox="1"/>
          <p:nvPr/>
        </p:nvSpPr>
        <p:spPr>
          <a:xfrm>
            <a:off x="1225296" y="4050792"/>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ハイブリッド</a:t>
            </a:r>
            <a:endParaRPr lang="en-US" sz="1050" dirty="0"/>
          </a:p>
        </p:txBody>
      </p:sp>
      <p:sp>
        <p:nvSpPr>
          <p:cNvPr id="18" name="Shape 13"/>
          <p:cNvSpPr/>
          <p:nvPr/>
        </p:nvSpPr>
        <p:spPr>
          <a:xfrm>
            <a:off x="731520" y="4764024"/>
            <a:ext cx="2286000" cy="585216"/>
          </a:xfrm>
          <a:prstGeom prst="roundRect">
            <a:avLst>
              <a:gd name="adj" fmla="val 12500"/>
            </a:avLst>
          </a:prstGeom>
          <a:solidFill>
            <a:srgbClr val="FFFFFF"/>
          </a:solidFill>
          <a:ln w="12700">
            <a:solidFill>
              <a:srgbClr val="D5DBE3"/>
            </a:solidFill>
            <a:prstDash val="solid"/>
          </a:ln>
        </p:spPr>
      </p:sp>
      <p:pic>
        <p:nvPicPr>
          <p:cNvPr id="19" name="Image 3" descr="preencoded.png">    </p:cNvPr>
          <p:cNvPicPr>
            <a:picLocks noChangeAspect="1"/>
          </p:cNvPicPr>
          <p:nvPr/>
        </p:nvPicPr>
        <p:blipFill>
          <a:blip r:embed="rId4"/>
          <a:stretch>
            <a:fillRect/>
          </a:stretch>
        </p:blipFill>
        <p:spPr>
          <a:xfrm>
            <a:off x="841248" y="4910328"/>
            <a:ext cx="292608" cy="292608"/>
          </a:xfrm>
          <a:prstGeom prst="rect">
            <a:avLst/>
          </a:prstGeom>
        </p:spPr>
      </p:pic>
      <p:sp>
        <p:nvSpPr>
          <p:cNvPr id="20" name="Text 14"/>
          <p:cNvSpPr txBox="1"/>
          <p:nvPr/>
        </p:nvSpPr>
        <p:spPr>
          <a:xfrm>
            <a:off x="1225296" y="4764024"/>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GCPに寄せる</a:t>
            </a:r>
            <a:endParaRPr lang="en-US" sz="1050" dirty="0"/>
          </a:p>
        </p:txBody>
      </p:sp>
      <p:sp>
        <p:nvSpPr>
          <p:cNvPr id="21" name="Shape 15"/>
          <p:cNvSpPr/>
          <p:nvPr/>
        </p:nvSpPr>
        <p:spPr>
          <a:xfrm>
            <a:off x="3355848" y="1463040"/>
            <a:ext cx="2651760" cy="4846320"/>
          </a:xfrm>
          <a:prstGeom prst="roundRect">
            <a:avLst>
              <a:gd name="adj" fmla="val 1724"/>
            </a:avLst>
          </a:prstGeom>
          <a:solidFill>
            <a:srgbClr val="F3F5F8"/>
          </a:solidFill>
          <a:ln/>
        </p:spPr>
      </p:sp>
      <p:sp>
        <p:nvSpPr>
          <p:cNvPr id="22" name="Shape 16"/>
          <p:cNvSpPr/>
          <p:nvPr/>
        </p:nvSpPr>
        <p:spPr>
          <a:xfrm>
            <a:off x="3538728" y="1645920"/>
            <a:ext cx="685800" cy="310896"/>
          </a:xfrm>
          <a:prstGeom prst="roundRect">
            <a:avLst>
              <a:gd name="adj" fmla="val 50000"/>
            </a:avLst>
          </a:prstGeom>
          <a:solidFill>
            <a:srgbClr val="1B2A49"/>
          </a:solidFill>
          <a:ln/>
        </p:spPr>
      </p:sp>
      <p:sp>
        <p:nvSpPr>
          <p:cNvPr id="23" name="Text 17"/>
          <p:cNvSpPr txBox="1"/>
          <p:nvPr/>
        </p:nvSpPr>
        <p:spPr>
          <a:xfrm>
            <a:off x="3538728" y="1645920"/>
            <a:ext cx="6858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軸2</a:t>
            </a:r>
            <a:endParaRPr lang="en-US" sz="1050" dirty="0"/>
          </a:p>
        </p:txBody>
      </p:sp>
      <p:pic>
        <p:nvPicPr>
          <p:cNvPr id="24" name="Image 4" descr="preencoded.png">    </p:cNvPr>
          <p:cNvPicPr>
            <a:picLocks noChangeAspect="1"/>
          </p:cNvPicPr>
          <p:nvPr/>
        </p:nvPicPr>
        <p:blipFill>
          <a:blip r:embed="rId5"/>
          <a:stretch>
            <a:fillRect/>
          </a:stretch>
        </p:blipFill>
        <p:spPr>
          <a:xfrm>
            <a:off x="5413248" y="1572768"/>
            <a:ext cx="402336" cy="402336"/>
          </a:xfrm>
          <a:prstGeom prst="rect">
            <a:avLst/>
          </a:prstGeom>
        </p:spPr>
      </p:pic>
      <p:sp>
        <p:nvSpPr>
          <p:cNvPr id="25" name="Text 18"/>
          <p:cNvSpPr txBox="1"/>
          <p:nvPr/>
        </p:nvSpPr>
        <p:spPr>
          <a:xfrm>
            <a:off x="3538728" y="2103120"/>
            <a:ext cx="237744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配信管理の基盤</a:t>
            </a:r>
            <a:endParaRPr lang="en-US" sz="1500" dirty="0"/>
          </a:p>
        </p:txBody>
      </p:sp>
      <p:sp>
        <p:nvSpPr>
          <p:cNvPr id="26" name="Text 19"/>
          <p:cNvSpPr txBox="1"/>
          <p:nvPr/>
        </p:nvSpPr>
        <p:spPr>
          <a:xfrm>
            <a:off x="3538728" y="2606040"/>
            <a:ext cx="2377440" cy="59436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配信カレンダー・カードを、どこで管理するか</a:t>
            </a:r>
            <a:endParaRPr lang="en-US" sz="1050" dirty="0"/>
          </a:p>
        </p:txBody>
      </p:sp>
      <p:sp>
        <p:nvSpPr>
          <p:cNvPr id="27" name="Shape 20"/>
          <p:cNvSpPr/>
          <p:nvPr/>
        </p:nvSpPr>
        <p:spPr>
          <a:xfrm>
            <a:off x="3538728" y="3337560"/>
            <a:ext cx="2286000" cy="585216"/>
          </a:xfrm>
          <a:prstGeom prst="roundRect">
            <a:avLst>
              <a:gd name="adj" fmla="val 12500"/>
            </a:avLst>
          </a:prstGeom>
          <a:solidFill>
            <a:srgbClr val="FFFFFF"/>
          </a:solidFill>
          <a:ln w="12700">
            <a:solidFill>
              <a:srgbClr val="D5DBE3"/>
            </a:solidFill>
            <a:prstDash val="solid"/>
          </a:ln>
        </p:spPr>
      </p:sp>
      <p:pic>
        <p:nvPicPr>
          <p:cNvPr id="28" name="Image 5" descr="preencoded.png">    </p:cNvPr>
          <p:cNvPicPr>
            <a:picLocks noChangeAspect="1"/>
          </p:cNvPicPr>
          <p:nvPr/>
        </p:nvPicPr>
        <p:blipFill>
          <a:blip r:embed="rId6"/>
          <a:stretch>
            <a:fillRect/>
          </a:stretch>
        </p:blipFill>
        <p:spPr>
          <a:xfrm>
            <a:off x="3648456" y="3483864"/>
            <a:ext cx="292608" cy="292608"/>
          </a:xfrm>
          <a:prstGeom prst="rect">
            <a:avLst/>
          </a:prstGeom>
        </p:spPr>
      </p:pic>
      <p:sp>
        <p:nvSpPr>
          <p:cNvPr id="29" name="Text 21"/>
          <p:cNvSpPr txBox="1"/>
          <p:nvPr/>
        </p:nvSpPr>
        <p:spPr>
          <a:xfrm>
            <a:off x="4032504" y="3337560"/>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Airtableを継続</a:t>
            </a:r>
            <a:endParaRPr lang="en-US" sz="1050" dirty="0"/>
          </a:p>
        </p:txBody>
      </p:sp>
      <p:sp>
        <p:nvSpPr>
          <p:cNvPr id="30" name="Shape 22"/>
          <p:cNvSpPr/>
          <p:nvPr/>
        </p:nvSpPr>
        <p:spPr>
          <a:xfrm>
            <a:off x="3538728" y="4050792"/>
            <a:ext cx="2286000" cy="585216"/>
          </a:xfrm>
          <a:prstGeom prst="roundRect">
            <a:avLst>
              <a:gd name="adj" fmla="val 12500"/>
            </a:avLst>
          </a:prstGeom>
          <a:solidFill>
            <a:srgbClr val="FFFFFF"/>
          </a:solidFill>
          <a:ln w="12700">
            <a:solidFill>
              <a:srgbClr val="D5DBE3"/>
            </a:solidFill>
            <a:prstDash val="solid"/>
          </a:ln>
        </p:spPr>
      </p:sp>
      <p:pic>
        <p:nvPicPr>
          <p:cNvPr id="31" name="Image 6" descr="preencoded.png">    </p:cNvPr>
          <p:cNvPicPr>
            <a:picLocks noChangeAspect="1"/>
          </p:cNvPicPr>
          <p:nvPr/>
        </p:nvPicPr>
        <p:blipFill>
          <a:blip r:embed="rId7"/>
          <a:stretch>
            <a:fillRect/>
          </a:stretch>
        </p:blipFill>
        <p:spPr>
          <a:xfrm>
            <a:off x="3648456" y="4197096"/>
            <a:ext cx="292608" cy="292608"/>
          </a:xfrm>
          <a:prstGeom prst="rect">
            <a:avLst/>
          </a:prstGeom>
        </p:spPr>
      </p:pic>
      <p:sp>
        <p:nvSpPr>
          <p:cNvPr id="32" name="Text 23"/>
          <p:cNvSpPr txBox="1"/>
          <p:nvPr/>
        </p:nvSpPr>
        <p:spPr>
          <a:xfrm>
            <a:off x="4032504" y="4050792"/>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Microsoft Listsに移行</a:t>
            </a:r>
            <a:endParaRPr lang="en-US" sz="1050" dirty="0"/>
          </a:p>
        </p:txBody>
      </p:sp>
      <p:sp>
        <p:nvSpPr>
          <p:cNvPr id="33" name="Shape 24"/>
          <p:cNvSpPr/>
          <p:nvPr/>
        </p:nvSpPr>
        <p:spPr>
          <a:xfrm>
            <a:off x="3538728" y="4764024"/>
            <a:ext cx="2286000" cy="585216"/>
          </a:xfrm>
          <a:prstGeom prst="roundRect">
            <a:avLst>
              <a:gd name="adj" fmla="val 12500"/>
            </a:avLst>
          </a:prstGeom>
          <a:solidFill>
            <a:srgbClr val="FFFFFF"/>
          </a:solidFill>
          <a:ln w="12700">
            <a:solidFill>
              <a:srgbClr val="D5DBE3"/>
            </a:solidFill>
            <a:prstDash val="solid"/>
          </a:ln>
        </p:spPr>
      </p:sp>
      <p:pic>
        <p:nvPicPr>
          <p:cNvPr id="34" name="Image 7" descr="preencoded.png">    </p:cNvPr>
          <p:cNvPicPr>
            <a:picLocks noChangeAspect="1"/>
          </p:cNvPicPr>
          <p:nvPr/>
        </p:nvPicPr>
        <p:blipFill>
          <a:blip r:embed="rId8"/>
          <a:stretch>
            <a:fillRect/>
          </a:stretch>
        </p:blipFill>
        <p:spPr>
          <a:xfrm>
            <a:off x="3648456" y="4910328"/>
            <a:ext cx="292608" cy="292608"/>
          </a:xfrm>
          <a:prstGeom prst="rect">
            <a:avLst/>
          </a:prstGeom>
        </p:spPr>
      </p:pic>
      <p:sp>
        <p:nvSpPr>
          <p:cNvPr id="35" name="Text 25"/>
          <p:cNvSpPr txBox="1"/>
          <p:nvPr/>
        </p:nvSpPr>
        <p:spPr>
          <a:xfrm>
            <a:off x="4032504" y="4764024"/>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Power Apps／code apps</a:t>
            </a:r>
            <a:endParaRPr lang="en-US" sz="1050" dirty="0"/>
          </a:p>
        </p:txBody>
      </p:sp>
      <p:sp>
        <p:nvSpPr>
          <p:cNvPr id="36" name="Shape 26"/>
          <p:cNvSpPr/>
          <p:nvPr/>
        </p:nvSpPr>
        <p:spPr>
          <a:xfrm>
            <a:off x="3538728" y="5477256"/>
            <a:ext cx="2286000" cy="585216"/>
          </a:xfrm>
          <a:prstGeom prst="roundRect">
            <a:avLst>
              <a:gd name="adj" fmla="val 12500"/>
            </a:avLst>
          </a:prstGeom>
          <a:solidFill>
            <a:srgbClr val="FFFFFF"/>
          </a:solidFill>
          <a:ln w="12700">
            <a:solidFill>
              <a:srgbClr val="D5DBE3"/>
            </a:solidFill>
            <a:prstDash val="solid"/>
          </a:ln>
        </p:spPr>
      </p:sp>
      <p:pic>
        <p:nvPicPr>
          <p:cNvPr id="37" name="Image 8" descr="preencoded.png">    </p:cNvPr>
          <p:cNvPicPr>
            <a:picLocks noChangeAspect="1"/>
          </p:cNvPicPr>
          <p:nvPr/>
        </p:nvPicPr>
        <p:blipFill>
          <a:blip r:embed="rId9"/>
          <a:stretch>
            <a:fillRect/>
          </a:stretch>
        </p:blipFill>
        <p:spPr>
          <a:xfrm>
            <a:off x="3648456" y="5623560"/>
            <a:ext cx="292608" cy="292608"/>
          </a:xfrm>
          <a:prstGeom prst="rect">
            <a:avLst/>
          </a:prstGeom>
        </p:spPr>
      </p:pic>
      <p:sp>
        <p:nvSpPr>
          <p:cNvPr id="38" name="Text 27"/>
          <p:cNvSpPr txBox="1"/>
          <p:nvPr/>
        </p:nvSpPr>
        <p:spPr>
          <a:xfrm>
            <a:off x="4032504" y="5477256"/>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スクラッチ開発</a:t>
            </a:r>
            <a:endParaRPr lang="en-US" sz="1050" dirty="0"/>
          </a:p>
        </p:txBody>
      </p:sp>
      <p:sp>
        <p:nvSpPr>
          <p:cNvPr id="39" name="Shape 28"/>
          <p:cNvSpPr/>
          <p:nvPr/>
        </p:nvSpPr>
        <p:spPr>
          <a:xfrm>
            <a:off x="6163056" y="1463040"/>
            <a:ext cx="2651760" cy="4846320"/>
          </a:xfrm>
          <a:prstGeom prst="roundRect">
            <a:avLst>
              <a:gd name="adj" fmla="val 1724"/>
            </a:avLst>
          </a:prstGeom>
          <a:solidFill>
            <a:srgbClr val="F3F5F8"/>
          </a:solidFill>
          <a:ln/>
        </p:spPr>
      </p:sp>
      <p:sp>
        <p:nvSpPr>
          <p:cNvPr id="40" name="Shape 29"/>
          <p:cNvSpPr/>
          <p:nvPr/>
        </p:nvSpPr>
        <p:spPr>
          <a:xfrm>
            <a:off x="6345936" y="1645920"/>
            <a:ext cx="685800" cy="310896"/>
          </a:xfrm>
          <a:prstGeom prst="roundRect">
            <a:avLst>
              <a:gd name="adj" fmla="val 50000"/>
            </a:avLst>
          </a:prstGeom>
          <a:solidFill>
            <a:srgbClr val="1B2A49"/>
          </a:solidFill>
          <a:ln/>
        </p:spPr>
      </p:sp>
      <p:sp>
        <p:nvSpPr>
          <p:cNvPr id="41" name="Text 30"/>
          <p:cNvSpPr txBox="1"/>
          <p:nvPr/>
        </p:nvSpPr>
        <p:spPr>
          <a:xfrm>
            <a:off x="6345936" y="1645920"/>
            <a:ext cx="6858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軸3</a:t>
            </a:r>
            <a:endParaRPr lang="en-US" sz="1050" dirty="0"/>
          </a:p>
        </p:txBody>
      </p:sp>
      <p:pic>
        <p:nvPicPr>
          <p:cNvPr id="42" name="Image 9" descr="preencoded.png">    </p:cNvPr>
          <p:cNvPicPr>
            <a:picLocks noChangeAspect="1"/>
          </p:cNvPicPr>
          <p:nvPr/>
        </p:nvPicPr>
        <p:blipFill>
          <a:blip r:embed="rId10"/>
          <a:stretch>
            <a:fillRect/>
          </a:stretch>
        </p:blipFill>
        <p:spPr>
          <a:xfrm>
            <a:off x="8220456" y="1572768"/>
            <a:ext cx="402336" cy="402336"/>
          </a:xfrm>
          <a:prstGeom prst="rect">
            <a:avLst/>
          </a:prstGeom>
        </p:spPr>
      </p:pic>
      <p:sp>
        <p:nvSpPr>
          <p:cNvPr id="43" name="Text 31"/>
          <p:cNvSpPr txBox="1"/>
          <p:nvPr/>
        </p:nvSpPr>
        <p:spPr>
          <a:xfrm>
            <a:off x="6345936" y="2103120"/>
            <a:ext cx="237744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自動化の範囲</a:t>
            </a:r>
            <a:endParaRPr lang="en-US" sz="1500" dirty="0"/>
          </a:p>
        </p:txBody>
      </p:sp>
      <p:sp>
        <p:nvSpPr>
          <p:cNvPr id="44" name="Text 32"/>
          <p:cNvSpPr txBox="1"/>
          <p:nvPr/>
        </p:nvSpPr>
        <p:spPr>
          <a:xfrm>
            <a:off x="6345936" y="2606040"/>
            <a:ext cx="2377440" cy="59436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AIにどこまで任せるか（段階的に広げることもできる）</a:t>
            </a:r>
            <a:endParaRPr lang="en-US" sz="1050" dirty="0"/>
          </a:p>
        </p:txBody>
      </p:sp>
      <p:sp>
        <p:nvSpPr>
          <p:cNvPr id="45" name="Shape 33"/>
          <p:cNvSpPr/>
          <p:nvPr/>
        </p:nvSpPr>
        <p:spPr>
          <a:xfrm>
            <a:off x="6345936" y="3337560"/>
            <a:ext cx="2286000" cy="585216"/>
          </a:xfrm>
          <a:prstGeom prst="roundRect">
            <a:avLst>
              <a:gd name="adj" fmla="val 12500"/>
            </a:avLst>
          </a:prstGeom>
          <a:solidFill>
            <a:srgbClr val="FFFFFF"/>
          </a:solidFill>
          <a:ln w="12700">
            <a:solidFill>
              <a:srgbClr val="D5DBE3"/>
            </a:solidFill>
            <a:prstDash val="solid"/>
          </a:ln>
        </p:spPr>
      </p:sp>
      <p:pic>
        <p:nvPicPr>
          <p:cNvPr id="46" name="Image 10" descr="preencoded.png">    </p:cNvPr>
          <p:cNvPicPr>
            <a:picLocks noChangeAspect="1"/>
          </p:cNvPicPr>
          <p:nvPr/>
        </p:nvPicPr>
        <p:blipFill>
          <a:blip r:embed="rId11"/>
          <a:stretch>
            <a:fillRect/>
          </a:stretch>
        </p:blipFill>
        <p:spPr>
          <a:xfrm>
            <a:off x="6455664" y="3483864"/>
            <a:ext cx="292608" cy="292608"/>
          </a:xfrm>
          <a:prstGeom prst="rect">
            <a:avLst/>
          </a:prstGeom>
        </p:spPr>
      </p:pic>
      <p:sp>
        <p:nvSpPr>
          <p:cNvPr id="47" name="Text 34"/>
          <p:cNvSpPr txBox="1"/>
          <p:nvPr/>
        </p:nvSpPr>
        <p:spPr>
          <a:xfrm>
            <a:off x="6839712" y="3337560"/>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Step1 手動アシスト</a:t>
            </a:r>
            <a:endParaRPr lang="en-US" sz="1050" dirty="0"/>
          </a:p>
        </p:txBody>
      </p:sp>
      <p:sp>
        <p:nvSpPr>
          <p:cNvPr id="48" name="Shape 35"/>
          <p:cNvSpPr/>
          <p:nvPr/>
        </p:nvSpPr>
        <p:spPr>
          <a:xfrm>
            <a:off x="6345936" y="4050792"/>
            <a:ext cx="2286000" cy="585216"/>
          </a:xfrm>
          <a:prstGeom prst="roundRect">
            <a:avLst>
              <a:gd name="adj" fmla="val 12500"/>
            </a:avLst>
          </a:prstGeom>
          <a:solidFill>
            <a:srgbClr val="FFFFFF"/>
          </a:solidFill>
          <a:ln w="12700">
            <a:solidFill>
              <a:srgbClr val="D5DBE3"/>
            </a:solidFill>
            <a:prstDash val="solid"/>
          </a:ln>
        </p:spPr>
      </p:sp>
      <p:pic>
        <p:nvPicPr>
          <p:cNvPr id="49" name="Image 11" descr="preencoded.png">    </p:cNvPr>
          <p:cNvPicPr>
            <a:picLocks noChangeAspect="1"/>
          </p:cNvPicPr>
          <p:nvPr/>
        </p:nvPicPr>
        <p:blipFill>
          <a:blip r:embed="rId12"/>
          <a:stretch>
            <a:fillRect/>
          </a:stretch>
        </p:blipFill>
        <p:spPr>
          <a:xfrm>
            <a:off x="6455664" y="4197096"/>
            <a:ext cx="292608" cy="292608"/>
          </a:xfrm>
          <a:prstGeom prst="rect">
            <a:avLst/>
          </a:prstGeom>
        </p:spPr>
      </p:pic>
      <p:sp>
        <p:nvSpPr>
          <p:cNvPr id="50" name="Text 36"/>
          <p:cNvSpPr txBox="1"/>
          <p:nvPr/>
        </p:nvSpPr>
        <p:spPr>
          <a:xfrm>
            <a:off x="6839712" y="4050792"/>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Step2 対話型エージェント</a:t>
            </a:r>
            <a:endParaRPr lang="en-US" sz="1050" dirty="0"/>
          </a:p>
        </p:txBody>
      </p:sp>
      <p:sp>
        <p:nvSpPr>
          <p:cNvPr id="51" name="Shape 37"/>
          <p:cNvSpPr/>
          <p:nvPr/>
        </p:nvSpPr>
        <p:spPr>
          <a:xfrm>
            <a:off x="6345936" y="4764024"/>
            <a:ext cx="2286000" cy="585216"/>
          </a:xfrm>
          <a:prstGeom prst="roundRect">
            <a:avLst>
              <a:gd name="adj" fmla="val 12500"/>
            </a:avLst>
          </a:prstGeom>
          <a:solidFill>
            <a:srgbClr val="FFFFFF"/>
          </a:solidFill>
          <a:ln w="12700">
            <a:solidFill>
              <a:srgbClr val="D5DBE3"/>
            </a:solidFill>
            <a:prstDash val="solid"/>
          </a:ln>
        </p:spPr>
      </p:sp>
      <p:pic>
        <p:nvPicPr>
          <p:cNvPr id="52" name="Image 12" descr="preencoded.png">    </p:cNvPr>
          <p:cNvPicPr>
            <a:picLocks noChangeAspect="1"/>
          </p:cNvPicPr>
          <p:nvPr/>
        </p:nvPicPr>
        <p:blipFill>
          <a:blip r:embed="rId13"/>
          <a:stretch>
            <a:fillRect/>
          </a:stretch>
        </p:blipFill>
        <p:spPr>
          <a:xfrm>
            <a:off x="6455664" y="4910328"/>
            <a:ext cx="292608" cy="292608"/>
          </a:xfrm>
          <a:prstGeom prst="rect">
            <a:avLst/>
          </a:prstGeom>
        </p:spPr>
      </p:pic>
      <p:sp>
        <p:nvSpPr>
          <p:cNvPr id="53" name="Text 38"/>
          <p:cNvSpPr txBox="1"/>
          <p:nvPr/>
        </p:nvSpPr>
        <p:spPr>
          <a:xfrm>
            <a:off x="6839712" y="4764024"/>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Step3 自動起案</a:t>
            </a:r>
            <a:endParaRPr lang="en-US" sz="1050" dirty="0"/>
          </a:p>
        </p:txBody>
      </p:sp>
      <p:sp>
        <p:nvSpPr>
          <p:cNvPr id="54" name="Shape 39"/>
          <p:cNvSpPr/>
          <p:nvPr/>
        </p:nvSpPr>
        <p:spPr>
          <a:xfrm>
            <a:off x="6345936" y="5477256"/>
            <a:ext cx="2286000" cy="585216"/>
          </a:xfrm>
          <a:prstGeom prst="roundRect">
            <a:avLst>
              <a:gd name="adj" fmla="val 12500"/>
            </a:avLst>
          </a:prstGeom>
          <a:solidFill>
            <a:srgbClr val="FFFFFF"/>
          </a:solidFill>
          <a:ln w="12700">
            <a:solidFill>
              <a:srgbClr val="D5DBE3"/>
            </a:solidFill>
            <a:prstDash val="solid"/>
          </a:ln>
        </p:spPr>
      </p:sp>
      <p:pic>
        <p:nvPicPr>
          <p:cNvPr id="55" name="Image 13" descr="preencoded.png">    </p:cNvPr>
          <p:cNvPicPr>
            <a:picLocks noChangeAspect="1"/>
          </p:cNvPicPr>
          <p:nvPr/>
        </p:nvPicPr>
        <p:blipFill>
          <a:blip r:embed="rId14"/>
          <a:stretch>
            <a:fillRect/>
          </a:stretch>
        </p:blipFill>
        <p:spPr>
          <a:xfrm>
            <a:off x="6455664" y="5623560"/>
            <a:ext cx="292608" cy="292608"/>
          </a:xfrm>
          <a:prstGeom prst="rect">
            <a:avLst/>
          </a:prstGeom>
        </p:spPr>
      </p:pic>
      <p:sp>
        <p:nvSpPr>
          <p:cNvPr id="56" name="Text 40"/>
          <p:cNvSpPr txBox="1"/>
          <p:nvPr/>
        </p:nvSpPr>
        <p:spPr>
          <a:xfrm>
            <a:off x="6839712" y="5477256"/>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Step4 継続的な最適化</a:t>
            </a:r>
            <a:endParaRPr lang="en-US" sz="1050" dirty="0"/>
          </a:p>
        </p:txBody>
      </p:sp>
      <p:sp>
        <p:nvSpPr>
          <p:cNvPr id="57" name="Shape 41"/>
          <p:cNvSpPr/>
          <p:nvPr/>
        </p:nvSpPr>
        <p:spPr>
          <a:xfrm>
            <a:off x="8970264" y="1463040"/>
            <a:ext cx="2651760" cy="4846320"/>
          </a:xfrm>
          <a:prstGeom prst="roundRect">
            <a:avLst>
              <a:gd name="adj" fmla="val 1724"/>
            </a:avLst>
          </a:prstGeom>
          <a:solidFill>
            <a:srgbClr val="D9F2F1"/>
          </a:solidFill>
          <a:ln/>
        </p:spPr>
      </p:sp>
      <p:sp>
        <p:nvSpPr>
          <p:cNvPr id="58" name="Shape 42"/>
          <p:cNvSpPr/>
          <p:nvPr/>
        </p:nvSpPr>
        <p:spPr>
          <a:xfrm>
            <a:off x="9153144" y="1645920"/>
            <a:ext cx="685800" cy="310896"/>
          </a:xfrm>
          <a:prstGeom prst="roundRect">
            <a:avLst>
              <a:gd name="adj" fmla="val 50000"/>
            </a:avLst>
          </a:prstGeom>
          <a:solidFill>
            <a:srgbClr val="1B2A49"/>
          </a:solidFill>
          <a:ln/>
        </p:spPr>
      </p:sp>
      <p:sp>
        <p:nvSpPr>
          <p:cNvPr id="59" name="Text 43"/>
          <p:cNvSpPr txBox="1"/>
          <p:nvPr/>
        </p:nvSpPr>
        <p:spPr>
          <a:xfrm>
            <a:off x="9153144" y="1645920"/>
            <a:ext cx="6858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軸4</a:t>
            </a:r>
            <a:endParaRPr lang="en-US" sz="1050" dirty="0"/>
          </a:p>
        </p:txBody>
      </p:sp>
      <p:pic>
        <p:nvPicPr>
          <p:cNvPr id="60" name="Image 14" descr="preencoded.png">    </p:cNvPr>
          <p:cNvPicPr>
            <a:picLocks noChangeAspect="1"/>
          </p:cNvPicPr>
          <p:nvPr/>
        </p:nvPicPr>
        <p:blipFill>
          <a:blip r:embed="rId15"/>
          <a:stretch>
            <a:fillRect/>
          </a:stretch>
        </p:blipFill>
        <p:spPr>
          <a:xfrm>
            <a:off x="11027664" y="1572768"/>
            <a:ext cx="402336" cy="402336"/>
          </a:xfrm>
          <a:prstGeom prst="rect">
            <a:avLst/>
          </a:prstGeom>
        </p:spPr>
      </p:pic>
      <p:sp>
        <p:nvSpPr>
          <p:cNvPr id="61" name="Text 44"/>
          <p:cNvSpPr txBox="1"/>
          <p:nvPr/>
        </p:nvSpPr>
        <p:spPr>
          <a:xfrm>
            <a:off x="9153144" y="2103120"/>
            <a:ext cx="237744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展開の単位</a:t>
            </a:r>
            <a:endParaRPr lang="en-US" sz="1500" dirty="0"/>
          </a:p>
        </p:txBody>
      </p:sp>
      <p:sp>
        <p:nvSpPr>
          <p:cNvPr id="62" name="Text 45"/>
          <p:cNvSpPr txBox="1"/>
          <p:nvPr/>
        </p:nvSpPr>
        <p:spPr>
          <a:xfrm>
            <a:off x="9153144" y="2606040"/>
            <a:ext cx="2377440" cy="59436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国ごとに作るか、共通の仕組みにするか</a:t>
            </a:r>
            <a:endParaRPr lang="en-US" sz="1050" dirty="0"/>
          </a:p>
        </p:txBody>
      </p:sp>
      <p:sp>
        <p:nvSpPr>
          <p:cNvPr id="63" name="Shape 46"/>
          <p:cNvSpPr/>
          <p:nvPr/>
        </p:nvSpPr>
        <p:spPr>
          <a:xfrm>
            <a:off x="9153144" y="3337560"/>
            <a:ext cx="2286000" cy="585216"/>
          </a:xfrm>
          <a:prstGeom prst="roundRect">
            <a:avLst>
              <a:gd name="adj" fmla="val 12500"/>
            </a:avLst>
          </a:prstGeom>
          <a:solidFill>
            <a:srgbClr val="FFFFFF"/>
          </a:solidFill>
          <a:ln w="12700">
            <a:solidFill>
              <a:srgbClr val="D5DBE3"/>
            </a:solidFill>
            <a:prstDash val="solid"/>
          </a:ln>
        </p:spPr>
      </p:sp>
      <p:pic>
        <p:nvPicPr>
          <p:cNvPr id="64" name="Image 15" descr="preencoded.png">    </p:cNvPr>
          <p:cNvPicPr>
            <a:picLocks noChangeAspect="1"/>
          </p:cNvPicPr>
          <p:nvPr/>
        </p:nvPicPr>
        <p:blipFill>
          <a:blip r:embed="rId16"/>
          <a:stretch>
            <a:fillRect/>
          </a:stretch>
        </p:blipFill>
        <p:spPr>
          <a:xfrm>
            <a:off x="9262872" y="3483864"/>
            <a:ext cx="292608" cy="292608"/>
          </a:xfrm>
          <a:prstGeom prst="rect">
            <a:avLst/>
          </a:prstGeom>
        </p:spPr>
      </p:pic>
      <p:sp>
        <p:nvSpPr>
          <p:cNvPr id="65" name="Text 47"/>
          <p:cNvSpPr txBox="1"/>
          <p:nvPr/>
        </p:nvSpPr>
        <p:spPr>
          <a:xfrm>
            <a:off x="9646920" y="3337560"/>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国別に独立</a:t>
            </a:r>
            <a:endParaRPr lang="en-US" sz="1050" dirty="0"/>
          </a:p>
        </p:txBody>
      </p:sp>
      <p:sp>
        <p:nvSpPr>
          <p:cNvPr id="66" name="Shape 48"/>
          <p:cNvSpPr/>
          <p:nvPr/>
        </p:nvSpPr>
        <p:spPr>
          <a:xfrm>
            <a:off x="9153144" y="4050792"/>
            <a:ext cx="2286000" cy="585216"/>
          </a:xfrm>
          <a:prstGeom prst="roundRect">
            <a:avLst>
              <a:gd name="adj" fmla="val 12500"/>
            </a:avLst>
          </a:prstGeom>
          <a:solidFill>
            <a:srgbClr val="FFFFFF"/>
          </a:solidFill>
          <a:ln w="12700">
            <a:solidFill>
              <a:srgbClr val="D5DBE3"/>
            </a:solidFill>
            <a:prstDash val="solid"/>
          </a:ln>
        </p:spPr>
      </p:sp>
      <p:pic>
        <p:nvPicPr>
          <p:cNvPr id="67" name="Image 16" descr="preencoded.png">    </p:cNvPr>
          <p:cNvPicPr>
            <a:picLocks noChangeAspect="1"/>
          </p:cNvPicPr>
          <p:nvPr/>
        </p:nvPicPr>
        <p:blipFill>
          <a:blip r:embed="rId17"/>
          <a:stretch>
            <a:fillRect/>
          </a:stretch>
        </p:blipFill>
        <p:spPr>
          <a:xfrm>
            <a:off x="9262872" y="4197096"/>
            <a:ext cx="292608" cy="292608"/>
          </a:xfrm>
          <a:prstGeom prst="rect">
            <a:avLst/>
          </a:prstGeom>
        </p:spPr>
      </p:pic>
      <p:sp>
        <p:nvSpPr>
          <p:cNvPr id="68" name="Text 49"/>
          <p:cNvSpPr txBox="1"/>
          <p:nvPr/>
        </p:nvSpPr>
        <p:spPr>
          <a:xfrm>
            <a:off x="9646920" y="4050792"/>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共通の仕組み＋国別データ</a:t>
            </a:r>
            <a:endParaRPr lang="en-US" sz="1050" dirty="0"/>
          </a:p>
        </p:txBody>
      </p:sp>
      <p:sp>
        <p:nvSpPr>
          <p:cNvPr id="69" name="Shape 50"/>
          <p:cNvSpPr/>
          <p:nvPr/>
        </p:nvSpPr>
        <p:spPr>
          <a:xfrm>
            <a:off x="9153144" y="4764024"/>
            <a:ext cx="2286000" cy="585216"/>
          </a:xfrm>
          <a:prstGeom prst="roundRect">
            <a:avLst>
              <a:gd name="adj" fmla="val 12500"/>
            </a:avLst>
          </a:prstGeom>
          <a:solidFill>
            <a:srgbClr val="FFFFFF"/>
          </a:solidFill>
          <a:ln w="12700">
            <a:solidFill>
              <a:srgbClr val="D5DBE3"/>
            </a:solidFill>
            <a:prstDash val="solid"/>
          </a:ln>
        </p:spPr>
      </p:sp>
      <p:pic>
        <p:nvPicPr>
          <p:cNvPr id="70" name="Image 17" descr="preencoded.png">    </p:cNvPr>
          <p:cNvPicPr>
            <a:picLocks noChangeAspect="1"/>
          </p:cNvPicPr>
          <p:nvPr/>
        </p:nvPicPr>
        <p:blipFill>
          <a:blip r:embed="rId18"/>
          <a:stretch>
            <a:fillRect/>
          </a:stretch>
        </p:blipFill>
        <p:spPr>
          <a:xfrm>
            <a:off x="9262872" y="4910328"/>
            <a:ext cx="292608" cy="292608"/>
          </a:xfrm>
          <a:prstGeom prst="rect">
            <a:avLst/>
          </a:prstGeom>
        </p:spPr>
      </p:pic>
      <p:sp>
        <p:nvSpPr>
          <p:cNvPr id="71" name="Text 51"/>
          <p:cNvSpPr txBox="1"/>
          <p:nvPr/>
        </p:nvSpPr>
        <p:spPr>
          <a:xfrm>
            <a:off x="9646920" y="4764024"/>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完全に統合</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軸1：データとAIの集約先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資料（M365）と数値データ（GCP）のどちらを動かすかで、構成の性格が大きく変わる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6</a:t>
            </a:r>
            <a:endParaRPr lang="en-US" sz="900" dirty="0"/>
          </a:p>
        </p:txBody>
      </p:sp>
      <p:sp>
        <p:nvSpPr>
          <p:cNvPr id="6" name="Shape 4"/>
          <p:cNvSpPr/>
          <p:nvPr/>
        </p:nvSpPr>
        <p:spPr>
          <a:xfrm>
            <a:off x="548640" y="1417320"/>
            <a:ext cx="5440680" cy="3840480"/>
          </a:xfrm>
          <a:prstGeom prst="roundRect">
            <a:avLst>
              <a:gd name="adj" fmla="val 1429"/>
            </a:avLst>
          </a:prstGeom>
          <a:solidFill>
            <a:srgbClr val="E5F0FA"/>
          </a:solidFill>
          <a:ln/>
        </p:spPr>
      </p:sp>
      <p:sp>
        <p:nvSpPr>
          <p:cNvPr id="7" name="Shape 5"/>
          <p:cNvSpPr/>
          <p:nvPr/>
        </p:nvSpPr>
        <p:spPr>
          <a:xfrm>
            <a:off x="731520" y="1527048"/>
            <a:ext cx="457200" cy="4572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22960" y="1618488"/>
            <a:ext cx="274320" cy="274320"/>
          </a:xfrm>
          <a:prstGeom prst="rect">
            <a:avLst/>
          </a:prstGeom>
        </p:spPr>
      </p:pic>
      <p:sp>
        <p:nvSpPr>
          <p:cNvPr id="9" name="Text 6"/>
          <p:cNvSpPr txBox="1"/>
          <p:nvPr/>
        </p:nvSpPr>
        <p:spPr>
          <a:xfrm>
            <a:off x="1280160" y="1527048"/>
            <a:ext cx="3657600" cy="457200"/>
          </a:xfrm>
          <a:prstGeom prst="rect">
            <a:avLst/>
          </a:prstGeom>
          <a:noFill/>
          <a:ln/>
        </p:spPr>
        <p:txBody>
          <a:bodyPr wrap="square" lIns="508" tIns="508" rIns="508" bIns="508" rtlCol="0" anchor="ctr"/>
          <a:lstStyle/>
          <a:p>
            <a:pPr indent="0" marL="0">
              <a:buNone/>
            </a:pPr>
            <a:r>
              <a:rPr lang="en-US" sz="1700" b="1" dirty="0">
                <a:solidFill>
                  <a:srgbClr val="0F6CBD"/>
                </a:solidFill>
                <a:latin typeface="Meiryo UI" pitchFamily="34" charset="0"/>
                <a:ea typeface="Meiryo UI" pitchFamily="34" charset="-122"/>
                <a:cs typeface="Meiryo UI" pitchFamily="34" charset="-120"/>
              </a:rPr>
              <a:t>M365に寄せる</a:t>
            </a:r>
            <a:endParaRPr lang="en-US" sz="1700" dirty="0"/>
          </a:p>
        </p:txBody>
      </p:sp>
      <p:sp>
        <p:nvSpPr>
          <p:cNvPr id="10" name="Shape 7"/>
          <p:cNvSpPr/>
          <p:nvPr/>
        </p:nvSpPr>
        <p:spPr>
          <a:xfrm>
            <a:off x="86868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1000354" y="2326234"/>
            <a:ext cx="395021" cy="395021"/>
          </a:xfrm>
          <a:prstGeom prst="rect">
            <a:avLst/>
          </a:prstGeom>
        </p:spPr>
      </p:pic>
      <p:sp>
        <p:nvSpPr>
          <p:cNvPr id="12" name="Text 8"/>
          <p:cNvSpPr txBox="1"/>
          <p:nvPr/>
        </p:nvSpPr>
        <p:spPr>
          <a:xfrm>
            <a:off x="45720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BigQuery</a:t>
            </a:r>
            <a:endParaRPr lang="en-US" sz="900" dirty="0"/>
          </a:p>
        </p:txBody>
      </p:sp>
      <p:sp>
        <p:nvSpPr>
          <p:cNvPr id="13" name="Shape 9"/>
          <p:cNvSpPr/>
          <p:nvPr/>
        </p:nvSpPr>
        <p:spPr>
          <a:xfrm>
            <a:off x="1572768" y="2523744"/>
            <a:ext cx="347472" cy="0"/>
          </a:xfrm>
          <a:prstGeom prst="line">
            <a:avLst/>
          </a:prstGeom>
          <a:noFill/>
          <a:ln w="22225">
            <a:solidFill>
              <a:srgbClr val="9AA5B4"/>
            </a:solidFill>
            <a:prstDash val="solid"/>
            <a:tailEnd type="triangle"/>
          </a:ln>
        </p:spPr>
      </p:sp>
      <p:sp>
        <p:nvSpPr>
          <p:cNvPr id="14" name="Shape 10"/>
          <p:cNvSpPr/>
          <p:nvPr/>
        </p:nvSpPr>
        <p:spPr>
          <a:xfrm>
            <a:off x="196596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2097634" y="2326234"/>
            <a:ext cx="395021" cy="395021"/>
          </a:xfrm>
          <a:prstGeom prst="rect">
            <a:avLst/>
          </a:prstGeom>
        </p:spPr>
      </p:pic>
      <p:sp>
        <p:nvSpPr>
          <p:cNvPr id="16" name="Text 11"/>
          <p:cNvSpPr txBox="1"/>
          <p:nvPr/>
        </p:nvSpPr>
        <p:spPr>
          <a:xfrm>
            <a:off x="155448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GCS</a:t>
            </a:r>
            <a:endParaRPr lang="en-US" sz="900" dirty="0"/>
          </a:p>
        </p:txBody>
      </p:sp>
      <p:sp>
        <p:nvSpPr>
          <p:cNvPr id="17" name="Shape 12"/>
          <p:cNvSpPr/>
          <p:nvPr/>
        </p:nvSpPr>
        <p:spPr>
          <a:xfrm>
            <a:off x="2670048" y="2523744"/>
            <a:ext cx="484632" cy="0"/>
          </a:xfrm>
          <a:prstGeom prst="line">
            <a:avLst/>
          </a:prstGeom>
          <a:noFill/>
          <a:ln w="31750">
            <a:solidFill>
              <a:srgbClr val="0F6CBD"/>
            </a:solidFill>
            <a:prstDash val="solid"/>
            <a:tailEnd type="triangle"/>
          </a:ln>
        </p:spPr>
      </p:sp>
      <p:sp>
        <p:nvSpPr>
          <p:cNvPr id="18" name="Text 13"/>
          <p:cNvSpPr txBox="1"/>
          <p:nvPr/>
        </p:nvSpPr>
        <p:spPr>
          <a:xfrm>
            <a:off x="2304288" y="2249424"/>
            <a:ext cx="1216152" cy="23774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定期転送</a:t>
            </a:r>
            <a:endParaRPr lang="en-US" sz="850" dirty="0"/>
          </a:p>
        </p:txBody>
      </p:sp>
      <p:sp>
        <p:nvSpPr>
          <p:cNvPr id="19" name="Shape 14"/>
          <p:cNvSpPr/>
          <p:nvPr/>
        </p:nvSpPr>
        <p:spPr>
          <a:xfrm>
            <a:off x="320040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20" name="Image 3" descr="preencoded.png">    </p:cNvPr>
          <p:cNvPicPr>
            <a:picLocks noChangeAspect="1"/>
          </p:cNvPicPr>
          <p:nvPr/>
        </p:nvPicPr>
        <p:blipFill>
          <a:blip r:embed="rId4"/>
          <a:stretch>
            <a:fillRect/>
          </a:stretch>
        </p:blipFill>
        <p:spPr>
          <a:xfrm>
            <a:off x="3332074" y="2326234"/>
            <a:ext cx="395021" cy="395021"/>
          </a:xfrm>
          <a:prstGeom prst="rect">
            <a:avLst/>
          </a:prstGeom>
        </p:spPr>
      </p:pic>
      <p:sp>
        <p:nvSpPr>
          <p:cNvPr id="21" name="Text 15"/>
          <p:cNvSpPr txBox="1"/>
          <p:nvPr/>
        </p:nvSpPr>
        <p:spPr>
          <a:xfrm>
            <a:off x="278892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Dataverse／</a:t>
            </a:r>
            <a:endParaRPr lang="en-US" sz="900" dirty="0"/>
          </a:p>
          <a:p>
            <a:pPr algn="ctr" indent="0" marL="0">
              <a:buNone/>
            </a:pPr>
            <a:r>
              <a:rPr lang="en-US" sz="900" dirty="0">
                <a:solidFill>
                  <a:srgbClr val="2B2B2B"/>
                </a:solidFill>
                <a:latin typeface="Meiryo UI" pitchFamily="34" charset="0"/>
                <a:ea typeface="Meiryo UI" pitchFamily="34" charset="-122"/>
                <a:cs typeface="Meiryo UI" pitchFamily="34" charset="-120"/>
              </a:rPr>
              <a:t>SharePoint</a:t>
            </a:r>
            <a:endParaRPr lang="en-US" sz="900" dirty="0"/>
          </a:p>
        </p:txBody>
      </p:sp>
      <p:sp>
        <p:nvSpPr>
          <p:cNvPr id="22" name="Shape 16"/>
          <p:cNvSpPr/>
          <p:nvPr/>
        </p:nvSpPr>
        <p:spPr>
          <a:xfrm>
            <a:off x="3904488" y="2523744"/>
            <a:ext cx="347472" cy="0"/>
          </a:xfrm>
          <a:prstGeom prst="line">
            <a:avLst/>
          </a:prstGeom>
          <a:noFill/>
          <a:ln w="22225">
            <a:solidFill>
              <a:srgbClr val="9AA5B4"/>
            </a:solidFill>
            <a:prstDash val="solid"/>
            <a:tailEnd type="triangle"/>
          </a:ln>
        </p:spPr>
      </p:sp>
      <p:sp>
        <p:nvSpPr>
          <p:cNvPr id="23" name="Shape 17"/>
          <p:cNvSpPr/>
          <p:nvPr/>
        </p:nvSpPr>
        <p:spPr>
          <a:xfrm>
            <a:off x="429768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24" name="Image 4" descr="preencoded.png">    </p:cNvPr>
          <p:cNvPicPr>
            <a:picLocks noChangeAspect="1"/>
          </p:cNvPicPr>
          <p:nvPr/>
        </p:nvPicPr>
        <p:blipFill>
          <a:blip r:embed="rId5"/>
          <a:stretch>
            <a:fillRect/>
          </a:stretch>
        </p:blipFill>
        <p:spPr>
          <a:xfrm>
            <a:off x="4429354" y="2326234"/>
            <a:ext cx="395021" cy="395021"/>
          </a:xfrm>
          <a:prstGeom prst="rect">
            <a:avLst/>
          </a:prstGeom>
        </p:spPr>
      </p:pic>
      <p:sp>
        <p:nvSpPr>
          <p:cNvPr id="25" name="Text 18"/>
          <p:cNvSpPr txBox="1"/>
          <p:nvPr/>
        </p:nvSpPr>
        <p:spPr>
          <a:xfrm>
            <a:off x="388620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Copilot／</a:t>
            </a:r>
            <a:endParaRPr lang="en-US" sz="900" dirty="0"/>
          </a:p>
          <a:p>
            <a:pPr algn="ctr" indent="0" marL="0">
              <a:buNone/>
            </a:pPr>
            <a:r>
              <a:rPr lang="en-US" sz="900" dirty="0">
                <a:solidFill>
                  <a:srgbClr val="2B2B2B"/>
                </a:solidFill>
                <a:latin typeface="Meiryo UI" pitchFamily="34" charset="0"/>
                <a:ea typeface="Meiryo UI" pitchFamily="34" charset="-122"/>
                <a:cs typeface="Meiryo UI" pitchFamily="34" charset="-120"/>
              </a:rPr>
              <a:t>Copilot Studio</a:t>
            </a:r>
            <a:endParaRPr lang="en-US" sz="900" dirty="0"/>
          </a:p>
        </p:txBody>
      </p:sp>
      <p:sp>
        <p:nvSpPr>
          <p:cNvPr id="26" name="Text 19"/>
          <p:cNvSpPr txBox="1"/>
          <p:nvPr/>
        </p:nvSpPr>
        <p:spPr>
          <a:xfrm>
            <a:off x="777240" y="3291840"/>
            <a:ext cx="5029200" cy="1920240"/>
          </a:xfrm>
          <a:prstGeom prst="rect">
            <a:avLst/>
          </a:prstGeom>
          <a:noFill/>
          <a:ln/>
        </p:spPr>
        <p:txBody>
          <a:bodyPr wrap="square" lIns="254" tIns="254" rIns="254" bIns="254" rtlCol="0" anchor="t"/>
          <a:lstStyle/>
          <a:p>
            <a:pPr indent="0" marL="0">
              <a:spcAft>
                <a:spcPts val="200"/>
              </a:spcAft>
              <a:buNone/>
            </a:pPr>
            <a:r>
              <a:rPr lang="en-US" sz="1200" b="1" dirty="0">
                <a:solidFill>
                  <a:srgbClr val="0E9F9A"/>
                </a:solidFill>
                <a:latin typeface="Meiryo UI" pitchFamily="34" charset="0"/>
                <a:ea typeface="Meiryo UI" pitchFamily="34" charset="-122"/>
                <a:cs typeface="Meiryo UI" pitchFamily="34" charset="-120"/>
              </a:rPr>
              <a:t>特徴</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社内資料を社外クラウドに出さずに済む</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既存のCopilot・Power Platform・Teamsをそのまま活用できる</a:t>
            </a:r>
            <a:endParaRPr lang="en-US" sz="1200" dirty="0"/>
          </a:p>
          <a:p>
            <a:pPr indent="0" marL="0">
              <a:spcAft>
                <a:spcPts val="200"/>
              </a:spcAft>
              <a:buNone/>
            </a:pPr>
            <a:r>
              <a:rPr lang="en-US" sz="1200" b="1" dirty="0">
                <a:solidFill>
                  <a:srgbClr val="D64545"/>
                </a:solidFill>
                <a:latin typeface="Meiryo UI" pitchFamily="34" charset="0"/>
                <a:ea typeface="Meiryo UI" pitchFamily="34" charset="-122"/>
                <a:cs typeface="Meiryo UI" pitchFamily="34" charset="-120"/>
              </a:rPr>
              <a:t>留意点</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加工済みの数値データを転送する仕組みが必要</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加工済みデータは検索に任せず、プロンプトに直接渡すのが確実</a:t>
            </a:r>
            <a:endParaRPr lang="en-US" sz="1200" dirty="0"/>
          </a:p>
        </p:txBody>
      </p:sp>
      <p:sp>
        <p:nvSpPr>
          <p:cNvPr id="27" name="Shape 20"/>
          <p:cNvSpPr/>
          <p:nvPr/>
        </p:nvSpPr>
        <p:spPr>
          <a:xfrm>
            <a:off x="6172200" y="1417320"/>
            <a:ext cx="5440680" cy="3840480"/>
          </a:xfrm>
          <a:prstGeom prst="roundRect">
            <a:avLst>
              <a:gd name="adj" fmla="val 1429"/>
            </a:avLst>
          </a:prstGeom>
          <a:solidFill>
            <a:srgbClr val="E8F0FE"/>
          </a:solidFill>
          <a:ln/>
        </p:spPr>
      </p:sp>
      <p:sp>
        <p:nvSpPr>
          <p:cNvPr id="28" name="Shape 21"/>
          <p:cNvSpPr/>
          <p:nvPr/>
        </p:nvSpPr>
        <p:spPr>
          <a:xfrm>
            <a:off x="6355080" y="1527048"/>
            <a:ext cx="457200" cy="457200"/>
          </a:xfrm>
          <a:prstGeom prst="ellipse">
            <a:avLst/>
          </a:prstGeom>
          <a:solidFill>
            <a:srgbClr val="FFFFFF"/>
          </a:solidFill>
          <a:ln/>
        </p:spPr>
      </p:sp>
      <p:pic>
        <p:nvPicPr>
          <p:cNvPr id="29" name="Image 5" descr="preencoded.png">    </p:cNvPr>
          <p:cNvPicPr>
            <a:picLocks noChangeAspect="1"/>
          </p:cNvPicPr>
          <p:nvPr/>
        </p:nvPicPr>
        <p:blipFill>
          <a:blip r:embed="rId6"/>
          <a:stretch>
            <a:fillRect/>
          </a:stretch>
        </p:blipFill>
        <p:spPr>
          <a:xfrm>
            <a:off x="6446520" y="1618488"/>
            <a:ext cx="274320" cy="274320"/>
          </a:xfrm>
          <a:prstGeom prst="rect">
            <a:avLst/>
          </a:prstGeom>
        </p:spPr>
      </p:pic>
      <p:sp>
        <p:nvSpPr>
          <p:cNvPr id="30" name="Text 22"/>
          <p:cNvSpPr txBox="1"/>
          <p:nvPr/>
        </p:nvSpPr>
        <p:spPr>
          <a:xfrm>
            <a:off x="6903720" y="1527048"/>
            <a:ext cx="3657600" cy="457200"/>
          </a:xfrm>
          <a:prstGeom prst="rect">
            <a:avLst/>
          </a:prstGeom>
          <a:noFill/>
          <a:ln/>
        </p:spPr>
        <p:txBody>
          <a:bodyPr wrap="square" lIns="508" tIns="508" rIns="508" bIns="508" rtlCol="0" anchor="ctr"/>
          <a:lstStyle/>
          <a:p>
            <a:pPr indent="0" marL="0">
              <a:buNone/>
            </a:pPr>
            <a:r>
              <a:rPr lang="en-US" sz="1700" b="1" dirty="0">
                <a:solidFill>
                  <a:srgbClr val="4285F4"/>
                </a:solidFill>
                <a:latin typeface="Meiryo UI" pitchFamily="34" charset="0"/>
                <a:ea typeface="Meiryo UI" pitchFamily="34" charset="-122"/>
                <a:cs typeface="Meiryo UI" pitchFamily="34" charset="-120"/>
              </a:rPr>
              <a:t>GCPに寄せる</a:t>
            </a:r>
            <a:endParaRPr lang="en-US" sz="1700" dirty="0"/>
          </a:p>
        </p:txBody>
      </p:sp>
      <p:sp>
        <p:nvSpPr>
          <p:cNvPr id="31" name="Shape 23"/>
          <p:cNvSpPr/>
          <p:nvPr/>
        </p:nvSpPr>
        <p:spPr>
          <a:xfrm>
            <a:off x="649224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32" name="Image 6" descr="preencoded.png">    </p:cNvPr>
          <p:cNvPicPr>
            <a:picLocks noChangeAspect="1"/>
          </p:cNvPicPr>
          <p:nvPr/>
        </p:nvPicPr>
        <p:blipFill>
          <a:blip r:embed="rId7"/>
          <a:stretch>
            <a:fillRect/>
          </a:stretch>
        </p:blipFill>
        <p:spPr>
          <a:xfrm>
            <a:off x="6623914" y="2326234"/>
            <a:ext cx="395021" cy="395021"/>
          </a:xfrm>
          <a:prstGeom prst="rect">
            <a:avLst/>
          </a:prstGeom>
        </p:spPr>
      </p:pic>
      <p:sp>
        <p:nvSpPr>
          <p:cNvPr id="33" name="Text 24"/>
          <p:cNvSpPr txBox="1"/>
          <p:nvPr/>
        </p:nvSpPr>
        <p:spPr>
          <a:xfrm>
            <a:off x="608076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SharePoint</a:t>
            </a:r>
            <a:endParaRPr lang="en-US" sz="900" dirty="0"/>
          </a:p>
        </p:txBody>
      </p:sp>
      <p:sp>
        <p:nvSpPr>
          <p:cNvPr id="34" name="Shape 25"/>
          <p:cNvSpPr/>
          <p:nvPr/>
        </p:nvSpPr>
        <p:spPr>
          <a:xfrm>
            <a:off x="7196328" y="2523744"/>
            <a:ext cx="484632" cy="0"/>
          </a:xfrm>
          <a:prstGeom prst="line">
            <a:avLst/>
          </a:prstGeom>
          <a:noFill/>
          <a:ln w="31750">
            <a:solidFill>
              <a:srgbClr val="4285F4"/>
            </a:solidFill>
            <a:prstDash val="solid"/>
            <a:tailEnd type="triangle"/>
          </a:ln>
        </p:spPr>
      </p:sp>
      <p:sp>
        <p:nvSpPr>
          <p:cNvPr id="35" name="Text 26"/>
          <p:cNvSpPr txBox="1"/>
          <p:nvPr/>
        </p:nvSpPr>
        <p:spPr>
          <a:xfrm>
            <a:off x="6830568" y="2249424"/>
            <a:ext cx="1216152" cy="23774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同期</a:t>
            </a:r>
            <a:endParaRPr lang="en-US" sz="850" dirty="0"/>
          </a:p>
        </p:txBody>
      </p:sp>
      <p:sp>
        <p:nvSpPr>
          <p:cNvPr id="36" name="Shape 27"/>
          <p:cNvSpPr/>
          <p:nvPr/>
        </p:nvSpPr>
        <p:spPr>
          <a:xfrm>
            <a:off x="772668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37" name="Image 7" descr="preencoded.png">    </p:cNvPr>
          <p:cNvPicPr>
            <a:picLocks noChangeAspect="1"/>
          </p:cNvPicPr>
          <p:nvPr/>
        </p:nvPicPr>
        <p:blipFill>
          <a:blip r:embed="rId8"/>
          <a:stretch>
            <a:fillRect/>
          </a:stretch>
        </p:blipFill>
        <p:spPr>
          <a:xfrm>
            <a:off x="7858354" y="2326234"/>
            <a:ext cx="395021" cy="395021"/>
          </a:xfrm>
          <a:prstGeom prst="rect">
            <a:avLst/>
          </a:prstGeom>
        </p:spPr>
      </p:pic>
      <p:sp>
        <p:nvSpPr>
          <p:cNvPr id="38" name="Text 28"/>
          <p:cNvSpPr txBox="1"/>
          <p:nvPr/>
        </p:nvSpPr>
        <p:spPr>
          <a:xfrm>
            <a:off x="731520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Agent Platform</a:t>
            </a:r>
            <a:endParaRPr lang="en-US" sz="900" dirty="0"/>
          </a:p>
          <a:p>
            <a:pPr algn="ctr" indent="0" marL="0">
              <a:buNone/>
            </a:pPr>
            <a:r>
              <a:rPr lang="en-US" sz="900" dirty="0">
                <a:solidFill>
                  <a:srgbClr val="2B2B2B"/>
                </a:solidFill>
                <a:latin typeface="Meiryo UI" pitchFamily="34" charset="0"/>
                <a:ea typeface="Meiryo UI" pitchFamily="34" charset="-122"/>
                <a:cs typeface="Meiryo UI" pitchFamily="34" charset="-120"/>
              </a:rPr>
              <a:t>（検索）</a:t>
            </a:r>
            <a:endParaRPr lang="en-US" sz="900" dirty="0"/>
          </a:p>
        </p:txBody>
      </p:sp>
      <p:sp>
        <p:nvSpPr>
          <p:cNvPr id="39" name="Shape 29"/>
          <p:cNvSpPr/>
          <p:nvPr/>
        </p:nvSpPr>
        <p:spPr>
          <a:xfrm>
            <a:off x="8430768" y="2523744"/>
            <a:ext cx="347472" cy="0"/>
          </a:xfrm>
          <a:prstGeom prst="line">
            <a:avLst/>
          </a:prstGeom>
          <a:noFill/>
          <a:ln w="22225">
            <a:solidFill>
              <a:srgbClr val="9AA5B4"/>
            </a:solidFill>
            <a:prstDash val="solid"/>
            <a:tailEnd type="triangle"/>
          </a:ln>
        </p:spPr>
      </p:sp>
      <p:sp>
        <p:nvSpPr>
          <p:cNvPr id="40" name="Shape 30"/>
          <p:cNvSpPr/>
          <p:nvPr/>
        </p:nvSpPr>
        <p:spPr>
          <a:xfrm>
            <a:off x="882396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41" name="Image 8" descr="preencoded.png">    </p:cNvPr>
          <p:cNvPicPr>
            <a:picLocks noChangeAspect="1"/>
          </p:cNvPicPr>
          <p:nvPr/>
        </p:nvPicPr>
        <p:blipFill>
          <a:blip r:embed="rId9"/>
          <a:stretch>
            <a:fillRect/>
          </a:stretch>
        </p:blipFill>
        <p:spPr>
          <a:xfrm>
            <a:off x="8955634" y="2326234"/>
            <a:ext cx="395021" cy="395021"/>
          </a:xfrm>
          <a:prstGeom prst="rect">
            <a:avLst/>
          </a:prstGeom>
        </p:spPr>
      </p:pic>
      <p:sp>
        <p:nvSpPr>
          <p:cNvPr id="42" name="Text 31"/>
          <p:cNvSpPr txBox="1"/>
          <p:nvPr/>
        </p:nvSpPr>
        <p:spPr>
          <a:xfrm>
            <a:off x="841248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Gemini</a:t>
            </a:r>
            <a:endParaRPr lang="en-US" sz="900" dirty="0"/>
          </a:p>
        </p:txBody>
      </p:sp>
      <p:sp>
        <p:nvSpPr>
          <p:cNvPr id="43" name="Shape 32"/>
          <p:cNvSpPr/>
          <p:nvPr/>
        </p:nvSpPr>
        <p:spPr>
          <a:xfrm flipH="1">
            <a:off x="9528048" y="2523744"/>
            <a:ext cx="502920" cy="0"/>
          </a:xfrm>
          <a:prstGeom prst="line">
            <a:avLst/>
          </a:prstGeom>
          <a:noFill/>
          <a:ln w="22225">
            <a:solidFill>
              <a:srgbClr val="9AA5B4"/>
            </a:solidFill>
            <a:prstDash val="solid"/>
            <a:tailEnd type="triangle"/>
          </a:ln>
        </p:spPr>
      </p:sp>
      <p:sp>
        <p:nvSpPr>
          <p:cNvPr id="44" name="Shape 33"/>
          <p:cNvSpPr/>
          <p:nvPr/>
        </p:nvSpPr>
        <p:spPr>
          <a:xfrm>
            <a:off x="10076688"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45" name="Image 9" descr="preencoded.png">    </p:cNvPr>
          <p:cNvPicPr>
            <a:picLocks noChangeAspect="1"/>
          </p:cNvPicPr>
          <p:nvPr/>
        </p:nvPicPr>
        <p:blipFill>
          <a:blip r:embed="rId10"/>
          <a:stretch>
            <a:fillRect/>
          </a:stretch>
        </p:blipFill>
        <p:spPr>
          <a:xfrm>
            <a:off x="10208362" y="2326234"/>
            <a:ext cx="395021" cy="395021"/>
          </a:xfrm>
          <a:prstGeom prst="rect">
            <a:avLst/>
          </a:prstGeom>
        </p:spPr>
      </p:pic>
      <p:sp>
        <p:nvSpPr>
          <p:cNvPr id="46" name="Text 34"/>
          <p:cNvSpPr txBox="1"/>
          <p:nvPr/>
        </p:nvSpPr>
        <p:spPr>
          <a:xfrm>
            <a:off x="9665208"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BigQuery</a:t>
            </a:r>
            <a:endParaRPr lang="en-US" sz="900" dirty="0"/>
          </a:p>
          <a:p>
            <a:pPr algn="ctr" indent="0" marL="0">
              <a:buNone/>
            </a:pPr>
            <a:r>
              <a:rPr lang="en-US" sz="900" dirty="0">
                <a:solidFill>
                  <a:srgbClr val="2B2B2B"/>
                </a:solidFill>
                <a:latin typeface="Meiryo UI" pitchFamily="34" charset="0"/>
                <a:ea typeface="Meiryo UI" pitchFamily="34" charset="-122"/>
                <a:cs typeface="Meiryo UI" pitchFamily="34" charset="-120"/>
              </a:rPr>
              <a:t>（直接参照）</a:t>
            </a:r>
            <a:endParaRPr lang="en-US" sz="900" dirty="0"/>
          </a:p>
        </p:txBody>
      </p:sp>
      <p:sp>
        <p:nvSpPr>
          <p:cNvPr id="47" name="Text 35"/>
          <p:cNvSpPr txBox="1"/>
          <p:nvPr/>
        </p:nvSpPr>
        <p:spPr>
          <a:xfrm>
            <a:off x="6400800" y="3291840"/>
            <a:ext cx="5029200" cy="1920240"/>
          </a:xfrm>
          <a:prstGeom prst="rect">
            <a:avLst/>
          </a:prstGeom>
          <a:noFill/>
          <a:ln/>
        </p:spPr>
        <p:txBody>
          <a:bodyPr wrap="square" lIns="254" tIns="254" rIns="254" bIns="254" rtlCol="0" anchor="t"/>
          <a:lstStyle/>
          <a:p>
            <a:pPr indent="0" marL="0">
              <a:spcAft>
                <a:spcPts val="200"/>
              </a:spcAft>
              <a:buNone/>
            </a:pPr>
            <a:r>
              <a:rPr lang="en-US" sz="1200" b="1" dirty="0">
                <a:solidFill>
                  <a:srgbClr val="0E9F9A"/>
                </a:solidFill>
                <a:latin typeface="Meiryo UI" pitchFamily="34" charset="0"/>
                <a:ea typeface="Meiryo UI" pitchFamily="34" charset="-122"/>
                <a:cs typeface="Meiryo UI" pitchFamily="34" charset="-120"/>
              </a:rPr>
              <a:t>特徴</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BigQueryと同じ環境で前処理と推論を完結できる</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IT部門が運用するGCP基盤と技術を活用できる</a:t>
            </a:r>
            <a:endParaRPr lang="en-US" sz="1200" dirty="0"/>
          </a:p>
          <a:p>
            <a:pPr indent="0" marL="0">
              <a:spcAft>
                <a:spcPts val="200"/>
              </a:spcAft>
              <a:buNone/>
            </a:pPr>
            <a:r>
              <a:rPr lang="en-US" sz="1200" b="1" dirty="0">
                <a:solidFill>
                  <a:srgbClr val="D64545"/>
                </a:solidFill>
                <a:latin typeface="Meiryo UI" pitchFamily="34" charset="0"/>
                <a:ea typeface="Meiryo UI" pitchFamily="34" charset="-122"/>
                <a:cs typeface="Meiryo UI" pitchFamily="34" charset="-120"/>
              </a:rPr>
              <a:t>留意点</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社内資料のGCP取り込みは可（確認済み）。同期・権限の設計は必要</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利用画面がM365の外になり、Copilotと役割が重複する</a:t>
            </a:r>
            <a:endParaRPr lang="en-US" sz="1200" dirty="0"/>
          </a:p>
        </p:txBody>
      </p:sp>
      <p:sp>
        <p:nvSpPr>
          <p:cNvPr id="48" name="Shape 36"/>
          <p:cNvSpPr/>
          <p:nvPr/>
        </p:nvSpPr>
        <p:spPr>
          <a:xfrm>
            <a:off x="548640" y="5394960"/>
            <a:ext cx="11064240" cy="914400"/>
          </a:xfrm>
          <a:prstGeom prst="roundRect">
            <a:avLst>
              <a:gd name="adj" fmla="val 6000"/>
            </a:avLst>
          </a:prstGeom>
          <a:solidFill>
            <a:srgbClr val="EEEAF8"/>
          </a:solidFill>
          <a:ln/>
        </p:spPr>
      </p:sp>
      <p:sp>
        <p:nvSpPr>
          <p:cNvPr id="49" name="Shape 37"/>
          <p:cNvSpPr/>
          <p:nvPr/>
        </p:nvSpPr>
        <p:spPr>
          <a:xfrm>
            <a:off x="731520" y="5605272"/>
            <a:ext cx="502920" cy="502920"/>
          </a:xfrm>
          <a:prstGeom prst="ellipse">
            <a:avLst/>
          </a:prstGeom>
          <a:solidFill>
            <a:srgbClr val="FFFFFF"/>
          </a:solidFill>
          <a:ln/>
        </p:spPr>
      </p:sp>
      <p:pic>
        <p:nvPicPr>
          <p:cNvPr id="50" name="Image 10" descr="preencoded.png">    </p:cNvPr>
          <p:cNvPicPr>
            <a:picLocks noChangeAspect="1"/>
          </p:cNvPicPr>
          <p:nvPr/>
        </p:nvPicPr>
        <p:blipFill>
          <a:blip r:embed="rId11"/>
          <a:stretch>
            <a:fillRect/>
          </a:stretch>
        </p:blipFill>
        <p:spPr>
          <a:xfrm>
            <a:off x="832104" y="5705856"/>
            <a:ext cx="301752" cy="301752"/>
          </a:xfrm>
          <a:prstGeom prst="rect">
            <a:avLst/>
          </a:prstGeom>
        </p:spPr>
      </p:pic>
      <p:sp>
        <p:nvSpPr>
          <p:cNvPr id="51" name="Text 38"/>
          <p:cNvSpPr txBox="1"/>
          <p:nvPr/>
        </p:nvSpPr>
        <p:spPr>
          <a:xfrm>
            <a:off x="1371600" y="5394960"/>
            <a:ext cx="10058400" cy="914400"/>
          </a:xfrm>
          <a:prstGeom prst="rect">
            <a:avLst/>
          </a:prstGeom>
          <a:noFill/>
          <a:ln/>
        </p:spPr>
        <p:txBody>
          <a:bodyPr wrap="square" lIns="0" tIns="0" rIns="0" bIns="0" rtlCol="0" anchor="ctr"/>
          <a:lstStyle/>
          <a:p>
            <a:pPr indent="0" marL="0">
              <a:buNone/>
            </a:pPr>
            <a:r>
              <a:rPr lang="en-US" sz="1200" b="1" dirty="0">
                <a:solidFill>
                  <a:srgbClr val="6B4FBB"/>
                </a:solidFill>
                <a:latin typeface="Meiryo UI" pitchFamily="34" charset="0"/>
                <a:ea typeface="Meiryo UI" pitchFamily="34" charset="-122"/>
                <a:cs typeface="Meiryo UI" pitchFamily="34" charset="-120"/>
              </a:rPr>
              <a:t>ハイブリッド：</a:t>
            </a:r>
            <a:pPr indent="0" marL="0">
              <a:buNone/>
            </a:pPr>
            <a:r>
              <a:rPr lang="en-US" sz="1200" dirty="0">
                <a:solidFill>
                  <a:srgbClr val="000000"/>
                </a:solidFill>
                <a:latin typeface="Meiryo UI" pitchFamily="34" charset="0"/>
                <a:ea typeface="Meiryo UI" pitchFamily="34" charset="-122"/>
                <a:cs typeface="Meiryo UI" pitchFamily="34" charset="-120"/>
              </a:rPr>
              <a:t>資料はM365、数値はGCPに置いたまま、Copilot StudioなどからAPI（Cloud Run）を呼び、必要な結果だけを受け渡す。両方の特徴を活かせる一方、2つの環境にまたがる設計・運用と役割分担が必要。</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軸2：配信管理の基盤</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現行のAirtableを使い続けるか、M365またはGCP上に移すか。カレンダー表示の作りやすさも論点になる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7</a:t>
            </a:r>
            <a:endParaRPr lang="en-US" sz="900" dirty="0"/>
          </a:p>
        </p:txBody>
      </p:sp>
      <p:sp>
        <p:nvSpPr>
          <p:cNvPr id="6" name="Shape 4"/>
          <p:cNvSpPr/>
          <p:nvPr/>
        </p:nvSpPr>
        <p:spPr>
          <a:xfrm>
            <a:off x="548640" y="1417320"/>
            <a:ext cx="2103120" cy="4937760"/>
          </a:xfrm>
          <a:prstGeom prst="roundRect">
            <a:avLst>
              <a:gd name="adj" fmla="val 2174"/>
            </a:avLst>
          </a:prstGeom>
          <a:solidFill>
            <a:srgbClr val="F3F5F8"/>
          </a:solidFill>
          <a:ln/>
        </p:spPr>
      </p:sp>
      <p:sp>
        <p:nvSpPr>
          <p:cNvPr id="7" name="Shape 5"/>
          <p:cNvSpPr/>
          <p:nvPr/>
        </p:nvSpPr>
        <p:spPr>
          <a:xfrm>
            <a:off x="71323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8" name="Image 0" descr="preencoded.png">    </p:cNvPr>
          <p:cNvPicPr>
            <a:picLocks noChangeAspect="1"/>
          </p:cNvPicPr>
          <p:nvPr/>
        </p:nvPicPr>
        <p:blipFill>
          <a:blip r:embed="rId1"/>
          <a:stretch>
            <a:fillRect/>
          </a:stretch>
        </p:blipFill>
        <p:spPr>
          <a:xfrm>
            <a:off x="822960" y="1682496"/>
            <a:ext cx="347472" cy="347472"/>
          </a:xfrm>
          <a:prstGeom prst="rect">
            <a:avLst/>
          </a:prstGeom>
        </p:spPr>
      </p:pic>
      <p:sp>
        <p:nvSpPr>
          <p:cNvPr id="9" name="Text 6"/>
          <p:cNvSpPr txBox="1"/>
          <p:nvPr/>
        </p:nvSpPr>
        <p:spPr>
          <a:xfrm>
            <a:off x="685800" y="2240280"/>
            <a:ext cx="1874520" cy="566928"/>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Airtableを継続</a:t>
            </a:r>
            <a:endParaRPr lang="en-US" sz="1300" dirty="0"/>
          </a:p>
        </p:txBody>
      </p:sp>
      <p:sp>
        <p:nvSpPr>
          <p:cNvPr id="10" name="Text 7"/>
          <p:cNvSpPr txBox="1"/>
          <p:nvPr/>
        </p:nvSpPr>
        <p:spPr>
          <a:xfrm>
            <a:off x="65836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現行の業務・操作感を維持できる</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APIとWebhookで外部と連携しやすい</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M365・GCPのどちらから見ても外部サービス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連携の保守と権限管理が別になる</a:t>
            </a:r>
            <a:endParaRPr lang="en-US" sz="1050" dirty="0"/>
          </a:p>
        </p:txBody>
      </p:sp>
      <p:sp>
        <p:nvSpPr>
          <p:cNvPr id="11" name="Shape 8"/>
          <p:cNvSpPr/>
          <p:nvPr/>
        </p:nvSpPr>
        <p:spPr>
          <a:xfrm>
            <a:off x="658368" y="5138928"/>
            <a:ext cx="1883664" cy="1097280"/>
          </a:xfrm>
          <a:prstGeom prst="roundRect">
            <a:avLst>
              <a:gd name="adj" fmla="val 5000"/>
            </a:avLst>
          </a:prstGeom>
          <a:solidFill>
            <a:srgbClr val="FFFFFF"/>
          </a:solidFill>
          <a:ln/>
        </p:spPr>
      </p:sp>
      <p:sp>
        <p:nvSpPr>
          <p:cNvPr id="12" name="Text 9"/>
          <p:cNvSpPr txBox="1"/>
          <p:nvPr/>
        </p:nvSpPr>
        <p:spPr>
          <a:xfrm>
            <a:off x="71323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標準で可（現行）</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不要（現行契約）</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M365／ハイブリッド／GCP</a:t>
            </a:r>
            <a:endParaRPr lang="en-US" sz="850" dirty="0"/>
          </a:p>
        </p:txBody>
      </p:sp>
      <p:sp>
        <p:nvSpPr>
          <p:cNvPr id="13" name="Shape 10"/>
          <p:cNvSpPr/>
          <p:nvPr/>
        </p:nvSpPr>
        <p:spPr>
          <a:xfrm>
            <a:off x="2788920" y="1417320"/>
            <a:ext cx="2103120" cy="4937760"/>
          </a:xfrm>
          <a:prstGeom prst="roundRect">
            <a:avLst>
              <a:gd name="adj" fmla="val 2174"/>
            </a:avLst>
          </a:prstGeom>
          <a:solidFill>
            <a:srgbClr val="D9F2F1"/>
          </a:solidFill>
          <a:ln/>
        </p:spPr>
      </p:sp>
      <p:sp>
        <p:nvSpPr>
          <p:cNvPr id="14" name="Shape 11"/>
          <p:cNvSpPr/>
          <p:nvPr/>
        </p:nvSpPr>
        <p:spPr>
          <a:xfrm>
            <a:off x="295351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15" name="Image 1" descr="preencoded.png">    </p:cNvPr>
          <p:cNvPicPr>
            <a:picLocks noChangeAspect="1"/>
          </p:cNvPicPr>
          <p:nvPr/>
        </p:nvPicPr>
        <p:blipFill>
          <a:blip r:embed="rId2"/>
          <a:stretch>
            <a:fillRect/>
          </a:stretch>
        </p:blipFill>
        <p:spPr>
          <a:xfrm>
            <a:off x="3063240" y="1682496"/>
            <a:ext cx="347472" cy="347472"/>
          </a:xfrm>
          <a:prstGeom prst="rect">
            <a:avLst/>
          </a:prstGeom>
        </p:spPr>
      </p:pic>
      <p:sp>
        <p:nvSpPr>
          <p:cNvPr id="16" name="Text 12"/>
          <p:cNvSpPr txBox="1"/>
          <p:nvPr/>
        </p:nvSpPr>
        <p:spPr>
          <a:xfrm>
            <a:off x="2926080" y="2240280"/>
            <a:ext cx="1874520" cy="566928"/>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Microsoft Lists</a:t>
            </a:r>
            <a:endParaRPr lang="en-US" sz="1300" dirty="0"/>
          </a:p>
        </p:txBody>
      </p:sp>
      <p:sp>
        <p:nvSpPr>
          <p:cNvPr id="17" name="Text 13"/>
          <p:cNvSpPr txBox="1"/>
          <p:nvPr/>
        </p:nvSpPr>
        <p:spPr>
          <a:xfrm>
            <a:off x="289864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カレンダー・ボード・グリッド表示が標準で使える（ドラッグで日付変更も可）</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Teamsのタブ、Power Automate標準コネクタと連携</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ビューのしきい値5,000件（インデックス設計が必要）</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リレーション・集計はAirtableより弱い</a:t>
            </a:r>
            <a:endParaRPr lang="en-US" sz="1050" dirty="0"/>
          </a:p>
        </p:txBody>
      </p:sp>
      <p:sp>
        <p:nvSpPr>
          <p:cNvPr id="18" name="Shape 14"/>
          <p:cNvSpPr/>
          <p:nvPr/>
        </p:nvSpPr>
        <p:spPr>
          <a:xfrm>
            <a:off x="2898648" y="5138928"/>
            <a:ext cx="1883664" cy="1097280"/>
          </a:xfrm>
          <a:prstGeom prst="roundRect">
            <a:avLst>
              <a:gd name="adj" fmla="val 5000"/>
            </a:avLst>
          </a:prstGeom>
          <a:solidFill>
            <a:srgbClr val="FFFFFF"/>
          </a:solidFill>
          <a:ln/>
        </p:spPr>
      </p:sp>
      <p:sp>
        <p:nvSpPr>
          <p:cNvPr id="19" name="Text 15"/>
          <p:cNvSpPr txBox="1"/>
          <p:nvPr/>
        </p:nvSpPr>
        <p:spPr>
          <a:xfrm>
            <a:off x="295351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標準で可</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不要（M365標準）</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M365／ハイブリッド（Gemini Ent.からも操作可）</a:t>
            </a:r>
            <a:endParaRPr lang="en-US" sz="850" dirty="0"/>
          </a:p>
        </p:txBody>
      </p:sp>
      <p:sp>
        <p:nvSpPr>
          <p:cNvPr id="20" name="Shape 16"/>
          <p:cNvSpPr/>
          <p:nvPr/>
        </p:nvSpPr>
        <p:spPr>
          <a:xfrm>
            <a:off x="5029200" y="1417320"/>
            <a:ext cx="2103120" cy="4937760"/>
          </a:xfrm>
          <a:prstGeom prst="roundRect">
            <a:avLst>
              <a:gd name="adj" fmla="val 2174"/>
            </a:avLst>
          </a:prstGeom>
          <a:solidFill>
            <a:srgbClr val="F3F5F8"/>
          </a:solidFill>
          <a:ln/>
        </p:spPr>
      </p:sp>
      <p:sp>
        <p:nvSpPr>
          <p:cNvPr id="21" name="Shape 17"/>
          <p:cNvSpPr/>
          <p:nvPr/>
        </p:nvSpPr>
        <p:spPr>
          <a:xfrm>
            <a:off x="519379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22" name="Image 2" descr="preencoded.png">    </p:cNvPr>
          <p:cNvPicPr>
            <a:picLocks noChangeAspect="1"/>
          </p:cNvPicPr>
          <p:nvPr/>
        </p:nvPicPr>
        <p:blipFill>
          <a:blip r:embed="rId3"/>
          <a:stretch>
            <a:fillRect/>
          </a:stretch>
        </p:blipFill>
        <p:spPr>
          <a:xfrm>
            <a:off x="5303520" y="1682496"/>
            <a:ext cx="347472" cy="347472"/>
          </a:xfrm>
          <a:prstGeom prst="rect">
            <a:avLst/>
          </a:prstGeom>
        </p:spPr>
      </p:pic>
      <p:sp>
        <p:nvSpPr>
          <p:cNvPr id="23" name="Text 18"/>
          <p:cNvSpPr txBox="1"/>
          <p:nvPr/>
        </p:nvSpPr>
        <p:spPr>
          <a:xfrm>
            <a:off x="5166360" y="2240280"/>
            <a:ext cx="1874520" cy="566928"/>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Power Apps（キャンバス／モデル駆動）</a:t>
            </a:r>
            <a:endParaRPr lang="en-US" sz="1300" dirty="0"/>
          </a:p>
        </p:txBody>
      </p:sp>
      <p:sp>
        <p:nvSpPr>
          <p:cNvPr id="24" name="Text 19"/>
          <p:cNvSpPr txBox="1"/>
          <p:nvPr/>
        </p:nvSpPr>
        <p:spPr>
          <a:xfrm>
            <a:off x="513892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Dataverse・Copilot Studioと一体で運用</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ローコードで入力画面・承認を作れる</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カレンダー画面の作り込みに手間がかかる</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表現力に限界がある</a:t>
            </a:r>
            <a:endParaRPr lang="en-US" sz="1050" dirty="0"/>
          </a:p>
        </p:txBody>
      </p:sp>
      <p:sp>
        <p:nvSpPr>
          <p:cNvPr id="25" name="Shape 20"/>
          <p:cNvSpPr/>
          <p:nvPr/>
        </p:nvSpPr>
        <p:spPr>
          <a:xfrm>
            <a:off x="5138928" y="5138928"/>
            <a:ext cx="1883664" cy="1097280"/>
          </a:xfrm>
          <a:prstGeom prst="roundRect">
            <a:avLst>
              <a:gd name="adj" fmla="val 5000"/>
            </a:avLst>
          </a:prstGeom>
          <a:solidFill>
            <a:srgbClr val="FFFFFF"/>
          </a:solidFill>
          <a:ln/>
        </p:spPr>
      </p:sp>
      <p:sp>
        <p:nvSpPr>
          <p:cNvPr id="26" name="Text 21"/>
          <p:cNvSpPr txBox="1"/>
          <p:nvPr/>
        </p:nvSpPr>
        <p:spPr>
          <a:xfrm>
            <a:off x="519379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作り込みが必要</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Premium（Dataverse利用時）</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M365</a:t>
            </a:r>
            <a:endParaRPr lang="en-US" sz="850" dirty="0"/>
          </a:p>
        </p:txBody>
      </p:sp>
      <p:sp>
        <p:nvSpPr>
          <p:cNvPr id="27" name="Shape 22"/>
          <p:cNvSpPr/>
          <p:nvPr/>
        </p:nvSpPr>
        <p:spPr>
          <a:xfrm>
            <a:off x="7269480" y="1417320"/>
            <a:ext cx="2103120" cy="4937760"/>
          </a:xfrm>
          <a:prstGeom prst="roundRect">
            <a:avLst>
              <a:gd name="adj" fmla="val 2174"/>
            </a:avLst>
          </a:prstGeom>
          <a:solidFill>
            <a:srgbClr val="D9F2F1"/>
          </a:solidFill>
          <a:ln/>
        </p:spPr>
      </p:sp>
      <p:sp>
        <p:nvSpPr>
          <p:cNvPr id="28" name="Shape 23"/>
          <p:cNvSpPr/>
          <p:nvPr/>
        </p:nvSpPr>
        <p:spPr>
          <a:xfrm>
            <a:off x="743407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29" name="Image 3" descr="preencoded.png">    </p:cNvPr>
          <p:cNvPicPr>
            <a:picLocks noChangeAspect="1"/>
          </p:cNvPicPr>
          <p:nvPr/>
        </p:nvPicPr>
        <p:blipFill>
          <a:blip r:embed="rId4"/>
          <a:stretch>
            <a:fillRect/>
          </a:stretch>
        </p:blipFill>
        <p:spPr>
          <a:xfrm>
            <a:off x="7543800" y="1682496"/>
            <a:ext cx="347472" cy="347472"/>
          </a:xfrm>
          <a:prstGeom prst="rect">
            <a:avLst/>
          </a:prstGeom>
        </p:spPr>
      </p:pic>
      <p:sp>
        <p:nvSpPr>
          <p:cNvPr id="30" name="Shape 24"/>
          <p:cNvSpPr/>
          <p:nvPr/>
        </p:nvSpPr>
        <p:spPr>
          <a:xfrm>
            <a:off x="8092440"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31" name="Image 4" descr="preencoded.png">    </p:cNvPr>
          <p:cNvPicPr>
            <a:picLocks noChangeAspect="1"/>
          </p:cNvPicPr>
          <p:nvPr/>
        </p:nvPicPr>
        <p:blipFill>
          <a:blip r:embed="rId5"/>
          <a:stretch>
            <a:fillRect/>
          </a:stretch>
        </p:blipFill>
        <p:spPr>
          <a:xfrm>
            <a:off x="8202168" y="1682496"/>
            <a:ext cx="347472" cy="347472"/>
          </a:xfrm>
          <a:prstGeom prst="rect">
            <a:avLst/>
          </a:prstGeom>
        </p:spPr>
      </p:pic>
      <p:sp>
        <p:nvSpPr>
          <p:cNvPr id="32" name="Text 25"/>
          <p:cNvSpPr txBox="1"/>
          <p:nvPr/>
        </p:nvSpPr>
        <p:spPr>
          <a:xfrm>
            <a:off x="7406640" y="2240280"/>
            <a:ext cx="1874520" cy="566928"/>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Power Apps code apps（TypeScript）</a:t>
            </a:r>
            <a:endParaRPr lang="en-US" sz="1300" dirty="0"/>
          </a:p>
        </p:txBody>
      </p:sp>
      <p:sp>
        <p:nvSpPr>
          <p:cNvPr id="33" name="Text 26"/>
          <p:cNvSpPr txBox="1"/>
          <p:nvPr/>
        </p:nvSpPr>
        <p:spPr>
          <a:xfrm>
            <a:off x="737920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React・TypeScriptで画面を自由に作れる（2026年2月GA）</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認証・ホスティング・DLPはPower Platformが担う</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利用者全員にPower Apps Premiumが必要</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コードの開発・保守が必要</a:t>
            </a:r>
            <a:endParaRPr lang="en-US" sz="1050" dirty="0"/>
          </a:p>
        </p:txBody>
      </p:sp>
      <p:sp>
        <p:nvSpPr>
          <p:cNvPr id="34" name="Shape 27"/>
          <p:cNvSpPr/>
          <p:nvPr/>
        </p:nvSpPr>
        <p:spPr>
          <a:xfrm>
            <a:off x="7379208" y="5138928"/>
            <a:ext cx="1883664" cy="1097280"/>
          </a:xfrm>
          <a:prstGeom prst="roundRect">
            <a:avLst>
              <a:gd name="adj" fmla="val 5000"/>
            </a:avLst>
          </a:prstGeom>
          <a:solidFill>
            <a:srgbClr val="FFFFFF"/>
          </a:solidFill>
          <a:ln/>
        </p:spPr>
      </p:sp>
      <p:sp>
        <p:nvSpPr>
          <p:cNvPr id="35" name="Text 28"/>
          <p:cNvSpPr txBox="1"/>
          <p:nvPr/>
        </p:nvSpPr>
        <p:spPr>
          <a:xfrm>
            <a:off x="743407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TSで自由に作れる</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Premium（全利用者）</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M365／ハイブリッド</a:t>
            </a:r>
            <a:endParaRPr lang="en-US" sz="850" dirty="0"/>
          </a:p>
        </p:txBody>
      </p:sp>
      <p:sp>
        <p:nvSpPr>
          <p:cNvPr id="36" name="Shape 29"/>
          <p:cNvSpPr/>
          <p:nvPr/>
        </p:nvSpPr>
        <p:spPr>
          <a:xfrm>
            <a:off x="9509760" y="1417320"/>
            <a:ext cx="2103120" cy="4937760"/>
          </a:xfrm>
          <a:prstGeom prst="roundRect">
            <a:avLst>
              <a:gd name="adj" fmla="val 2174"/>
            </a:avLst>
          </a:prstGeom>
          <a:solidFill>
            <a:srgbClr val="F3F5F8"/>
          </a:solidFill>
          <a:ln/>
        </p:spPr>
      </p:sp>
      <p:sp>
        <p:nvSpPr>
          <p:cNvPr id="37" name="Shape 30"/>
          <p:cNvSpPr/>
          <p:nvPr/>
        </p:nvSpPr>
        <p:spPr>
          <a:xfrm>
            <a:off x="967435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38" name="Image 5" descr="preencoded.png">    </p:cNvPr>
          <p:cNvPicPr>
            <a:picLocks noChangeAspect="1"/>
          </p:cNvPicPr>
          <p:nvPr/>
        </p:nvPicPr>
        <p:blipFill>
          <a:blip r:embed="rId6"/>
          <a:stretch>
            <a:fillRect/>
          </a:stretch>
        </p:blipFill>
        <p:spPr>
          <a:xfrm>
            <a:off x="9784080" y="1682496"/>
            <a:ext cx="347472" cy="347472"/>
          </a:xfrm>
          <a:prstGeom prst="rect">
            <a:avLst/>
          </a:prstGeom>
        </p:spPr>
      </p:pic>
      <p:sp>
        <p:nvSpPr>
          <p:cNvPr id="39" name="Shape 31"/>
          <p:cNvSpPr/>
          <p:nvPr/>
        </p:nvSpPr>
        <p:spPr>
          <a:xfrm>
            <a:off x="10332720"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40" name="Image 6" descr="preencoded.png">    </p:cNvPr>
          <p:cNvPicPr>
            <a:picLocks noChangeAspect="1"/>
          </p:cNvPicPr>
          <p:nvPr/>
        </p:nvPicPr>
        <p:blipFill>
          <a:blip r:embed="rId7"/>
          <a:stretch>
            <a:fillRect/>
          </a:stretch>
        </p:blipFill>
        <p:spPr>
          <a:xfrm>
            <a:off x="10442448" y="1682496"/>
            <a:ext cx="347472" cy="347472"/>
          </a:xfrm>
          <a:prstGeom prst="rect">
            <a:avLst/>
          </a:prstGeom>
        </p:spPr>
      </p:pic>
      <p:sp>
        <p:nvSpPr>
          <p:cNvPr id="41" name="Text 32"/>
          <p:cNvSpPr txBox="1"/>
          <p:nvPr/>
        </p:nvSpPr>
        <p:spPr>
          <a:xfrm>
            <a:off x="9646920" y="2240280"/>
            <a:ext cx="1874520" cy="566928"/>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スクラッチ開発（Cloud Run）</a:t>
            </a:r>
            <a:endParaRPr lang="en-US" sz="1300" dirty="0"/>
          </a:p>
        </p:txBody>
      </p:sp>
      <p:sp>
        <p:nvSpPr>
          <p:cNvPr id="42" name="Text 33"/>
          <p:cNvSpPr txBox="1"/>
          <p:nvPr/>
        </p:nvSpPr>
        <p:spPr>
          <a:xfrm>
            <a:off x="961948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画面・機能を自由に設計できる</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BigQuery・Geminiと直接統合できる</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認証（SSO）・運用基盤を自前で用意</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期間・コストが大きい</a:t>
            </a:r>
            <a:endParaRPr lang="en-US" sz="1050" dirty="0"/>
          </a:p>
        </p:txBody>
      </p:sp>
      <p:sp>
        <p:nvSpPr>
          <p:cNvPr id="43" name="Shape 34"/>
          <p:cNvSpPr/>
          <p:nvPr/>
        </p:nvSpPr>
        <p:spPr>
          <a:xfrm>
            <a:off x="9619488" y="5138928"/>
            <a:ext cx="1883664" cy="1097280"/>
          </a:xfrm>
          <a:prstGeom prst="roundRect">
            <a:avLst>
              <a:gd name="adj" fmla="val 5000"/>
            </a:avLst>
          </a:prstGeom>
          <a:solidFill>
            <a:srgbClr val="FFFFFF"/>
          </a:solidFill>
          <a:ln/>
        </p:spPr>
      </p:sp>
      <p:sp>
        <p:nvSpPr>
          <p:cNvPr id="44" name="Text 35"/>
          <p:cNvSpPr txBox="1"/>
          <p:nvPr/>
        </p:nvSpPr>
        <p:spPr>
          <a:xfrm>
            <a:off x="967435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TSで自由に作れる</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不要（GCP利用料）</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GCP／ハイブリッド</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軸3：自動化の範囲（段階）</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段階的に広げることも、途中の段階から始めることもできる。各段階で作る部品は次の段階でも使える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8</a:t>
            </a:r>
            <a:endParaRPr lang="en-US" sz="900" dirty="0"/>
          </a:p>
        </p:txBody>
      </p:sp>
      <p:sp>
        <p:nvSpPr>
          <p:cNvPr id="6" name="Shape 4"/>
          <p:cNvSpPr/>
          <p:nvPr/>
        </p:nvSpPr>
        <p:spPr>
          <a:xfrm>
            <a:off x="548640" y="3657600"/>
            <a:ext cx="2157984" cy="2331720"/>
          </a:xfrm>
          <a:prstGeom prst="rect">
            <a:avLst/>
          </a:prstGeom>
          <a:solidFill>
            <a:srgbClr val="D9F2F1"/>
          </a:solidFill>
          <a:ln/>
        </p:spPr>
      </p:sp>
      <p:sp>
        <p:nvSpPr>
          <p:cNvPr id="7" name="Shape 5"/>
          <p:cNvSpPr/>
          <p:nvPr/>
        </p:nvSpPr>
        <p:spPr>
          <a:xfrm>
            <a:off x="685800" y="3794760"/>
            <a:ext cx="457200" cy="4572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77240" y="3886200"/>
            <a:ext cx="274320" cy="274320"/>
          </a:xfrm>
          <a:prstGeom prst="rect">
            <a:avLst/>
          </a:prstGeom>
        </p:spPr>
      </p:pic>
      <p:sp>
        <p:nvSpPr>
          <p:cNvPr id="9" name="Text 6"/>
          <p:cNvSpPr txBox="1"/>
          <p:nvPr/>
        </p:nvSpPr>
        <p:spPr>
          <a:xfrm>
            <a:off x="658368" y="4343400"/>
            <a:ext cx="1956816" cy="1554480"/>
          </a:xfrm>
          <a:prstGeom prst="rect">
            <a:avLst/>
          </a:prstGeom>
          <a:noFill/>
          <a:ln/>
        </p:spPr>
        <p:txBody>
          <a:bodyPr wrap="square" lIns="254" tIns="254" rIns="254" bIns="254" rtlCol="0" anchor="t"/>
          <a:lstStyle/>
          <a:p>
            <a:pPr indent="0" marL="0">
              <a:buNone/>
            </a:pPr>
            <a:r>
              <a:rPr lang="en-US" sz="1000" b="1" dirty="0">
                <a:solidFill>
                  <a:srgbClr val="6B7280"/>
                </a:solidFill>
                <a:latin typeface="Meiryo UI" pitchFamily="34" charset="0"/>
                <a:ea typeface="Meiryo UI" pitchFamily="34" charset="-122"/>
                <a:cs typeface="Meiryo UI" pitchFamily="34" charset="-120"/>
              </a:rPr>
              <a:t>STEP 0</a:t>
            </a:r>
            <a:endParaRPr lang="en-US" sz="1000" dirty="0"/>
          </a:p>
          <a:p>
            <a:pPr indent="0" marL="0">
              <a:buNone/>
            </a:pPr>
            <a:r>
              <a:rPr lang="en-US" sz="1500" b="1" dirty="0">
                <a:solidFill>
                  <a:srgbClr val="1B2A49"/>
                </a:solidFill>
                <a:latin typeface="Meiryo UI" pitchFamily="34" charset="0"/>
                <a:ea typeface="Meiryo UI" pitchFamily="34" charset="-122"/>
                <a:cs typeface="Meiryo UI" pitchFamily="34" charset="-120"/>
              </a:rPr>
              <a:t>基準の整備</a:t>
            </a:r>
            <a:endParaRPr lang="en-US" sz="1000" dirty="0"/>
          </a:p>
          <a:p>
            <a:pPr indent="0" marL="0">
              <a:buNone/>
            </a:pPr>
            <a:r>
              <a:rPr lang="en-US" sz="1000" dirty="0">
                <a:solidFill>
                  <a:srgbClr val="6B7280"/>
                </a:solidFill>
                <a:latin typeface="Meiryo UI" pitchFamily="34" charset="0"/>
                <a:ea typeface="Meiryo UI" pitchFamily="34" charset="-122"/>
                <a:cs typeface="Meiryo UI" pitchFamily="34" charset="-120"/>
              </a:rPr>
              <a:t>パターン：共通</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人：</a:t>
            </a:r>
            <a:pPr indent="0" marL="0">
              <a:buNone/>
            </a:pPr>
            <a:r>
              <a:rPr lang="en-US" sz="1100" dirty="0">
                <a:solidFill>
                  <a:srgbClr val="1B2A49"/>
                </a:solidFill>
                <a:latin typeface="Meiryo UI" pitchFamily="34" charset="0"/>
                <a:ea typeface="Meiryo UI" pitchFamily="34" charset="-122"/>
                <a:cs typeface="Meiryo UI" pitchFamily="34" charset="-120"/>
              </a:rPr>
              <a:t>ガイドラインのMD化、評価基準・テンプレートの作成</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AI：</a:t>
            </a:r>
            <a:pPr indent="0" marL="0">
              <a:buNone/>
            </a:pPr>
            <a:r>
              <a:rPr lang="en-US" sz="1100" dirty="0">
                <a:solidFill>
                  <a:srgbClr val="1B2A49"/>
                </a:solidFill>
                <a:latin typeface="Meiryo UI" pitchFamily="34" charset="0"/>
                <a:ea typeface="Meiryo UI" pitchFamily="34" charset="-122"/>
                <a:cs typeface="Meiryo UI" pitchFamily="34" charset="-120"/>
              </a:rPr>
              <a:t>—</a:t>
            </a:r>
            <a:endParaRPr lang="en-US" sz="1000" dirty="0"/>
          </a:p>
        </p:txBody>
      </p:sp>
      <p:sp>
        <p:nvSpPr>
          <p:cNvPr id="10" name="Shape 7"/>
          <p:cNvSpPr/>
          <p:nvPr/>
        </p:nvSpPr>
        <p:spPr>
          <a:xfrm>
            <a:off x="2779776" y="3200400"/>
            <a:ext cx="2157984" cy="2788920"/>
          </a:xfrm>
          <a:prstGeom prst="rect">
            <a:avLst/>
          </a:prstGeom>
          <a:solidFill>
            <a:srgbClr val="BCE9E7"/>
          </a:solidFill>
          <a:ln/>
        </p:spPr>
      </p:sp>
      <p:sp>
        <p:nvSpPr>
          <p:cNvPr id="11" name="Shape 8"/>
          <p:cNvSpPr/>
          <p:nvPr/>
        </p:nvSpPr>
        <p:spPr>
          <a:xfrm>
            <a:off x="2916936" y="3337560"/>
            <a:ext cx="457200" cy="457200"/>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3008376" y="3429000"/>
            <a:ext cx="274320" cy="274320"/>
          </a:xfrm>
          <a:prstGeom prst="rect">
            <a:avLst/>
          </a:prstGeom>
        </p:spPr>
      </p:pic>
      <p:sp>
        <p:nvSpPr>
          <p:cNvPr id="13" name="Text 9"/>
          <p:cNvSpPr txBox="1"/>
          <p:nvPr/>
        </p:nvSpPr>
        <p:spPr>
          <a:xfrm>
            <a:off x="2889504" y="3886200"/>
            <a:ext cx="1956816" cy="2011680"/>
          </a:xfrm>
          <a:prstGeom prst="rect">
            <a:avLst/>
          </a:prstGeom>
          <a:noFill/>
          <a:ln/>
        </p:spPr>
        <p:txBody>
          <a:bodyPr wrap="square" lIns="254" tIns="254" rIns="254" bIns="254" rtlCol="0" anchor="t"/>
          <a:lstStyle/>
          <a:p>
            <a:pPr indent="0" marL="0">
              <a:buNone/>
            </a:pPr>
            <a:r>
              <a:rPr lang="en-US" sz="1000" b="1" dirty="0">
                <a:solidFill>
                  <a:srgbClr val="6B7280"/>
                </a:solidFill>
                <a:latin typeface="Meiryo UI" pitchFamily="34" charset="0"/>
                <a:ea typeface="Meiryo UI" pitchFamily="34" charset="-122"/>
                <a:cs typeface="Meiryo UI" pitchFamily="34" charset="-120"/>
              </a:rPr>
              <a:t>STEP 1</a:t>
            </a:r>
            <a:endParaRPr lang="en-US" sz="1000" dirty="0"/>
          </a:p>
          <a:p>
            <a:pPr indent="0" marL="0">
              <a:buNone/>
            </a:pPr>
            <a:r>
              <a:rPr lang="en-US" sz="1500" b="1" dirty="0">
                <a:solidFill>
                  <a:srgbClr val="1B2A49"/>
                </a:solidFill>
                <a:latin typeface="Meiryo UI" pitchFamily="34" charset="0"/>
                <a:ea typeface="Meiryo UI" pitchFamily="34" charset="-122"/>
                <a:cs typeface="Meiryo UI" pitchFamily="34" charset="-120"/>
              </a:rPr>
              <a:t>手動アシスト</a:t>
            </a:r>
            <a:endParaRPr lang="en-US" sz="1000" dirty="0"/>
          </a:p>
          <a:p>
            <a:pPr indent="0" marL="0">
              <a:buNone/>
            </a:pPr>
            <a:r>
              <a:rPr lang="en-US" sz="1000" dirty="0">
                <a:solidFill>
                  <a:srgbClr val="6B7280"/>
                </a:solidFill>
                <a:latin typeface="Meiryo UI" pitchFamily="34" charset="0"/>
                <a:ea typeface="Meiryo UI" pitchFamily="34" charset="-122"/>
                <a:cs typeface="Meiryo UI" pitchFamily="34" charset="-120"/>
              </a:rPr>
              <a:t>パターン：A1／A2</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人：</a:t>
            </a:r>
            <a:pPr indent="0" marL="0">
              <a:buNone/>
            </a:pPr>
            <a:r>
              <a:rPr lang="en-US" sz="1100" dirty="0">
                <a:solidFill>
                  <a:srgbClr val="1B2A49"/>
                </a:solidFill>
                <a:latin typeface="Meiryo UI" pitchFamily="34" charset="0"/>
                <a:ea typeface="Meiryo UI" pitchFamily="34" charset="-122"/>
                <a:cs typeface="Meiryo UI" pitchFamily="34" charset="-120"/>
              </a:rPr>
              <a:t>データを集めて添付し、案を選ぶ</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AI：</a:t>
            </a:r>
            <a:pPr indent="0" marL="0">
              <a:buNone/>
            </a:pPr>
            <a:r>
              <a:rPr lang="en-US" sz="1100" dirty="0">
                <a:solidFill>
                  <a:srgbClr val="1B2A49"/>
                </a:solidFill>
                <a:latin typeface="Meiryo UI" pitchFamily="34" charset="0"/>
                <a:ea typeface="Meiryo UI" pitchFamily="34" charset="-122"/>
                <a:cs typeface="Meiryo UI" pitchFamily="34" charset="-120"/>
              </a:rPr>
              <a:t>コピー・指示の案を出す</a:t>
            </a:r>
            <a:endParaRPr lang="en-US" sz="1000" dirty="0"/>
          </a:p>
        </p:txBody>
      </p:sp>
      <p:sp>
        <p:nvSpPr>
          <p:cNvPr id="14" name="Shape 10"/>
          <p:cNvSpPr/>
          <p:nvPr/>
        </p:nvSpPr>
        <p:spPr>
          <a:xfrm>
            <a:off x="5010912" y="2743200"/>
            <a:ext cx="2157984" cy="3246120"/>
          </a:xfrm>
          <a:prstGeom prst="rect">
            <a:avLst/>
          </a:prstGeom>
          <a:solidFill>
            <a:srgbClr val="8FD3CF"/>
          </a:solidFill>
          <a:ln/>
        </p:spPr>
      </p:sp>
      <p:sp>
        <p:nvSpPr>
          <p:cNvPr id="15" name="Shape 11"/>
          <p:cNvSpPr/>
          <p:nvPr/>
        </p:nvSpPr>
        <p:spPr>
          <a:xfrm>
            <a:off x="5148072" y="2880360"/>
            <a:ext cx="457200" cy="45720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5239512" y="2971800"/>
            <a:ext cx="274320" cy="274320"/>
          </a:xfrm>
          <a:prstGeom prst="rect">
            <a:avLst/>
          </a:prstGeom>
        </p:spPr>
      </p:pic>
      <p:sp>
        <p:nvSpPr>
          <p:cNvPr id="17" name="Text 12"/>
          <p:cNvSpPr txBox="1"/>
          <p:nvPr/>
        </p:nvSpPr>
        <p:spPr>
          <a:xfrm>
            <a:off x="5120640" y="3429000"/>
            <a:ext cx="1956816" cy="2468880"/>
          </a:xfrm>
          <a:prstGeom prst="rect">
            <a:avLst/>
          </a:prstGeom>
          <a:noFill/>
          <a:ln/>
        </p:spPr>
        <p:txBody>
          <a:bodyPr wrap="square" lIns="254" tIns="254" rIns="254" bIns="254" rtlCol="0" anchor="t"/>
          <a:lstStyle/>
          <a:p>
            <a:pPr indent="0" marL="0">
              <a:buNone/>
            </a:pPr>
            <a:r>
              <a:rPr lang="en-US" sz="1000" b="1" dirty="0">
                <a:solidFill>
                  <a:srgbClr val="6B7280"/>
                </a:solidFill>
                <a:latin typeface="Meiryo UI" pitchFamily="34" charset="0"/>
                <a:ea typeface="Meiryo UI" pitchFamily="34" charset="-122"/>
                <a:cs typeface="Meiryo UI" pitchFamily="34" charset="-120"/>
              </a:rPr>
              <a:t>STEP 2</a:t>
            </a:r>
            <a:endParaRPr lang="en-US" sz="1000" dirty="0"/>
          </a:p>
          <a:p>
            <a:pPr indent="0" marL="0">
              <a:buNone/>
            </a:pPr>
            <a:r>
              <a:rPr lang="en-US" sz="1500" b="1" dirty="0">
                <a:solidFill>
                  <a:srgbClr val="1B2A49"/>
                </a:solidFill>
                <a:latin typeface="Meiryo UI" pitchFamily="34" charset="0"/>
                <a:ea typeface="Meiryo UI" pitchFamily="34" charset="-122"/>
                <a:cs typeface="Meiryo UI" pitchFamily="34" charset="-120"/>
              </a:rPr>
              <a:t>対話型エージェント</a:t>
            </a:r>
            <a:endParaRPr lang="en-US" sz="1000" dirty="0"/>
          </a:p>
          <a:p>
            <a:pPr indent="0" marL="0">
              <a:buNone/>
            </a:pPr>
            <a:r>
              <a:rPr lang="en-US" sz="1000" dirty="0">
                <a:solidFill>
                  <a:srgbClr val="6B7280"/>
                </a:solidFill>
                <a:latin typeface="Meiryo UI" pitchFamily="34" charset="0"/>
                <a:ea typeface="Meiryo UI" pitchFamily="34" charset="-122"/>
                <a:cs typeface="Meiryo UI" pitchFamily="34" charset="-120"/>
              </a:rPr>
              <a:t>パターン：A2／A3／A5／H1／B1／C1</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人：</a:t>
            </a:r>
            <a:pPr indent="0" marL="0">
              <a:buNone/>
            </a:pPr>
            <a:r>
              <a:rPr lang="en-US" sz="1100" dirty="0">
                <a:solidFill>
                  <a:srgbClr val="1B2A49"/>
                </a:solidFill>
                <a:latin typeface="Meiryo UI" pitchFamily="34" charset="0"/>
                <a:ea typeface="Meiryo UI" pitchFamily="34" charset="-122"/>
                <a:cs typeface="Meiryo UI" pitchFamily="34" charset="-120"/>
              </a:rPr>
              <a:t>対話で依頼し、案を選ぶ</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AI：</a:t>
            </a:r>
            <a:pPr indent="0" marL="0">
              <a:buNone/>
            </a:pPr>
            <a:r>
              <a:rPr lang="en-US" sz="1100" dirty="0">
                <a:solidFill>
                  <a:srgbClr val="1B2A49"/>
                </a:solidFill>
                <a:latin typeface="Meiryo UI" pitchFamily="34" charset="0"/>
                <a:ea typeface="Meiryo UI" pitchFamily="34" charset="-122"/>
                <a:cs typeface="Meiryo UI" pitchFamily="34" charset="-120"/>
              </a:rPr>
              <a:t>最新のデータを参照して提案する</a:t>
            </a:r>
            <a:endParaRPr lang="en-US" sz="1000" dirty="0"/>
          </a:p>
        </p:txBody>
      </p:sp>
      <p:sp>
        <p:nvSpPr>
          <p:cNvPr id="18" name="Shape 13"/>
          <p:cNvSpPr/>
          <p:nvPr/>
        </p:nvSpPr>
        <p:spPr>
          <a:xfrm>
            <a:off x="7242048" y="2286000"/>
            <a:ext cx="2157984" cy="3703320"/>
          </a:xfrm>
          <a:prstGeom prst="rect">
            <a:avLst/>
          </a:prstGeom>
          <a:solidFill>
            <a:srgbClr val="0E9F9A"/>
          </a:solidFill>
          <a:ln/>
        </p:spPr>
      </p:sp>
      <p:sp>
        <p:nvSpPr>
          <p:cNvPr id="19" name="Shape 14"/>
          <p:cNvSpPr/>
          <p:nvPr/>
        </p:nvSpPr>
        <p:spPr>
          <a:xfrm>
            <a:off x="7379208" y="2423160"/>
            <a:ext cx="457200" cy="457200"/>
          </a:xfrm>
          <a:prstGeom prst="ellipse">
            <a:avLst/>
          </a:prstGeom>
          <a:solidFill>
            <a:srgbClr val="FFFFFF"/>
          </a:solidFill>
          <a:ln/>
        </p:spPr>
      </p:sp>
      <p:pic>
        <p:nvPicPr>
          <p:cNvPr id="20" name="Image 3" descr="preencoded.png">    </p:cNvPr>
          <p:cNvPicPr>
            <a:picLocks noChangeAspect="1"/>
          </p:cNvPicPr>
          <p:nvPr/>
        </p:nvPicPr>
        <p:blipFill>
          <a:blip r:embed="rId4"/>
          <a:stretch>
            <a:fillRect/>
          </a:stretch>
        </p:blipFill>
        <p:spPr>
          <a:xfrm>
            <a:off x="7470648" y="2514600"/>
            <a:ext cx="274320" cy="274320"/>
          </a:xfrm>
          <a:prstGeom prst="rect">
            <a:avLst/>
          </a:prstGeom>
        </p:spPr>
      </p:pic>
      <p:sp>
        <p:nvSpPr>
          <p:cNvPr id="21" name="Text 15"/>
          <p:cNvSpPr txBox="1"/>
          <p:nvPr/>
        </p:nvSpPr>
        <p:spPr>
          <a:xfrm>
            <a:off x="7351776" y="2971800"/>
            <a:ext cx="1956816" cy="2926080"/>
          </a:xfrm>
          <a:prstGeom prst="rect">
            <a:avLst/>
          </a:prstGeom>
          <a:noFill/>
          <a:ln/>
        </p:spPr>
        <p:txBody>
          <a:bodyPr wrap="square" lIns="254" tIns="254" rIns="254" bIns="254" rtlCol="0" anchor="t"/>
          <a:lstStyle/>
          <a:p>
            <a:pPr indent="0" marL="0">
              <a:buNone/>
            </a:pPr>
            <a:r>
              <a:rPr lang="en-US" sz="1000" b="1" dirty="0">
                <a:solidFill>
                  <a:srgbClr val="E6F2F2"/>
                </a:solidFill>
                <a:latin typeface="Meiryo UI" pitchFamily="34" charset="0"/>
                <a:ea typeface="Meiryo UI" pitchFamily="34" charset="-122"/>
                <a:cs typeface="Meiryo UI" pitchFamily="34" charset="-120"/>
              </a:rPr>
              <a:t>STEP 3</a:t>
            </a:r>
            <a:endParaRPr lang="en-US" sz="1000" dirty="0"/>
          </a:p>
          <a:p>
            <a:pPr indent="0" marL="0">
              <a:buNone/>
            </a:pPr>
            <a:r>
              <a:rPr lang="en-US" sz="1500" b="1" dirty="0">
                <a:solidFill>
                  <a:srgbClr val="FFFFFF"/>
                </a:solidFill>
                <a:latin typeface="Meiryo UI" pitchFamily="34" charset="0"/>
                <a:ea typeface="Meiryo UI" pitchFamily="34" charset="-122"/>
                <a:cs typeface="Meiryo UI" pitchFamily="34" charset="-120"/>
              </a:rPr>
              <a:t>自動起案</a:t>
            </a:r>
            <a:endParaRPr lang="en-US" sz="1000" dirty="0"/>
          </a:p>
          <a:p>
            <a:pPr indent="0" marL="0">
              <a:buNone/>
            </a:pPr>
            <a:r>
              <a:rPr lang="en-US" sz="1000" dirty="0">
                <a:solidFill>
                  <a:srgbClr val="E6F2F2"/>
                </a:solidFill>
                <a:latin typeface="Meiryo UI" pitchFamily="34" charset="0"/>
                <a:ea typeface="Meiryo UI" pitchFamily="34" charset="-122"/>
                <a:cs typeface="Meiryo UI" pitchFamily="34" charset="-120"/>
              </a:rPr>
              <a:t>パターン：A4〜A8／H1／B2／B3／C1</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FFFFFF"/>
                </a:solidFill>
                <a:latin typeface="Meiryo UI" pitchFamily="34" charset="0"/>
                <a:ea typeface="Meiryo UI" pitchFamily="34" charset="-122"/>
                <a:cs typeface="Meiryo UI" pitchFamily="34" charset="-120"/>
              </a:rPr>
              <a:t>人：</a:t>
            </a:r>
            <a:pPr indent="0" marL="0">
              <a:buNone/>
            </a:pPr>
            <a:r>
              <a:rPr lang="en-US" sz="1100" dirty="0">
                <a:solidFill>
                  <a:srgbClr val="FFFFFF"/>
                </a:solidFill>
                <a:latin typeface="Meiryo UI" pitchFamily="34" charset="0"/>
                <a:ea typeface="Meiryo UI" pitchFamily="34" charset="-122"/>
                <a:cs typeface="Meiryo UI" pitchFamily="34" charset="-120"/>
              </a:rPr>
              <a:t>レビュー・承認</a:t>
            </a:r>
            <a:endParaRPr lang="en-US" sz="1000" dirty="0"/>
          </a:p>
          <a:p>
            <a:pPr indent="0" marL="0">
              <a:buNone/>
            </a:pPr>
            <a:r>
              <a:rPr lang="en-US" sz="1100" b="1" dirty="0">
                <a:solidFill>
                  <a:srgbClr val="FFFFFF"/>
                </a:solidFill>
                <a:latin typeface="Meiryo UI" pitchFamily="34" charset="0"/>
                <a:ea typeface="Meiryo UI" pitchFamily="34" charset="-122"/>
                <a:cs typeface="Meiryo UI" pitchFamily="34" charset="-120"/>
              </a:rPr>
              <a:t>AI：</a:t>
            </a:r>
            <a:pPr indent="0" marL="0">
              <a:buNone/>
            </a:pPr>
            <a:r>
              <a:rPr lang="en-US" sz="1100" dirty="0">
                <a:solidFill>
                  <a:srgbClr val="FFFFFF"/>
                </a:solidFill>
                <a:latin typeface="Meiryo UI" pitchFamily="34" charset="0"/>
                <a:ea typeface="Meiryo UI" pitchFamily="34" charset="-122"/>
                <a:cs typeface="Meiryo UI" pitchFamily="34" charset="-120"/>
              </a:rPr>
              <a:t>全カードの下書きを自動で作る</a:t>
            </a:r>
            <a:endParaRPr lang="en-US" sz="1000" dirty="0"/>
          </a:p>
        </p:txBody>
      </p:sp>
      <p:sp>
        <p:nvSpPr>
          <p:cNvPr id="22" name="Shape 16"/>
          <p:cNvSpPr/>
          <p:nvPr/>
        </p:nvSpPr>
        <p:spPr>
          <a:xfrm>
            <a:off x="9473184" y="1828800"/>
            <a:ext cx="2157984" cy="4160520"/>
          </a:xfrm>
          <a:prstGeom prst="rect">
            <a:avLst/>
          </a:prstGeom>
          <a:solidFill>
            <a:srgbClr val="1B2A49"/>
          </a:solidFill>
          <a:ln/>
        </p:spPr>
      </p:sp>
      <p:sp>
        <p:nvSpPr>
          <p:cNvPr id="23" name="Shape 17"/>
          <p:cNvSpPr/>
          <p:nvPr/>
        </p:nvSpPr>
        <p:spPr>
          <a:xfrm>
            <a:off x="9610344" y="1965960"/>
            <a:ext cx="457200" cy="457200"/>
          </a:xfrm>
          <a:prstGeom prst="ellipse">
            <a:avLst/>
          </a:prstGeom>
          <a:solidFill>
            <a:srgbClr val="FFFFFF"/>
          </a:solidFill>
          <a:ln/>
        </p:spPr>
      </p:sp>
      <p:pic>
        <p:nvPicPr>
          <p:cNvPr id="24" name="Image 4" descr="preencoded.png">    </p:cNvPr>
          <p:cNvPicPr>
            <a:picLocks noChangeAspect="1"/>
          </p:cNvPicPr>
          <p:nvPr/>
        </p:nvPicPr>
        <p:blipFill>
          <a:blip r:embed="rId5"/>
          <a:stretch>
            <a:fillRect/>
          </a:stretch>
        </p:blipFill>
        <p:spPr>
          <a:xfrm>
            <a:off x="9701784" y="2057400"/>
            <a:ext cx="274320" cy="274320"/>
          </a:xfrm>
          <a:prstGeom prst="rect">
            <a:avLst/>
          </a:prstGeom>
        </p:spPr>
      </p:pic>
      <p:sp>
        <p:nvSpPr>
          <p:cNvPr id="25" name="Text 18"/>
          <p:cNvSpPr txBox="1"/>
          <p:nvPr/>
        </p:nvSpPr>
        <p:spPr>
          <a:xfrm>
            <a:off x="9582912" y="2514600"/>
            <a:ext cx="1956816" cy="3383280"/>
          </a:xfrm>
          <a:prstGeom prst="rect">
            <a:avLst/>
          </a:prstGeom>
          <a:noFill/>
          <a:ln/>
        </p:spPr>
        <p:txBody>
          <a:bodyPr wrap="square" lIns="254" tIns="254" rIns="254" bIns="254" rtlCol="0" anchor="t"/>
          <a:lstStyle/>
          <a:p>
            <a:pPr indent="0" marL="0">
              <a:buNone/>
            </a:pPr>
            <a:r>
              <a:rPr lang="en-US" sz="1000" b="1" dirty="0">
                <a:solidFill>
                  <a:srgbClr val="E6F2F2"/>
                </a:solidFill>
                <a:latin typeface="Meiryo UI" pitchFamily="34" charset="0"/>
                <a:ea typeface="Meiryo UI" pitchFamily="34" charset="-122"/>
                <a:cs typeface="Meiryo UI" pitchFamily="34" charset="-120"/>
              </a:rPr>
              <a:t>STEP 4</a:t>
            </a:r>
            <a:endParaRPr lang="en-US" sz="1000" dirty="0"/>
          </a:p>
          <a:p>
            <a:pPr indent="0" marL="0">
              <a:buNone/>
            </a:pPr>
            <a:r>
              <a:rPr lang="en-US" sz="1500" b="1" dirty="0">
                <a:solidFill>
                  <a:srgbClr val="FFFFFF"/>
                </a:solidFill>
                <a:latin typeface="Meiryo UI" pitchFamily="34" charset="0"/>
                <a:ea typeface="Meiryo UI" pitchFamily="34" charset="-122"/>
                <a:cs typeface="Meiryo UI" pitchFamily="34" charset="-120"/>
              </a:rPr>
              <a:t>継続的な最適化</a:t>
            </a:r>
            <a:endParaRPr lang="en-US" sz="1000" dirty="0"/>
          </a:p>
          <a:p>
            <a:pPr indent="0" marL="0">
              <a:buNone/>
            </a:pPr>
            <a:r>
              <a:rPr lang="en-US" sz="1000" dirty="0">
                <a:solidFill>
                  <a:srgbClr val="E6F2F2"/>
                </a:solidFill>
                <a:latin typeface="Meiryo UI" pitchFamily="34" charset="0"/>
                <a:ea typeface="Meiryo UI" pitchFamily="34" charset="-122"/>
                <a:cs typeface="Meiryo UI" pitchFamily="34" charset="-120"/>
              </a:rPr>
              <a:t>パターン：Step3の発展</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FFFFFF"/>
                </a:solidFill>
                <a:latin typeface="Meiryo UI" pitchFamily="34" charset="0"/>
                <a:ea typeface="Meiryo UI" pitchFamily="34" charset="-122"/>
                <a:cs typeface="Meiryo UI" pitchFamily="34" charset="-120"/>
              </a:rPr>
              <a:t>人：</a:t>
            </a:r>
            <a:pPr indent="0" marL="0">
              <a:buNone/>
            </a:pPr>
            <a:r>
              <a:rPr lang="en-US" sz="1100" dirty="0">
                <a:solidFill>
                  <a:srgbClr val="FFFFFF"/>
                </a:solidFill>
                <a:latin typeface="Meiryo UI" pitchFamily="34" charset="0"/>
                <a:ea typeface="Meiryo UI" pitchFamily="34" charset="-122"/>
                <a:cs typeface="Meiryo UI" pitchFamily="34" charset="-120"/>
              </a:rPr>
              <a:t>戦略策定・例外判断</a:t>
            </a:r>
            <a:endParaRPr lang="en-US" sz="1000" dirty="0"/>
          </a:p>
          <a:p>
            <a:pPr indent="0" marL="0">
              <a:buNone/>
            </a:pPr>
            <a:r>
              <a:rPr lang="en-US" sz="1100" b="1" dirty="0">
                <a:solidFill>
                  <a:srgbClr val="FFFFFF"/>
                </a:solidFill>
                <a:latin typeface="Meiryo UI" pitchFamily="34" charset="0"/>
                <a:ea typeface="Meiryo UI" pitchFamily="34" charset="-122"/>
                <a:cs typeface="Meiryo UI" pitchFamily="34" charset="-120"/>
              </a:rPr>
              <a:t>AI：</a:t>
            </a:r>
            <a:pPr indent="0" marL="0">
              <a:buNone/>
            </a:pPr>
            <a:r>
              <a:rPr lang="en-US" sz="1100" dirty="0">
                <a:solidFill>
                  <a:srgbClr val="FFFFFF"/>
                </a:solidFill>
                <a:latin typeface="Meiryo UI" pitchFamily="34" charset="0"/>
                <a:ea typeface="Meiryo UI" pitchFamily="34" charset="-122"/>
                <a:cs typeface="Meiryo UI" pitchFamily="34" charset="-120"/>
              </a:rPr>
              <a:t>配信実績から選定・コピーを改善</a:t>
            </a:r>
            <a:endParaRPr lang="en-US" sz="1000" dirty="0"/>
          </a:p>
        </p:txBody>
      </p:sp>
      <p:sp>
        <p:nvSpPr>
          <p:cNvPr id="26" name="Shape 19"/>
          <p:cNvSpPr/>
          <p:nvPr/>
        </p:nvSpPr>
        <p:spPr>
          <a:xfrm>
            <a:off x="548640" y="6263640"/>
            <a:ext cx="11064240" cy="0"/>
          </a:xfrm>
          <a:prstGeom prst="line">
            <a:avLst/>
          </a:prstGeom>
          <a:noFill/>
          <a:ln w="25400">
            <a:solidFill>
              <a:srgbClr val="1B2A49"/>
            </a:solidFill>
            <a:prstDash val="solid"/>
            <a:tailEnd type="triangle"/>
          </a:ln>
        </p:spPr>
      </p:sp>
      <p:sp>
        <p:nvSpPr>
          <p:cNvPr id="27" name="Text 20"/>
          <p:cNvSpPr txBox="1"/>
          <p:nvPr/>
        </p:nvSpPr>
        <p:spPr>
          <a:xfrm>
            <a:off x="8412480" y="6309360"/>
            <a:ext cx="3200400" cy="320040"/>
          </a:xfrm>
          <a:prstGeom prst="rect">
            <a:avLst/>
          </a:prstGeom>
          <a:noFill/>
          <a:ln/>
        </p:spPr>
        <p:txBody>
          <a:bodyPr wrap="square" lIns="508" tIns="508" rIns="508" bIns="508" rtlCol="0" anchor="t"/>
          <a:lstStyle/>
          <a:p>
            <a:pPr algn="r" indent="0" marL="0">
              <a:buNone/>
            </a:pPr>
            <a:r>
              <a:rPr lang="en-US" sz="1100" b="1" dirty="0">
                <a:solidFill>
                  <a:srgbClr val="1B2A49"/>
                </a:solidFill>
                <a:latin typeface="Meiryo UI" pitchFamily="34" charset="0"/>
                <a:ea typeface="Meiryo UI" pitchFamily="34" charset="-122"/>
                <a:cs typeface="Meiryo UI" pitchFamily="34" charset="-120"/>
              </a:rPr>
              <a:t>自動化の範囲・難易度</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軸4：展開の単位（国別か共通か）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「仕組み」と「データ」を分けて考える。どのパターンとも組み合わせられる独立した軸</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9</a:t>
            </a:r>
            <a:endParaRPr lang="en-US" sz="900" dirty="0"/>
          </a:p>
        </p:txBody>
      </p:sp>
      <p:sp>
        <p:nvSpPr>
          <p:cNvPr id="6" name="Shape 4"/>
          <p:cNvSpPr/>
          <p:nvPr/>
        </p:nvSpPr>
        <p:spPr>
          <a:xfrm>
            <a:off x="548640" y="1371600"/>
            <a:ext cx="3566160" cy="2606040"/>
          </a:xfrm>
          <a:prstGeom prst="roundRect">
            <a:avLst>
              <a:gd name="adj" fmla="val 2105"/>
            </a:avLst>
          </a:prstGeom>
          <a:solidFill>
            <a:srgbClr val="F3F5F8"/>
          </a:solidFill>
          <a:ln/>
        </p:spPr>
      </p:sp>
      <p:sp>
        <p:nvSpPr>
          <p:cNvPr id="7" name="Shape 5"/>
          <p:cNvSpPr/>
          <p:nvPr/>
        </p:nvSpPr>
        <p:spPr>
          <a:xfrm>
            <a:off x="685800" y="1490472"/>
            <a:ext cx="384048" cy="384048"/>
          </a:xfrm>
          <a:prstGeom prst="ellipse">
            <a:avLst/>
          </a:prstGeom>
          <a:solidFill>
            <a:srgbClr val="1B2A49"/>
          </a:solidFill>
          <a:ln/>
        </p:spPr>
      </p:sp>
      <p:sp>
        <p:nvSpPr>
          <p:cNvPr id="8" name="Text 6"/>
          <p:cNvSpPr txBox="1"/>
          <p:nvPr/>
        </p:nvSpPr>
        <p:spPr>
          <a:xfrm>
            <a:off x="685800" y="1490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①</a:t>
            </a:r>
            <a:endParaRPr lang="en-US" sz="1100" dirty="0"/>
          </a:p>
        </p:txBody>
      </p:sp>
      <p:sp>
        <p:nvSpPr>
          <p:cNvPr id="9" name="Text 7"/>
          <p:cNvSpPr txBox="1"/>
          <p:nvPr/>
        </p:nvSpPr>
        <p:spPr>
          <a:xfrm>
            <a:off x="1143000" y="1481328"/>
            <a:ext cx="2880360" cy="402336"/>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国別に独立</a:t>
            </a:r>
            <a:endParaRPr lang="en-US" sz="1350" dirty="0"/>
          </a:p>
        </p:txBody>
      </p:sp>
      <p:sp>
        <p:nvSpPr>
          <p:cNvPr id="10" name="Shape 8"/>
          <p:cNvSpPr/>
          <p:nvPr/>
        </p:nvSpPr>
        <p:spPr>
          <a:xfrm>
            <a:off x="822960" y="2011680"/>
            <a:ext cx="914400" cy="566928"/>
          </a:xfrm>
          <a:prstGeom prst="roundRect">
            <a:avLst>
              <a:gd name="adj" fmla="val 9677"/>
            </a:avLst>
          </a:prstGeom>
          <a:solidFill>
            <a:srgbClr val="FFFFFF"/>
          </a:solidFill>
          <a:ln w="12700">
            <a:solidFill>
              <a:srgbClr val="D5DBE3"/>
            </a:solidFill>
            <a:prstDash val="solid"/>
          </a:ln>
        </p:spPr>
      </p:sp>
      <p:pic>
        <p:nvPicPr>
          <p:cNvPr id="11" name="Image 0" descr="preencoded.png">    </p:cNvPr>
          <p:cNvPicPr>
            <a:picLocks noChangeAspect="1"/>
          </p:cNvPicPr>
          <p:nvPr/>
        </p:nvPicPr>
        <p:blipFill>
          <a:blip r:embed="rId1"/>
          <a:stretch>
            <a:fillRect/>
          </a:stretch>
        </p:blipFill>
        <p:spPr>
          <a:xfrm>
            <a:off x="914400" y="2084832"/>
            <a:ext cx="182880" cy="182880"/>
          </a:xfrm>
          <a:prstGeom prst="rect">
            <a:avLst/>
          </a:prstGeom>
        </p:spPr>
      </p:pic>
      <p:pic>
        <p:nvPicPr>
          <p:cNvPr id="12" name="Image 1" descr="preencoded.png">    </p:cNvPr>
          <p:cNvPicPr>
            <a:picLocks noChangeAspect="1"/>
          </p:cNvPicPr>
          <p:nvPr/>
        </p:nvPicPr>
        <p:blipFill>
          <a:blip r:embed="rId2"/>
          <a:stretch>
            <a:fillRect/>
          </a:stretch>
        </p:blipFill>
        <p:spPr>
          <a:xfrm>
            <a:off x="914400" y="2322576"/>
            <a:ext cx="182880" cy="182880"/>
          </a:xfrm>
          <a:prstGeom prst="rect">
            <a:avLst/>
          </a:prstGeom>
        </p:spPr>
      </p:pic>
      <p:sp>
        <p:nvSpPr>
          <p:cNvPr id="13" name="Text 9"/>
          <p:cNvSpPr txBox="1"/>
          <p:nvPr/>
        </p:nvSpPr>
        <p:spPr>
          <a:xfrm>
            <a:off x="1143000" y="2011680"/>
            <a:ext cx="548640" cy="56692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国A</a:t>
            </a:r>
            <a:endParaRPr lang="en-US" sz="900" dirty="0"/>
          </a:p>
        </p:txBody>
      </p:sp>
      <p:sp>
        <p:nvSpPr>
          <p:cNvPr id="14" name="Shape 10"/>
          <p:cNvSpPr/>
          <p:nvPr/>
        </p:nvSpPr>
        <p:spPr>
          <a:xfrm>
            <a:off x="1847088" y="2011680"/>
            <a:ext cx="914400" cy="566928"/>
          </a:xfrm>
          <a:prstGeom prst="roundRect">
            <a:avLst>
              <a:gd name="adj" fmla="val 9677"/>
            </a:avLst>
          </a:prstGeom>
          <a:solidFill>
            <a:srgbClr val="FFFFFF"/>
          </a:solidFill>
          <a:ln w="12700">
            <a:solidFill>
              <a:srgbClr val="D5DBE3"/>
            </a:solidFill>
            <a:prstDash val="solid"/>
          </a:ln>
        </p:spPr>
      </p:sp>
      <p:pic>
        <p:nvPicPr>
          <p:cNvPr id="15" name="Image 2" descr="preencoded.png">    </p:cNvPr>
          <p:cNvPicPr>
            <a:picLocks noChangeAspect="1"/>
          </p:cNvPicPr>
          <p:nvPr/>
        </p:nvPicPr>
        <p:blipFill>
          <a:blip r:embed="rId3"/>
          <a:stretch>
            <a:fillRect/>
          </a:stretch>
        </p:blipFill>
        <p:spPr>
          <a:xfrm>
            <a:off x="1938528" y="2084832"/>
            <a:ext cx="182880" cy="182880"/>
          </a:xfrm>
          <a:prstGeom prst="rect">
            <a:avLst/>
          </a:prstGeom>
        </p:spPr>
      </p:pic>
      <p:pic>
        <p:nvPicPr>
          <p:cNvPr id="16" name="Image 3" descr="preencoded.png">    </p:cNvPr>
          <p:cNvPicPr>
            <a:picLocks noChangeAspect="1"/>
          </p:cNvPicPr>
          <p:nvPr/>
        </p:nvPicPr>
        <p:blipFill>
          <a:blip r:embed="rId4"/>
          <a:stretch>
            <a:fillRect/>
          </a:stretch>
        </p:blipFill>
        <p:spPr>
          <a:xfrm>
            <a:off x="1938528" y="2322576"/>
            <a:ext cx="182880" cy="182880"/>
          </a:xfrm>
          <a:prstGeom prst="rect">
            <a:avLst/>
          </a:prstGeom>
        </p:spPr>
      </p:pic>
      <p:sp>
        <p:nvSpPr>
          <p:cNvPr id="17" name="Text 11"/>
          <p:cNvSpPr txBox="1"/>
          <p:nvPr/>
        </p:nvSpPr>
        <p:spPr>
          <a:xfrm>
            <a:off x="2167128" y="2011680"/>
            <a:ext cx="548640" cy="56692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国B</a:t>
            </a:r>
            <a:endParaRPr lang="en-US" sz="900" dirty="0"/>
          </a:p>
        </p:txBody>
      </p:sp>
      <p:sp>
        <p:nvSpPr>
          <p:cNvPr id="18" name="Shape 12"/>
          <p:cNvSpPr/>
          <p:nvPr/>
        </p:nvSpPr>
        <p:spPr>
          <a:xfrm>
            <a:off x="2871216" y="2011680"/>
            <a:ext cx="914400" cy="566928"/>
          </a:xfrm>
          <a:prstGeom prst="roundRect">
            <a:avLst>
              <a:gd name="adj" fmla="val 9677"/>
            </a:avLst>
          </a:prstGeom>
          <a:solidFill>
            <a:srgbClr val="FFFFFF"/>
          </a:solidFill>
          <a:ln w="12700">
            <a:solidFill>
              <a:srgbClr val="D5DBE3"/>
            </a:solidFill>
            <a:prstDash val="solid"/>
          </a:ln>
        </p:spPr>
      </p:sp>
      <p:pic>
        <p:nvPicPr>
          <p:cNvPr id="19" name="Image 4" descr="preencoded.png">    </p:cNvPr>
          <p:cNvPicPr>
            <a:picLocks noChangeAspect="1"/>
          </p:cNvPicPr>
          <p:nvPr/>
        </p:nvPicPr>
        <p:blipFill>
          <a:blip r:embed="rId5"/>
          <a:stretch>
            <a:fillRect/>
          </a:stretch>
        </p:blipFill>
        <p:spPr>
          <a:xfrm>
            <a:off x="2962656" y="2084832"/>
            <a:ext cx="182880" cy="182880"/>
          </a:xfrm>
          <a:prstGeom prst="rect">
            <a:avLst/>
          </a:prstGeom>
        </p:spPr>
      </p:pic>
      <p:pic>
        <p:nvPicPr>
          <p:cNvPr id="20" name="Image 5" descr="preencoded.png">    </p:cNvPr>
          <p:cNvPicPr>
            <a:picLocks noChangeAspect="1"/>
          </p:cNvPicPr>
          <p:nvPr/>
        </p:nvPicPr>
        <p:blipFill>
          <a:blip r:embed="rId6"/>
          <a:stretch>
            <a:fillRect/>
          </a:stretch>
        </p:blipFill>
        <p:spPr>
          <a:xfrm>
            <a:off x="2962656" y="2322576"/>
            <a:ext cx="182880" cy="182880"/>
          </a:xfrm>
          <a:prstGeom prst="rect">
            <a:avLst/>
          </a:prstGeom>
        </p:spPr>
      </p:pic>
      <p:sp>
        <p:nvSpPr>
          <p:cNvPr id="21" name="Text 13"/>
          <p:cNvSpPr txBox="1"/>
          <p:nvPr/>
        </p:nvSpPr>
        <p:spPr>
          <a:xfrm>
            <a:off x="3191256" y="2011680"/>
            <a:ext cx="548640" cy="56692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国C</a:t>
            </a:r>
            <a:endParaRPr lang="en-US" sz="900" dirty="0"/>
          </a:p>
        </p:txBody>
      </p:sp>
      <p:sp>
        <p:nvSpPr>
          <p:cNvPr id="22" name="Text 14"/>
          <p:cNvSpPr txBox="1"/>
          <p:nvPr/>
        </p:nvSpPr>
        <p:spPr>
          <a:xfrm>
            <a:off x="731520" y="2651760"/>
            <a:ext cx="3246120" cy="292608"/>
          </a:xfrm>
          <a:prstGeom prst="rect">
            <a:avLst/>
          </a:prstGeom>
          <a:noFill/>
          <a:ln/>
        </p:spPr>
        <p:txBody>
          <a:bodyPr wrap="square" lIns="508" tIns="508" rIns="508" bIns="508" rtlCol="0" anchor="ctr"/>
          <a:lstStyle/>
          <a:p>
            <a:pPr indent="0" marL="0">
              <a:buNone/>
            </a:pPr>
            <a:r>
              <a:rPr lang="en-US" sz="950" dirty="0">
                <a:solidFill>
                  <a:srgbClr val="6B7280"/>
                </a:solidFill>
                <a:latin typeface="Meiryo UI" pitchFamily="34" charset="0"/>
                <a:ea typeface="Meiryo UI" pitchFamily="34" charset="-122"/>
                <a:cs typeface="Meiryo UI" pitchFamily="34" charset="-120"/>
              </a:rPr>
              <a:t>仕組みもデータも国ごとに作る</a:t>
            </a:r>
            <a:endParaRPr lang="en-US" sz="950" dirty="0"/>
          </a:p>
        </p:txBody>
      </p:sp>
      <p:sp>
        <p:nvSpPr>
          <p:cNvPr id="23" name="Text 15"/>
          <p:cNvSpPr txBox="1"/>
          <p:nvPr/>
        </p:nvSpPr>
        <p:spPr>
          <a:xfrm>
            <a:off x="731520" y="2971800"/>
            <a:ext cx="3246120" cy="960120"/>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国の事情に合わせて自由に作れる</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他国の事例は参照できない</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作り方・品質が国ごとにばらつき、重複開発になる</a:t>
            </a:r>
            <a:endParaRPr lang="en-US" sz="1000" dirty="0"/>
          </a:p>
        </p:txBody>
      </p:sp>
      <p:sp>
        <p:nvSpPr>
          <p:cNvPr id="24" name="Shape 16"/>
          <p:cNvSpPr/>
          <p:nvPr/>
        </p:nvSpPr>
        <p:spPr>
          <a:xfrm>
            <a:off x="4297680" y="1371600"/>
            <a:ext cx="3566160" cy="2606040"/>
          </a:xfrm>
          <a:prstGeom prst="roundRect">
            <a:avLst>
              <a:gd name="adj" fmla="val 2105"/>
            </a:avLst>
          </a:prstGeom>
          <a:solidFill>
            <a:srgbClr val="F3F5F8"/>
          </a:solidFill>
          <a:ln/>
        </p:spPr>
      </p:sp>
      <p:sp>
        <p:nvSpPr>
          <p:cNvPr id="25" name="Shape 17"/>
          <p:cNvSpPr/>
          <p:nvPr/>
        </p:nvSpPr>
        <p:spPr>
          <a:xfrm>
            <a:off x="4434840" y="1490472"/>
            <a:ext cx="384048" cy="384048"/>
          </a:xfrm>
          <a:prstGeom prst="ellipse">
            <a:avLst/>
          </a:prstGeom>
          <a:solidFill>
            <a:srgbClr val="1B2A49"/>
          </a:solidFill>
          <a:ln/>
        </p:spPr>
      </p:sp>
      <p:sp>
        <p:nvSpPr>
          <p:cNvPr id="26" name="Text 18"/>
          <p:cNvSpPr txBox="1"/>
          <p:nvPr/>
        </p:nvSpPr>
        <p:spPr>
          <a:xfrm>
            <a:off x="4434840" y="1490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②</a:t>
            </a:r>
            <a:endParaRPr lang="en-US" sz="1100" dirty="0"/>
          </a:p>
        </p:txBody>
      </p:sp>
      <p:sp>
        <p:nvSpPr>
          <p:cNvPr id="27" name="Text 19"/>
          <p:cNvSpPr txBox="1"/>
          <p:nvPr/>
        </p:nvSpPr>
        <p:spPr>
          <a:xfrm>
            <a:off x="4892040" y="1481328"/>
            <a:ext cx="2880360" cy="402336"/>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共通の仕組み＋国別データ</a:t>
            </a:r>
            <a:endParaRPr lang="en-US" sz="1350" dirty="0"/>
          </a:p>
        </p:txBody>
      </p:sp>
      <p:sp>
        <p:nvSpPr>
          <p:cNvPr id="28" name="Shape 20"/>
          <p:cNvSpPr/>
          <p:nvPr/>
        </p:nvSpPr>
        <p:spPr>
          <a:xfrm>
            <a:off x="4572000" y="2011680"/>
            <a:ext cx="2962656" cy="237744"/>
          </a:xfrm>
          <a:prstGeom prst="roundRect">
            <a:avLst>
              <a:gd name="adj" fmla="val 19231"/>
            </a:avLst>
          </a:prstGeom>
          <a:solidFill>
            <a:srgbClr val="0E9F9A"/>
          </a:solidFill>
          <a:ln/>
        </p:spPr>
      </p:sp>
      <p:sp>
        <p:nvSpPr>
          <p:cNvPr id="29" name="Text 21"/>
          <p:cNvSpPr txBox="1"/>
          <p:nvPr/>
        </p:nvSpPr>
        <p:spPr>
          <a:xfrm>
            <a:off x="4572000" y="2011680"/>
            <a:ext cx="2962656" cy="237744"/>
          </a:xfrm>
          <a:prstGeom prst="rect">
            <a:avLst/>
          </a:prstGeom>
          <a:noFill/>
          <a:ln/>
        </p:spPr>
        <p:txBody>
          <a:bodyPr wrap="square" lIns="762" tIns="762" rIns="762" bIns="762"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共通の仕組み（アプリ・フロー・プロンプト）</a:t>
            </a:r>
            <a:endParaRPr lang="en-US" sz="850" dirty="0"/>
          </a:p>
        </p:txBody>
      </p:sp>
      <p:sp>
        <p:nvSpPr>
          <p:cNvPr id="30" name="Shape 22"/>
          <p:cNvSpPr/>
          <p:nvPr/>
        </p:nvSpPr>
        <p:spPr>
          <a:xfrm>
            <a:off x="4572000" y="2322576"/>
            <a:ext cx="914400" cy="274320"/>
          </a:xfrm>
          <a:prstGeom prst="roundRect">
            <a:avLst>
              <a:gd name="adj" fmla="val 16667"/>
            </a:avLst>
          </a:prstGeom>
          <a:solidFill>
            <a:srgbClr val="FFFFFF"/>
          </a:solidFill>
          <a:ln w="12700">
            <a:solidFill>
              <a:srgbClr val="D5DBE3"/>
            </a:solidFill>
            <a:prstDash val="solid"/>
          </a:ln>
        </p:spPr>
      </p:sp>
      <p:pic>
        <p:nvPicPr>
          <p:cNvPr id="31" name="Image 6" descr="preencoded.png">    </p:cNvPr>
          <p:cNvPicPr>
            <a:picLocks noChangeAspect="1"/>
          </p:cNvPicPr>
          <p:nvPr/>
        </p:nvPicPr>
        <p:blipFill>
          <a:blip r:embed="rId7"/>
          <a:stretch>
            <a:fillRect/>
          </a:stretch>
        </p:blipFill>
        <p:spPr>
          <a:xfrm>
            <a:off x="4663440" y="2359152"/>
            <a:ext cx="182880" cy="182880"/>
          </a:xfrm>
          <a:prstGeom prst="rect">
            <a:avLst/>
          </a:prstGeom>
        </p:spPr>
      </p:pic>
      <p:sp>
        <p:nvSpPr>
          <p:cNvPr id="32" name="Text 23"/>
          <p:cNvSpPr txBox="1"/>
          <p:nvPr/>
        </p:nvSpPr>
        <p:spPr>
          <a:xfrm>
            <a:off x="4864608" y="2322576"/>
            <a:ext cx="621792" cy="274320"/>
          </a:xfrm>
          <a:prstGeom prst="rect">
            <a:avLst/>
          </a:prstGeom>
          <a:noFill/>
          <a:ln/>
        </p:spPr>
        <p:txBody>
          <a:bodyPr wrap="square" lIns="0" tIns="0" rIns="0" bIns="0" rtlCol="0" anchor="ctr"/>
          <a:lstStyle/>
          <a:p>
            <a:pPr indent="0" marL="0">
              <a:buNone/>
            </a:pPr>
            <a:r>
              <a:rPr lang="en-US" sz="800" dirty="0">
                <a:solidFill>
                  <a:srgbClr val="1B2A49"/>
                </a:solidFill>
                <a:latin typeface="Meiryo UI" pitchFamily="34" charset="0"/>
                <a:ea typeface="Meiryo UI" pitchFamily="34" charset="-122"/>
                <a:cs typeface="Meiryo UI" pitchFamily="34" charset="-120"/>
              </a:rPr>
              <a:t>国Aのデータ</a:t>
            </a:r>
            <a:endParaRPr lang="en-US" sz="800" dirty="0"/>
          </a:p>
        </p:txBody>
      </p:sp>
      <p:sp>
        <p:nvSpPr>
          <p:cNvPr id="33" name="Shape 24"/>
          <p:cNvSpPr/>
          <p:nvPr/>
        </p:nvSpPr>
        <p:spPr>
          <a:xfrm>
            <a:off x="5596128" y="2322576"/>
            <a:ext cx="914400" cy="274320"/>
          </a:xfrm>
          <a:prstGeom prst="roundRect">
            <a:avLst>
              <a:gd name="adj" fmla="val 16667"/>
            </a:avLst>
          </a:prstGeom>
          <a:solidFill>
            <a:srgbClr val="FFFFFF"/>
          </a:solidFill>
          <a:ln w="12700">
            <a:solidFill>
              <a:srgbClr val="D5DBE3"/>
            </a:solidFill>
            <a:prstDash val="solid"/>
          </a:ln>
        </p:spPr>
      </p:sp>
      <p:pic>
        <p:nvPicPr>
          <p:cNvPr id="34" name="Image 7" descr="preencoded.png">    </p:cNvPr>
          <p:cNvPicPr>
            <a:picLocks noChangeAspect="1"/>
          </p:cNvPicPr>
          <p:nvPr/>
        </p:nvPicPr>
        <p:blipFill>
          <a:blip r:embed="rId8"/>
          <a:stretch>
            <a:fillRect/>
          </a:stretch>
        </p:blipFill>
        <p:spPr>
          <a:xfrm>
            <a:off x="5687568" y="2359152"/>
            <a:ext cx="182880" cy="182880"/>
          </a:xfrm>
          <a:prstGeom prst="rect">
            <a:avLst/>
          </a:prstGeom>
        </p:spPr>
      </p:pic>
      <p:sp>
        <p:nvSpPr>
          <p:cNvPr id="35" name="Text 25"/>
          <p:cNvSpPr txBox="1"/>
          <p:nvPr/>
        </p:nvSpPr>
        <p:spPr>
          <a:xfrm>
            <a:off x="5888736" y="2322576"/>
            <a:ext cx="621792" cy="274320"/>
          </a:xfrm>
          <a:prstGeom prst="rect">
            <a:avLst/>
          </a:prstGeom>
          <a:noFill/>
          <a:ln/>
        </p:spPr>
        <p:txBody>
          <a:bodyPr wrap="square" lIns="0" tIns="0" rIns="0" bIns="0" rtlCol="0" anchor="ctr"/>
          <a:lstStyle/>
          <a:p>
            <a:pPr indent="0" marL="0">
              <a:buNone/>
            </a:pPr>
            <a:r>
              <a:rPr lang="en-US" sz="800" dirty="0">
                <a:solidFill>
                  <a:srgbClr val="1B2A49"/>
                </a:solidFill>
                <a:latin typeface="Meiryo UI" pitchFamily="34" charset="0"/>
                <a:ea typeface="Meiryo UI" pitchFamily="34" charset="-122"/>
                <a:cs typeface="Meiryo UI" pitchFamily="34" charset="-120"/>
              </a:rPr>
              <a:t>国Bのデータ</a:t>
            </a:r>
            <a:endParaRPr lang="en-US" sz="800" dirty="0"/>
          </a:p>
        </p:txBody>
      </p:sp>
      <p:sp>
        <p:nvSpPr>
          <p:cNvPr id="36" name="Shape 26"/>
          <p:cNvSpPr/>
          <p:nvPr/>
        </p:nvSpPr>
        <p:spPr>
          <a:xfrm>
            <a:off x="6620256" y="2322576"/>
            <a:ext cx="914400" cy="274320"/>
          </a:xfrm>
          <a:prstGeom prst="roundRect">
            <a:avLst>
              <a:gd name="adj" fmla="val 16667"/>
            </a:avLst>
          </a:prstGeom>
          <a:solidFill>
            <a:srgbClr val="FFFFFF"/>
          </a:solidFill>
          <a:ln w="12700">
            <a:solidFill>
              <a:srgbClr val="D5DBE3"/>
            </a:solidFill>
            <a:prstDash val="solid"/>
          </a:ln>
        </p:spPr>
      </p:sp>
      <p:pic>
        <p:nvPicPr>
          <p:cNvPr id="37" name="Image 8" descr="preencoded.png">    </p:cNvPr>
          <p:cNvPicPr>
            <a:picLocks noChangeAspect="1"/>
          </p:cNvPicPr>
          <p:nvPr/>
        </p:nvPicPr>
        <p:blipFill>
          <a:blip r:embed="rId9"/>
          <a:stretch>
            <a:fillRect/>
          </a:stretch>
        </p:blipFill>
        <p:spPr>
          <a:xfrm>
            <a:off x="6711696" y="2359152"/>
            <a:ext cx="182880" cy="182880"/>
          </a:xfrm>
          <a:prstGeom prst="rect">
            <a:avLst/>
          </a:prstGeom>
        </p:spPr>
      </p:pic>
      <p:sp>
        <p:nvSpPr>
          <p:cNvPr id="38" name="Text 27"/>
          <p:cNvSpPr txBox="1"/>
          <p:nvPr/>
        </p:nvSpPr>
        <p:spPr>
          <a:xfrm>
            <a:off x="6912864" y="2322576"/>
            <a:ext cx="621792" cy="274320"/>
          </a:xfrm>
          <a:prstGeom prst="rect">
            <a:avLst/>
          </a:prstGeom>
          <a:noFill/>
          <a:ln/>
        </p:spPr>
        <p:txBody>
          <a:bodyPr wrap="square" lIns="0" tIns="0" rIns="0" bIns="0" rtlCol="0" anchor="ctr"/>
          <a:lstStyle/>
          <a:p>
            <a:pPr indent="0" marL="0">
              <a:buNone/>
            </a:pPr>
            <a:r>
              <a:rPr lang="en-US" sz="800" dirty="0">
                <a:solidFill>
                  <a:srgbClr val="1B2A49"/>
                </a:solidFill>
                <a:latin typeface="Meiryo UI" pitchFamily="34" charset="0"/>
                <a:ea typeface="Meiryo UI" pitchFamily="34" charset="-122"/>
                <a:cs typeface="Meiryo UI" pitchFamily="34" charset="-120"/>
              </a:rPr>
              <a:t>国Cのデータ</a:t>
            </a:r>
            <a:endParaRPr lang="en-US" sz="800" dirty="0"/>
          </a:p>
        </p:txBody>
      </p:sp>
      <p:sp>
        <p:nvSpPr>
          <p:cNvPr id="39" name="Text 28"/>
          <p:cNvSpPr txBox="1"/>
          <p:nvPr/>
        </p:nvSpPr>
        <p:spPr>
          <a:xfrm>
            <a:off x="4480560" y="2651760"/>
            <a:ext cx="3246120" cy="292608"/>
          </a:xfrm>
          <a:prstGeom prst="rect">
            <a:avLst/>
          </a:prstGeom>
          <a:noFill/>
          <a:ln/>
        </p:spPr>
        <p:txBody>
          <a:bodyPr wrap="square" lIns="508" tIns="508" rIns="508" bIns="508" rtlCol="0" anchor="ctr"/>
          <a:lstStyle/>
          <a:p>
            <a:pPr indent="0" marL="0">
              <a:buNone/>
            </a:pPr>
            <a:r>
              <a:rPr lang="en-US" sz="950" dirty="0">
                <a:solidFill>
                  <a:srgbClr val="6B7280"/>
                </a:solidFill>
                <a:latin typeface="Meiryo UI" pitchFamily="34" charset="0"/>
                <a:ea typeface="Meiryo UI" pitchFamily="34" charset="-122"/>
                <a:cs typeface="Meiryo UI" pitchFamily="34" charset="-120"/>
              </a:rPr>
              <a:t>1つの仕組みを各国に展開し、データは国ごとに置く</a:t>
            </a:r>
            <a:endParaRPr lang="en-US" sz="950" dirty="0"/>
          </a:p>
        </p:txBody>
      </p:sp>
      <p:sp>
        <p:nvSpPr>
          <p:cNvPr id="40" name="Text 29"/>
          <p:cNvSpPr txBox="1"/>
          <p:nvPr/>
        </p:nvSpPr>
        <p:spPr>
          <a:xfrm>
            <a:off x="4480560" y="2971800"/>
            <a:ext cx="3246120" cy="960120"/>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仕組みとプロンプトの改善が全国に効く</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他国の事例は共有すると決めたものだけ参照</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国ごとの権限設計が必要</a:t>
            </a:r>
            <a:endParaRPr lang="en-US" sz="1000" dirty="0"/>
          </a:p>
        </p:txBody>
      </p:sp>
      <p:sp>
        <p:nvSpPr>
          <p:cNvPr id="41" name="Shape 30"/>
          <p:cNvSpPr/>
          <p:nvPr/>
        </p:nvSpPr>
        <p:spPr>
          <a:xfrm>
            <a:off x="8046720" y="1371600"/>
            <a:ext cx="3566160" cy="2606040"/>
          </a:xfrm>
          <a:prstGeom prst="roundRect">
            <a:avLst>
              <a:gd name="adj" fmla="val 2105"/>
            </a:avLst>
          </a:prstGeom>
          <a:solidFill>
            <a:srgbClr val="F3F5F8"/>
          </a:solidFill>
          <a:ln/>
        </p:spPr>
      </p:sp>
      <p:sp>
        <p:nvSpPr>
          <p:cNvPr id="42" name="Shape 31"/>
          <p:cNvSpPr/>
          <p:nvPr/>
        </p:nvSpPr>
        <p:spPr>
          <a:xfrm>
            <a:off x="8183880" y="1490472"/>
            <a:ext cx="384048" cy="384048"/>
          </a:xfrm>
          <a:prstGeom prst="ellipse">
            <a:avLst/>
          </a:prstGeom>
          <a:solidFill>
            <a:srgbClr val="1B2A49"/>
          </a:solidFill>
          <a:ln/>
        </p:spPr>
      </p:sp>
      <p:sp>
        <p:nvSpPr>
          <p:cNvPr id="43" name="Text 32"/>
          <p:cNvSpPr txBox="1"/>
          <p:nvPr/>
        </p:nvSpPr>
        <p:spPr>
          <a:xfrm>
            <a:off x="8183880" y="1490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③</a:t>
            </a:r>
            <a:endParaRPr lang="en-US" sz="1100" dirty="0"/>
          </a:p>
        </p:txBody>
      </p:sp>
      <p:sp>
        <p:nvSpPr>
          <p:cNvPr id="44" name="Text 33"/>
          <p:cNvSpPr txBox="1"/>
          <p:nvPr/>
        </p:nvSpPr>
        <p:spPr>
          <a:xfrm>
            <a:off x="8641080" y="1481328"/>
            <a:ext cx="2880360" cy="402336"/>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完全に統合</a:t>
            </a:r>
            <a:endParaRPr lang="en-US" sz="1350" dirty="0"/>
          </a:p>
        </p:txBody>
      </p:sp>
      <p:sp>
        <p:nvSpPr>
          <p:cNvPr id="45" name="Shape 34"/>
          <p:cNvSpPr/>
          <p:nvPr/>
        </p:nvSpPr>
        <p:spPr>
          <a:xfrm>
            <a:off x="8321040" y="2011680"/>
            <a:ext cx="2962656" cy="566928"/>
          </a:xfrm>
          <a:prstGeom prst="roundRect">
            <a:avLst>
              <a:gd name="adj" fmla="val 9677"/>
            </a:avLst>
          </a:prstGeom>
          <a:solidFill>
            <a:srgbClr val="FFFFFF"/>
          </a:solidFill>
          <a:ln w="12700">
            <a:solidFill>
              <a:srgbClr val="D5DBE3"/>
            </a:solidFill>
            <a:prstDash val="solid"/>
          </a:ln>
        </p:spPr>
      </p:sp>
      <p:pic>
        <p:nvPicPr>
          <p:cNvPr id="46" name="Image 9" descr="preencoded.png">    </p:cNvPr>
          <p:cNvPicPr>
            <a:picLocks noChangeAspect="1"/>
          </p:cNvPicPr>
          <p:nvPr/>
        </p:nvPicPr>
        <p:blipFill>
          <a:blip r:embed="rId10"/>
          <a:stretch>
            <a:fillRect/>
          </a:stretch>
        </p:blipFill>
        <p:spPr>
          <a:xfrm>
            <a:off x="8430768" y="2130552"/>
            <a:ext cx="329184" cy="329184"/>
          </a:xfrm>
          <a:prstGeom prst="rect">
            <a:avLst/>
          </a:prstGeom>
        </p:spPr>
      </p:pic>
      <p:sp>
        <p:nvSpPr>
          <p:cNvPr id="47" name="Text 35"/>
          <p:cNvSpPr txBox="1"/>
          <p:nvPr/>
        </p:nvSpPr>
        <p:spPr>
          <a:xfrm>
            <a:off x="8823960" y="2011680"/>
            <a:ext cx="2468880" cy="566928"/>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1つの仕組み＋全世界のデータ</a:t>
            </a:r>
            <a:endParaRPr lang="en-US" sz="950" dirty="0"/>
          </a:p>
        </p:txBody>
      </p:sp>
      <p:sp>
        <p:nvSpPr>
          <p:cNvPr id="48" name="Text 36"/>
          <p:cNvSpPr txBox="1"/>
          <p:nvPr/>
        </p:nvSpPr>
        <p:spPr>
          <a:xfrm>
            <a:off x="8229600" y="2651760"/>
            <a:ext cx="3246120" cy="292608"/>
          </a:xfrm>
          <a:prstGeom prst="rect">
            <a:avLst/>
          </a:prstGeom>
          <a:noFill/>
          <a:ln/>
        </p:spPr>
        <p:txBody>
          <a:bodyPr wrap="square" lIns="508" tIns="508" rIns="508" bIns="508" rtlCol="0" anchor="ctr"/>
          <a:lstStyle/>
          <a:p>
            <a:pPr indent="0" marL="0">
              <a:buNone/>
            </a:pPr>
            <a:r>
              <a:rPr lang="en-US" sz="950" dirty="0">
                <a:solidFill>
                  <a:srgbClr val="6B7280"/>
                </a:solidFill>
                <a:latin typeface="Meiryo UI" pitchFamily="34" charset="0"/>
                <a:ea typeface="Meiryo UI" pitchFamily="34" charset="-122"/>
                <a:cs typeface="Meiryo UI" pitchFamily="34" charset="-120"/>
              </a:rPr>
              <a:t>全世界のデータを1つのシステムに集める</a:t>
            </a:r>
            <a:endParaRPr lang="en-US" sz="950" dirty="0"/>
          </a:p>
        </p:txBody>
      </p:sp>
      <p:sp>
        <p:nvSpPr>
          <p:cNvPr id="49" name="Text 37"/>
          <p:cNvSpPr txBox="1"/>
          <p:nvPr/>
        </p:nvSpPr>
        <p:spPr>
          <a:xfrm>
            <a:off x="8229600" y="2971800"/>
            <a:ext cx="3246120" cy="960120"/>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すべての国の事例を参照できる</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国ごとのポリシー・権限の差を1つで吸収する必要がある</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参照範囲が広く、ノイズも増えやすい</a:t>
            </a:r>
            <a:endParaRPr lang="en-US" sz="1000" dirty="0"/>
          </a:p>
        </p:txBody>
      </p:sp>
      <p:sp>
        <p:nvSpPr>
          <p:cNvPr id="50" name="Shape 38"/>
          <p:cNvSpPr/>
          <p:nvPr/>
        </p:nvSpPr>
        <p:spPr>
          <a:xfrm>
            <a:off x="548640" y="4114800"/>
            <a:ext cx="6675120" cy="2212848"/>
          </a:xfrm>
          <a:prstGeom prst="roundRect">
            <a:avLst>
              <a:gd name="adj" fmla="val 2479"/>
            </a:avLst>
          </a:prstGeom>
          <a:solidFill>
            <a:srgbClr val="D9F2F1"/>
          </a:solidFill>
          <a:ln/>
        </p:spPr>
      </p:sp>
      <p:sp>
        <p:nvSpPr>
          <p:cNvPr id="51" name="Text 39"/>
          <p:cNvSpPr txBox="1"/>
          <p:nvPr/>
        </p:nvSpPr>
        <p:spPr>
          <a:xfrm>
            <a:off x="731520" y="4178808"/>
            <a:ext cx="640080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他国の事例を参考にする方法：好事例の共有ライブラリ</a:t>
            </a:r>
            <a:endParaRPr lang="en-US" sz="1200" dirty="0"/>
          </a:p>
        </p:txBody>
      </p:sp>
      <p:sp>
        <p:nvSpPr>
          <p:cNvPr id="52" name="Shape 40"/>
          <p:cNvSpPr/>
          <p:nvPr/>
        </p:nvSpPr>
        <p:spPr>
          <a:xfrm>
            <a:off x="731520" y="4572000"/>
            <a:ext cx="1417320" cy="457200"/>
          </a:xfrm>
          <a:prstGeom prst="roundRect">
            <a:avLst>
              <a:gd name="adj" fmla="val 16000"/>
            </a:avLst>
          </a:prstGeom>
          <a:solidFill>
            <a:srgbClr val="FFFFFF"/>
          </a:solidFill>
          <a:ln w="12700">
            <a:solidFill>
              <a:srgbClr val="D5DBE3"/>
            </a:solidFill>
            <a:prstDash val="solid"/>
          </a:ln>
        </p:spPr>
      </p:sp>
      <p:pic>
        <p:nvPicPr>
          <p:cNvPr id="53" name="Image 10" descr="preencoded.png">    </p:cNvPr>
          <p:cNvPicPr>
            <a:picLocks noChangeAspect="1"/>
          </p:cNvPicPr>
          <p:nvPr/>
        </p:nvPicPr>
        <p:blipFill>
          <a:blip r:embed="rId11"/>
          <a:stretch>
            <a:fillRect/>
          </a:stretch>
        </p:blipFill>
        <p:spPr>
          <a:xfrm>
            <a:off x="841248" y="4681728"/>
            <a:ext cx="237744" cy="237744"/>
          </a:xfrm>
          <a:prstGeom prst="rect">
            <a:avLst/>
          </a:prstGeom>
        </p:spPr>
      </p:pic>
      <p:sp>
        <p:nvSpPr>
          <p:cNvPr id="54" name="Text 41"/>
          <p:cNvSpPr txBox="1"/>
          <p:nvPr/>
        </p:nvSpPr>
        <p:spPr>
          <a:xfrm>
            <a:off x="1170432" y="4572000"/>
            <a:ext cx="932688" cy="457200"/>
          </a:xfrm>
          <a:prstGeom prst="rect">
            <a:avLst/>
          </a:prstGeom>
          <a:noFill/>
          <a:ln/>
        </p:spPr>
        <p:txBody>
          <a:bodyPr wrap="square" lIns="0" tIns="0" rIns="0" bIns="0" rtlCol="0" anchor="ctr"/>
          <a:lstStyle/>
          <a:p>
            <a:pPr algn="l" indent="0" marL="0">
              <a:buNone/>
            </a:pPr>
            <a:r>
              <a:rPr lang="en-US" sz="900" b="1" dirty="0">
                <a:solidFill>
                  <a:srgbClr val="1B2A49"/>
                </a:solidFill>
                <a:latin typeface="Meiryo UI" pitchFamily="34" charset="0"/>
                <a:ea typeface="Meiryo UI" pitchFamily="34" charset="-122"/>
                <a:cs typeface="Meiryo UI" pitchFamily="34" charset="-120"/>
              </a:rPr>
              <a:t>国Aの配信結果</a:t>
            </a:r>
            <a:endParaRPr lang="en-US" sz="900" dirty="0"/>
          </a:p>
        </p:txBody>
      </p:sp>
      <p:sp>
        <p:nvSpPr>
          <p:cNvPr id="55" name="Shape 42"/>
          <p:cNvSpPr/>
          <p:nvPr/>
        </p:nvSpPr>
        <p:spPr>
          <a:xfrm>
            <a:off x="2194560" y="4800600"/>
            <a:ext cx="502920" cy="566928"/>
          </a:xfrm>
          <a:prstGeom prst="line">
            <a:avLst/>
          </a:prstGeom>
          <a:noFill/>
          <a:ln w="22225">
            <a:solidFill>
              <a:srgbClr val="9AA5B4"/>
            </a:solidFill>
            <a:prstDash val="solid"/>
            <a:tailEnd type="triangle"/>
          </a:ln>
        </p:spPr>
      </p:sp>
      <p:sp>
        <p:nvSpPr>
          <p:cNvPr id="56" name="Shape 43"/>
          <p:cNvSpPr/>
          <p:nvPr/>
        </p:nvSpPr>
        <p:spPr>
          <a:xfrm>
            <a:off x="731520" y="5138928"/>
            <a:ext cx="1417320" cy="457200"/>
          </a:xfrm>
          <a:prstGeom prst="roundRect">
            <a:avLst>
              <a:gd name="adj" fmla="val 16000"/>
            </a:avLst>
          </a:prstGeom>
          <a:solidFill>
            <a:srgbClr val="FFFFFF"/>
          </a:solidFill>
          <a:ln w="12700">
            <a:solidFill>
              <a:srgbClr val="D5DBE3"/>
            </a:solidFill>
            <a:prstDash val="solid"/>
          </a:ln>
        </p:spPr>
      </p:sp>
      <p:pic>
        <p:nvPicPr>
          <p:cNvPr id="57" name="Image 11" descr="preencoded.png">    </p:cNvPr>
          <p:cNvPicPr>
            <a:picLocks noChangeAspect="1"/>
          </p:cNvPicPr>
          <p:nvPr/>
        </p:nvPicPr>
        <p:blipFill>
          <a:blip r:embed="rId12"/>
          <a:stretch>
            <a:fillRect/>
          </a:stretch>
        </p:blipFill>
        <p:spPr>
          <a:xfrm>
            <a:off x="841248" y="5248656"/>
            <a:ext cx="237744" cy="237744"/>
          </a:xfrm>
          <a:prstGeom prst="rect">
            <a:avLst/>
          </a:prstGeom>
        </p:spPr>
      </p:pic>
      <p:sp>
        <p:nvSpPr>
          <p:cNvPr id="58" name="Text 44"/>
          <p:cNvSpPr txBox="1"/>
          <p:nvPr/>
        </p:nvSpPr>
        <p:spPr>
          <a:xfrm>
            <a:off x="1170432" y="5138928"/>
            <a:ext cx="932688" cy="457200"/>
          </a:xfrm>
          <a:prstGeom prst="rect">
            <a:avLst/>
          </a:prstGeom>
          <a:noFill/>
          <a:ln/>
        </p:spPr>
        <p:txBody>
          <a:bodyPr wrap="square" lIns="0" tIns="0" rIns="0" bIns="0" rtlCol="0" anchor="ctr"/>
          <a:lstStyle/>
          <a:p>
            <a:pPr algn="l" indent="0" marL="0">
              <a:buNone/>
            </a:pPr>
            <a:r>
              <a:rPr lang="en-US" sz="900" b="1" dirty="0">
                <a:solidFill>
                  <a:srgbClr val="1B2A49"/>
                </a:solidFill>
                <a:latin typeface="Meiryo UI" pitchFamily="34" charset="0"/>
                <a:ea typeface="Meiryo UI" pitchFamily="34" charset="-122"/>
                <a:cs typeface="Meiryo UI" pitchFamily="34" charset="-120"/>
              </a:rPr>
              <a:t>国Bの配信結果</a:t>
            </a:r>
            <a:endParaRPr lang="en-US" sz="900" dirty="0"/>
          </a:p>
        </p:txBody>
      </p:sp>
      <p:sp>
        <p:nvSpPr>
          <p:cNvPr id="59" name="Shape 45"/>
          <p:cNvSpPr/>
          <p:nvPr/>
        </p:nvSpPr>
        <p:spPr>
          <a:xfrm>
            <a:off x="2194560" y="5367528"/>
            <a:ext cx="502920" cy="0"/>
          </a:xfrm>
          <a:prstGeom prst="line">
            <a:avLst/>
          </a:prstGeom>
          <a:noFill/>
          <a:ln w="22225">
            <a:solidFill>
              <a:srgbClr val="9AA5B4"/>
            </a:solidFill>
            <a:prstDash val="solid"/>
            <a:tailEnd type="triangle"/>
          </a:ln>
        </p:spPr>
      </p:sp>
      <p:sp>
        <p:nvSpPr>
          <p:cNvPr id="60" name="Shape 46"/>
          <p:cNvSpPr/>
          <p:nvPr/>
        </p:nvSpPr>
        <p:spPr>
          <a:xfrm>
            <a:off x="731520" y="5705856"/>
            <a:ext cx="1417320" cy="457200"/>
          </a:xfrm>
          <a:prstGeom prst="roundRect">
            <a:avLst>
              <a:gd name="adj" fmla="val 16000"/>
            </a:avLst>
          </a:prstGeom>
          <a:solidFill>
            <a:srgbClr val="FFFFFF"/>
          </a:solidFill>
          <a:ln w="12700">
            <a:solidFill>
              <a:srgbClr val="D5DBE3"/>
            </a:solidFill>
            <a:prstDash val="solid"/>
          </a:ln>
        </p:spPr>
      </p:sp>
      <p:pic>
        <p:nvPicPr>
          <p:cNvPr id="61" name="Image 12" descr="preencoded.png">    </p:cNvPr>
          <p:cNvPicPr>
            <a:picLocks noChangeAspect="1"/>
          </p:cNvPicPr>
          <p:nvPr/>
        </p:nvPicPr>
        <p:blipFill>
          <a:blip r:embed="rId13"/>
          <a:stretch>
            <a:fillRect/>
          </a:stretch>
        </p:blipFill>
        <p:spPr>
          <a:xfrm>
            <a:off x="841248" y="5815584"/>
            <a:ext cx="237744" cy="237744"/>
          </a:xfrm>
          <a:prstGeom prst="rect">
            <a:avLst/>
          </a:prstGeom>
        </p:spPr>
      </p:pic>
      <p:sp>
        <p:nvSpPr>
          <p:cNvPr id="62" name="Text 47"/>
          <p:cNvSpPr txBox="1"/>
          <p:nvPr/>
        </p:nvSpPr>
        <p:spPr>
          <a:xfrm>
            <a:off x="1170432" y="5705856"/>
            <a:ext cx="932688" cy="457200"/>
          </a:xfrm>
          <a:prstGeom prst="rect">
            <a:avLst/>
          </a:prstGeom>
          <a:noFill/>
          <a:ln/>
        </p:spPr>
        <p:txBody>
          <a:bodyPr wrap="square" lIns="0" tIns="0" rIns="0" bIns="0" rtlCol="0" anchor="ctr"/>
          <a:lstStyle/>
          <a:p>
            <a:pPr algn="l" indent="0" marL="0">
              <a:buNone/>
            </a:pPr>
            <a:r>
              <a:rPr lang="en-US" sz="900" b="1" dirty="0">
                <a:solidFill>
                  <a:srgbClr val="1B2A49"/>
                </a:solidFill>
                <a:latin typeface="Meiryo UI" pitchFamily="34" charset="0"/>
                <a:ea typeface="Meiryo UI" pitchFamily="34" charset="-122"/>
                <a:cs typeface="Meiryo UI" pitchFamily="34" charset="-120"/>
              </a:rPr>
              <a:t>国Cの配信結果</a:t>
            </a:r>
            <a:endParaRPr lang="en-US" sz="900" dirty="0"/>
          </a:p>
        </p:txBody>
      </p:sp>
      <p:sp>
        <p:nvSpPr>
          <p:cNvPr id="63" name="Shape 48"/>
          <p:cNvSpPr/>
          <p:nvPr/>
        </p:nvSpPr>
        <p:spPr>
          <a:xfrm flipV="1">
            <a:off x="2194560" y="5367528"/>
            <a:ext cx="502920" cy="566928"/>
          </a:xfrm>
          <a:prstGeom prst="line">
            <a:avLst/>
          </a:prstGeom>
          <a:noFill/>
          <a:ln w="22225">
            <a:solidFill>
              <a:srgbClr val="9AA5B4"/>
            </a:solidFill>
            <a:prstDash val="solid"/>
            <a:tailEnd type="triangle"/>
          </a:ln>
        </p:spPr>
      </p:sp>
      <p:sp>
        <p:nvSpPr>
          <p:cNvPr id="64" name="Text 49"/>
          <p:cNvSpPr txBox="1"/>
          <p:nvPr/>
        </p:nvSpPr>
        <p:spPr>
          <a:xfrm>
            <a:off x="2103120" y="4480560"/>
            <a:ext cx="822960" cy="365760"/>
          </a:xfrm>
          <a:prstGeom prst="rect">
            <a:avLst/>
          </a:prstGeom>
          <a:noFill/>
          <a:ln/>
        </p:spPr>
        <p:txBody>
          <a:bodyPr wrap="square" lIns="0" tIns="0" rIns="0" bIns="0" rtlCol="0" anchor="t"/>
          <a:lstStyle/>
          <a:p>
            <a:pPr algn="ctr" indent="0" marL="0">
              <a:buNone/>
            </a:pPr>
            <a:r>
              <a:rPr lang="en-US" sz="750" b="1" dirty="0">
                <a:solidFill>
                  <a:srgbClr val="0E9F9A"/>
                </a:solidFill>
                <a:latin typeface="Meiryo UI" pitchFamily="34" charset="0"/>
                <a:ea typeface="Meiryo UI" pitchFamily="34" charset="-122"/>
                <a:cs typeface="Meiryo UI" pitchFamily="34" charset="-120"/>
              </a:rPr>
              <a:t>良かったものを</a:t>
            </a:r>
            <a:endParaRPr lang="en-US" sz="750" dirty="0"/>
          </a:p>
          <a:p>
            <a:pPr algn="ctr" indent="0" marL="0">
              <a:buNone/>
            </a:pPr>
            <a:r>
              <a:rPr lang="en-US" sz="750" b="1" dirty="0">
                <a:solidFill>
                  <a:srgbClr val="0E9F9A"/>
                </a:solidFill>
                <a:latin typeface="Meiryo UI" pitchFamily="34" charset="0"/>
                <a:ea typeface="Meiryo UI" pitchFamily="34" charset="-122"/>
                <a:cs typeface="Meiryo UI" pitchFamily="34" charset="-120"/>
              </a:rPr>
              <a:t>選んで登録</a:t>
            </a:r>
            <a:endParaRPr lang="en-US" sz="750" dirty="0"/>
          </a:p>
        </p:txBody>
      </p:sp>
      <p:sp>
        <p:nvSpPr>
          <p:cNvPr id="65" name="Shape 50"/>
          <p:cNvSpPr/>
          <p:nvPr/>
        </p:nvSpPr>
        <p:spPr>
          <a:xfrm>
            <a:off x="2743200" y="4892040"/>
            <a:ext cx="1737360" cy="960120"/>
          </a:xfrm>
          <a:prstGeom prst="roundRect">
            <a:avLst>
              <a:gd name="adj" fmla="val 7619"/>
            </a:avLst>
          </a:prstGeom>
          <a:solidFill>
            <a:srgbClr val="0E9F9A"/>
          </a:solidFill>
          <a:ln/>
        </p:spPr>
      </p:sp>
      <p:sp>
        <p:nvSpPr>
          <p:cNvPr id="66" name="Shape 51"/>
          <p:cNvSpPr/>
          <p:nvPr/>
        </p:nvSpPr>
        <p:spPr>
          <a:xfrm>
            <a:off x="2816352" y="5116068"/>
            <a:ext cx="512064" cy="512064"/>
          </a:xfrm>
          <a:prstGeom prst="ellipse">
            <a:avLst/>
          </a:prstGeom>
          <a:solidFill>
            <a:srgbClr val="FFFFFF"/>
          </a:solidFill>
          <a:ln/>
        </p:spPr>
      </p:sp>
      <p:pic>
        <p:nvPicPr>
          <p:cNvPr id="67" name="Image 13" descr="preencoded.png">    </p:cNvPr>
          <p:cNvPicPr>
            <a:picLocks noChangeAspect="1"/>
          </p:cNvPicPr>
          <p:nvPr/>
        </p:nvPicPr>
        <p:blipFill>
          <a:blip r:embed="rId14"/>
          <a:stretch>
            <a:fillRect/>
          </a:stretch>
        </p:blipFill>
        <p:spPr>
          <a:xfrm>
            <a:off x="2889504" y="5189220"/>
            <a:ext cx="365760" cy="365760"/>
          </a:xfrm>
          <a:prstGeom prst="rect">
            <a:avLst/>
          </a:prstGeom>
        </p:spPr>
      </p:pic>
      <p:sp>
        <p:nvSpPr>
          <p:cNvPr id="68" name="Text 52"/>
          <p:cNvSpPr txBox="1"/>
          <p:nvPr/>
        </p:nvSpPr>
        <p:spPr>
          <a:xfrm>
            <a:off x="3474720" y="4892040"/>
            <a:ext cx="960120" cy="960120"/>
          </a:xfrm>
          <a:prstGeom prst="rect">
            <a:avLst/>
          </a:prstGeom>
          <a:noFill/>
          <a:ln/>
        </p:spPr>
        <p:txBody>
          <a:bodyPr wrap="square" lIns="0" tIns="0" rIns="0" bIns="0" rtlCol="0" anchor="ctr"/>
          <a:lstStyle/>
          <a:p>
            <a:pPr algn="l" indent="0" marL="0">
              <a:buNone/>
            </a:pPr>
            <a:r>
              <a:rPr lang="en-US" sz="1000" b="1" dirty="0">
                <a:solidFill>
                  <a:srgbClr val="FFFFFF"/>
                </a:solidFill>
                <a:latin typeface="Meiryo UI" pitchFamily="34" charset="0"/>
                <a:ea typeface="Meiryo UI" pitchFamily="34" charset="-122"/>
                <a:cs typeface="Meiryo UI" pitchFamily="34" charset="-120"/>
              </a:rPr>
              <a:t>好事例ライブラリ</a:t>
            </a:r>
            <a:endParaRPr lang="en-US" sz="1000" dirty="0"/>
          </a:p>
          <a:p>
            <a:pPr algn="l" indent="0" marL="0">
              <a:buNone/>
            </a:pPr>
            <a:r>
              <a:rPr lang="en-US" sz="800" dirty="0">
                <a:solidFill>
                  <a:srgbClr val="E6F2F2"/>
                </a:solidFill>
                <a:latin typeface="Meiryo UI" pitchFamily="34" charset="0"/>
                <a:ea typeface="Meiryo UI" pitchFamily="34" charset="-122"/>
                <a:cs typeface="Meiryo UI" pitchFamily="34" charset="-120"/>
              </a:rPr>
              <a:t>テーマ・コピー・制作指示と反応</a:t>
            </a:r>
            <a:endParaRPr lang="en-US" sz="1000" dirty="0"/>
          </a:p>
        </p:txBody>
      </p:sp>
      <p:sp>
        <p:nvSpPr>
          <p:cNvPr id="69" name="Shape 53"/>
          <p:cNvSpPr/>
          <p:nvPr/>
        </p:nvSpPr>
        <p:spPr>
          <a:xfrm>
            <a:off x="4526280" y="5367528"/>
            <a:ext cx="365760" cy="0"/>
          </a:xfrm>
          <a:prstGeom prst="line">
            <a:avLst/>
          </a:prstGeom>
          <a:noFill/>
          <a:ln w="25400">
            <a:solidFill>
              <a:srgbClr val="1B2A49"/>
            </a:solidFill>
            <a:prstDash val="solid"/>
            <a:tailEnd type="triangle"/>
          </a:ln>
        </p:spPr>
      </p:sp>
      <p:sp>
        <p:nvSpPr>
          <p:cNvPr id="70" name="Shape 54"/>
          <p:cNvSpPr/>
          <p:nvPr/>
        </p:nvSpPr>
        <p:spPr>
          <a:xfrm>
            <a:off x="4937760" y="4572000"/>
            <a:ext cx="2148840" cy="731520"/>
          </a:xfrm>
          <a:prstGeom prst="roundRect">
            <a:avLst>
              <a:gd name="adj" fmla="val 10000"/>
            </a:avLst>
          </a:prstGeom>
          <a:solidFill>
            <a:srgbClr val="FFFFFF"/>
          </a:solidFill>
          <a:ln w="12700">
            <a:solidFill>
              <a:srgbClr val="D5DBE3"/>
            </a:solidFill>
            <a:prstDash val="solid"/>
          </a:ln>
        </p:spPr>
      </p:sp>
      <p:pic>
        <p:nvPicPr>
          <p:cNvPr id="71" name="Image 14" descr="preencoded.png">    </p:cNvPr>
          <p:cNvPicPr>
            <a:picLocks noChangeAspect="1"/>
          </p:cNvPicPr>
          <p:nvPr/>
        </p:nvPicPr>
        <p:blipFill>
          <a:blip r:embed="rId15"/>
          <a:stretch>
            <a:fillRect/>
          </a:stretch>
        </p:blipFill>
        <p:spPr>
          <a:xfrm>
            <a:off x="5047488" y="4754880"/>
            <a:ext cx="365760" cy="365760"/>
          </a:xfrm>
          <a:prstGeom prst="rect">
            <a:avLst/>
          </a:prstGeom>
        </p:spPr>
      </p:pic>
      <p:sp>
        <p:nvSpPr>
          <p:cNvPr id="72" name="Text 55"/>
          <p:cNvSpPr txBox="1"/>
          <p:nvPr/>
        </p:nvSpPr>
        <p:spPr>
          <a:xfrm>
            <a:off x="5504688" y="4572000"/>
            <a:ext cx="1536192" cy="73152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各国のAI</a:t>
            </a:r>
            <a:endParaRPr lang="en-US" sz="1000" dirty="0"/>
          </a:p>
          <a:p>
            <a:pPr algn="l" indent="0" marL="0">
              <a:buNone/>
            </a:pPr>
            <a:r>
              <a:rPr lang="en-US" sz="800" dirty="0">
                <a:solidFill>
                  <a:srgbClr val="6B7280"/>
                </a:solidFill>
                <a:latin typeface="Meiryo UI" pitchFamily="34" charset="0"/>
                <a:ea typeface="Meiryo UI" pitchFamily="34" charset="-122"/>
                <a:cs typeface="Meiryo UI" pitchFamily="34" charset="-120"/>
              </a:rPr>
              <a:t>自国のデータ＋ライブラリを参照</a:t>
            </a:r>
            <a:endParaRPr lang="en-US" sz="1000" dirty="0"/>
          </a:p>
        </p:txBody>
      </p:sp>
      <p:sp>
        <p:nvSpPr>
          <p:cNvPr id="73" name="Shape 56"/>
          <p:cNvSpPr/>
          <p:nvPr/>
        </p:nvSpPr>
        <p:spPr>
          <a:xfrm>
            <a:off x="4937760" y="5440680"/>
            <a:ext cx="2148840" cy="731520"/>
          </a:xfrm>
          <a:prstGeom prst="roundRect">
            <a:avLst>
              <a:gd name="adj" fmla="val 10000"/>
            </a:avLst>
          </a:prstGeom>
          <a:solidFill>
            <a:srgbClr val="FFFFFF"/>
          </a:solidFill>
          <a:ln w="12700">
            <a:solidFill>
              <a:srgbClr val="D5DBE3"/>
            </a:solidFill>
            <a:prstDash val="solid"/>
          </a:ln>
        </p:spPr>
      </p:sp>
      <p:pic>
        <p:nvPicPr>
          <p:cNvPr id="74" name="Image 15" descr="preencoded.png">    </p:cNvPr>
          <p:cNvPicPr>
            <a:picLocks noChangeAspect="1"/>
          </p:cNvPicPr>
          <p:nvPr/>
        </p:nvPicPr>
        <p:blipFill>
          <a:blip r:embed="rId16"/>
          <a:stretch>
            <a:fillRect/>
          </a:stretch>
        </p:blipFill>
        <p:spPr>
          <a:xfrm>
            <a:off x="5047488" y="5623560"/>
            <a:ext cx="365760" cy="365760"/>
          </a:xfrm>
          <a:prstGeom prst="rect">
            <a:avLst/>
          </a:prstGeom>
        </p:spPr>
      </p:pic>
      <p:sp>
        <p:nvSpPr>
          <p:cNvPr id="75" name="Text 57"/>
          <p:cNvSpPr txBox="1"/>
          <p:nvPr/>
        </p:nvSpPr>
        <p:spPr>
          <a:xfrm>
            <a:off x="5504688" y="5440680"/>
            <a:ext cx="1536192" cy="73152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言語</a:t>
            </a:r>
            <a:endParaRPr lang="en-US" sz="1000" dirty="0"/>
          </a:p>
          <a:p>
            <a:pPr algn="l" indent="0" marL="0">
              <a:buNone/>
            </a:pPr>
            <a:r>
              <a:rPr lang="en-US" sz="800" dirty="0">
                <a:solidFill>
                  <a:srgbClr val="6B7280"/>
                </a:solidFill>
                <a:latin typeface="Meiryo UI" pitchFamily="34" charset="0"/>
                <a:ea typeface="Meiryo UI" pitchFamily="34" charset="-122"/>
                <a:cs typeface="Meiryo UI" pitchFamily="34" charset="-120"/>
              </a:rPr>
              <a:t>必要に応じてAIが翻訳して参照</a:t>
            </a:r>
            <a:endParaRPr lang="en-US" sz="1000" dirty="0"/>
          </a:p>
        </p:txBody>
      </p:sp>
      <p:sp>
        <p:nvSpPr>
          <p:cNvPr id="76" name="Shape 58"/>
          <p:cNvSpPr/>
          <p:nvPr/>
        </p:nvSpPr>
        <p:spPr>
          <a:xfrm>
            <a:off x="7406640" y="4114800"/>
            <a:ext cx="4206240" cy="2212848"/>
          </a:xfrm>
          <a:prstGeom prst="roundRect">
            <a:avLst>
              <a:gd name="adj" fmla="val 2479"/>
            </a:avLst>
          </a:prstGeom>
          <a:solidFill>
            <a:srgbClr val="F3F5F8"/>
          </a:solidFill>
          <a:ln/>
        </p:spPr>
      </p:sp>
      <p:sp>
        <p:nvSpPr>
          <p:cNvPr id="77" name="Text 59"/>
          <p:cNvSpPr txBox="1"/>
          <p:nvPr/>
        </p:nvSpPr>
        <p:spPr>
          <a:xfrm>
            <a:off x="7589520" y="4178808"/>
            <a:ext cx="384048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各基盤での実現方法</a:t>
            </a:r>
            <a:endParaRPr lang="en-US" sz="1200" dirty="0"/>
          </a:p>
        </p:txBody>
      </p:sp>
      <p:pic>
        <p:nvPicPr>
          <p:cNvPr id="78" name="Image 16" descr="preencoded.png">    </p:cNvPr>
          <p:cNvPicPr>
            <a:picLocks noChangeAspect="1"/>
          </p:cNvPicPr>
          <p:nvPr/>
        </p:nvPicPr>
        <p:blipFill>
          <a:blip r:embed="rId17"/>
          <a:stretch>
            <a:fillRect/>
          </a:stretch>
        </p:blipFill>
        <p:spPr>
          <a:xfrm>
            <a:off x="7589520" y="4590288"/>
            <a:ext cx="256032" cy="256032"/>
          </a:xfrm>
          <a:prstGeom prst="rect">
            <a:avLst/>
          </a:prstGeom>
        </p:spPr>
      </p:pic>
      <p:sp>
        <p:nvSpPr>
          <p:cNvPr id="79" name="Text 60"/>
          <p:cNvSpPr txBox="1"/>
          <p:nvPr/>
        </p:nvSpPr>
        <p:spPr>
          <a:xfrm>
            <a:off x="7936992" y="4553712"/>
            <a:ext cx="361188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M365：国別サイト＋共通の好事例サイト（参照は権限の範囲）</a:t>
            </a:r>
            <a:endParaRPr lang="en-US" sz="900" dirty="0"/>
          </a:p>
        </p:txBody>
      </p:sp>
      <p:pic>
        <p:nvPicPr>
          <p:cNvPr id="80" name="Image 17" descr="preencoded.png">    </p:cNvPr>
          <p:cNvPicPr>
            <a:picLocks noChangeAspect="1"/>
          </p:cNvPicPr>
          <p:nvPr/>
        </p:nvPicPr>
        <p:blipFill>
          <a:blip r:embed="rId18"/>
          <a:stretch>
            <a:fillRect/>
          </a:stretch>
        </p:blipFill>
        <p:spPr>
          <a:xfrm>
            <a:off x="7589520" y="5010912"/>
            <a:ext cx="256032" cy="256032"/>
          </a:xfrm>
          <a:prstGeom prst="rect">
            <a:avLst/>
          </a:prstGeom>
        </p:spPr>
      </p:pic>
      <p:sp>
        <p:nvSpPr>
          <p:cNvPr id="81" name="Text 61"/>
          <p:cNvSpPr txBox="1"/>
          <p:nvPr/>
        </p:nvSpPr>
        <p:spPr>
          <a:xfrm>
            <a:off x="7936992" y="4974336"/>
            <a:ext cx="361188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Airtable：国別ベース＋好事例を集めた共通ベース</a:t>
            </a:r>
            <a:endParaRPr lang="en-US" sz="900" dirty="0"/>
          </a:p>
        </p:txBody>
      </p:sp>
      <p:pic>
        <p:nvPicPr>
          <p:cNvPr id="82" name="Image 18" descr="preencoded.png">    </p:cNvPr>
          <p:cNvPicPr>
            <a:picLocks noChangeAspect="1"/>
          </p:cNvPicPr>
          <p:nvPr/>
        </p:nvPicPr>
        <p:blipFill>
          <a:blip r:embed="rId19"/>
          <a:stretch>
            <a:fillRect/>
          </a:stretch>
        </p:blipFill>
        <p:spPr>
          <a:xfrm>
            <a:off x="7589520" y="5431536"/>
            <a:ext cx="256032" cy="256032"/>
          </a:xfrm>
          <a:prstGeom prst="rect">
            <a:avLst/>
          </a:prstGeom>
        </p:spPr>
      </p:pic>
      <p:sp>
        <p:nvSpPr>
          <p:cNvPr id="83" name="Text 62"/>
          <p:cNvSpPr txBox="1"/>
          <p:nvPr/>
        </p:nvSpPr>
        <p:spPr>
          <a:xfrm>
            <a:off x="7936992" y="5394960"/>
            <a:ext cx="361188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GCP：国別データセット＋共通データセット</a:t>
            </a:r>
            <a:endParaRPr lang="en-US" sz="900" dirty="0"/>
          </a:p>
        </p:txBody>
      </p:sp>
      <p:pic>
        <p:nvPicPr>
          <p:cNvPr id="84" name="Image 19" descr="preencoded.png">    </p:cNvPr>
          <p:cNvPicPr>
            <a:picLocks noChangeAspect="1"/>
          </p:cNvPicPr>
          <p:nvPr/>
        </p:nvPicPr>
        <p:blipFill>
          <a:blip r:embed="rId20"/>
          <a:stretch>
            <a:fillRect/>
          </a:stretch>
        </p:blipFill>
        <p:spPr>
          <a:xfrm>
            <a:off x="7589520" y="5852160"/>
            <a:ext cx="256032" cy="256032"/>
          </a:xfrm>
          <a:prstGeom prst="rect">
            <a:avLst/>
          </a:prstGeom>
        </p:spPr>
      </p:pic>
      <p:sp>
        <p:nvSpPr>
          <p:cNvPr id="85" name="Text 63"/>
          <p:cNvSpPr txBox="1"/>
          <p:nvPr/>
        </p:nvSpPr>
        <p:spPr>
          <a:xfrm>
            <a:off x="7936992" y="5815584"/>
            <a:ext cx="361188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仕組み：プロンプト・フロー・ガイドラインの型をテンプレートとして配布</a:t>
            </a:r>
            <a:endParaRPr lang="en-US" sz="900" dirty="0"/>
          </a:p>
        </p:txBody>
      </p:sp>
      <p:sp>
        <p:nvSpPr>
          <p:cNvPr id="86" name="Text 64"/>
          <p:cNvSpPr txBox="1"/>
          <p:nvPr/>
        </p:nvSpPr>
        <p:spPr>
          <a:xfrm>
            <a:off x="548640" y="6355080"/>
            <a:ext cx="11064240" cy="228600"/>
          </a:xfrm>
          <a:prstGeom prst="rect">
            <a:avLst/>
          </a:prstGeom>
          <a:noFill/>
          <a:ln/>
        </p:spPr>
        <p:txBody>
          <a:bodyPr wrap="square" lIns="0" tIns="0" rIns="0" bIns="0" rtlCol="0" anchor="t"/>
          <a:lstStyle/>
          <a:p>
            <a:pPr indent="0" marL="0">
              <a:buNone/>
            </a:pPr>
            <a:r>
              <a:rPr lang="en-US" sz="850" dirty="0">
                <a:solidFill>
                  <a:srgbClr val="6B7280"/>
                </a:solidFill>
                <a:latin typeface="Meiryo UI" pitchFamily="34" charset="0"/>
                <a:ea typeface="Meiryo UI" pitchFamily="34" charset="-122"/>
                <a:cs typeface="Meiryo UI" pitchFamily="34" charset="-120"/>
              </a:rPr>
              <a:t>前提：配信データに個人情報は含まれないため、国をまたいだ共有の制約は小さい</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構成パターンの全体像（13案）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軸1（集約先）× 軸3（自動化の範囲）で整理。軸2（管理基盤）は各パターンに付記。軸4（展開の単位）はどのパターンとも組み合わせられる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10</a:t>
            </a:r>
            <a:endParaRPr lang="en-US" sz="900" dirty="0"/>
          </a:p>
        </p:txBody>
      </p:sp>
      <p:sp>
        <p:nvSpPr>
          <p:cNvPr id="6" name="Shape 4"/>
          <p:cNvSpPr/>
          <p:nvPr/>
        </p:nvSpPr>
        <p:spPr>
          <a:xfrm>
            <a:off x="2286000" y="1371600"/>
            <a:ext cx="2240280" cy="502920"/>
          </a:xfrm>
          <a:prstGeom prst="roundRect">
            <a:avLst>
              <a:gd name="adj" fmla="val 14545"/>
            </a:avLst>
          </a:prstGeom>
          <a:solidFill>
            <a:srgbClr val="1B2A49"/>
          </a:solidFill>
          <a:ln/>
        </p:spPr>
      </p:sp>
      <p:sp>
        <p:nvSpPr>
          <p:cNvPr id="7" name="Text 5"/>
          <p:cNvSpPr txBox="1"/>
          <p:nvPr/>
        </p:nvSpPr>
        <p:spPr>
          <a:xfrm>
            <a:off x="2286000" y="1371600"/>
            <a:ext cx="2240280" cy="502920"/>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Step1〜2</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手動アシスト・簡易エージェント</a:t>
            </a:r>
            <a:endParaRPr lang="en-US" sz="1000" dirty="0"/>
          </a:p>
        </p:txBody>
      </p:sp>
      <p:sp>
        <p:nvSpPr>
          <p:cNvPr id="8" name="Shape 6"/>
          <p:cNvSpPr/>
          <p:nvPr/>
        </p:nvSpPr>
        <p:spPr>
          <a:xfrm>
            <a:off x="4617720" y="1371600"/>
            <a:ext cx="2240280" cy="502920"/>
          </a:xfrm>
          <a:prstGeom prst="roundRect">
            <a:avLst>
              <a:gd name="adj" fmla="val 14545"/>
            </a:avLst>
          </a:prstGeom>
          <a:solidFill>
            <a:srgbClr val="1B2A49"/>
          </a:solidFill>
          <a:ln/>
        </p:spPr>
      </p:sp>
      <p:sp>
        <p:nvSpPr>
          <p:cNvPr id="9" name="Text 7"/>
          <p:cNvSpPr txBox="1"/>
          <p:nvPr/>
        </p:nvSpPr>
        <p:spPr>
          <a:xfrm>
            <a:off x="4617720" y="1371600"/>
            <a:ext cx="2240280" cy="502920"/>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Step2</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対話型エージェント</a:t>
            </a:r>
            <a:endParaRPr lang="en-US" sz="1000" dirty="0"/>
          </a:p>
        </p:txBody>
      </p:sp>
      <p:sp>
        <p:nvSpPr>
          <p:cNvPr id="10" name="Shape 8"/>
          <p:cNvSpPr/>
          <p:nvPr/>
        </p:nvSpPr>
        <p:spPr>
          <a:xfrm>
            <a:off x="6949440" y="1371600"/>
            <a:ext cx="2240280" cy="502920"/>
          </a:xfrm>
          <a:prstGeom prst="roundRect">
            <a:avLst>
              <a:gd name="adj" fmla="val 14545"/>
            </a:avLst>
          </a:prstGeom>
          <a:solidFill>
            <a:srgbClr val="1B2A49"/>
          </a:solidFill>
          <a:ln/>
        </p:spPr>
      </p:sp>
      <p:sp>
        <p:nvSpPr>
          <p:cNvPr id="11" name="Text 9"/>
          <p:cNvSpPr txBox="1"/>
          <p:nvPr/>
        </p:nvSpPr>
        <p:spPr>
          <a:xfrm>
            <a:off x="6949440" y="1371600"/>
            <a:ext cx="2240280" cy="502920"/>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Step3 自動起案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（Airtable継続）</a:t>
            </a:r>
            <a:endParaRPr lang="en-US" sz="1000" dirty="0"/>
          </a:p>
        </p:txBody>
      </p:sp>
      <p:sp>
        <p:nvSpPr>
          <p:cNvPr id="12" name="Shape 10"/>
          <p:cNvSpPr/>
          <p:nvPr/>
        </p:nvSpPr>
        <p:spPr>
          <a:xfrm>
            <a:off x="9281160" y="1371600"/>
            <a:ext cx="2240280" cy="502920"/>
          </a:xfrm>
          <a:prstGeom prst="roundRect">
            <a:avLst>
              <a:gd name="adj" fmla="val 14545"/>
            </a:avLst>
          </a:prstGeom>
          <a:solidFill>
            <a:srgbClr val="1B2A49"/>
          </a:solidFill>
          <a:ln/>
        </p:spPr>
      </p:sp>
      <p:sp>
        <p:nvSpPr>
          <p:cNvPr id="13" name="Text 11"/>
          <p:cNvSpPr txBox="1"/>
          <p:nvPr/>
        </p:nvSpPr>
        <p:spPr>
          <a:xfrm>
            <a:off x="9281160" y="1371600"/>
            <a:ext cx="2240280" cy="502920"/>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Step3 自動起案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（管理基盤を移行）</a:t>
            </a:r>
            <a:endParaRPr lang="en-US" sz="1000" dirty="0"/>
          </a:p>
        </p:txBody>
      </p:sp>
      <p:sp>
        <p:nvSpPr>
          <p:cNvPr id="14" name="Shape 12"/>
          <p:cNvSpPr/>
          <p:nvPr/>
        </p:nvSpPr>
        <p:spPr>
          <a:xfrm>
            <a:off x="548640" y="1965960"/>
            <a:ext cx="1645920" cy="1371600"/>
          </a:xfrm>
          <a:prstGeom prst="roundRect">
            <a:avLst>
              <a:gd name="adj" fmla="val 4000"/>
            </a:avLst>
          </a:prstGeom>
          <a:solidFill>
            <a:srgbClr val="E5F0FA"/>
          </a:solidFill>
          <a:ln/>
        </p:spPr>
      </p:sp>
      <p:sp>
        <p:nvSpPr>
          <p:cNvPr id="15" name="Shape 13"/>
          <p:cNvSpPr/>
          <p:nvPr/>
        </p:nvSpPr>
        <p:spPr>
          <a:xfrm>
            <a:off x="1143000" y="2039112"/>
            <a:ext cx="457200" cy="457200"/>
          </a:xfrm>
          <a:prstGeom prst="ellipse">
            <a:avLst/>
          </a:prstGeom>
          <a:solidFill>
            <a:srgbClr val="FFFFFF"/>
          </a:solidFill>
          <a:ln/>
        </p:spPr>
      </p:sp>
      <p:pic>
        <p:nvPicPr>
          <p:cNvPr id="16" name="Image 0" descr="preencoded.png">    </p:cNvPr>
          <p:cNvPicPr>
            <a:picLocks noChangeAspect="1"/>
          </p:cNvPicPr>
          <p:nvPr/>
        </p:nvPicPr>
        <p:blipFill>
          <a:blip r:embed="rId1"/>
          <a:stretch>
            <a:fillRect/>
          </a:stretch>
        </p:blipFill>
        <p:spPr>
          <a:xfrm>
            <a:off x="1234440" y="2130552"/>
            <a:ext cx="274320" cy="274320"/>
          </a:xfrm>
          <a:prstGeom prst="rect">
            <a:avLst/>
          </a:prstGeom>
        </p:spPr>
      </p:pic>
      <p:sp>
        <p:nvSpPr>
          <p:cNvPr id="17" name="Text 14"/>
          <p:cNvSpPr txBox="1"/>
          <p:nvPr/>
        </p:nvSpPr>
        <p:spPr>
          <a:xfrm>
            <a:off x="548640" y="2990088"/>
            <a:ext cx="1645920" cy="310896"/>
          </a:xfrm>
          <a:prstGeom prst="rect">
            <a:avLst/>
          </a:prstGeom>
          <a:noFill/>
          <a:ln/>
        </p:spPr>
        <p:txBody>
          <a:bodyPr wrap="square" lIns="508" tIns="508" rIns="508" bIns="508" rtlCol="0" anchor="ctr"/>
          <a:lstStyle/>
          <a:p>
            <a:pPr algn="ctr" indent="0" marL="0">
              <a:buNone/>
            </a:pPr>
            <a:r>
              <a:rPr lang="en-US" sz="1050" b="1" dirty="0">
                <a:solidFill>
                  <a:srgbClr val="0F6CBD"/>
                </a:solidFill>
                <a:latin typeface="Meiryo UI" pitchFamily="34" charset="0"/>
                <a:ea typeface="Meiryo UI" pitchFamily="34" charset="-122"/>
                <a:cs typeface="Meiryo UI" pitchFamily="34" charset="-120"/>
              </a:rPr>
              <a:t>M365に寄せる</a:t>
            </a:r>
            <a:endParaRPr lang="en-US" sz="1050" dirty="0"/>
          </a:p>
        </p:txBody>
      </p:sp>
      <p:sp>
        <p:nvSpPr>
          <p:cNvPr id="18" name="Shape 15"/>
          <p:cNvSpPr/>
          <p:nvPr/>
        </p:nvSpPr>
        <p:spPr>
          <a:xfrm>
            <a:off x="548640" y="3429000"/>
            <a:ext cx="1645920" cy="868680"/>
          </a:xfrm>
          <a:prstGeom prst="roundRect">
            <a:avLst>
              <a:gd name="adj" fmla="val 6316"/>
            </a:avLst>
          </a:prstGeom>
          <a:solidFill>
            <a:srgbClr val="EEEAF8"/>
          </a:solidFill>
          <a:ln/>
        </p:spPr>
      </p:sp>
      <p:sp>
        <p:nvSpPr>
          <p:cNvPr id="19" name="Shape 16"/>
          <p:cNvSpPr/>
          <p:nvPr/>
        </p:nvSpPr>
        <p:spPr>
          <a:xfrm>
            <a:off x="1143000" y="3502152"/>
            <a:ext cx="457200" cy="457200"/>
          </a:xfrm>
          <a:prstGeom prst="ellipse">
            <a:avLst/>
          </a:prstGeom>
          <a:solidFill>
            <a:srgbClr val="FFFFFF"/>
          </a:solidFill>
          <a:ln/>
        </p:spPr>
      </p:sp>
      <p:pic>
        <p:nvPicPr>
          <p:cNvPr id="20" name="Image 1" descr="preencoded.png">    </p:cNvPr>
          <p:cNvPicPr>
            <a:picLocks noChangeAspect="1"/>
          </p:cNvPicPr>
          <p:nvPr/>
        </p:nvPicPr>
        <p:blipFill>
          <a:blip r:embed="rId2"/>
          <a:stretch>
            <a:fillRect/>
          </a:stretch>
        </p:blipFill>
        <p:spPr>
          <a:xfrm>
            <a:off x="1234440" y="3593592"/>
            <a:ext cx="274320" cy="274320"/>
          </a:xfrm>
          <a:prstGeom prst="rect">
            <a:avLst/>
          </a:prstGeom>
        </p:spPr>
      </p:pic>
      <p:sp>
        <p:nvSpPr>
          <p:cNvPr id="21" name="Text 17"/>
          <p:cNvSpPr txBox="1"/>
          <p:nvPr/>
        </p:nvSpPr>
        <p:spPr>
          <a:xfrm>
            <a:off x="548640" y="3950208"/>
            <a:ext cx="1645920" cy="310896"/>
          </a:xfrm>
          <a:prstGeom prst="rect">
            <a:avLst/>
          </a:prstGeom>
          <a:noFill/>
          <a:ln/>
        </p:spPr>
        <p:txBody>
          <a:bodyPr wrap="square" lIns="508" tIns="508" rIns="508" bIns="508" rtlCol="0" anchor="ctr"/>
          <a:lstStyle/>
          <a:p>
            <a:pPr algn="ctr" indent="0" marL="0">
              <a:buNone/>
            </a:pPr>
            <a:r>
              <a:rPr lang="en-US" sz="1050" b="1" dirty="0">
                <a:solidFill>
                  <a:srgbClr val="6B4FBB"/>
                </a:solidFill>
                <a:latin typeface="Meiryo UI" pitchFamily="34" charset="0"/>
                <a:ea typeface="Meiryo UI" pitchFamily="34" charset="-122"/>
                <a:cs typeface="Meiryo UI" pitchFamily="34" charset="-120"/>
              </a:rPr>
              <a:t>ハイブリッド</a:t>
            </a:r>
            <a:endParaRPr lang="en-US" sz="1050" dirty="0"/>
          </a:p>
        </p:txBody>
      </p:sp>
      <p:sp>
        <p:nvSpPr>
          <p:cNvPr id="22" name="Shape 18"/>
          <p:cNvSpPr/>
          <p:nvPr/>
        </p:nvSpPr>
        <p:spPr>
          <a:xfrm>
            <a:off x="548640" y="4389120"/>
            <a:ext cx="1645920" cy="868680"/>
          </a:xfrm>
          <a:prstGeom prst="roundRect">
            <a:avLst>
              <a:gd name="adj" fmla="val 6316"/>
            </a:avLst>
          </a:prstGeom>
          <a:solidFill>
            <a:srgbClr val="E8F0FE"/>
          </a:solidFill>
          <a:ln/>
        </p:spPr>
      </p:sp>
      <p:sp>
        <p:nvSpPr>
          <p:cNvPr id="23" name="Shape 19"/>
          <p:cNvSpPr/>
          <p:nvPr/>
        </p:nvSpPr>
        <p:spPr>
          <a:xfrm>
            <a:off x="1143000" y="4462272"/>
            <a:ext cx="457200" cy="457200"/>
          </a:xfrm>
          <a:prstGeom prst="ellipse">
            <a:avLst/>
          </a:prstGeom>
          <a:solidFill>
            <a:srgbClr val="FFFFFF"/>
          </a:solidFill>
          <a:ln/>
        </p:spPr>
      </p:sp>
      <p:pic>
        <p:nvPicPr>
          <p:cNvPr id="24" name="Image 2" descr="preencoded.png">    </p:cNvPr>
          <p:cNvPicPr>
            <a:picLocks noChangeAspect="1"/>
          </p:cNvPicPr>
          <p:nvPr/>
        </p:nvPicPr>
        <p:blipFill>
          <a:blip r:embed="rId3"/>
          <a:stretch>
            <a:fillRect/>
          </a:stretch>
        </p:blipFill>
        <p:spPr>
          <a:xfrm>
            <a:off x="1234440" y="4553712"/>
            <a:ext cx="274320" cy="274320"/>
          </a:xfrm>
          <a:prstGeom prst="rect">
            <a:avLst/>
          </a:prstGeom>
        </p:spPr>
      </p:pic>
      <p:sp>
        <p:nvSpPr>
          <p:cNvPr id="25" name="Text 20"/>
          <p:cNvSpPr txBox="1"/>
          <p:nvPr/>
        </p:nvSpPr>
        <p:spPr>
          <a:xfrm>
            <a:off x="548640" y="4910328"/>
            <a:ext cx="1645920" cy="310896"/>
          </a:xfrm>
          <a:prstGeom prst="rect">
            <a:avLst/>
          </a:prstGeom>
          <a:noFill/>
          <a:ln/>
        </p:spPr>
        <p:txBody>
          <a:bodyPr wrap="square" lIns="508" tIns="508" rIns="508" bIns="508" rtlCol="0" anchor="ctr"/>
          <a:lstStyle/>
          <a:p>
            <a:pPr algn="ctr" indent="0" marL="0">
              <a:buNone/>
            </a:pPr>
            <a:r>
              <a:rPr lang="en-US" sz="1050" b="1" dirty="0">
                <a:solidFill>
                  <a:srgbClr val="4285F4"/>
                </a:solidFill>
                <a:latin typeface="Meiryo UI" pitchFamily="34" charset="0"/>
                <a:ea typeface="Meiryo UI" pitchFamily="34" charset="-122"/>
                <a:cs typeface="Meiryo UI" pitchFamily="34" charset="-120"/>
              </a:rPr>
              <a:t>GCPに寄せる</a:t>
            </a:r>
            <a:endParaRPr lang="en-US" sz="1050" dirty="0"/>
          </a:p>
        </p:txBody>
      </p:sp>
      <p:sp>
        <p:nvSpPr>
          <p:cNvPr id="26" name="Shape 21"/>
          <p:cNvSpPr/>
          <p:nvPr/>
        </p:nvSpPr>
        <p:spPr>
          <a:xfrm>
            <a:off x="548640" y="5349240"/>
            <a:ext cx="1645920" cy="868680"/>
          </a:xfrm>
          <a:prstGeom prst="roundRect">
            <a:avLst>
              <a:gd name="adj" fmla="val 6316"/>
            </a:avLst>
          </a:prstGeom>
          <a:solidFill>
            <a:srgbClr val="FFF4E0"/>
          </a:solidFill>
          <a:ln/>
        </p:spPr>
      </p:sp>
      <p:sp>
        <p:nvSpPr>
          <p:cNvPr id="27" name="Shape 22"/>
          <p:cNvSpPr/>
          <p:nvPr/>
        </p:nvSpPr>
        <p:spPr>
          <a:xfrm>
            <a:off x="1143000" y="5422392"/>
            <a:ext cx="457200" cy="457200"/>
          </a:xfrm>
          <a:prstGeom prst="ellipse">
            <a:avLst/>
          </a:prstGeom>
          <a:solidFill>
            <a:srgbClr val="FFFFFF"/>
          </a:solidFill>
          <a:ln/>
        </p:spPr>
      </p:sp>
      <p:pic>
        <p:nvPicPr>
          <p:cNvPr id="28" name="Image 3" descr="preencoded.png">    </p:cNvPr>
          <p:cNvPicPr>
            <a:picLocks noChangeAspect="1"/>
          </p:cNvPicPr>
          <p:nvPr/>
        </p:nvPicPr>
        <p:blipFill>
          <a:blip r:embed="rId4"/>
          <a:stretch>
            <a:fillRect/>
          </a:stretch>
        </p:blipFill>
        <p:spPr>
          <a:xfrm>
            <a:off x="1234440" y="5513832"/>
            <a:ext cx="274320" cy="274320"/>
          </a:xfrm>
          <a:prstGeom prst="rect">
            <a:avLst/>
          </a:prstGeom>
        </p:spPr>
      </p:pic>
      <p:sp>
        <p:nvSpPr>
          <p:cNvPr id="29" name="Text 23"/>
          <p:cNvSpPr txBox="1"/>
          <p:nvPr/>
        </p:nvSpPr>
        <p:spPr>
          <a:xfrm>
            <a:off x="548640" y="5870448"/>
            <a:ext cx="1645920" cy="310896"/>
          </a:xfrm>
          <a:prstGeom prst="rect">
            <a:avLst/>
          </a:prstGeom>
          <a:noFill/>
          <a:ln/>
        </p:spPr>
        <p:txBody>
          <a:bodyPr wrap="square" lIns="508" tIns="508" rIns="508" bIns="508" rtlCol="0" anchor="ctr"/>
          <a:lstStyle/>
          <a:p>
            <a:pPr algn="ctr" indent="0" marL="0">
              <a:buNone/>
            </a:pPr>
            <a:r>
              <a:rPr lang="en-US" sz="1050" b="1" dirty="0">
                <a:solidFill>
                  <a:srgbClr val="C77700"/>
                </a:solidFill>
                <a:latin typeface="Meiryo UI" pitchFamily="34" charset="0"/>
                <a:ea typeface="Meiryo UI" pitchFamily="34" charset="-122"/>
                <a:cs typeface="Meiryo UI" pitchFamily="34" charset="-120"/>
              </a:rPr>
              <a:t>Airtable内で完結</a:t>
            </a:r>
            <a:endParaRPr lang="en-US" sz="1050" dirty="0"/>
          </a:p>
        </p:txBody>
      </p:sp>
      <p:sp>
        <p:nvSpPr>
          <p:cNvPr id="30" name="Shape 24"/>
          <p:cNvSpPr/>
          <p:nvPr/>
        </p:nvSpPr>
        <p:spPr>
          <a:xfrm>
            <a:off x="2286000" y="1965960"/>
            <a:ext cx="2240280" cy="658368"/>
          </a:xfrm>
          <a:prstGeom prst="roundRect">
            <a:avLst>
              <a:gd name="adj" fmla="val 8333"/>
            </a:avLst>
          </a:prstGeom>
          <a:solidFill>
            <a:srgbClr val="FFFFFF"/>
          </a:solidFill>
          <a:ln w="15875">
            <a:solidFill>
              <a:srgbClr val="0F6CBD"/>
            </a:solidFill>
            <a:prstDash val="solid"/>
          </a:ln>
        </p:spPr>
      </p:sp>
      <p:sp>
        <p:nvSpPr>
          <p:cNvPr id="31" name="Shape 25"/>
          <p:cNvSpPr/>
          <p:nvPr/>
        </p:nvSpPr>
        <p:spPr>
          <a:xfrm>
            <a:off x="2359152" y="2039112"/>
            <a:ext cx="384048" cy="384048"/>
          </a:xfrm>
          <a:prstGeom prst="ellipse">
            <a:avLst/>
          </a:prstGeom>
          <a:solidFill>
            <a:srgbClr val="0F6CBD"/>
          </a:solidFill>
          <a:ln/>
        </p:spPr>
      </p:sp>
      <p:sp>
        <p:nvSpPr>
          <p:cNvPr id="32" name="Text 26"/>
          <p:cNvSpPr txBox="1"/>
          <p:nvPr/>
        </p:nvSpPr>
        <p:spPr>
          <a:xfrm>
            <a:off x="2359152" y="203911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A1</a:t>
            </a:r>
            <a:endParaRPr lang="en-US" sz="1100" dirty="0"/>
          </a:p>
        </p:txBody>
      </p:sp>
      <p:sp>
        <p:nvSpPr>
          <p:cNvPr id="33" name="Text 27"/>
          <p:cNvSpPr txBox="1"/>
          <p:nvPr/>
        </p:nvSpPr>
        <p:spPr>
          <a:xfrm>
            <a:off x="2798064" y="200253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Copilot手動アシスト</a:t>
            </a:r>
            <a:endParaRPr lang="en-US" sz="1050" dirty="0"/>
          </a:p>
        </p:txBody>
      </p:sp>
      <p:sp>
        <p:nvSpPr>
          <p:cNvPr id="34" name="Text 28"/>
          <p:cNvSpPr txBox="1"/>
          <p:nvPr/>
        </p:nvSpPr>
        <p:spPr>
          <a:xfrm>
            <a:off x="2377440" y="2313432"/>
            <a:ext cx="205740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35" name="Shape 29"/>
          <p:cNvSpPr/>
          <p:nvPr/>
        </p:nvSpPr>
        <p:spPr>
          <a:xfrm>
            <a:off x="2286000" y="2679192"/>
            <a:ext cx="2240280" cy="658368"/>
          </a:xfrm>
          <a:prstGeom prst="roundRect">
            <a:avLst>
              <a:gd name="adj" fmla="val 8333"/>
            </a:avLst>
          </a:prstGeom>
          <a:solidFill>
            <a:srgbClr val="FFFFFF"/>
          </a:solidFill>
          <a:ln w="15875">
            <a:solidFill>
              <a:srgbClr val="0F6CBD"/>
            </a:solidFill>
            <a:prstDash val="solid"/>
          </a:ln>
        </p:spPr>
      </p:sp>
      <p:sp>
        <p:nvSpPr>
          <p:cNvPr id="36" name="Shape 30"/>
          <p:cNvSpPr/>
          <p:nvPr/>
        </p:nvSpPr>
        <p:spPr>
          <a:xfrm>
            <a:off x="2359152" y="2752344"/>
            <a:ext cx="384048" cy="384048"/>
          </a:xfrm>
          <a:prstGeom prst="ellipse">
            <a:avLst/>
          </a:prstGeom>
          <a:solidFill>
            <a:srgbClr val="0F6CBD"/>
          </a:solidFill>
          <a:ln/>
        </p:spPr>
      </p:sp>
      <p:sp>
        <p:nvSpPr>
          <p:cNvPr id="37" name="Text 31"/>
          <p:cNvSpPr txBox="1"/>
          <p:nvPr/>
        </p:nvSpPr>
        <p:spPr>
          <a:xfrm>
            <a:off x="2359152" y="275234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A2</a:t>
            </a:r>
            <a:endParaRPr lang="en-US" sz="1100" dirty="0"/>
          </a:p>
        </p:txBody>
      </p:sp>
      <p:sp>
        <p:nvSpPr>
          <p:cNvPr id="38" name="Text 32"/>
          <p:cNvSpPr txBox="1"/>
          <p:nvPr/>
        </p:nvSpPr>
        <p:spPr>
          <a:xfrm>
            <a:off x="2798064" y="2715768"/>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Agent Builder</a:t>
            </a:r>
            <a:endParaRPr lang="en-US" sz="1050" dirty="0"/>
          </a:p>
        </p:txBody>
      </p:sp>
      <p:sp>
        <p:nvSpPr>
          <p:cNvPr id="39" name="Text 33"/>
          <p:cNvSpPr txBox="1"/>
          <p:nvPr/>
        </p:nvSpPr>
        <p:spPr>
          <a:xfrm>
            <a:off x="2377440" y="3026664"/>
            <a:ext cx="205740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デモ作成済み</a:t>
            </a:r>
            <a:endParaRPr lang="en-US" sz="850" dirty="0"/>
          </a:p>
        </p:txBody>
      </p:sp>
      <p:sp>
        <p:nvSpPr>
          <p:cNvPr id="40" name="Shape 34"/>
          <p:cNvSpPr/>
          <p:nvPr/>
        </p:nvSpPr>
        <p:spPr>
          <a:xfrm>
            <a:off x="4617720" y="1965960"/>
            <a:ext cx="2240280" cy="1371600"/>
          </a:xfrm>
          <a:prstGeom prst="roundRect">
            <a:avLst>
              <a:gd name="adj" fmla="val 4000"/>
            </a:avLst>
          </a:prstGeom>
          <a:solidFill>
            <a:srgbClr val="FFFFFF"/>
          </a:solidFill>
          <a:ln w="15875">
            <a:solidFill>
              <a:srgbClr val="0F6CBD"/>
            </a:solidFill>
            <a:prstDash val="solid"/>
          </a:ln>
        </p:spPr>
      </p:sp>
      <p:sp>
        <p:nvSpPr>
          <p:cNvPr id="41" name="Shape 35"/>
          <p:cNvSpPr/>
          <p:nvPr/>
        </p:nvSpPr>
        <p:spPr>
          <a:xfrm>
            <a:off x="4690872" y="2039112"/>
            <a:ext cx="384048" cy="384048"/>
          </a:xfrm>
          <a:prstGeom prst="ellipse">
            <a:avLst/>
          </a:prstGeom>
          <a:solidFill>
            <a:srgbClr val="0F6CBD"/>
          </a:solidFill>
          <a:ln/>
        </p:spPr>
      </p:sp>
      <p:sp>
        <p:nvSpPr>
          <p:cNvPr id="42" name="Text 36"/>
          <p:cNvSpPr txBox="1"/>
          <p:nvPr/>
        </p:nvSpPr>
        <p:spPr>
          <a:xfrm>
            <a:off x="4690872" y="203911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A3</a:t>
            </a:r>
            <a:endParaRPr lang="en-US" sz="1100" dirty="0"/>
          </a:p>
        </p:txBody>
      </p:sp>
      <p:sp>
        <p:nvSpPr>
          <p:cNvPr id="43" name="Text 37"/>
          <p:cNvSpPr txBox="1"/>
          <p:nvPr/>
        </p:nvSpPr>
        <p:spPr>
          <a:xfrm>
            <a:off x="5129784" y="200253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Copilot Studio</a:t>
            </a:r>
            <a:endParaRPr lang="en-US" sz="1050" dirty="0"/>
          </a:p>
          <a:p>
            <a:pPr indent="0" marL="0">
              <a:buNone/>
            </a:pPr>
            <a:r>
              <a:rPr lang="en-US" sz="1050" b="1" dirty="0">
                <a:solidFill>
                  <a:srgbClr val="1B2A49"/>
                </a:solidFill>
                <a:latin typeface="Meiryo UI" pitchFamily="34" charset="0"/>
                <a:ea typeface="Meiryo UI" pitchFamily="34" charset="-122"/>
                <a:cs typeface="Meiryo UI" pitchFamily="34" charset="-120"/>
              </a:rPr>
              <a:t>エージェント</a:t>
            </a:r>
            <a:endParaRPr lang="en-US" sz="1050" dirty="0"/>
          </a:p>
        </p:txBody>
      </p:sp>
      <p:pic>
        <p:nvPicPr>
          <p:cNvPr id="44" name="Image 4" descr="preencoded.png">    </p:cNvPr>
          <p:cNvPicPr>
            <a:picLocks noChangeAspect="1"/>
          </p:cNvPicPr>
          <p:nvPr/>
        </p:nvPicPr>
        <p:blipFill>
          <a:blip r:embed="rId5"/>
          <a:stretch>
            <a:fillRect/>
          </a:stretch>
        </p:blipFill>
        <p:spPr>
          <a:xfrm>
            <a:off x="4727448" y="3044952"/>
            <a:ext cx="201168" cy="201168"/>
          </a:xfrm>
          <a:prstGeom prst="rect">
            <a:avLst/>
          </a:prstGeom>
        </p:spPr>
      </p:pic>
      <p:pic>
        <p:nvPicPr>
          <p:cNvPr id="45" name="Image 5" descr="preencoded.png">    </p:cNvPr>
          <p:cNvPicPr>
            <a:picLocks noChangeAspect="1"/>
          </p:cNvPicPr>
          <p:nvPr/>
        </p:nvPicPr>
        <p:blipFill>
          <a:blip r:embed="rId6"/>
          <a:stretch>
            <a:fillRect/>
          </a:stretch>
        </p:blipFill>
        <p:spPr>
          <a:xfrm>
            <a:off x="5001768" y="3044952"/>
            <a:ext cx="201168" cy="201168"/>
          </a:xfrm>
          <a:prstGeom prst="rect">
            <a:avLst/>
          </a:prstGeom>
        </p:spPr>
      </p:pic>
      <p:pic>
        <p:nvPicPr>
          <p:cNvPr id="46" name="Image 6" descr="preencoded.png">    </p:cNvPr>
          <p:cNvPicPr>
            <a:picLocks noChangeAspect="1"/>
          </p:cNvPicPr>
          <p:nvPr/>
        </p:nvPicPr>
        <p:blipFill>
          <a:blip r:embed="rId7"/>
          <a:stretch>
            <a:fillRect/>
          </a:stretch>
        </p:blipFill>
        <p:spPr>
          <a:xfrm>
            <a:off x="5276088" y="3044952"/>
            <a:ext cx="201168" cy="201168"/>
          </a:xfrm>
          <a:prstGeom prst="rect">
            <a:avLst/>
          </a:prstGeom>
        </p:spPr>
      </p:pic>
      <p:sp>
        <p:nvSpPr>
          <p:cNvPr id="47" name="Text 38"/>
          <p:cNvSpPr txBox="1"/>
          <p:nvPr/>
        </p:nvSpPr>
        <p:spPr>
          <a:xfrm>
            <a:off x="5532120" y="302666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48" name="Shape 39"/>
          <p:cNvSpPr/>
          <p:nvPr/>
        </p:nvSpPr>
        <p:spPr>
          <a:xfrm>
            <a:off x="6949440" y="1965960"/>
            <a:ext cx="2240280" cy="1371600"/>
          </a:xfrm>
          <a:prstGeom prst="roundRect">
            <a:avLst>
              <a:gd name="adj" fmla="val 4000"/>
            </a:avLst>
          </a:prstGeom>
          <a:solidFill>
            <a:srgbClr val="FFFFFF"/>
          </a:solidFill>
          <a:ln w="15875">
            <a:solidFill>
              <a:srgbClr val="0F6CBD"/>
            </a:solidFill>
            <a:prstDash val="solid"/>
          </a:ln>
        </p:spPr>
      </p:sp>
      <p:sp>
        <p:nvSpPr>
          <p:cNvPr id="49" name="Shape 40"/>
          <p:cNvSpPr/>
          <p:nvPr/>
        </p:nvSpPr>
        <p:spPr>
          <a:xfrm>
            <a:off x="7022592" y="2039112"/>
            <a:ext cx="384048" cy="384048"/>
          </a:xfrm>
          <a:prstGeom prst="ellipse">
            <a:avLst/>
          </a:prstGeom>
          <a:solidFill>
            <a:srgbClr val="0F6CBD"/>
          </a:solidFill>
          <a:ln/>
        </p:spPr>
      </p:sp>
      <p:sp>
        <p:nvSpPr>
          <p:cNvPr id="50" name="Text 41"/>
          <p:cNvSpPr txBox="1"/>
          <p:nvPr/>
        </p:nvSpPr>
        <p:spPr>
          <a:xfrm>
            <a:off x="7022592" y="203911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A4</a:t>
            </a:r>
            <a:endParaRPr lang="en-US" sz="1100" dirty="0"/>
          </a:p>
        </p:txBody>
      </p:sp>
      <p:sp>
        <p:nvSpPr>
          <p:cNvPr id="51" name="Text 42"/>
          <p:cNvSpPr txBox="1"/>
          <p:nvPr/>
        </p:nvSpPr>
        <p:spPr>
          <a:xfrm>
            <a:off x="7461504" y="200253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Power Automate</a:t>
            </a:r>
            <a:endParaRPr lang="en-US" sz="1050" dirty="0"/>
          </a:p>
          <a:p>
            <a:pPr indent="0" marL="0">
              <a:buNone/>
            </a:pPr>
            <a:r>
              <a:rPr lang="en-US" sz="1050" b="1" dirty="0">
                <a:solidFill>
                  <a:srgbClr val="1B2A49"/>
                </a:solidFill>
                <a:latin typeface="Meiryo UI" pitchFamily="34" charset="0"/>
                <a:ea typeface="Meiryo UI" pitchFamily="34" charset="-122"/>
                <a:cs typeface="Meiryo UI" pitchFamily="34" charset="-120"/>
              </a:rPr>
              <a:t>で自動起案</a:t>
            </a:r>
            <a:endParaRPr lang="en-US" sz="1050" dirty="0"/>
          </a:p>
        </p:txBody>
      </p:sp>
      <p:pic>
        <p:nvPicPr>
          <p:cNvPr id="52" name="Image 7" descr="preencoded.png">    </p:cNvPr>
          <p:cNvPicPr>
            <a:picLocks noChangeAspect="1"/>
          </p:cNvPicPr>
          <p:nvPr/>
        </p:nvPicPr>
        <p:blipFill>
          <a:blip r:embed="rId8"/>
          <a:stretch>
            <a:fillRect/>
          </a:stretch>
        </p:blipFill>
        <p:spPr>
          <a:xfrm>
            <a:off x="7059168" y="3044952"/>
            <a:ext cx="201168" cy="201168"/>
          </a:xfrm>
          <a:prstGeom prst="rect">
            <a:avLst/>
          </a:prstGeom>
        </p:spPr>
      </p:pic>
      <p:pic>
        <p:nvPicPr>
          <p:cNvPr id="53" name="Image 8" descr="preencoded.png">    </p:cNvPr>
          <p:cNvPicPr>
            <a:picLocks noChangeAspect="1"/>
          </p:cNvPicPr>
          <p:nvPr/>
        </p:nvPicPr>
        <p:blipFill>
          <a:blip r:embed="rId9"/>
          <a:stretch>
            <a:fillRect/>
          </a:stretch>
        </p:blipFill>
        <p:spPr>
          <a:xfrm>
            <a:off x="7333488" y="3044952"/>
            <a:ext cx="201168" cy="201168"/>
          </a:xfrm>
          <a:prstGeom prst="rect">
            <a:avLst/>
          </a:prstGeom>
        </p:spPr>
      </p:pic>
      <p:pic>
        <p:nvPicPr>
          <p:cNvPr id="54" name="Image 9" descr="preencoded.png">    </p:cNvPr>
          <p:cNvPicPr>
            <a:picLocks noChangeAspect="1"/>
          </p:cNvPicPr>
          <p:nvPr/>
        </p:nvPicPr>
        <p:blipFill>
          <a:blip r:embed="rId10"/>
          <a:stretch>
            <a:fillRect/>
          </a:stretch>
        </p:blipFill>
        <p:spPr>
          <a:xfrm>
            <a:off x="7607808" y="3044952"/>
            <a:ext cx="201168" cy="201168"/>
          </a:xfrm>
          <a:prstGeom prst="rect">
            <a:avLst/>
          </a:prstGeom>
        </p:spPr>
      </p:pic>
      <p:sp>
        <p:nvSpPr>
          <p:cNvPr id="55" name="Text 43"/>
          <p:cNvSpPr txBox="1"/>
          <p:nvPr/>
        </p:nvSpPr>
        <p:spPr>
          <a:xfrm>
            <a:off x="7863840" y="302666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56" name="Shape 44"/>
          <p:cNvSpPr/>
          <p:nvPr/>
        </p:nvSpPr>
        <p:spPr>
          <a:xfrm>
            <a:off x="9281160" y="1965960"/>
            <a:ext cx="2240280" cy="310896"/>
          </a:xfrm>
          <a:prstGeom prst="roundRect">
            <a:avLst>
              <a:gd name="adj" fmla="val 17647"/>
            </a:avLst>
          </a:prstGeom>
          <a:solidFill>
            <a:srgbClr val="FFFFFF"/>
          </a:solidFill>
          <a:ln w="15875">
            <a:solidFill>
              <a:srgbClr val="0F6CBD"/>
            </a:solidFill>
            <a:prstDash val="solid"/>
          </a:ln>
        </p:spPr>
      </p:sp>
      <p:sp>
        <p:nvSpPr>
          <p:cNvPr id="57" name="Shape 45"/>
          <p:cNvSpPr/>
          <p:nvPr/>
        </p:nvSpPr>
        <p:spPr>
          <a:xfrm>
            <a:off x="9354312" y="1997964"/>
            <a:ext cx="246888" cy="246888"/>
          </a:xfrm>
          <a:prstGeom prst="ellipse">
            <a:avLst/>
          </a:prstGeom>
          <a:solidFill>
            <a:srgbClr val="0F6CBD"/>
          </a:solidFill>
          <a:ln/>
        </p:spPr>
      </p:sp>
      <p:sp>
        <p:nvSpPr>
          <p:cNvPr id="58" name="Text 46"/>
          <p:cNvSpPr txBox="1"/>
          <p:nvPr/>
        </p:nvSpPr>
        <p:spPr>
          <a:xfrm>
            <a:off x="9354312" y="1997964"/>
            <a:ext cx="246888"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A5</a:t>
            </a:r>
            <a:endParaRPr lang="en-US" sz="1100" dirty="0"/>
          </a:p>
        </p:txBody>
      </p:sp>
      <p:sp>
        <p:nvSpPr>
          <p:cNvPr id="59" name="Text 47"/>
          <p:cNvSpPr txBox="1"/>
          <p:nvPr/>
        </p:nvSpPr>
        <p:spPr>
          <a:xfrm>
            <a:off x="9656064" y="1965960"/>
            <a:ext cx="1170432" cy="310896"/>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Listsに移行</a:t>
            </a:r>
            <a:endParaRPr lang="en-US" sz="950" dirty="0"/>
          </a:p>
        </p:txBody>
      </p:sp>
      <p:pic>
        <p:nvPicPr>
          <p:cNvPr id="60" name="Image 10" descr="preencoded.png">    </p:cNvPr>
          <p:cNvPicPr>
            <a:picLocks noChangeAspect="1"/>
          </p:cNvPicPr>
          <p:nvPr/>
        </p:nvPicPr>
        <p:blipFill>
          <a:blip r:embed="rId11"/>
          <a:stretch>
            <a:fillRect/>
          </a:stretch>
        </p:blipFill>
        <p:spPr>
          <a:xfrm>
            <a:off x="10863072" y="2029968"/>
            <a:ext cx="182880" cy="182880"/>
          </a:xfrm>
          <a:prstGeom prst="rect">
            <a:avLst/>
          </a:prstGeom>
        </p:spPr>
      </p:pic>
      <p:pic>
        <p:nvPicPr>
          <p:cNvPr id="61" name="Image 11" descr="preencoded.png">    </p:cNvPr>
          <p:cNvPicPr>
            <a:picLocks noChangeAspect="1"/>
          </p:cNvPicPr>
          <p:nvPr/>
        </p:nvPicPr>
        <p:blipFill>
          <a:blip r:embed="rId12"/>
          <a:stretch>
            <a:fillRect/>
          </a:stretch>
        </p:blipFill>
        <p:spPr>
          <a:xfrm>
            <a:off x="11073384" y="2029968"/>
            <a:ext cx="182880" cy="182880"/>
          </a:xfrm>
          <a:prstGeom prst="rect">
            <a:avLst/>
          </a:prstGeom>
        </p:spPr>
      </p:pic>
      <p:pic>
        <p:nvPicPr>
          <p:cNvPr id="62" name="Image 12" descr="preencoded.png">    </p:cNvPr>
          <p:cNvPicPr>
            <a:picLocks noChangeAspect="1"/>
          </p:cNvPicPr>
          <p:nvPr/>
        </p:nvPicPr>
        <p:blipFill>
          <a:blip r:embed="rId13"/>
          <a:stretch>
            <a:fillRect/>
          </a:stretch>
        </p:blipFill>
        <p:spPr>
          <a:xfrm>
            <a:off x="11283696" y="2029968"/>
            <a:ext cx="182880" cy="182880"/>
          </a:xfrm>
          <a:prstGeom prst="rect">
            <a:avLst/>
          </a:prstGeom>
        </p:spPr>
      </p:pic>
      <p:sp>
        <p:nvSpPr>
          <p:cNvPr id="63" name="Shape 48"/>
          <p:cNvSpPr/>
          <p:nvPr/>
        </p:nvSpPr>
        <p:spPr>
          <a:xfrm>
            <a:off x="9281160" y="2322576"/>
            <a:ext cx="2240280" cy="310896"/>
          </a:xfrm>
          <a:prstGeom prst="roundRect">
            <a:avLst>
              <a:gd name="adj" fmla="val 17647"/>
            </a:avLst>
          </a:prstGeom>
          <a:solidFill>
            <a:srgbClr val="FFFFFF"/>
          </a:solidFill>
          <a:ln w="15875">
            <a:solidFill>
              <a:srgbClr val="0F6CBD"/>
            </a:solidFill>
            <a:prstDash val="solid"/>
          </a:ln>
        </p:spPr>
      </p:sp>
      <p:sp>
        <p:nvSpPr>
          <p:cNvPr id="64" name="Shape 49"/>
          <p:cNvSpPr/>
          <p:nvPr/>
        </p:nvSpPr>
        <p:spPr>
          <a:xfrm>
            <a:off x="9354312" y="2354580"/>
            <a:ext cx="246888" cy="246888"/>
          </a:xfrm>
          <a:prstGeom prst="ellipse">
            <a:avLst/>
          </a:prstGeom>
          <a:solidFill>
            <a:srgbClr val="0F6CBD"/>
          </a:solidFill>
          <a:ln/>
        </p:spPr>
      </p:sp>
      <p:sp>
        <p:nvSpPr>
          <p:cNvPr id="65" name="Text 50"/>
          <p:cNvSpPr txBox="1"/>
          <p:nvPr/>
        </p:nvSpPr>
        <p:spPr>
          <a:xfrm>
            <a:off x="9354312" y="2354580"/>
            <a:ext cx="246888"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A6</a:t>
            </a:r>
            <a:endParaRPr lang="en-US" sz="1100" dirty="0"/>
          </a:p>
        </p:txBody>
      </p:sp>
      <p:sp>
        <p:nvSpPr>
          <p:cNvPr id="66" name="Text 51"/>
          <p:cNvSpPr txBox="1"/>
          <p:nvPr/>
        </p:nvSpPr>
        <p:spPr>
          <a:xfrm>
            <a:off x="9656064" y="2322576"/>
            <a:ext cx="1170432" cy="310896"/>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キャンバスアプリ</a:t>
            </a:r>
            <a:endParaRPr lang="en-US" sz="950" dirty="0"/>
          </a:p>
        </p:txBody>
      </p:sp>
      <p:pic>
        <p:nvPicPr>
          <p:cNvPr id="67" name="Image 13" descr="preencoded.png">    </p:cNvPr>
          <p:cNvPicPr>
            <a:picLocks noChangeAspect="1"/>
          </p:cNvPicPr>
          <p:nvPr/>
        </p:nvPicPr>
        <p:blipFill>
          <a:blip r:embed="rId14"/>
          <a:stretch>
            <a:fillRect/>
          </a:stretch>
        </p:blipFill>
        <p:spPr>
          <a:xfrm>
            <a:off x="10863072" y="2386584"/>
            <a:ext cx="182880" cy="182880"/>
          </a:xfrm>
          <a:prstGeom prst="rect">
            <a:avLst/>
          </a:prstGeom>
        </p:spPr>
      </p:pic>
      <p:pic>
        <p:nvPicPr>
          <p:cNvPr id="68" name="Image 14" descr="preencoded.png">    </p:cNvPr>
          <p:cNvPicPr>
            <a:picLocks noChangeAspect="1"/>
          </p:cNvPicPr>
          <p:nvPr/>
        </p:nvPicPr>
        <p:blipFill>
          <a:blip r:embed="rId15"/>
          <a:stretch>
            <a:fillRect/>
          </a:stretch>
        </p:blipFill>
        <p:spPr>
          <a:xfrm>
            <a:off x="11073384" y="2386584"/>
            <a:ext cx="182880" cy="182880"/>
          </a:xfrm>
          <a:prstGeom prst="rect">
            <a:avLst/>
          </a:prstGeom>
        </p:spPr>
      </p:pic>
      <p:pic>
        <p:nvPicPr>
          <p:cNvPr id="69" name="Image 15" descr="preencoded.png">    </p:cNvPr>
          <p:cNvPicPr>
            <a:picLocks noChangeAspect="1"/>
          </p:cNvPicPr>
          <p:nvPr/>
        </p:nvPicPr>
        <p:blipFill>
          <a:blip r:embed="rId16"/>
          <a:stretch>
            <a:fillRect/>
          </a:stretch>
        </p:blipFill>
        <p:spPr>
          <a:xfrm>
            <a:off x="11283696" y="2386584"/>
            <a:ext cx="182880" cy="182880"/>
          </a:xfrm>
          <a:prstGeom prst="rect">
            <a:avLst/>
          </a:prstGeom>
        </p:spPr>
      </p:pic>
      <p:sp>
        <p:nvSpPr>
          <p:cNvPr id="70" name="Shape 52"/>
          <p:cNvSpPr/>
          <p:nvPr/>
        </p:nvSpPr>
        <p:spPr>
          <a:xfrm>
            <a:off x="9281160" y="2679192"/>
            <a:ext cx="2240280" cy="310896"/>
          </a:xfrm>
          <a:prstGeom prst="roundRect">
            <a:avLst>
              <a:gd name="adj" fmla="val 17647"/>
            </a:avLst>
          </a:prstGeom>
          <a:solidFill>
            <a:srgbClr val="FFFFFF"/>
          </a:solidFill>
          <a:ln w="15875">
            <a:solidFill>
              <a:srgbClr val="0F6CBD"/>
            </a:solidFill>
            <a:prstDash val="solid"/>
          </a:ln>
        </p:spPr>
      </p:sp>
      <p:sp>
        <p:nvSpPr>
          <p:cNvPr id="71" name="Shape 53"/>
          <p:cNvSpPr/>
          <p:nvPr/>
        </p:nvSpPr>
        <p:spPr>
          <a:xfrm>
            <a:off x="9354312" y="2711196"/>
            <a:ext cx="246888" cy="246888"/>
          </a:xfrm>
          <a:prstGeom prst="ellipse">
            <a:avLst/>
          </a:prstGeom>
          <a:solidFill>
            <a:srgbClr val="0F6CBD"/>
          </a:solidFill>
          <a:ln/>
        </p:spPr>
      </p:sp>
      <p:sp>
        <p:nvSpPr>
          <p:cNvPr id="72" name="Text 54"/>
          <p:cNvSpPr txBox="1"/>
          <p:nvPr/>
        </p:nvSpPr>
        <p:spPr>
          <a:xfrm>
            <a:off x="9354312" y="2711196"/>
            <a:ext cx="246888"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A7</a:t>
            </a:r>
            <a:endParaRPr lang="en-US" sz="1100" dirty="0"/>
          </a:p>
        </p:txBody>
      </p:sp>
      <p:sp>
        <p:nvSpPr>
          <p:cNvPr id="73" name="Text 55"/>
          <p:cNvSpPr txBox="1"/>
          <p:nvPr/>
        </p:nvSpPr>
        <p:spPr>
          <a:xfrm>
            <a:off x="9656064" y="2679192"/>
            <a:ext cx="1170432" cy="310896"/>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code apps</a:t>
            </a:r>
            <a:endParaRPr lang="en-US" sz="950" dirty="0"/>
          </a:p>
        </p:txBody>
      </p:sp>
      <p:pic>
        <p:nvPicPr>
          <p:cNvPr id="74" name="Image 16" descr="preencoded.png">    </p:cNvPr>
          <p:cNvPicPr>
            <a:picLocks noChangeAspect="1"/>
          </p:cNvPicPr>
          <p:nvPr/>
        </p:nvPicPr>
        <p:blipFill>
          <a:blip r:embed="rId17"/>
          <a:stretch>
            <a:fillRect/>
          </a:stretch>
        </p:blipFill>
        <p:spPr>
          <a:xfrm>
            <a:off x="10863072" y="2743200"/>
            <a:ext cx="182880" cy="182880"/>
          </a:xfrm>
          <a:prstGeom prst="rect">
            <a:avLst/>
          </a:prstGeom>
        </p:spPr>
      </p:pic>
      <p:pic>
        <p:nvPicPr>
          <p:cNvPr id="75" name="Image 17" descr="preencoded.png">    </p:cNvPr>
          <p:cNvPicPr>
            <a:picLocks noChangeAspect="1"/>
          </p:cNvPicPr>
          <p:nvPr/>
        </p:nvPicPr>
        <p:blipFill>
          <a:blip r:embed="rId18"/>
          <a:stretch>
            <a:fillRect/>
          </a:stretch>
        </p:blipFill>
        <p:spPr>
          <a:xfrm>
            <a:off x="11073384" y="2743200"/>
            <a:ext cx="182880" cy="182880"/>
          </a:xfrm>
          <a:prstGeom prst="rect">
            <a:avLst/>
          </a:prstGeom>
        </p:spPr>
      </p:pic>
      <p:pic>
        <p:nvPicPr>
          <p:cNvPr id="76" name="Image 18" descr="preencoded.png">    </p:cNvPr>
          <p:cNvPicPr>
            <a:picLocks noChangeAspect="1"/>
          </p:cNvPicPr>
          <p:nvPr/>
        </p:nvPicPr>
        <p:blipFill>
          <a:blip r:embed="rId19"/>
          <a:stretch>
            <a:fillRect/>
          </a:stretch>
        </p:blipFill>
        <p:spPr>
          <a:xfrm>
            <a:off x="11283696" y="2743200"/>
            <a:ext cx="182880" cy="182880"/>
          </a:xfrm>
          <a:prstGeom prst="rect">
            <a:avLst/>
          </a:prstGeom>
        </p:spPr>
      </p:pic>
      <p:sp>
        <p:nvSpPr>
          <p:cNvPr id="77" name="Shape 56"/>
          <p:cNvSpPr/>
          <p:nvPr/>
        </p:nvSpPr>
        <p:spPr>
          <a:xfrm>
            <a:off x="9281160" y="3035808"/>
            <a:ext cx="2240280" cy="301752"/>
          </a:xfrm>
          <a:prstGeom prst="roundRect">
            <a:avLst>
              <a:gd name="adj" fmla="val 18182"/>
            </a:avLst>
          </a:prstGeom>
          <a:solidFill>
            <a:srgbClr val="FFFFFF"/>
          </a:solidFill>
          <a:ln w="15875">
            <a:solidFill>
              <a:srgbClr val="0F6CBD"/>
            </a:solidFill>
            <a:prstDash val="solid"/>
          </a:ln>
        </p:spPr>
      </p:sp>
      <p:sp>
        <p:nvSpPr>
          <p:cNvPr id="78" name="Shape 57"/>
          <p:cNvSpPr/>
          <p:nvPr/>
        </p:nvSpPr>
        <p:spPr>
          <a:xfrm>
            <a:off x="9354312" y="3063240"/>
            <a:ext cx="246888" cy="246888"/>
          </a:xfrm>
          <a:prstGeom prst="ellipse">
            <a:avLst/>
          </a:prstGeom>
          <a:solidFill>
            <a:srgbClr val="0F6CBD"/>
          </a:solidFill>
          <a:ln/>
        </p:spPr>
      </p:sp>
      <p:sp>
        <p:nvSpPr>
          <p:cNvPr id="79" name="Text 58"/>
          <p:cNvSpPr txBox="1"/>
          <p:nvPr/>
        </p:nvSpPr>
        <p:spPr>
          <a:xfrm>
            <a:off x="9354312" y="3063240"/>
            <a:ext cx="246888"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A8</a:t>
            </a:r>
            <a:endParaRPr lang="en-US" sz="1100" dirty="0"/>
          </a:p>
        </p:txBody>
      </p:sp>
      <p:sp>
        <p:nvSpPr>
          <p:cNvPr id="80" name="Text 59"/>
          <p:cNvSpPr txBox="1"/>
          <p:nvPr/>
        </p:nvSpPr>
        <p:spPr>
          <a:xfrm>
            <a:off x="9656064" y="3035808"/>
            <a:ext cx="1170432" cy="301752"/>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Lists＋code apps</a:t>
            </a:r>
            <a:endParaRPr lang="en-US" sz="950" dirty="0"/>
          </a:p>
        </p:txBody>
      </p:sp>
      <p:pic>
        <p:nvPicPr>
          <p:cNvPr id="81" name="Image 19" descr="preencoded.png">    </p:cNvPr>
          <p:cNvPicPr>
            <a:picLocks noChangeAspect="1"/>
          </p:cNvPicPr>
          <p:nvPr/>
        </p:nvPicPr>
        <p:blipFill>
          <a:blip r:embed="rId20"/>
          <a:stretch>
            <a:fillRect/>
          </a:stretch>
        </p:blipFill>
        <p:spPr>
          <a:xfrm>
            <a:off x="10863072" y="3095244"/>
            <a:ext cx="182880" cy="182880"/>
          </a:xfrm>
          <a:prstGeom prst="rect">
            <a:avLst/>
          </a:prstGeom>
        </p:spPr>
      </p:pic>
      <p:pic>
        <p:nvPicPr>
          <p:cNvPr id="82" name="Image 20" descr="preencoded.png">    </p:cNvPr>
          <p:cNvPicPr>
            <a:picLocks noChangeAspect="1"/>
          </p:cNvPicPr>
          <p:nvPr/>
        </p:nvPicPr>
        <p:blipFill>
          <a:blip r:embed="rId21"/>
          <a:stretch>
            <a:fillRect/>
          </a:stretch>
        </p:blipFill>
        <p:spPr>
          <a:xfrm>
            <a:off x="11073384" y="3095244"/>
            <a:ext cx="182880" cy="182880"/>
          </a:xfrm>
          <a:prstGeom prst="rect">
            <a:avLst/>
          </a:prstGeom>
        </p:spPr>
      </p:pic>
      <p:pic>
        <p:nvPicPr>
          <p:cNvPr id="83" name="Image 21" descr="preencoded.png">    </p:cNvPr>
          <p:cNvPicPr>
            <a:picLocks noChangeAspect="1"/>
          </p:cNvPicPr>
          <p:nvPr/>
        </p:nvPicPr>
        <p:blipFill>
          <a:blip r:embed="rId22"/>
          <a:stretch>
            <a:fillRect/>
          </a:stretch>
        </p:blipFill>
        <p:spPr>
          <a:xfrm>
            <a:off x="11283696" y="3095244"/>
            <a:ext cx="182880" cy="182880"/>
          </a:xfrm>
          <a:prstGeom prst="rect">
            <a:avLst/>
          </a:prstGeom>
        </p:spPr>
      </p:pic>
      <p:sp>
        <p:nvSpPr>
          <p:cNvPr id="84" name="Text 60"/>
          <p:cNvSpPr txBox="1"/>
          <p:nvPr/>
        </p:nvSpPr>
        <p:spPr>
          <a:xfrm>
            <a:off x="2286000" y="3429000"/>
            <a:ext cx="2240280" cy="868680"/>
          </a:xfrm>
          <a:prstGeom prst="rect">
            <a:avLst/>
          </a:prstGeom>
          <a:noFill/>
          <a:ln/>
        </p:spPr>
        <p:txBody>
          <a:bodyPr wrap="square" lIns="508" tIns="508" rIns="508" bIns="508" rtlCol="0" anchor="ctr"/>
          <a:lstStyle/>
          <a:p>
            <a:pPr algn="ctr" indent="0" marL="0">
              <a:buNone/>
            </a:pPr>
            <a:r>
              <a:rPr lang="en-US" sz="900" dirty="0">
                <a:solidFill>
                  <a:srgbClr val="6B7280"/>
                </a:solidFill>
                <a:latin typeface="Meiryo UI" pitchFamily="34" charset="0"/>
                <a:ea typeface="Meiryo UI" pitchFamily="34" charset="-122"/>
                <a:cs typeface="Meiryo UI" pitchFamily="34" charset="-120"/>
              </a:rPr>
              <a:t>（Step1〜2はA1・A2を</a:t>
            </a:r>
            <a:endParaRPr lang="en-US" sz="900" dirty="0"/>
          </a:p>
          <a:p>
            <a:pPr algn="ctr" indent="0" marL="0">
              <a:buNone/>
            </a:pPr>
            <a:r>
              <a:rPr lang="en-US" sz="900" dirty="0">
                <a:solidFill>
                  <a:srgbClr val="6B7280"/>
                </a:solidFill>
                <a:latin typeface="Meiryo UI" pitchFamily="34" charset="0"/>
                <a:ea typeface="Meiryo UI" pitchFamily="34" charset="-122"/>
                <a:cs typeface="Meiryo UI" pitchFamily="34" charset="-120"/>
              </a:rPr>
              <a:t>共通の出発点にできる）</a:t>
            </a:r>
            <a:endParaRPr lang="en-US" sz="900" dirty="0"/>
          </a:p>
        </p:txBody>
      </p:sp>
      <p:sp>
        <p:nvSpPr>
          <p:cNvPr id="85" name="Shape 61"/>
          <p:cNvSpPr/>
          <p:nvPr/>
        </p:nvSpPr>
        <p:spPr>
          <a:xfrm>
            <a:off x="4617720" y="3429000"/>
            <a:ext cx="4572000" cy="868680"/>
          </a:xfrm>
          <a:prstGeom prst="roundRect">
            <a:avLst>
              <a:gd name="adj" fmla="val 6316"/>
            </a:avLst>
          </a:prstGeom>
          <a:solidFill>
            <a:srgbClr val="FFFFFF"/>
          </a:solidFill>
          <a:ln w="15875">
            <a:solidFill>
              <a:srgbClr val="6B4FBB"/>
            </a:solidFill>
            <a:prstDash val="solid"/>
          </a:ln>
        </p:spPr>
      </p:sp>
      <p:sp>
        <p:nvSpPr>
          <p:cNvPr id="86" name="Shape 62"/>
          <p:cNvSpPr/>
          <p:nvPr/>
        </p:nvSpPr>
        <p:spPr>
          <a:xfrm>
            <a:off x="4690872" y="3502152"/>
            <a:ext cx="384048" cy="384048"/>
          </a:xfrm>
          <a:prstGeom prst="ellipse">
            <a:avLst/>
          </a:prstGeom>
          <a:solidFill>
            <a:srgbClr val="6B4FBB"/>
          </a:solidFill>
          <a:ln/>
        </p:spPr>
      </p:sp>
      <p:sp>
        <p:nvSpPr>
          <p:cNvPr id="87" name="Text 63"/>
          <p:cNvSpPr txBox="1"/>
          <p:nvPr/>
        </p:nvSpPr>
        <p:spPr>
          <a:xfrm>
            <a:off x="4690872" y="350215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H1</a:t>
            </a:r>
            <a:endParaRPr lang="en-US" sz="1100" dirty="0"/>
          </a:p>
        </p:txBody>
      </p:sp>
      <p:sp>
        <p:nvSpPr>
          <p:cNvPr id="88" name="Text 64"/>
          <p:cNvSpPr txBox="1"/>
          <p:nvPr/>
        </p:nvSpPr>
        <p:spPr>
          <a:xfrm>
            <a:off x="5129784" y="3465576"/>
            <a:ext cx="400507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Copilot Studio＋GCP API（BQを直接参照）</a:t>
            </a:r>
            <a:endParaRPr lang="en-US" sz="1050" dirty="0"/>
          </a:p>
        </p:txBody>
      </p:sp>
      <p:pic>
        <p:nvPicPr>
          <p:cNvPr id="89" name="Image 22" descr="preencoded.png">    </p:cNvPr>
          <p:cNvPicPr>
            <a:picLocks noChangeAspect="1"/>
          </p:cNvPicPr>
          <p:nvPr/>
        </p:nvPicPr>
        <p:blipFill>
          <a:blip r:embed="rId23"/>
          <a:stretch>
            <a:fillRect/>
          </a:stretch>
        </p:blipFill>
        <p:spPr>
          <a:xfrm>
            <a:off x="4727448" y="4005072"/>
            <a:ext cx="201168" cy="201168"/>
          </a:xfrm>
          <a:prstGeom prst="rect">
            <a:avLst/>
          </a:prstGeom>
        </p:spPr>
      </p:pic>
      <p:pic>
        <p:nvPicPr>
          <p:cNvPr id="90" name="Image 23" descr="preencoded.png">    </p:cNvPr>
          <p:cNvPicPr>
            <a:picLocks noChangeAspect="1"/>
          </p:cNvPicPr>
          <p:nvPr/>
        </p:nvPicPr>
        <p:blipFill>
          <a:blip r:embed="rId24"/>
          <a:stretch>
            <a:fillRect/>
          </a:stretch>
        </p:blipFill>
        <p:spPr>
          <a:xfrm>
            <a:off x="5001768" y="4005072"/>
            <a:ext cx="201168" cy="201168"/>
          </a:xfrm>
          <a:prstGeom prst="rect">
            <a:avLst/>
          </a:prstGeom>
        </p:spPr>
      </p:pic>
      <p:pic>
        <p:nvPicPr>
          <p:cNvPr id="91" name="Image 24" descr="preencoded.png">    </p:cNvPr>
          <p:cNvPicPr>
            <a:picLocks noChangeAspect="1"/>
          </p:cNvPicPr>
          <p:nvPr/>
        </p:nvPicPr>
        <p:blipFill>
          <a:blip r:embed="rId25"/>
          <a:stretch>
            <a:fillRect/>
          </a:stretch>
        </p:blipFill>
        <p:spPr>
          <a:xfrm>
            <a:off x="5276088" y="4005072"/>
            <a:ext cx="201168" cy="201168"/>
          </a:xfrm>
          <a:prstGeom prst="rect">
            <a:avLst/>
          </a:prstGeom>
        </p:spPr>
      </p:pic>
      <p:pic>
        <p:nvPicPr>
          <p:cNvPr id="92" name="Image 25" descr="preencoded.png">    </p:cNvPr>
          <p:cNvPicPr>
            <a:picLocks noChangeAspect="1"/>
          </p:cNvPicPr>
          <p:nvPr/>
        </p:nvPicPr>
        <p:blipFill>
          <a:blip r:embed="rId26"/>
          <a:stretch>
            <a:fillRect/>
          </a:stretch>
        </p:blipFill>
        <p:spPr>
          <a:xfrm>
            <a:off x="5550408" y="4005072"/>
            <a:ext cx="201168" cy="201168"/>
          </a:xfrm>
          <a:prstGeom prst="rect">
            <a:avLst/>
          </a:prstGeom>
        </p:spPr>
      </p:pic>
      <p:sp>
        <p:nvSpPr>
          <p:cNvPr id="93" name="Text 65"/>
          <p:cNvSpPr txBox="1"/>
          <p:nvPr/>
        </p:nvSpPr>
        <p:spPr>
          <a:xfrm>
            <a:off x="5806440" y="3986784"/>
            <a:ext cx="32918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管理：Airtable｜自動起案まで拡張可</a:t>
            </a:r>
            <a:endParaRPr lang="en-US" sz="850" dirty="0"/>
          </a:p>
        </p:txBody>
      </p:sp>
      <p:sp>
        <p:nvSpPr>
          <p:cNvPr id="94" name="Text 66"/>
          <p:cNvSpPr txBox="1"/>
          <p:nvPr/>
        </p:nvSpPr>
        <p:spPr>
          <a:xfrm>
            <a:off x="9281160" y="3429000"/>
            <a:ext cx="2240280" cy="868680"/>
          </a:xfrm>
          <a:prstGeom prst="rect">
            <a:avLst/>
          </a:prstGeom>
          <a:noFill/>
          <a:ln/>
        </p:spPr>
        <p:txBody>
          <a:bodyPr wrap="square" lIns="508" tIns="508" rIns="508" bIns="508" rtlCol="0" anchor="ctr"/>
          <a:lstStyle/>
          <a:p>
            <a:pPr algn="ctr" indent="0" marL="0">
              <a:buNone/>
            </a:pPr>
            <a:r>
              <a:rPr lang="en-US" sz="900" dirty="0">
                <a:solidFill>
                  <a:srgbClr val="6B7280"/>
                </a:solidFill>
                <a:latin typeface="Meiryo UI" pitchFamily="34" charset="0"/>
                <a:ea typeface="Meiryo UI" pitchFamily="34" charset="-122"/>
                <a:cs typeface="Meiryo UI" pitchFamily="34" charset="-120"/>
              </a:rPr>
              <a:t>（H1で管理基盤を</a:t>
            </a:r>
            <a:endParaRPr lang="en-US" sz="900" dirty="0"/>
          </a:p>
          <a:p>
            <a:pPr algn="ctr" indent="0" marL="0">
              <a:buNone/>
            </a:pPr>
            <a:r>
              <a:rPr lang="en-US" sz="900" dirty="0">
                <a:solidFill>
                  <a:srgbClr val="6B7280"/>
                </a:solidFill>
                <a:latin typeface="Meiryo UI" pitchFamily="34" charset="0"/>
                <a:ea typeface="Meiryo UI" pitchFamily="34" charset="-122"/>
                <a:cs typeface="Meiryo UI" pitchFamily="34" charset="-120"/>
              </a:rPr>
              <a:t>移行する構成も可能）</a:t>
            </a:r>
            <a:endParaRPr lang="en-US" sz="900" dirty="0"/>
          </a:p>
        </p:txBody>
      </p:sp>
      <p:sp>
        <p:nvSpPr>
          <p:cNvPr id="95" name="Text 67"/>
          <p:cNvSpPr txBox="1"/>
          <p:nvPr/>
        </p:nvSpPr>
        <p:spPr>
          <a:xfrm>
            <a:off x="2286000" y="4389120"/>
            <a:ext cx="2240280" cy="868680"/>
          </a:xfrm>
          <a:prstGeom prst="rect">
            <a:avLst/>
          </a:prstGeom>
          <a:noFill/>
          <a:ln/>
        </p:spPr>
        <p:txBody>
          <a:bodyPr wrap="square" lIns="508" tIns="508" rIns="508" bIns="508" rtlCol="0" anchor="ctr"/>
          <a:lstStyle/>
          <a:p>
            <a:pPr algn="ctr" indent="0" marL="0">
              <a:buNone/>
            </a:pPr>
            <a:r>
              <a:rPr lang="en-US" sz="900" dirty="0">
                <a:solidFill>
                  <a:srgbClr val="6B7280"/>
                </a:solidFill>
                <a:latin typeface="Meiryo UI" pitchFamily="34" charset="0"/>
                <a:ea typeface="Meiryo UI" pitchFamily="34" charset="-122"/>
                <a:cs typeface="Meiryo UI" pitchFamily="34" charset="-120"/>
              </a:rPr>
              <a:t>（Step1〜2はA1・A2を</a:t>
            </a:r>
            <a:endParaRPr lang="en-US" sz="900" dirty="0"/>
          </a:p>
          <a:p>
            <a:pPr algn="ctr" indent="0" marL="0">
              <a:buNone/>
            </a:pPr>
            <a:r>
              <a:rPr lang="en-US" sz="900" dirty="0">
                <a:solidFill>
                  <a:srgbClr val="6B7280"/>
                </a:solidFill>
                <a:latin typeface="Meiryo UI" pitchFamily="34" charset="0"/>
                <a:ea typeface="Meiryo UI" pitchFamily="34" charset="-122"/>
                <a:cs typeface="Meiryo UI" pitchFamily="34" charset="-120"/>
              </a:rPr>
              <a:t>共通の出発点にできる）</a:t>
            </a:r>
            <a:endParaRPr lang="en-US" sz="900" dirty="0"/>
          </a:p>
        </p:txBody>
      </p:sp>
      <p:sp>
        <p:nvSpPr>
          <p:cNvPr id="96" name="Shape 68"/>
          <p:cNvSpPr/>
          <p:nvPr/>
        </p:nvSpPr>
        <p:spPr>
          <a:xfrm>
            <a:off x="4617720" y="4389120"/>
            <a:ext cx="2240280" cy="868680"/>
          </a:xfrm>
          <a:prstGeom prst="roundRect">
            <a:avLst>
              <a:gd name="adj" fmla="val 6316"/>
            </a:avLst>
          </a:prstGeom>
          <a:solidFill>
            <a:srgbClr val="FFFFFF"/>
          </a:solidFill>
          <a:ln w="15875">
            <a:solidFill>
              <a:srgbClr val="4285F4"/>
            </a:solidFill>
            <a:prstDash val="solid"/>
          </a:ln>
        </p:spPr>
      </p:sp>
      <p:sp>
        <p:nvSpPr>
          <p:cNvPr id="97" name="Shape 69"/>
          <p:cNvSpPr/>
          <p:nvPr/>
        </p:nvSpPr>
        <p:spPr>
          <a:xfrm>
            <a:off x="4690872" y="4462272"/>
            <a:ext cx="384048" cy="384048"/>
          </a:xfrm>
          <a:prstGeom prst="ellipse">
            <a:avLst/>
          </a:prstGeom>
          <a:solidFill>
            <a:srgbClr val="4285F4"/>
          </a:solidFill>
          <a:ln/>
        </p:spPr>
      </p:sp>
      <p:sp>
        <p:nvSpPr>
          <p:cNvPr id="98" name="Text 70"/>
          <p:cNvSpPr txBox="1"/>
          <p:nvPr/>
        </p:nvSpPr>
        <p:spPr>
          <a:xfrm>
            <a:off x="4690872" y="44622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B1</a:t>
            </a:r>
            <a:endParaRPr lang="en-US" sz="1100" dirty="0"/>
          </a:p>
        </p:txBody>
      </p:sp>
      <p:sp>
        <p:nvSpPr>
          <p:cNvPr id="99" name="Text 71"/>
          <p:cNvSpPr txBox="1"/>
          <p:nvPr/>
        </p:nvSpPr>
        <p:spPr>
          <a:xfrm>
            <a:off x="5129784" y="442569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Gemini Enterprise</a:t>
            </a:r>
            <a:endParaRPr lang="en-US" sz="1050" dirty="0"/>
          </a:p>
          <a:p>
            <a:pPr indent="0" marL="0">
              <a:buNone/>
            </a:pPr>
            <a:r>
              <a:rPr lang="en-US" sz="1050" b="1" dirty="0">
                <a:solidFill>
                  <a:srgbClr val="1B2A49"/>
                </a:solidFill>
                <a:latin typeface="Meiryo UI" pitchFamily="34" charset="0"/>
                <a:ea typeface="Meiryo UI" pitchFamily="34" charset="-122"/>
                <a:cs typeface="Meiryo UI" pitchFamily="34" charset="-120"/>
              </a:rPr>
              <a:t>エージェント</a:t>
            </a:r>
            <a:endParaRPr lang="en-US" sz="1050" dirty="0"/>
          </a:p>
        </p:txBody>
      </p:sp>
      <p:pic>
        <p:nvPicPr>
          <p:cNvPr id="100" name="Image 26" descr="preencoded.png">    </p:cNvPr>
          <p:cNvPicPr>
            <a:picLocks noChangeAspect="1"/>
          </p:cNvPicPr>
          <p:nvPr/>
        </p:nvPicPr>
        <p:blipFill>
          <a:blip r:embed="rId27"/>
          <a:stretch>
            <a:fillRect/>
          </a:stretch>
        </p:blipFill>
        <p:spPr>
          <a:xfrm>
            <a:off x="4727448" y="4965192"/>
            <a:ext cx="201168" cy="201168"/>
          </a:xfrm>
          <a:prstGeom prst="rect">
            <a:avLst/>
          </a:prstGeom>
        </p:spPr>
      </p:pic>
      <p:pic>
        <p:nvPicPr>
          <p:cNvPr id="101" name="Image 27" descr="preencoded.png">    </p:cNvPr>
          <p:cNvPicPr>
            <a:picLocks noChangeAspect="1"/>
          </p:cNvPicPr>
          <p:nvPr/>
        </p:nvPicPr>
        <p:blipFill>
          <a:blip r:embed="rId28"/>
          <a:stretch>
            <a:fillRect/>
          </a:stretch>
        </p:blipFill>
        <p:spPr>
          <a:xfrm>
            <a:off x="5001768" y="4965192"/>
            <a:ext cx="201168" cy="201168"/>
          </a:xfrm>
          <a:prstGeom prst="rect">
            <a:avLst/>
          </a:prstGeom>
        </p:spPr>
      </p:pic>
      <p:pic>
        <p:nvPicPr>
          <p:cNvPr id="102" name="Image 28" descr="preencoded.png">    </p:cNvPr>
          <p:cNvPicPr>
            <a:picLocks noChangeAspect="1"/>
          </p:cNvPicPr>
          <p:nvPr/>
        </p:nvPicPr>
        <p:blipFill>
          <a:blip r:embed="rId29"/>
          <a:stretch>
            <a:fillRect/>
          </a:stretch>
        </p:blipFill>
        <p:spPr>
          <a:xfrm>
            <a:off x="5276088" y="4965192"/>
            <a:ext cx="201168" cy="201168"/>
          </a:xfrm>
          <a:prstGeom prst="rect">
            <a:avLst/>
          </a:prstGeom>
        </p:spPr>
      </p:pic>
      <p:sp>
        <p:nvSpPr>
          <p:cNvPr id="103" name="Text 72"/>
          <p:cNvSpPr txBox="1"/>
          <p:nvPr/>
        </p:nvSpPr>
        <p:spPr>
          <a:xfrm>
            <a:off x="5532120" y="494690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104" name="Shape 73"/>
          <p:cNvSpPr/>
          <p:nvPr/>
        </p:nvSpPr>
        <p:spPr>
          <a:xfrm>
            <a:off x="6949440" y="4389120"/>
            <a:ext cx="2240280" cy="868680"/>
          </a:xfrm>
          <a:prstGeom prst="roundRect">
            <a:avLst>
              <a:gd name="adj" fmla="val 6316"/>
            </a:avLst>
          </a:prstGeom>
          <a:solidFill>
            <a:srgbClr val="FFFFFF"/>
          </a:solidFill>
          <a:ln w="15875">
            <a:solidFill>
              <a:srgbClr val="4285F4"/>
            </a:solidFill>
            <a:prstDash val="solid"/>
          </a:ln>
        </p:spPr>
      </p:sp>
      <p:sp>
        <p:nvSpPr>
          <p:cNvPr id="105" name="Shape 74"/>
          <p:cNvSpPr/>
          <p:nvPr/>
        </p:nvSpPr>
        <p:spPr>
          <a:xfrm>
            <a:off x="7022592" y="4462272"/>
            <a:ext cx="384048" cy="384048"/>
          </a:xfrm>
          <a:prstGeom prst="ellipse">
            <a:avLst/>
          </a:prstGeom>
          <a:solidFill>
            <a:srgbClr val="4285F4"/>
          </a:solidFill>
          <a:ln/>
        </p:spPr>
      </p:sp>
      <p:sp>
        <p:nvSpPr>
          <p:cNvPr id="106" name="Text 75"/>
          <p:cNvSpPr txBox="1"/>
          <p:nvPr/>
        </p:nvSpPr>
        <p:spPr>
          <a:xfrm>
            <a:off x="7022592" y="44622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B2</a:t>
            </a:r>
            <a:endParaRPr lang="en-US" sz="1100" dirty="0"/>
          </a:p>
        </p:txBody>
      </p:sp>
      <p:sp>
        <p:nvSpPr>
          <p:cNvPr id="107" name="Text 76"/>
          <p:cNvSpPr txBox="1"/>
          <p:nvPr/>
        </p:nvSpPr>
        <p:spPr>
          <a:xfrm>
            <a:off x="7461504" y="442569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Agent Platform＋</a:t>
            </a:r>
            <a:endParaRPr lang="en-US" sz="1050" dirty="0"/>
          </a:p>
          <a:p>
            <a:pPr indent="0" marL="0">
              <a:buNone/>
            </a:pPr>
            <a:r>
              <a:rPr lang="en-US" sz="1050" b="1" dirty="0">
                <a:solidFill>
                  <a:srgbClr val="1B2A49"/>
                </a:solidFill>
                <a:latin typeface="Meiryo UI" pitchFamily="34" charset="0"/>
                <a:ea typeface="Meiryo UI" pitchFamily="34" charset="-122"/>
                <a:cs typeface="Meiryo UI" pitchFamily="34" charset="-120"/>
              </a:rPr>
              <a:t>Geminiで自動起案</a:t>
            </a:r>
            <a:endParaRPr lang="en-US" sz="1050" dirty="0"/>
          </a:p>
        </p:txBody>
      </p:sp>
      <p:pic>
        <p:nvPicPr>
          <p:cNvPr id="108" name="Image 29" descr="preencoded.png">    </p:cNvPr>
          <p:cNvPicPr>
            <a:picLocks noChangeAspect="1"/>
          </p:cNvPicPr>
          <p:nvPr/>
        </p:nvPicPr>
        <p:blipFill>
          <a:blip r:embed="rId30"/>
          <a:stretch>
            <a:fillRect/>
          </a:stretch>
        </p:blipFill>
        <p:spPr>
          <a:xfrm>
            <a:off x="7059168" y="4965192"/>
            <a:ext cx="201168" cy="201168"/>
          </a:xfrm>
          <a:prstGeom prst="rect">
            <a:avLst/>
          </a:prstGeom>
        </p:spPr>
      </p:pic>
      <p:pic>
        <p:nvPicPr>
          <p:cNvPr id="109" name="Image 30" descr="preencoded.png">    </p:cNvPr>
          <p:cNvPicPr>
            <a:picLocks noChangeAspect="1"/>
          </p:cNvPicPr>
          <p:nvPr/>
        </p:nvPicPr>
        <p:blipFill>
          <a:blip r:embed="rId31"/>
          <a:stretch>
            <a:fillRect/>
          </a:stretch>
        </p:blipFill>
        <p:spPr>
          <a:xfrm>
            <a:off x="7333488" y="4965192"/>
            <a:ext cx="201168" cy="201168"/>
          </a:xfrm>
          <a:prstGeom prst="rect">
            <a:avLst/>
          </a:prstGeom>
        </p:spPr>
      </p:pic>
      <p:pic>
        <p:nvPicPr>
          <p:cNvPr id="110" name="Image 31" descr="preencoded.png">    </p:cNvPr>
          <p:cNvPicPr>
            <a:picLocks noChangeAspect="1"/>
          </p:cNvPicPr>
          <p:nvPr/>
        </p:nvPicPr>
        <p:blipFill>
          <a:blip r:embed="rId32"/>
          <a:stretch>
            <a:fillRect/>
          </a:stretch>
        </p:blipFill>
        <p:spPr>
          <a:xfrm>
            <a:off x="7607808" y="4965192"/>
            <a:ext cx="201168" cy="201168"/>
          </a:xfrm>
          <a:prstGeom prst="rect">
            <a:avLst/>
          </a:prstGeom>
        </p:spPr>
      </p:pic>
      <p:sp>
        <p:nvSpPr>
          <p:cNvPr id="111" name="Text 77"/>
          <p:cNvSpPr txBox="1"/>
          <p:nvPr/>
        </p:nvSpPr>
        <p:spPr>
          <a:xfrm>
            <a:off x="7863840" y="494690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112" name="Shape 78"/>
          <p:cNvSpPr/>
          <p:nvPr/>
        </p:nvSpPr>
        <p:spPr>
          <a:xfrm>
            <a:off x="9281160" y="4389120"/>
            <a:ext cx="2240280" cy="868680"/>
          </a:xfrm>
          <a:prstGeom prst="roundRect">
            <a:avLst>
              <a:gd name="adj" fmla="val 6316"/>
            </a:avLst>
          </a:prstGeom>
          <a:solidFill>
            <a:srgbClr val="FFFFFF"/>
          </a:solidFill>
          <a:ln w="15875">
            <a:solidFill>
              <a:srgbClr val="4285F4"/>
            </a:solidFill>
            <a:prstDash val="solid"/>
          </a:ln>
        </p:spPr>
      </p:sp>
      <p:sp>
        <p:nvSpPr>
          <p:cNvPr id="113" name="Shape 79"/>
          <p:cNvSpPr/>
          <p:nvPr/>
        </p:nvSpPr>
        <p:spPr>
          <a:xfrm>
            <a:off x="9354312" y="4462272"/>
            <a:ext cx="384048" cy="384048"/>
          </a:xfrm>
          <a:prstGeom prst="ellipse">
            <a:avLst/>
          </a:prstGeom>
          <a:solidFill>
            <a:srgbClr val="4285F4"/>
          </a:solidFill>
          <a:ln/>
        </p:spPr>
      </p:sp>
      <p:sp>
        <p:nvSpPr>
          <p:cNvPr id="114" name="Text 80"/>
          <p:cNvSpPr txBox="1"/>
          <p:nvPr/>
        </p:nvSpPr>
        <p:spPr>
          <a:xfrm>
            <a:off x="9354312" y="44622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B3</a:t>
            </a:r>
            <a:endParaRPr lang="en-US" sz="1100" dirty="0"/>
          </a:p>
        </p:txBody>
      </p:sp>
      <p:sp>
        <p:nvSpPr>
          <p:cNvPr id="115" name="Text 81"/>
          <p:cNvSpPr txBox="1"/>
          <p:nvPr/>
        </p:nvSpPr>
        <p:spPr>
          <a:xfrm>
            <a:off x="9793224" y="442569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スクラッチ開発</a:t>
            </a:r>
            <a:endParaRPr lang="en-US" sz="1050" dirty="0"/>
          </a:p>
        </p:txBody>
      </p:sp>
      <p:pic>
        <p:nvPicPr>
          <p:cNvPr id="116" name="Image 32" descr="preencoded.png">    </p:cNvPr>
          <p:cNvPicPr>
            <a:picLocks noChangeAspect="1"/>
          </p:cNvPicPr>
          <p:nvPr/>
        </p:nvPicPr>
        <p:blipFill>
          <a:blip r:embed="rId33"/>
          <a:stretch>
            <a:fillRect/>
          </a:stretch>
        </p:blipFill>
        <p:spPr>
          <a:xfrm>
            <a:off x="9390888" y="4965192"/>
            <a:ext cx="201168" cy="201168"/>
          </a:xfrm>
          <a:prstGeom prst="rect">
            <a:avLst/>
          </a:prstGeom>
        </p:spPr>
      </p:pic>
      <p:pic>
        <p:nvPicPr>
          <p:cNvPr id="117" name="Image 33" descr="preencoded.png">    </p:cNvPr>
          <p:cNvPicPr>
            <a:picLocks noChangeAspect="1"/>
          </p:cNvPicPr>
          <p:nvPr/>
        </p:nvPicPr>
        <p:blipFill>
          <a:blip r:embed="rId34"/>
          <a:stretch>
            <a:fillRect/>
          </a:stretch>
        </p:blipFill>
        <p:spPr>
          <a:xfrm>
            <a:off x="9665208" y="4965192"/>
            <a:ext cx="201168" cy="201168"/>
          </a:xfrm>
          <a:prstGeom prst="rect">
            <a:avLst/>
          </a:prstGeom>
        </p:spPr>
      </p:pic>
      <p:pic>
        <p:nvPicPr>
          <p:cNvPr id="118" name="Image 34" descr="preencoded.png">    </p:cNvPr>
          <p:cNvPicPr>
            <a:picLocks noChangeAspect="1"/>
          </p:cNvPicPr>
          <p:nvPr/>
        </p:nvPicPr>
        <p:blipFill>
          <a:blip r:embed="rId35"/>
          <a:stretch>
            <a:fillRect/>
          </a:stretch>
        </p:blipFill>
        <p:spPr>
          <a:xfrm>
            <a:off x="9939528" y="4965192"/>
            <a:ext cx="201168" cy="201168"/>
          </a:xfrm>
          <a:prstGeom prst="rect">
            <a:avLst/>
          </a:prstGeom>
        </p:spPr>
      </p:pic>
      <p:sp>
        <p:nvSpPr>
          <p:cNvPr id="119" name="Text 82"/>
          <p:cNvSpPr txBox="1"/>
          <p:nvPr/>
        </p:nvSpPr>
        <p:spPr>
          <a:xfrm>
            <a:off x="10195560" y="494690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管理：独自アプリ</a:t>
            </a:r>
            <a:endParaRPr lang="en-US" sz="850" dirty="0"/>
          </a:p>
        </p:txBody>
      </p:sp>
      <p:sp>
        <p:nvSpPr>
          <p:cNvPr id="120" name="Text 83"/>
          <p:cNvSpPr txBox="1"/>
          <p:nvPr/>
        </p:nvSpPr>
        <p:spPr>
          <a:xfrm>
            <a:off x="2286000" y="5349240"/>
            <a:ext cx="2240280" cy="868680"/>
          </a:xfrm>
          <a:prstGeom prst="rect">
            <a:avLst/>
          </a:prstGeom>
          <a:noFill/>
          <a:ln/>
        </p:spPr>
        <p:txBody>
          <a:bodyPr wrap="square" lIns="508" tIns="508" rIns="508" bIns="508" rtlCol="0" anchor="ctr"/>
          <a:lstStyle/>
          <a:p>
            <a:pPr algn="ctr" indent="0" marL="0">
              <a:buNone/>
            </a:pPr>
            <a:r>
              <a:rPr lang="en-US" sz="900" dirty="0">
                <a:solidFill>
                  <a:srgbClr val="6B7280"/>
                </a:solidFill>
                <a:latin typeface="Meiryo UI" pitchFamily="34" charset="0"/>
                <a:ea typeface="Meiryo UI" pitchFamily="34" charset="-122"/>
                <a:cs typeface="Meiryo UI" pitchFamily="34" charset="-120"/>
              </a:rPr>
              <a:t>（M365・GCPとは独立した</a:t>
            </a:r>
            <a:endParaRPr lang="en-US" sz="900" dirty="0"/>
          </a:p>
          <a:p>
            <a:pPr algn="ctr" indent="0" marL="0">
              <a:buNone/>
            </a:pPr>
            <a:r>
              <a:rPr lang="en-US" sz="900" dirty="0">
                <a:solidFill>
                  <a:srgbClr val="6B7280"/>
                </a:solidFill>
                <a:latin typeface="Meiryo UI" pitchFamily="34" charset="0"/>
                <a:ea typeface="Meiryo UI" pitchFamily="34" charset="-122"/>
                <a:cs typeface="Meiryo UI" pitchFamily="34" charset="-120"/>
              </a:rPr>
              <a:t>選択肢）</a:t>
            </a:r>
            <a:endParaRPr lang="en-US" sz="900" dirty="0"/>
          </a:p>
        </p:txBody>
      </p:sp>
      <p:sp>
        <p:nvSpPr>
          <p:cNvPr id="121" name="Shape 84"/>
          <p:cNvSpPr/>
          <p:nvPr/>
        </p:nvSpPr>
        <p:spPr>
          <a:xfrm>
            <a:off x="4617720" y="5349240"/>
            <a:ext cx="4572000" cy="868680"/>
          </a:xfrm>
          <a:prstGeom prst="roundRect">
            <a:avLst>
              <a:gd name="adj" fmla="val 6316"/>
            </a:avLst>
          </a:prstGeom>
          <a:solidFill>
            <a:srgbClr val="FFFFFF"/>
          </a:solidFill>
          <a:ln w="15875">
            <a:solidFill>
              <a:srgbClr val="C77700"/>
            </a:solidFill>
            <a:prstDash val="solid"/>
          </a:ln>
        </p:spPr>
      </p:sp>
      <p:sp>
        <p:nvSpPr>
          <p:cNvPr id="122" name="Shape 85"/>
          <p:cNvSpPr/>
          <p:nvPr/>
        </p:nvSpPr>
        <p:spPr>
          <a:xfrm>
            <a:off x="4690872" y="5422392"/>
            <a:ext cx="384048" cy="384048"/>
          </a:xfrm>
          <a:prstGeom prst="ellipse">
            <a:avLst/>
          </a:prstGeom>
          <a:solidFill>
            <a:srgbClr val="C77700"/>
          </a:solidFill>
          <a:ln/>
        </p:spPr>
      </p:sp>
      <p:sp>
        <p:nvSpPr>
          <p:cNvPr id="123" name="Text 86"/>
          <p:cNvSpPr txBox="1"/>
          <p:nvPr/>
        </p:nvSpPr>
        <p:spPr>
          <a:xfrm>
            <a:off x="4690872" y="542239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C1</a:t>
            </a:r>
            <a:endParaRPr lang="en-US" sz="1100" dirty="0"/>
          </a:p>
        </p:txBody>
      </p:sp>
      <p:sp>
        <p:nvSpPr>
          <p:cNvPr id="124" name="Text 87"/>
          <p:cNvSpPr txBox="1"/>
          <p:nvPr/>
        </p:nvSpPr>
        <p:spPr>
          <a:xfrm>
            <a:off x="5129784" y="5385816"/>
            <a:ext cx="400507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Airtable標準のAI（Field Agents）</a:t>
            </a:r>
            <a:endParaRPr lang="en-US" sz="1050" dirty="0"/>
          </a:p>
        </p:txBody>
      </p:sp>
      <p:pic>
        <p:nvPicPr>
          <p:cNvPr id="125" name="Image 35" descr="preencoded.png">    </p:cNvPr>
          <p:cNvPicPr>
            <a:picLocks noChangeAspect="1"/>
          </p:cNvPicPr>
          <p:nvPr/>
        </p:nvPicPr>
        <p:blipFill>
          <a:blip r:embed="rId36"/>
          <a:stretch>
            <a:fillRect/>
          </a:stretch>
        </p:blipFill>
        <p:spPr>
          <a:xfrm>
            <a:off x="4727448" y="5925312"/>
            <a:ext cx="201168" cy="201168"/>
          </a:xfrm>
          <a:prstGeom prst="rect">
            <a:avLst/>
          </a:prstGeom>
        </p:spPr>
      </p:pic>
      <p:pic>
        <p:nvPicPr>
          <p:cNvPr id="126" name="Image 36" descr="preencoded.png">    </p:cNvPr>
          <p:cNvPicPr>
            <a:picLocks noChangeAspect="1"/>
          </p:cNvPicPr>
          <p:nvPr/>
        </p:nvPicPr>
        <p:blipFill>
          <a:blip r:embed="rId37"/>
          <a:stretch>
            <a:fillRect/>
          </a:stretch>
        </p:blipFill>
        <p:spPr>
          <a:xfrm>
            <a:off x="5001768" y="5925312"/>
            <a:ext cx="201168" cy="201168"/>
          </a:xfrm>
          <a:prstGeom prst="rect">
            <a:avLst/>
          </a:prstGeom>
        </p:spPr>
      </p:pic>
      <p:sp>
        <p:nvSpPr>
          <p:cNvPr id="127" name="Text 88"/>
          <p:cNvSpPr txBox="1"/>
          <p:nvPr/>
        </p:nvSpPr>
        <p:spPr>
          <a:xfrm>
            <a:off x="5257800" y="5907024"/>
            <a:ext cx="384048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管理：Airtable｜カード上で項目を自動生成</a:t>
            </a:r>
            <a:endParaRPr lang="en-US" sz="850" dirty="0"/>
          </a:p>
        </p:txBody>
      </p:sp>
      <p:sp>
        <p:nvSpPr>
          <p:cNvPr id="128" name="Text 89"/>
          <p:cNvSpPr txBox="1"/>
          <p:nvPr/>
        </p:nvSpPr>
        <p:spPr>
          <a:xfrm>
            <a:off x="548640" y="6309360"/>
            <a:ext cx="11064240" cy="256032"/>
          </a:xfrm>
          <a:prstGeom prst="rect">
            <a:avLst/>
          </a:prstGeom>
          <a:noFill/>
          <a:ln/>
        </p:spPr>
        <p:txBody>
          <a:bodyPr wrap="square" lIns="0" tIns="0" rIns="0" bIns="0" rtlCol="0" anchor="t"/>
          <a:lstStyle/>
          <a:p>
            <a:pPr indent="0" marL="0">
              <a:buNone/>
            </a:pPr>
            <a:r>
              <a:rPr lang="en-US" sz="850" dirty="0">
                <a:solidFill>
                  <a:srgbClr val="6B7280"/>
                </a:solidFill>
                <a:latin typeface="Meiryo UI" pitchFamily="34" charset="0"/>
                <a:ea typeface="Meiryo UI" pitchFamily="34" charset="-122"/>
                <a:cs typeface="Meiryo UI" pitchFamily="34" charset="-120"/>
              </a:rPr>
              <a:t>難易度（★）は、開発量・必要なスキル・関係する部署やシステムの数から見た相対的な目安。期間は社内で内製し、PoC後に単独で構築した場合の概算</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業務プロセスのどこをAIが担うか（パターン別）</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カバーする範囲は自動化のStepでほぼ決まる。同じStepのパターン同士の違いは、管理基盤と集約先にある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11</a:t>
            </a:r>
            <a:endParaRPr lang="en-US" sz="900" dirty="0"/>
          </a:p>
        </p:txBody>
      </p:sp>
      <p:sp>
        <p:nvSpPr>
          <p:cNvPr id="6" name="Shape 4"/>
          <p:cNvSpPr/>
          <p:nvPr/>
        </p:nvSpPr>
        <p:spPr>
          <a:xfrm>
            <a:off x="2697480" y="1325880"/>
            <a:ext cx="1160145" cy="530352"/>
          </a:xfrm>
          <a:prstGeom prst="chevron">
            <a:avLst/>
          </a:prstGeom>
          <a:solidFill>
            <a:srgbClr val="1B2A49"/>
          </a:solidFill>
          <a:ln/>
        </p:spPr>
      </p:sp>
      <p:sp>
        <p:nvSpPr>
          <p:cNvPr id="7" name="Text 5"/>
          <p:cNvSpPr txBox="1"/>
          <p:nvPr/>
        </p:nvSpPr>
        <p:spPr>
          <a:xfrm>
            <a:off x="2852928"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情報収集</a:t>
            </a:r>
            <a:endParaRPr lang="en-US" sz="900" dirty="0"/>
          </a:p>
        </p:txBody>
      </p:sp>
      <p:sp>
        <p:nvSpPr>
          <p:cNvPr id="8" name="Shape 6"/>
          <p:cNvSpPr/>
          <p:nvPr/>
        </p:nvSpPr>
        <p:spPr>
          <a:xfrm>
            <a:off x="3811905" y="1325880"/>
            <a:ext cx="1160145" cy="530352"/>
          </a:xfrm>
          <a:prstGeom prst="chevron">
            <a:avLst/>
          </a:prstGeom>
          <a:solidFill>
            <a:srgbClr val="1B2A49"/>
          </a:solidFill>
          <a:ln/>
        </p:spPr>
      </p:sp>
      <p:sp>
        <p:nvSpPr>
          <p:cNvPr id="9" name="Text 7"/>
          <p:cNvSpPr txBox="1"/>
          <p:nvPr/>
        </p:nvSpPr>
        <p:spPr>
          <a:xfrm>
            <a:off x="3967353"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配信カード作成</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（配信日ごと）</a:t>
            </a:r>
            <a:endParaRPr lang="en-US" sz="900" dirty="0"/>
          </a:p>
        </p:txBody>
      </p:sp>
      <p:sp>
        <p:nvSpPr>
          <p:cNvPr id="10" name="Shape 8"/>
          <p:cNvSpPr/>
          <p:nvPr/>
        </p:nvSpPr>
        <p:spPr>
          <a:xfrm>
            <a:off x="4926330" y="1325880"/>
            <a:ext cx="1160145" cy="530352"/>
          </a:xfrm>
          <a:prstGeom prst="chevron">
            <a:avLst/>
          </a:prstGeom>
          <a:solidFill>
            <a:srgbClr val="0E9F9A"/>
          </a:solidFill>
          <a:ln/>
        </p:spPr>
      </p:sp>
      <p:sp>
        <p:nvSpPr>
          <p:cNvPr id="11" name="Text 9"/>
          <p:cNvSpPr txBox="1"/>
          <p:nvPr/>
        </p:nvSpPr>
        <p:spPr>
          <a:xfrm>
            <a:off x="5081778"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テーマ選定</a:t>
            </a:r>
            <a:endParaRPr lang="en-US" sz="900" dirty="0"/>
          </a:p>
        </p:txBody>
      </p:sp>
      <p:sp>
        <p:nvSpPr>
          <p:cNvPr id="12" name="Shape 10"/>
          <p:cNvSpPr/>
          <p:nvPr/>
        </p:nvSpPr>
        <p:spPr>
          <a:xfrm>
            <a:off x="6040755" y="1325880"/>
            <a:ext cx="1160145" cy="530352"/>
          </a:xfrm>
          <a:prstGeom prst="chevron">
            <a:avLst/>
          </a:prstGeom>
          <a:solidFill>
            <a:srgbClr val="0E9F9A"/>
          </a:solidFill>
          <a:ln/>
        </p:spPr>
      </p:sp>
      <p:sp>
        <p:nvSpPr>
          <p:cNvPr id="13" name="Text 11"/>
          <p:cNvSpPr txBox="1"/>
          <p:nvPr/>
        </p:nvSpPr>
        <p:spPr>
          <a:xfrm>
            <a:off x="6196203"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商品選定</a:t>
            </a:r>
            <a:endParaRPr lang="en-US" sz="900" dirty="0"/>
          </a:p>
        </p:txBody>
      </p:sp>
      <p:sp>
        <p:nvSpPr>
          <p:cNvPr id="14" name="Shape 12"/>
          <p:cNvSpPr/>
          <p:nvPr/>
        </p:nvSpPr>
        <p:spPr>
          <a:xfrm>
            <a:off x="7155180" y="1325880"/>
            <a:ext cx="1160145" cy="530352"/>
          </a:xfrm>
          <a:prstGeom prst="chevron">
            <a:avLst/>
          </a:prstGeom>
          <a:solidFill>
            <a:srgbClr val="0E9F9A"/>
          </a:solidFill>
          <a:ln/>
        </p:spPr>
      </p:sp>
      <p:sp>
        <p:nvSpPr>
          <p:cNvPr id="15" name="Text 13"/>
          <p:cNvSpPr txBox="1"/>
          <p:nvPr/>
        </p:nvSpPr>
        <p:spPr>
          <a:xfrm>
            <a:off x="7310628"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コピー制作</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依頼／制作</a:t>
            </a:r>
            <a:endParaRPr lang="en-US" sz="900" dirty="0"/>
          </a:p>
        </p:txBody>
      </p:sp>
      <p:sp>
        <p:nvSpPr>
          <p:cNvPr id="16" name="Shape 14"/>
          <p:cNvSpPr/>
          <p:nvPr/>
        </p:nvSpPr>
        <p:spPr>
          <a:xfrm>
            <a:off x="8269605" y="1325880"/>
            <a:ext cx="1160145" cy="530352"/>
          </a:xfrm>
          <a:prstGeom prst="chevron">
            <a:avLst/>
          </a:prstGeom>
          <a:solidFill>
            <a:srgbClr val="0E9F9A"/>
          </a:solidFill>
          <a:ln/>
        </p:spPr>
      </p:sp>
      <p:sp>
        <p:nvSpPr>
          <p:cNvPr id="17" name="Text 15"/>
          <p:cNvSpPr txBox="1"/>
          <p:nvPr/>
        </p:nvSpPr>
        <p:spPr>
          <a:xfrm>
            <a:off x="8425053"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クリエイティブ</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制作指示</a:t>
            </a:r>
            <a:endParaRPr lang="en-US" sz="900" dirty="0"/>
          </a:p>
        </p:txBody>
      </p:sp>
      <p:sp>
        <p:nvSpPr>
          <p:cNvPr id="18" name="Shape 16"/>
          <p:cNvSpPr/>
          <p:nvPr/>
        </p:nvSpPr>
        <p:spPr>
          <a:xfrm>
            <a:off x="9384030" y="1325880"/>
            <a:ext cx="1160145" cy="530352"/>
          </a:xfrm>
          <a:prstGeom prst="chevron">
            <a:avLst/>
          </a:prstGeom>
          <a:solidFill>
            <a:srgbClr val="1B2A49"/>
          </a:solidFill>
          <a:ln/>
        </p:spPr>
      </p:sp>
      <p:sp>
        <p:nvSpPr>
          <p:cNvPr id="19" name="Text 17"/>
          <p:cNvSpPr txBox="1"/>
          <p:nvPr/>
        </p:nvSpPr>
        <p:spPr>
          <a:xfrm>
            <a:off x="9539478"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レビュー</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・承認</a:t>
            </a:r>
            <a:endParaRPr lang="en-US" sz="900" dirty="0"/>
          </a:p>
        </p:txBody>
      </p:sp>
      <p:sp>
        <p:nvSpPr>
          <p:cNvPr id="20" name="Shape 18"/>
          <p:cNvSpPr/>
          <p:nvPr/>
        </p:nvSpPr>
        <p:spPr>
          <a:xfrm>
            <a:off x="10498455" y="1325880"/>
            <a:ext cx="1160145" cy="530352"/>
          </a:xfrm>
          <a:prstGeom prst="chevron">
            <a:avLst/>
          </a:prstGeom>
          <a:solidFill>
            <a:srgbClr val="1B2A49"/>
          </a:solidFill>
          <a:ln/>
        </p:spPr>
      </p:sp>
      <p:sp>
        <p:nvSpPr>
          <p:cNvPr id="21" name="Text 19"/>
          <p:cNvSpPr txBox="1"/>
          <p:nvPr/>
        </p:nvSpPr>
        <p:spPr>
          <a:xfrm>
            <a:off x="10653903"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振り返り</a:t>
            </a:r>
            <a:endParaRPr lang="en-US" sz="900" dirty="0"/>
          </a:p>
        </p:txBody>
      </p:sp>
      <p:sp>
        <p:nvSpPr>
          <p:cNvPr id="22" name="Text 20"/>
          <p:cNvSpPr txBox="1"/>
          <p:nvPr/>
        </p:nvSpPr>
        <p:spPr>
          <a:xfrm>
            <a:off x="4369118" y="1865376"/>
            <a:ext cx="5572125" cy="201168"/>
          </a:xfrm>
          <a:prstGeom prst="rect">
            <a:avLst/>
          </a:prstGeom>
          <a:noFill/>
          <a:ln/>
        </p:spPr>
        <p:txBody>
          <a:bodyPr wrap="square" lIns="0" tIns="0" rIns="0" bIns="0" rtlCol="0" anchor="t"/>
          <a:lstStyle/>
          <a:p>
            <a:pPr algn="ctr" indent="0" marL="0">
              <a:buNone/>
            </a:pPr>
            <a:r>
              <a:rPr lang="en-US" sz="850" b="1" dirty="0">
                <a:solidFill>
                  <a:srgbClr val="0E9F9A"/>
                </a:solidFill>
                <a:latin typeface="Meiryo UI" pitchFamily="34" charset="0"/>
                <a:ea typeface="Meiryo UI" pitchFamily="34" charset="-122"/>
                <a:cs typeface="Meiryo UI" pitchFamily="34" charset="-120"/>
              </a:rPr>
              <a:t>AIが起案し、カードの項目を埋める工程（Step1・2：人が転記／Step3：自動で書き戻し）</a:t>
            </a:r>
            <a:endParaRPr lang="en-US" sz="850" dirty="0"/>
          </a:p>
        </p:txBody>
      </p:sp>
      <p:sp>
        <p:nvSpPr>
          <p:cNvPr id="23" name="Shape 21"/>
          <p:cNvSpPr/>
          <p:nvPr/>
        </p:nvSpPr>
        <p:spPr>
          <a:xfrm>
            <a:off x="566928" y="2112264"/>
            <a:ext cx="265176" cy="265176"/>
          </a:xfrm>
          <a:prstGeom prst="ellipse">
            <a:avLst/>
          </a:prstGeom>
          <a:solidFill>
            <a:srgbClr val="0F6CBD"/>
          </a:solidFill>
          <a:ln/>
        </p:spPr>
      </p:sp>
      <p:sp>
        <p:nvSpPr>
          <p:cNvPr id="24" name="Text 22"/>
          <p:cNvSpPr txBox="1"/>
          <p:nvPr/>
        </p:nvSpPr>
        <p:spPr>
          <a:xfrm>
            <a:off x="566928" y="211226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A1</a:t>
            </a:r>
            <a:endParaRPr lang="en-US" sz="1100" dirty="0"/>
          </a:p>
        </p:txBody>
      </p:sp>
      <p:sp>
        <p:nvSpPr>
          <p:cNvPr id="25" name="Text 23"/>
          <p:cNvSpPr txBox="1"/>
          <p:nvPr/>
        </p:nvSpPr>
        <p:spPr>
          <a:xfrm>
            <a:off x="896112" y="208483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Copilot手動アシスト</a:t>
            </a:r>
            <a:endParaRPr lang="en-US" sz="900" dirty="0"/>
          </a:p>
        </p:txBody>
      </p:sp>
      <p:sp>
        <p:nvSpPr>
          <p:cNvPr id="26" name="Shape 24"/>
          <p:cNvSpPr/>
          <p:nvPr/>
        </p:nvSpPr>
        <p:spPr>
          <a:xfrm>
            <a:off x="2761488" y="2112264"/>
            <a:ext cx="986409" cy="233172"/>
          </a:xfrm>
          <a:prstGeom prst="roundRect">
            <a:avLst>
              <a:gd name="adj" fmla="val 19608"/>
            </a:avLst>
          </a:prstGeom>
          <a:solidFill>
            <a:srgbClr val="F3F5F8"/>
          </a:solidFill>
          <a:ln/>
        </p:spPr>
      </p:sp>
      <p:sp>
        <p:nvSpPr>
          <p:cNvPr id="27" name="Text 25"/>
          <p:cNvSpPr txBox="1"/>
          <p:nvPr/>
        </p:nvSpPr>
        <p:spPr>
          <a:xfrm>
            <a:off x="2761488" y="211226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8" name="Shape 26"/>
          <p:cNvSpPr/>
          <p:nvPr/>
        </p:nvSpPr>
        <p:spPr>
          <a:xfrm>
            <a:off x="3875913" y="2112264"/>
            <a:ext cx="986409" cy="233172"/>
          </a:xfrm>
          <a:prstGeom prst="roundRect">
            <a:avLst>
              <a:gd name="adj" fmla="val 19608"/>
            </a:avLst>
          </a:prstGeom>
          <a:solidFill>
            <a:srgbClr val="F3F5F8"/>
          </a:solidFill>
          <a:ln/>
        </p:spPr>
      </p:sp>
      <p:sp>
        <p:nvSpPr>
          <p:cNvPr id="29" name="Text 27"/>
          <p:cNvSpPr txBox="1"/>
          <p:nvPr/>
        </p:nvSpPr>
        <p:spPr>
          <a:xfrm>
            <a:off x="3875913" y="211226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30" name="Shape 28"/>
          <p:cNvSpPr/>
          <p:nvPr/>
        </p:nvSpPr>
        <p:spPr>
          <a:xfrm>
            <a:off x="4990338" y="2112264"/>
            <a:ext cx="986409" cy="233172"/>
          </a:xfrm>
          <a:prstGeom prst="roundRect">
            <a:avLst>
              <a:gd name="adj" fmla="val 19608"/>
            </a:avLst>
          </a:prstGeom>
          <a:solidFill>
            <a:srgbClr val="D9F2F1"/>
          </a:solidFill>
          <a:ln/>
        </p:spPr>
      </p:sp>
      <p:sp>
        <p:nvSpPr>
          <p:cNvPr id="31" name="Text 29"/>
          <p:cNvSpPr txBox="1"/>
          <p:nvPr/>
        </p:nvSpPr>
        <p:spPr>
          <a:xfrm>
            <a:off x="4990338" y="211226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32" name="Shape 30"/>
          <p:cNvSpPr/>
          <p:nvPr/>
        </p:nvSpPr>
        <p:spPr>
          <a:xfrm>
            <a:off x="6104763" y="2112264"/>
            <a:ext cx="986409" cy="233172"/>
          </a:xfrm>
          <a:prstGeom prst="roundRect">
            <a:avLst>
              <a:gd name="adj" fmla="val 19608"/>
            </a:avLst>
          </a:prstGeom>
          <a:solidFill>
            <a:srgbClr val="D9F2F1"/>
          </a:solidFill>
          <a:ln/>
        </p:spPr>
      </p:sp>
      <p:sp>
        <p:nvSpPr>
          <p:cNvPr id="33" name="Text 31"/>
          <p:cNvSpPr txBox="1"/>
          <p:nvPr/>
        </p:nvSpPr>
        <p:spPr>
          <a:xfrm>
            <a:off x="6104763" y="211226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34" name="Shape 32"/>
          <p:cNvSpPr/>
          <p:nvPr/>
        </p:nvSpPr>
        <p:spPr>
          <a:xfrm>
            <a:off x="7219188" y="2112264"/>
            <a:ext cx="986409" cy="233172"/>
          </a:xfrm>
          <a:prstGeom prst="roundRect">
            <a:avLst>
              <a:gd name="adj" fmla="val 19608"/>
            </a:avLst>
          </a:prstGeom>
          <a:solidFill>
            <a:srgbClr val="D9F2F1"/>
          </a:solidFill>
          <a:ln/>
        </p:spPr>
      </p:sp>
      <p:sp>
        <p:nvSpPr>
          <p:cNvPr id="35" name="Text 33"/>
          <p:cNvSpPr txBox="1"/>
          <p:nvPr/>
        </p:nvSpPr>
        <p:spPr>
          <a:xfrm>
            <a:off x="7219188" y="211226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36" name="Shape 34"/>
          <p:cNvSpPr/>
          <p:nvPr/>
        </p:nvSpPr>
        <p:spPr>
          <a:xfrm>
            <a:off x="8333613" y="2112264"/>
            <a:ext cx="986409" cy="233172"/>
          </a:xfrm>
          <a:prstGeom prst="roundRect">
            <a:avLst>
              <a:gd name="adj" fmla="val 19608"/>
            </a:avLst>
          </a:prstGeom>
          <a:solidFill>
            <a:srgbClr val="D9F2F1"/>
          </a:solidFill>
          <a:ln/>
        </p:spPr>
      </p:sp>
      <p:sp>
        <p:nvSpPr>
          <p:cNvPr id="37" name="Text 35"/>
          <p:cNvSpPr txBox="1"/>
          <p:nvPr/>
        </p:nvSpPr>
        <p:spPr>
          <a:xfrm>
            <a:off x="8333613" y="211226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38" name="Shape 36"/>
          <p:cNvSpPr/>
          <p:nvPr/>
        </p:nvSpPr>
        <p:spPr>
          <a:xfrm>
            <a:off x="9448038" y="2112264"/>
            <a:ext cx="986409" cy="233172"/>
          </a:xfrm>
          <a:prstGeom prst="roundRect">
            <a:avLst>
              <a:gd name="adj" fmla="val 19608"/>
            </a:avLst>
          </a:prstGeom>
          <a:solidFill>
            <a:srgbClr val="F3F5F8"/>
          </a:solidFill>
          <a:ln/>
        </p:spPr>
      </p:sp>
      <p:sp>
        <p:nvSpPr>
          <p:cNvPr id="39" name="Text 37"/>
          <p:cNvSpPr txBox="1"/>
          <p:nvPr/>
        </p:nvSpPr>
        <p:spPr>
          <a:xfrm>
            <a:off x="9448038" y="211226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40" name="Shape 38"/>
          <p:cNvSpPr/>
          <p:nvPr/>
        </p:nvSpPr>
        <p:spPr>
          <a:xfrm>
            <a:off x="10562463" y="2112264"/>
            <a:ext cx="986409" cy="233172"/>
          </a:xfrm>
          <a:prstGeom prst="roundRect">
            <a:avLst>
              <a:gd name="adj" fmla="val 19608"/>
            </a:avLst>
          </a:prstGeom>
          <a:solidFill>
            <a:srgbClr val="F3F5F8"/>
          </a:solidFill>
          <a:ln/>
        </p:spPr>
      </p:sp>
      <p:sp>
        <p:nvSpPr>
          <p:cNvPr id="41" name="Text 39"/>
          <p:cNvSpPr txBox="1"/>
          <p:nvPr/>
        </p:nvSpPr>
        <p:spPr>
          <a:xfrm>
            <a:off x="10562463" y="211226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42" name="Shape 40"/>
          <p:cNvSpPr/>
          <p:nvPr/>
        </p:nvSpPr>
        <p:spPr>
          <a:xfrm>
            <a:off x="566928" y="2409444"/>
            <a:ext cx="265176" cy="265176"/>
          </a:xfrm>
          <a:prstGeom prst="ellipse">
            <a:avLst/>
          </a:prstGeom>
          <a:solidFill>
            <a:srgbClr val="0F6CBD"/>
          </a:solidFill>
          <a:ln/>
        </p:spPr>
      </p:sp>
      <p:sp>
        <p:nvSpPr>
          <p:cNvPr id="43" name="Text 41"/>
          <p:cNvSpPr txBox="1"/>
          <p:nvPr/>
        </p:nvSpPr>
        <p:spPr>
          <a:xfrm>
            <a:off x="566928" y="240944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A2</a:t>
            </a:r>
            <a:endParaRPr lang="en-US" sz="1100" dirty="0"/>
          </a:p>
        </p:txBody>
      </p:sp>
      <p:sp>
        <p:nvSpPr>
          <p:cNvPr id="44" name="Text 42"/>
          <p:cNvSpPr txBox="1"/>
          <p:nvPr/>
        </p:nvSpPr>
        <p:spPr>
          <a:xfrm>
            <a:off x="896112" y="238201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Agent Builder</a:t>
            </a:r>
            <a:endParaRPr lang="en-US" sz="900" dirty="0"/>
          </a:p>
        </p:txBody>
      </p:sp>
      <p:sp>
        <p:nvSpPr>
          <p:cNvPr id="45" name="Shape 43"/>
          <p:cNvSpPr/>
          <p:nvPr/>
        </p:nvSpPr>
        <p:spPr>
          <a:xfrm>
            <a:off x="2761488" y="2409444"/>
            <a:ext cx="986409" cy="233172"/>
          </a:xfrm>
          <a:prstGeom prst="roundRect">
            <a:avLst>
              <a:gd name="adj" fmla="val 19608"/>
            </a:avLst>
          </a:prstGeom>
          <a:solidFill>
            <a:srgbClr val="D9F2F1"/>
          </a:solidFill>
          <a:ln/>
        </p:spPr>
      </p:sp>
      <p:sp>
        <p:nvSpPr>
          <p:cNvPr id="46" name="Text 44"/>
          <p:cNvSpPr txBox="1"/>
          <p:nvPr/>
        </p:nvSpPr>
        <p:spPr>
          <a:xfrm>
            <a:off x="2761488" y="240944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47" name="Shape 45"/>
          <p:cNvSpPr/>
          <p:nvPr/>
        </p:nvSpPr>
        <p:spPr>
          <a:xfrm>
            <a:off x="3875913" y="2409444"/>
            <a:ext cx="986409" cy="233172"/>
          </a:xfrm>
          <a:prstGeom prst="roundRect">
            <a:avLst>
              <a:gd name="adj" fmla="val 19608"/>
            </a:avLst>
          </a:prstGeom>
          <a:solidFill>
            <a:srgbClr val="F3F5F8"/>
          </a:solidFill>
          <a:ln/>
        </p:spPr>
      </p:sp>
      <p:sp>
        <p:nvSpPr>
          <p:cNvPr id="48" name="Text 46"/>
          <p:cNvSpPr txBox="1"/>
          <p:nvPr/>
        </p:nvSpPr>
        <p:spPr>
          <a:xfrm>
            <a:off x="3875913" y="240944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49" name="Shape 47"/>
          <p:cNvSpPr/>
          <p:nvPr/>
        </p:nvSpPr>
        <p:spPr>
          <a:xfrm>
            <a:off x="4990338" y="2409444"/>
            <a:ext cx="986409" cy="233172"/>
          </a:xfrm>
          <a:prstGeom prst="roundRect">
            <a:avLst>
              <a:gd name="adj" fmla="val 19608"/>
            </a:avLst>
          </a:prstGeom>
          <a:solidFill>
            <a:srgbClr val="D9F2F1"/>
          </a:solidFill>
          <a:ln/>
        </p:spPr>
      </p:sp>
      <p:sp>
        <p:nvSpPr>
          <p:cNvPr id="50" name="Text 48"/>
          <p:cNvSpPr txBox="1"/>
          <p:nvPr/>
        </p:nvSpPr>
        <p:spPr>
          <a:xfrm>
            <a:off x="4990338" y="240944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51" name="Shape 49"/>
          <p:cNvSpPr/>
          <p:nvPr/>
        </p:nvSpPr>
        <p:spPr>
          <a:xfrm>
            <a:off x="6104763" y="2409444"/>
            <a:ext cx="986409" cy="233172"/>
          </a:xfrm>
          <a:prstGeom prst="roundRect">
            <a:avLst>
              <a:gd name="adj" fmla="val 19608"/>
            </a:avLst>
          </a:prstGeom>
          <a:solidFill>
            <a:srgbClr val="D9F2F1"/>
          </a:solidFill>
          <a:ln/>
        </p:spPr>
      </p:sp>
      <p:sp>
        <p:nvSpPr>
          <p:cNvPr id="52" name="Text 50"/>
          <p:cNvSpPr txBox="1"/>
          <p:nvPr/>
        </p:nvSpPr>
        <p:spPr>
          <a:xfrm>
            <a:off x="6104763" y="240944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53" name="Shape 51"/>
          <p:cNvSpPr/>
          <p:nvPr/>
        </p:nvSpPr>
        <p:spPr>
          <a:xfrm>
            <a:off x="7219188" y="2409444"/>
            <a:ext cx="986409" cy="233172"/>
          </a:xfrm>
          <a:prstGeom prst="roundRect">
            <a:avLst>
              <a:gd name="adj" fmla="val 19608"/>
            </a:avLst>
          </a:prstGeom>
          <a:solidFill>
            <a:srgbClr val="D9F2F1"/>
          </a:solidFill>
          <a:ln/>
        </p:spPr>
      </p:sp>
      <p:sp>
        <p:nvSpPr>
          <p:cNvPr id="54" name="Text 52"/>
          <p:cNvSpPr txBox="1"/>
          <p:nvPr/>
        </p:nvSpPr>
        <p:spPr>
          <a:xfrm>
            <a:off x="7219188" y="240944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55" name="Shape 53"/>
          <p:cNvSpPr/>
          <p:nvPr/>
        </p:nvSpPr>
        <p:spPr>
          <a:xfrm>
            <a:off x="8333613" y="2409444"/>
            <a:ext cx="986409" cy="233172"/>
          </a:xfrm>
          <a:prstGeom prst="roundRect">
            <a:avLst>
              <a:gd name="adj" fmla="val 19608"/>
            </a:avLst>
          </a:prstGeom>
          <a:solidFill>
            <a:srgbClr val="D9F2F1"/>
          </a:solidFill>
          <a:ln/>
        </p:spPr>
      </p:sp>
      <p:sp>
        <p:nvSpPr>
          <p:cNvPr id="56" name="Text 54"/>
          <p:cNvSpPr txBox="1"/>
          <p:nvPr/>
        </p:nvSpPr>
        <p:spPr>
          <a:xfrm>
            <a:off x="8333613" y="240944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57" name="Shape 55"/>
          <p:cNvSpPr/>
          <p:nvPr/>
        </p:nvSpPr>
        <p:spPr>
          <a:xfrm>
            <a:off x="9448038" y="2409444"/>
            <a:ext cx="986409" cy="233172"/>
          </a:xfrm>
          <a:prstGeom prst="roundRect">
            <a:avLst>
              <a:gd name="adj" fmla="val 19608"/>
            </a:avLst>
          </a:prstGeom>
          <a:solidFill>
            <a:srgbClr val="F3F5F8"/>
          </a:solidFill>
          <a:ln/>
        </p:spPr>
      </p:sp>
      <p:sp>
        <p:nvSpPr>
          <p:cNvPr id="58" name="Text 56"/>
          <p:cNvSpPr txBox="1"/>
          <p:nvPr/>
        </p:nvSpPr>
        <p:spPr>
          <a:xfrm>
            <a:off x="9448038" y="240944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59" name="Shape 57"/>
          <p:cNvSpPr/>
          <p:nvPr/>
        </p:nvSpPr>
        <p:spPr>
          <a:xfrm>
            <a:off x="10562463" y="2409444"/>
            <a:ext cx="986409" cy="233172"/>
          </a:xfrm>
          <a:prstGeom prst="roundRect">
            <a:avLst>
              <a:gd name="adj" fmla="val 19608"/>
            </a:avLst>
          </a:prstGeom>
          <a:solidFill>
            <a:srgbClr val="F3F5F8"/>
          </a:solidFill>
          <a:ln/>
        </p:spPr>
      </p:sp>
      <p:sp>
        <p:nvSpPr>
          <p:cNvPr id="60" name="Text 58"/>
          <p:cNvSpPr txBox="1"/>
          <p:nvPr/>
        </p:nvSpPr>
        <p:spPr>
          <a:xfrm>
            <a:off x="10562463" y="240944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61" name="Shape 59"/>
          <p:cNvSpPr/>
          <p:nvPr/>
        </p:nvSpPr>
        <p:spPr>
          <a:xfrm>
            <a:off x="566928" y="2706624"/>
            <a:ext cx="265176" cy="265176"/>
          </a:xfrm>
          <a:prstGeom prst="ellipse">
            <a:avLst/>
          </a:prstGeom>
          <a:solidFill>
            <a:srgbClr val="0F6CBD"/>
          </a:solidFill>
          <a:ln/>
        </p:spPr>
      </p:sp>
      <p:sp>
        <p:nvSpPr>
          <p:cNvPr id="62" name="Text 60"/>
          <p:cNvSpPr txBox="1"/>
          <p:nvPr/>
        </p:nvSpPr>
        <p:spPr>
          <a:xfrm>
            <a:off x="566928" y="270662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A3</a:t>
            </a:r>
            <a:endParaRPr lang="en-US" sz="1100" dirty="0"/>
          </a:p>
        </p:txBody>
      </p:sp>
      <p:sp>
        <p:nvSpPr>
          <p:cNvPr id="63" name="Text 61"/>
          <p:cNvSpPr txBox="1"/>
          <p:nvPr/>
        </p:nvSpPr>
        <p:spPr>
          <a:xfrm>
            <a:off x="896112" y="267919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Copilot Studioエージェント</a:t>
            </a:r>
            <a:endParaRPr lang="en-US" sz="900" dirty="0"/>
          </a:p>
        </p:txBody>
      </p:sp>
      <p:sp>
        <p:nvSpPr>
          <p:cNvPr id="64" name="Shape 62"/>
          <p:cNvSpPr/>
          <p:nvPr/>
        </p:nvSpPr>
        <p:spPr>
          <a:xfrm>
            <a:off x="2761488" y="2706624"/>
            <a:ext cx="986409" cy="233172"/>
          </a:xfrm>
          <a:prstGeom prst="roundRect">
            <a:avLst>
              <a:gd name="adj" fmla="val 19608"/>
            </a:avLst>
          </a:prstGeom>
          <a:solidFill>
            <a:srgbClr val="0E9F9A"/>
          </a:solidFill>
          <a:ln/>
        </p:spPr>
      </p:sp>
      <p:sp>
        <p:nvSpPr>
          <p:cNvPr id="65" name="Text 63"/>
          <p:cNvSpPr txBox="1"/>
          <p:nvPr/>
        </p:nvSpPr>
        <p:spPr>
          <a:xfrm>
            <a:off x="2761488" y="27066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66" name="Shape 64"/>
          <p:cNvSpPr/>
          <p:nvPr/>
        </p:nvSpPr>
        <p:spPr>
          <a:xfrm>
            <a:off x="3875913" y="2706624"/>
            <a:ext cx="986409" cy="233172"/>
          </a:xfrm>
          <a:prstGeom prst="roundRect">
            <a:avLst>
              <a:gd name="adj" fmla="val 19608"/>
            </a:avLst>
          </a:prstGeom>
          <a:solidFill>
            <a:srgbClr val="F3F5F8"/>
          </a:solidFill>
          <a:ln/>
        </p:spPr>
      </p:sp>
      <p:sp>
        <p:nvSpPr>
          <p:cNvPr id="67" name="Text 65"/>
          <p:cNvSpPr txBox="1"/>
          <p:nvPr/>
        </p:nvSpPr>
        <p:spPr>
          <a:xfrm>
            <a:off x="3875913" y="27066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68" name="Shape 66"/>
          <p:cNvSpPr/>
          <p:nvPr/>
        </p:nvSpPr>
        <p:spPr>
          <a:xfrm>
            <a:off x="4990338" y="2706624"/>
            <a:ext cx="986409" cy="233172"/>
          </a:xfrm>
          <a:prstGeom prst="roundRect">
            <a:avLst>
              <a:gd name="adj" fmla="val 19608"/>
            </a:avLst>
          </a:prstGeom>
          <a:solidFill>
            <a:srgbClr val="D9F2F1"/>
          </a:solidFill>
          <a:ln/>
        </p:spPr>
      </p:sp>
      <p:sp>
        <p:nvSpPr>
          <p:cNvPr id="69" name="Text 67"/>
          <p:cNvSpPr txBox="1"/>
          <p:nvPr/>
        </p:nvSpPr>
        <p:spPr>
          <a:xfrm>
            <a:off x="4990338" y="270662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70" name="Shape 68"/>
          <p:cNvSpPr/>
          <p:nvPr/>
        </p:nvSpPr>
        <p:spPr>
          <a:xfrm>
            <a:off x="6104763" y="2706624"/>
            <a:ext cx="986409" cy="233172"/>
          </a:xfrm>
          <a:prstGeom prst="roundRect">
            <a:avLst>
              <a:gd name="adj" fmla="val 19608"/>
            </a:avLst>
          </a:prstGeom>
          <a:solidFill>
            <a:srgbClr val="D9F2F1"/>
          </a:solidFill>
          <a:ln/>
        </p:spPr>
      </p:sp>
      <p:sp>
        <p:nvSpPr>
          <p:cNvPr id="71" name="Text 69"/>
          <p:cNvSpPr txBox="1"/>
          <p:nvPr/>
        </p:nvSpPr>
        <p:spPr>
          <a:xfrm>
            <a:off x="6104763" y="270662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72" name="Shape 70"/>
          <p:cNvSpPr/>
          <p:nvPr/>
        </p:nvSpPr>
        <p:spPr>
          <a:xfrm>
            <a:off x="7219188" y="2706624"/>
            <a:ext cx="986409" cy="233172"/>
          </a:xfrm>
          <a:prstGeom prst="roundRect">
            <a:avLst>
              <a:gd name="adj" fmla="val 19608"/>
            </a:avLst>
          </a:prstGeom>
          <a:solidFill>
            <a:srgbClr val="D9F2F1"/>
          </a:solidFill>
          <a:ln/>
        </p:spPr>
      </p:sp>
      <p:sp>
        <p:nvSpPr>
          <p:cNvPr id="73" name="Text 71"/>
          <p:cNvSpPr txBox="1"/>
          <p:nvPr/>
        </p:nvSpPr>
        <p:spPr>
          <a:xfrm>
            <a:off x="7219188" y="270662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74" name="Shape 72"/>
          <p:cNvSpPr/>
          <p:nvPr/>
        </p:nvSpPr>
        <p:spPr>
          <a:xfrm>
            <a:off x="8333613" y="2706624"/>
            <a:ext cx="986409" cy="233172"/>
          </a:xfrm>
          <a:prstGeom prst="roundRect">
            <a:avLst>
              <a:gd name="adj" fmla="val 19608"/>
            </a:avLst>
          </a:prstGeom>
          <a:solidFill>
            <a:srgbClr val="D9F2F1"/>
          </a:solidFill>
          <a:ln/>
        </p:spPr>
      </p:sp>
      <p:sp>
        <p:nvSpPr>
          <p:cNvPr id="75" name="Text 73"/>
          <p:cNvSpPr txBox="1"/>
          <p:nvPr/>
        </p:nvSpPr>
        <p:spPr>
          <a:xfrm>
            <a:off x="8333613" y="270662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76" name="Shape 74"/>
          <p:cNvSpPr/>
          <p:nvPr/>
        </p:nvSpPr>
        <p:spPr>
          <a:xfrm>
            <a:off x="9448038" y="2706624"/>
            <a:ext cx="986409" cy="233172"/>
          </a:xfrm>
          <a:prstGeom prst="roundRect">
            <a:avLst>
              <a:gd name="adj" fmla="val 19608"/>
            </a:avLst>
          </a:prstGeom>
          <a:solidFill>
            <a:srgbClr val="F3F5F8"/>
          </a:solidFill>
          <a:ln/>
        </p:spPr>
      </p:sp>
      <p:sp>
        <p:nvSpPr>
          <p:cNvPr id="77" name="Text 75"/>
          <p:cNvSpPr txBox="1"/>
          <p:nvPr/>
        </p:nvSpPr>
        <p:spPr>
          <a:xfrm>
            <a:off x="9448038" y="27066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78" name="Shape 76"/>
          <p:cNvSpPr/>
          <p:nvPr/>
        </p:nvSpPr>
        <p:spPr>
          <a:xfrm>
            <a:off x="10562463" y="2706624"/>
            <a:ext cx="986409" cy="233172"/>
          </a:xfrm>
          <a:prstGeom prst="roundRect">
            <a:avLst>
              <a:gd name="adj" fmla="val 19608"/>
            </a:avLst>
          </a:prstGeom>
          <a:solidFill>
            <a:srgbClr val="F3F5F8"/>
          </a:solidFill>
          <a:ln/>
        </p:spPr>
      </p:sp>
      <p:sp>
        <p:nvSpPr>
          <p:cNvPr id="79" name="Text 77"/>
          <p:cNvSpPr txBox="1"/>
          <p:nvPr/>
        </p:nvSpPr>
        <p:spPr>
          <a:xfrm>
            <a:off x="10562463" y="27066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80" name="Shape 78"/>
          <p:cNvSpPr/>
          <p:nvPr/>
        </p:nvSpPr>
        <p:spPr>
          <a:xfrm>
            <a:off x="566928" y="3003804"/>
            <a:ext cx="265176" cy="265176"/>
          </a:xfrm>
          <a:prstGeom prst="ellipse">
            <a:avLst/>
          </a:prstGeom>
          <a:solidFill>
            <a:srgbClr val="0F6CBD"/>
          </a:solidFill>
          <a:ln/>
        </p:spPr>
      </p:sp>
      <p:sp>
        <p:nvSpPr>
          <p:cNvPr id="81" name="Text 79"/>
          <p:cNvSpPr txBox="1"/>
          <p:nvPr/>
        </p:nvSpPr>
        <p:spPr>
          <a:xfrm>
            <a:off x="566928" y="300380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A4</a:t>
            </a:r>
            <a:endParaRPr lang="en-US" sz="1100" dirty="0"/>
          </a:p>
        </p:txBody>
      </p:sp>
      <p:sp>
        <p:nvSpPr>
          <p:cNvPr id="82" name="Text 80"/>
          <p:cNvSpPr txBox="1"/>
          <p:nvPr/>
        </p:nvSpPr>
        <p:spPr>
          <a:xfrm>
            <a:off x="896112" y="297637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Power Automateで自動起案</a:t>
            </a:r>
            <a:endParaRPr lang="en-US" sz="900" dirty="0"/>
          </a:p>
        </p:txBody>
      </p:sp>
      <p:sp>
        <p:nvSpPr>
          <p:cNvPr id="83" name="Shape 81"/>
          <p:cNvSpPr/>
          <p:nvPr/>
        </p:nvSpPr>
        <p:spPr>
          <a:xfrm>
            <a:off x="2761488" y="3003804"/>
            <a:ext cx="986409" cy="233172"/>
          </a:xfrm>
          <a:prstGeom prst="roundRect">
            <a:avLst>
              <a:gd name="adj" fmla="val 19608"/>
            </a:avLst>
          </a:prstGeom>
          <a:solidFill>
            <a:srgbClr val="0E9F9A"/>
          </a:solidFill>
          <a:ln/>
        </p:spPr>
      </p:sp>
      <p:sp>
        <p:nvSpPr>
          <p:cNvPr id="84" name="Text 82"/>
          <p:cNvSpPr txBox="1"/>
          <p:nvPr/>
        </p:nvSpPr>
        <p:spPr>
          <a:xfrm>
            <a:off x="2761488" y="30038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85" name="Shape 83"/>
          <p:cNvSpPr/>
          <p:nvPr/>
        </p:nvSpPr>
        <p:spPr>
          <a:xfrm>
            <a:off x="3875913" y="3003804"/>
            <a:ext cx="986409" cy="233172"/>
          </a:xfrm>
          <a:prstGeom prst="roundRect">
            <a:avLst>
              <a:gd name="adj" fmla="val 19608"/>
            </a:avLst>
          </a:prstGeom>
          <a:solidFill>
            <a:srgbClr val="FFFFFF"/>
          </a:solidFill>
          <a:ln w="12700">
            <a:solidFill>
              <a:srgbClr val="9AA5B4"/>
            </a:solidFill>
            <a:prstDash val="dash"/>
          </a:ln>
        </p:spPr>
      </p:sp>
      <p:sp>
        <p:nvSpPr>
          <p:cNvPr id="86" name="Text 84"/>
          <p:cNvSpPr txBox="1"/>
          <p:nvPr/>
        </p:nvSpPr>
        <p:spPr>
          <a:xfrm>
            <a:off x="3875913" y="300380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87" name="Shape 85"/>
          <p:cNvSpPr/>
          <p:nvPr/>
        </p:nvSpPr>
        <p:spPr>
          <a:xfrm>
            <a:off x="4990338" y="3003804"/>
            <a:ext cx="986409" cy="233172"/>
          </a:xfrm>
          <a:prstGeom prst="roundRect">
            <a:avLst>
              <a:gd name="adj" fmla="val 19608"/>
            </a:avLst>
          </a:prstGeom>
          <a:solidFill>
            <a:srgbClr val="0E9F9A"/>
          </a:solidFill>
          <a:ln/>
        </p:spPr>
      </p:sp>
      <p:sp>
        <p:nvSpPr>
          <p:cNvPr id="88" name="Text 86"/>
          <p:cNvSpPr txBox="1"/>
          <p:nvPr/>
        </p:nvSpPr>
        <p:spPr>
          <a:xfrm>
            <a:off x="4990338" y="30038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89" name="Shape 87"/>
          <p:cNvSpPr/>
          <p:nvPr/>
        </p:nvSpPr>
        <p:spPr>
          <a:xfrm>
            <a:off x="6104763" y="3003804"/>
            <a:ext cx="986409" cy="233172"/>
          </a:xfrm>
          <a:prstGeom prst="roundRect">
            <a:avLst>
              <a:gd name="adj" fmla="val 19608"/>
            </a:avLst>
          </a:prstGeom>
          <a:solidFill>
            <a:srgbClr val="0E9F9A"/>
          </a:solidFill>
          <a:ln/>
        </p:spPr>
      </p:sp>
      <p:sp>
        <p:nvSpPr>
          <p:cNvPr id="90" name="Text 88"/>
          <p:cNvSpPr txBox="1"/>
          <p:nvPr/>
        </p:nvSpPr>
        <p:spPr>
          <a:xfrm>
            <a:off x="6104763" y="30038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91" name="Shape 89"/>
          <p:cNvSpPr/>
          <p:nvPr/>
        </p:nvSpPr>
        <p:spPr>
          <a:xfrm>
            <a:off x="7219188" y="3003804"/>
            <a:ext cx="986409" cy="233172"/>
          </a:xfrm>
          <a:prstGeom prst="roundRect">
            <a:avLst>
              <a:gd name="adj" fmla="val 19608"/>
            </a:avLst>
          </a:prstGeom>
          <a:solidFill>
            <a:srgbClr val="0E9F9A"/>
          </a:solidFill>
          <a:ln/>
        </p:spPr>
      </p:sp>
      <p:sp>
        <p:nvSpPr>
          <p:cNvPr id="92" name="Text 90"/>
          <p:cNvSpPr txBox="1"/>
          <p:nvPr/>
        </p:nvSpPr>
        <p:spPr>
          <a:xfrm>
            <a:off x="7219188" y="30038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93" name="Shape 91"/>
          <p:cNvSpPr/>
          <p:nvPr/>
        </p:nvSpPr>
        <p:spPr>
          <a:xfrm>
            <a:off x="8333613" y="3003804"/>
            <a:ext cx="986409" cy="233172"/>
          </a:xfrm>
          <a:prstGeom prst="roundRect">
            <a:avLst>
              <a:gd name="adj" fmla="val 19608"/>
            </a:avLst>
          </a:prstGeom>
          <a:solidFill>
            <a:srgbClr val="0E9F9A"/>
          </a:solidFill>
          <a:ln/>
        </p:spPr>
      </p:sp>
      <p:sp>
        <p:nvSpPr>
          <p:cNvPr id="94" name="Text 92"/>
          <p:cNvSpPr txBox="1"/>
          <p:nvPr/>
        </p:nvSpPr>
        <p:spPr>
          <a:xfrm>
            <a:off x="8333613" y="30038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95" name="Shape 93"/>
          <p:cNvSpPr/>
          <p:nvPr/>
        </p:nvSpPr>
        <p:spPr>
          <a:xfrm>
            <a:off x="9448038" y="3003804"/>
            <a:ext cx="986409" cy="233172"/>
          </a:xfrm>
          <a:prstGeom prst="roundRect">
            <a:avLst>
              <a:gd name="adj" fmla="val 19608"/>
            </a:avLst>
          </a:prstGeom>
          <a:solidFill>
            <a:srgbClr val="FDEBD3"/>
          </a:solidFill>
          <a:ln/>
        </p:spPr>
      </p:sp>
      <p:sp>
        <p:nvSpPr>
          <p:cNvPr id="96" name="Text 94"/>
          <p:cNvSpPr txBox="1"/>
          <p:nvPr/>
        </p:nvSpPr>
        <p:spPr>
          <a:xfrm>
            <a:off x="9448038" y="300380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97" name="Shape 95"/>
          <p:cNvSpPr/>
          <p:nvPr/>
        </p:nvSpPr>
        <p:spPr>
          <a:xfrm>
            <a:off x="10562463" y="3003804"/>
            <a:ext cx="986409" cy="233172"/>
          </a:xfrm>
          <a:prstGeom prst="roundRect">
            <a:avLst>
              <a:gd name="adj" fmla="val 19608"/>
            </a:avLst>
          </a:prstGeom>
          <a:solidFill>
            <a:srgbClr val="FFFFFF"/>
          </a:solidFill>
          <a:ln w="12700">
            <a:solidFill>
              <a:srgbClr val="9AA5B4"/>
            </a:solidFill>
            <a:prstDash val="dash"/>
          </a:ln>
        </p:spPr>
      </p:sp>
      <p:sp>
        <p:nvSpPr>
          <p:cNvPr id="98" name="Text 96"/>
          <p:cNvSpPr txBox="1"/>
          <p:nvPr/>
        </p:nvSpPr>
        <p:spPr>
          <a:xfrm>
            <a:off x="10562463" y="300380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99" name="Shape 97"/>
          <p:cNvSpPr/>
          <p:nvPr/>
        </p:nvSpPr>
        <p:spPr>
          <a:xfrm>
            <a:off x="566928" y="3300984"/>
            <a:ext cx="265176" cy="265176"/>
          </a:xfrm>
          <a:prstGeom prst="ellipse">
            <a:avLst/>
          </a:prstGeom>
          <a:solidFill>
            <a:srgbClr val="0F6CBD"/>
          </a:solidFill>
          <a:ln/>
        </p:spPr>
      </p:sp>
      <p:sp>
        <p:nvSpPr>
          <p:cNvPr id="100" name="Text 98"/>
          <p:cNvSpPr txBox="1"/>
          <p:nvPr/>
        </p:nvSpPr>
        <p:spPr>
          <a:xfrm>
            <a:off x="566928" y="330098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A5</a:t>
            </a:r>
            <a:endParaRPr lang="en-US" sz="1100" dirty="0"/>
          </a:p>
        </p:txBody>
      </p:sp>
      <p:sp>
        <p:nvSpPr>
          <p:cNvPr id="101" name="Text 99"/>
          <p:cNvSpPr txBox="1"/>
          <p:nvPr/>
        </p:nvSpPr>
        <p:spPr>
          <a:xfrm>
            <a:off x="896112" y="327355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Listsに移行</a:t>
            </a:r>
            <a:endParaRPr lang="en-US" sz="900" dirty="0"/>
          </a:p>
        </p:txBody>
      </p:sp>
      <p:sp>
        <p:nvSpPr>
          <p:cNvPr id="102" name="Shape 100"/>
          <p:cNvSpPr/>
          <p:nvPr/>
        </p:nvSpPr>
        <p:spPr>
          <a:xfrm>
            <a:off x="2761488" y="3300984"/>
            <a:ext cx="986409" cy="233172"/>
          </a:xfrm>
          <a:prstGeom prst="roundRect">
            <a:avLst>
              <a:gd name="adj" fmla="val 19608"/>
            </a:avLst>
          </a:prstGeom>
          <a:solidFill>
            <a:srgbClr val="0E9F9A"/>
          </a:solidFill>
          <a:ln/>
        </p:spPr>
      </p:sp>
      <p:sp>
        <p:nvSpPr>
          <p:cNvPr id="103" name="Text 101"/>
          <p:cNvSpPr txBox="1"/>
          <p:nvPr/>
        </p:nvSpPr>
        <p:spPr>
          <a:xfrm>
            <a:off x="2761488" y="33009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04" name="Shape 102"/>
          <p:cNvSpPr/>
          <p:nvPr/>
        </p:nvSpPr>
        <p:spPr>
          <a:xfrm>
            <a:off x="3875913" y="3300984"/>
            <a:ext cx="986409" cy="233172"/>
          </a:xfrm>
          <a:prstGeom prst="roundRect">
            <a:avLst>
              <a:gd name="adj" fmla="val 19608"/>
            </a:avLst>
          </a:prstGeom>
          <a:solidFill>
            <a:srgbClr val="FFFFFF"/>
          </a:solidFill>
          <a:ln w="12700">
            <a:solidFill>
              <a:srgbClr val="9AA5B4"/>
            </a:solidFill>
            <a:prstDash val="dash"/>
          </a:ln>
        </p:spPr>
      </p:sp>
      <p:sp>
        <p:nvSpPr>
          <p:cNvPr id="105" name="Text 103"/>
          <p:cNvSpPr txBox="1"/>
          <p:nvPr/>
        </p:nvSpPr>
        <p:spPr>
          <a:xfrm>
            <a:off x="3875913" y="330098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06" name="Shape 104"/>
          <p:cNvSpPr/>
          <p:nvPr/>
        </p:nvSpPr>
        <p:spPr>
          <a:xfrm>
            <a:off x="4990338" y="3300984"/>
            <a:ext cx="986409" cy="233172"/>
          </a:xfrm>
          <a:prstGeom prst="roundRect">
            <a:avLst>
              <a:gd name="adj" fmla="val 19608"/>
            </a:avLst>
          </a:prstGeom>
          <a:solidFill>
            <a:srgbClr val="0E9F9A"/>
          </a:solidFill>
          <a:ln/>
        </p:spPr>
      </p:sp>
      <p:sp>
        <p:nvSpPr>
          <p:cNvPr id="107" name="Text 105"/>
          <p:cNvSpPr txBox="1"/>
          <p:nvPr/>
        </p:nvSpPr>
        <p:spPr>
          <a:xfrm>
            <a:off x="4990338" y="33009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08" name="Shape 106"/>
          <p:cNvSpPr/>
          <p:nvPr/>
        </p:nvSpPr>
        <p:spPr>
          <a:xfrm>
            <a:off x="6104763" y="3300984"/>
            <a:ext cx="986409" cy="233172"/>
          </a:xfrm>
          <a:prstGeom prst="roundRect">
            <a:avLst>
              <a:gd name="adj" fmla="val 19608"/>
            </a:avLst>
          </a:prstGeom>
          <a:solidFill>
            <a:srgbClr val="0E9F9A"/>
          </a:solidFill>
          <a:ln/>
        </p:spPr>
      </p:sp>
      <p:sp>
        <p:nvSpPr>
          <p:cNvPr id="109" name="Text 107"/>
          <p:cNvSpPr txBox="1"/>
          <p:nvPr/>
        </p:nvSpPr>
        <p:spPr>
          <a:xfrm>
            <a:off x="6104763" y="33009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10" name="Shape 108"/>
          <p:cNvSpPr/>
          <p:nvPr/>
        </p:nvSpPr>
        <p:spPr>
          <a:xfrm>
            <a:off x="7219188" y="3300984"/>
            <a:ext cx="986409" cy="233172"/>
          </a:xfrm>
          <a:prstGeom prst="roundRect">
            <a:avLst>
              <a:gd name="adj" fmla="val 19608"/>
            </a:avLst>
          </a:prstGeom>
          <a:solidFill>
            <a:srgbClr val="0E9F9A"/>
          </a:solidFill>
          <a:ln/>
        </p:spPr>
      </p:sp>
      <p:sp>
        <p:nvSpPr>
          <p:cNvPr id="111" name="Text 109"/>
          <p:cNvSpPr txBox="1"/>
          <p:nvPr/>
        </p:nvSpPr>
        <p:spPr>
          <a:xfrm>
            <a:off x="7219188" y="33009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12" name="Shape 110"/>
          <p:cNvSpPr/>
          <p:nvPr/>
        </p:nvSpPr>
        <p:spPr>
          <a:xfrm>
            <a:off x="8333613" y="3300984"/>
            <a:ext cx="986409" cy="233172"/>
          </a:xfrm>
          <a:prstGeom prst="roundRect">
            <a:avLst>
              <a:gd name="adj" fmla="val 19608"/>
            </a:avLst>
          </a:prstGeom>
          <a:solidFill>
            <a:srgbClr val="0E9F9A"/>
          </a:solidFill>
          <a:ln/>
        </p:spPr>
      </p:sp>
      <p:sp>
        <p:nvSpPr>
          <p:cNvPr id="113" name="Text 111"/>
          <p:cNvSpPr txBox="1"/>
          <p:nvPr/>
        </p:nvSpPr>
        <p:spPr>
          <a:xfrm>
            <a:off x="8333613" y="33009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14" name="Shape 112"/>
          <p:cNvSpPr/>
          <p:nvPr/>
        </p:nvSpPr>
        <p:spPr>
          <a:xfrm>
            <a:off x="9448038" y="3300984"/>
            <a:ext cx="986409" cy="233172"/>
          </a:xfrm>
          <a:prstGeom prst="roundRect">
            <a:avLst>
              <a:gd name="adj" fmla="val 19608"/>
            </a:avLst>
          </a:prstGeom>
          <a:solidFill>
            <a:srgbClr val="FDEBD3"/>
          </a:solidFill>
          <a:ln/>
        </p:spPr>
      </p:sp>
      <p:sp>
        <p:nvSpPr>
          <p:cNvPr id="115" name="Text 113"/>
          <p:cNvSpPr txBox="1"/>
          <p:nvPr/>
        </p:nvSpPr>
        <p:spPr>
          <a:xfrm>
            <a:off x="9448038" y="330098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116" name="Shape 114"/>
          <p:cNvSpPr/>
          <p:nvPr/>
        </p:nvSpPr>
        <p:spPr>
          <a:xfrm>
            <a:off x="10562463" y="3300984"/>
            <a:ext cx="986409" cy="233172"/>
          </a:xfrm>
          <a:prstGeom prst="roundRect">
            <a:avLst>
              <a:gd name="adj" fmla="val 19608"/>
            </a:avLst>
          </a:prstGeom>
          <a:solidFill>
            <a:srgbClr val="FFFFFF"/>
          </a:solidFill>
          <a:ln w="12700">
            <a:solidFill>
              <a:srgbClr val="9AA5B4"/>
            </a:solidFill>
            <a:prstDash val="dash"/>
          </a:ln>
        </p:spPr>
      </p:sp>
      <p:sp>
        <p:nvSpPr>
          <p:cNvPr id="117" name="Text 115"/>
          <p:cNvSpPr txBox="1"/>
          <p:nvPr/>
        </p:nvSpPr>
        <p:spPr>
          <a:xfrm>
            <a:off x="10562463" y="330098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18" name="Shape 116"/>
          <p:cNvSpPr/>
          <p:nvPr/>
        </p:nvSpPr>
        <p:spPr>
          <a:xfrm>
            <a:off x="566928" y="3598164"/>
            <a:ext cx="265176" cy="265176"/>
          </a:xfrm>
          <a:prstGeom prst="ellipse">
            <a:avLst/>
          </a:prstGeom>
          <a:solidFill>
            <a:srgbClr val="0F6CBD"/>
          </a:solidFill>
          <a:ln/>
        </p:spPr>
      </p:sp>
      <p:sp>
        <p:nvSpPr>
          <p:cNvPr id="119" name="Text 117"/>
          <p:cNvSpPr txBox="1"/>
          <p:nvPr/>
        </p:nvSpPr>
        <p:spPr>
          <a:xfrm>
            <a:off x="566928" y="359816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A6</a:t>
            </a:r>
            <a:endParaRPr lang="en-US" sz="1100" dirty="0"/>
          </a:p>
        </p:txBody>
      </p:sp>
      <p:sp>
        <p:nvSpPr>
          <p:cNvPr id="120" name="Text 118"/>
          <p:cNvSpPr txBox="1"/>
          <p:nvPr/>
        </p:nvSpPr>
        <p:spPr>
          <a:xfrm>
            <a:off x="896112" y="357073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Power Appsキャンバス</a:t>
            </a:r>
            <a:endParaRPr lang="en-US" sz="900" dirty="0"/>
          </a:p>
        </p:txBody>
      </p:sp>
      <p:sp>
        <p:nvSpPr>
          <p:cNvPr id="121" name="Shape 119"/>
          <p:cNvSpPr/>
          <p:nvPr/>
        </p:nvSpPr>
        <p:spPr>
          <a:xfrm>
            <a:off x="2761488" y="3598164"/>
            <a:ext cx="986409" cy="233172"/>
          </a:xfrm>
          <a:prstGeom prst="roundRect">
            <a:avLst>
              <a:gd name="adj" fmla="val 19608"/>
            </a:avLst>
          </a:prstGeom>
          <a:solidFill>
            <a:srgbClr val="0E9F9A"/>
          </a:solidFill>
          <a:ln/>
        </p:spPr>
      </p:sp>
      <p:sp>
        <p:nvSpPr>
          <p:cNvPr id="122" name="Text 120"/>
          <p:cNvSpPr txBox="1"/>
          <p:nvPr/>
        </p:nvSpPr>
        <p:spPr>
          <a:xfrm>
            <a:off x="2761488" y="35981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23" name="Shape 121"/>
          <p:cNvSpPr/>
          <p:nvPr/>
        </p:nvSpPr>
        <p:spPr>
          <a:xfrm>
            <a:off x="3875913" y="3598164"/>
            <a:ext cx="986409" cy="233172"/>
          </a:xfrm>
          <a:prstGeom prst="roundRect">
            <a:avLst>
              <a:gd name="adj" fmla="val 19608"/>
            </a:avLst>
          </a:prstGeom>
          <a:solidFill>
            <a:srgbClr val="FFFFFF"/>
          </a:solidFill>
          <a:ln w="12700">
            <a:solidFill>
              <a:srgbClr val="9AA5B4"/>
            </a:solidFill>
            <a:prstDash val="dash"/>
          </a:ln>
        </p:spPr>
      </p:sp>
      <p:sp>
        <p:nvSpPr>
          <p:cNvPr id="124" name="Text 122"/>
          <p:cNvSpPr txBox="1"/>
          <p:nvPr/>
        </p:nvSpPr>
        <p:spPr>
          <a:xfrm>
            <a:off x="3875913" y="359816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25" name="Shape 123"/>
          <p:cNvSpPr/>
          <p:nvPr/>
        </p:nvSpPr>
        <p:spPr>
          <a:xfrm>
            <a:off x="4990338" y="3598164"/>
            <a:ext cx="986409" cy="233172"/>
          </a:xfrm>
          <a:prstGeom prst="roundRect">
            <a:avLst>
              <a:gd name="adj" fmla="val 19608"/>
            </a:avLst>
          </a:prstGeom>
          <a:solidFill>
            <a:srgbClr val="0E9F9A"/>
          </a:solidFill>
          <a:ln/>
        </p:spPr>
      </p:sp>
      <p:sp>
        <p:nvSpPr>
          <p:cNvPr id="126" name="Text 124"/>
          <p:cNvSpPr txBox="1"/>
          <p:nvPr/>
        </p:nvSpPr>
        <p:spPr>
          <a:xfrm>
            <a:off x="4990338" y="35981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27" name="Shape 125"/>
          <p:cNvSpPr/>
          <p:nvPr/>
        </p:nvSpPr>
        <p:spPr>
          <a:xfrm>
            <a:off x="6104763" y="3598164"/>
            <a:ext cx="986409" cy="233172"/>
          </a:xfrm>
          <a:prstGeom prst="roundRect">
            <a:avLst>
              <a:gd name="adj" fmla="val 19608"/>
            </a:avLst>
          </a:prstGeom>
          <a:solidFill>
            <a:srgbClr val="0E9F9A"/>
          </a:solidFill>
          <a:ln/>
        </p:spPr>
      </p:sp>
      <p:sp>
        <p:nvSpPr>
          <p:cNvPr id="128" name="Text 126"/>
          <p:cNvSpPr txBox="1"/>
          <p:nvPr/>
        </p:nvSpPr>
        <p:spPr>
          <a:xfrm>
            <a:off x="6104763" y="35981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29" name="Shape 127"/>
          <p:cNvSpPr/>
          <p:nvPr/>
        </p:nvSpPr>
        <p:spPr>
          <a:xfrm>
            <a:off x="7219188" y="3598164"/>
            <a:ext cx="986409" cy="233172"/>
          </a:xfrm>
          <a:prstGeom prst="roundRect">
            <a:avLst>
              <a:gd name="adj" fmla="val 19608"/>
            </a:avLst>
          </a:prstGeom>
          <a:solidFill>
            <a:srgbClr val="0E9F9A"/>
          </a:solidFill>
          <a:ln/>
        </p:spPr>
      </p:sp>
      <p:sp>
        <p:nvSpPr>
          <p:cNvPr id="130" name="Text 128"/>
          <p:cNvSpPr txBox="1"/>
          <p:nvPr/>
        </p:nvSpPr>
        <p:spPr>
          <a:xfrm>
            <a:off x="7219188" y="35981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31" name="Shape 129"/>
          <p:cNvSpPr/>
          <p:nvPr/>
        </p:nvSpPr>
        <p:spPr>
          <a:xfrm>
            <a:off x="8333613" y="3598164"/>
            <a:ext cx="986409" cy="233172"/>
          </a:xfrm>
          <a:prstGeom prst="roundRect">
            <a:avLst>
              <a:gd name="adj" fmla="val 19608"/>
            </a:avLst>
          </a:prstGeom>
          <a:solidFill>
            <a:srgbClr val="0E9F9A"/>
          </a:solidFill>
          <a:ln/>
        </p:spPr>
      </p:sp>
      <p:sp>
        <p:nvSpPr>
          <p:cNvPr id="132" name="Text 130"/>
          <p:cNvSpPr txBox="1"/>
          <p:nvPr/>
        </p:nvSpPr>
        <p:spPr>
          <a:xfrm>
            <a:off x="8333613" y="35981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33" name="Shape 131"/>
          <p:cNvSpPr/>
          <p:nvPr/>
        </p:nvSpPr>
        <p:spPr>
          <a:xfrm>
            <a:off x="9448038" y="3598164"/>
            <a:ext cx="986409" cy="233172"/>
          </a:xfrm>
          <a:prstGeom prst="roundRect">
            <a:avLst>
              <a:gd name="adj" fmla="val 19608"/>
            </a:avLst>
          </a:prstGeom>
          <a:solidFill>
            <a:srgbClr val="FDEBD3"/>
          </a:solidFill>
          <a:ln/>
        </p:spPr>
      </p:sp>
      <p:sp>
        <p:nvSpPr>
          <p:cNvPr id="134" name="Text 132"/>
          <p:cNvSpPr txBox="1"/>
          <p:nvPr/>
        </p:nvSpPr>
        <p:spPr>
          <a:xfrm>
            <a:off x="9448038" y="359816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135" name="Shape 133"/>
          <p:cNvSpPr/>
          <p:nvPr/>
        </p:nvSpPr>
        <p:spPr>
          <a:xfrm>
            <a:off x="10562463" y="3598164"/>
            <a:ext cx="986409" cy="233172"/>
          </a:xfrm>
          <a:prstGeom prst="roundRect">
            <a:avLst>
              <a:gd name="adj" fmla="val 19608"/>
            </a:avLst>
          </a:prstGeom>
          <a:solidFill>
            <a:srgbClr val="FFFFFF"/>
          </a:solidFill>
          <a:ln w="12700">
            <a:solidFill>
              <a:srgbClr val="9AA5B4"/>
            </a:solidFill>
            <a:prstDash val="dash"/>
          </a:ln>
        </p:spPr>
      </p:sp>
      <p:sp>
        <p:nvSpPr>
          <p:cNvPr id="136" name="Text 134"/>
          <p:cNvSpPr txBox="1"/>
          <p:nvPr/>
        </p:nvSpPr>
        <p:spPr>
          <a:xfrm>
            <a:off x="10562463" y="359816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37" name="Shape 135"/>
          <p:cNvSpPr/>
          <p:nvPr/>
        </p:nvSpPr>
        <p:spPr>
          <a:xfrm>
            <a:off x="566928" y="3895344"/>
            <a:ext cx="265176" cy="265176"/>
          </a:xfrm>
          <a:prstGeom prst="ellipse">
            <a:avLst/>
          </a:prstGeom>
          <a:solidFill>
            <a:srgbClr val="0F6CBD"/>
          </a:solidFill>
          <a:ln/>
        </p:spPr>
      </p:sp>
      <p:sp>
        <p:nvSpPr>
          <p:cNvPr id="138" name="Text 136"/>
          <p:cNvSpPr txBox="1"/>
          <p:nvPr/>
        </p:nvSpPr>
        <p:spPr>
          <a:xfrm>
            <a:off x="566928" y="389534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A7</a:t>
            </a:r>
            <a:endParaRPr lang="en-US" sz="1100" dirty="0"/>
          </a:p>
        </p:txBody>
      </p:sp>
      <p:sp>
        <p:nvSpPr>
          <p:cNvPr id="139" name="Text 137"/>
          <p:cNvSpPr txBox="1"/>
          <p:nvPr/>
        </p:nvSpPr>
        <p:spPr>
          <a:xfrm>
            <a:off x="896112" y="386791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code apps</a:t>
            </a:r>
            <a:endParaRPr lang="en-US" sz="900" dirty="0"/>
          </a:p>
        </p:txBody>
      </p:sp>
      <p:sp>
        <p:nvSpPr>
          <p:cNvPr id="140" name="Shape 138"/>
          <p:cNvSpPr/>
          <p:nvPr/>
        </p:nvSpPr>
        <p:spPr>
          <a:xfrm>
            <a:off x="2761488" y="3895344"/>
            <a:ext cx="986409" cy="233172"/>
          </a:xfrm>
          <a:prstGeom prst="roundRect">
            <a:avLst>
              <a:gd name="adj" fmla="val 19608"/>
            </a:avLst>
          </a:prstGeom>
          <a:solidFill>
            <a:srgbClr val="0E9F9A"/>
          </a:solidFill>
          <a:ln/>
        </p:spPr>
      </p:sp>
      <p:sp>
        <p:nvSpPr>
          <p:cNvPr id="141" name="Text 139"/>
          <p:cNvSpPr txBox="1"/>
          <p:nvPr/>
        </p:nvSpPr>
        <p:spPr>
          <a:xfrm>
            <a:off x="2761488" y="38953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42" name="Shape 140"/>
          <p:cNvSpPr/>
          <p:nvPr/>
        </p:nvSpPr>
        <p:spPr>
          <a:xfrm>
            <a:off x="3875913" y="3895344"/>
            <a:ext cx="986409" cy="233172"/>
          </a:xfrm>
          <a:prstGeom prst="roundRect">
            <a:avLst>
              <a:gd name="adj" fmla="val 19608"/>
            </a:avLst>
          </a:prstGeom>
          <a:solidFill>
            <a:srgbClr val="FFFFFF"/>
          </a:solidFill>
          <a:ln w="12700">
            <a:solidFill>
              <a:srgbClr val="9AA5B4"/>
            </a:solidFill>
            <a:prstDash val="dash"/>
          </a:ln>
        </p:spPr>
      </p:sp>
      <p:sp>
        <p:nvSpPr>
          <p:cNvPr id="143" name="Text 141"/>
          <p:cNvSpPr txBox="1"/>
          <p:nvPr/>
        </p:nvSpPr>
        <p:spPr>
          <a:xfrm>
            <a:off x="3875913" y="389534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44" name="Shape 142"/>
          <p:cNvSpPr/>
          <p:nvPr/>
        </p:nvSpPr>
        <p:spPr>
          <a:xfrm>
            <a:off x="4990338" y="3895344"/>
            <a:ext cx="986409" cy="233172"/>
          </a:xfrm>
          <a:prstGeom prst="roundRect">
            <a:avLst>
              <a:gd name="adj" fmla="val 19608"/>
            </a:avLst>
          </a:prstGeom>
          <a:solidFill>
            <a:srgbClr val="0E9F9A"/>
          </a:solidFill>
          <a:ln/>
        </p:spPr>
      </p:sp>
      <p:sp>
        <p:nvSpPr>
          <p:cNvPr id="145" name="Text 143"/>
          <p:cNvSpPr txBox="1"/>
          <p:nvPr/>
        </p:nvSpPr>
        <p:spPr>
          <a:xfrm>
            <a:off x="4990338" y="38953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46" name="Shape 144"/>
          <p:cNvSpPr/>
          <p:nvPr/>
        </p:nvSpPr>
        <p:spPr>
          <a:xfrm>
            <a:off x="6104763" y="3895344"/>
            <a:ext cx="986409" cy="233172"/>
          </a:xfrm>
          <a:prstGeom prst="roundRect">
            <a:avLst>
              <a:gd name="adj" fmla="val 19608"/>
            </a:avLst>
          </a:prstGeom>
          <a:solidFill>
            <a:srgbClr val="0E9F9A"/>
          </a:solidFill>
          <a:ln/>
        </p:spPr>
      </p:sp>
      <p:sp>
        <p:nvSpPr>
          <p:cNvPr id="147" name="Text 145"/>
          <p:cNvSpPr txBox="1"/>
          <p:nvPr/>
        </p:nvSpPr>
        <p:spPr>
          <a:xfrm>
            <a:off x="6104763" y="38953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48" name="Shape 146"/>
          <p:cNvSpPr/>
          <p:nvPr/>
        </p:nvSpPr>
        <p:spPr>
          <a:xfrm>
            <a:off x="7219188" y="3895344"/>
            <a:ext cx="986409" cy="233172"/>
          </a:xfrm>
          <a:prstGeom prst="roundRect">
            <a:avLst>
              <a:gd name="adj" fmla="val 19608"/>
            </a:avLst>
          </a:prstGeom>
          <a:solidFill>
            <a:srgbClr val="0E9F9A"/>
          </a:solidFill>
          <a:ln/>
        </p:spPr>
      </p:sp>
      <p:sp>
        <p:nvSpPr>
          <p:cNvPr id="149" name="Text 147"/>
          <p:cNvSpPr txBox="1"/>
          <p:nvPr/>
        </p:nvSpPr>
        <p:spPr>
          <a:xfrm>
            <a:off x="7219188" y="38953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50" name="Shape 148"/>
          <p:cNvSpPr/>
          <p:nvPr/>
        </p:nvSpPr>
        <p:spPr>
          <a:xfrm>
            <a:off x="8333613" y="3895344"/>
            <a:ext cx="986409" cy="233172"/>
          </a:xfrm>
          <a:prstGeom prst="roundRect">
            <a:avLst>
              <a:gd name="adj" fmla="val 19608"/>
            </a:avLst>
          </a:prstGeom>
          <a:solidFill>
            <a:srgbClr val="0E9F9A"/>
          </a:solidFill>
          <a:ln/>
        </p:spPr>
      </p:sp>
      <p:sp>
        <p:nvSpPr>
          <p:cNvPr id="151" name="Text 149"/>
          <p:cNvSpPr txBox="1"/>
          <p:nvPr/>
        </p:nvSpPr>
        <p:spPr>
          <a:xfrm>
            <a:off x="8333613" y="38953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52" name="Shape 150"/>
          <p:cNvSpPr/>
          <p:nvPr/>
        </p:nvSpPr>
        <p:spPr>
          <a:xfrm>
            <a:off x="9448038" y="3895344"/>
            <a:ext cx="986409" cy="233172"/>
          </a:xfrm>
          <a:prstGeom prst="roundRect">
            <a:avLst>
              <a:gd name="adj" fmla="val 19608"/>
            </a:avLst>
          </a:prstGeom>
          <a:solidFill>
            <a:srgbClr val="FDEBD3"/>
          </a:solidFill>
          <a:ln/>
        </p:spPr>
      </p:sp>
      <p:sp>
        <p:nvSpPr>
          <p:cNvPr id="153" name="Text 151"/>
          <p:cNvSpPr txBox="1"/>
          <p:nvPr/>
        </p:nvSpPr>
        <p:spPr>
          <a:xfrm>
            <a:off x="9448038" y="389534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154" name="Shape 152"/>
          <p:cNvSpPr/>
          <p:nvPr/>
        </p:nvSpPr>
        <p:spPr>
          <a:xfrm>
            <a:off x="10562463" y="3895344"/>
            <a:ext cx="986409" cy="233172"/>
          </a:xfrm>
          <a:prstGeom prst="roundRect">
            <a:avLst>
              <a:gd name="adj" fmla="val 19608"/>
            </a:avLst>
          </a:prstGeom>
          <a:solidFill>
            <a:srgbClr val="FFFFFF"/>
          </a:solidFill>
          <a:ln w="12700">
            <a:solidFill>
              <a:srgbClr val="9AA5B4"/>
            </a:solidFill>
            <a:prstDash val="dash"/>
          </a:ln>
        </p:spPr>
      </p:sp>
      <p:sp>
        <p:nvSpPr>
          <p:cNvPr id="155" name="Text 153"/>
          <p:cNvSpPr txBox="1"/>
          <p:nvPr/>
        </p:nvSpPr>
        <p:spPr>
          <a:xfrm>
            <a:off x="10562463" y="389534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56" name="Shape 154"/>
          <p:cNvSpPr/>
          <p:nvPr/>
        </p:nvSpPr>
        <p:spPr>
          <a:xfrm>
            <a:off x="566928" y="4192524"/>
            <a:ext cx="265176" cy="265176"/>
          </a:xfrm>
          <a:prstGeom prst="ellipse">
            <a:avLst/>
          </a:prstGeom>
          <a:solidFill>
            <a:srgbClr val="0F6CBD"/>
          </a:solidFill>
          <a:ln/>
        </p:spPr>
      </p:sp>
      <p:sp>
        <p:nvSpPr>
          <p:cNvPr id="157" name="Text 155"/>
          <p:cNvSpPr txBox="1"/>
          <p:nvPr/>
        </p:nvSpPr>
        <p:spPr>
          <a:xfrm>
            <a:off x="566928" y="419252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A8</a:t>
            </a:r>
            <a:endParaRPr lang="en-US" sz="1100" dirty="0"/>
          </a:p>
        </p:txBody>
      </p:sp>
      <p:sp>
        <p:nvSpPr>
          <p:cNvPr id="158" name="Text 156"/>
          <p:cNvSpPr txBox="1"/>
          <p:nvPr/>
        </p:nvSpPr>
        <p:spPr>
          <a:xfrm>
            <a:off x="896112" y="416509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Lists＋code apps</a:t>
            </a:r>
            <a:endParaRPr lang="en-US" sz="900" dirty="0"/>
          </a:p>
        </p:txBody>
      </p:sp>
      <p:sp>
        <p:nvSpPr>
          <p:cNvPr id="159" name="Shape 157"/>
          <p:cNvSpPr/>
          <p:nvPr/>
        </p:nvSpPr>
        <p:spPr>
          <a:xfrm>
            <a:off x="2761488" y="4192524"/>
            <a:ext cx="986409" cy="233172"/>
          </a:xfrm>
          <a:prstGeom prst="roundRect">
            <a:avLst>
              <a:gd name="adj" fmla="val 19608"/>
            </a:avLst>
          </a:prstGeom>
          <a:solidFill>
            <a:srgbClr val="0E9F9A"/>
          </a:solidFill>
          <a:ln/>
        </p:spPr>
      </p:sp>
      <p:sp>
        <p:nvSpPr>
          <p:cNvPr id="160" name="Text 158"/>
          <p:cNvSpPr txBox="1"/>
          <p:nvPr/>
        </p:nvSpPr>
        <p:spPr>
          <a:xfrm>
            <a:off x="2761488" y="41925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61" name="Shape 159"/>
          <p:cNvSpPr/>
          <p:nvPr/>
        </p:nvSpPr>
        <p:spPr>
          <a:xfrm>
            <a:off x="3875913" y="4192524"/>
            <a:ext cx="986409" cy="233172"/>
          </a:xfrm>
          <a:prstGeom prst="roundRect">
            <a:avLst>
              <a:gd name="adj" fmla="val 19608"/>
            </a:avLst>
          </a:prstGeom>
          <a:solidFill>
            <a:srgbClr val="FFFFFF"/>
          </a:solidFill>
          <a:ln w="12700">
            <a:solidFill>
              <a:srgbClr val="9AA5B4"/>
            </a:solidFill>
            <a:prstDash val="dash"/>
          </a:ln>
        </p:spPr>
      </p:sp>
      <p:sp>
        <p:nvSpPr>
          <p:cNvPr id="162" name="Text 160"/>
          <p:cNvSpPr txBox="1"/>
          <p:nvPr/>
        </p:nvSpPr>
        <p:spPr>
          <a:xfrm>
            <a:off x="3875913" y="419252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63" name="Shape 161"/>
          <p:cNvSpPr/>
          <p:nvPr/>
        </p:nvSpPr>
        <p:spPr>
          <a:xfrm>
            <a:off x="4990338" y="4192524"/>
            <a:ext cx="986409" cy="233172"/>
          </a:xfrm>
          <a:prstGeom prst="roundRect">
            <a:avLst>
              <a:gd name="adj" fmla="val 19608"/>
            </a:avLst>
          </a:prstGeom>
          <a:solidFill>
            <a:srgbClr val="0E9F9A"/>
          </a:solidFill>
          <a:ln/>
        </p:spPr>
      </p:sp>
      <p:sp>
        <p:nvSpPr>
          <p:cNvPr id="164" name="Text 162"/>
          <p:cNvSpPr txBox="1"/>
          <p:nvPr/>
        </p:nvSpPr>
        <p:spPr>
          <a:xfrm>
            <a:off x="4990338" y="41925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65" name="Shape 163"/>
          <p:cNvSpPr/>
          <p:nvPr/>
        </p:nvSpPr>
        <p:spPr>
          <a:xfrm>
            <a:off x="6104763" y="4192524"/>
            <a:ext cx="986409" cy="233172"/>
          </a:xfrm>
          <a:prstGeom prst="roundRect">
            <a:avLst>
              <a:gd name="adj" fmla="val 19608"/>
            </a:avLst>
          </a:prstGeom>
          <a:solidFill>
            <a:srgbClr val="0E9F9A"/>
          </a:solidFill>
          <a:ln/>
        </p:spPr>
      </p:sp>
      <p:sp>
        <p:nvSpPr>
          <p:cNvPr id="166" name="Text 164"/>
          <p:cNvSpPr txBox="1"/>
          <p:nvPr/>
        </p:nvSpPr>
        <p:spPr>
          <a:xfrm>
            <a:off x="6104763" y="41925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67" name="Shape 165"/>
          <p:cNvSpPr/>
          <p:nvPr/>
        </p:nvSpPr>
        <p:spPr>
          <a:xfrm>
            <a:off x="7219188" y="4192524"/>
            <a:ext cx="986409" cy="233172"/>
          </a:xfrm>
          <a:prstGeom prst="roundRect">
            <a:avLst>
              <a:gd name="adj" fmla="val 19608"/>
            </a:avLst>
          </a:prstGeom>
          <a:solidFill>
            <a:srgbClr val="0E9F9A"/>
          </a:solidFill>
          <a:ln/>
        </p:spPr>
      </p:sp>
      <p:sp>
        <p:nvSpPr>
          <p:cNvPr id="168" name="Text 166"/>
          <p:cNvSpPr txBox="1"/>
          <p:nvPr/>
        </p:nvSpPr>
        <p:spPr>
          <a:xfrm>
            <a:off x="7219188" y="41925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69" name="Shape 167"/>
          <p:cNvSpPr/>
          <p:nvPr/>
        </p:nvSpPr>
        <p:spPr>
          <a:xfrm>
            <a:off x="8333613" y="4192524"/>
            <a:ext cx="986409" cy="233172"/>
          </a:xfrm>
          <a:prstGeom prst="roundRect">
            <a:avLst>
              <a:gd name="adj" fmla="val 19608"/>
            </a:avLst>
          </a:prstGeom>
          <a:solidFill>
            <a:srgbClr val="0E9F9A"/>
          </a:solidFill>
          <a:ln/>
        </p:spPr>
      </p:sp>
      <p:sp>
        <p:nvSpPr>
          <p:cNvPr id="170" name="Text 168"/>
          <p:cNvSpPr txBox="1"/>
          <p:nvPr/>
        </p:nvSpPr>
        <p:spPr>
          <a:xfrm>
            <a:off x="8333613" y="41925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71" name="Shape 169"/>
          <p:cNvSpPr/>
          <p:nvPr/>
        </p:nvSpPr>
        <p:spPr>
          <a:xfrm>
            <a:off x="9448038" y="4192524"/>
            <a:ext cx="986409" cy="233172"/>
          </a:xfrm>
          <a:prstGeom prst="roundRect">
            <a:avLst>
              <a:gd name="adj" fmla="val 19608"/>
            </a:avLst>
          </a:prstGeom>
          <a:solidFill>
            <a:srgbClr val="FDEBD3"/>
          </a:solidFill>
          <a:ln/>
        </p:spPr>
      </p:sp>
      <p:sp>
        <p:nvSpPr>
          <p:cNvPr id="172" name="Text 170"/>
          <p:cNvSpPr txBox="1"/>
          <p:nvPr/>
        </p:nvSpPr>
        <p:spPr>
          <a:xfrm>
            <a:off x="9448038" y="419252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173" name="Shape 171"/>
          <p:cNvSpPr/>
          <p:nvPr/>
        </p:nvSpPr>
        <p:spPr>
          <a:xfrm>
            <a:off x="10562463" y="4192524"/>
            <a:ext cx="986409" cy="233172"/>
          </a:xfrm>
          <a:prstGeom prst="roundRect">
            <a:avLst>
              <a:gd name="adj" fmla="val 19608"/>
            </a:avLst>
          </a:prstGeom>
          <a:solidFill>
            <a:srgbClr val="FFFFFF"/>
          </a:solidFill>
          <a:ln w="12700">
            <a:solidFill>
              <a:srgbClr val="9AA5B4"/>
            </a:solidFill>
            <a:prstDash val="dash"/>
          </a:ln>
        </p:spPr>
      </p:sp>
      <p:sp>
        <p:nvSpPr>
          <p:cNvPr id="174" name="Text 172"/>
          <p:cNvSpPr txBox="1"/>
          <p:nvPr/>
        </p:nvSpPr>
        <p:spPr>
          <a:xfrm>
            <a:off x="10562463" y="419252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75" name="Shape 173"/>
          <p:cNvSpPr/>
          <p:nvPr/>
        </p:nvSpPr>
        <p:spPr>
          <a:xfrm>
            <a:off x="548640" y="4453128"/>
            <a:ext cx="11064240" cy="0"/>
          </a:xfrm>
          <a:prstGeom prst="line">
            <a:avLst/>
          </a:prstGeom>
          <a:noFill/>
          <a:ln w="12700">
            <a:solidFill>
              <a:srgbClr val="D5DBE3"/>
            </a:solidFill>
            <a:prstDash val="solid"/>
          </a:ln>
        </p:spPr>
      </p:sp>
      <p:sp>
        <p:nvSpPr>
          <p:cNvPr id="176" name="Shape 174"/>
          <p:cNvSpPr/>
          <p:nvPr/>
        </p:nvSpPr>
        <p:spPr>
          <a:xfrm>
            <a:off x="566928" y="4489704"/>
            <a:ext cx="265176" cy="265176"/>
          </a:xfrm>
          <a:prstGeom prst="ellipse">
            <a:avLst/>
          </a:prstGeom>
          <a:solidFill>
            <a:srgbClr val="6B4FBB"/>
          </a:solidFill>
          <a:ln/>
        </p:spPr>
      </p:sp>
      <p:sp>
        <p:nvSpPr>
          <p:cNvPr id="177" name="Text 175"/>
          <p:cNvSpPr txBox="1"/>
          <p:nvPr/>
        </p:nvSpPr>
        <p:spPr>
          <a:xfrm>
            <a:off x="566928" y="448970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H1</a:t>
            </a:r>
            <a:endParaRPr lang="en-US" sz="1100" dirty="0"/>
          </a:p>
        </p:txBody>
      </p:sp>
      <p:sp>
        <p:nvSpPr>
          <p:cNvPr id="178" name="Text 176"/>
          <p:cNvSpPr txBox="1"/>
          <p:nvPr/>
        </p:nvSpPr>
        <p:spPr>
          <a:xfrm>
            <a:off x="896112" y="446227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Copilot Studio＋GCP API</a:t>
            </a:r>
            <a:endParaRPr lang="en-US" sz="900" dirty="0"/>
          </a:p>
        </p:txBody>
      </p:sp>
      <p:sp>
        <p:nvSpPr>
          <p:cNvPr id="179" name="Shape 177"/>
          <p:cNvSpPr/>
          <p:nvPr/>
        </p:nvSpPr>
        <p:spPr>
          <a:xfrm>
            <a:off x="2761488" y="4489704"/>
            <a:ext cx="986409" cy="233172"/>
          </a:xfrm>
          <a:prstGeom prst="roundRect">
            <a:avLst>
              <a:gd name="adj" fmla="val 19608"/>
            </a:avLst>
          </a:prstGeom>
          <a:solidFill>
            <a:srgbClr val="0E9F9A"/>
          </a:solidFill>
          <a:ln/>
        </p:spPr>
      </p:sp>
      <p:sp>
        <p:nvSpPr>
          <p:cNvPr id="180" name="Text 178"/>
          <p:cNvSpPr txBox="1"/>
          <p:nvPr/>
        </p:nvSpPr>
        <p:spPr>
          <a:xfrm>
            <a:off x="2761488" y="44897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81" name="Shape 179"/>
          <p:cNvSpPr/>
          <p:nvPr/>
        </p:nvSpPr>
        <p:spPr>
          <a:xfrm>
            <a:off x="3875913" y="4489704"/>
            <a:ext cx="986409" cy="233172"/>
          </a:xfrm>
          <a:prstGeom prst="roundRect">
            <a:avLst>
              <a:gd name="adj" fmla="val 19608"/>
            </a:avLst>
          </a:prstGeom>
          <a:solidFill>
            <a:srgbClr val="F3F5F8"/>
          </a:solidFill>
          <a:ln/>
        </p:spPr>
      </p:sp>
      <p:sp>
        <p:nvSpPr>
          <p:cNvPr id="182" name="Text 180"/>
          <p:cNvSpPr txBox="1"/>
          <p:nvPr/>
        </p:nvSpPr>
        <p:spPr>
          <a:xfrm>
            <a:off x="3875913" y="448970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183" name="Shape 181"/>
          <p:cNvSpPr/>
          <p:nvPr/>
        </p:nvSpPr>
        <p:spPr>
          <a:xfrm>
            <a:off x="4990338" y="4489704"/>
            <a:ext cx="986409" cy="233172"/>
          </a:xfrm>
          <a:prstGeom prst="roundRect">
            <a:avLst>
              <a:gd name="adj" fmla="val 19608"/>
            </a:avLst>
          </a:prstGeom>
          <a:solidFill>
            <a:srgbClr val="D9F2F1"/>
          </a:solidFill>
          <a:ln/>
        </p:spPr>
      </p:sp>
      <p:sp>
        <p:nvSpPr>
          <p:cNvPr id="184" name="Text 182"/>
          <p:cNvSpPr txBox="1"/>
          <p:nvPr/>
        </p:nvSpPr>
        <p:spPr>
          <a:xfrm>
            <a:off x="4990338" y="448970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85" name="Shape 183"/>
          <p:cNvSpPr/>
          <p:nvPr/>
        </p:nvSpPr>
        <p:spPr>
          <a:xfrm>
            <a:off x="6104763" y="4489704"/>
            <a:ext cx="986409" cy="233172"/>
          </a:xfrm>
          <a:prstGeom prst="roundRect">
            <a:avLst>
              <a:gd name="adj" fmla="val 19608"/>
            </a:avLst>
          </a:prstGeom>
          <a:solidFill>
            <a:srgbClr val="D9F2F1"/>
          </a:solidFill>
          <a:ln/>
        </p:spPr>
      </p:sp>
      <p:sp>
        <p:nvSpPr>
          <p:cNvPr id="186" name="Text 184"/>
          <p:cNvSpPr txBox="1"/>
          <p:nvPr/>
        </p:nvSpPr>
        <p:spPr>
          <a:xfrm>
            <a:off x="6104763" y="448970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87" name="Shape 185"/>
          <p:cNvSpPr/>
          <p:nvPr/>
        </p:nvSpPr>
        <p:spPr>
          <a:xfrm>
            <a:off x="7219188" y="4489704"/>
            <a:ext cx="986409" cy="233172"/>
          </a:xfrm>
          <a:prstGeom prst="roundRect">
            <a:avLst>
              <a:gd name="adj" fmla="val 19608"/>
            </a:avLst>
          </a:prstGeom>
          <a:solidFill>
            <a:srgbClr val="D9F2F1"/>
          </a:solidFill>
          <a:ln/>
        </p:spPr>
      </p:sp>
      <p:sp>
        <p:nvSpPr>
          <p:cNvPr id="188" name="Text 186"/>
          <p:cNvSpPr txBox="1"/>
          <p:nvPr/>
        </p:nvSpPr>
        <p:spPr>
          <a:xfrm>
            <a:off x="7219188" y="448970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89" name="Shape 187"/>
          <p:cNvSpPr/>
          <p:nvPr/>
        </p:nvSpPr>
        <p:spPr>
          <a:xfrm>
            <a:off x="8333613" y="4489704"/>
            <a:ext cx="986409" cy="233172"/>
          </a:xfrm>
          <a:prstGeom prst="roundRect">
            <a:avLst>
              <a:gd name="adj" fmla="val 19608"/>
            </a:avLst>
          </a:prstGeom>
          <a:solidFill>
            <a:srgbClr val="D9F2F1"/>
          </a:solidFill>
          <a:ln/>
        </p:spPr>
      </p:sp>
      <p:sp>
        <p:nvSpPr>
          <p:cNvPr id="190" name="Text 188"/>
          <p:cNvSpPr txBox="1"/>
          <p:nvPr/>
        </p:nvSpPr>
        <p:spPr>
          <a:xfrm>
            <a:off x="8333613" y="448970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91" name="Shape 189"/>
          <p:cNvSpPr/>
          <p:nvPr/>
        </p:nvSpPr>
        <p:spPr>
          <a:xfrm>
            <a:off x="9448038" y="4489704"/>
            <a:ext cx="986409" cy="233172"/>
          </a:xfrm>
          <a:prstGeom prst="roundRect">
            <a:avLst>
              <a:gd name="adj" fmla="val 19608"/>
            </a:avLst>
          </a:prstGeom>
          <a:solidFill>
            <a:srgbClr val="F3F5F8"/>
          </a:solidFill>
          <a:ln/>
        </p:spPr>
      </p:sp>
      <p:sp>
        <p:nvSpPr>
          <p:cNvPr id="192" name="Text 190"/>
          <p:cNvSpPr txBox="1"/>
          <p:nvPr/>
        </p:nvSpPr>
        <p:spPr>
          <a:xfrm>
            <a:off x="9448038" y="448970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193" name="Shape 191"/>
          <p:cNvSpPr/>
          <p:nvPr/>
        </p:nvSpPr>
        <p:spPr>
          <a:xfrm>
            <a:off x="10562463" y="4489704"/>
            <a:ext cx="986409" cy="233172"/>
          </a:xfrm>
          <a:prstGeom prst="roundRect">
            <a:avLst>
              <a:gd name="adj" fmla="val 19608"/>
            </a:avLst>
          </a:prstGeom>
          <a:solidFill>
            <a:srgbClr val="F3F5F8"/>
          </a:solidFill>
          <a:ln/>
        </p:spPr>
      </p:sp>
      <p:sp>
        <p:nvSpPr>
          <p:cNvPr id="194" name="Text 192"/>
          <p:cNvSpPr txBox="1"/>
          <p:nvPr/>
        </p:nvSpPr>
        <p:spPr>
          <a:xfrm>
            <a:off x="10562463" y="448970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195" name="Shape 193"/>
          <p:cNvSpPr/>
          <p:nvPr/>
        </p:nvSpPr>
        <p:spPr>
          <a:xfrm>
            <a:off x="548640" y="4750308"/>
            <a:ext cx="11064240" cy="0"/>
          </a:xfrm>
          <a:prstGeom prst="line">
            <a:avLst/>
          </a:prstGeom>
          <a:noFill/>
          <a:ln w="12700">
            <a:solidFill>
              <a:srgbClr val="D5DBE3"/>
            </a:solidFill>
            <a:prstDash val="solid"/>
          </a:ln>
        </p:spPr>
      </p:sp>
      <p:sp>
        <p:nvSpPr>
          <p:cNvPr id="196" name="Shape 194"/>
          <p:cNvSpPr/>
          <p:nvPr/>
        </p:nvSpPr>
        <p:spPr>
          <a:xfrm>
            <a:off x="566928" y="4786884"/>
            <a:ext cx="265176" cy="265176"/>
          </a:xfrm>
          <a:prstGeom prst="ellipse">
            <a:avLst/>
          </a:prstGeom>
          <a:solidFill>
            <a:srgbClr val="4285F4"/>
          </a:solidFill>
          <a:ln/>
        </p:spPr>
      </p:sp>
      <p:sp>
        <p:nvSpPr>
          <p:cNvPr id="197" name="Text 195"/>
          <p:cNvSpPr txBox="1"/>
          <p:nvPr/>
        </p:nvSpPr>
        <p:spPr>
          <a:xfrm>
            <a:off x="566928" y="478688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B1</a:t>
            </a:r>
            <a:endParaRPr lang="en-US" sz="1100" dirty="0"/>
          </a:p>
        </p:txBody>
      </p:sp>
      <p:sp>
        <p:nvSpPr>
          <p:cNvPr id="198" name="Text 196"/>
          <p:cNvSpPr txBox="1"/>
          <p:nvPr/>
        </p:nvSpPr>
        <p:spPr>
          <a:xfrm>
            <a:off x="896112" y="475945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Gemini Enterprise</a:t>
            </a:r>
            <a:endParaRPr lang="en-US" sz="900" dirty="0"/>
          </a:p>
        </p:txBody>
      </p:sp>
      <p:sp>
        <p:nvSpPr>
          <p:cNvPr id="199" name="Shape 197"/>
          <p:cNvSpPr/>
          <p:nvPr/>
        </p:nvSpPr>
        <p:spPr>
          <a:xfrm>
            <a:off x="2761488" y="4786884"/>
            <a:ext cx="986409" cy="233172"/>
          </a:xfrm>
          <a:prstGeom prst="roundRect">
            <a:avLst>
              <a:gd name="adj" fmla="val 19608"/>
            </a:avLst>
          </a:prstGeom>
          <a:solidFill>
            <a:srgbClr val="0E9F9A"/>
          </a:solidFill>
          <a:ln/>
        </p:spPr>
      </p:sp>
      <p:sp>
        <p:nvSpPr>
          <p:cNvPr id="200" name="Text 198"/>
          <p:cNvSpPr txBox="1"/>
          <p:nvPr/>
        </p:nvSpPr>
        <p:spPr>
          <a:xfrm>
            <a:off x="2761488" y="47868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01" name="Shape 199"/>
          <p:cNvSpPr/>
          <p:nvPr/>
        </p:nvSpPr>
        <p:spPr>
          <a:xfrm>
            <a:off x="3875913" y="4786884"/>
            <a:ext cx="986409" cy="233172"/>
          </a:xfrm>
          <a:prstGeom prst="roundRect">
            <a:avLst>
              <a:gd name="adj" fmla="val 19608"/>
            </a:avLst>
          </a:prstGeom>
          <a:solidFill>
            <a:srgbClr val="F3F5F8"/>
          </a:solidFill>
          <a:ln/>
        </p:spPr>
      </p:sp>
      <p:sp>
        <p:nvSpPr>
          <p:cNvPr id="202" name="Text 200"/>
          <p:cNvSpPr txBox="1"/>
          <p:nvPr/>
        </p:nvSpPr>
        <p:spPr>
          <a:xfrm>
            <a:off x="3875913" y="478688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03" name="Shape 201"/>
          <p:cNvSpPr/>
          <p:nvPr/>
        </p:nvSpPr>
        <p:spPr>
          <a:xfrm>
            <a:off x="4990338" y="4786884"/>
            <a:ext cx="986409" cy="233172"/>
          </a:xfrm>
          <a:prstGeom prst="roundRect">
            <a:avLst>
              <a:gd name="adj" fmla="val 19608"/>
            </a:avLst>
          </a:prstGeom>
          <a:solidFill>
            <a:srgbClr val="D9F2F1"/>
          </a:solidFill>
          <a:ln/>
        </p:spPr>
      </p:sp>
      <p:sp>
        <p:nvSpPr>
          <p:cNvPr id="204" name="Text 202"/>
          <p:cNvSpPr txBox="1"/>
          <p:nvPr/>
        </p:nvSpPr>
        <p:spPr>
          <a:xfrm>
            <a:off x="4990338" y="478688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205" name="Shape 203"/>
          <p:cNvSpPr/>
          <p:nvPr/>
        </p:nvSpPr>
        <p:spPr>
          <a:xfrm>
            <a:off x="6104763" y="4786884"/>
            <a:ext cx="986409" cy="233172"/>
          </a:xfrm>
          <a:prstGeom prst="roundRect">
            <a:avLst>
              <a:gd name="adj" fmla="val 19608"/>
            </a:avLst>
          </a:prstGeom>
          <a:solidFill>
            <a:srgbClr val="D9F2F1"/>
          </a:solidFill>
          <a:ln/>
        </p:spPr>
      </p:sp>
      <p:sp>
        <p:nvSpPr>
          <p:cNvPr id="206" name="Text 204"/>
          <p:cNvSpPr txBox="1"/>
          <p:nvPr/>
        </p:nvSpPr>
        <p:spPr>
          <a:xfrm>
            <a:off x="6104763" y="478688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207" name="Shape 205"/>
          <p:cNvSpPr/>
          <p:nvPr/>
        </p:nvSpPr>
        <p:spPr>
          <a:xfrm>
            <a:off x="7219188" y="4786884"/>
            <a:ext cx="986409" cy="233172"/>
          </a:xfrm>
          <a:prstGeom prst="roundRect">
            <a:avLst>
              <a:gd name="adj" fmla="val 19608"/>
            </a:avLst>
          </a:prstGeom>
          <a:solidFill>
            <a:srgbClr val="D9F2F1"/>
          </a:solidFill>
          <a:ln/>
        </p:spPr>
      </p:sp>
      <p:sp>
        <p:nvSpPr>
          <p:cNvPr id="208" name="Text 206"/>
          <p:cNvSpPr txBox="1"/>
          <p:nvPr/>
        </p:nvSpPr>
        <p:spPr>
          <a:xfrm>
            <a:off x="7219188" y="478688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209" name="Shape 207"/>
          <p:cNvSpPr/>
          <p:nvPr/>
        </p:nvSpPr>
        <p:spPr>
          <a:xfrm>
            <a:off x="8333613" y="4786884"/>
            <a:ext cx="986409" cy="233172"/>
          </a:xfrm>
          <a:prstGeom prst="roundRect">
            <a:avLst>
              <a:gd name="adj" fmla="val 19608"/>
            </a:avLst>
          </a:prstGeom>
          <a:solidFill>
            <a:srgbClr val="D9F2F1"/>
          </a:solidFill>
          <a:ln/>
        </p:spPr>
      </p:sp>
      <p:sp>
        <p:nvSpPr>
          <p:cNvPr id="210" name="Text 208"/>
          <p:cNvSpPr txBox="1"/>
          <p:nvPr/>
        </p:nvSpPr>
        <p:spPr>
          <a:xfrm>
            <a:off x="8333613" y="478688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211" name="Shape 209"/>
          <p:cNvSpPr/>
          <p:nvPr/>
        </p:nvSpPr>
        <p:spPr>
          <a:xfrm>
            <a:off x="9448038" y="4786884"/>
            <a:ext cx="986409" cy="233172"/>
          </a:xfrm>
          <a:prstGeom prst="roundRect">
            <a:avLst>
              <a:gd name="adj" fmla="val 19608"/>
            </a:avLst>
          </a:prstGeom>
          <a:solidFill>
            <a:srgbClr val="F3F5F8"/>
          </a:solidFill>
          <a:ln/>
        </p:spPr>
      </p:sp>
      <p:sp>
        <p:nvSpPr>
          <p:cNvPr id="212" name="Text 210"/>
          <p:cNvSpPr txBox="1"/>
          <p:nvPr/>
        </p:nvSpPr>
        <p:spPr>
          <a:xfrm>
            <a:off x="9448038" y="478688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13" name="Shape 211"/>
          <p:cNvSpPr/>
          <p:nvPr/>
        </p:nvSpPr>
        <p:spPr>
          <a:xfrm>
            <a:off x="10562463" y="4786884"/>
            <a:ext cx="986409" cy="233172"/>
          </a:xfrm>
          <a:prstGeom prst="roundRect">
            <a:avLst>
              <a:gd name="adj" fmla="val 19608"/>
            </a:avLst>
          </a:prstGeom>
          <a:solidFill>
            <a:srgbClr val="F3F5F8"/>
          </a:solidFill>
          <a:ln/>
        </p:spPr>
      </p:sp>
      <p:sp>
        <p:nvSpPr>
          <p:cNvPr id="214" name="Text 212"/>
          <p:cNvSpPr txBox="1"/>
          <p:nvPr/>
        </p:nvSpPr>
        <p:spPr>
          <a:xfrm>
            <a:off x="10562463" y="478688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15" name="Shape 213"/>
          <p:cNvSpPr/>
          <p:nvPr/>
        </p:nvSpPr>
        <p:spPr>
          <a:xfrm>
            <a:off x="566928" y="5084064"/>
            <a:ext cx="265176" cy="265176"/>
          </a:xfrm>
          <a:prstGeom prst="ellipse">
            <a:avLst/>
          </a:prstGeom>
          <a:solidFill>
            <a:srgbClr val="4285F4"/>
          </a:solidFill>
          <a:ln/>
        </p:spPr>
      </p:sp>
      <p:sp>
        <p:nvSpPr>
          <p:cNvPr id="216" name="Text 214"/>
          <p:cNvSpPr txBox="1"/>
          <p:nvPr/>
        </p:nvSpPr>
        <p:spPr>
          <a:xfrm>
            <a:off x="566928" y="508406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B2</a:t>
            </a:r>
            <a:endParaRPr lang="en-US" sz="1100" dirty="0"/>
          </a:p>
        </p:txBody>
      </p:sp>
      <p:sp>
        <p:nvSpPr>
          <p:cNvPr id="217" name="Text 215"/>
          <p:cNvSpPr txBox="1"/>
          <p:nvPr/>
        </p:nvSpPr>
        <p:spPr>
          <a:xfrm>
            <a:off x="896112" y="505663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Agent Platformで自動起案</a:t>
            </a:r>
            <a:endParaRPr lang="en-US" sz="900" dirty="0"/>
          </a:p>
        </p:txBody>
      </p:sp>
      <p:sp>
        <p:nvSpPr>
          <p:cNvPr id="218" name="Shape 216"/>
          <p:cNvSpPr/>
          <p:nvPr/>
        </p:nvSpPr>
        <p:spPr>
          <a:xfrm>
            <a:off x="2761488" y="5084064"/>
            <a:ext cx="986409" cy="233172"/>
          </a:xfrm>
          <a:prstGeom prst="roundRect">
            <a:avLst>
              <a:gd name="adj" fmla="val 19608"/>
            </a:avLst>
          </a:prstGeom>
          <a:solidFill>
            <a:srgbClr val="0E9F9A"/>
          </a:solidFill>
          <a:ln/>
        </p:spPr>
      </p:sp>
      <p:sp>
        <p:nvSpPr>
          <p:cNvPr id="219" name="Text 217"/>
          <p:cNvSpPr txBox="1"/>
          <p:nvPr/>
        </p:nvSpPr>
        <p:spPr>
          <a:xfrm>
            <a:off x="2761488" y="50840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20" name="Shape 218"/>
          <p:cNvSpPr/>
          <p:nvPr/>
        </p:nvSpPr>
        <p:spPr>
          <a:xfrm>
            <a:off x="3875913" y="5084064"/>
            <a:ext cx="986409" cy="233172"/>
          </a:xfrm>
          <a:prstGeom prst="roundRect">
            <a:avLst>
              <a:gd name="adj" fmla="val 19608"/>
            </a:avLst>
          </a:prstGeom>
          <a:solidFill>
            <a:srgbClr val="FFFFFF"/>
          </a:solidFill>
          <a:ln w="12700">
            <a:solidFill>
              <a:srgbClr val="9AA5B4"/>
            </a:solidFill>
            <a:prstDash val="dash"/>
          </a:ln>
        </p:spPr>
      </p:sp>
      <p:sp>
        <p:nvSpPr>
          <p:cNvPr id="221" name="Text 219"/>
          <p:cNvSpPr txBox="1"/>
          <p:nvPr/>
        </p:nvSpPr>
        <p:spPr>
          <a:xfrm>
            <a:off x="3875913" y="508406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22" name="Shape 220"/>
          <p:cNvSpPr/>
          <p:nvPr/>
        </p:nvSpPr>
        <p:spPr>
          <a:xfrm>
            <a:off x="4990338" y="5084064"/>
            <a:ext cx="986409" cy="233172"/>
          </a:xfrm>
          <a:prstGeom prst="roundRect">
            <a:avLst>
              <a:gd name="adj" fmla="val 19608"/>
            </a:avLst>
          </a:prstGeom>
          <a:solidFill>
            <a:srgbClr val="0E9F9A"/>
          </a:solidFill>
          <a:ln/>
        </p:spPr>
      </p:sp>
      <p:sp>
        <p:nvSpPr>
          <p:cNvPr id="223" name="Text 221"/>
          <p:cNvSpPr txBox="1"/>
          <p:nvPr/>
        </p:nvSpPr>
        <p:spPr>
          <a:xfrm>
            <a:off x="4990338" y="50840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24" name="Shape 222"/>
          <p:cNvSpPr/>
          <p:nvPr/>
        </p:nvSpPr>
        <p:spPr>
          <a:xfrm>
            <a:off x="6104763" y="5084064"/>
            <a:ext cx="986409" cy="233172"/>
          </a:xfrm>
          <a:prstGeom prst="roundRect">
            <a:avLst>
              <a:gd name="adj" fmla="val 19608"/>
            </a:avLst>
          </a:prstGeom>
          <a:solidFill>
            <a:srgbClr val="0E9F9A"/>
          </a:solidFill>
          <a:ln/>
        </p:spPr>
      </p:sp>
      <p:sp>
        <p:nvSpPr>
          <p:cNvPr id="225" name="Text 223"/>
          <p:cNvSpPr txBox="1"/>
          <p:nvPr/>
        </p:nvSpPr>
        <p:spPr>
          <a:xfrm>
            <a:off x="6104763" y="50840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26" name="Shape 224"/>
          <p:cNvSpPr/>
          <p:nvPr/>
        </p:nvSpPr>
        <p:spPr>
          <a:xfrm>
            <a:off x="7219188" y="5084064"/>
            <a:ext cx="986409" cy="233172"/>
          </a:xfrm>
          <a:prstGeom prst="roundRect">
            <a:avLst>
              <a:gd name="adj" fmla="val 19608"/>
            </a:avLst>
          </a:prstGeom>
          <a:solidFill>
            <a:srgbClr val="0E9F9A"/>
          </a:solidFill>
          <a:ln/>
        </p:spPr>
      </p:sp>
      <p:sp>
        <p:nvSpPr>
          <p:cNvPr id="227" name="Text 225"/>
          <p:cNvSpPr txBox="1"/>
          <p:nvPr/>
        </p:nvSpPr>
        <p:spPr>
          <a:xfrm>
            <a:off x="7219188" y="50840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28" name="Shape 226"/>
          <p:cNvSpPr/>
          <p:nvPr/>
        </p:nvSpPr>
        <p:spPr>
          <a:xfrm>
            <a:off x="8333613" y="5084064"/>
            <a:ext cx="986409" cy="233172"/>
          </a:xfrm>
          <a:prstGeom prst="roundRect">
            <a:avLst>
              <a:gd name="adj" fmla="val 19608"/>
            </a:avLst>
          </a:prstGeom>
          <a:solidFill>
            <a:srgbClr val="0E9F9A"/>
          </a:solidFill>
          <a:ln/>
        </p:spPr>
      </p:sp>
      <p:sp>
        <p:nvSpPr>
          <p:cNvPr id="229" name="Text 227"/>
          <p:cNvSpPr txBox="1"/>
          <p:nvPr/>
        </p:nvSpPr>
        <p:spPr>
          <a:xfrm>
            <a:off x="8333613" y="50840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30" name="Shape 228"/>
          <p:cNvSpPr/>
          <p:nvPr/>
        </p:nvSpPr>
        <p:spPr>
          <a:xfrm>
            <a:off x="9448038" y="5084064"/>
            <a:ext cx="986409" cy="233172"/>
          </a:xfrm>
          <a:prstGeom prst="roundRect">
            <a:avLst>
              <a:gd name="adj" fmla="val 19608"/>
            </a:avLst>
          </a:prstGeom>
          <a:solidFill>
            <a:srgbClr val="FDEBD3"/>
          </a:solidFill>
          <a:ln/>
        </p:spPr>
      </p:sp>
      <p:sp>
        <p:nvSpPr>
          <p:cNvPr id="231" name="Text 229"/>
          <p:cNvSpPr txBox="1"/>
          <p:nvPr/>
        </p:nvSpPr>
        <p:spPr>
          <a:xfrm>
            <a:off x="9448038" y="508406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232" name="Shape 230"/>
          <p:cNvSpPr/>
          <p:nvPr/>
        </p:nvSpPr>
        <p:spPr>
          <a:xfrm>
            <a:off x="10562463" y="5084064"/>
            <a:ext cx="986409" cy="233172"/>
          </a:xfrm>
          <a:prstGeom prst="roundRect">
            <a:avLst>
              <a:gd name="adj" fmla="val 19608"/>
            </a:avLst>
          </a:prstGeom>
          <a:solidFill>
            <a:srgbClr val="FFFFFF"/>
          </a:solidFill>
          <a:ln w="12700">
            <a:solidFill>
              <a:srgbClr val="9AA5B4"/>
            </a:solidFill>
            <a:prstDash val="dash"/>
          </a:ln>
        </p:spPr>
      </p:sp>
      <p:sp>
        <p:nvSpPr>
          <p:cNvPr id="233" name="Text 231"/>
          <p:cNvSpPr txBox="1"/>
          <p:nvPr/>
        </p:nvSpPr>
        <p:spPr>
          <a:xfrm>
            <a:off x="10562463" y="508406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34" name="Shape 232"/>
          <p:cNvSpPr/>
          <p:nvPr/>
        </p:nvSpPr>
        <p:spPr>
          <a:xfrm>
            <a:off x="566928" y="5381244"/>
            <a:ext cx="265176" cy="265176"/>
          </a:xfrm>
          <a:prstGeom prst="ellipse">
            <a:avLst/>
          </a:prstGeom>
          <a:solidFill>
            <a:srgbClr val="4285F4"/>
          </a:solidFill>
          <a:ln/>
        </p:spPr>
      </p:sp>
      <p:sp>
        <p:nvSpPr>
          <p:cNvPr id="235" name="Text 233"/>
          <p:cNvSpPr txBox="1"/>
          <p:nvPr/>
        </p:nvSpPr>
        <p:spPr>
          <a:xfrm>
            <a:off x="566928" y="538124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B3</a:t>
            </a:r>
            <a:endParaRPr lang="en-US" sz="1100" dirty="0"/>
          </a:p>
        </p:txBody>
      </p:sp>
      <p:sp>
        <p:nvSpPr>
          <p:cNvPr id="236" name="Text 234"/>
          <p:cNvSpPr txBox="1"/>
          <p:nvPr/>
        </p:nvSpPr>
        <p:spPr>
          <a:xfrm>
            <a:off x="896112" y="535381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スクラッチ開発</a:t>
            </a:r>
            <a:endParaRPr lang="en-US" sz="900" dirty="0"/>
          </a:p>
        </p:txBody>
      </p:sp>
      <p:sp>
        <p:nvSpPr>
          <p:cNvPr id="237" name="Shape 235"/>
          <p:cNvSpPr/>
          <p:nvPr/>
        </p:nvSpPr>
        <p:spPr>
          <a:xfrm>
            <a:off x="2761488" y="5381244"/>
            <a:ext cx="986409" cy="233172"/>
          </a:xfrm>
          <a:prstGeom prst="roundRect">
            <a:avLst>
              <a:gd name="adj" fmla="val 19608"/>
            </a:avLst>
          </a:prstGeom>
          <a:solidFill>
            <a:srgbClr val="0E9F9A"/>
          </a:solidFill>
          <a:ln/>
        </p:spPr>
      </p:sp>
      <p:sp>
        <p:nvSpPr>
          <p:cNvPr id="238" name="Text 236"/>
          <p:cNvSpPr txBox="1"/>
          <p:nvPr/>
        </p:nvSpPr>
        <p:spPr>
          <a:xfrm>
            <a:off x="2761488" y="53812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39" name="Shape 237"/>
          <p:cNvSpPr/>
          <p:nvPr/>
        </p:nvSpPr>
        <p:spPr>
          <a:xfrm>
            <a:off x="3875913" y="5381244"/>
            <a:ext cx="986409" cy="233172"/>
          </a:xfrm>
          <a:prstGeom prst="roundRect">
            <a:avLst>
              <a:gd name="adj" fmla="val 19608"/>
            </a:avLst>
          </a:prstGeom>
          <a:solidFill>
            <a:srgbClr val="FFFFFF"/>
          </a:solidFill>
          <a:ln w="12700">
            <a:solidFill>
              <a:srgbClr val="9AA5B4"/>
            </a:solidFill>
            <a:prstDash val="dash"/>
          </a:ln>
        </p:spPr>
      </p:sp>
      <p:sp>
        <p:nvSpPr>
          <p:cNvPr id="240" name="Text 238"/>
          <p:cNvSpPr txBox="1"/>
          <p:nvPr/>
        </p:nvSpPr>
        <p:spPr>
          <a:xfrm>
            <a:off x="3875913" y="538124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41" name="Shape 239"/>
          <p:cNvSpPr/>
          <p:nvPr/>
        </p:nvSpPr>
        <p:spPr>
          <a:xfrm>
            <a:off x="4990338" y="5381244"/>
            <a:ext cx="986409" cy="233172"/>
          </a:xfrm>
          <a:prstGeom prst="roundRect">
            <a:avLst>
              <a:gd name="adj" fmla="val 19608"/>
            </a:avLst>
          </a:prstGeom>
          <a:solidFill>
            <a:srgbClr val="0E9F9A"/>
          </a:solidFill>
          <a:ln/>
        </p:spPr>
      </p:sp>
      <p:sp>
        <p:nvSpPr>
          <p:cNvPr id="242" name="Text 240"/>
          <p:cNvSpPr txBox="1"/>
          <p:nvPr/>
        </p:nvSpPr>
        <p:spPr>
          <a:xfrm>
            <a:off x="4990338" y="53812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43" name="Shape 241"/>
          <p:cNvSpPr/>
          <p:nvPr/>
        </p:nvSpPr>
        <p:spPr>
          <a:xfrm>
            <a:off x="6104763" y="5381244"/>
            <a:ext cx="986409" cy="233172"/>
          </a:xfrm>
          <a:prstGeom prst="roundRect">
            <a:avLst>
              <a:gd name="adj" fmla="val 19608"/>
            </a:avLst>
          </a:prstGeom>
          <a:solidFill>
            <a:srgbClr val="0E9F9A"/>
          </a:solidFill>
          <a:ln/>
        </p:spPr>
      </p:sp>
      <p:sp>
        <p:nvSpPr>
          <p:cNvPr id="244" name="Text 242"/>
          <p:cNvSpPr txBox="1"/>
          <p:nvPr/>
        </p:nvSpPr>
        <p:spPr>
          <a:xfrm>
            <a:off x="6104763" y="53812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45" name="Shape 243"/>
          <p:cNvSpPr/>
          <p:nvPr/>
        </p:nvSpPr>
        <p:spPr>
          <a:xfrm>
            <a:off x="7219188" y="5381244"/>
            <a:ext cx="986409" cy="233172"/>
          </a:xfrm>
          <a:prstGeom prst="roundRect">
            <a:avLst>
              <a:gd name="adj" fmla="val 19608"/>
            </a:avLst>
          </a:prstGeom>
          <a:solidFill>
            <a:srgbClr val="0E9F9A"/>
          </a:solidFill>
          <a:ln/>
        </p:spPr>
      </p:sp>
      <p:sp>
        <p:nvSpPr>
          <p:cNvPr id="246" name="Text 244"/>
          <p:cNvSpPr txBox="1"/>
          <p:nvPr/>
        </p:nvSpPr>
        <p:spPr>
          <a:xfrm>
            <a:off x="7219188" y="53812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47" name="Shape 245"/>
          <p:cNvSpPr/>
          <p:nvPr/>
        </p:nvSpPr>
        <p:spPr>
          <a:xfrm>
            <a:off x="8333613" y="5381244"/>
            <a:ext cx="986409" cy="233172"/>
          </a:xfrm>
          <a:prstGeom prst="roundRect">
            <a:avLst>
              <a:gd name="adj" fmla="val 19608"/>
            </a:avLst>
          </a:prstGeom>
          <a:solidFill>
            <a:srgbClr val="0E9F9A"/>
          </a:solidFill>
          <a:ln/>
        </p:spPr>
      </p:sp>
      <p:sp>
        <p:nvSpPr>
          <p:cNvPr id="248" name="Text 246"/>
          <p:cNvSpPr txBox="1"/>
          <p:nvPr/>
        </p:nvSpPr>
        <p:spPr>
          <a:xfrm>
            <a:off x="8333613" y="53812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49" name="Shape 247"/>
          <p:cNvSpPr/>
          <p:nvPr/>
        </p:nvSpPr>
        <p:spPr>
          <a:xfrm>
            <a:off x="9448038" y="5381244"/>
            <a:ext cx="986409" cy="233172"/>
          </a:xfrm>
          <a:prstGeom prst="roundRect">
            <a:avLst>
              <a:gd name="adj" fmla="val 19608"/>
            </a:avLst>
          </a:prstGeom>
          <a:solidFill>
            <a:srgbClr val="FDEBD3"/>
          </a:solidFill>
          <a:ln/>
        </p:spPr>
      </p:sp>
      <p:sp>
        <p:nvSpPr>
          <p:cNvPr id="250" name="Text 248"/>
          <p:cNvSpPr txBox="1"/>
          <p:nvPr/>
        </p:nvSpPr>
        <p:spPr>
          <a:xfrm>
            <a:off x="9448038" y="538124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251" name="Shape 249"/>
          <p:cNvSpPr/>
          <p:nvPr/>
        </p:nvSpPr>
        <p:spPr>
          <a:xfrm>
            <a:off x="10562463" y="5381244"/>
            <a:ext cx="986409" cy="233172"/>
          </a:xfrm>
          <a:prstGeom prst="roundRect">
            <a:avLst>
              <a:gd name="adj" fmla="val 19608"/>
            </a:avLst>
          </a:prstGeom>
          <a:solidFill>
            <a:srgbClr val="FFFFFF"/>
          </a:solidFill>
          <a:ln w="12700">
            <a:solidFill>
              <a:srgbClr val="9AA5B4"/>
            </a:solidFill>
            <a:prstDash val="dash"/>
          </a:ln>
        </p:spPr>
      </p:sp>
      <p:sp>
        <p:nvSpPr>
          <p:cNvPr id="252" name="Text 250"/>
          <p:cNvSpPr txBox="1"/>
          <p:nvPr/>
        </p:nvSpPr>
        <p:spPr>
          <a:xfrm>
            <a:off x="10562463" y="538124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53" name="Shape 251"/>
          <p:cNvSpPr/>
          <p:nvPr/>
        </p:nvSpPr>
        <p:spPr>
          <a:xfrm>
            <a:off x="548640" y="5641848"/>
            <a:ext cx="11064240" cy="0"/>
          </a:xfrm>
          <a:prstGeom prst="line">
            <a:avLst/>
          </a:prstGeom>
          <a:noFill/>
          <a:ln w="12700">
            <a:solidFill>
              <a:srgbClr val="D5DBE3"/>
            </a:solidFill>
            <a:prstDash val="solid"/>
          </a:ln>
        </p:spPr>
      </p:sp>
      <p:sp>
        <p:nvSpPr>
          <p:cNvPr id="254" name="Shape 252"/>
          <p:cNvSpPr/>
          <p:nvPr/>
        </p:nvSpPr>
        <p:spPr>
          <a:xfrm>
            <a:off x="566928" y="5678424"/>
            <a:ext cx="265176" cy="265176"/>
          </a:xfrm>
          <a:prstGeom prst="ellipse">
            <a:avLst/>
          </a:prstGeom>
          <a:solidFill>
            <a:srgbClr val="C77700"/>
          </a:solidFill>
          <a:ln/>
        </p:spPr>
      </p:sp>
      <p:sp>
        <p:nvSpPr>
          <p:cNvPr id="255" name="Text 253"/>
          <p:cNvSpPr txBox="1"/>
          <p:nvPr/>
        </p:nvSpPr>
        <p:spPr>
          <a:xfrm>
            <a:off x="566928" y="567842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C1</a:t>
            </a:r>
            <a:endParaRPr lang="en-US" sz="1100" dirty="0"/>
          </a:p>
        </p:txBody>
      </p:sp>
      <p:sp>
        <p:nvSpPr>
          <p:cNvPr id="256" name="Text 254"/>
          <p:cNvSpPr txBox="1"/>
          <p:nvPr/>
        </p:nvSpPr>
        <p:spPr>
          <a:xfrm>
            <a:off x="896112" y="565099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Airtable標準のAI</a:t>
            </a:r>
            <a:endParaRPr lang="en-US" sz="900" dirty="0"/>
          </a:p>
        </p:txBody>
      </p:sp>
      <p:sp>
        <p:nvSpPr>
          <p:cNvPr id="257" name="Shape 255"/>
          <p:cNvSpPr/>
          <p:nvPr/>
        </p:nvSpPr>
        <p:spPr>
          <a:xfrm>
            <a:off x="2761488" y="5678424"/>
            <a:ext cx="986409" cy="233172"/>
          </a:xfrm>
          <a:prstGeom prst="roundRect">
            <a:avLst>
              <a:gd name="adj" fmla="val 19608"/>
            </a:avLst>
          </a:prstGeom>
          <a:solidFill>
            <a:srgbClr val="F3F5F8"/>
          </a:solidFill>
          <a:ln/>
        </p:spPr>
      </p:sp>
      <p:sp>
        <p:nvSpPr>
          <p:cNvPr id="258" name="Text 256"/>
          <p:cNvSpPr txBox="1"/>
          <p:nvPr/>
        </p:nvSpPr>
        <p:spPr>
          <a:xfrm>
            <a:off x="2761488" y="56784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59" name="Shape 257"/>
          <p:cNvSpPr/>
          <p:nvPr/>
        </p:nvSpPr>
        <p:spPr>
          <a:xfrm>
            <a:off x="3875913" y="5678424"/>
            <a:ext cx="986409" cy="233172"/>
          </a:xfrm>
          <a:prstGeom prst="roundRect">
            <a:avLst>
              <a:gd name="adj" fmla="val 19608"/>
            </a:avLst>
          </a:prstGeom>
          <a:solidFill>
            <a:srgbClr val="F3F5F8"/>
          </a:solidFill>
          <a:ln/>
        </p:spPr>
      </p:sp>
      <p:sp>
        <p:nvSpPr>
          <p:cNvPr id="260" name="Text 258"/>
          <p:cNvSpPr txBox="1"/>
          <p:nvPr/>
        </p:nvSpPr>
        <p:spPr>
          <a:xfrm>
            <a:off x="3875913" y="56784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61" name="Shape 259"/>
          <p:cNvSpPr/>
          <p:nvPr/>
        </p:nvSpPr>
        <p:spPr>
          <a:xfrm>
            <a:off x="4990338" y="5678424"/>
            <a:ext cx="986409" cy="233172"/>
          </a:xfrm>
          <a:prstGeom prst="roundRect">
            <a:avLst>
              <a:gd name="adj" fmla="val 19608"/>
            </a:avLst>
          </a:prstGeom>
          <a:solidFill>
            <a:srgbClr val="0E9F9A"/>
          </a:solidFill>
          <a:ln/>
        </p:spPr>
      </p:sp>
      <p:sp>
        <p:nvSpPr>
          <p:cNvPr id="262" name="Text 260"/>
          <p:cNvSpPr txBox="1"/>
          <p:nvPr/>
        </p:nvSpPr>
        <p:spPr>
          <a:xfrm>
            <a:off x="4990338" y="56784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63" name="Shape 261"/>
          <p:cNvSpPr/>
          <p:nvPr/>
        </p:nvSpPr>
        <p:spPr>
          <a:xfrm>
            <a:off x="6104763" y="5678424"/>
            <a:ext cx="986409" cy="233172"/>
          </a:xfrm>
          <a:prstGeom prst="roundRect">
            <a:avLst>
              <a:gd name="adj" fmla="val 19608"/>
            </a:avLst>
          </a:prstGeom>
          <a:solidFill>
            <a:srgbClr val="0E9F9A"/>
          </a:solidFill>
          <a:ln/>
        </p:spPr>
      </p:sp>
      <p:sp>
        <p:nvSpPr>
          <p:cNvPr id="264" name="Text 262"/>
          <p:cNvSpPr txBox="1"/>
          <p:nvPr/>
        </p:nvSpPr>
        <p:spPr>
          <a:xfrm>
            <a:off x="6104763" y="56784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65" name="Shape 263"/>
          <p:cNvSpPr/>
          <p:nvPr/>
        </p:nvSpPr>
        <p:spPr>
          <a:xfrm>
            <a:off x="7219188" y="5678424"/>
            <a:ext cx="986409" cy="233172"/>
          </a:xfrm>
          <a:prstGeom prst="roundRect">
            <a:avLst>
              <a:gd name="adj" fmla="val 19608"/>
            </a:avLst>
          </a:prstGeom>
          <a:solidFill>
            <a:srgbClr val="0E9F9A"/>
          </a:solidFill>
          <a:ln/>
        </p:spPr>
      </p:sp>
      <p:sp>
        <p:nvSpPr>
          <p:cNvPr id="266" name="Text 264"/>
          <p:cNvSpPr txBox="1"/>
          <p:nvPr/>
        </p:nvSpPr>
        <p:spPr>
          <a:xfrm>
            <a:off x="7219188" y="56784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67" name="Shape 265"/>
          <p:cNvSpPr/>
          <p:nvPr/>
        </p:nvSpPr>
        <p:spPr>
          <a:xfrm>
            <a:off x="8333613" y="5678424"/>
            <a:ext cx="986409" cy="233172"/>
          </a:xfrm>
          <a:prstGeom prst="roundRect">
            <a:avLst>
              <a:gd name="adj" fmla="val 19608"/>
            </a:avLst>
          </a:prstGeom>
          <a:solidFill>
            <a:srgbClr val="0E9F9A"/>
          </a:solidFill>
          <a:ln/>
        </p:spPr>
      </p:sp>
      <p:sp>
        <p:nvSpPr>
          <p:cNvPr id="268" name="Text 266"/>
          <p:cNvSpPr txBox="1"/>
          <p:nvPr/>
        </p:nvSpPr>
        <p:spPr>
          <a:xfrm>
            <a:off x="8333613" y="56784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69" name="Shape 267"/>
          <p:cNvSpPr/>
          <p:nvPr/>
        </p:nvSpPr>
        <p:spPr>
          <a:xfrm>
            <a:off x="9448038" y="5678424"/>
            <a:ext cx="986409" cy="233172"/>
          </a:xfrm>
          <a:prstGeom prst="roundRect">
            <a:avLst>
              <a:gd name="adj" fmla="val 19608"/>
            </a:avLst>
          </a:prstGeom>
          <a:solidFill>
            <a:srgbClr val="F3F5F8"/>
          </a:solidFill>
          <a:ln/>
        </p:spPr>
      </p:sp>
      <p:sp>
        <p:nvSpPr>
          <p:cNvPr id="270" name="Text 268"/>
          <p:cNvSpPr txBox="1"/>
          <p:nvPr/>
        </p:nvSpPr>
        <p:spPr>
          <a:xfrm>
            <a:off x="9448038" y="56784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71" name="Shape 269"/>
          <p:cNvSpPr/>
          <p:nvPr/>
        </p:nvSpPr>
        <p:spPr>
          <a:xfrm>
            <a:off x="10562463" y="5678424"/>
            <a:ext cx="986409" cy="233172"/>
          </a:xfrm>
          <a:prstGeom prst="roundRect">
            <a:avLst>
              <a:gd name="adj" fmla="val 19608"/>
            </a:avLst>
          </a:prstGeom>
          <a:solidFill>
            <a:srgbClr val="F3F5F8"/>
          </a:solidFill>
          <a:ln/>
        </p:spPr>
      </p:sp>
      <p:sp>
        <p:nvSpPr>
          <p:cNvPr id="272" name="Text 270"/>
          <p:cNvSpPr txBox="1"/>
          <p:nvPr/>
        </p:nvSpPr>
        <p:spPr>
          <a:xfrm>
            <a:off x="10562463" y="56784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73" name="Shape 271"/>
          <p:cNvSpPr/>
          <p:nvPr/>
        </p:nvSpPr>
        <p:spPr>
          <a:xfrm>
            <a:off x="548640" y="6035040"/>
            <a:ext cx="822960" cy="256032"/>
          </a:xfrm>
          <a:prstGeom prst="roundRect">
            <a:avLst>
              <a:gd name="adj" fmla="val 17857"/>
            </a:avLst>
          </a:prstGeom>
          <a:solidFill>
            <a:srgbClr val="0E9F9A"/>
          </a:solidFill>
          <a:ln/>
        </p:spPr>
      </p:sp>
      <p:sp>
        <p:nvSpPr>
          <p:cNvPr id="274" name="Text 272"/>
          <p:cNvSpPr txBox="1"/>
          <p:nvPr/>
        </p:nvSpPr>
        <p:spPr>
          <a:xfrm>
            <a:off x="548640" y="6035040"/>
            <a:ext cx="82296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75" name="Text 273"/>
          <p:cNvSpPr txBox="1"/>
          <p:nvPr/>
        </p:nvSpPr>
        <p:spPr>
          <a:xfrm>
            <a:off x="1417320"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AIが自動で行う</a:t>
            </a:r>
            <a:endParaRPr lang="en-US" sz="800" dirty="0"/>
          </a:p>
        </p:txBody>
      </p:sp>
      <p:sp>
        <p:nvSpPr>
          <p:cNvPr id="276" name="Shape 274"/>
          <p:cNvSpPr/>
          <p:nvPr/>
        </p:nvSpPr>
        <p:spPr>
          <a:xfrm>
            <a:off x="2761488" y="6035040"/>
            <a:ext cx="822960" cy="256032"/>
          </a:xfrm>
          <a:prstGeom prst="roundRect">
            <a:avLst>
              <a:gd name="adj" fmla="val 17857"/>
            </a:avLst>
          </a:prstGeom>
          <a:solidFill>
            <a:srgbClr val="D9F2F1"/>
          </a:solidFill>
          <a:ln/>
        </p:spPr>
      </p:sp>
      <p:sp>
        <p:nvSpPr>
          <p:cNvPr id="277" name="Text 275"/>
          <p:cNvSpPr txBox="1"/>
          <p:nvPr/>
        </p:nvSpPr>
        <p:spPr>
          <a:xfrm>
            <a:off x="2761488" y="6035040"/>
            <a:ext cx="822960" cy="25603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278" name="Text 276"/>
          <p:cNvSpPr txBox="1"/>
          <p:nvPr/>
        </p:nvSpPr>
        <p:spPr>
          <a:xfrm>
            <a:off x="3630168"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依頼に応じAIが案を出す</a:t>
            </a:r>
            <a:endParaRPr lang="en-US" sz="800" dirty="0"/>
          </a:p>
        </p:txBody>
      </p:sp>
      <p:sp>
        <p:nvSpPr>
          <p:cNvPr id="279" name="Shape 277"/>
          <p:cNvSpPr/>
          <p:nvPr/>
        </p:nvSpPr>
        <p:spPr>
          <a:xfrm>
            <a:off x="4974336" y="6035040"/>
            <a:ext cx="822960" cy="256032"/>
          </a:xfrm>
          <a:prstGeom prst="roundRect">
            <a:avLst>
              <a:gd name="adj" fmla="val 17857"/>
            </a:avLst>
          </a:prstGeom>
          <a:solidFill>
            <a:srgbClr val="FDEBD3"/>
          </a:solidFill>
          <a:ln/>
        </p:spPr>
      </p:sp>
      <p:sp>
        <p:nvSpPr>
          <p:cNvPr id="280" name="Text 278"/>
          <p:cNvSpPr txBox="1"/>
          <p:nvPr/>
        </p:nvSpPr>
        <p:spPr>
          <a:xfrm>
            <a:off x="4974336" y="6035040"/>
            <a:ext cx="822960" cy="25603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281" name="Text 279"/>
          <p:cNvSpPr txBox="1"/>
          <p:nvPr/>
        </p:nvSpPr>
        <p:spPr>
          <a:xfrm>
            <a:off x="5843016"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人が判断・フローで効率化</a:t>
            </a:r>
            <a:endParaRPr lang="en-US" sz="800" dirty="0"/>
          </a:p>
        </p:txBody>
      </p:sp>
      <p:sp>
        <p:nvSpPr>
          <p:cNvPr id="282" name="Shape 280"/>
          <p:cNvSpPr/>
          <p:nvPr/>
        </p:nvSpPr>
        <p:spPr>
          <a:xfrm>
            <a:off x="7187184" y="6035040"/>
            <a:ext cx="822960" cy="256032"/>
          </a:xfrm>
          <a:prstGeom prst="roundRect">
            <a:avLst>
              <a:gd name="adj" fmla="val 17857"/>
            </a:avLst>
          </a:prstGeom>
          <a:solidFill>
            <a:srgbClr val="F3F5F8"/>
          </a:solidFill>
          <a:ln/>
        </p:spPr>
      </p:sp>
      <p:sp>
        <p:nvSpPr>
          <p:cNvPr id="283" name="Text 281"/>
          <p:cNvSpPr txBox="1"/>
          <p:nvPr/>
        </p:nvSpPr>
        <p:spPr>
          <a:xfrm>
            <a:off x="7187184" y="6035040"/>
            <a:ext cx="822960" cy="25603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人</a:t>
            </a:r>
            <a:endParaRPr lang="en-US" sz="850" dirty="0"/>
          </a:p>
        </p:txBody>
      </p:sp>
      <p:sp>
        <p:nvSpPr>
          <p:cNvPr id="284" name="Text 282"/>
          <p:cNvSpPr txBox="1"/>
          <p:nvPr/>
        </p:nvSpPr>
        <p:spPr>
          <a:xfrm>
            <a:off x="8055864"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人が行う（現状どおり）</a:t>
            </a:r>
            <a:endParaRPr lang="en-US" sz="800" dirty="0"/>
          </a:p>
        </p:txBody>
      </p:sp>
      <p:sp>
        <p:nvSpPr>
          <p:cNvPr id="285" name="Shape 283"/>
          <p:cNvSpPr/>
          <p:nvPr/>
        </p:nvSpPr>
        <p:spPr>
          <a:xfrm>
            <a:off x="9400032" y="6035040"/>
            <a:ext cx="822960" cy="256032"/>
          </a:xfrm>
          <a:prstGeom prst="roundRect">
            <a:avLst>
              <a:gd name="adj" fmla="val 17857"/>
            </a:avLst>
          </a:prstGeom>
          <a:solidFill>
            <a:srgbClr val="FFFFFF"/>
          </a:solidFill>
          <a:ln w="12700">
            <a:solidFill>
              <a:srgbClr val="9AA5B4"/>
            </a:solidFill>
            <a:prstDash val="dash"/>
          </a:ln>
        </p:spPr>
      </p:sp>
      <p:sp>
        <p:nvSpPr>
          <p:cNvPr id="286" name="Text 284"/>
          <p:cNvSpPr txBox="1"/>
          <p:nvPr/>
        </p:nvSpPr>
        <p:spPr>
          <a:xfrm>
            <a:off x="9400032" y="6035040"/>
            <a:ext cx="822960" cy="25603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87" name="Text 285"/>
          <p:cNvSpPr txBox="1"/>
          <p:nvPr/>
        </p:nvSpPr>
        <p:spPr>
          <a:xfrm>
            <a:off x="10268712"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発展させて対応できる</a:t>
            </a:r>
            <a:endParaRPr lang="en-US" sz="800" dirty="0"/>
          </a:p>
        </p:txBody>
      </p:sp>
      <p:sp>
        <p:nvSpPr>
          <p:cNvPr id="288" name="Text 286"/>
          <p:cNvSpPr txBox="1"/>
          <p:nvPr/>
        </p:nvSpPr>
        <p:spPr>
          <a:xfrm>
            <a:off x="548640" y="6336792"/>
            <a:ext cx="11064240" cy="228600"/>
          </a:xfrm>
          <a:prstGeom prst="rect">
            <a:avLst/>
          </a:prstGeom>
          <a:noFill/>
          <a:ln/>
        </p:spPr>
        <p:txBody>
          <a:bodyPr wrap="square" lIns="0" tIns="0" rIns="0" bIns="0" rtlCol="0" anchor="t"/>
          <a:lstStyle/>
          <a:p>
            <a:pPr indent="0" marL="0">
              <a:buNone/>
            </a:pPr>
            <a:r>
              <a:rPr lang="en-US" sz="850" dirty="0">
                <a:solidFill>
                  <a:srgbClr val="6B7280"/>
                </a:solidFill>
                <a:latin typeface="Meiryo UI" pitchFamily="34" charset="0"/>
                <a:ea typeface="Meiryo UI" pitchFamily="34" charset="-122"/>
                <a:cs typeface="Meiryo UI" pitchFamily="34" charset="-120"/>
              </a:rPr>
              <a:t>配信カードは先に配信日ごとに作成し、その後の工程で中身を埋める。A2は情報収集をSharePointのナレッジ参照で支援。C1はAirtable内の情報だけで生成する</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構成パターンの比較①：M365に寄せる構成</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評価ではなく、各パターンの性質を並べたもの</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1165860"/>
                <a:gridCol w="1165860"/>
                <a:gridCol w="1165860"/>
                <a:gridCol w="1165860"/>
                <a:gridCol w="1165860"/>
                <a:gridCol w="1165860"/>
                <a:gridCol w="1165860"/>
                <a:gridCol w="1165860"/>
              </a:tblGrid>
              <a:tr h="365760">
                <a:tc>
                  <a:txBody>
                    <a:bodyPr/>
                    <a:lstStyle/>
                    <a:p>
                      <a:pPr indent="0" marL="0">
                        <a:buNone/>
                      </a:pP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A1</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A2</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A3</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A4</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A6</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A7</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A8</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集約先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管理基盤</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Lists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Power Apps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（キャンバス）</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code apps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Lists＋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code apps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自動化</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Step1</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Step1〜2</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Step2</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Step3</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Step2〜3</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Step3〜4</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Step3〜4</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Step3〜4</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難易度</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期間目安</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〜1ヶ月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〜1ヶ月</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（デモ済み）</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2〜3ヶ月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3〜4ヶ月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1〜3ヶ月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3〜4ヶ月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3〜5ヶ月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2〜4ヶ月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数値データの渡し方</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手動で添付</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SharePoint上</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のファイル</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社内資料の置き場所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利用画面</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Copilot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Copilot</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／Teams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Teams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＋Teams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Lists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／Teams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専用アプリ</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（Teams可）</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専用アプリ</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専用アプリ</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＋Lists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主な担い手</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＋開発</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＋開発</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＋開発</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主な追加コスト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なし</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なし</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Copilot Studio</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PA Premium</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A3＋</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AI Builder等</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生成部分のみ</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Power Apps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Premium</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Power Apps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Premium</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Premium</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（画面のみ）</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263640"/>
            <a:ext cx="11064240" cy="274320"/>
          </a:xfrm>
          <a:prstGeom prst="rect">
            <a:avLst/>
          </a:prstGeom>
          <a:noFill/>
          <a:ln/>
        </p:spPr>
        <p:txBody>
          <a:bodyPr wrap="square" lIns="508" tIns="508" rIns="508" bIns="508" rtlCol="0" anchor="t"/>
          <a:lstStyle/>
          <a:p>
            <a:pPr indent="0" marL="0">
              <a:buNone/>
            </a:pPr>
            <a:r>
              <a:rPr lang="en-US" sz="900" dirty="0">
                <a:solidFill>
                  <a:srgbClr val="6B7280"/>
                </a:solidFill>
                <a:latin typeface="Meiryo UI" pitchFamily="34" charset="0"/>
                <a:ea typeface="Meiryo UI" pitchFamily="34" charset="-122"/>
                <a:cs typeface="Meiryo UI" pitchFamily="34" charset="-120"/>
              </a:rPr>
              <a:t>難易度（★）は開発量・必要なスキル・関係する部署やシステムの数から見た相対的な目安。期間は社内で内製し、PoC後に単独で構築した場合の概算。どの構成も「前処理した数値データをAIに渡す」点は同じ</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構成パターンの比較②：ハイブリッド・GCP・Airtable内</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評価ではなく、各パターンの性質を並べたもの</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1865376"/>
                <a:gridCol w="1865376"/>
                <a:gridCol w="1865376"/>
                <a:gridCol w="1865376"/>
                <a:gridCol w="1865376"/>
              </a:tblGrid>
              <a:tr h="365760">
                <a:tc>
                  <a:txBody>
                    <a:bodyPr/>
                    <a:lstStyle/>
                    <a:p>
                      <a:pPr indent="0" marL="0">
                        <a:buNone/>
                      </a:pP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H1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6B4FBB"/>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B1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B2</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B3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C1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C77700"/>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集約先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ハイブリッド</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Airtable内</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管理基盤</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Airtable／Lists</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独自アプリ</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自動化</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Step2〜3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Step2</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Step3〜4</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Step2〜3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難易度</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期間目安</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2〜4ヶ月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1〜3ヶ月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3〜4ヶ月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6ヶ月〜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〜1ヶ月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数値データの渡し方</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API経由</a:t>
                      </a:r>
                      <a:endParaRPr lang="en-US" sz="1050" dirty="0">
                        <a:latin typeface="Meiryo UI" charset="0"/>
                        <a:ea typeface="Meiryo UI" charset="0"/>
                        <a:cs typeface="Meiryo UI" charset="0"/>
                      </a:endParaRPr>
                    </a:p>
                    <a:p>
                      <a:pPr algn="ctr" indent="0" marL="0">
                        <a:buNone/>
                      </a:pPr>
                      <a:r>
                        <a:rPr lang="en-US" sz="1050" dirty="0">
                          <a:solidFill>
                            <a:srgbClr val="2B2B2B"/>
                          </a:solidFill>
                          <a:latin typeface="Meiryo UI" pitchFamily="34" charset="0"/>
                          <a:ea typeface="Meiryo UI" pitchFamily="34" charset="-122"/>
                          <a:cs typeface="Meiryo UI" pitchFamily="34" charset="-120"/>
                        </a:rPr>
                        <a:t>（SQLも可）</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データエージェント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加工済みを直接</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加工済みを直接</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カードに入力・添付</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社内資料の置き場所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M365</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M365（フェデ）</a:t>
                      </a:r>
                      <a:endParaRPr lang="en-US" sz="1050" dirty="0">
                        <a:latin typeface="Meiryo UI" charset="0"/>
                        <a:ea typeface="Meiryo UI" charset="0"/>
                        <a:cs typeface="Meiryo UI" charset="0"/>
                      </a:endParaRPr>
                    </a:p>
                    <a:p>
                      <a:pPr algn="ctr" indent="0" marL="0">
                        <a:buNone/>
                      </a:pPr>
                      <a:r>
                        <a:rPr lang="en-US" sz="1050" dirty="0">
                          <a:solidFill>
                            <a:srgbClr val="2B2B2B"/>
                          </a:solidFill>
                          <a:latin typeface="Meiryo UI" pitchFamily="34" charset="0"/>
                          <a:ea typeface="Meiryo UI" pitchFamily="34" charset="-122"/>
                          <a:cs typeface="Meiryo UI" pitchFamily="34" charset="-120"/>
                        </a:rPr>
                        <a:t>／GCP（取込）</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GCPにも取り込み</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GCPにも取り込み</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Airtable（AIに渡る）</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利用画面</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Teams</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Gemini Enterprise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独自アプリ</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主な担い手</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業務部門＋IT部門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IT部門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IT部門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IT部門・開発</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業務部門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主な追加コスト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Copilot Studio＋GCP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Gemini Enterprise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GCP利用料・開発</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開発・保守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AIクレジット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263640"/>
            <a:ext cx="11064240" cy="274320"/>
          </a:xfrm>
          <a:prstGeom prst="rect">
            <a:avLst/>
          </a:prstGeom>
          <a:noFill/>
          <a:ln/>
        </p:spPr>
        <p:txBody>
          <a:bodyPr wrap="square" lIns="508" tIns="508" rIns="508" bIns="508" rtlCol="0" anchor="t"/>
          <a:lstStyle/>
          <a:p>
            <a:pPr indent="0" marL="0">
              <a:buNone/>
            </a:pPr>
            <a:r>
              <a:rPr lang="en-US" sz="900" dirty="0">
                <a:solidFill>
                  <a:srgbClr val="6B7280"/>
                </a:solidFill>
                <a:latin typeface="Meiryo UI" pitchFamily="34" charset="0"/>
                <a:ea typeface="Meiryo UI" pitchFamily="34" charset="-122"/>
                <a:cs typeface="Meiryo UI" pitchFamily="34" charset="-120"/>
              </a:rPr>
              <a:t>難易度（★）は開発量・必要なスキル・関係する部署やシステムの数から見た相対的な目安。期間は社内で内製し、PoC後に単独で構築した場合の概算。どの構成も「前処理した数値データをAIに渡す」点は同じ</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コストの構造（何に比例してかかるか）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金額ではなく、パターンごとに追加でかかるものと、その課金の単位を整理</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02920"/>
                <a:gridCol w="2148840"/>
                <a:gridCol w="3200400"/>
                <a:gridCol w="3017520"/>
                <a:gridCol w="2194560"/>
              </a:tblGrid>
              <a:tr h="310896">
                <a:tc>
                  <a:txBody>
                    <a:bodyPr/>
                    <a:lstStyle/>
                    <a:p>
                      <a:pPr indent="0" marL="0">
                        <a:buNone/>
                      </a:pPr>
                      <a:r>
                        <a:rPr lang="en-US" sz="900" b="1" dirty="0">
                          <a:solidFill>
                            <a:srgbClr val="FFFFFF"/>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00" b="1" dirty="0">
                          <a:solidFill>
                            <a:srgbClr val="FFFFFF"/>
                          </a:solidFill>
                          <a:latin typeface="Meiryo UI" pitchFamily="34" charset="0"/>
                          <a:ea typeface="Meiryo UI" pitchFamily="34" charset="-122"/>
                          <a:cs typeface="Meiryo UI" pitchFamily="34" charset="-120"/>
                        </a:rPr>
                        <a:t>パターン</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00" b="1" dirty="0">
                          <a:solidFill>
                            <a:srgbClr val="FFFFFF"/>
                          </a:solidFill>
                          <a:latin typeface="Meiryo UI" pitchFamily="34" charset="0"/>
                          <a:ea typeface="Meiryo UI" pitchFamily="34" charset="-122"/>
                          <a:cs typeface="Meiryo UI" pitchFamily="34" charset="-120"/>
                        </a:rPr>
                        <a:t>主な追加ライセンス・費用</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00" b="1" dirty="0">
                          <a:solidFill>
                            <a:srgbClr val="FFFFFF"/>
                          </a:solidFill>
                          <a:latin typeface="Meiryo UI" pitchFamily="34" charset="0"/>
                          <a:ea typeface="Meiryo UI" pitchFamily="34" charset="-122"/>
                          <a:cs typeface="Meiryo UI" pitchFamily="34" charset="-120"/>
                        </a:rPr>
                        <a:t>何に比例するか</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00" b="1" dirty="0">
                          <a:solidFill>
                            <a:srgbClr val="FFFFFF"/>
                          </a:solidFill>
                          <a:latin typeface="Meiryo UI" pitchFamily="34" charset="0"/>
                          <a:ea typeface="Meiryo UI" pitchFamily="34" charset="-122"/>
                          <a:cs typeface="Meiryo UI" pitchFamily="34" charset="-120"/>
                        </a:rPr>
                        <a:t>既存契約で賄える部分</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A1</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Copilot手動アシスト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追加なし</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M365 Copilot（導入済み）</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A2</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Agent Builder</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追加なし</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M365 Copilot（導入済み）</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A3</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Copilot Studioエージェント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Copilot Studio、Power Automate Premium</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利用量（メッセージ）＋利用者／フロー</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SharePointのナレッジ</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A4</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Power Automateで自動起案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A3の一式＋AI Builder</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利用量（クレジット）＋フロー</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同上</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A5</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Listsに移行</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生成部分（Copilot Studio／AI Builder）のみ</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Lists・SharePointコネクタ（標準）</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A6</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Power Appsキャンバス</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Power Apps Premium＋生成部分</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利用者数（全利用者）＋利用量</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Teams（タブに埋め込み可）</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A7</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code apps</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Power Apps Premium＋生成部分</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利用者数（全利用者）＋利用量</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A8</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Lists＋code apps</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Power Apps Premium（画面利用者）＋生成部分</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利用者数（画面利用者）＋利用量</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Listsの標準ビュー</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H1</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6B4FBB"/>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Copilot Studio＋GCP API</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Copilot Studio＋Cloud Run・BigQuery</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Teams・SharePoint</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B1</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Gemini Enterprise</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Gemini Enterprise（エディション別）</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利用者数、または利用量（従量課金版）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BigQuery・GCP基盤</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B2</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Agent Platformで自動起案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Agent Platform・Gemini API・Cloud Run</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利用量（トークン・実行時間）※一部機能は2026年から課金</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GCP基盤・試作の資産</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B3</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スクラッチ開発</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GCP利用料＋開発・保守の人件費</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利用量＋人件費</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GCP基盤</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C1</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C77700"/>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Airtable標準のAI</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Airtable AIクレジット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利用量（プランに一定量を含み、追加購入も可）</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Airtableの契約</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7" name="Shape 4"/>
          <p:cNvSpPr/>
          <p:nvPr/>
        </p:nvSpPr>
        <p:spPr>
          <a:xfrm>
            <a:off x="548640" y="5943600"/>
            <a:ext cx="11064240" cy="457200"/>
          </a:xfrm>
          <a:prstGeom prst="roundRect">
            <a:avLst>
              <a:gd name="adj" fmla="val 12000"/>
            </a:avLst>
          </a:prstGeom>
          <a:solidFill>
            <a:srgbClr val="FDEBD3"/>
          </a:solidFill>
          <a:ln/>
        </p:spPr>
      </p:sp>
      <p:sp>
        <p:nvSpPr>
          <p:cNvPr id="8" name="Text 5"/>
          <p:cNvSpPr txBox="1"/>
          <p:nvPr/>
        </p:nvSpPr>
        <p:spPr>
          <a:xfrm>
            <a:off x="731520" y="5943600"/>
            <a:ext cx="10789920" cy="457200"/>
          </a:xfrm>
          <a:prstGeom prst="rect">
            <a:avLst/>
          </a:prstGeom>
          <a:noFill/>
          <a:ln/>
        </p:spPr>
        <p:txBody>
          <a:bodyPr wrap="square" lIns="0" tIns="0" rIns="0" bIns="0" rtlCol="0" anchor="ctr"/>
          <a:lstStyle/>
          <a:p>
            <a:pPr indent="0" marL="0">
              <a:buNone/>
            </a:pPr>
            <a:r>
              <a:rPr lang="en-US" sz="1000" b="1" dirty="0">
                <a:solidFill>
                  <a:srgbClr val="E8912D"/>
                </a:solidFill>
                <a:latin typeface="Meiryo UI" pitchFamily="34" charset="0"/>
                <a:ea typeface="Meiryo UI" pitchFamily="34" charset="-122"/>
                <a:cs typeface="Meiryo UI" pitchFamily="34" charset="-120"/>
              </a:rPr>
              <a:t>共通：</a:t>
            </a:r>
            <a:pPr indent="0" marL="0">
              <a:buNone/>
            </a:pPr>
            <a:r>
              <a:rPr lang="en-US" sz="1000" dirty="0">
                <a:solidFill>
                  <a:srgbClr val="000000"/>
                </a:solidFill>
                <a:latin typeface="Meiryo UI" pitchFamily="34" charset="0"/>
                <a:ea typeface="Meiryo UI" pitchFamily="34" charset="-122"/>
                <a:cs typeface="Meiryo UI" pitchFamily="34" charset="-120"/>
              </a:rPr>
              <a:t>Airtableを継続して外部と連携する場合はPower Automate Premium（HTTP）が必要。BigQueryの集計クエリ費用はどの構成でもかかる。金額は契約形態を確認のうえ精査が必要</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参考：ライセンスの課金単位と、利用者が増えたときの運用</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MS側は課金の単位が3種類あり、どれに当たるかで人が増えたときの手間が大きく変わる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15</a:t>
            </a:r>
            <a:endParaRPr lang="en-US" sz="900" dirty="0"/>
          </a:p>
        </p:txBody>
      </p:sp>
      <p:sp>
        <p:nvSpPr>
          <p:cNvPr id="6" name="Shape 4"/>
          <p:cNvSpPr/>
          <p:nvPr/>
        </p:nvSpPr>
        <p:spPr>
          <a:xfrm>
            <a:off x="548640" y="1371600"/>
            <a:ext cx="3566160" cy="2148840"/>
          </a:xfrm>
          <a:prstGeom prst="roundRect">
            <a:avLst>
              <a:gd name="adj" fmla="val 2553"/>
            </a:avLst>
          </a:prstGeom>
          <a:solidFill>
            <a:srgbClr val="FBE3E3"/>
          </a:solidFill>
          <a:ln/>
        </p:spPr>
      </p:sp>
      <p:sp>
        <p:nvSpPr>
          <p:cNvPr id="7" name="Shape 5"/>
          <p:cNvSpPr/>
          <p:nvPr/>
        </p:nvSpPr>
        <p:spPr>
          <a:xfrm>
            <a:off x="685800" y="1481328"/>
            <a:ext cx="420624" cy="420624"/>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69925" y="1565453"/>
            <a:ext cx="252374" cy="252374"/>
          </a:xfrm>
          <a:prstGeom prst="rect">
            <a:avLst/>
          </a:prstGeom>
        </p:spPr>
      </p:pic>
      <p:sp>
        <p:nvSpPr>
          <p:cNvPr id="9" name="Text 6"/>
          <p:cNvSpPr txBox="1"/>
          <p:nvPr/>
        </p:nvSpPr>
        <p:spPr>
          <a:xfrm>
            <a:off x="1188720" y="1481328"/>
            <a:ext cx="2834640" cy="42062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利用者ごと</a:t>
            </a:r>
            <a:endParaRPr lang="en-US" sz="1300" dirty="0"/>
          </a:p>
        </p:txBody>
      </p:sp>
      <p:sp>
        <p:nvSpPr>
          <p:cNvPr id="10" name="Text 7"/>
          <p:cNvSpPr txBox="1"/>
          <p:nvPr/>
        </p:nvSpPr>
        <p:spPr>
          <a:xfrm>
            <a:off x="713232" y="1993392"/>
            <a:ext cx="3291840" cy="1463040"/>
          </a:xfrm>
          <a:prstGeom prst="rect">
            <a:avLst/>
          </a:prstGeom>
          <a:noFill/>
          <a:ln/>
        </p:spPr>
        <p:txBody>
          <a:bodyPr wrap="square" lIns="254" tIns="254" rIns="254" bIns="254" rtlCol="0" anchor="t"/>
          <a:lstStyle/>
          <a:p>
            <a:pPr indent="0" marL="0">
              <a:buNone/>
            </a:pPr>
            <a:r>
              <a:rPr lang="en-US" sz="1100" b="1" dirty="0">
                <a:solidFill>
                  <a:srgbClr val="6B7280"/>
                </a:solidFill>
                <a:latin typeface="Meiryo UI" pitchFamily="34" charset="0"/>
                <a:ea typeface="Meiryo UI" pitchFamily="34" charset="-122"/>
                <a:cs typeface="Meiryo UI" pitchFamily="34" charset="-120"/>
              </a:rPr>
              <a:t>該当：</a:t>
            </a:r>
            <a:pPr indent="0" marL="0">
              <a:buNone/>
            </a:pPr>
            <a:r>
              <a:rPr lang="en-US" sz="1100" dirty="0">
                <a:solidFill>
                  <a:srgbClr val="000000"/>
                </a:solidFill>
                <a:latin typeface="Meiryo UI" pitchFamily="34" charset="0"/>
                <a:ea typeface="Meiryo UI" pitchFamily="34" charset="-122"/>
                <a:cs typeface="Meiryo UI" pitchFamily="34" charset="-120"/>
              </a:rPr>
              <a:t>M365 Copilot、Power Apps Premium、Power Automate Premium（利用者向け）</a:t>
            </a:r>
            <a:endParaRPr lang="en-US" sz="1100" dirty="0"/>
          </a:p>
          <a:p>
            <a:pPr indent="0" marL="0">
              <a:buNone/>
            </a:pPr>
            <a:r>
              <a:rPr lang="en-US" sz="400" dirty="0">
                <a:solidFill>
                  <a:srgbClr val="000000"/>
                </a:solidFill>
                <a:latin typeface="Meiryo UI" pitchFamily="34" charset="0"/>
                <a:ea typeface="Meiryo UI" pitchFamily="34" charset="-122"/>
                <a:cs typeface="Meiryo UI" pitchFamily="34" charset="-120"/>
              </a:rPr>
              <a:t> </a:t>
            </a:r>
            <a:endParaRPr lang="en-US" sz="1100" dirty="0"/>
          </a:p>
          <a:p>
            <a:pPr indent="0" marL="0">
              <a:buNone/>
            </a:pPr>
            <a:r>
              <a:rPr lang="en-US" sz="1100" b="1" dirty="0">
                <a:solidFill>
                  <a:srgbClr val="6B7280"/>
                </a:solidFill>
                <a:latin typeface="Meiryo UI" pitchFamily="34" charset="0"/>
                <a:ea typeface="Meiryo UI" pitchFamily="34" charset="-122"/>
                <a:cs typeface="Meiryo UI" pitchFamily="34" charset="-120"/>
              </a:rPr>
              <a:t>人が増えたとき：</a:t>
            </a:r>
            <a:pPr indent="0" marL="0">
              <a:buNone/>
            </a:pPr>
            <a:r>
              <a:rPr lang="en-US" sz="1100" dirty="0">
                <a:solidFill>
                  <a:srgbClr val="000000"/>
                </a:solidFill>
                <a:latin typeface="Meiryo UI" pitchFamily="34" charset="0"/>
                <a:ea typeface="Meiryo UI" pitchFamily="34" charset="-122"/>
                <a:cs typeface="Meiryo UI" pitchFamily="34" charset="-120"/>
              </a:rPr>
              <a:t>人数分を購入し、1人ずつ割り当てる。人が増えるたびに追加購入と割り当てが必要</a:t>
            </a:r>
            <a:endParaRPr lang="en-US" sz="1100" dirty="0"/>
          </a:p>
        </p:txBody>
      </p:sp>
      <p:sp>
        <p:nvSpPr>
          <p:cNvPr id="11" name="Shape 8"/>
          <p:cNvSpPr/>
          <p:nvPr/>
        </p:nvSpPr>
        <p:spPr>
          <a:xfrm>
            <a:off x="4297680" y="1371600"/>
            <a:ext cx="3566160" cy="2148840"/>
          </a:xfrm>
          <a:prstGeom prst="roundRect">
            <a:avLst>
              <a:gd name="adj" fmla="val 2553"/>
            </a:avLst>
          </a:prstGeom>
          <a:solidFill>
            <a:srgbClr val="D9F2F1"/>
          </a:solidFill>
          <a:ln/>
        </p:spPr>
      </p:sp>
      <p:sp>
        <p:nvSpPr>
          <p:cNvPr id="12" name="Shape 9"/>
          <p:cNvSpPr/>
          <p:nvPr/>
        </p:nvSpPr>
        <p:spPr>
          <a:xfrm>
            <a:off x="4434840" y="1481328"/>
            <a:ext cx="420624" cy="420624"/>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4518965" y="1565453"/>
            <a:ext cx="252374" cy="252374"/>
          </a:xfrm>
          <a:prstGeom prst="rect">
            <a:avLst/>
          </a:prstGeom>
        </p:spPr>
      </p:pic>
      <p:sp>
        <p:nvSpPr>
          <p:cNvPr id="14" name="Text 10"/>
          <p:cNvSpPr txBox="1"/>
          <p:nvPr/>
        </p:nvSpPr>
        <p:spPr>
          <a:xfrm>
            <a:off x="4937760" y="1481328"/>
            <a:ext cx="2834640" cy="42062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フロー（処理）ごと</a:t>
            </a:r>
            <a:endParaRPr lang="en-US" sz="1300" dirty="0"/>
          </a:p>
        </p:txBody>
      </p:sp>
      <p:sp>
        <p:nvSpPr>
          <p:cNvPr id="15" name="Text 11"/>
          <p:cNvSpPr txBox="1"/>
          <p:nvPr/>
        </p:nvSpPr>
        <p:spPr>
          <a:xfrm>
            <a:off x="4462272" y="1993392"/>
            <a:ext cx="3291840" cy="1463040"/>
          </a:xfrm>
          <a:prstGeom prst="rect">
            <a:avLst/>
          </a:prstGeom>
          <a:noFill/>
          <a:ln/>
        </p:spPr>
        <p:txBody>
          <a:bodyPr wrap="square" lIns="254" tIns="254" rIns="254" bIns="254" rtlCol="0" anchor="t"/>
          <a:lstStyle/>
          <a:p>
            <a:pPr indent="0" marL="0">
              <a:buNone/>
            </a:pPr>
            <a:r>
              <a:rPr lang="en-US" sz="1100" b="1" dirty="0">
                <a:solidFill>
                  <a:srgbClr val="6B7280"/>
                </a:solidFill>
                <a:latin typeface="Meiryo UI" pitchFamily="34" charset="0"/>
                <a:ea typeface="Meiryo UI" pitchFamily="34" charset="-122"/>
                <a:cs typeface="Meiryo UI" pitchFamily="34" charset="-120"/>
              </a:rPr>
              <a:t>該当：</a:t>
            </a:r>
            <a:pPr indent="0" marL="0">
              <a:buNone/>
            </a:pPr>
            <a:r>
              <a:rPr lang="en-US" sz="1100" dirty="0">
                <a:solidFill>
                  <a:srgbClr val="000000"/>
                </a:solidFill>
                <a:latin typeface="Meiryo UI" pitchFamily="34" charset="0"/>
                <a:ea typeface="Meiryo UI" pitchFamily="34" charset="-122"/>
                <a:cs typeface="Meiryo UI" pitchFamily="34" charset="-120"/>
              </a:rPr>
              <a:t>Power Automate Process（自動で動くフロー1本単位）</a:t>
            </a:r>
            <a:endParaRPr lang="en-US" sz="1100" dirty="0"/>
          </a:p>
          <a:p>
            <a:pPr indent="0" marL="0">
              <a:buNone/>
            </a:pPr>
            <a:r>
              <a:rPr lang="en-US" sz="400" dirty="0">
                <a:solidFill>
                  <a:srgbClr val="000000"/>
                </a:solidFill>
                <a:latin typeface="Meiryo UI" pitchFamily="34" charset="0"/>
                <a:ea typeface="Meiryo UI" pitchFamily="34" charset="-122"/>
                <a:cs typeface="Meiryo UI" pitchFamily="34" charset="-120"/>
              </a:rPr>
              <a:t> </a:t>
            </a:r>
            <a:endParaRPr lang="en-US" sz="1100" dirty="0"/>
          </a:p>
          <a:p>
            <a:pPr indent="0" marL="0">
              <a:buNone/>
            </a:pPr>
            <a:r>
              <a:rPr lang="en-US" sz="1100" b="1" dirty="0">
                <a:solidFill>
                  <a:srgbClr val="6B7280"/>
                </a:solidFill>
                <a:latin typeface="Meiryo UI" pitchFamily="34" charset="0"/>
                <a:ea typeface="Meiryo UI" pitchFamily="34" charset="-122"/>
                <a:cs typeface="Meiryo UI" pitchFamily="34" charset="-120"/>
              </a:rPr>
              <a:t>人が増えたとき：</a:t>
            </a:r>
            <a:pPr indent="0" marL="0">
              <a:buNone/>
            </a:pPr>
            <a:r>
              <a:rPr lang="en-US" sz="1100" dirty="0">
                <a:solidFill>
                  <a:srgbClr val="000000"/>
                </a:solidFill>
                <a:latin typeface="Meiryo UI" pitchFamily="34" charset="0"/>
                <a:ea typeface="Meiryo UI" pitchFamily="34" charset="-122"/>
                <a:cs typeface="Meiryo UI" pitchFamily="34" charset="-120"/>
              </a:rPr>
              <a:t>利用者の人数に関係なく、フローの本数分。人が増えても追加不要</a:t>
            </a:r>
            <a:endParaRPr lang="en-US" sz="1100" dirty="0"/>
          </a:p>
        </p:txBody>
      </p:sp>
      <p:sp>
        <p:nvSpPr>
          <p:cNvPr id="16" name="Shape 12"/>
          <p:cNvSpPr/>
          <p:nvPr/>
        </p:nvSpPr>
        <p:spPr>
          <a:xfrm>
            <a:off x="8046720" y="1371600"/>
            <a:ext cx="3566160" cy="2148840"/>
          </a:xfrm>
          <a:prstGeom prst="roundRect">
            <a:avLst>
              <a:gd name="adj" fmla="val 2553"/>
            </a:avLst>
          </a:prstGeom>
          <a:solidFill>
            <a:srgbClr val="D9F2F1"/>
          </a:solidFill>
          <a:ln/>
        </p:spPr>
      </p:sp>
      <p:sp>
        <p:nvSpPr>
          <p:cNvPr id="17" name="Shape 13"/>
          <p:cNvSpPr/>
          <p:nvPr/>
        </p:nvSpPr>
        <p:spPr>
          <a:xfrm>
            <a:off x="8183880" y="1481328"/>
            <a:ext cx="420624" cy="420624"/>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8268005" y="1565453"/>
            <a:ext cx="252374" cy="252374"/>
          </a:xfrm>
          <a:prstGeom prst="rect">
            <a:avLst/>
          </a:prstGeom>
        </p:spPr>
      </p:pic>
      <p:sp>
        <p:nvSpPr>
          <p:cNvPr id="19" name="Text 14"/>
          <p:cNvSpPr txBox="1"/>
          <p:nvPr/>
        </p:nvSpPr>
        <p:spPr>
          <a:xfrm>
            <a:off x="8686800" y="1481328"/>
            <a:ext cx="2834640" cy="42062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テナント全体の容量</a:t>
            </a:r>
            <a:endParaRPr lang="en-US" sz="1300" dirty="0"/>
          </a:p>
        </p:txBody>
      </p:sp>
      <p:sp>
        <p:nvSpPr>
          <p:cNvPr id="20" name="Text 15"/>
          <p:cNvSpPr txBox="1"/>
          <p:nvPr/>
        </p:nvSpPr>
        <p:spPr>
          <a:xfrm>
            <a:off x="8211312" y="1993392"/>
            <a:ext cx="3291840" cy="1463040"/>
          </a:xfrm>
          <a:prstGeom prst="rect">
            <a:avLst/>
          </a:prstGeom>
          <a:noFill/>
          <a:ln/>
        </p:spPr>
        <p:txBody>
          <a:bodyPr wrap="square" lIns="254" tIns="254" rIns="254" bIns="254" rtlCol="0" anchor="t"/>
          <a:lstStyle/>
          <a:p>
            <a:pPr indent="0" marL="0">
              <a:buNone/>
            </a:pPr>
            <a:r>
              <a:rPr lang="en-US" sz="1100" b="1" dirty="0">
                <a:solidFill>
                  <a:srgbClr val="6B7280"/>
                </a:solidFill>
                <a:latin typeface="Meiryo UI" pitchFamily="34" charset="0"/>
                <a:ea typeface="Meiryo UI" pitchFamily="34" charset="-122"/>
                <a:cs typeface="Meiryo UI" pitchFamily="34" charset="-120"/>
              </a:rPr>
              <a:t>該当：</a:t>
            </a:r>
            <a:pPr indent="0" marL="0">
              <a:buNone/>
            </a:pPr>
            <a:r>
              <a:rPr lang="en-US" sz="1100" dirty="0">
                <a:solidFill>
                  <a:srgbClr val="000000"/>
                </a:solidFill>
                <a:latin typeface="Meiryo UI" pitchFamily="34" charset="0"/>
                <a:ea typeface="Meiryo UI" pitchFamily="34" charset="-122"/>
                <a:cs typeface="Meiryo UI" pitchFamily="34" charset="-120"/>
              </a:rPr>
              <a:t>Copilotクレジット（Copilot Studio・AI Builder）、Dataverseの容量</a:t>
            </a:r>
            <a:endParaRPr lang="en-US" sz="1100" dirty="0"/>
          </a:p>
          <a:p>
            <a:pPr indent="0" marL="0">
              <a:buNone/>
            </a:pPr>
            <a:r>
              <a:rPr lang="en-US" sz="400" dirty="0">
                <a:solidFill>
                  <a:srgbClr val="000000"/>
                </a:solidFill>
                <a:latin typeface="Meiryo UI" pitchFamily="34" charset="0"/>
                <a:ea typeface="Meiryo UI" pitchFamily="34" charset="-122"/>
                <a:cs typeface="Meiryo UI" pitchFamily="34" charset="-120"/>
              </a:rPr>
              <a:t> </a:t>
            </a:r>
            <a:endParaRPr lang="en-US" sz="1100" dirty="0"/>
          </a:p>
          <a:p>
            <a:pPr indent="0" marL="0">
              <a:buNone/>
            </a:pPr>
            <a:r>
              <a:rPr lang="en-US" sz="1100" b="1" dirty="0">
                <a:solidFill>
                  <a:srgbClr val="6B7280"/>
                </a:solidFill>
                <a:latin typeface="Meiryo UI" pitchFamily="34" charset="0"/>
                <a:ea typeface="Meiryo UI" pitchFamily="34" charset="-122"/>
                <a:cs typeface="Meiryo UI" pitchFamily="34" charset="-120"/>
              </a:rPr>
              <a:t>人が増えたとき：</a:t>
            </a:r>
            <a:pPr indent="0" marL="0">
              <a:buNone/>
            </a:pPr>
            <a:r>
              <a:rPr lang="en-US" sz="1100" dirty="0">
                <a:solidFill>
                  <a:srgbClr val="000000"/>
                </a:solidFill>
                <a:latin typeface="Meiryo UI" pitchFamily="34" charset="0"/>
                <a:ea typeface="Meiryo UI" pitchFamily="34" charset="-122"/>
                <a:cs typeface="Meiryo UI" pitchFamily="34" charset="-120"/>
              </a:rPr>
              <a:t>会社全体で共有する量を買い、消費を見ながら追加する。人数ではなく使用量で管理</a:t>
            </a:r>
            <a:endParaRPr lang="en-US" sz="1100" dirty="0"/>
          </a:p>
        </p:txBody>
      </p:sp>
      <p:sp>
        <p:nvSpPr>
          <p:cNvPr id="21" name="Shape 16"/>
          <p:cNvSpPr/>
          <p:nvPr/>
        </p:nvSpPr>
        <p:spPr>
          <a:xfrm>
            <a:off x="548640" y="3657600"/>
            <a:ext cx="4846320" cy="2651760"/>
          </a:xfrm>
          <a:prstGeom prst="roundRect">
            <a:avLst>
              <a:gd name="adj" fmla="val 2069"/>
            </a:avLst>
          </a:prstGeom>
          <a:solidFill>
            <a:srgbClr val="F3F5F8"/>
          </a:solidFill>
          <a:ln/>
        </p:spPr>
      </p:sp>
      <p:sp>
        <p:nvSpPr>
          <p:cNvPr id="22" name="Shape 17"/>
          <p:cNvSpPr/>
          <p:nvPr/>
        </p:nvSpPr>
        <p:spPr>
          <a:xfrm>
            <a:off x="685800" y="3776472"/>
            <a:ext cx="384048" cy="384048"/>
          </a:xfrm>
          <a:prstGeom prst="ellipse">
            <a:avLst/>
          </a:prstGeom>
          <a:solidFill>
            <a:srgbClr val="FFFFFF"/>
          </a:solidFill>
          <a:ln/>
        </p:spPr>
      </p:sp>
      <p:pic>
        <p:nvPicPr>
          <p:cNvPr id="23" name="Image 3" descr="preencoded.png">    </p:cNvPr>
          <p:cNvPicPr>
            <a:picLocks noChangeAspect="1"/>
          </p:cNvPicPr>
          <p:nvPr/>
        </p:nvPicPr>
        <p:blipFill>
          <a:blip r:embed="rId4"/>
          <a:stretch>
            <a:fillRect/>
          </a:stretch>
        </p:blipFill>
        <p:spPr>
          <a:xfrm>
            <a:off x="762610" y="3853282"/>
            <a:ext cx="230429" cy="230429"/>
          </a:xfrm>
          <a:prstGeom prst="rect">
            <a:avLst/>
          </a:prstGeom>
        </p:spPr>
      </p:pic>
      <p:sp>
        <p:nvSpPr>
          <p:cNvPr id="24" name="Text 18"/>
          <p:cNvSpPr txBox="1"/>
          <p:nvPr/>
        </p:nvSpPr>
        <p:spPr>
          <a:xfrm>
            <a:off x="1143000" y="3776472"/>
            <a:ext cx="4160520" cy="384048"/>
          </a:xfrm>
          <a:prstGeom prst="rect">
            <a:avLst/>
          </a:prstGeom>
          <a:noFill/>
          <a:ln/>
        </p:spPr>
        <p:txBody>
          <a:bodyPr wrap="square" lIns="0" tIns="0" rIns="0" bIns="0"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利用者ごとのライセンスの手間を減らす仕組み</a:t>
            </a:r>
            <a:endParaRPr lang="en-US" sz="1150" dirty="0"/>
          </a:p>
        </p:txBody>
      </p:sp>
      <p:sp>
        <p:nvSpPr>
          <p:cNvPr id="25" name="Text 19"/>
          <p:cNvSpPr txBox="1"/>
          <p:nvPr/>
        </p:nvSpPr>
        <p:spPr>
          <a:xfrm>
            <a:off x="731520" y="4261104"/>
            <a:ext cx="4526280" cy="1956816"/>
          </a:xfrm>
          <a:prstGeom prst="rect">
            <a:avLst/>
          </a:prstGeom>
          <a:noFill/>
          <a:ln/>
        </p:spPr>
        <p:txBody>
          <a:bodyPr wrap="square" lIns="254" tIns="254" rIns="254" bIns="254" rtlCol="0" anchor="t"/>
          <a:lstStyle/>
          <a:p>
            <a:pPr marL="152400" indent="-152400">
              <a:spcAft>
                <a:spcPts val="400"/>
              </a:spcAft>
              <a:buSzPct val="100000"/>
              <a:buChar char="•"/>
            </a:pPr>
            <a:r>
              <a:rPr lang="en-US" sz="1000" dirty="0">
                <a:solidFill>
                  <a:srgbClr val="2B2B2B"/>
                </a:solidFill>
                <a:latin typeface="Meiryo UI" pitchFamily="34" charset="0"/>
                <a:ea typeface="Meiryo UI" pitchFamily="34" charset="-122"/>
                <a:cs typeface="Meiryo UI" pitchFamily="34" charset="-120"/>
              </a:rPr>
              <a:t>自動割り当て（auto-claim）：多めに購入しておけば、対象のアプリを初めて開いた人に自動で割り当てる（M365管理センターの［課金］→［ライセンス］→［自動要求ポリシー］）</a:t>
            </a:r>
            <a:endParaRPr lang="en-US" sz="1000" dirty="0"/>
          </a:p>
          <a:p>
            <a:pPr marL="152400" indent="-152400">
              <a:spcAft>
                <a:spcPts val="400"/>
              </a:spcAft>
              <a:buSzPct val="100000"/>
              <a:buChar char="•"/>
            </a:pPr>
            <a:r>
              <a:rPr lang="en-US" sz="1000" dirty="0">
                <a:solidFill>
                  <a:srgbClr val="2B2B2B"/>
                </a:solidFill>
                <a:latin typeface="Meiryo UI" pitchFamily="34" charset="0"/>
                <a:ea typeface="Meiryo UI" pitchFamily="34" charset="-122"/>
                <a:cs typeface="Meiryo UI" pitchFamily="34" charset="-120"/>
              </a:rPr>
              <a:t>グループでの一括割り当て：Entra ID P1が必要。今の契約（Business Standard）には含まれない</a:t>
            </a:r>
            <a:endParaRPr lang="en-US" sz="1000" dirty="0"/>
          </a:p>
          <a:p>
            <a:pPr marL="152400" indent="-152400">
              <a:spcAft>
                <a:spcPts val="400"/>
              </a:spcAft>
              <a:buSzPct val="100000"/>
              <a:buChar char="•"/>
            </a:pPr>
            <a:r>
              <a:rPr lang="en-US" sz="1000" dirty="0">
                <a:solidFill>
                  <a:srgbClr val="2B2B2B"/>
                </a:solidFill>
                <a:latin typeface="Meiryo UI" pitchFamily="34" charset="0"/>
                <a:ea typeface="Meiryo UI" pitchFamily="34" charset="-122"/>
                <a:cs typeface="Meiryo UI" pitchFamily="34" charset="-120"/>
              </a:rPr>
              <a:t>退職・異動時は割り当てを外して、他の人に回す</a:t>
            </a:r>
            <a:endParaRPr lang="en-US" sz="1000" dirty="0"/>
          </a:p>
          <a:p>
            <a:pPr marL="152400" indent="-152400">
              <a:spcAft>
                <a:spcPts val="400"/>
              </a:spcAft>
              <a:buSzPct val="100000"/>
              <a:buChar char="•"/>
            </a:pPr>
            <a:r>
              <a:rPr lang="en-US" sz="1000" dirty="0">
                <a:solidFill>
                  <a:srgbClr val="2B2B2B"/>
                </a:solidFill>
                <a:latin typeface="Meiryo UI" pitchFamily="34" charset="0"/>
                <a:ea typeface="Meiryo UI" pitchFamily="34" charset="-122"/>
                <a:cs typeface="Meiryo UI" pitchFamily="34" charset="-120"/>
              </a:rPr>
              <a:t>エージェントを使うだけの人は個別のライセンス不要（テナントのクレジットから消費）</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577840" y="3657600"/>
          <a:ext cx="6035040" cy="914400"/>
        </p:xfrm>
        <a:graphic>
          <a:graphicData uri="http://schemas.openxmlformats.org/drawingml/2006/table">
            <a:tbl>
              <a:tblPr/>
              <a:tblGrid>
                <a:gridCol w="3200400"/>
                <a:gridCol w="2834640"/>
              </a:tblGrid>
              <a:tr h="310896">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パターンの性質</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人が増えたときの負担</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548640">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バックグラウンドで自動起案する（A4、Airtable連携のP7・P9など）</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小さい（フロー単位＋クレジット）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48640">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エージェントをTeamsなどで使う（A3、H1など）</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小さい（クレジットのみ）</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画面を使う（A6・A7・A8）</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b="1" dirty="0">
                          <a:solidFill>
                            <a:srgbClr val="D64545"/>
                          </a:solidFill>
                          <a:latin typeface="Meiryo UI" pitchFamily="34" charset="0"/>
                          <a:ea typeface="Meiryo UI" pitchFamily="34" charset="-122"/>
                          <a:cs typeface="Meiryo UI" pitchFamily="34" charset="-120"/>
                        </a:rPr>
                        <a:t>大きい（利用者全員にPower Apps Premium。自動割り当てで手間は軽減）</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603504">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GCP側（B2・B3）</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利用者ごとのライセンスなし（Cloud Runの入口で認証）。B1は利用者ごと</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参考：Copilotクレジットが必要になる部分</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クレジットが必要になるのは、Copilot StudioとAI Builderを使う部分。M365 Copilotのライセンスの範囲、GCP側、Airtable側は別の課金</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5120640"/>
                <a:gridCol w="2834640"/>
              </a:tblGrid>
              <a:tr h="347472">
                <a:tc>
                  <a:txBody>
                    <a:bodyPr/>
                    <a:lstStyle/>
                    <a:p>
                      <a:pPr indent="0" marL="0">
                        <a:buNone/>
                      </a:pPr>
                      <a:r>
                        <a:rPr lang="en-US" sz="1050" b="1" dirty="0">
                          <a:solidFill>
                            <a:srgbClr val="FFFFFF"/>
                          </a:solidFill>
                          <a:latin typeface="Meiryo UI" pitchFamily="34" charset="0"/>
                          <a:ea typeface="Meiryo UI" pitchFamily="34" charset="-122"/>
                          <a:cs typeface="Meiryo UI" pitchFamily="34" charset="-120"/>
                        </a:rPr>
                        <a:t>AIの使い方</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050" b="1" dirty="0">
                          <a:solidFill>
                            <a:srgbClr val="FFFFFF"/>
                          </a:solidFill>
                          <a:latin typeface="Meiryo UI" pitchFamily="34" charset="0"/>
                          <a:ea typeface="Meiryo UI" pitchFamily="34" charset="-122"/>
                          <a:cs typeface="Meiryo UI" pitchFamily="34" charset="-120"/>
                        </a:rPr>
                        <a:t>課金</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050" b="1" dirty="0">
                          <a:solidFill>
                            <a:srgbClr val="FFFFFF"/>
                          </a:solidFill>
                          <a:latin typeface="Meiryo UI" pitchFamily="34" charset="0"/>
                          <a:ea typeface="Meiryo UI" pitchFamily="34" charset="-122"/>
                          <a:cs typeface="Meiryo UI" pitchFamily="34" charset="-120"/>
                        </a:rPr>
                        <a:t>該当パターン</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457200">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M365 Copilot（Word・Teams・Copilot Chatなど）</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ライセンスを持つ人は追加なし</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A1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02920">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Agent Builderのエージェント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ライセンスを持つ人は追加なし。持たない人が使うとクレジット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A2</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85800">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Copilot Studioのエージェント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b="1" dirty="0">
                          <a:solidFill>
                            <a:srgbClr val="D64545"/>
                          </a:solidFill>
                          <a:latin typeface="Meiryo UI" pitchFamily="34" charset="0"/>
                          <a:ea typeface="Meiryo UI" pitchFamily="34" charset="-122"/>
                          <a:cs typeface="Meiryo UI" pitchFamily="34" charset="-120"/>
                        </a:rPr>
                        <a:t>クレジット（ライセンスを持つ人がM365の画面で回答を得る分は課金されない。フローやアプリからの呼び出し、自動実行は課金）</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A3・A4・A6〜A8・H1、Airtable連携のP5以降</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6692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AI Builderのプロンプト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b="1" dirty="0">
                          <a:solidFill>
                            <a:srgbClr val="D64545"/>
                          </a:solidFill>
                          <a:latin typeface="Meiryo UI" pitchFamily="34" charset="0"/>
                          <a:ea typeface="Meiryo UI" pitchFamily="34" charset="-122"/>
                          <a:cs typeface="Meiryo UI" pitchFamily="34" charset="-120"/>
                        </a:rPr>
                        <a:t>クレジット（2026年11月までは、Premiumのライセンスに付くAI Builderクレジットを先に消費）</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A4〜A8で使う場合、Airtable連携のO7</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Gemini（Agent Platform）、Gemini Enterprise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GCPの従量課金、またはGemini Enterpriseの利用者ごとのライセンス</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B1〜B3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Airtable標準のAI</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AirtableのAIクレジット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C1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074920"/>
            <a:ext cx="3566160" cy="1280160"/>
          </a:xfrm>
          <a:prstGeom prst="roundRect">
            <a:avLst>
              <a:gd name="adj" fmla="val 4286"/>
            </a:avLst>
          </a:prstGeom>
          <a:solidFill>
            <a:srgbClr val="FDEBD3"/>
          </a:solidFill>
          <a:ln/>
        </p:spPr>
      </p:sp>
      <p:pic>
        <p:nvPicPr>
          <p:cNvPr id="8" name="Image 0" descr="preencoded.png">    </p:cNvPr>
          <p:cNvPicPr>
            <a:picLocks noChangeAspect="1"/>
          </p:cNvPicPr>
          <p:nvPr/>
        </p:nvPicPr>
        <p:blipFill>
          <a:blip r:embed="rId1"/>
          <a:stretch>
            <a:fillRect/>
          </a:stretch>
        </p:blipFill>
        <p:spPr>
          <a:xfrm>
            <a:off x="685800" y="5184648"/>
            <a:ext cx="292608" cy="292608"/>
          </a:xfrm>
          <a:prstGeom prst="rect">
            <a:avLst/>
          </a:prstGeom>
        </p:spPr>
      </p:pic>
      <p:sp>
        <p:nvSpPr>
          <p:cNvPr id="9" name="Text 5"/>
          <p:cNvSpPr txBox="1"/>
          <p:nvPr/>
        </p:nvSpPr>
        <p:spPr>
          <a:xfrm>
            <a:off x="1051560" y="5157216"/>
            <a:ext cx="2971800" cy="329184"/>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今の契約では</a:t>
            </a:r>
            <a:endParaRPr lang="en-US" sz="1100" dirty="0"/>
          </a:p>
        </p:txBody>
      </p:sp>
      <p:sp>
        <p:nvSpPr>
          <p:cNvPr id="10" name="Text 6"/>
          <p:cNvSpPr txBox="1"/>
          <p:nvPr/>
        </p:nvSpPr>
        <p:spPr>
          <a:xfrm>
            <a:off x="685800" y="5504688"/>
            <a:ext cx="3337560" cy="822960"/>
          </a:xfrm>
          <a:prstGeom prst="rect">
            <a:avLst/>
          </a:prstGeom>
          <a:noFill/>
          <a:ln/>
        </p:spPr>
        <p:txBody>
          <a:bodyPr wrap="square" lIns="508" tIns="508" rIns="508" bIns="508"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クレジットなしで使えるのは、A1・A2をライセンスを持つ2名が使う場合だけ。A3以降のM365側は、エージェントとAI Builderのどちらを使ってもクレジットが必要</a:t>
            </a:r>
            <a:endParaRPr lang="en-US" sz="900" dirty="0"/>
          </a:p>
        </p:txBody>
      </p:sp>
      <p:sp>
        <p:nvSpPr>
          <p:cNvPr id="11" name="Shape 7"/>
          <p:cNvSpPr/>
          <p:nvPr/>
        </p:nvSpPr>
        <p:spPr>
          <a:xfrm>
            <a:off x="4297680" y="5074920"/>
            <a:ext cx="3566160" cy="1280160"/>
          </a:xfrm>
          <a:prstGeom prst="roundRect">
            <a:avLst>
              <a:gd name="adj" fmla="val 4286"/>
            </a:avLst>
          </a:prstGeom>
          <a:solidFill>
            <a:srgbClr val="F3F5F8"/>
          </a:solidFill>
          <a:ln/>
        </p:spPr>
      </p:sp>
      <p:pic>
        <p:nvPicPr>
          <p:cNvPr id="12" name="Image 1" descr="preencoded.png">    </p:cNvPr>
          <p:cNvPicPr>
            <a:picLocks noChangeAspect="1"/>
          </p:cNvPicPr>
          <p:nvPr/>
        </p:nvPicPr>
        <p:blipFill>
          <a:blip r:embed="rId2"/>
          <a:stretch>
            <a:fillRect/>
          </a:stretch>
        </p:blipFill>
        <p:spPr>
          <a:xfrm>
            <a:off x="4434840" y="5184648"/>
            <a:ext cx="292608" cy="292608"/>
          </a:xfrm>
          <a:prstGeom prst="rect">
            <a:avLst/>
          </a:prstGeom>
        </p:spPr>
      </p:pic>
      <p:sp>
        <p:nvSpPr>
          <p:cNvPr id="13" name="Text 8"/>
          <p:cNvSpPr txBox="1"/>
          <p:nvPr/>
        </p:nvSpPr>
        <p:spPr>
          <a:xfrm>
            <a:off x="4800600" y="5157216"/>
            <a:ext cx="2971800" cy="329184"/>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買い方</a:t>
            </a:r>
            <a:endParaRPr lang="en-US" sz="1100" dirty="0"/>
          </a:p>
        </p:txBody>
      </p:sp>
      <p:sp>
        <p:nvSpPr>
          <p:cNvPr id="14" name="Text 9"/>
          <p:cNvSpPr txBox="1"/>
          <p:nvPr/>
        </p:nvSpPr>
        <p:spPr>
          <a:xfrm>
            <a:off x="4434840" y="5504688"/>
            <a:ext cx="3337560" cy="822960"/>
          </a:xfrm>
          <a:prstGeom prst="rect">
            <a:avLst/>
          </a:prstGeom>
          <a:noFill/>
          <a:ln/>
        </p:spPr>
        <p:txBody>
          <a:bodyPr wrap="square" lIns="508" tIns="508" rIns="508" bIns="508"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テナント全体で共有する量を買う。人数ではなく、呼び出し回数と処理量で消費される</a:t>
            </a:r>
            <a:endParaRPr lang="en-US" sz="900" dirty="0"/>
          </a:p>
        </p:txBody>
      </p:sp>
      <p:sp>
        <p:nvSpPr>
          <p:cNvPr id="15" name="Shape 10"/>
          <p:cNvSpPr/>
          <p:nvPr/>
        </p:nvSpPr>
        <p:spPr>
          <a:xfrm>
            <a:off x="8046720" y="5074920"/>
            <a:ext cx="3566160" cy="1280160"/>
          </a:xfrm>
          <a:prstGeom prst="roundRect">
            <a:avLst>
              <a:gd name="adj" fmla="val 4286"/>
            </a:avLst>
          </a:prstGeom>
          <a:solidFill>
            <a:srgbClr val="F3F5F8"/>
          </a:solidFill>
          <a:ln/>
        </p:spPr>
      </p:sp>
      <p:pic>
        <p:nvPicPr>
          <p:cNvPr id="16" name="Image 2" descr="preencoded.png">    </p:cNvPr>
          <p:cNvPicPr>
            <a:picLocks noChangeAspect="1"/>
          </p:cNvPicPr>
          <p:nvPr/>
        </p:nvPicPr>
        <p:blipFill>
          <a:blip r:embed="rId3"/>
          <a:stretch>
            <a:fillRect/>
          </a:stretch>
        </p:blipFill>
        <p:spPr>
          <a:xfrm>
            <a:off x="8183880" y="5184648"/>
            <a:ext cx="292608" cy="292608"/>
          </a:xfrm>
          <a:prstGeom prst="rect">
            <a:avLst/>
          </a:prstGeom>
        </p:spPr>
      </p:pic>
      <p:sp>
        <p:nvSpPr>
          <p:cNvPr id="17" name="Text 11"/>
          <p:cNvSpPr txBox="1"/>
          <p:nvPr/>
        </p:nvSpPr>
        <p:spPr>
          <a:xfrm>
            <a:off x="8549640" y="5157216"/>
            <a:ext cx="2971800" cy="329184"/>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支払い方法</a:t>
            </a:r>
            <a:endParaRPr lang="en-US" sz="1100" dirty="0"/>
          </a:p>
        </p:txBody>
      </p:sp>
      <p:sp>
        <p:nvSpPr>
          <p:cNvPr id="18" name="Text 12"/>
          <p:cNvSpPr txBox="1"/>
          <p:nvPr/>
        </p:nvSpPr>
        <p:spPr>
          <a:xfrm>
            <a:off x="8183880" y="5504688"/>
            <a:ext cx="3337560" cy="822960"/>
          </a:xfrm>
          <a:prstGeom prst="rect">
            <a:avLst/>
          </a:prstGeom>
          <a:noFill/>
          <a:ln/>
        </p:spPr>
        <p:txBody>
          <a:bodyPr wrap="square" lIns="508" tIns="508" rIns="508" bIns="508"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前払いのクレジットパック、または従量課金。従量課金は従来Azureのサブスクリプションが必要だったが、2026年4月以降はAzureなしで設定できるとの情報あり（要確認）</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共通要素①：データの受け渡し方式</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どちらの方向にデータを運ぶかで、方式の選択肢が変わる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17</a:t>
            </a:r>
            <a:endParaRPr lang="en-US" sz="900" dirty="0"/>
          </a:p>
        </p:txBody>
      </p:sp>
      <p:sp>
        <p:nvSpPr>
          <p:cNvPr id="6" name="Shape 4"/>
          <p:cNvSpPr/>
          <p:nvPr/>
        </p:nvSpPr>
        <p:spPr>
          <a:xfrm>
            <a:off x="548640" y="1417320"/>
            <a:ext cx="5440680" cy="4069080"/>
          </a:xfrm>
          <a:prstGeom prst="roundRect">
            <a:avLst>
              <a:gd name="adj" fmla="val 1348"/>
            </a:avLst>
          </a:prstGeom>
          <a:solidFill>
            <a:srgbClr val="E5F0FA"/>
          </a:solidFill>
          <a:ln/>
        </p:spPr>
      </p:sp>
      <p:pic>
        <p:nvPicPr>
          <p:cNvPr id="7" name="Image 0" descr="preencoded.png">    </p:cNvPr>
          <p:cNvPicPr>
            <a:picLocks noChangeAspect="1"/>
          </p:cNvPicPr>
          <p:nvPr/>
        </p:nvPicPr>
        <p:blipFill>
          <a:blip r:embed="rId1"/>
          <a:stretch>
            <a:fillRect/>
          </a:stretch>
        </p:blipFill>
        <p:spPr>
          <a:xfrm>
            <a:off x="731520" y="1508760"/>
            <a:ext cx="365760" cy="365760"/>
          </a:xfrm>
          <a:prstGeom prst="rect">
            <a:avLst/>
          </a:prstGeom>
        </p:spPr>
      </p:pic>
      <p:sp>
        <p:nvSpPr>
          <p:cNvPr id="8" name="Text 5"/>
          <p:cNvSpPr txBox="1"/>
          <p:nvPr/>
        </p:nvSpPr>
        <p:spPr>
          <a:xfrm>
            <a:off x="1188720" y="1508760"/>
            <a:ext cx="4572000" cy="365760"/>
          </a:xfrm>
          <a:prstGeom prst="rect">
            <a:avLst/>
          </a:prstGeom>
          <a:noFill/>
          <a:ln/>
        </p:spPr>
        <p:txBody>
          <a:bodyPr wrap="square" lIns="508" tIns="508" rIns="508" bIns="508" rtlCol="0" anchor="ctr"/>
          <a:lstStyle/>
          <a:p>
            <a:pPr indent="0" marL="0">
              <a:buNone/>
            </a:pPr>
            <a:r>
              <a:rPr lang="en-US" sz="1400" b="1" dirty="0">
                <a:solidFill>
                  <a:srgbClr val="0F6CBD"/>
                </a:solidFill>
                <a:latin typeface="Meiryo UI" pitchFamily="34" charset="0"/>
                <a:ea typeface="Meiryo UI" pitchFamily="34" charset="-122"/>
                <a:cs typeface="Meiryo UI" pitchFamily="34" charset="-120"/>
              </a:rPr>
              <a:t>GCP → M365（数値データを運ぶ）</a:t>
            </a:r>
            <a:endParaRPr lang="en-US" sz="1400" dirty="0"/>
          </a:p>
        </p:txBody>
      </p:sp>
      <p:sp>
        <p:nvSpPr>
          <p:cNvPr id="9" name="Shape 6"/>
          <p:cNvSpPr/>
          <p:nvPr/>
        </p:nvSpPr>
        <p:spPr>
          <a:xfrm>
            <a:off x="685800" y="2011680"/>
            <a:ext cx="5166360" cy="1051560"/>
          </a:xfrm>
          <a:prstGeom prst="roundRect">
            <a:avLst>
              <a:gd name="adj" fmla="val 5217"/>
            </a:avLst>
          </a:prstGeom>
          <a:solidFill>
            <a:srgbClr val="FFFFFF"/>
          </a:solidFill>
          <a:ln/>
        </p:spPr>
      </p:sp>
      <p:sp>
        <p:nvSpPr>
          <p:cNvPr id="10" name="Text 7"/>
          <p:cNvSpPr txBox="1"/>
          <p:nvPr/>
        </p:nvSpPr>
        <p:spPr>
          <a:xfrm>
            <a:off x="822960" y="2066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方式1：Power Automateで取得</a:t>
            </a:r>
            <a:endParaRPr lang="en-US" sz="1150" dirty="0"/>
          </a:p>
        </p:txBody>
      </p:sp>
      <p:sp>
        <p:nvSpPr>
          <p:cNvPr id="11" name="Text 8"/>
          <p:cNvSpPr txBox="1"/>
          <p:nvPr/>
        </p:nvSpPr>
        <p:spPr>
          <a:xfrm>
            <a:off x="4114800" y="2066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12" name="Image 1" descr="preencoded.png">    </p:cNvPr>
          <p:cNvPicPr>
            <a:picLocks noChangeAspect="1"/>
          </p:cNvPicPr>
          <p:nvPr/>
        </p:nvPicPr>
        <p:blipFill>
          <a:blip r:embed="rId2"/>
          <a:stretch>
            <a:fillRect/>
          </a:stretch>
        </p:blipFill>
        <p:spPr>
          <a:xfrm>
            <a:off x="868680" y="2423160"/>
            <a:ext cx="329184" cy="329184"/>
          </a:xfrm>
          <a:prstGeom prst="rect">
            <a:avLst/>
          </a:prstGeom>
        </p:spPr>
      </p:pic>
      <p:sp>
        <p:nvSpPr>
          <p:cNvPr id="13" name="Text 9"/>
          <p:cNvSpPr txBox="1"/>
          <p:nvPr/>
        </p:nvSpPr>
        <p:spPr>
          <a:xfrm>
            <a:off x="685800" y="2761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GCS</a:t>
            </a:r>
            <a:endParaRPr lang="en-US" sz="750" dirty="0"/>
          </a:p>
        </p:txBody>
      </p:sp>
      <p:sp>
        <p:nvSpPr>
          <p:cNvPr id="14" name="Shape 10"/>
          <p:cNvSpPr/>
          <p:nvPr/>
        </p:nvSpPr>
        <p:spPr>
          <a:xfrm>
            <a:off x="1234440" y="2587752"/>
            <a:ext cx="320040" cy="0"/>
          </a:xfrm>
          <a:prstGeom prst="line">
            <a:avLst/>
          </a:prstGeom>
          <a:noFill/>
          <a:ln w="15875">
            <a:solidFill>
              <a:srgbClr val="9AA5B4"/>
            </a:solidFill>
            <a:prstDash val="solid"/>
            <a:tailEnd type="triangle"/>
          </a:ln>
        </p:spPr>
      </p:sp>
      <p:pic>
        <p:nvPicPr>
          <p:cNvPr id="15" name="Image 2" descr="preencoded.png">    </p:cNvPr>
          <p:cNvPicPr>
            <a:picLocks noChangeAspect="1"/>
          </p:cNvPicPr>
          <p:nvPr/>
        </p:nvPicPr>
        <p:blipFill>
          <a:blip r:embed="rId3"/>
          <a:stretch>
            <a:fillRect/>
          </a:stretch>
        </p:blipFill>
        <p:spPr>
          <a:xfrm>
            <a:off x="1600200" y="2423160"/>
            <a:ext cx="329184" cy="329184"/>
          </a:xfrm>
          <a:prstGeom prst="rect">
            <a:avLst/>
          </a:prstGeom>
        </p:spPr>
      </p:pic>
      <p:sp>
        <p:nvSpPr>
          <p:cNvPr id="16" name="Text 11"/>
          <p:cNvSpPr txBox="1"/>
          <p:nvPr/>
        </p:nvSpPr>
        <p:spPr>
          <a:xfrm>
            <a:off x="1417320" y="2761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PA</a:t>
            </a:r>
            <a:endParaRPr lang="en-US" sz="750" dirty="0"/>
          </a:p>
        </p:txBody>
      </p:sp>
      <p:sp>
        <p:nvSpPr>
          <p:cNvPr id="17" name="Shape 12"/>
          <p:cNvSpPr/>
          <p:nvPr/>
        </p:nvSpPr>
        <p:spPr>
          <a:xfrm>
            <a:off x="1965960" y="2587752"/>
            <a:ext cx="320040" cy="0"/>
          </a:xfrm>
          <a:prstGeom prst="line">
            <a:avLst/>
          </a:prstGeom>
          <a:noFill/>
          <a:ln w="15875">
            <a:solidFill>
              <a:srgbClr val="9AA5B4"/>
            </a:solidFill>
            <a:prstDash val="solid"/>
            <a:tailEnd type="triangle"/>
          </a:ln>
        </p:spPr>
      </p:sp>
      <p:pic>
        <p:nvPicPr>
          <p:cNvPr id="18" name="Image 3" descr="preencoded.png">    </p:cNvPr>
          <p:cNvPicPr>
            <a:picLocks noChangeAspect="1"/>
          </p:cNvPicPr>
          <p:nvPr/>
        </p:nvPicPr>
        <p:blipFill>
          <a:blip r:embed="rId4"/>
          <a:stretch>
            <a:fillRect/>
          </a:stretch>
        </p:blipFill>
        <p:spPr>
          <a:xfrm>
            <a:off x="2331720" y="2423160"/>
            <a:ext cx="329184" cy="329184"/>
          </a:xfrm>
          <a:prstGeom prst="rect">
            <a:avLst/>
          </a:prstGeom>
        </p:spPr>
      </p:pic>
      <p:sp>
        <p:nvSpPr>
          <p:cNvPr id="19" name="Text 13"/>
          <p:cNvSpPr txBox="1"/>
          <p:nvPr/>
        </p:nvSpPr>
        <p:spPr>
          <a:xfrm>
            <a:off x="2148840" y="2761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SP/DV</a:t>
            </a:r>
            <a:endParaRPr lang="en-US" sz="750" dirty="0"/>
          </a:p>
        </p:txBody>
      </p:sp>
      <p:sp>
        <p:nvSpPr>
          <p:cNvPr id="20" name="Text 14"/>
          <p:cNvSpPr txBox="1"/>
          <p:nvPr/>
        </p:nvSpPr>
        <p:spPr>
          <a:xfrm>
            <a:off x="2971800" y="2377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定期フローのHTTPアクションで取得。M365側で管理しやすい／Premiumと認証情報の管理が必要</a:t>
            </a:r>
            <a:endParaRPr lang="en-US" sz="950" dirty="0"/>
          </a:p>
        </p:txBody>
      </p:sp>
      <p:sp>
        <p:nvSpPr>
          <p:cNvPr id="21" name="Shape 15"/>
          <p:cNvSpPr/>
          <p:nvPr/>
        </p:nvSpPr>
        <p:spPr>
          <a:xfrm>
            <a:off x="685800" y="3154680"/>
            <a:ext cx="5166360" cy="1051560"/>
          </a:xfrm>
          <a:prstGeom prst="roundRect">
            <a:avLst>
              <a:gd name="adj" fmla="val 5217"/>
            </a:avLst>
          </a:prstGeom>
          <a:solidFill>
            <a:srgbClr val="FFFFFF"/>
          </a:solidFill>
          <a:ln/>
        </p:spPr>
      </p:sp>
      <p:sp>
        <p:nvSpPr>
          <p:cNvPr id="22" name="Text 16"/>
          <p:cNvSpPr txBox="1"/>
          <p:nvPr/>
        </p:nvSpPr>
        <p:spPr>
          <a:xfrm>
            <a:off x="822960" y="3209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方式2：スクリプトで送信</a:t>
            </a:r>
            <a:endParaRPr lang="en-US" sz="1150" dirty="0"/>
          </a:p>
        </p:txBody>
      </p:sp>
      <p:sp>
        <p:nvSpPr>
          <p:cNvPr id="23" name="Text 17"/>
          <p:cNvSpPr txBox="1"/>
          <p:nvPr/>
        </p:nvSpPr>
        <p:spPr>
          <a:xfrm>
            <a:off x="4114800" y="3209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24" name="Image 4" descr="preencoded.png">    </p:cNvPr>
          <p:cNvPicPr>
            <a:picLocks noChangeAspect="1"/>
          </p:cNvPicPr>
          <p:nvPr/>
        </p:nvPicPr>
        <p:blipFill>
          <a:blip r:embed="rId5"/>
          <a:stretch>
            <a:fillRect/>
          </a:stretch>
        </p:blipFill>
        <p:spPr>
          <a:xfrm>
            <a:off x="868680" y="3566160"/>
            <a:ext cx="329184" cy="329184"/>
          </a:xfrm>
          <a:prstGeom prst="rect">
            <a:avLst/>
          </a:prstGeom>
        </p:spPr>
      </p:pic>
      <p:sp>
        <p:nvSpPr>
          <p:cNvPr id="25" name="Text 18"/>
          <p:cNvSpPr txBox="1"/>
          <p:nvPr/>
        </p:nvSpPr>
        <p:spPr>
          <a:xfrm>
            <a:off x="685800" y="3904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Scheduler</a:t>
            </a:r>
            <a:endParaRPr lang="en-US" sz="750" dirty="0"/>
          </a:p>
        </p:txBody>
      </p:sp>
      <p:sp>
        <p:nvSpPr>
          <p:cNvPr id="26" name="Shape 19"/>
          <p:cNvSpPr/>
          <p:nvPr/>
        </p:nvSpPr>
        <p:spPr>
          <a:xfrm>
            <a:off x="1234440" y="3730752"/>
            <a:ext cx="320040" cy="0"/>
          </a:xfrm>
          <a:prstGeom prst="line">
            <a:avLst/>
          </a:prstGeom>
          <a:noFill/>
          <a:ln w="15875">
            <a:solidFill>
              <a:srgbClr val="9AA5B4"/>
            </a:solidFill>
            <a:prstDash val="solid"/>
            <a:tailEnd type="triangle"/>
          </a:ln>
        </p:spPr>
      </p:sp>
      <p:pic>
        <p:nvPicPr>
          <p:cNvPr id="27" name="Image 5" descr="preencoded.png">    </p:cNvPr>
          <p:cNvPicPr>
            <a:picLocks noChangeAspect="1"/>
          </p:cNvPicPr>
          <p:nvPr/>
        </p:nvPicPr>
        <p:blipFill>
          <a:blip r:embed="rId6"/>
          <a:stretch>
            <a:fillRect/>
          </a:stretch>
        </p:blipFill>
        <p:spPr>
          <a:xfrm>
            <a:off x="1600200" y="3566160"/>
            <a:ext cx="329184" cy="329184"/>
          </a:xfrm>
          <a:prstGeom prst="rect">
            <a:avLst/>
          </a:prstGeom>
        </p:spPr>
      </p:pic>
      <p:sp>
        <p:nvSpPr>
          <p:cNvPr id="28" name="Text 20"/>
          <p:cNvSpPr txBox="1"/>
          <p:nvPr/>
        </p:nvSpPr>
        <p:spPr>
          <a:xfrm>
            <a:off x="1417320" y="3904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Cloud Run</a:t>
            </a:r>
            <a:endParaRPr lang="en-US" sz="750" dirty="0"/>
          </a:p>
        </p:txBody>
      </p:sp>
      <p:sp>
        <p:nvSpPr>
          <p:cNvPr id="29" name="Shape 21"/>
          <p:cNvSpPr/>
          <p:nvPr/>
        </p:nvSpPr>
        <p:spPr>
          <a:xfrm>
            <a:off x="1965960" y="3730752"/>
            <a:ext cx="320040" cy="0"/>
          </a:xfrm>
          <a:prstGeom prst="line">
            <a:avLst/>
          </a:prstGeom>
          <a:noFill/>
          <a:ln w="15875">
            <a:solidFill>
              <a:srgbClr val="9AA5B4"/>
            </a:solidFill>
            <a:prstDash val="solid"/>
            <a:tailEnd type="triangle"/>
          </a:ln>
        </p:spPr>
      </p:sp>
      <p:pic>
        <p:nvPicPr>
          <p:cNvPr id="30" name="Image 6" descr="preencoded.png">    </p:cNvPr>
          <p:cNvPicPr>
            <a:picLocks noChangeAspect="1"/>
          </p:cNvPicPr>
          <p:nvPr/>
        </p:nvPicPr>
        <p:blipFill>
          <a:blip r:embed="rId7"/>
          <a:stretch>
            <a:fillRect/>
          </a:stretch>
        </p:blipFill>
        <p:spPr>
          <a:xfrm>
            <a:off x="2331720" y="3566160"/>
            <a:ext cx="329184" cy="329184"/>
          </a:xfrm>
          <a:prstGeom prst="rect">
            <a:avLst/>
          </a:prstGeom>
        </p:spPr>
      </p:pic>
      <p:sp>
        <p:nvSpPr>
          <p:cNvPr id="31" name="Text 22"/>
          <p:cNvSpPr txBox="1"/>
          <p:nvPr/>
        </p:nvSpPr>
        <p:spPr>
          <a:xfrm>
            <a:off x="2148840" y="3904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Graph API</a:t>
            </a:r>
            <a:endParaRPr lang="en-US" sz="750" dirty="0"/>
          </a:p>
        </p:txBody>
      </p:sp>
      <p:sp>
        <p:nvSpPr>
          <p:cNvPr id="32" name="Text 23"/>
          <p:cNvSpPr txBox="1"/>
          <p:nvPr/>
        </p:nvSpPr>
        <p:spPr>
          <a:xfrm>
            <a:off x="2971800" y="3520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Cloud Run JobからGraph APIで書き込み。IT部門が運用しやすい／Entraのアプリ登録が必要</a:t>
            </a:r>
            <a:endParaRPr lang="en-US" sz="950" dirty="0"/>
          </a:p>
        </p:txBody>
      </p:sp>
      <p:sp>
        <p:nvSpPr>
          <p:cNvPr id="33" name="Shape 24"/>
          <p:cNvSpPr/>
          <p:nvPr/>
        </p:nvSpPr>
        <p:spPr>
          <a:xfrm>
            <a:off x="685800" y="4297680"/>
            <a:ext cx="5166360" cy="1051560"/>
          </a:xfrm>
          <a:prstGeom prst="roundRect">
            <a:avLst>
              <a:gd name="adj" fmla="val 5217"/>
            </a:avLst>
          </a:prstGeom>
          <a:solidFill>
            <a:srgbClr val="FFFFFF"/>
          </a:solidFill>
          <a:ln/>
        </p:spPr>
      </p:sp>
      <p:sp>
        <p:nvSpPr>
          <p:cNvPr id="34" name="Text 25"/>
          <p:cNvSpPr txBox="1"/>
          <p:nvPr/>
        </p:nvSpPr>
        <p:spPr>
          <a:xfrm>
            <a:off x="822960" y="4352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方式3：データフローでBQを直接読込</a:t>
            </a:r>
            <a:endParaRPr lang="en-US" sz="1150" dirty="0"/>
          </a:p>
        </p:txBody>
      </p:sp>
      <p:sp>
        <p:nvSpPr>
          <p:cNvPr id="35" name="Text 26"/>
          <p:cNvSpPr txBox="1"/>
          <p:nvPr/>
        </p:nvSpPr>
        <p:spPr>
          <a:xfrm>
            <a:off x="4114800" y="4352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36" name="Image 7" descr="preencoded.png">    </p:cNvPr>
          <p:cNvPicPr>
            <a:picLocks noChangeAspect="1"/>
          </p:cNvPicPr>
          <p:nvPr/>
        </p:nvPicPr>
        <p:blipFill>
          <a:blip r:embed="rId8"/>
          <a:stretch>
            <a:fillRect/>
          </a:stretch>
        </p:blipFill>
        <p:spPr>
          <a:xfrm>
            <a:off x="868680" y="4709160"/>
            <a:ext cx="329184" cy="329184"/>
          </a:xfrm>
          <a:prstGeom prst="rect">
            <a:avLst/>
          </a:prstGeom>
        </p:spPr>
      </p:pic>
      <p:sp>
        <p:nvSpPr>
          <p:cNvPr id="37" name="Text 27"/>
          <p:cNvSpPr txBox="1"/>
          <p:nvPr/>
        </p:nvSpPr>
        <p:spPr>
          <a:xfrm>
            <a:off x="685800" y="5047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BigQuery</a:t>
            </a:r>
            <a:endParaRPr lang="en-US" sz="750" dirty="0"/>
          </a:p>
        </p:txBody>
      </p:sp>
      <p:sp>
        <p:nvSpPr>
          <p:cNvPr id="38" name="Shape 28"/>
          <p:cNvSpPr/>
          <p:nvPr/>
        </p:nvSpPr>
        <p:spPr>
          <a:xfrm>
            <a:off x="1234440" y="4873752"/>
            <a:ext cx="320040" cy="0"/>
          </a:xfrm>
          <a:prstGeom prst="line">
            <a:avLst/>
          </a:prstGeom>
          <a:noFill/>
          <a:ln w="15875">
            <a:solidFill>
              <a:srgbClr val="9AA5B4"/>
            </a:solidFill>
            <a:prstDash val="solid"/>
            <a:tailEnd type="triangle"/>
          </a:ln>
        </p:spPr>
      </p:sp>
      <p:pic>
        <p:nvPicPr>
          <p:cNvPr id="39" name="Image 8" descr="preencoded.png">    </p:cNvPr>
          <p:cNvPicPr>
            <a:picLocks noChangeAspect="1"/>
          </p:cNvPicPr>
          <p:nvPr/>
        </p:nvPicPr>
        <p:blipFill>
          <a:blip r:embed="rId9"/>
          <a:stretch>
            <a:fillRect/>
          </a:stretch>
        </p:blipFill>
        <p:spPr>
          <a:xfrm>
            <a:off x="1600200" y="4709160"/>
            <a:ext cx="329184" cy="329184"/>
          </a:xfrm>
          <a:prstGeom prst="rect">
            <a:avLst/>
          </a:prstGeom>
        </p:spPr>
      </p:pic>
      <p:sp>
        <p:nvSpPr>
          <p:cNvPr id="40" name="Text 29"/>
          <p:cNvSpPr txBox="1"/>
          <p:nvPr/>
        </p:nvSpPr>
        <p:spPr>
          <a:xfrm>
            <a:off x="1417320" y="5047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Power Query</a:t>
            </a:r>
            <a:endParaRPr lang="en-US" sz="750" dirty="0"/>
          </a:p>
        </p:txBody>
      </p:sp>
      <p:sp>
        <p:nvSpPr>
          <p:cNvPr id="41" name="Shape 30"/>
          <p:cNvSpPr/>
          <p:nvPr/>
        </p:nvSpPr>
        <p:spPr>
          <a:xfrm>
            <a:off x="1965960" y="4873752"/>
            <a:ext cx="320040" cy="0"/>
          </a:xfrm>
          <a:prstGeom prst="line">
            <a:avLst/>
          </a:prstGeom>
          <a:noFill/>
          <a:ln w="15875">
            <a:solidFill>
              <a:srgbClr val="9AA5B4"/>
            </a:solidFill>
            <a:prstDash val="solid"/>
            <a:tailEnd type="triangle"/>
          </a:ln>
        </p:spPr>
      </p:sp>
      <p:pic>
        <p:nvPicPr>
          <p:cNvPr id="42" name="Image 9" descr="preencoded.png">    </p:cNvPr>
          <p:cNvPicPr>
            <a:picLocks noChangeAspect="1"/>
          </p:cNvPicPr>
          <p:nvPr/>
        </p:nvPicPr>
        <p:blipFill>
          <a:blip r:embed="rId10"/>
          <a:stretch>
            <a:fillRect/>
          </a:stretch>
        </p:blipFill>
        <p:spPr>
          <a:xfrm>
            <a:off x="2331720" y="4709160"/>
            <a:ext cx="329184" cy="329184"/>
          </a:xfrm>
          <a:prstGeom prst="rect">
            <a:avLst/>
          </a:prstGeom>
        </p:spPr>
      </p:pic>
      <p:sp>
        <p:nvSpPr>
          <p:cNvPr id="43" name="Text 31"/>
          <p:cNvSpPr txBox="1"/>
          <p:nvPr/>
        </p:nvSpPr>
        <p:spPr>
          <a:xfrm>
            <a:off x="2148840" y="5047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Dataverse</a:t>
            </a:r>
            <a:endParaRPr lang="en-US" sz="750" dirty="0"/>
          </a:p>
        </p:txBody>
      </p:sp>
      <p:sp>
        <p:nvSpPr>
          <p:cNvPr id="44" name="Text 32"/>
          <p:cNvSpPr txBox="1"/>
          <p:nvPr/>
        </p:nvSpPr>
        <p:spPr>
          <a:xfrm>
            <a:off x="2971800" y="4663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Power QueryのBQコネクタでDataverseへ。ノーコード／BQの権限付与が必要</a:t>
            </a:r>
            <a:endParaRPr lang="en-US" sz="950" dirty="0"/>
          </a:p>
        </p:txBody>
      </p:sp>
      <p:sp>
        <p:nvSpPr>
          <p:cNvPr id="45" name="Shape 33"/>
          <p:cNvSpPr/>
          <p:nvPr/>
        </p:nvSpPr>
        <p:spPr>
          <a:xfrm>
            <a:off x="6172200" y="1417320"/>
            <a:ext cx="5440680" cy="4069080"/>
          </a:xfrm>
          <a:prstGeom prst="roundRect">
            <a:avLst>
              <a:gd name="adj" fmla="val 1348"/>
            </a:avLst>
          </a:prstGeom>
          <a:solidFill>
            <a:srgbClr val="E8F0FE"/>
          </a:solidFill>
          <a:ln/>
        </p:spPr>
      </p:sp>
      <p:pic>
        <p:nvPicPr>
          <p:cNvPr id="46" name="Image 10" descr="preencoded.png">    </p:cNvPr>
          <p:cNvPicPr>
            <a:picLocks noChangeAspect="1"/>
          </p:cNvPicPr>
          <p:nvPr/>
        </p:nvPicPr>
        <p:blipFill>
          <a:blip r:embed="rId11"/>
          <a:stretch>
            <a:fillRect/>
          </a:stretch>
        </p:blipFill>
        <p:spPr>
          <a:xfrm>
            <a:off x="6355080" y="1508760"/>
            <a:ext cx="365760" cy="365760"/>
          </a:xfrm>
          <a:prstGeom prst="rect">
            <a:avLst/>
          </a:prstGeom>
        </p:spPr>
      </p:pic>
      <p:sp>
        <p:nvSpPr>
          <p:cNvPr id="47" name="Text 34"/>
          <p:cNvSpPr txBox="1"/>
          <p:nvPr/>
        </p:nvSpPr>
        <p:spPr>
          <a:xfrm>
            <a:off x="6812280" y="1508760"/>
            <a:ext cx="4572000" cy="365760"/>
          </a:xfrm>
          <a:prstGeom prst="rect">
            <a:avLst/>
          </a:prstGeom>
          <a:noFill/>
          <a:ln/>
        </p:spPr>
        <p:txBody>
          <a:bodyPr wrap="square" lIns="508" tIns="508" rIns="508" bIns="508" rtlCol="0" anchor="ctr"/>
          <a:lstStyle/>
          <a:p>
            <a:pPr indent="0" marL="0">
              <a:buNone/>
            </a:pPr>
            <a:r>
              <a:rPr lang="en-US" sz="1400" b="1" dirty="0">
                <a:solidFill>
                  <a:srgbClr val="4285F4"/>
                </a:solidFill>
                <a:latin typeface="Meiryo UI" pitchFamily="34" charset="0"/>
                <a:ea typeface="Meiryo UI" pitchFamily="34" charset="-122"/>
                <a:cs typeface="Meiryo UI" pitchFamily="34" charset="-120"/>
              </a:rPr>
              <a:t>M365 → GCP（資料を運ぶ）</a:t>
            </a:r>
            <a:endParaRPr lang="en-US" sz="1400" dirty="0"/>
          </a:p>
        </p:txBody>
      </p:sp>
      <p:sp>
        <p:nvSpPr>
          <p:cNvPr id="48" name="Shape 35"/>
          <p:cNvSpPr/>
          <p:nvPr/>
        </p:nvSpPr>
        <p:spPr>
          <a:xfrm>
            <a:off x="6309360" y="2011680"/>
            <a:ext cx="5166360" cy="1051560"/>
          </a:xfrm>
          <a:prstGeom prst="roundRect">
            <a:avLst>
              <a:gd name="adj" fmla="val 5217"/>
            </a:avLst>
          </a:prstGeom>
          <a:solidFill>
            <a:srgbClr val="FFFFFF"/>
          </a:solidFill>
          <a:ln/>
        </p:spPr>
      </p:sp>
      <p:sp>
        <p:nvSpPr>
          <p:cNvPr id="49" name="Text 36"/>
          <p:cNvSpPr txBox="1"/>
          <p:nvPr/>
        </p:nvSpPr>
        <p:spPr>
          <a:xfrm>
            <a:off x="6446520" y="2066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方式1：Graph APIで定期同期</a:t>
            </a:r>
            <a:endParaRPr lang="en-US" sz="1150" dirty="0"/>
          </a:p>
        </p:txBody>
      </p:sp>
      <p:sp>
        <p:nvSpPr>
          <p:cNvPr id="50" name="Text 37"/>
          <p:cNvSpPr txBox="1"/>
          <p:nvPr/>
        </p:nvSpPr>
        <p:spPr>
          <a:xfrm>
            <a:off x="9738360" y="2066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51" name="Image 11" descr="preencoded.png">    </p:cNvPr>
          <p:cNvPicPr>
            <a:picLocks noChangeAspect="1"/>
          </p:cNvPicPr>
          <p:nvPr/>
        </p:nvPicPr>
        <p:blipFill>
          <a:blip r:embed="rId12"/>
          <a:stretch>
            <a:fillRect/>
          </a:stretch>
        </p:blipFill>
        <p:spPr>
          <a:xfrm>
            <a:off x="6492240" y="2423160"/>
            <a:ext cx="329184" cy="329184"/>
          </a:xfrm>
          <a:prstGeom prst="rect">
            <a:avLst/>
          </a:prstGeom>
        </p:spPr>
      </p:pic>
      <p:sp>
        <p:nvSpPr>
          <p:cNvPr id="52" name="Text 38"/>
          <p:cNvSpPr txBox="1"/>
          <p:nvPr/>
        </p:nvSpPr>
        <p:spPr>
          <a:xfrm>
            <a:off x="6309360" y="2761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SharePoint</a:t>
            </a:r>
            <a:endParaRPr lang="en-US" sz="750" dirty="0"/>
          </a:p>
        </p:txBody>
      </p:sp>
      <p:sp>
        <p:nvSpPr>
          <p:cNvPr id="53" name="Shape 39"/>
          <p:cNvSpPr/>
          <p:nvPr/>
        </p:nvSpPr>
        <p:spPr>
          <a:xfrm>
            <a:off x="6858000" y="2587752"/>
            <a:ext cx="320040" cy="0"/>
          </a:xfrm>
          <a:prstGeom prst="line">
            <a:avLst/>
          </a:prstGeom>
          <a:noFill/>
          <a:ln w="15875">
            <a:solidFill>
              <a:srgbClr val="9AA5B4"/>
            </a:solidFill>
            <a:prstDash val="solid"/>
            <a:tailEnd type="triangle"/>
          </a:ln>
        </p:spPr>
      </p:sp>
      <p:pic>
        <p:nvPicPr>
          <p:cNvPr id="54" name="Image 12" descr="preencoded.png">    </p:cNvPr>
          <p:cNvPicPr>
            <a:picLocks noChangeAspect="1"/>
          </p:cNvPicPr>
          <p:nvPr/>
        </p:nvPicPr>
        <p:blipFill>
          <a:blip r:embed="rId13"/>
          <a:stretch>
            <a:fillRect/>
          </a:stretch>
        </p:blipFill>
        <p:spPr>
          <a:xfrm>
            <a:off x="7223760" y="2423160"/>
            <a:ext cx="329184" cy="329184"/>
          </a:xfrm>
          <a:prstGeom prst="rect">
            <a:avLst/>
          </a:prstGeom>
        </p:spPr>
      </p:pic>
      <p:sp>
        <p:nvSpPr>
          <p:cNvPr id="55" name="Text 40"/>
          <p:cNvSpPr txBox="1"/>
          <p:nvPr/>
        </p:nvSpPr>
        <p:spPr>
          <a:xfrm>
            <a:off x="7040880" y="2761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Cloud Run</a:t>
            </a:r>
            <a:endParaRPr lang="en-US" sz="750" dirty="0"/>
          </a:p>
        </p:txBody>
      </p:sp>
      <p:sp>
        <p:nvSpPr>
          <p:cNvPr id="56" name="Shape 41"/>
          <p:cNvSpPr/>
          <p:nvPr/>
        </p:nvSpPr>
        <p:spPr>
          <a:xfrm>
            <a:off x="7589520" y="2587752"/>
            <a:ext cx="320040" cy="0"/>
          </a:xfrm>
          <a:prstGeom prst="line">
            <a:avLst/>
          </a:prstGeom>
          <a:noFill/>
          <a:ln w="15875">
            <a:solidFill>
              <a:srgbClr val="9AA5B4"/>
            </a:solidFill>
            <a:prstDash val="solid"/>
            <a:tailEnd type="triangle"/>
          </a:ln>
        </p:spPr>
      </p:sp>
      <p:pic>
        <p:nvPicPr>
          <p:cNvPr id="57" name="Image 13" descr="preencoded.png">    </p:cNvPr>
          <p:cNvPicPr>
            <a:picLocks noChangeAspect="1"/>
          </p:cNvPicPr>
          <p:nvPr/>
        </p:nvPicPr>
        <p:blipFill>
          <a:blip r:embed="rId14"/>
          <a:stretch>
            <a:fillRect/>
          </a:stretch>
        </p:blipFill>
        <p:spPr>
          <a:xfrm>
            <a:off x="7955280" y="2423160"/>
            <a:ext cx="329184" cy="329184"/>
          </a:xfrm>
          <a:prstGeom prst="rect">
            <a:avLst/>
          </a:prstGeom>
        </p:spPr>
      </p:pic>
      <p:sp>
        <p:nvSpPr>
          <p:cNvPr id="58" name="Text 42"/>
          <p:cNvSpPr txBox="1"/>
          <p:nvPr/>
        </p:nvSpPr>
        <p:spPr>
          <a:xfrm>
            <a:off x="7772400" y="2761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検索</a:t>
            </a:r>
            <a:endParaRPr lang="en-US" sz="750" dirty="0"/>
          </a:p>
        </p:txBody>
      </p:sp>
      <p:sp>
        <p:nvSpPr>
          <p:cNvPr id="59" name="Text 43"/>
          <p:cNvSpPr txBox="1"/>
          <p:nvPr/>
        </p:nvSpPr>
        <p:spPr>
          <a:xfrm>
            <a:off x="8595360" y="2377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Cloud Run JobがSharePointを取得し、Agent Platformの検索へ。柔軟／同期範囲・権限の管理が必要</a:t>
            </a:r>
            <a:endParaRPr lang="en-US" sz="950" dirty="0"/>
          </a:p>
        </p:txBody>
      </p:sp>
      <p:sp>
        <p:nvSpPr>
          <p:cNvPr id="60" name="Shape 44"/>
          <p:cNvSpPr/>
          <p:nvPr/>
        </p:nvSpPr>
        <p:spPr>
          <a:xfrm>
            <a:off x="6309360" y="3154680"/>
            <a:ext cx="5166360" cy="1051560"/>
          </a:xfrm>
          <a:prstGeom prst="roundRect">
            <a:avLst>
              <a:gd name="adj" fmla="val 5217"/>
            </a:avLst>
          </a:prstGeom>
          <a:solidFill>
            <a:srgbClr val="FFFFFF"/>
          </a:solidFill>
          <a:ln/>
        </p:spPr>
      </p:sp>
      <p:sp>
        <p:nvSpPr>
          <p:cNvPr id="61" name="Text 45"/>
          <p:cNvSpPr txBox="1"/>
          <p:nvPr/>
        </p:nvSpPr>
        <p:spPr>
          <a:xfrm>
            <a:off x="6446520" y="3209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方式2：Gemini Enterpriseのコネクタ</a:t>
            </a:r>
            <a:endParaRPr lang="en-US" sz="1150" dirty="0"/>
          </a:p>
        </p:txBody>
      </p:sp>
      <p:sp>
        <p:nvSpPr>
          <p:cNvPr id="62" name="Text 46"/>
          <p:cNvSpPr txBox="1"/>
          <p:nvPr/>
        </p:nvSpPr>
        <p:spPr>
          <a:xfrm>
            <a:off x="9738360" y="3209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63" name="Image 14" descr="preencoded.png">    </p:cNvPr>
          <p:cNvPicPr>
            <a:picLocks noChangeAspect="1"/>
          </p:cNvPicPr>
          <p:nvPr/>
        </p:nvPicPr>
        <p:blipFill>
          <a:blip r:embed="rId15"/>
          <a:stretch>
            <a:fillRect/>
          </a:stretch>
        </p:blipFill>
        <p:spPr>
          <a:xfrm>
            <a:off x="6492240" y="3566160"/>
            <a:ext cx="329184" cy="329184"/>
          </a:xfrm>
          <a:prstGeom prst="rect">
            <a:avLst/>
          </a:prstGeom>
        </p:spPr>
      </p:pic>
      <p:sp>
        <p:nvSpPr>
          <p:cNvPr id="64" name="Text 47"/>
          <p:cNvSpPr txBox="1"/>
          <p:nvPr/>
        </p:nvSpPr>
        <p:spPr>
          <a:xfrm>
            <a:off x="6309360" y="3904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SharePoint</a:t>
            </a:r>
            <a:endParaRPr lang="en-US" sz="750" dirty="0"/>
          </a:p>
        </p:txBody>
      </p:sp>
      <p:sp>
        <p:nvSpPr>
          <p:cNvPr id="65" name="Shape 48"/>
          <p:cNvSpPr/>
          <p:nvPr/>
        </p:nvSpPr>
        <p:spPr>
          <a:xfrm>
            <a:off x="6858000" y="3730752"/>
            <a:ext cx="320040" cy="0"/>
          </a:xfrm>
          <a:prstGeom prst="line">
            <a:avLst/>
          </a:prstGeom>
          <a:noFill/>
          <a:ln w="15875">
            <a:solidFill>
              <a:srgbClr val="9AA5B4"/>
            </a:solidFill>
            <a:prstDash val="solid"/>
            <a:tailEnd type="triangle"/>
          </a:ln>
        </p:spPr>
      </p:sp>
      <p:pic>
        <p:nvPicPr>
          <p:cNvPr id="66" name="Image 15" descr="preencoded.png">    </p:cNvPr>
          <p:cNvPicPr>
            <a:picLocks noChangeAspect="1"/>
          </p:cNvPicPr>
          <p:nvPr/>
        </p:nvPicPr>
        <p:blipFill>
          <a:blip r:embed="rId16"/>
          <a:stretch>
            <a:fillRect/>
          </a:stretch>
        </p:blipFill>
        <p:spPr>
          <a:xfrm>
            <a:off x="7223760" y="3566160"/>
            <a:ext cx="329184" cy="329184"/>
          </a:xfrm>
          <a:prstGeom prst="rect">
            <a:avLst/>
          </a:prstGeom>
        </p:spPr>
      </p:pic>
      <p:sp>
        <p:nvSpPr>
          <p:cNvPr id="67" name="Text 49"/>
          <p:cNvSpPr txBox="1"/>
          <p:nvPr/>
        </p:nvSpPr>
        <p:spPr>
          <a:xfrm>
            <a:off x="7040880" y="3904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Gemini Ent.</a:t>
            </a:r>
            <a:endParaRPr lang="en-US" sz="750" dirty="0"/>
          </a:p>
        </p:txBody>
      </p:sp>
      <p:sp>
        <p:nvSpPr>
          <p:cNvPr id="68" name="Text 50"/>
          <p:cNvSpPr txBox="1"/>
          <p:nvPr/>
        </p:nvSpPr>
        <p:spPr>
          <a:xfrm>
            <a:off x="8595360" y="3520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GA。フェデレーション（コピーせず都度検索）か取り込みを選択。Entraのアプリ登録が必要</a:t>
            </a:r>
            <a:endParaRPr lang="en-US" sz="950" dirty="0"/>
          </a:p>
        </p:txBody>
      </p:sp>
      <p:sp>
        <p:nvSpPr>
          <p:cNvPr id="69" name="Shape 51"/>
          <p:cNvSpPr/>
          <p:nvPr/>
        </p:nvSpPr>
        <p:spPr>
          <a:xfrm>
            <a:off x="6309360" y="4297680"/>
            <a:ext cx="5166360" cy="1051560"/>
          </a:xfrm>
          <a:prstGeom prst="roundRect">
            <a:avLst>
              <a:gd name="adj" fmla="val 5217"/>
            </a:avLst>
          </a:prstGeom>
          <a:solidFill>
            <a:srgbClr val="FFFFFF"/>
          </a:solidFill>
          <a:ln/>
        </p:spPr>
      </p:sp>
      <p:sp>
        <p:nvSpPr>
          <p:cNvPr id="70" name="Text 52"/>
          <p:cNvSpPr txBox="1"/>
          <p:nvPr/>
        </p:nvSpPr>
        <p:spPr>
          <a:xfrm>
            <a:off x="6446520" y="4352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方式3：Power AutomateでGCSへ送信</a:t>
            </a:r>
            <a:endParaRPr lang="en-US" sz="1150" dirty="0"/>
          </a:p>
        </p:txBody>
      </p:sp>
      <p:sp>
        <p:nvSpPr>
          <p:cNvPr id="71" name="Text 53"/>
          <p:cNvSpPr txBox="1"/>
          <p:nvPr/>
        </p:nvSpPr>
        <p:spPr>
          <a:xfrm>
            <a:off x="9738360" y="4352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72" name="Image 16" descr="preencoded.png">    </p:cNvPr>
          <p:cNvPicPr>
            <a:picLocks noChangeAspect="1"/>
          </p:cNvPicPr>
          <p:nvPr/>
        </p:nvPicPr>
        <p:blipFill>
          <a:blip r:embed="rId17"/>
          <a:stretch>
            <a:fillRect/>
          </a:stretch>
        </p:blipFill>
        <p:spPr>
          <a:xfrm>
            <a:off x="6492240" y="4709160"/>
            <a:ext cx="329184" cy="329184"/>
          </a:xfrm>
          <a:prstGeom prst="rect">
            <a:avLst/>
          </a:prstGeom>
        </p:spPr>
      </p:pic>
      <p:sp>
        <p:nvSpPr>
          <p:cNvPr id="73" name="Text 54"/>
          <p:cNvSpPr txBox="1"/>
          <p:nvPr/>
        </p:nvSpPr>
        <p:spPr>
          <a:xfrm>
            <a:off x="6309360" y="5047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SharePoint</a:t>
            </a:r>
            <a:endParaRPr lang="en-US" sz="750" dirty="0"/>
          </a:p>
        </p:txBody>
      </p:sp>
      <p:sp>
        <p:nvSpPr>
          <p:cNvPr id="74" name="Shape 55"/>
          <p:cNvSpPr/>
          <p:nvPr/>
        </p:nvSpPr>
        <p:spPr>
          <a:xfrm>
            <a:off x="6858000" y="4873752"/>
            <a:ext cx="320040" cy="0"/>
          </a:xfrm>
          <a:prstGeom prst="line">
            <a:avLst/>
          </a:prstGeom>
          <a:noFill/>
          <a:ln w="15875">
            <a:solidFill>
              <a:srgbClr val="9AA5B4"/>
            </a:solidFill>
            <a:prstDash val="solid"/>
            <a:tailEnd type="triangle"/>
          </a:ln>
        </p:spPr>
      </p:sp>
      <p:pic>
        <p:nvPicPr>
          <p:cNvPr id="75" name="Image 17" descr="preencoded.png">    </p:cNvPr>
          <p:cNvPicPr>
            <a:picLocks noChangeAspect="1"/>
          </p:cNvPicPr>
          <p:nvPr/>
        </p:nvPicPr>
        <p:blipFill>
          <a:blip r:embed="rId18"/>
          <a:stretch>
            <a:fillRect/>
          </a:stretch>
        </p:blipFill>
        <p:spPr>
          <a:xfrm>
            <a:off x="7223760" y="4709160"/>
            <a:ext cx="329184" cy="329184"/>
          </a:xfrm>
          <a:prstGeom prst="rect">
            <a:avLst/>
          </a:prstGeom>
        </p:spPr>
      </p:pic>
      <p:sp>
        <p:nvSpPr>
          <p:cNvPr id="76" name="Text 56"/>
          <p:cNvSpPr txBox="1"/>
          <p:nvPr/>
        </p:nvSpPr>
        <p:spPr>
          <a:xfrm>
            <a:off x="7040880" y="5047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PA</a:t>
            </a:r>
            <a:endParaRPr lang="en-US" sz="750" dirty="0"/>
          </a:p>
        </p:txBody>
      </p:sp>
      <p:sp>
        <p:nvSpPr>
          <p:cNvPr id="77" name="Shape 57"/>
          <p:cNvSpPr/>
          <p:nvPr/>
        </p:nvSpPr>
        <p:spPr>
          <a:xfrm>
            <a:off x="7589520" y="4873752"/>
            <a:ext cx="320040" cy="0"/>
          </a:xfrm>
          <a:prstGeom prst="line">
            <a:avLst/>
          </a:prstGeom>
          <a:noFill/>
          <a:ln w="15875">
            <a:solidFill>
              <a:srgbClr val="9AA5B4"/>
            </a:solidFill>
            <a:prstDash val="solid"/>
            <a:tailEnd type="triangle"/>
          </a:ln>
        </p:spPr>
      </p:sp>
      <p:pic>
        <p:nvPicPr>
          <p:cNvPr id="78" name="Image 18" descr="preencoded.png">    </p:cNvPr>
          <p:cNvPicPr>
            <a:picLocks noChangeAspect="1"/>
          </p:cNvPicPr>
          <p:nvPr/>
        </p:nvPicPr>
        <p:blipFill>
          <a:blip r:embed="rId19"/>
          <a:stretch>
            <a:fillRect/>
          </a:stretch>
        </p:blipFill>
        <p:spPr>
          <a:xfrm>
            <a:off x="7955280" y="4709160"/>
            <a:ext cx="329184" cy="329184"/>
          </a:xfrm>
          <a:prstGeom prst="rect">
            <a:avLst/>
          </a:prstGeom>
        </p:spPr>
      </p:pic>
      <p:sp>
        <p:nvSpPr>
          <p:cNvPr id="79" name="Text 58"/>
          <p:cNvSpPr txBox="1"/>
          <p:nvPr/>
        </p:nvSpPr>
        <p:spPr>
          <a:xfrm>
            <a:off x="7772400" y="5047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GCS</a:t>
            </a:r>
            <a:endParaRPr lang="en-US" sz="750" dirty="0"/>
          </a:p>
        </p:txBody>
      </p:sp>
      <p:sp>
        <p:nvSpPr>
          <p:cNvPr id="80" name="Text 59"/>
          <p:cNvSpPr txBox="1"/>
          <p:nvPr/>
        </p:nvSpPr>
        <p:spPr>
          <a:xfrm>
            <a:off x="8595360" y="4663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ファイル更新をきっかけにGCSへ送信。業務側で制御しやすい／Premiumが必要</a:t>
            </a:r>
            <a:endParaRPr lang="en-US" sz="950" dirty="0"/>
          </a:p>
        </p:txBody>
      </p:sp>
      <p:sp>
        <p:nvSpPr>
          <p:cNvPr id="81" name="Shape 60"/>
          <p:cNvSpPr/>
          <p:nvPr/>
        </p:nvSpPr>
        <p:spPr>
          <a:xfrm>
            <a:off x="548640" y="5596128"/>
            <a:ext cx="11064240" cy="731520"/>
          </a:xfrm>
          <a:prstGeom prst="roundRect">
            <a:avLst>
              <a:gd name="adj" fmla="val 7500"/>
            </a:avLst>
          </a:prstGeom>
          <a:solidFill>
            <a:srgbClr val="EEEAF8"/>
          </a:solidFill>
          <a:ln/>
        </p:spPr>
      </p:sp>
      <p:pic>
        <p:nvPicPr>
          <p:cNvPr id="82" name="Image 19" descr="preencoded.png">    </p:cNvPr>
          <p:cNvPicPr>
            <a:picLocks noChangeAspect="1"/>
          </p:cNvPicPr>
          <p:nvPr/>
        </p:nvPicPr>
        <p:blipFill>
          <a:blip r:embed="rId20"/>
          <a:stretch>
            <a:fillRect/>
          </a:stretch>
        </p:blipFill>
        <p:spPr>
          <a:xfrm>
            <a:off x="777240" y="5760720"/>
            <a:ext cx="384048" cy="384048"/>
          </a:xfrm>
          <a:prstGeom prst="rect">
            <a:avLst/>
          </a:prstGeom>
        </p:spPr>
      </p:pic>
      <p:sp>
        <p:nvSpPr>
          <p:cNvPr id="83" name="Shape 61"/>
          <p:cNvSpPr/>
          <p:nvPr/>
        </p:nvSpPr>
        <p:spPr>
          <a:xfrm>
            <a:off x="1188720" y="5952744"/>
            <a:ext cx="128016" cy="0"/>
          </a:xfrm>
          <a:prstGeom prst="line">
            <a:avLst/>
          </a:prstGeom>
          <a:noFill/>
          <a:ln w="15875">
            <a:solidFill>
              <a:srgbClr val="9AA5B4"/>
            </a:solidFill>
            <a:prstDash val="solid"/>
            <a:headEnd type="triangle"/>
            <a:tailEnd type="triangle"/>
          </a:ln>
        </p:spPr>
      </p:sp>
      <p:pic>
        <p:nvPicPr>
          <p:cNvPr id="84" name="Image 20" descr="preencoded.png">    </p:cNvPr>
          <p:cNvPicPr>
            <a:picLocks noChangeAspect="1"/>
          </p:cNvPicPr>
          <p:nvPr/>
        </p:nvPicPr>
        <p:blipFill>
          <a:blip r:embed="rId21"/>
          <a:stretch>
            <a:fillRect/>
          </a:stretch>
        </p:blipFill>
        <p:spPr>
          <a:xfrm>
            <a:off x="1344168" y="5760720"/>
            <a:ext cx="384048" cy="384048"/>
          </a:xfrm>
          <a:prstGeom prst="rect">
            <a:avLst/>
          </a:prstGeom>
        </p:spPr>
      </p:pic>
      <p:sp>
        <p:nvSpPr>
          <p:cNvPr id="85" name="Shape 62"/>
          <p:cNvSpPr/>
          <p:nvPr/>
        </p:nvSpPr>
        <p:spPr>
          <a:xfrm>
            <a:off x="1755648" y="5952744"/>
            <a:ext cx="128016" cy="0"/>
          </a:xfrm>
          <a:prstGeom prst="line">
            <a:avLst/>
          </a:prstGeom>
          <a:noFill/>
          <a:ln w="15875">
            <a:solidFill>
              <a:srgbClr val="9AA5B4"/>
            </a:solidFill>
            <a:prstDash val="solid"/>
            <a:headEnd type="triangle"/>
            <a:tailEnd type="triangle"/>
          </a:ln>
        </p:spPr>
      </p:sp>
      <p:pic>
        <p:nvPicPr>
          <p:cNvPr id="86" name="Image 21" descr="preencoded.png">    </p:cNvPr>
          <p:cNvPicPr>
            <a:picLocks noChangeAspect="1"/>
          </p:cNvPicPr>
          <p:nvPr/>
        </p:nvPicPr>
        <p:blipFill>
          <a:blip r:embed="rId22"/>
          <a:stretch>
            <a:fillRect/>
          </a:stretch>
        </p:blipFill>
        <p:spPr>
          <a:xfrm>
            <a:off x="1911096" y="5760720"/>
            <a:ext cx="384048" cy="384048"/>
          </a:xfrm>
          <a:prstGeom prst="rect">
            <a:avLst/>
          </a:prstGeom>
        </p:spPr>
      </p:pic>
      <p:sp>
        <p:nvSpPr>
          <p:cNvPr id="87" name="Shape 63"/>
          <p:cNvSpPr/>
          <p:nvPr/>
        </p:nvSpPr>
        <p:spPr>
          <a:xfrm>
            <a:off x="2322576" y="5952744"/>
            <a:ext cx="128016" cy="0"/>
          </a:xfrm>
          <a:prstGeom prst="line">
            <a:avLst/>
          </a:prstGeom>
          <a:noFill/>
          <a:ln w="15875">
            <a:solidFill>
              <a:srgbClr val="9AA5B4"/>
            </a:solidFill>
            <a:prstDash val="solid"/>
            <a:headEnd type="triangle"/>
            <a:tailEnd type="triangle"/>
          </a:ln>
        </p:spPr>
      </p:sp>
      <p:pic>
        <p:nvPicPr>
          <p:cNvPr id="88" name="Image 22" descr="preencoded.png">    </p:cNvPr>
          <p:cNvPicPr>
            <a:picLocks noChangeAspect="1"/>
          </p:cNvPicPr>
          <p:nvPr/>
        </p:nvPicPr>
        <p:blipFill>
          <a:blip r:embed="rId23"/>
          <a:stretch>
            <a:fillRect/>
          </a:stretch>
        </p:blipFill>
        <p:spPr>
          <a:xfrm>
            <a:off x="2478024" y="5760720"/>
            <a:ext cx="384048" cy="384048"/>
          </a:xfrm>
          <a:prstGeom prst="rect">
            <a:avLst/>
          </a:prstGeom>
        </p:spPr>
      </p:pic>
      <p:sp>
        <p:nvSpPr>
          <p:cNvPr id="89" name="Text 64"/>
          <p:cNvSpPr txBox="1"/>
          <p:nvPr/>
        </p:nvSpPr>
        <p:spPr>
          <a:xfrm>
            <a:off x="3200400" y="5596128"/>
            <a:ext cx="8321040" cy="731520"/>
          </a:xfrm>
          <a:prstGeom prst="rect">
            <a:avLst/>
          </a:prstGeom>
          <a:noFill/>
          <a:ln/>
        </p:spPr>
        <p:txBody>
          <a:bodyPr wrap="square" lIns="0" tIns="0" rIns="0" bIns="0" rtlCol="0" anchor="ctr"/>
          <a:lstStyle/>
          <a:p>
            <a:pPr indent="0" marL="0">
              <a:buNone/>
            </a:pPr>
            <a:r>
              <a:rPr lang="en-US" sz="1150" b="1" dirty="0">
                <a:solidFill>
                  <a:srgbClr val="6B4FBB"/>
                </a:solidFill>
                <a:latin typeface="Meiryo UI" pitchFamily="34" charset="0"/>
                <a:ea typeface="Meiryo UI" pitchFamily="34" charset="-122"/>
                <a:cs typeface="Meiryo UI" pitchFamily="34" charset="-120"/>
              </a:rPr>
              <a:t>データを移さない方式（ハイブリッド）：</a:t>
            </a:r>
            <a:pPr indent="0" marL="0">
              <a:buNone/>
            </a:pPr>
            <a:r>
              <a:rPr lang="en-US" sz="1150" dirty="0">
                <a:solidFill>
                  <a:srgbClr val="000000"/>
                </a:solidFill>
                <a:latin typeface="Meiryo UI" pitchFamily="34" charset="0"/>
                <a:ea typeface="Meiryo UI" pitchFamily="34" charset="-122"/>
                <a:cs typeface="Meiryo UI" pitchFamily="34" charset="-120"/>
              </a:rPr>
              <a:t>APIで必要な結果だけを受け渡す。数値の精度は高いが、API開発と2環境の運用が必要</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共通要素②：ガイドライン・ナレッジの整備</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資料は社内でMarkdown化し、性質に応じてAIへの渡し方を分けることができる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18</a:t>
            </a:r>
            <a:endParaRPr lang="en-US" sz="900" dirty="0"/>
          </a:p>
        </p:txBody>
      </p:sp>
      <p:sp>
        <p:nvSpPr>
          <p:cNvPr id="6" name="Shape 4"/>
          <p:cNvSpPr/>
          <p:nvPr/>
        </p:nvSpPr>
        <p:spPr>
          <a:xfrm>
            <a:off x="548640" y="1600200"/>
            <a:ext cx="2286000" cy="1097280"/>
          </a:xfrm>
          <a:prstGeom prst="roundRect">
            <a:avLst>
              <a:gd name="adj" fmla="val 6667"/>
            </a:avLst>
          </a:prstGeom>
          <a:solidFill>
            <a:srgbClr val="E3EAF5"/>
          </a:solidFill>
          <a:ln/>
        </p:spPr>
      </p:sp>
      <p:pic>
        <p:nvPicPr>
          <p:cNvPr id="7" name="Image 0" descr="preencoded.png">    </p:cNvPr>
          <p:cNvPicPr>
            <a:picLocks noChangeAspect="1"/>
          </p:cNvPicPr>
          <p:nvPr/>
        </p:nvPicPr>
        <p:blipFill>
          <a:blip r:embed="rId1"/>
          <a:stretch>
            <a:fillRect/>
          </a:stretch>
        </p:blipFill>
        <p:spPr>
          <a:xfrm>
            <a:off x="1494130" y="1728216"/>
            <a:ext cx="395021" cy="395021"/>
          </a:xfrm>
          <a:prstGeom prst="rect">
            <a:avLst/>
          </a:prstGeom>
        </p:spPr>
      </p:pic>
      <p:sp>
        <p:nvSpPr>
          <p:cNvPr id="8" name="Text 5"/>
          <p:cNvSpPr txBox="1"/>
          <p:nvPr/>
        </p:nvSpPr>
        <p:spPr>
          <a:xfrm>
            <a:off x="594360" y="2154838"/>
            <a:ext cx="2194560" cy="487778"/>
          </a:xfrm>
          <a:prstGeom prst="rect">
            <a:avLst/>
          </a:prstGeom>
          <a:noFill/>
          <a:ln/>
        </p:spPr>
        <p:txBody>
          <a:bodyPr wrap="square" lIns="0" tIns="0" rIns="0" bIns="0" rtlCol="0" anchor="ctr"/>
          <a:lstStyle/>
          <a:p>
            <a:pPr algn="ctr" indent="0" marL="0">
              <a:buNone/>
            </a:pPr>
            <a:r>
              <a:rPr lang="en-US" sz="1050" b="1" dirty="0">
                <a:solidFill>
                  <a:srgbClr val="1B2A49"/>
                </a:solidFill>
                <a:latin typeface="Meiryo UI" pitchFamily="34" charset="0"/>
                <a:ea typeface="Meiryo UI" pitchFamily="34" charset="-122"/>
                <a:cs typeface="Meiryo UI" pitchFamily="34" charset="-120"/>
              </a:rPr>
              <a:t>既存の資料</a:t>
            </a:r>
            <a:endParaRPr lang="en-US" sz="1050" dirty="0"/>
          </a:p>
          <a:p>
            <a:pPr algn="ctr" indent="0" marL="0">
              <a:buNone/>
            </a:pPr>
            <a:r>
              <a:rPr lang="en-US" sz="900" dirty="0">
                <a:solidFill>
                  <a:srgbClr val="6B7280"/>
                </a:solidFill>
                <a:latin typeface="Meiryo UI" pitchFamily="34" charset="0"/>
                <a:ea typeface="Meiryo UI" pitchFamily="34" charset="-122"/>
                <a:cs typeface="Meiryo UI" pitchFamily="34" charset="-120"/>
              </a:rPr>
              <a:t>ガイドライン／ブランド規定／マーケ資料</a:t>
            </a:r>
            <a:endParaRPr lang="en-US" sz="1050" dirty="0"/>
          </a:p>
        </p:txBody>
      </p:sp>
      <p:sp>
        <p:nvSpPr>
          <p:cNvPr id="9" name="Shape 6"/>
          <p:cNvSpPr/>
          <p:nvPr/>
        </p:nvSpPr>
        <p:spPr>
          <a:xfrm>
            <a:off x="2880360" y="2148840"/>
            <a:ext cx="411480" cy="0"/>
          </a:xfrm>
          <a:prstGeom prst="line">
            <a:avLst/>
          </a:prstGeom>
          <a:noFill/>
          <a:ln w="22225">
            <a:solidFill>
              <a:srgbClr val="9AA5B4"/>
            </a:solidFill>
            <a:prstDash val="solid"/>
            <a:tailEnd type="triangle"/>
          </a:ln>
        </p:spPr>
      </p:sp>
      <p:sp>
        <p:nvSpPr>
          <p:cNvPr id="10" name="Shape 7"/>
          <p:cNvSpPr/>
          <p:nvPr/>
        </p:nvSpPr>
        <p:spPr>
          <a:xfrm>
            <a:off x="3337560" y="1600200"/>
            <a:ext cx="2286000" cy="1097280"/>
          </a:xfrm>
          <a:prstGeom prst="roundRect">
            <a:avLst>
              <a:gd name="adj" fmla="val 6667"/>
            </a:avLst>
          </a:prstGeom>
          <a:solidFill>
            <a:srgbClr val="D9F2F1"/>
          </a:solidFill>
          <a:ln/>
        </p:spPr>
      </p:sp>
      <p:pic>
        <p:nvPicPr>
          <p:cNvPr id="11" name="Image 1" descr="preencoded.png">    </p:cNvPr>
          <p:cNvPicPr>
            <a:picLocks noChangeAspect="1"/>
          </p:cNvPicPr>
          <p:nvPr/>
        </p:nvPicPr>
        <p:blipFill>
          <a:blip r:embed="rId2"/>
          <a:stretch>
            <a:fillRect/>
          </a:stretch>
        </p:blipFill>
        <p:spPr>
          <a:xfrm>
            <a:off x="4283050" y="1728216"/>
            <a:ext cx="395021" cy="395021"/>
          </a:xfrm>
          <a:prstGeom prst="rect">
            <a:avLst/>
          </a:prstGeom>
        </p:spPr>
      </p:pic>
      <p:sp>
        <p:nvSpPr>
          <p:cNvPr id="12" name="Text 8"/>
          <p:cNvSpPr txBox="1"/>
          <p:nvPr/>
        </p:nvSpPr>
        <p:spPr>
          <a:xfrm>
            <a:off x="3383280" y="2154838"/>
            <a:ext cx="2194560" cy="487778"/>
          </a:xfrm>
          <a:prstGeom prst="rect">
            <a:avLst/>
          </a:prstGeom>
          <a:noFill/>
          <a:ln/>
        </p:spPr>
        <p:txBody>
          <a:bodyPr wrap="square" lIns="0" tIns="0" rIns="0" bIns="0" rtlCol="0" anchor="ctr"/>
          <a:lstStyle/>
          <a:p>
            <a:pPr algn="ctr" indent="0" marL="0">
              <a:buNone/>
            </a:pPr>
            <a:r>
              <a:rPr lang="en-US" sz="1050" b="1" dirty="0">
                <a:solidFill>
                  <a:srgbClr val="1B2A49"/>
                </a:solidFill>
                <a:latin typeface="Meiryo UI" pitchFamily="34" charset="0"/>
                <a:ea typeface="Meiryo UI" pitchFamily="34" charset="-122"/>
                <a:cs typeface="Meiryo UI" pitchFamily="34" charset="-120"/>
              </a:rPr>
              <a:t>Markdown化</a:t>
            </a:r>
            <a:endParaRPr lang="en-US" sz="1050" dirty="0"/>
          </a:p>
          <a:p>
            <a:pPr algn="ctr" indent="0" marL="0">
              <a:buNone/>
            </a:pPr>
            <a:r>
              <a:rPr lang="en-US" sz="900" dirty="0">
                <a:solidFill>
                  <a:srgbClr val="6B7280"/>
                </a:solidFill>
                <a:latin typeface="Meiryo UI" pitchFamily="34" charset="0"/>
                <a:ea typeface="Meiryo UI" pitchFamily="34" charset="-122"/>
                <a:cs typeface="Meiryo UI" pitchFamily="34" charset="-120"/>
              </a:rPr>
              <a:t>社内のCopilotで変換</a:t>
            </a:r>
            <a:endParaRPr lang="en-US" sz="1050" dirty="0"/>
          </a:p>
        </p:txBody>
      </p:sp>
      <p:sp>
        <p:nvSpPr>
          <p:cNvPr id="13" name="Shape 9"/>
          <p:cNvSpPr/>
          <p:nvPr/>
        </p:nvSpPr>
        <p:spPr>
          <a:xfrm flipV="1">
            <a:off x="5669280" y="1783080"/>
            <a:ext cx="502920" cy="182880"/>
          </a:xfrm>
          <a:prstGeom prst="line">
            <a:avLst/>
          </a:prstGeom>
          <a:noFill/>
          <a:ln w="22225">
            <a:solidFill>
              <a:srgbClr val="9AA5B4"/>
            </a:solidFill>
            <a:prstDash val="solid"/>
            <a:tailEnd type="triangle"/>
          </a:ln>
        </p:spPr>
      </p:sp>
      <p:sp>
        <p:nvSpPr>
          <p:cNvPr id="14" name="Shape 10"/>
          <p:cNvSpPr/>
          <p:nvPr/>
        </p:nvSpPr>
        <p:spPr>
          <a:xfrm>
            <a:off x="5669280" y="2331720"/>
            <a:ext cx="502920" cy="731520"/>
          </a:xfrm>
          <a:prstGeom prst="line">
            <a:avLst/>
          </a:prstGeom>
          <a:noFill/>
          <a:ln w="22225">
            <a:solidFill>
              <a:srgbClr val="9AA5B4"/>
            </a:solidFill>
            <a:prstDash val="solid"/>
            <a:tailEnd type="triangle"/>
          </a:ln>
        </p:spPr>
      </p:sp>
      <p:sp>
        <p:nvSpPr>
          <p:cNvPr id="15" name="Shape 11"/>
          <p:cNvSpPr/>
          <p:nvPr/>
        </p:nvSpPr>
        <p:spPr>
          <a:xfrm>
            <a:off x="6217920" y="1417320"/>
            <a:ext cx="5394960" cy="1234440"/>
          </a:xfrm>
          <a:prstGeom prst="roundRect">
            <a:avLst>
              <a:gd name="adj" fmla="val 4444"/>
            </a:avLst>
          </a:prstGeom>
          <a:solidFill>
            <a:srgbClr val="FBE3E3"/>
          </a:solidFill>
          <a:ln/>
        </p:spPr>
      </p:sp>
      <p:sp>
        <p:nvSpPr>
          <p:cNvPr id="16" name="Shape 12"/>
          <p:cNvSpPr/>
          <p:nvPr/>
        </p:nvSpPr>
        <p:spPr>
          <a:xfrm>
            <a:off x="6355080" y="1554480"/>
            <a:ext cx="411480" cy="411480"/>
          </a:xfrm>
          <a:prstGeom prst="ellipse">
            <a:avLst/>
          </a:prstGeom>
          <a:solidFill>
            <a:srgbClr val="FFFFFF"/>
          </a:solidFill>
          <a:ln/>
        </p:spPr>
      </p:sp>
      <p:pic>
        <p:nvPicPr>
          <p:cNvPr id="17" name="Image 2" descr="preencoded.png">    </p:cNvPr>
          <p:cNvPicPr>
            <a:picLocks noChangeAspect="1"/>
          </p:cNvPicPr>
          <p:nvPr/>
        </p:nvPicPr>
        <p:blipFill>
          <a:blip r:embed="rId3"/>
          <a:stretch>
            <a:fillRect/>
          </a:stretch>
        </p:blipFill>
        <p:spPr>
          <a:xfrm>
            <a:off x="6437376" y="1636776"/>
            <a:ext cx="246888" cy="246888"/>
          </a:xfrm>
          <a:prstGeom prst="rect">
            <a:avLst/>
          </a:prstGeom>
        </p:spPr>
      </p:pic>
      <p:sp>
        <p:nvSpPr>
          <p:cNvPr id="18" name="Text 13"/>
          <p:cNvSpPr txBox="1"/>
          <p:nvPr/>
        </p:nvSpPr>
        <p:spPr>
          <a:xfrm>
            <a:off x="6858000" y="1554480"/>
            <a:ext cx="4663440" cy="411480"/>
          </a:xfrm>
          <a:prstGeom prst="rect">
            <a:avLst/>
          </a:prstGeom>
          <a:noFill/>
          <a:ln/>
        </p:spPr>
        <p:txBody>
          <a:bodyPr wrap="square" lIns="508" tIns="508" rIns="508" bIns="508" rtlCol="0" anchor="ctr"/>
          <a:lstStyle/>
          <a:p>
            <a:pPr indent="0" marL="0">
              <a:buNone/>
            </a:pPr>
            <a:r>
              <a:rPr lang="en-US" sz="1350" b="1" dirty="0">
                <a:solidFill>
                  <a:srgbClr val="D64545"/>
                </a:solidFill>
                <a:latin typeface="Meiryo UI" pitchFamily="34" charset="0"/>
                <a:ea typeface="Meiryo UI" pitchFamily="34" charset="-122"/>
                <a:cs typeface="Meiryo UI" pitchFamily="34" charset="-120"/>
              </a:rPr>
              <a:t>必ず守るルール → 毎回の指示に常に含める</a:t>
            </a:r>
            <a:endParaRPr lang="en-US" sz="1350" dirty="0"/>
          </a:p>
        </p:txBody>
      </p:sp>
      <p:sp>
        <p:nvSpPr>
          <p:cNvPr id="19" name="Text 14"/>
          <p:cNvSpPr txBox="1"/>
          <p:nvPr/>
        </p:nvSpPr>
        <p:spPr>
          <a:xfrm>
            <a:off x="6400800" y="2011680"/>
            <a:ext cx="5120640" cy="594360"/>
          </a:xfrm>
          <a:prstGeom prst="rect">
            <a:avLst/>
          </a:prstGeom>
          <a:noFill/>
          <a:ln/>
        </p:spPr>
        <p:txBody>
          <a:bodyPr wrap="square" lIns="254" tIns="254" rIns="254" bIns="254" rtlCol="0" anchor="t"/>
          <a:lstStyle/>
          <a:p>
            <a:pPr indent="0" marL="0">
              <a:buNone/>
            </a:pPr>
            <a:r>
              <a:rPr lang="en-US" sz="1050" b="1" dirty="0">
                <a:solidFill>
                  <a:srgbClr val="000000"/>
                </a:solidFill>
                <a:latin typeface="Meiryo UI" pitchFamily="34" charset="0"/>
                <a:ea typeface="Meiryo UI" pitchFamily="34" charset="-122"/>
                <a:cs typeface="Meiryo UI" pitchFamily="34" charset="-120"/>
              </a:rPr>
              <a:t>対象：</a:t>
            </a:r>
            <a:pPr indent="0" marL="0">
              <a:buNone/>
            </a:pPr>
            <a:r>
              <a:rPr lang="en-US" sz="1050" dirty="0">
                <a:solidFill>
                  <a:srgbClr val="000000"/>
                </a:solidFill>
                <a:latin typeface="Meiryo UI" pitchFamily="34" charset="0"/>
                <a:ea typeface="Meiryo UI" pitchFamily="34" charset="-122"/>
                <a:cs typeface="Meiryo UI" pitchFamily="34" charset="-120"/>
              </a:rPr>
              <a:t>NG表現、トーン＆マナー、法規制、国別のルール</a:t>
            </a:r>
            <a:endParaRPr lang="en-US" sz="1050" dirty="0"/>
          </a:p>
          <a:p>
            <a:pPr indent="0" marL="0">
              <a:buNone/>
            </a:pPr>
            <a:r>
              <a:rPr lang="en-US" sz="1050" b="1" dirty="0">
                <a:solidFill>
                  <a:srgbClr val="000000"/>
                </a:solidFill>
                <a:latin typeface="Meiryo UI" pitchFamily="34" charset="0"/>
                <a:ea typeface="Meiryo UI" pitchFamily="34" charset="-122"/>
                <a:cs typeface="Meiryo UI" pitchFamily="34" charset="-120"/>
              </a:rPr>
              <a:t>渡し方：</a:t>
            </a:r>
            <a:pPr indent="0" marL="0">
              <a:buNone/>
            </a:pPr>
            <a:r>
              <a:rPr lang="en-US" sz="1050" dirty="0">
                <a:solidFill>
                  <a:srgbClr val="000000"/>
                </a:solidFill>
                <a:latin typeface="Meiryo UI" pitchFamily="34" charset="0"/>
                <a:ea typeface="Meiryo UI" pitchFamily="34" charset="-122"/>
                <a:cs typeface="Meiryo UI" pitchFamily="34" charset="-120"/>
              </a:rPr>
              <a:t>AIへの指示に固定で組み込む（検索漏れを防ぐ）</a:t>
            </a:r>
            <a:endParaRPr lang="en-US" sz="1050" dirty="0"/>
          </a:p>
        </p:txBody>
      </p:sp>
      <p:sp>
        <p:nvSpPr>
          <p:cNvPr id="20" name="Shape 15"/>
          <p:cNvSpPr/>
          <p:nvPr/>
        </p:nvSpPr>
        <p:spPr>
          <a:xfrm>
            <a:off x="6217920" y="2743200"/>
            <a:ext cx="5394960" cy="1234440"/>
          </a:xfrm>
          <a:prstGeom prst="roundRect">
            <a:avLst>
              <a:gd name="adj" fmla="val 4444"/>
            </a:avLst>
          </a:prstGeom>
          <a:solidFill>
            <a:srgbClr val="D9F2F1"/>
          </a:solidFill>
          <a:ln/>
        </p:spPr>
      </p:sp>
      <p:sp>
        <p:nvSpPr>
          <p:cNvPr id="21" name="Shape 16"/>
          <p:cNvSpPr/>
          <p:nvPr/>
        </p:nvSpPr>
        <p:spPr>
          <a:xfrm>
            <a:off x="6355080" y="2880360"/>
            <a:ext cx="411480" cy="411480"/>
          </a:xfrm>
          <a:prstGeom prst="ellipse">
            <a:avLst/>
          </a:prstGeom>
          <a:solidFill>
            <a:srgbClr val="FFFFFF"/>
          </a:solidFill>
          <a:ln/>
        </p:spPr>
      </p:sp>
      <p:pic>
        <p:nvPicPr>
          <p:cNvPr id="22" name="Image 3" descr="preencoded.png">    </p:cNvPr>
          <p:cNvPicPr>
            <a:picLocks noChangeAspect="1"/>
          </p:cNvPicPr>
          <p:nvPr/>
        </p:nvPicPr>
        <p:blipFill>
          <a:blip r:embed="rId4"/>
          <a:stretch>
            <a:fillRect/>
          </a:stretch>
        </p:blipFill>
        <p:spPr>
          <a:xfrm>
            <a:off x="6437376" y="2962656"/>
            <a:ext cx="246888" cy="246888"/>
          </a:xfrm>
          <a:prstGeom prst="rect">
            <a:avLst/>
          </a:prstGeom>
        </p:spPr>
      </p:pic>
      <p:sp>
        <p:nvSpPr>
          <p:cNvPr id="23" name="Text 17"/>
          <p:cNvSpPr txBox="1"/>
          <p:nvPr/>
        </p:nvSpPr>
        <p:spPr>
          <a:xfrm>
            <a:off x="6858000" y="2880360"/>
            <a:ext cx="4663440" cy="411480"/>
          </a:xfrm>
          <a:prstGeom prst="rect">
            <a:avLst/>
          </a:prstGeom>
          <a:noFill/>
          <a:ln/>
        </p:spPr>
        <p:txBody>
          <a:bodyPr wrap="square" lIns="508" tIns="508" rIns="508" bIns="508" rtlCol="0" anchor="ctr"/>
          <a:lstStyle/>
          <a:p>
            <a:pPr indent="0" marL="0">
              <a:buNone/>
            </a:pPr>
            <a:r>
              <a:rPr lang="en-US" sz="1350" b="1" dirty="0">
                <a:solidFill>
                  <a:srgbClr val="0E9F9A"/>
                </a:solidFill>
                <a:latin typeface="Meiryo UI" pitchFamily="34" charset="0"/>
                <a:ea typeface="Meiryo UI" pitchFamily="34" charset="-122"/>
                <a:cs typeface="Meiryo UI" pitchFamily="34" charset="-120"/>
              </a:rPr>
              <a:t>参考情報 → 必要な時に検索して参照（RAG）</a:t>
            </a:r>
            <a:endParaRPr lang="en-US" sz="1350" dirty="0"/>
          </a:p>
        </p:txBody>
      </p:sp>
      <p:sp>
        <p:nvSpPr>
          <p:cNvPr id="24" name="Text 18"/>
          <p:cNvSpPr txBox="1"/>
          <p:nvPr/>
        </p:nvSpPr>
        <p:spPr>
          <a:xfrm>
            <a:off x="6400800" y="3337560"/>
            <a:ext cx="5120640" cy="594360"/>
          </a:xfrm>
          <a:prstGeom prst="rect">
            <a:avLst/>
          </a:prstGeom>
          <a:noFill/>
          <a:ln/>
        </p:spPr>
        <p:txBody>
          <a:bodyPr wrap="square" lIns="254" tIns="254" rIns="254" bIns="254" rtlCol="0" anchor="t"/>
          <a:lstStyle/>
          <a:p>
            <a:pPr indent="0" marL="0">
              <a:buNone/>
            </a:pPr>
            <a:r>
              <a:rPr lang="en-US" sz="1050" b="1" dirty="0">
                <a:solidFill>
                  <a:srgbClr val="000000"/>
                </a:solidFill>
                <a:latin typeface="Meiryo UI" pitchFamily="34" charset="0"/>
                <a:ea typeface="Meiryo UI" pitchFamily="34" charset="-122"/>
                <a:cs typeface="Meiryo UI" pitchFamily="34" charset="-120"/>
              </a:rPr>
              <a:t>対象：</a:t>
            </a:r>
            <a:pPr indent="0" marL="0">
              <a:buNone/>
            </a:pPr>
            <a:r>
              <a:rPr lang="en-US" sz="1050" dirty="0">
                <a:solidFill>
                  <a:srgbClr val="000000"/>
                </a:solidFill>
                <a:latin typeface="Meiryo UI" pitchFamily="34" charset="0"/>
                <a:ea typeface="Meiryo UI" pitchFamily="34" charset="-122"/>
                <a:cs typeface="Meiryo UI" pitchFamily="34" charset="-120"/>
              </a:rPr>
              <a:t>過去の好事例、商品の背景情報、キャンペーン資料</a:t>
            </a:r>
            <a:endParaRPr lang="en-US" sz="1050" dirty="0"/>
          </a:p>
          <a:p>
            <a:pPr indent="0" marL="0">
              <a:buNone/>
            </a:pPr>
            <a:r>
              <a:rPr lang="en-US" sz="1050" b="1" dirty="0">
                <a:solidFill>
                  <a:srgbClr val="000000"/>
                </a:solidFill>
                <a:latin typeface="Meiryo UI" pitchFamily="34" charset="0"/>
                <a:ea typeface="Meiryo UI" pitchFamily="34" charset="-122"/>
                <a:cs typeface="Meiryo UI" pitchFamily="34" charset="-120"/>
              </a:rPr>
              <a:t>渡し方：</a:t>
            </a:r>
            <a:pPr indent="0" marL="0">
              <a:buNone/>
            </a:pPr>
            <a:r>
              <a:rPr lang="en-US" sz="1050" dirty="0">
                <a:solidFill>
                  <a:srgbClr val="000000"/>
                </a:solidFill>
                <a:latin typeface="Meiryo UI" pitchFamily="34" charset="0"/>
                <a:ea typeface="Meiryo UI" pitchFamily="34" charset="-122"/>
                <a:cs typeface="Meiryo UI" pitchFamily="34" charset="-120"/>
              </a:rPr>
              <a:t>ナレッジとして登録し、関連する部分だけを参照させる</a:t>
            </a:r>
            <a:endParaRPr lang="en-US" sz="1050" dirty="0"/>
          </a:p>
        </p:txBody>
      </p:sp>
      <p:sp>
        <p:nvSpPr>
          <p:cNvPr id="25" name="Text 19"/>
          <p:cNvSpPr txBox="1"/>
          <p:nvPr/>
        </p:nvSpPr>
        <p:spPr>
          <a:xfrm>
            <a:off x="548640" y="4206240"/>
            <a:ext cx="5486400" cy="32004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参考情報の置き場所の選択肢</a:t>
            </a:r>
            <a:endParaRPr lang="en-US" sz="1300" dirty="0"/>
          </a:p>
        </p:txBody>
      </p:sp>
      <p:sp>
        <p:nvSpPr>
          <p:cNvPr id="26" name="Shape 20"/>
          <p:cNvSpPr/>
          <p:nvPr/>
        </p:nvSpPr>
        <p:spPr>
          <a:xfrm>
            <a:off x="548640" y="4572000"/>
            <a:ext cx="3611880" cy="1737360"/>
          </a:xfrm>
          <a:prstGeom prst="roundRect">
            <a:avLst>
              <a:gd name="adj" fmla="val 3158"/>
            </a:avLst>
          </a:prstGeom>
          <a:solidFill>
            <a:srgbClr val="E5F0FA"/>
          </a:solidFill>
          <a:ln/>
        </p:spPr>
      </p:sp>
      <p:pic>
        <p:nvPicPr>
          <p:cNvPr id="27" name="Image 4" descr="preencoded.png">    </p:cNvPr>
          <p:cNvPicPr>
            <a:picLocks noChangeAspect="1"/>
          </p:cNvPicPr>
          <p:nvPr/>
        </p:nvPicPr>
        <p:blipFill>
          <a:blip r:embed="rId5"/>
          <a:stretch>
            <a:fillRect/>
          </a:stretch>
        </p:blipFill>
        <p:spPr>
          <a:xfrm>
            <a:off x="731520" y="4709160"/>
            <a:ext cx="347472" cy="347472"/>
          </a:xfrm>
          <a:prstGeom prst="rect">
            <a:avLst/>
          </a:prstGeom>
        </p:spPr>
      </p:pic>
      <p:pic>
        <p:nvPicPr>
          <p:cNvPr id="28" name="Image 5" descr="preencoded.png">    </p:cNvPr>
          <p:cNvPicPr>
            <a:picLocks noChangeAspect="1"/>
          </p:cNvPicPr>
          <p:nvPr/>
        </p:nvPicPr>
        <p:blipFill>
          <a:blip r:embed="rId6"/>
          <a:stretch>
            <a:fillRect/>
          </a:stretch>
        </p:blipFill>
        <p:spPr>
          <a:xfrm>
            <a:off x="1188720" y="4709160"/>
            <a:ext cx="347472" cy="347472"/>
          </a:xfrm>
          <a:prstGeom prst="rect">
            <a:avLst/>
          </a:prstGeom>
        </p:spPr>
      </p:pic>
      <p:sp>
        <p:nvSpPr>
          <p:cNvPr id="29" name="Text 21"/>
          <p:cNvSpPr txBox="1"/>
          <p:nvPr/>
        </p:nvSpPr>
        <p:spPr>
          <a:xfrm>
            <a:off x="1645920" y="4709160"/>
            <a:ext cx="2286000" cy="347472"/>
          </a:xfrm>
          <a:prstGeom prst="rect">
            <a:avLst/>
          </a:prstGeom>
          <a:noFill/>
          <a:ln/>
        </p:spPr>
        <p:txBody>
          <a:bodyPr wrap="square" lIns="508" tIns="508" rIns="508" bIns="508" rtlCol="0" anchor="ctr"/>
          <a:lstStyle/>
          <a:p>
            <a:pP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1100" dirty="0"/>
          </a:p>
        </p:txBody>
      </p:sp>
      <p:sp>
        <p:nvSpPr>
          <p:cNvPr id="30" name="Text 22"/>
          <p:cNvSpPr txBox="1"/>
          <p:nvPr/>
        </p:nvSpPr>
        <p:spPr>
          <a:xfrm>
            <a:off x="731520" y="5138928"/>
            <a:ext cx="3291840" cy="320040"/>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SharePoint＋Copilot Studio</a:t>
            </a:r>
            <a:endParaRPr lang="en-US" sz="1200" dirty="0"/>
          </a:p>
        </p:txBody>
      </p:sp>
      <p:sp>
        <p:nvSpPr>
          <p:cNvPr id="31" name="Text 23"/>
          <p:cNvSpPr txBox="1"/>
          <p:nvPr/>
        </p:nvSpPr>
        <p:spPr>
          <a:xfrm>
            <a:off x="731520" y="5486400"/>
            <a:ext cx="3291840" cy="731520"/>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SharePointのライブラリをエージェントのナレッジに設定する。資料はM365の外に出ない</a:t>
            </a:r>
            <a:endParaRPr lang="en-US" sz="1050" dirty="0"/>
          </a:p>
        </p:txBody>
      </p:sp>
      <p:sp>
        <p:nvSpPr>
          <p:cNvPr id="32" name="Shape 24"/>
          <p:cNvSpPr/>
          <p:nvPr/>
        </p:nvSpPr>
        <p:spPr>
          <a:xfrm>
            <a:off x="4279392" y="4572000"/>
            <a:ext cx="3611880" cy="1737360"/>
          </a:xfrm>
          <a:prstGeom prst="roundRect">
            <a:avLst>
              <a:gd name="adj" fmla="val 3158"/>
            </a:avLst>
          </a:prstGeom>
          <a:solidFill>
            <a:srgbClr val="E8F0FE"/>
          </a:solidFill>
          <a:ln/>
        </p:spPr>
      </p:sp>
      <p:pic>
        <p:nvPicPr>
          <p:cNvPr id="33" name="Image 6" descr="preencoded.png">    </p:cNvPr>
          <p:cNvPicPr>
            <a:picLocks noChangeAspect="1"/>
          </p:cNvPicPr>
          <p:nvPr/>
        </p:nvPicPr>
        <p:blipFill>
          <a:blip r:embed="rId7"/>
          <a:stretch>
            <a:fillRect/>
          </a:stretch>
        </p:blipFill>
        <p:spPr>
          <a:xfrm>
            <a:off x="4462272" y="4709160"/>
            <a:ext cx="347472" cy="347472"/>
          </a:xfrm>
          <a:prstGeom prst="rect">
            <a:avLst/>
          </a:prstGeom>
        </p:spPr>
      </p:pic>
      <p:pic>
        <p:nvPicPr>
          <p:cNvPr id="34" name="Image 7" descr="preencoded.png">    </p:cNvPr>
          <p:cNvPicPr>
            <a:picLocks noChangeAspect="1"/>
          </p:cNvPicPr>
          <p:nvPr/>
        </p:nvPicPr>
        <p:blipFill>
          <a:blip r:embed="rId8"/>
          <a:stretch>
            <a:fillRect/>
          </a:stretch>
        </p:blipFill>
        <p:spPr>
          <a:xfrm>
            <a:off x="4919472" y="4709160"/>
            <a:ext cx="347472" cy="347472"/>
          </a:xfrm>
          <a:prstGeom prst="rect">
            <a:avLst/>
          </a:prstGeom>
        </p:spPr>
      </p:pic>
      <p:sp>
        <p:nvSpPr>
          <p:cNvPr id="35" name="Text 25"/>
          <p:cNvSpPr txBox="1"/>
          <p:nvPr/>
        </p:nvSpPr>
        <p:spPr>
          <a:xfrm>
            <a:off x="5376672" y="4709160"/>
            <a:ext cx="2286000" cy="347472"/>
          </a:xfrm>
          <a:prstGeom prst="rect">
            <a:avLst/>
          </a:prstGeom>
          <a:noFill/>
          <a:ln/>
        </p:spPr>
        <p:txBody>
          <a:bodyPr wrap="square" lIns="508" tIns="508" rIns="508" bIns="508" rtlCol="0" anchor="ctr"/>
          <a:lstStyle/>
          <a:p>
            <a:pPr indent="0" marL="0">
              <a:buNone/>
            </a:pPr>
            <a:r>
              <a:rPr lang="en-US" sz="1100" b="1" dirty="0">
                <a:solidFill>
                  <a:srgbClr val="4285F4"/>
                </a:solidFill>
                <a:latin typeface="Meiryo UI" pitchFamily="34" charset="0"/>
                <a:ea typeface="Meiryo UI" pitchFamily="34" charset="-122"/>
                <a:cs typeface="Meiryo UI" pitchFamily="34" charset="-120"/>
              </a:rPr>
              <a:t>GCPに寄せる</a:t>
            </a:r>
            <a:endParaRPr lang="en-US" sz="1100" dirty="0"/>
          </a:p>
        </p:txBody>
      </p:sp>
      <p:sp>
        <p:nvSpPr>
          <p:cNvPr id="36" name="Text 26"/>
          <p:cNvSpPr txBox="1"/>
          <p:nvPr/>
        </p:nvSpPr>
        <p:spPr>
          <a:xfrm>
            <a:off x="4462272" y="5138928"/>
            <a:ext cx="3291840" cy="320040"/>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Agent Platform／Gemini Ent.</a:t>
            </a:r>
            <a:endParaRPr lang="en-US" sz="1200" dirty="0"/>
          </a:p>
        </p:txBody>
      </p:sp>
      <p:sp>
        <p:nvSpPr>
          <p:cNvPr id="37" name="Text 27"/>
          <p:cNvSpPr txBox="1"/>
          <p:nvPr/>
        </p:nvSpPr>
        <p:spPr>
          <a:xfrm>
            <a:off x="4462272" y="5486400"/>
            <a:ext cx="3291840" cy="731520"/>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取り込み（インデックス化）か、コピーしないフェデレーション検索かを選べる</a:t>
            </a:r>
            <a:endParaRPr lang="en-US" sz="1050" dirty="0"/>
          </a:p>
        </p:txBody>
      </p:sp>
      <p:sp>
        <p:nvSpPr>
          <p:cNvPr id="38" name="Shape 28"/>
          <p:cNvSpPr/>
          <p:nvPr/>
        </p:nvSpPr>
        <p:spPr>
          <a:xfrm>
            <a:off x="8010144" y="4572000"/>
            <a:ext cx="3611880" cy="1737360"/>
          </a:xfrm>
          <a:prstGeom prst="roundRect">
            <a:avLst>
              <a:gd name="adj" fmla="val 3158"/>
            </a:avLst>
          </a:prstGeom>
          <a:solidFill>
            <a:srgbClr val="EEEAF8"/>
          </a:solidFill>
          <a:ln/>
        </p:spPr>
      </p:sp>
      <p:pic>
        <p:nvPicPr>
          <p:cNvPr id="39" name="Image 8" descr="preencoded.png">    </p:cNvPr>
          <p:cNvPicPr>
            <a:picLocks noChangeAspect="1"/>
          </p:cNvPicPr>
          <p:nvPr/>
        </p:nvPicPr>
        <p:blipFill>
          <a:blip r:embed="rId9"/>
          <a:stretch>
            <a:fillRect/>
          </a:stretch>
        </p:blipFill>
        <p:spPr>
          <a:xfrm>
            <a:off x="8193024" y="4709160"/>
            <a:ext cx="347472" cy="347472"/>
          </a:xfrm>
          <a:prstGeom prst="rect">
            <a:avLst/>
          </a:prstGeom>
        </p:spPr>
      </p:pic>
      <p:pic>
        <p:nvPicPr>
          <p:cNvPr id="40" name="Image 9" descr="preencoded.png">    </p:cNvPr>
          <p:cNvPicPr>
            <a:picLocks noChangeAspect="1"/>
          </p:cNvPicPr>
          <p:nvPr/>
        </p:nvPicPr>
        <p:blipFill>
          <a:blip r:embed="rId10"/>
          <a:stretch>
            <a:fillRect/>
          </a:stretch>
        </p:blipFill>
        <p:spPr>
          <a:xfrm>
            <a:off x="8650224" y="4709160"/>
            <a:ext cx="347472" cy="347472"/>
          </a:xfrm>
          <a:prstGeom prst="rect">
            <a:avLst/>
          </a:prstGeom>
        </p:spPr>
      </p:pic>
      <p:sp>
        <p:nvSpPr>
          <p:cNvPr id="41" name="Text 29"/>
          <p:cNvSpPr txBox="1"/>
          <p:nvPr/>
        </p:nvSpPr>
        <p:spPr>
          <a:xfrm>
            <a:off x="9107424" y="4709160"/>
            <a:ext cx="2286000" cy="347472"/>
          </a:xfrm>
          <a:prstGeom prst="rect">
            <a:avLst/>
          </a:prstGeom>
          <a:noFill/>
          <a:ln/>
        </p:spPr>
        <p:txBody>
          <a:bodyPr wrap="square" lIns="508" tIns="508" rIns="508" bIns="508" rtlCol="0" anchor="ctr"/>
          <a:lstStyle/>
          <a:p>
            <a:pPr indent="0" marL="0">
              <a:buNone/>
            </a:pPr>
            <a:r>
              <a:rPr lang="en-US" sz="1100" b="1" dirty="0">
                <a:solidFill>
                  <a:srgbClr val="6B4FBB"/>
                </a:solidFill>
                <a:latin typeface="Meiryo UI" pitchFamily="34" charset="0"/>
                <a:ea typeface="Meiryo UI" pitchFamily="34" charset="-122"/>
                <a:cs typeface="Meiryo UI" pitchFamily="34" charset="-120"/>
              </a:rPr>
              <a:t>ハイブリッド</a:t>
            </a:r>
            <a:endParaRPr lang="en-US" sz="1100" dirty="0"/>
          </a:p>
        </p:txBody>
      </p:sp>
      <p:sp>
        <p:nvSpPr>
          <p:cNvPr id="42" name="Text 30"/>
          <p:cNvSpPr txBox="1"/>
          <p:nvPr/>
        </p:nvSpPr>
        <p:spPr>
          <a:xfrm>
            <a:off x="8193024" y="5138928"/>
            <a:ext cx="3291840" cy="320040"/>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資料はM365、数値はGCP</a:t>
            </a:r>
            <a:endParaRPr lang="en-US" sz="1200" dirty="0"/>
          </a:p>
        </p:txBody>
      </p:sp>
      <p:sp>
        <p:nvSpPr>
          <p:cNvPr id="43" name="Text 31"/>
          <p:cNvSpPr txBox="1"/>
          <p:nvPr/>
        </p:nvSpPr>
        <p:spPr>
          <a:xfrm>
            <a:off x="8193024" y="5486400"/>
            <a:ext cx="3291840" cy="731520"/>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ルール・資料はCopilot Studio側に置き、数値だけをAPIで取得する</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運用面の共通論点</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どのパターンを選んでも発生する、運用に関する検討事項</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19</a:t>
            </a:r>
            <a:endParaRPr lang="en-US" sz="900" dirty="0"/>
          </a:p>
        </p:txBody>
      </p:sp>
      <p:sp>
        <p:nvSpPr>
          <p:cNvPr id="6" name="Shape 4"/>
          <p:cNvSpPr/>
          <p:nvPr/>
        </p:nvSpPr>
        <p:spPr>
          <a:xfrm>
            <a:off x="548640" y="1417320"/>
            <a:ext cx="3566160" cy="2331720"/>
          </a:xfrm>
          <a:prstGeom prst="roundRect">
            <a:avLst>
              <a:gd name="adj" fmla="val 2353"/>
            </a:avLst>
          </a:prstGeom>
          <a:solidFill>
            <a:srgbClr val="F3F5F8"/>
          </a:solidFill>
          <a:ln/>
        </p:spPr>
      </p:sp>
      <p:sp>
        <p:nvSpPr>
          <p:cNvPr id="7" name="Shape 5"/>
          <p:cNvSpPr/>
          <p:nvPr/>
        </p:nvSpPr>
        <p:spPr>
          <a:xfrm>
            <a:off x="713232" y="1554480"/>
            <a:ext cx="457200" cy="4572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04672" y="1645920"/>
            <a:ext cx="274320" cy="274320"/>
          </a:xfrm>
          <a:prstGeom prst="rect">
            <a:avLst/>
          </a:prstGeom>
        </p:spPr>
      </p:pic>
      <p:sp>
        <p:nvSpPr>
          <p:cNvPr id="9" name="Text 6"/>
          <p:cNvSpPr txBox="1"/>
          <p:nvPr/>
        </p:nvSpPr>
        <p:spPr>
          <a:xfrm>
            <a:off x="1261872" y="1554480"/>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プロンプト・ナレッジの更新</a:t>
            </a:r>
            <a:endParaRPr lang="en-US" sz="1300" dirty="0"/>
          </a:p>
        </p:txBody>
      </p:sp>
      <p:sp>
        <p:nvSpPr>
          <p:cNvPr id="10" name="Text 7"/>
          <p:cNvSpPr txBox="1"/>
          <p:nvPr/>
        </p:nvSpPr>
        <p:spPr>
          <a:xfrm>
            <a:off x="73152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ガイドラインや好事例を誰がいつ更新するか</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国別のルールの管理方法</a:t>
            </a:r>
            <a:endParaRPr lang="en-US" sz="1200" dirty="0"/>
          </a:p>
        </p:txBody>
      </p:sp>
      <p:sp>
        <p:nvSpPr>
          <p:cNvPr id="11" name="Shape 8"/>
          <p:cNvSpPr/>
          <p:nvPr/>
        </p:nvSpPr>
        <p:spPr>
          <a:xfrm>
            <a:off x="4297680" y="1417320"/>
            <a:ext cx="3566160" cy="2331720"/>
          </a:xfrm>
          <a:prstGeom prst="roundRect">
            <a:avLst>
              <a:gd name="adj" fmla="val 2353"/>
            </a:avLst>
          </a:prstGeom>
          <a:solidFill>
            <a:srgbClr val="F3F5F8"/>
          </a:solidFill>
          <a:ln/>
        </p:spPr>
      </p:sp>
      <p:sp>
        <p:nvSpPr>
          <p:cNvPr id="12" name="Shape 9"/>
          <p:cNvSpPr/>
          <p:nvPr/>
        </p:nvSpPr>
        <p:spPr>
          <a:xfrm>
            <a:off x="4462272" y="1554480"/>
            <a:ext cx="457200" cy="457200"/>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4553712" y="1645920"/>
            <a:ext cx="274320" cy="274320"/>
          </a:xfrm>
          <a:prstGeom prst="rect">
            <a:avLst/>
          </a:prstGeom>
        </p:spPr>
      </p:pic>
      <p:sp>
        <p:nvSpPr>
          <p:cNvPr id="14" name="Text 10"/>
          <p:cNvSpPr txBox="1"/>
          <p:nvPr/>
        </p:nvSpPr>
        <p:spPr>
          <a:xfrm>
            <a:off x="5010912" y="1554480"/>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出力品質の継続的な評価</a:t>
            </a:r>
            <a:endParaRPr lang="en-US" sz="1300" dirty="0"/>
          </a:p>
        </p:txBody>
      </p:sp>
      <p:sp>
        <p:nvSpPr>
          <p:cNvPr id="15" name="Text 11"/>
          <p:cNvSpPr txBox="1"/>
          <p:nvPr/>
        </p:nvSpPr>
        <p:spPr>
          <a:xfrm>
            <a:off x="448056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抜き取りレビューと評価基準（ルーブリック）</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採用率・修正量などの指標を取るか</a:t>
            </a:r>
            <a:endParaRPr lang="en-US" sz="1200" dirty="0"/>
          </a:p>
        </p:txBody>
      </p:sp>
      <p:sp>
        <p:nvSpPr>
          <p:cNvPr id="16" name="Shape 12"/>
          <p:cNvSpPr/>
          <p:nvPr/>
        </p:nvSpPr>
        <p:spPr>
          <a:xfrm>
            <a:off x="8046720" y="1417320"/>
            <a:ext cx="3566160" cy="2331720"/>
          </a:xfrm>
          <a:prstGeom prst="roundRect">
            <a:avLst>
              <a:gd name="adj" fmla="val 2353"/>
            </a:avLst>
          </a:prstGeom>
          <a:solidFill>
            <a:srgbClr val="F3F5F8"/>
          </a:solidFill>
          <a:ln/>
        </p:spPr>
      </p:sp>
      <p:sp>
        <p:nvSpPr>
          <p:cNvPr id="17" name="Shape 13"/>
          <p:cNvSpPr/>
          <p:nvPr/>
        </p:nvSpPr>
        <p:spPr>
          <a:xfrm>
            <a:off x="8211312" y="1554480"/>
            <a:ext cx="457200" cy="457200"/>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8302752" y="1645920"/>
            <a:ext cx="274320" cy="274320"/>
          </a:xfrm>
          <a:prstGeom prst="rect">
            <a:avLst/>
          </a:prstGeom>
        </p:spPr>
      </p:pic>
      <p:sp>
        <p:nvSpPr>
          <p:cNvPr id="19" name="Text 14"/>
          <p:cNvSpPr txBox="1"/>
          <p:nvPr/>
        </p:nvSpPr>
        <p:spPr>
          <a:xfrm>
            <a:off x="8759952" y="1554480"/>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モデル更新による出力の変化</a:t>
            </a:r>
            <a:endParaRPr lang="en-US" sz="1300" dirty="0"/>
          </a:p>
        </p:txBody>
      </p:sp>
      <p:sp>
        <p:nvSpPr>
          <p:cNvPr id="20" name="Text 15"/>
          <p:cNvSpPr txBox="1"/>
          <p:nvPr/>
        </p:nvSpPr>
        <p:spPr>
          <a:xfrm>
            <a:off x="822960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プラットフォーム側のモデル更新で出力が変わる</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定期的なテストケースでの確認</a:t>
            </a:r>
            <a:endParaRPr lang="en-US" sz="1200" dirty="0"/>
          </a:p>
        </p:txBody>
      </p:sp>
      <p:sp>
        <p:nvSpPr>
          <p:cNvPr id="21" name="Shape 16"/>
          <p:cNvSpPr/>
          <p:nvPr/>
        </p:nvSpPr>
        <p:spPr>
          <a:xfrm>
            <a:off x="548640" y="3904488"/>
            <a:ext cx="3566160" cy="2331720"/>
          </a:xfrm>
          <a:prstGeom prst="roundRect">
            <a:avLst>
              <a:gd name="adj" fmla="val 2353"/>
            </a:avLst>
          </a:prstGeom>
          <a:solidFill>
            <a:srgbClr val="F3F5F8"/>
          </a:solidFill>
          <a:ln/>
        </p:spPr>
      </p:sp>
      <p:sp>
        <p:nvSpPr>
          <p:cNvPr id="22" name="Shape 17"/>
          <p:cNvSpPr/>
          <p:nvPr/>
        </p:nvSpPr>
        <p:spPr>
          <a:xfrm>
            <a:off x="713232" y="4041648"/>
            <a:ext cx="457200" cy="457200"/>
          </a:xfrm>
          <a:prstGeom prst="ellipse">
            <a:avLst/>
          </a:prstGeom>
          <a:solidFill>
            <a:srgbClr val="FFFFFF"/>
          </a:solidFill>
          <a:ln/>
        </p:spPr>
      </p:sp>
      <p:pic>
        <p:nvPicPr>
          <p:cNvPr id="23" name="Image 3" descr="preencoded.png">    </p:cNvPr>
          <p:cNvPicPr>
            <a:picLocks noChangeAspect="1"/>
          </p:cNvPicPr>
          <p:nvPr/>
        </p:nvPicPr>
        <p:blipFill>
          <a:blip r:embed="rId4"/>
          <a:stretch>
            <a:fillRect/>
          </a:stretch>
        </p:blipFill>
        <p:spPr>
          <a:xfrm>
            <a:off x="804672" y="4133088"/>
            <a:ext cx="274320" cy="274320"/>
          </a:xfrm>
          <a:prstGeom prst="rect">
            <a:avLst/>
          </a:prstGeom>
        </p:spPr>
      </p:pic>
      <p:sp>
        <p:nvSpPr>
          <p:cNvPr id="24" name="Text 18"/>
          <p:cNvSpPr txBox="1"/>
          <p:nvPr/>
        </p:nvSpPr>
        <p:spPr>
          <a:xfrm>
            <a:off x="1261872" y="4041648"/>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障害時の切り戻し</a:t>
            </a:r>
            <a:endParaRPr lang="en-US" sz="1300" dirty="0"/>
          </a:p>
        </p:txBody>
      </p:sp>
      <p:sp>
        <p:nvSpPr>
          <p:cNvPr id="25" name="Text 19"/>
          <p:cNvSpPr txBox="1"/>
          <p:nvPr/>
        </p:nvSpPr>
        <p:spPr>
          <a:xfrm>
            <a:off x="73152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生成・連携が止まったときに手作業へ戻す手順</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エラーの通知先と対応者</a:t>
            </a:r>
            <a:endParaRPr lang="en-US" sz="1200" dirty="0"/>
          </a:p>
        </p:txBody>
      </p:sp>
      <p:sp>
        <p:nvSpPr>
          <p:cNvPr id="26" name="Shape 20"/>
          <p:cNvSpPr/>
          <p:nvPr/>
        </p:nvSpPr>
        <p:spPr>
          <a:xfrm>
            <a:off x="4297680" y="3904488"/>
            <a:ext cx="3566160" cy="2331720"/>
          </a:xfrm>
          <a:prstGeom prst="roundRect">
            <a:avLst>
              <a:gd name="adj" fmla="val 2353"/>
            </a:avLst>
          </a:prstGeom>
          <a:solidFill>
            <a:srgbClr val="F3F5F8"/>
          </a:solidFill>
          <a:ln/>
        </p:spPr>
      </p:sp>
      <p:sp>
        <p:nvSpPr>
          <p:cNvPr id="27" name="Shape 21"/>
          <p:cNvSpPr/>
          <p:nvPr/>
        </p:nvSpPr>
        <p:spPr>
          <a:xfrm>
            <a:off x="4462272" y="4041648"/>
            <a:ext cx="457200" cy="457200"/>
          </a:xfrm>
          <a:prstGeom prst="ellipse">
            <a:avLst/>
          </a:prstGeom>
          <a:solidFill>
            <a:srgbClr val="FFFFFF"/>
          </a:solidFill>
          <a:ln/>
        </p:spPr>
      </p:sp>
      <p:pic>
        <p:nvPicPr>
          <p:cNvPr id="28" name="Image 4" descr="preencoded.png">    </p:cNvPr>
          <p:cNvPicPr>
            <a:picLocks noChangeAspect="1"/>
          </p:cNvPicPr>
          <p:nvPr/>
        </p:nvPicPr>
        <p:blipFill>
          <a:blip r:embed="rId5"/>
          <a:stretch>
            <a:fillRect/>
          </a:stretch>
        </p:blipFill>
        <p:spPr>
          <a:xfrm>
            <a:off x="4553712" y="4133088"/>
            <a:ext cx="274320" cy="274320"/>
          </a:xfrm>
          <a:prstGeom prst="rect">
            <a:avLst/>
          </a:prstGeom>
        </p:spPr>
      </p:pic>
      <p:sp>
        <p:nvSpPr>
          <p:cNvPr id="29" name="Text 22"/>
          <p:cNvSpPr txBox="1"/>
          <p:nvPr/>
        </p:nvSpPr>
        <p:spPr>
          <a:xfrm>
            <a:off x="5010912" y="4041648"/>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利用ログ・監査</a:t>
            </a:r>
            <a:endParaRPr lang="en-US" sz="1300" dirty="0"/>
          </a:p>
        </p:txBody>
      </p:sp>
      <p:sp>
        <p:nvSpPr>
          <p:cNvPr id="30" name="Text 23"/>
          <p:cNvSpPr txBox="1"/>
          <p:nvPr/>
        </p:nvSpPr>
        <p:spPr>
          <a:xfrm>
            <a:off x="448056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誰が何を生成し、誰が承認したかの記録</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生成物の保存期間</a:t>
            </a:r>
            <a:endParaRPr lang="en-US" sz="1200" dirty="0"/>
          </a:p>
        </p:txBody>
      </p:sp>
      <p:sp>
        <p:nvSpPr>
          <p:cNvPr id="31" name="Shape 24"/>
          <p:cNvSpPr/>
          <p:nvPr/>
        </p:nvSpPr>
        <p:spPr>
          <a:xfrm>
            <a:off x="8046720" y="3904488"/>
            <a:ext cx="3566160" cy="2331720"/>
          </a:xfrm>
          <a:prstGeom prst="roundRect">
            <a:avLst>
              <a:gd name="adj" fmla="val 2353"/>
            </a:avLst>
          </a:prstGeom>
          <a:solidFill>
            <a:srgbClr val="F3F5F8"/>
          </a:solidFill>
          <a:ln/>
        </p:spPr>
      </p:sp>
      <p:sp>
        <p:nvSpPr>
          <p:cNvPr id="32" name="Shape 25"/>
          <p:cNvSpPr/>
          <p:nvPr/>
        </p:nvSpPr>
        <p:spPr>
          <a:xfrm>
            <a:off x="8211312" y="4041648"/>
            <a:ext cx="457200" cy="457200"/>
          </a:xfrm>
          <a:prstGeom prst="ellipse">
            <a:avLst/>
          </a:prstGeom>
          <a:solidFill>
            <a:srgbClr val="FFFFFF"/>
          </a:solidFill>
          <a:ln/>
        </p:spPr>
      </p:sp>
      <p:pic>
        <p:nvPicPr>
          <p:cNvPr id="33" name="Image 5" descr="preencoded.png">    </p:cNvPr>
          <p:cNvPicPr>
            <a:picLocks noChangeAspect="1"/>
          </p:cNvPicPr>
          <p:nvPr/>
        </p:nvPicPr>
        <p:blipFill>
          <a:blip r:embed="rId6"/>
          <a:stretch>
            <a:fillRect/>
          </a:stretch>
        </p:blipFill>
        <p:spPr>
          <a:xfrm>
            <a:off x="8302752" y="4133088"/>
            <a:ext cx="274320" cy="274320"/>
          </a:xfrm>
          <a:prstGeom prst="rect">
            <a:avLst/>
          </a:prstGeom>
        </p:spPr>
      </p:pic>
      <p:sp>
        <p:nvSpPr>
          <p:cNvPr id="34" name="Text 26"/>
          <p:cNvSpPr txBox="1"/>
          <p:nvPr/>
        </p:nvSpPr>
        <p:spPr>
          <a:xfrm>
            <a:off x="8759952" y="4041648"/>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権限と機密情報</a:t>
            </a:r>
            <a:endParaRPr lang="en-US" sz="1300" dirty="0"/>
          </a:p>
        </p:txBody>
      </p:sp>
      <p:sp>
        <p:nvSpPr>
          <p:cNvPr id="35" name="Text 27"/>
          <p:cNvSpPr txBox="1"/>
          <p:nvPr/>
        </p:nvSpPr>
        <p:spPr>
          <a:xfrm>
            <a:off x="822960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AIが参照できる資料の範囲</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国・部署ごとの権限の分け方</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AIの実行方式：Copilot StudioのエージェントとAI Builderのプロンプト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M365側の各パターンでは、AIの実行方式を2つから選べる（組み合わせも可能）。どちらもCopilotクレジットで課金される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1280160"/>
                <a:gridCol w="2377440"/>
                <a:gridCol w="2377440"/>
              </a:tblGrid>
              <a:tr h="347472">
                <a:tc>
                  <a:txBody>
                    <a:bodyPr/>
                    <a:lstStyle/>
                    <a:p>
                      <a:pPr algn="ctr" indent="0" marL="0">
                        <a:buNone/>
                      </a:pP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AI Builderのプロンプト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Copilot Studioのエージェント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r>
              <a:tr h="56692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動き方</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1回の依頼に1回答える（決まった処理の部品）</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会話しながら、ツールや知識を使い分ける</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会話</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なし（毎回単発）</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あり</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外部の操作</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しない（呼び出したフロー・アプリ側で行う）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ツールで行える</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6692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出力の安定性</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指示と出力形式を固定しやすく、安定しやすい</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エージェントの判断が入るため、揺れる余地がある</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向いている用途</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「この項目の下書きを作る」など決まった処理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対話での相談・修正、複数の手順をこなす処理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6692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呼び出し元</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Power Automate、Power Apps（キャンバスは関数から直接）</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Teams・Copilot Chat、Power Automate、code apps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6766560" y="1371600"/>
          <a:ext cx="4846320" cy="914400"/>
        </p:xfrm>
        <a:graphic>
          <a:graphicData uri="http://schemas.openxmlformats.org/drawingml/2006/table">
            <a:tbl>
              <a:tblPr/>
              <a:tblGrid>
                <a:gridCol w="731520"/>
                <a:gridCol w="1828800"/>
                <a:gridCol w="2286000"/>
              </a:tblGrid>
              <a:tr h="347472">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パターン</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選べる実行方式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A3</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Copilot Studioエージェント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A4</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Power Automateで自動起案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エージェント／プロンプト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A5</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Listsに移行</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エージェント／プロンプト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A6</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キャンバスアプリ</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エージェント／プロンプト（関数から直接）</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A7・A8</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code apps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エージェント（対話）＋プロンプト（初回の起案）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H1</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Copilot Studio＋GCP API</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P7・P9</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Airtable連携の自動起案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エージェント／プロンプト（O7）</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8" name="Shape 4"/>
          <p:cNvSpPr/>
          <p:nvPr/>
        </p:nvSpPr>
        <p:spPr>
          <a:xfrm>
            <a:off x="548640" y="5074920"/>
            <a:ext cx="11064240" cy="1234440"/>
          </a:xfrm>
          <a:prstGeom prst="roundRect">
            <a:avLst>
              <a:gd name="adj" fmla="val 4444"/>
            </a:avLst>
          </a:prstGeom>
          <a:solidFill>
            <a:srgbClr val="D9F2F1"/>
          </a:solidFill>
          <a:ln/>
        </p:spPr>
      </p:sp>
      <p:sp>
        <p:nvSpPr>
          <p:cNvPr id="9" name="Shape 5"/>
          <p:cNvSpPr/>
          <p:nvPr/>
        </p:nvSpPr>
        <p:spPr>
          <a:xfrm>
            <a:off x="685800" y="5440680"/>
            <a:ext cx="502920" cy="502920"/>
          </a:xfrm>
          <a:prstGeom prst="ellipse">
            <a:avLst/>
          </a:prstGeom>
          <a:solidFill>
            <a:srgbClr val="FFFFFF"/>
          </a:solidFill>
          <a:ln/>
        </p:spPr>
      </p:sp>
      <p:pic>
        <p:nvPicPr>
          <p:cNvPr id="10" name="Image 0" descr="preencoded.png">    </p:cNvPr>
          <p:cNvPicPr>
            <a:picLocks noChangeAspect="1"/>
          </p:cNvPicPr>
          <p:nvPr/>
        </p:nvPicPr>
        <p:blipFill>
          <a:blip r:embed="rId1"/>
          <a:stretch>
            <a:fillRect/>
          </a:stretch>
        </p:blipFill>
        <p:spPr>
          <a:xfrm>
            <a:off x="786384" y="5541264"/>
            <a:ext cx="301752" cy="301752"/>
          </a:xfrm>
          <a:prstGeom prst="rect">
            <a:avLst/>
          </a:prstGeom>
        </p:spPr>
      </p:pic>
      <p:sp>
        <p:nvSpPr>
          <p:cNvPr id="11" name="Text 6"/>
          <p:cNvSpPr txBox="1"/>
          <p:nvPr/>
        </p:nvSpPr>
        <p:spPr>
          <a:xfrm>
            <a:off x="1325880" y="5074920"/>
            <a:ext cx="10149840" cy="1234440"/>
          </a:xfrm>
          <a:prstGeom prst="rect">
            <a:avLst/>
          </a:prstGeom>
          <a:noFill/>
          <a:ln/>
        </p:spPr>
        <p:txBody>
          <a:bodyPr wrap="square" lIns="0" tIns="0" rIns="0" bIns="0" rtlCol="0" anchor="ctr"/>
          <a:lstStyle/>
          <a:p>
            <a:pPr indent="0" marL="0">
              <a:buNone/>
            </a:pPr>
            <a:r>
              <a:rPr lang="en-US" sz="1050" b="1" dirty="0">
                <a:solidFill>
                  <a:srgbClr val="0E9F9A"/>
                </a:solidFill>
                <a:latin typeface="Meiryo UI" pitchFamily="34" charset="0"/>
                <a:ea typeface="Meiryo UI" pitchFamily="34" charset="-122"/>
                <a:cs typeface="Meiryo UI" pitchFamily="34" charset="-120"/>
              </a:rPr>
              <a:t>使い分けの例：</a:t>
            </a:r>
            <a:endParaRPr lang="en-US" sz="1050" dirty="0"/>
          </a:p>
          <a:p>
            <a:pPr indent="0" marL="0">
              <a:buNone/>
            </a:pPr>
            <a:r>
              <a:rPr lang="en-US" sz="1050" dirty="0">
                <a:solidFill>
                  <a:srgbClr val="000000"/>
                </a:solidFill>
                <a:latin typeface="Meiryo UI" pitchFamily="34" charset="0"/>
                <a:ea typeface="Meiryo UI" pitchFamily="34" charset="-122"/>
                <a:cs typeface="Meiryo UI" pitchFamily="34" charset="-120"/>
              </a:rPr>
              <a:t>初回の自動起案（カード情報と候補を渡して下書きをJSONで返す）はAI Builderのプロンプト、対話での修正はCopilot Studioのエージェント、と分担することもできる。単発の生成で足りる場面では、プロンプトの方が組み立てが簡単で出力も安定しやすい</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権限管理の比較：M365側とGCP側</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「ライセンス（機能の利用権）」と「権限（データへのアクセス）」を分けて比べる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03120"/>
                <a:gridCol w="4480560"/>
                <a:gridCol w="4480560"/>
              </a:tblGrid>
              <a:tr h="347472">
                <a:tc>
                  <a:txBody>
                    <a:bodyPr/>
                    <a:lstStyle/>
                    <a:p>
                      <a:pPr algn="ctr" indent="0" marL="0">
                        <a:buNone/>
                      </a:pP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M365側（Power Platform・Copilot Studio）</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GCP側（Cloud Run・Agent Platform）</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r>
              <a:tr h="41148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利用者の認証</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Entra ID（M365のサインイン）</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Cloud Runの入口で認証（IAPなど。Entra IDとのSSO連携も可）</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0292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機能の利用権（ライセンス）</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機能ごとに、利用者単位・フロー単位・容量のライセンスが必要（→参考ページ）</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利用者単位のライセンスは基本なし（Gemini Enterpriseを除く）。従量課金</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データへのアクセス制御</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利用者本人の権限で動く（SharePoint・Dataverseの権限がそのまま効く）</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Cloud Runより後ろはサービスアカウントの権限で動く。利用者ごとの制御はアプリで作る</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AI・APIの呼び出し</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Copilot Studio・コネクタの接続（利用者、または作成者の権限）</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サービスアカウントでGemini・BigQueryを呼ぶ（IAMで一元管理）</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1148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Airtableへの認証</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フローやコネクタの接続にPATを保管</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Secret ManagerにPATを保管し、アプリから利用</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6692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操作記録</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M365・Power Platformの監査ログに利用者単位で残る。必要に応じてDataverseにやり取りを記録</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アプリがCloud Loggingに記録（利用者・カード・操作）→ BigQuery → Looker Studioで確認。標準のログには利用者は残らない</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国別の権限の分離</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環境・Dataverseのロール・SharePointサイトの権限で分ける</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アプリで国ごとの権限を実装（IAPのグループ、データの分け方）</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7" name="Shape 4"/>
          <p:cNvSpPr/>
          <p:nvPr/>
        </p:nvSpPr>
        <p:spPr>
          <a:xfrm>
            <a:off x="548640" y="5120640"/>
            <a:ext cx="5486400" cy="1188720"/>
          </a:xfrm>
          <a:prstGeom prst="roundRect">
            <a:avLst>
              <a:gd name="adj" fmla="val 4615"/>
            </a:avLst>
          </a:prstGeom>
          <a:solidFill>
            <a:srgbClr val="E5F0FA"/>
          </a:solidFill>
          <a:ln/>
        </p:spPr>
      </p:sp>
      <p:sp>
        <p:nvSpPr>
          <p:cNvPr id="8" name="Text 5"/>
          <p:cNvSpPr txBox="1"/>
          <p:nvPr/>
        </p:nvSpPr>
        <p:spPr>
          <a:xfrm>
            <a:off x="731520" y="5193792"/>
            <a:ext cx="1828800" cy="292608"/>
          </a:xfrm>
          <a:prstGeom prst="rect">
            <a:avLst/>
          </a:prstGeom>
          <a:noFill/>
          <a:ln/>
        </p:spPr>
        <p:txBody>
          <a:bodyPr wrap="square" lIns="508" tIns="508" rIns="508" bIns="508" rtlCol="0" anchor="ctr"/>
          <a:lstStyle/>
          <a:p>
            <a:pPr indent="0" marL="0">
              <a:buNone/>
            </a:pPr>
            <a:r>
              <a:rPr lang="en-US" sz="1200" b="1" dirty="0">
                <a:solidFill>
                  <a:srgbClr val="0F6CBD"/>
                </a:solidFill>
                <a:latin typeface="Meiryo UI" pitchFamily="34" charset="0"/>
                <a:ea typeface="Meiryo UI" pitchFamily="34" charset="-122"/>
                <a:cs typeface="Meiryo UI" pitchFamily="34" charset="-120"/>
              </a:rPr>
              <a:t>M365側</a:t>
            </a:r>
            <a:endParaRPr lang="en-US" sz="1200" dirty="0"/>
          </a:p>
        </p:txBody>
      </p:sp>
      <p:sp>
        <p:nvSpPr>
          <p:cNvPr id="9" name="Text 6"/>
          <p:cNvSpPr txBox="1"/>
          <p:nvPr/>
        </p:nvSpPr>
        <p:spPr>
          <a:xfrm>
            <a:off x="731520" y="5504688"/>
            <a:ext cx="5120640" cy="749808"/>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利用者単位の権限が標準で効き、操作記録も残る。一方、ライセンスと設定の層が多く、人が増えるとライセンスの手間が増える</a:t>
            </a:r>
            <a:endParaRPr lang="en-US" sz="1050" dirty="0"/>
          </a:p>
        </p:txBody>
      </p:sp>
      <p:sp>
        <p:nvSpPr>
          <p:cNvPr id="10" name="Shape 7"/>
          <p:cNvSpPr/>
          <p:nvPr/>
        </p:nvSpPr>
        <p:spPr>
          <a:xfrm>
            <a:off x="6126480" y="5120640"/>
            <a:ext cx="5486400" cy="1188720"/>
          </a:xfrm>
          <a:prstGeom prst="roundRect">
            <a:avLst>
              <a:gd name="adj" fmla="val 4615"/>
            </a:avLst>
          </a:prstGeom>
          <a:solidFill>
            <a:srgbClr val="E8F0FE"/>
          </a:solidFill>
          <a:ln/>
        </p:spPr>
      </p:sp>
      <p:sp>
        <p:nvSpPr>
          <p:cNvPr id="11" name="Text 8"/>
          <p:cNvSpPr txBox="1"/>
          <p:nvPr/>
        </p:nvSpPr>
        <p:spPr>
          <a:xfrm>
            <a:off x="6309360" y="5193792"/>
            <a:ext cx="1828800" cy="292608"/>
          </a:xfrm>
          <a:prstGeom prst="rect">
            <a:avLst/>
          </a:prstGeom>
          <a:noFill/>
          <a:ln/>
        </p:spPr>
        <p:txBody>
          <a:bodyPr wrap="square" lIns="508" tIns="508" rIns="508" bIns="508" rtlCol="0" anchor="ctr"/>
          <a:lstStyle/>
          <a:p>
            <a:pPr indent="0" marL="0">
              <a:buNone/>
            </a:pPr>
            <a:r>
              <a:rPr lang="en-US" sz="1200" b="1" dirty="0">
                <a:solidFill>
                  <a:srgbClr val="4285F4"/>
                </a:solidFill>
                <a:latin typeface="Meiryo UI" pitchFamily="34" charset="0"/>
                <a:ea typeface="Meiryo UI" pitchFamily="34" charset="-122"/>
                <a:cs typeface="Meiryo UI" pitchFamily="34" charset="-120"/>
              </a:rPr>
              <a:t>GCP側</a:t>
            </a:r>
            <a:endParaRPr lang="en-US" sz="1200" dirty="0"/>
          </a:p>
        </p:txBody>
      </p:sp>
      <p:sp>
        <p:nvSpPr>
          <p:cNvPr id="12" name="Text 9"/>
          <p:cNvSpPr txBox="1"/>
          <p:nvPr/>
        </p:nvSpPr>
        <p:spPr>
          <a:xfrm>
            <a:off x="6309360" y="5504688"/>
            <a:ext cx="5120640" cy="749808"/>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サービスアカウントでまとめられ、設定はシンプル。一方、利用者ごとの権限の制御と操作記録はアプリで作る必要がある</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A1｜Copilot手動アシスト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既存のM365 Copilotとプロンプト集だけで始める、最も手軽な構成</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22</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Step1</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1920240" cy="566928"/>
          </a:xfrm>
          <a:prstGeom prst="roundRect">
            <a:avLst>
              <a:gd name="adj" fmla="val 12903"/>
            </a:avLst>
          </a:prstGeom>
          <a:solidFill>
            <a:srgbClr val="E3EAF5"/>
          </a:solidFill>
          <a:ln/>
        </p:spPr>
      </p:sp>
      <p:pic>
        <p:nvPicPr>
          <p:cNvPr id="18" name="Image 0" descr="preencoded.png">    </p:cNvPr>
          <p:cNvPicPr>
            <a:picLocks noChangeAspect="1"/>
          </p:cNvPicPr>
          <p:nvPr/>
        </p:nvPicPr>
        <p:blipFill>
          <a:blip r:embed="rId1"/>
          <a:stretch>
            <a:fillRect/>
          </a:stretch>
        </p:blipFill>
        <p:spPr>
          <a:xfrm>
            <a:off x="841248" y="2112264"/>
            <a:ext cx="365760" cy="365760"/>
          </a:xfrm>
          <a:prstGeom prst="rect">
            <a:avLst/>
          </a:prstGeom>
        </p:spPr>
      </p:pic>
      <p:sp>
        <p:nvSpPr>
          <p:cNvPr id="19" name="Text 16"/>
          <p:cNvSpPr txBox="1"/>
          <p:nvPr/>
        </p:nvSpPr>
        <p:spPr>
          <a:xfrm>
            <a:off x="1298448" y="20116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ポリシー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Excel</a:t>
            </a:r>
            <a:endParaRPr lang="en-US" sz="1050" dirty="0"/>
          </a:p>
        </p:txBody>
      </p:sp>
      <p:sp>
        <p:nvSpPr>
          <p:cNvPr id="20" name="Shape 17"/>
          <p:cNvSpPr/>
          <p:nvPr/>
        </p:nvSpPr>
        <p:spPr>
          <a:xfrm>
            <a:off x="2697480" y="2295144"/>
            <a:ext cx="320040" cy="676656"/>
          </a:xfrm>
          <a:prstGeom prst="line">
            <a:avLst/>
          </a:prstGeom>
          <a:noFill/>
          <a:ln w="22225">
            <a:solidFill>
              <a:srgbClr val="9AA5B4"/>
            </a:solidFill>
            <a:prstDash val="solid"/>
            <a:tailEnd type="triangle"/>
          </a:ln>
        </p:spPr>
      </p:sp>
      <p:sp>
        <p:nvSpPr>
          <p:cNvPr id="21" name="Shape 18"/>
          <p:cNvSpPr/>
          <p:nvPr/>
        </p:nvSpPr>
        <p:spPr>
          <a:xfrm>
            <a:off x="731520" y="2697480"/>
            <a:ext cx="1920240" cy="566928"/>
          </a:xfrm>
          <a:prstGeom prst="roundRect">
            <a:avLst>
              <a:gd name="adj" fmla="val 12903"/>
            </a:avLst>
          </a:prstGeom>
          <a:solidFill>
            <a:srgbClr val="E3EAF5"/>
          </a:solidFill>
          <a:ln/>
        </p:spPr>
      </p:sp>
      <p:pic>
        <p:nvPicPr>
          <p:cNvPr id="22" name="Image 1" descr="preencoded.png">    </p:cNvPr>
          <p:cNvPicPr>
            <a:picLocks noChangeAspect="1"/>
          </p:cNvPicPr>
          <p:nvPr/>
        </p:nvPicPr>
        <p:blipFill>
          <a:blip r:embed="rId2"/>
          <a:stretch>
            <a:fillRect/>
          </a:stretch>
        </p:blipFill>
        <p:spPr>
          <a:xfrm>
            <a:off x="841248" y="2798064"/>
            <a:ext cx="365760" cy="365760"/>
          </a:xfrm>
          <a:prstGeom prst="rect">
            <a:avLst/>
          </a:prstGeom>
        </p:spPr>
      </p:pic>
      <p:sp>
        <p:nvSpPr>
          <p:cNvPr id="23" name="Text 19"/>
          <p:cNvSpPr txBox="1"/>
          <p:nvPr/>
        </p:nvSpPr>
        <p:spPr>
          <a:xfrm>
            <a:off x="1298448" y="26974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売上・在庫</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BQ出力ファイル</a:t>
            </a:r>
            <a:endParaRPr lang="en-US" sz="1050" dirty="0"/>
          </a:p>
        </p:txBody>
      </p:sp>
      <p:sp>
        <p:nvSpPr>
          <p:cNvPr id="24" name="Shape 20"/>
          <p:cNvSpPr/>
          <p:nvPr/>
        </p:nvSpPr>
        <p:spPr>
          <a:xfrm flipV="1">
            <a:off x="2697480" y="2971800"/>
            <a:ext cx="320040" cy="9144"/>
          </a:xfrm>
          <a:prstGeom prst="line">
            <a:avLst/>
          </a:prstGeom>
          <a:noFill/>
          <a:ln w="22225">
            <a:solidFill>
              <a:srgbClr val="9AA5B4"/>
            </a:solidFill>
            <a:prstDash val="solid"/>
            <a:tailEnd type="triangle"/>
          </a:ln>
        </p:spPr>
      </p:sp>
      <p:sp>
        <p:nvSpPr>
          <p:cNvPr id="25" name="Shape 21"/>
          <p:cNvSpPr/>
          <p:nvPr/>
        </p:nvSpPr>
        <p:spPr>
          <a:xfrm>
            <a:off x="731520" y="3383280"/>
            <a:ext cx="1920240" cy="566928"/>
          </a:xfrm>
          <a:prstGeom prst="roundRect">
            <a:avLst>
              <a:gd name="adj" fmla="val 12903"/>
            </a:avLst>
          </a:prstGeom>
          <a:solidFill>
            <a:srgbClr val="E3EAF5"/>
          </a:solidFill>
          <a:ln/>
        </p:spPr>
      </p:sp>
      <p:pic>
        <p:nvPicPr>
          <p:cNvPr id="26" name="Image 2" descr="preencoded.png">    </p:cNvPr>
          <p:cNvPicPr>
            <a:picLocks noChangeAspect="1"/>
          </p:cNvPicPr>
          <p:nvPr/>
        </p:nvPicPr>
        <p:blipFill>
          <a:blip r:embed="rId3"/>
          <a:stretch>
            <a:fillRect/>
          </a:stretch>
        </p:blipFill>
        <p:spPr>
          <a:xfrm>
            <a:off x="841248" y="3483864"/>
            <a:ext cx="365760" cy="365760"/>
          </a:xfrm>
          <a:prstGeom prst="rect">
            <a:avLst/>
          </a:prstGeom>
        </p:spPr>
      </p:pic>
      <p:sp>
        <p:nvSpPr>
          <p:cNvPr id="27" name="Text 22"/>
          <p:cNvSpPr txBox="1"/>
          <p:nvPr/>
        </p:nvSpPr>
        <p:spPr>
          <a:xfrm>
            <a:off x="1298448" y="33832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商品マスタ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a:t>
            </a:r>
            <a:endParaRPr lang="en-US" sz="1050" dirty="0"/>
          </a:p>
        </p:txBody>
      </p:sp>
      <p:sp>
        <p:nvSpPr>
          <p:cNvPr id="28" name="Shape 23"/>
          <p:cNvSpPr/>
          <p:nvPr/>
        </p:nvSpPr>
        <p:spPr>
          <a:xfrm flipV="1">
            <a:off x="2697480" y="2971800"/>
            <a:ext cx="320040" cy="694944"/>
          </a:xfrm>
          <a:prstGeom prst="line">
            <a:avLst/>
          </a:prstGeom>
          <a:noFill/>
          <a:ln w="22225">
            <a:solidFill>
              <a:srgbClr val="9AA5B4"/>
            </a:solidFill>
            <a:prstDash val="solid"/>
            <a:tailEnd type="triangle"/>
          </a:ln>
        </p:spPr>
      </p:sp>
      <p:sp>
        <p:nvSpPr>
          <p:cNvPr id="29" name="Text 24"/>
          <p:cNvSpPr txBox="1"/>
          <p:nvPr/>
        </p:nvSpPr>
        <p:spPr>
          <a:xfrm>
            <a:off x="731520" y="4069080"/>
            <a:ext cx="1920240" cy="256032"/>
          </a:xfrm>
          <a:prstGeom prst="rect">
            <a:avLst/>
          </a:prstGeom>
          <a:noFill/>
          <a:ln/>
        </p:spPr>
        <p:txBody>
          <a:bodyPr wrap="square" lIns="508" tIns="508" rIns="508" bIns="508" rtlCol="0" anchor="t"/>
          <a:lstStyle/>
          <a:p>
            <a:pPr algn="ctr" indent="0" marL="0">
              <a:buNone/>
            </a:pPr>
            <a:r>
              <a:rPr lang="en-US" sz="900" b="1" dirty="0">
                <a:solidFill>
                  <a:srgbClr val="E8912D"/>
                </a:solidFill>
                <a:latin typeface="Meiryo UI" pitchFamily="34" charset="0"/>
                <a:ea typeface="Meiryo UI" pitchFamily="34" charset="-122"/>
                <a:cs typeface="Meiryo UI" pitchFamily="34" charset="-120"/>
              </a:rPr>
              <a:t>人が収集・添付</a:t>
            </a:r>
            <a:endParaRPr lang="en-US" sz="900" dirty="0"/>
          </a:p>
        </p:txBody>
      </p:sp>
      <p:sp>
        <p:nvSpPr>
          <p:cNvPr id="30" name="Shape 25"/>
          <p:cNvSpPr/>
          <p:nvPr/>
        </p:nvSpPr>
        <p:spPr>
          <a:xfrm>
            <a:off x="3063240" y="2194560"/>
            <a:ext cx="1828800" cy="1600200"/>
          </a:xfrm>
          <a:prstGeom prst="roundRect">
            <a:avLst>
              <a:gd name="adj" fmla="val 4571"/>
            </a:avLst>
          </a:prstGeom>
          <a:solidFill>
            <a:srgbClr val="0E9F9A"/>
          </a:solidFill>
          <a:ln/>
        </p:spPr>
      </p:sp>
      <p:sp>
        <p:nvSpPr>
          <p:cNvPr id="31" name="Shape 26"/>
          <p:cNvSpPr/>
          <p:nvPr/>
        </p:nvSpPr>
        <p:spPr>
          <a:xfrm>
            <a:off x="3648456" y="2304288"/>
            <a:ext cx="658368" cy="658368"/>
          </a:xfrm>
          <a:prstGeom prst="ellipse">
            <a:avLst/>
          </a:prstGeom>
          <a:solidFill>
            <a:srgbClr val="FFFFFF"/>
          </a:solidFill>
          <a:ln/>
        </p:spPr>
      </p:sp>
      <p:pic>
        <p:nvPicPr>
          <p:cNvPr id="32" name="Image 3" descr="preencoded.png">    </p:cNvPr>
          <p:cNvPicPr>
            <a:picLocks noChangeAspect="1"/>
          </p:cNvPicPr>
          <p:nvPr/>
        </p:nvPicPr>
        <p:blipFill>
          <a:blip r:embed="rId4"/>
          <a:stretch>
            <a:fillRect/>
          </a:stretch>
        </p:blipFill>
        <p:spPr>
          <a:xfrm>
            <a:off x="3749040" y="2404872"/>
            <a:ext cx="457200" cy="457200"/>
          </a:xfrm>
          <a:prstGeom prst="rect">
            <a:avLst/>
          </a:prstGeom>
        </p:spPr>
      </p:pic>
      <p:sp>
        <p:nvSpPr>
          <p:cNvPr id="33" name="Text 27"/>
          <p:cNvSpPr txBox="1"/>
          <p:nvPr/>
        </p:nvSpPr>
        <p:spPr>
          <a:xfrm>
            <a:off x="3108960" y="3008376"/>
            <a:ext cx="1737360" cy="73152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M365 Copilot</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プロンプト集＋</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ガイドラインMD</a:t>
            </a:r>
            <a:endParaRPr lang="en-US" sz="1050" dirty="0"/>
          </a:p>
        </p:txBody>
      </p:sp>
      <p:sp>
        <p:nvSpPr>
          <p:cNvPr id="34" name="Shape 28"/>
          <p:cNvSpPr/>
          <p:nvPr/>
        </p:nvSpPr>
        <p:spPr>
          <a:xfrm>
            <a:off x="4937760" y="2971800"/>
            <a:ext cx="320040" cy="0"/>
          </a:xfrm>
          <a:prstGeom prst="line">
            <a:avLst/>
          </a:prstGeom>
          <a:noFill/>
          <a:ln w="22225">
            <a:solidFill>
              <a:srgbClr val="9AA5B4"/>
            </a:solidFill>
            <a:prstDash val="solid"/>
            <a:tailEnd type="triangle"/>
          </a:ln>
        </p:spPr>
      </p:sp>
      <p:sp>
        <p:nvSpPr>
          <p:cNvPr id="35" name="Shape 29"/>
          <p:cNvSpPr/>
          <p:nvPr/>
        </p:nvSpPr>
        <p:spPr>
          <a:xfrm>
            <a:off x="5303520" y="2148840"/>
            <a:ext cx="2011680" cy="685800"/>
          </a:xfrm>
          <a:prstGeom prst="roundRect">
            <a:avLst>
              <a:gd name="adj" fmla="val 10667"/>
            </a:avLst>
          </a:prstGeom>
          <a:solidFill>
            <a:srgbClr val="FDEBD3"/>
          </a:solidFill>
          <a:ln/>
        </p:spPr>
      </p:sp>
      <p:pic>
        <p:nvPicPr>
          <p:cNvPr id="36" name="Image 4" descr="preencoded.png">    </p:cNvPr>
          <p:cNvPicPr>
            <a:picLocks noChangeAspect="1"/>
          </p:cNvPicPr>
          <p:nvPr/>
        </p:nvPicPr>
        <p:blipFill>
          <a:blip r:embed="rId5"/>
          <a:stretch>
            <a:fillRect/>
          </a:stretch>
        </p:blipFill>
        <p:spPr>
          <a:xfrm>
            <a:off x="5413248" y="2308860"/>
            <a:ext cx="365760" cy="365760"/>
          </a:xfrm>
          <a:prstGeom prst="rect">
            <a:avLst/>
          </a:prstGeom>
        </p:spPr>
      </p:pic>
      <p:sp>
        <p:nvSpPr>
          <p:cNvPr id="37" name="Text 30"/>
          <p:cNvSpPr txBox="1"/>
          <p:nvPr/>
        </p:nvSpPr>
        <p:spPr>
          <a:xfrm>
            <a:off x="5870448" y="2148840"/>
            <a:ext cx="139903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マーケター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確認・修正</a:t>
            </a:r>
            <a:endParaRPr lang="en-US" sz="1050" dirty="0"/>
          </a:p>
        </p:txBody>
      </p:sp>
      <p:sp>
        <p:nvSpPr>
          <p:cNvPr id="38" name="Shape 31"/>
          <p:cNvSpPr/>
          <p:nvPr/>
        </p:nvSpPr>
        <p:spPr>
          <a:xfrm>
            <a:off x="6309360" y="2880360"/>
            <a:ext cx="0" cy="228600"/>
          </a:xfrm>
          <a:prstGeom prst="line">
            <a:avLst/>
          </a:prstGeom>
          <a:noFill/>
          <a:ln w="22225">
            <a:solidFill>
              <a:srgbClr val="9AA5B4"/>
            </a:solidFill>
            <a:prstDash val="solid"/>
            <a:tailEnd type="triangle"/>
          </a:ln>
        </p:spPr>
      </p:sp>
      <p:sp>
        <p:nvSpPr>
          <p:cNvPr id="39" name="Shape 32"/>
          <p:cNvSpPr/>
          <p:nvPr/>
        </p:nvSpPr>
        <p:spPr>
          <a:xfrm>
            <a:off x="5303520" y="3154680"/>
            <a:ext cx="2011680" cy="685800"/>
          </a:xfrm>
          <a:prstGeom prst="roundRect">
            <a:avLst>
              <a:gd name="adj" fmla="val 10667"/>
            </a:avLst>
          </a:prstGeom>
          <a:solidFill>
            <a:srgbClr val="FDEBD3"/>
          </a:solidFill>
          <a:ln/>
        </p:spPr>
      </p:sp>
      <p:pic>
        <p:nvPicPr>
          <p:cNvPr id="40" name="Image 5" descr="preencoded.png">    </p:cNvPr>
          <p:cNvPicPr>
            <a:picLocks noChangeAspect="1"/>
          </p:cNvPicPr>
          <p:nvPr/>
        </p:nvPicPr>
        <p:blipFill>
          <a:blip r:embed="rId6"/>
          <a:stretch>
            <a:fillRect/>
          </a:stretch>
        </p:blipFill>
        <p:spPr>
          <a:xfrm>
            <a:off x="5413248" y="3314700"/>
            <a:ext cx="365760" cy="365760"/>
          </a:xfrm>
          <a:prstGeom prst="rect">
            <a:avLst/>
          </a:prstGeom>
        </p:spPr>
      </p:pic>
      <p:sp>
        <p:nvSpPr>
          <p:cNvPr id="41" name="Text 33"/>
          <p:cNvSpPr txBox="1"/>
          <p:nvPr/>
        </p:nvSpPr>
        <p:spPr>
          <a:xfrm>
            <a:off x="5870448" y="3154680"/>
            <a:ext cx="139903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カードに手入力</a:t>
            </a:r>
            <a:endParaRPr lang="en-US" sz="1050" dirty="0"/>
          </a:p>
        </p:txBody>
      </p:sp>
      <p:sp>
        <p:nvSpPr>
          <p:cNvPr id="42" name="Shape 34"/>
          <p:cNvSpPr/>
          <p:nvPr/>
        </p:nvSpPr>
        <p:spPr>
          <a:xfrm>
            <a:off x="7680960" y="1874520"/>
            <a:ext cx="3931920" cy="2514600"/>
          </a:xfrm>
          <a:prstGeom prst="roundRect">
            <a:avLst>
              <a:gd name="adj" fmla="val 2182"/>
            </a:avLst>
          </a:prstGeom>
          <a:solidFill>
            <a:srgbClr val="E3EAF5"/>
          </a:solidFill>
          <a:ln/>
        </p:spPr>
      </p:sp>
      <p:sp>
        <p:nvSpPr>
          <p:cNvPr id="43" name="Shape 35"/>
          <p:cNvSpPr/>
          <p:nvPr/>
        </p:nvSpPr>
        <p:spPr>
          <a:xfrm>
            <a:off x="7818120" y="1993392"/>
            <a:ext cx="384048" cy="384048"/>
          </a:xfrm>
          <a:prstGeom prst="ellipse">
            <a:avLst/>
          </a:prstGeom>
          <a:solidFill>
            <a:srgbClr val="FFFFFF"/>
          </a:solidFill>
          <a:ln/>
        </p:spPr>
      </p:sp>
      <p:pic>
        <p:nvPicPr>
          <p:cNvPr id="44"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5" name="Text 36"/>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6" name="Text 37"/>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M365 Copilot（導入済み）／Copilot Notebooks</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SharePoint上のプロンプト集</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ガイドラインのMD版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AI案の評価基準（ルーブリック）</a:t>
            </a:r>
            <a:endParaRPr lang="en-US" sz="1100" dirty="0"/>
          </a:p>
        </p:txBody>
      </p:sp>
      <p:sp>
        <p:nvSpPr>
          <p:cNvPr id="47" name="Shape 38"/>
          <p:cNvSpPr/>
          <p:nvPr/>
        </p:nvSpPr>
        <p:spPr>
          <a:xfrm>
            <a:off x="548640" y="4572000"/>
            <a:ext cx="3566160" cy="1783080"/>
          </a:xfrm>
          <a:prstGeom prst="roundRect">
            <a:avLst>
              <a:gd name="adj" fmla="val 3077"/>
            </a:avLst>
          </a:prstGeom>
          <a:solidFill>
            <a:srgbClr val="D9F2F1"/>
          </a:solidFill>
          <a:ln/>
        </p:spPr>
      </p:sp>
      <p:sp>
        <p:nvSpPr>
          <p:cNvPr id="48" name="Shape 39"/>
          <p:cNvSpPr/>
          <p:nvPr/>
        </p:nvSpPr>
        <p:spPr>
          <a:xfrm>
            <a:off x="685800" y="4690872"/>
            <a:ext cx="384048" cy="384048"/>
          </a:xfrm>
          <a:prstGeom prst="ellipse">
            <a:avLst/>
          </a:prstGeom>
          <a:solidFill>
            <a:srgbClr val="FFFFFF"/>
          </a:solidFill>
          <a:ln/>
        </p:spPr>
      </p:sp>
      <p:pic>
        <p:nvPicPr>
          <p:cNvPr id="49"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50" name="Text 40"/>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1" name="Text 41"/>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追加の開発・ライセンスがほぼ不要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すぐに試すことができる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AIの品質とルールの妥当性を確認できる</a:t>
            </a:r>
            <a:endParaRPr lang="en-US" sz="1150" dirty="0"/>
          </a:p>
        </p:txBody>
      </p:sp>
      <p:sp>
        <p:nvSpPr>
          <p:cNvPr id="52" name="Shape 42"/>
          <p:cNvSpPr/>
          <p:nvPr/>
        </p:nvSpPr>
        <p:spPr>
          <a:xfrm>
            <a:off x="4297680" y="4572000"/>
            <a:ext cx="3566160" cy="1783080"/>
          </a:xfrm>
          <a:prstGeom prst="roundRect">
            <a:avLst>
              <a:gd name="adj" fmla="val 3077"/>
            </a:avLst>
          </a:prstGeom>
          <a:solidFill>
            <a:srgbClr val="FBE3E3"/>
          </a:solidFill>
          <a:ln/>
        </p:spPr>
      </p:sp>
      <p:sp>
        <p:nvSpPr>
          <p:cNvPr id="53" name="Shape 43"/>
          <p:cNvSpPr/>
          <p:nvPr/>
        </p:nvSpPr>
        <p:spPr>
          <a:xfrm>
            <a:off x="4434840" y="4690872"/>
            <a:ext cx="384048" cy="384048"/>
          </a:xfrm>
          <a:prstGeom prst="ellipse">
            <a:avLst/>
          </a:prstGeom>
          <a:solidFill>
            <a:srgbClr val="FFFFFF"/>
          </a:solidFill>
          <a:ln/>
        </p:spPr>
      </p:sp>
      <p:pic>
        <p:nvPicPr>
          <p:cNvPr id="54"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5" name="Text 44"/>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6" name="Text 45"/>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情報の収集・転記は手作業のまま</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使い方次第で品質差が残る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業務効率化の効果は限定的</a:t>
            </a:r>
            <a:endParaRPr lang="en-US" sz="1150" dirty="0"/>
          </a:p>
        </p:txBody>
      </p:sp>
      <p:sp>
        <p:nvSpPr>
          <p:cNvPr id="57" name="Shape 46"/>
          <p:cNvSpPr/>
          <p:nvPr/>
        </p:nvSpPr>
        <p:spPr>
          <a:xfrm>
            <a:off x="8046720" y="4572000"/>
            <a:ext cx="3566160" cy="1783080"/>
          </a:xfrm>
          <a:prstGeom prst="roundRect">
            <a:avLst>
              <a:gd name="adj" fmla="val 3077"/>
            </a:avLst>
          </a:prstGeom>
          <a:solidFill>
            <a:srgbClr val="FDEBD3"/>
          </a:solidFill>
          <a:ln/>
        </p:spPr>
      </p:sp>
      <p:sp>
        <p:nvSpPr>
          <p:cNvPr id="58" name="Shape 47"/>
          <p:cNvSpPr/>
          <p:nvPr/>
        </p:nvSpPr>
        <p:spPr>
          <a:xfrm>
            <a:off x="8183880" y="4690872"/>
            <a:ext cx="384048" cy="384048"/>
          </a:xfrm>
          <a:prstGeom prst="ellipse">
            <a:avLst/>
          </a:prstGeom>
          <a:solidFill>
            <a:srgbClr val="FFFFFF"/>
          </a:solidFill>
          <a:ln/>
        </p:spPr>
      </p:sp>
      <p:pic>
        <p:nvPicPr>
          <p:cNvPr id="59"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60" name="Text 48"/>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1" name="Text 49"/>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プロンプト・評価基準の標準化</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添付資料の鮮度をどう保つか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機密情報の扱いなどの利用ルール</a:t>
            </a:r>
            <a:endParaRPr lang="en-US" sz="1150" dirty="0"/>
          </a:p>
        </p:txBody>
      </p:sp>
      <p:sp>
        <p:nvSpPr>
          <p:cNvPr id="62" name="Text 50"/>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A2｜Copilot Agent Builder（簡易エージェント）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M365 Copilotの標準機能で、指示とナレッジを固定した社内共通のエージェントを作る（デモ作成済み）</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23</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Step1〜2</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1920240" cy="566928"/>
          </a:xfrm>
          <a:prstGeom prst="roundRect">
            <a:avLst>
              <a:gd name="adj" fmla="val 12903"/>
            </a:avLst>
          </a:prstGeom>
          <a:solidFill>
            <a:srgbClr val="E3EAF5"/>
          </a:solidFill>
          <a:ln/>
        </p:spPr>
      </p:sp>
      <p:pic>
        <p:nvPicPr>
          <p:cNvPr id="18" name="Image 0" descr="preencoded.png">    </p:cNvPr>
          <p:cNvPicPr>
            <a:picLocks noChangeAspect="1"/>
          </p:cNvPicPr>
          <p:nvPr/>
        </p:nvPicPr>
        <p:blipFill>
          <a:blip r:embed="rId1"/>
          <a:stretch>
            <a:fillRect/>
          </a:stretch>
        </p:blipFill>
        <p:spPr>
          <a:xfrm>
            <a:off x="841248" y="2112264"/>
            <a:ext cx="365760" cy="365760"/>
          </a:xfrm>
          <a:prstGeom prst="rect">
            <a:avLst/>
          </a:prstGeom>
        </p:spPr>
      </p:pic>
      <p:sp>
        <p:nvSpPr>
          <p:cNvPr id="19" name="Text 16"/>
          <p:cNvSpPr txBox="1"/>
          <p:nvPr/>
        </p:nvSpPr>
        <p:spPr>
          <a:xfrm>
            <a:off x="1298448" y="20116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ポリシー・商品資料</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a:t>
            </a:r>
            <a:endParaRPr lang="en-US" sz="1050" dirty="0"/>
          </a:p>
        </p:txBody>
      </p:sp>
      <p:sp>
        <p:nvSpPr>
          <p:cNvPr id="20" name="Shape 17"/>
          <p:cNvSpPr/>
          <p:nvPr/>
        </p:nvSpPr>
        <p:spPr>
          <a:xfrm>
            <a:off x="2697480" y="2295144"/>
            <a:ext cx="320040" cy="676656"/>
          </a:xfrm>
          <a:prstGeom prst="line">
            <a:avLst/>
          </a:prstGeom>
          <a:noFill/>
          <a:ln w="22225">
            <a:solidFill>
              <a:srgbClr val="9AA5B4"/>
            </a:solidFill>
            <a:prstDash val="solid"/>
            <a:tailEnd type="triangle"/>
          </a:ln>
        </p:spPr>
      </p:sp>
      <p:sp>
        <p:nvSpPr>
          <p:cNvPr id="21" name="Shape 18"/>
          <p:cNvSpPr/>
          <p:nvPr/>
        </p:nvSpPr>
        <p:spPr>
          <a:xfrm>
            <a:off x="731520" y="2697480"/>
            <a:ext cx="1920240" cy="566928"/>
          </a:xfrm>
          <a:prstGeom prst="roundRect">
            <a:avLst>
              <a:gd name="adj" fmla="val 12903"/>
            </a:avLst>
          </a:prstGeom>
          <a:solidFill>
            <a:srgbClr val="E3EAF5"/>
          </a:solidFill>
          <a:ln/>
        </p:spPr>
      </p:sp>
      <p:pic>
        <p:nvPicPr>
          <p:cNvPr id="22" name="Image 1" descr="preencoded.png">    </p:cNvPr>
          <p:cNvPicPr>
            <a:picLocks noChangeAspect="1"/>
          </p:cNvPicPr>
          <p:nvPr/>
        </p:nvPicPr>
        <p:blipFill>
          <a:blip r:embed="rId2"/>
          <a:stretch>
            <a:fillRect/>
          </a:stretch>
        </p:blipFill>
        <p:spPr>
          <a:xfrm>
            <a:off x="841248" y="2798064"/>
            <a:ext cx="365760" cy="365760"/>
          </a:xfrm>
          <a:prstGeom prst="rect">
            <a:avLst/>
          </a:prstGeom>
        </p:spPr>
      </p:pic>
      <p:sp>
        <p:nvSpPr>
          <p:cNvPr id="23" name="Text 19"/>
          <p:cNvSpPr txBox="1"/>
          <p:nvPr/>
        </p:nvSpPr>
        <p:spPr>
          <a:xfrm>
            <a:off x="1298448" y="26974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ガイドライン</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MD（SharePoint）</a:t>
            </a:r>
            <a:endParaRPr lang="en-US" sz="1050" dirty="0"/>
          </a:p>
        </p:txBody>
      </p:sp>
      <p:sp>
        <p:nvSpPr>
          <p:cNvPr id="24" name="Shape 20"/>
          <p:cNvSpPr/>
          <p:nvPr/>
        </p:nvSpPr>
        <p:spPr>
          <a:xfrm flipV="1">
            <a:off x="2697480" y="2971800"/>
            <a:ext cx="320040" cy="9144"/>
          </a:xfrm>
          <a:prstGeom prst="line">
            <a:avLst/>
          </a:prstGeom>
          <a:noFill/>
          <a:ln w="22225">
            <a:solidFill>
              <a:srgbClr val="9AA5B4"/>
            </a:solidFill>
            <a:prstDash val="solid"/>
            <a:tailEnd type="triangle"/>
          </a:ln>
        </p:spPr>
      </p:sp>
      <p:sp>
        <p:nvSpPr>
          <p:cNvPr id="25" name="Shape 21"/>
          <p:cNvSpPr/>
          <p:nvPr/>
        </p:nvSpPr>
        <p:spPr>
          <a:xfrm>
            <a:off x="731520" y="3383280"/>
            <a:ext cx="1920240" cy="566928"/>
          </a:xfrm>
          <a:prstGeom prst="roundRect">
            <a:avLst>
              <a:gd name="adj" fmla="val 12903"/>
            </a:avLst>
          </a:prstGeom>
          <a:solidFill>
            <a:srgbClr val="E3EAF5"/>
          </a:solidFill>
          <a:ln/>
        </p:spPr>
      </p:sp>
      <p:pic>
        <p:nvPicPr>
          <p:cNvPr id="26" name="Image 2" descr="preencoded.png">    </p:cNvPr>
          <p:cNvPicPr>
            <a:picLocks noChangeAspect="1"/>
          </p:cNvPicPr>
          <p:nvPr/>
        </p:nvPicPr>
        <p:blipFill>
          <a:blip r:embed="rId3"/>
          <a:stretch>
            <a:fillRect/>
          </a:stretch>
        </p:blipFill>
        <p:spPr>
          <a:xfrm>
            <a:off x="841248" y="3483864"/>
            <a:ext cx="365760" cy="365760"/>
          </a:xfrm>
          <a:prstGeom prst="rect">
            <a:avLst/>
          </a:prstGeom>
        </p:spPr>
      </p:pic>
      <p:sp>
        <p:nvSpPr>
          <p:cNvPr id="27" name="Text 22"/>
          <p:cNvSpPr txBox="1"/>
          <p:nvPr/>
        </p:nvSpPr>
        <p:spPr>
          <a:xfrm>
            <a:off x="1298448" y="33832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売上・在庫</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SharePoint上のファイル</a:t>
            </a:r>
            <a:endParaRPr lang="en-US" sz="1050" dirty="0"/>
          </a:p>
        </p:txBody>
      </p:sp>
      <p:sp>
        <p:nvSpPr>
          <p:cNvPr id="28" name="Shape 23"/>
          <p:cNvSpPr/>
          <p:nvPr/>
        </p:nvSpPr>
        <p:spPr>
          <a:xfrm flipV="1">
            <a:off x="2697480" y="2971800"/>
            <a:ext cx="320040" cy="694944"/>
          </a:xfrm>
          <a:prstGeom prst="line">
            <a:avLst/>
          </a:prstGeom>
          <a:noFill/>
          <a:ln w="22225">
            <a:solidFill>
              <a:srgbClr val="9AA5B4"/>
            </a:solidFill>
            <a:prstDash val="solid"/>
            <a:tailEnd type="triangle"/>
          </a:ln>
        </p:spPr>
      </p:sp>
      <p:sp>
        <p:nvSpPr>
          <p:cNvPr id="29" name="Text 24"/>
          <p:cNvSpPr txBox="1"/>
          <p:nvPr/>
        </p:nvSpPr>
        <p:spPr>
          <a:xfrm>
            <a:off x="731520" y="4069080"/>
            <a:ext cx="1920240" cy="256032"/>
          </a:xfrm>
          <a:prstGeom prst="rect">
            <a:avLst/>
          </a:prstGeom>
          <a:noFill/>
          <a:ln/>
        </p:spPr>
        <p:txBody>
          <a:bodyPr wrap="square" lIns="508" tIns="508" rIns="508" bIns="508" rtlCol="0" anchor="t"/>
          <a:lstStyle/>
          <a:p>
            <a:pPr algn="ctr" indent="0" marL="0">
              <a:buNone/>
            </a:pPr>
            <a:r>
              <a:rPr lang="en-US" sz="900" b="1" dirty="0">
                <a:solidFill>
                  <a:srgbClr val="0E9F9A"/>
                </a:solidFill>
                <a:latin typeface="Meiryo UI" pitchFamily="34" charset="0"/>
                <a:ea typeface="Meiryo UI" pitchFamily="34" charset="-122"/>
                <a:cs typeface="Meiryo UI" pitchFamily="34" charset="-120"/>
              </a:rPr>
              <a:t>ナレッジとして参照</a:t>
            </a:r>
            <a:endParaRPr lang="en-US" sz="900" dirty="0"/>
          </a:p>
        </p:txBody>
      </p:sp>
      <p:sp>
        <p:nvSpPr>
          <p:cNvPr id="30" name="Shape 25"/>
          <p:cNvSpPr/>
          <p:nvPr/>
        </p:nvSpPr>
        <p:spPr>
          <a:xfrm>
            <a:off x="3063240" y="2194560"/>
            <a:ext cx="1920240" cy="1600200"/>
          </a:xfrm>
          <a:prstGeom prst="roundRect">
            <a:avLst>
              <a:gd name="adj" fmla="val 4571"/>
            </a:avLst>
          </a:prstGeom>
          <a:solidFill>
            <a:srgbClr val="0E9F9A"/>
          </a:solidFill>
          <a:ln/>
        </p:spPr>
      </p:sp>
      <p:sp>
        <p:nvSpPr>
          <p:cNvPr id="31" name="Shape 26"/>
          <p:cNvSpPr/>
          <p:nvPr/>
        </p:nvSpPr>
        <p:spPr>
          <a:xfrm>
            <a:off x="3694176" y="2304288"/>
            <a:ext cx="658368" cy="658368"/>
          </a:xfrm>
          <a:prstGeom prst="ellipse">
            <a:avLst/>
          </a:prstGeom>
          <a:solidFill>
            <a:srgbClr val="FFFFFF"/>
          </a:solidFill>
          <a:ln/>
        </p:spPr>
      </p:sp>
      <p:pic>
        <p:nvPicPr>
          <p:cNvPr id="32" name="Image 3" descr="preencoded.png">    </p:cNvPr>
          <p:cNvPicPr>
            <a:picLocks noChangeAspect="1"/>
          </p:cNvPicPr>
          <p:nvPr/>
        </p:nvPicPr>
        <p:blipFill>
          <a:blip r:embed="rId4"/>
          <a:stretch>
            <a:fillRect/>
          </a:stretch>
        </p:blipFill>
        <p:spPr>
          <a:xfrm>
            <a:off x="3794760" y="2404872"/>
            <a:ext cx="457200" cy="457200"/>
          </a:xfrm>
          <a:prstGeom prst="rect">
            <a:avLst/>
          </a:prstGeom>
        </p:spPr>
      </p:pic>
      <p:sp>
        <p:nvSpPr>
          <p:cNvPr id="33" name="Text 27"/>
          <p:cNvSpPr txBox="1"/>
          <p:nvPr/>
        </p:nvSpPr>
        <p:spPr>
          <a:xfrm>
            <a:off x="3108960" y="3008376"/>
            <a:ext cx="1828800" cy="73152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Agent Builder</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指示・ナレッジを</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固定したエージェント</a:t>
            </a:r>
            <a:endParaRPr lang="en-US" sz="1050" dirty="0"/>
          </a:p>
        </p:txBody>
      </p:sp>
      <p:sp>
        <p:nvSpPr>
          <p:cNvPr id="34" name="Shape 28"/>
          <p:cNvSpPr/>
          <p:nvPr/>
        </p:nvSpPr>
        <p:spPr>
          <a:xfrm>
            <a:off x="5029200" y="2487168"/>
            <a:ext cx="274320" cy="0"/>
          </a:xfrm>
          <a:prstGeom prst="line">
            <a:avLst/>
          </a:prstGeom>
          <a:noFill/>
          <a:ln w="22225">
            <a:solidFill>
              <a:srgbClr val="9AA5B4"/>
            </a:solidFill>
            <a:prstDash val="solid"/>
            <a:headEnd type="triangle"/>
            <a:tailEnd type="triangle"/>
          </a:ln>
        </p:spPr>
      </p:sp>
      <p:sp>
        <p:nvSpPr>
          <p:cNvPr id="35" name="Shape 29"/>
          <p:cNvSpPr/>
          <p:nvPr/>
        </p:nvSpPr>
        <p:spPr>
          <a:xfrm>
            <a:off x="5349240" y="2103120"/>
            <a:ext cx="1965960" cy="731520"/>
          </a:xfrm>
          <a:prstGeom prst="roundRect">
            <a:avLst>
              <a:gd name="adj" fmla="val 10000"/>
            </a:avLst>
          </a:prstGeom>
          <a:solidFill>
            <a:srgbClr val="FDEBD3"/>
          </a:solidFill>
          <a:ln/>
        </p:spPr>
      </p:sp>
      <p:pic>
        <p:nvPicPr>
          <p:cNvPr id="36" name="Image 4" descr="preencoded.png">    </p:cNvPr>
          <p:cNvPicPr>
            <a:picLocks noChangeAspect="1"/>
          </p:cNvPicPr>
          <p:nvPr/>
        </p:nvPicPr>
        <p:blipFill>
          <a:blip r:embed="rId5"/>
          <a:stretch>
            <a:fillRect/>
          </a:stretch>
        </p:blipFill>
        <p:spPr>
          <a:xfrm>
            <a:off x="5458968" y="2286000"/>
            <a:ext cx="365760" cy="365760"/>
          </a:xfrm>
          <a:prstGeom prst="rect">
            <a:avLst/>
          </a:prstGeom>
        </p:spPr>
      </p:pic>
      <p:sp>
        <p:nvSpPr>
          <p:cNvPr id="37" name="Text 30"/>
          <p:cNvSpPr txBox="1"/>
          <p:nvPr/>
        </p:nvSpPr>
        <p:spPr>
          <a:xfrm>
            <a:off x="5916168" y="2103120"/>
            <a:ext cx="13533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マーケター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Copilot Chat／Teams</a:t>
            </a:r>
            <a:endParaRPr lang="en-US" sz="1050" dirty="0"/>
          </a:p>
        </p:txBody>
      </p:sp>
      <p:sp>
        <p:nvSpPr>
          <p:cNvPr id="38" name="Shape 31"/>
          <p:cNvSpPr/>
          <p:nvPr/>
        </p:nvSpPr>
        <p:spPr>
          <a:xfrm>
            <a:off x="6327648" y="2880360"/>
            <a:ext cx="0" cy="274320"/>
          </a:xfrm>
          <a:prstGeom prst="line">
            <a:avLst/>
          </a:prstGeom>
          <a:noFill/>
          <a:ln w="22225">
            <a:solidFill>
              <a:srgbClr val="9AA5B4"/>
            </a:solidFill>
            <a:prstDash val="solid"/>
            <a:tailEnd type="triangle"/>
          </a:ln>
        </p:spPr>
      </p:sp>
      <p:sp>
        <p:nvSpPr>
          <p:cNvPr id="39" name="Shape 32"/>
          <p:cNvSpPr/>
          <p:nvPr/>
        </p:nvSpPr>
        <p:spPr>
          <a:xfrm>
            <a:off x="5349240" y="3200400"/>
            <a:ext cx="1965960" cy="731520"/>
          </a:xfrm>
          <a:prstGeom prst="roundRect">
            <a:avLst>
              <a:gd name="adj" fmla="val 10000"/>
            </a:avLst>
          </a:prstGeom>
          <a:solidFill>
            <a:srgbClr val="FDEBD3"/>
          </a:solidFill>
          <a:ln/>
        </p:spPr>
      </p:sp>
      <p:pic>
        <p:nvPicPr>
          <p:cNvPr id="40" name="Image 5" descr="preencoded.png">    </p:cNvPr>
          <p:cNvPicPr>
            <a:picLocks noChangeAspect="1"/>
          </p:cNvPicPr>
          <p:nvPr/>
        </p:nvPicPr>
        <p:blipFill>
          <a:blip r:embed="rId6"/>
          <a:stretch>
            <a:fillRect/>
          </a:stretch>
        </p:blipFill>
        <p:spPr>
          <a:xfrm>
            <a:off x="5458968" y="3383280"/>
            <a:ext cx="365760" cy="365760"/>
          </a:xfrm>
          <a:prstGeom prst="rect">
            <a:avLst/>
          </a:prstGeom>
        </p:spPr>
      </p:pic>
      <p:sp>
        <p:nvSpPr>
          <p:cNvPr id="41" name="Text 33"/>
          <p:cNvSpPr txBox="1"/>
          <p:nvPr/>
        </p:nvSpPr>
        <p:spPr>
          <a:xfrm>
            <a:off x="5916168" y="3200400"/>
            <a:ext cx="13533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カードに転記</a:t>
            </a:r>
            <a:endParaRPr lang="en-US" sz="1050" dirty="0"/>
          </a:p>
        </p:txBody>
      </p:sp>
      <p:sp>
        <p:nvSpPr>
          <p:cNvPr id="42" name="Shape 34"/>
          <p:cNvSpPr/>
          <p:nvPr/>
        </p:nvSpPr>
        <p:spPr>
          <a:xfrm>
            <a:off x="7680960" y="1874520"/>
            <a:ext cx="3931920" cy="2514600"/>
          </a:xfrm>
          <a:prstGeom prst="roundRect">
            <a:avLst>
              <a:gd name="adj" fmla="val 2182"/>
            </a:avLst>
          </a:prstGeom>
          <a:solidFill>
            <a:srgbClr val="E3EAF5"/>
          </a:solidFill>
          <a:ln/>
        </p:spPr>
      </p:sp>
      <p:sp>
        <p:nvSpPr>
          <p:cNvPr id="43" name="Shape 35"/>
          <p:cNvSpPr/>
          <p:nvPr/>
        </p:nvSpPr>
        <p:spPr>
          <a:xfrm>
            <a:off x="7818120" y="1993392"/>
            <a:ext cx="384048" cy="384048"/>
          </a:xfrm>
          <a:prstGeom prst="ellipse">
            <a:avLst/>
          </a:prstGeom>
          <a:solidFill>
            <a:srgbClr val="FFFFFF"/>
          </a:solidFill>
          <a:ln/>
        </p:spPr>
      </p:sp>
      <p:pic>
        <p:nvPicPr>
          <p:cNvPr id="44"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5" name="Text 36"/>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6" name="Text 37"/>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M365 Copilot（導入済み。追加ライセンス不要）</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指示（プロンプト）とナレッジの設定</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ナレッジ：SharePoint（最大100のファイル・フォルダ・サイト）、アップロードしたファイル、Webサイト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数値データはSharePointにファイルとして置く</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エージェントの共有（参照は利用者の権限の範囲）</a:t>
            </a:r>
            <a:endParaRPr lang="en-US" sz="1100" dirty="0"/>
          </a:p>
        </p:txBody>
      </p:sp>
      <p:sp>
        <p:nvSpPr>
          <p:cNvPr id="47" name="Shape 38"/>
          <p:cNvSpPr/>
          <p:nvPr/>
        </p:nvSpPr>
        <p:spPr>
          <a:xfrm>
            <a:off x="548640" y="4572000"/>
            <a:ext cx="3566160" cy="1783080"/>
          </a:xfrm>
          <a:prstGeom prst="roundRect">
            <a:avLst>
              <a:gd name="adj" fmla="val 3077"/>
            </a:avLst>
          </a:prstGeom>
          <a:solidFill>
            <a:srgbClr val="D9F2F1"/>
          </a:solidFill>
          <a:ln/>
        </p:spPr>
      </p:sp>
      <p:sp>
        <p:nvSpPr>
          <p:cNvPr id="48" name="Shape 39"/>
          <p:cNvSpPr/>
          <p:nvPr/>
        </p:nvSpPr>
        <p:spPr>
          <a:xfrm>
            <a:off x="685800" y="4690872"/>
            <a:ext cx="384048" cy="384048"/>
          </a:xfrm>
          <a:prstGeom prst="ellipse">
            <a:avLst/>
          </a:prstGeom>
          <a:solidFill>
            <a:srgbClr val="FFFFFF"/>
          </a:solidFill>
          <a:ln/>
        </p:spPr>
      </p:sp>
      <p:pic>
        <p:nvPicPr>
          <p:cNvPr id="49"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50" name="Text 40"/>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1" name="Text 41"/>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すぐに作れて、デモを作成済み</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指示とナレッジを固定でき、A1より品質が揃う</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追加コストがかからない</a:t>
            </a:r>
            <a:endParaRPr lang="en-US" sz="1150" dirty="0"/>
          </a:p>
        </p:txBody>
      </p:sp>
      <p:sp>
        <p:nvSpPr>
          <p:cNvPr id="52" name="Shape 42"/>
          <p:cNvSpPr/>
          <p:nvPr/>
        </p:nvSpPr>
        <p:spPr>
          <a:xfrm>
            <a:off x="4297680" y="4572000"/>
            <a:ext cx="3566160" cy="1783080"/>
          </a:xfrm>
          <a:prstGeom prst="roundRect">
            <a:avLst>
              <a:gd name="adj" fmla="val 3077"/>
            </a:avLst>
          </a:prstGeom>
          <a:solidFill>
            <a:srgbClr val="FBE3E3"/>
          </a:solidFill>
          <a:ln/>
        </p:spPr>
      </p:sp>
      <p:sp>
        <p:nvSpPr>
          <p:cNvPr id="53" name="Shape 43"/>
          <p:cNvSpPr/>
          <p:nvPr/>
        </p:nvSpPr>
        <p:spPr>
          <a:xfrm>
            <a:off x="4434840" y="4690872"/>
            <a:ext cx="384048" cy="384048"/>
          </a:xfrm>
          <a:prstGeom prst="ellipse">
            <a:avLst/>
          </a:prstGeom>
          <a:solidFill>
            <a:srgbClr val="FFFFFF"/>
          </a:solidFill>
          <a:ln/>
        </p:spPr>
      </p:sp>
      <p:pic>
        <p:nvPicPr>
          <p:cNvPr id="54"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5" name="Text 44"/>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6" name="Text 45"/>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Q&amp;A型で、レコード作成やワークフロー起動などのアクションはできない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バージョン管理・環境分離などの管理機能がない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自動起案やAirtableへの書き戻しはできない</a:t>
            </a:r>
            <a:endParaRPr lang="en-US" sz="1150" dirty="0"/>
          </a:p>
        </p:txBody>
      </p:sp>
      <p:sp>
        <p:nvSpPr>
          <p:cNvPr id="57" name="Shape 46"/>
          <p:cNvSpPr/>
          <p:nvPr/>
        </p:nvSpPr>
        <p:spPr>
          <a:xfrm>
            <a:off x="8046720" y="4572000"/>
            <a:ext cx="3566160" cy="1783080"/>
          </a:xfrm>
          <a:prstGeom prst="roundRect">
            <a:avLst>
              <a:gd name="adj" fmla="val 3077"/>
            </a:avLst>
          </a:prstGeom>
          <a:solidFill>
            <a:srgbClr val="FDEBD3"/>
          </a:solidFill>
          <a:ln/>
        </p:spPr>
      </p:sp>
      <p:sp>
        <p:nvSpPr>
          <p:cNvPr id="58" name="Shape 47"/>
          <p:cNvSpPr/>
          <p:nvPr/>
        </p:nvSpPr>
        <p:spPr>
          <a:xfrm>
            <a:off x="8183880" y="4690872"/>
            <a:ext cx="384048" cy="384048"/>
          </a:xfrm>
          <a:prstGeom prst="ellipse">
            <a:avLst/>
          </a:prstGeom>
          <a:solidFill>
            <a:srgbClr val="FFFFFF"/>
          </a:solidFill>
          <a:ln/>
        </p:spPr>
      </p:sp>
      <p:pic>
        <p:nvPicPr>
          <p:cNvPr id="59"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60" name="Text 48"/>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1" name="Text 49"/>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数値データのファイルをどう最新に保つか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ナレッジ検索の参照精度</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高度な要件が出た場合のA3（Copilot Studio）への移行（作り直しが必要）</a:t>
            </a:r>
            <a:endParaRPr lang="en-US" sz="1150" dirty="0"/>
          </a:p>
        </p:txBody>
      </p:sp>
      <p:sp>
        <p:nvSpPr>
          <p:cNvPr id="62" name="Text 50"/>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参考：Agent BuilderとCopilot Studioの違い</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Agent BuilderはM365 Copilotの中で使う簡易版、Copilot Studioは業務システムに組み込める本格版</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920240"/>
                <a:gridCol w="4572000"/>
                <a:gridCol w="4572000"/>
              </a:tblGrid>
              <a:tr h="347472">
                <a:tc>
                  <a:txBody>
                    <a:bodyPr/>
                    <a:lstStyle/>
                    <a:p>
                      <a:pPr algn="ctr" indent="0" marL="0">
                        <a:buNone/>
                      </a:pP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Agent Builder</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6B4FBB"/>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位置付け</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M365 Copilotに含まれる簡易版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Power Platformの本格的な開発ツール</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作る人</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業務ユーザー（自然言語で作れる）</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業務部門の開発担当〜IT部門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できること</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指示とナレッジを固定したQ&amp;A・文章生成</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Q&amp;Aに加え、アクション・分岐・ワークフロー</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ナレッジ</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SharePoint（最大100のファイル・フォルダ・サイト）、OneDrive、Teams、アップロードしたファイル、Webサイト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左記に加え、Dataverseや外部システム（コネクタ・API・MCP経由）</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外部システムの操作</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できない（レコード作成・フロー起動は不可）</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できる（Power Automate、コネクタ、カスタムコネクタ、MCP）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自動実行</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できない（人が話しかけて動く）</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できる（イベントトリガー、フローやアプリからの呼び出し）</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公開先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M365 Copilot（Copilot Chat・Teams内）</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Teams、Web、その他のチャネル。フローやアプリからAPIとして呼ぶことも可</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管理機能</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バージョン管理・環境分離なし</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環境・ALM・DLP・利用状況の分析あり</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費用</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M365 Copilotのライセンスに含まれる</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Copilotクレジットの消費（契約形態により要確認）</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7" name="Shape 4"/>
          <p:cNvSpPr/>
          <p:nvPr/>
        </p:nvSpPr>
        <p:spPr>
          <a:xfrm>
            <a:off x="548640" y="5349240"/>
            <a:ext cx="11064240" cy="960120"/>
          </a:xfrm>
          <a:prstGeom prst="roundRect">
            <a:avLst>
              <a:gd name="adj" fmla="val 5714"/>
            </a:avLst>
          </a:prstGeom>
          <a:solidFill>
            <a:srgbClr val="D9F2F1"/>
          </a:solidFill>
          <a:ln/>
        </p:spPr>
      </p:sp>
      <p:sp>
        <p:nvSpPr>
          <p:cNvPr id="8" name="Shape 5"/>
          <p:cNvSpPr/>
          <p:nvPr/>
        </p:nvSpPr>
        <p:spPr>
          <a:xfrm>
            <a:off x="685800" y="5577840"/>
            <a:ext cx="502920" cy="502920"/>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786384" y="5678424"/>
            <a:ext cx="301752" cy="301752"/>
          </a:xfrm>
          <a:prstGeom prst="rect">
            <a:avLst/>
          </a:prstGeom>
        </p:spPr>
      </p:pic>
      <p:sp>
        <p:nvSpPr>
          <p:cNvPr id="10" name="Text 6"/>
          <p:cNvSpPr txBox="1"/>
          <p:nvPr/>
        </p:nvSpPr>
        <p:spPr>
          <a:xfrm>
            <a:off x="1325880" y="5349240"/>
            <a:ext cx="10149840" cy="960120"/>
          </a:xfrm>
          <a:prstGeom prst="rect">
            <a:avLst/>
          </a:prstGeom>
          <a:noFill/>
          <a:ln/>
        </p:spPr>
        <p:txBody>
          <a:bodyPr wrap="square" lIns="0" tIns="0" rIns="0" bIns="0" rtlCol="0" anchor="ctr"/>
          <a:lstStyle/>
          <a:p>
            <a:pPr indent="0" marL="0">
              <a:buNone/>
            </a:pPr>
            <a:r>
              <a:rPr lang="en-US" sz="1050" b="1" dirty="0">
                <a:solidFill>
                  <a:srgbClr val="0E9F9A"/>
                </a:solidFill>
                <a:latin typeface="Meiryo UI" pitchFamily="34" charset="0"/>
                <a:ea typeface="Meiryo UI" pitchFamily="34" charset="-122"/>
                <a:cs typeface="Meiryo UI" pitchFamily="34" charset="-120"/>
              </a:rPr>
              <a:t>今回の検討での位置付け：</a:t>
            </a:r>
            <a:pPr indent="0" marL="0">
              <a:buNone/>
            </a:pPr>
            <a:r>
              <a:rPr lang="en-US" sz="1050" dirty="0">
                <a:solidFill>
                  <a:srgbClr val="000000"/>
                </a:solidFill>
                <a:latin typeface="Meiryo UI" pitchFamily="34" charset="0"/>
                <a:ea typeface="Meiryo UI" pitchFamily="34" charset="-122"/>
                <a:cs typeface="Meiryo UI" pitchFamily="34" charset="-120"/>
              </a:rPr>
              <a:t>Agent Builderでできるのは、対話でテーマ・商品・コピー・制作指示の案を出すところまで（A2）。Airtableへの書き戻し、カード作成をきっかけにした自動起案、code appsやフローからの呼び出しにはCopilot Studioが必要（A3以降）。Agent Builderで固めた指示とナレッジは、Copilot Studioへ移すときにも使える（アクションや連携は作り直し）</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A3｜Copilot Studioエージェント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数値データをM365へ自動で連携し、社内共通のエージェントにTeamsから依頼する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25</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2〜3ヶ月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1691640" cy="566928"/>
          </a:xfrm>
          <a:prstGeom prst="roundRect">
            <a:avLst>
              <a:gd name="adj" fmla="val 12903"/>
            </a:avLst>
          </a:prstGeom>
          <a:solidFill>
            <a:srgbClr val="E3EAF5"/>
          </a:solidFill>
          <a:ln/>
        </p:spPr>
      </p:sp>
      <p:pic>
        <p:nvPicPr>
          <p:cNvPr id="18" name="Image 0" descr="preencoded.png">    </p:cNvPr>
          <p:cNvPicPr>
            <a:picLocks noChangeAspect="1"/>
          </p:cNvPicPr>
          <p:nvPr/>
        </p:nvPicPr>
        <p:blipFill>
          <a:blip r:embed="rId1"/>
          <a:stretch>
            <a:fillRect/>
          </a:stretch>
        </p:blipFill>
        <p:spPr>
          <a:xfrm>
            <a:off x="841248" y="2112264"/>
            <a:ext cx="365760" cy="365760"/>
          </a:xfrm>
          <a:prstGeom prst="rect">
            <a:avLst/>
          </a:prstGeom>
        </p:spPr>
      </p:pic>
      <p:sp>
        <p:nvSpPr>
          <p:cNvPr id="19" name="Text 16"/>
          <p:cNvSpPr txBox="1"/>
          <p:nvPr/>
        </p:nvSpPr>
        <p:spPr>
          <a:xfrm>
            <a:off x="1298448" y="2011680"/>
            <a:ext cx="1078992" cy="566928"/>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売上・在庫</a:t>
            </a:r>
            <a:endParaRPr lang="en-US" sz="1000" dirty="0"/>
          </a:p>
          <a:p>
            <a:pPr algn="l" indent="0" marL="0">
              <a:buNone/>
            </a:pPr>
            <a:r>
              <a:rPr lang="en-US" sz="850" dirty="0">
                <a:solidFill>
                  <a:srgbClr val="6B7280"/>
                </a:solidFill>
                <a:latin typeface="Meiryo UI" pitchFamily="34" charset="0"/>
                <a:ea typeface="Meiryo UI" pitchFamily="34" charset="-122"/>
                <a:cs typeface="Meiryo UI" pitchFamily="34" charset="-120"/>
              </a:rPr>
              <a:t>GCS</a:t>
            </a:r>
            <a:endParaRPr lang="en-US" sz="1000" dirty="0"/>
          </a:p>
        </p:txBody>
      </p:sp>
      <p:sp>
        <p:nvSpPr>
          <p:cNvPr id="20" name="Shape 17"/>
          <p:cNvSpPr/>
          <p:nvPr/>
        </p:nvSpPr>
        <p:spPr>
          <a:xfrm>
            <a:off x="2468880" y="2295144"/>
            <a:ext cx="182880" cy="0"/>
          </a:xfrm>
          <a:prstGeom prst="line">
            <a:avLst/>
          </a:prstGeom>
          <a:noFill/>
          <a:ln w="22225">
            <a:solidFill>
              <a:srgbClr val="9AA5B4"/>
            </a:solidFill>
            <a:prstDash val="solid"/>
            <a:tailEnd type="triangle"/>
          </a:ln>
        </p:spPr>
      </p:sp>
      <p:sp>
        <p:nvSpPr>
          <p:cNvPr id="21" name="Shape 18"/>
          <p:cNvSpPr/>
          <p:nvPr/>
        </p:nvSpPr>
        <p:spPr>
          <a:xfrm>
            <a:off x="731520" y="2697480"/>
            <a:ext cx="1691640" cy="566928"/>
          </a:xfrm>
          <a:prstGeom prst="roundRect">
            <a:avLst>
              <a:gd name="adj" fmla="val 12903"/>
            </a:avLst>
          </a:prstGeom>
          <a:solidFill>
            <a:srgbClr val="E3EAF5"/>
          </a:solidFill>
          <a:ln/>
        </p:spPr>
      </p:sp>
      <p:pic>
        <p:nvPicPr>
          <p:cNvPr id="22" name="Image 1" descr="preencoded.png">    </p:cNvPr>
          <p:cNvPicPr>
            <a:picLocks noChangeAspect="1"/>
          </p:cNvPicPr>
          <p:nvPr/>
        </p:nvPicPr>
        <p:blipFill>
          <a:blip r:embed="rId2"/>
          <a:stretch>
            <a:fillRect/>
          </a:stretch>
        </p:blipFill>
        <p:spPr>
          <a:xfrm>
            <a:off x="841248" y="2798064"/>
            <a:ext cx="365760" cy="365760"/>
          </a:xfrm>
          <a:prstGeom prst="rect">
            <a:avLst/>
          </a:prstGeom>
        </p:spPr>
      </p:pic>
      <p:sp>
        <p:nvSpPr>
          <p:cNvPr id="23" name="Text 19"/>
          <p:cNvSpPr txBox="1"/>
          <p:nvPr/>
        </p:nvSpPr>
        <p:spPr>
          <a:xfrm>
            <a:off x="1298448" y="2697480"/>
            <a:ext cx="1078992" cy="566928"/>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商品マスタ</a:t>
            </a:r>
            <a:endParaRPr lang="en-US" sz="100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a:t>
            </a:r>
            <a:endParaRPr lang="en-US" sz="1000" dirty="0"/>
          </a:p>
        </p:txBody>
      </p:sp>
      <p:sp>
        <p:nvSpPr>
          <p:cNvPr id="24" name="Shape 20"/>
          <p:cNvSpPr/>
          <p:nvPr/>
        </p:nvSpPr>
        <p:spPr>
          <a:xfrm>
            <a:off x="2468880" y="2980944"/>
            <a:ext cx="182880" cy="0"/>
          </a:xfrm>
          <a:prstGeom prst="line">
            <a:avLst/>
          </a:prstGeom>
          <a:noFill/>
          <a:ln w="22225">
            <a:solidFill>
              <a:srgbClr val="9AA5B4"/>
            </a:solidFill>
            <a:prstDash val="solid"/>
            <a:tailEnd type="triangle"/>
          </a:ln>
        </p:spPr>
      </p:sp>
      <p:sp>
        <p:nvSpPr>
          <p:cNvPr id="25" name="Shape 21"/>
          <p:cNvSpPr/>
          <p:nvPr/>
        </p:nvSpPr>
        <p:spPr>
          <a:xfrm>
            <a:off x="731520" y="3383280"/>
            <a:ext cx="1691640" cy="566928"/>
          </a:xfrm>
          <a:prstGeom prst="roundRect">
            <a:avLst>
              <a:gd name="adj" fmla="val 12903"/>
            </a:avLst>
          </a:prstGeom>
          <a:solidFill>
            <a:srgbClr val="E3EAF5"/>
          </a:solidFill>
          <a:ln/>
        </p:spPr>
      </p:sp>
      <p:pic>
        <p:nvPicPr>
          <p:cNvPr id="26" name="Image 2" descr="preencoded.png">    </p:cNvPr>
          <p:cNvPicPr>
            <a:picLocks noChangeAspect="1"/>
          </p:cNvPicPr>
          <p:nvPr/>
        </p:nvPicPr>
        <p:blipFill>
          <a:blip r:embed="rId3"/>
          <a:stretch>
            <a:fillRect/>
          </a:stretch>
        </p:blipFill>
        <p:spPr>
          <a:xfrm>
            <a:off x="841248" y="3483864"/>
            <a:ext cx="365760" cy="365760"/>
          </a:xfrm>
          <a:prstGeom prst="rect">
            <a:avLst/>
          </a:prstGeom>
        </p:spPr>
      </p:pic>
      <p:sp>
        <p:nvSpPr>
          <p:cNvPr id="27" name="Text 22"/>
          <p:cNvSpPr txBox="1"/>
          <p:nvPr/>
        </p:nvSpPr>
        <p:spPr>
          <a:xfrm>
            <a:off x="1298448" y="3383280"/>
            <a:ext cx="1078992" cy="566928"/>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ポリシー・資料</a:t>
            </a:r>
            <a:endParaRPr lang="en-US" sz="100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a:t>
            </a:r>
            <a:endParaRPr lang="en-US" sz="1000" dirty="0"/>
          </a:p>
        </p:txBody>
      </p:sp>
      <p:sp>
        <p:nvSpPr>
          <p:cNvPr id="28" name="Shape 23"/>
          <p:cNvSpPr/>
          <p:nvPr/>
        </p:nvSpPr>
        <p:spPr>
          <a:xfrm>
            <a:off x="2468880" y="3666744"/>
            <a:ext cx="182880" cy="0"/>
          </a:xfrm>
          <a:prstGeom prst="line">
            <a:avLst/>
          </a:prstGeom>
          <a:noFill/>
          <a:ln w="22225">
            <a:solidFill>
              <a:srgbClr val="9AA5B4"/>
            </a:solidFill>
            <a:prstDash val="solid"/>
            <a:tailEnd type="triangle"/>
          </a:ln>
        </p:spPr>
      </p:sp>
      <p:sp>
        <p:nvSpPr>
          <p:cNvPr id="29" name="Shape 24"/>
          <p:cNvSpPr/>
          <p:nvPr/>
        </p:nvSpPr>
        <p:spPr>
          <a:xfrm>
            <a:off x="2697480" y="2011680"/>
            <a:ext cx="1234440" cy="1938528"/>
          </a:xfrm>
          <a:prstGeom prst="roundRect">
            <a:avLst>
              <a:gd name="adj" fmla="val 5926"/>
            </a:avLst>
          </a:prstGeom>
          <a:solidFill>
            <a:srgbClr val="D9F2F1"/>
          </a:solidFill>
          <a:ln/>
        </p:spPr>
      </p:sp>
      <p:pic>
        <p:nvPicPr>
          <p:cNvPr id="30" name="Image 3" descr="preencoded.png">    </p:cNvPr>
          <p:cNvPicPr>
            <a:picLocks noChangeAspect="1"/>
          </p:cNvPicPr>
          <p:nvPr/>
        </p:nvPicPr>
        <p:blipFill>
          <a:blip r:embed="rId4"/>
          <a:stretch>
            <a:fillRect/>
          </a:stretch>
        </p:blipFill>
        <p:spPr>
          <a:xfrm>
            <a:off x="3086100" y="2139696"/>
            <a:ext cx="457200" cy="457200"/>
          </a:xfrm>
          <a:prstGeom prst="rect">
            <a:avLst/>
          </a:prstGeom>
        </p:spPr>
      </p:pic>
      <p:sp>
        <p:nvSpPr>
          <p:cNvPr id="31" name="Text 25"/>
          <p:cNvSpPr txBox="1"/>
          <p:nvPr/>
        </p:nvSpPr>
        <p:spPr>
          <a:xfrm>
            <a:off x="2743200" y="2633472"/>
            <a:ext cx="1143000" cy="1261872"/>
          </a:xfrm>
          <a:prstGeom prst="rect">
            <a:avLst/>
          </a:prstGeom>
          <a:noFill/>
          <a:ln/>
        </p:spPr>
        <p:txBody>
          <a:bodyPr wrap="square" lIns="0" tIns="0" rIns="0" bIns="0" rtlCol="0" anchor="ctr"/>
          <a:lstStyle/>
          <a:p>
            <a:pPr algn="ctr" indent="0" marL="0">
              <a:buNone/>
            </a:pPr>
            <a:r>
              <a:rPr lang="en-US" sz="1000" b="1" dirty="0">
                <a:solidFill>
                  <a:srgbClr val="1B2A49"/>
                </a:solidFill>
                <a:latin typeface="Meiryo UI" pitchFamily="34" charset="0"/>
                <a:ea typeface="Meiryo UI" pitchFamily="34" charset="-122"/>
                <a:cs typeface="Meiryo UI" pitchFamily="34" charset="-120"/>
              </a:rPr>
              <a:t>自動同期</a:t>
            </a:r>
            <a:endParaRPr lang="en-US" sz="1000" dirty="0"/>
          </a:p>
          <a:p>
            <a:pPr algn="ctr" indent="0" marL="0">
              <a:buNone/>
            </a:pPr>
            <a:r>
              <a:rPr lang="en-US" sz="850" dirty="0">
                <a:solidFill>
                  <a:srgbClr val="6B7280"/>
                </a:solidFill>
                <a:latin typeface="Meiryo UI" pitchFamily="34" charset="0"/>
                <a:ea typeface="Meiryo UI" pitchFamily="34" charset="-122"/>
                <a:cs typeface="Meiryo UI" pitchFamily="34" charset="-120"/>
              </a:rPr>
              <a:t>Power Automate／スクリプト</a:t>
            </a:r>
            <a:endParaRPr lang="en-US" sz="1000" dirty="0"/>
          </a:p>
        </p:txBody>
      </p:sp>
      <p:sp>
        <p:nvSpPr>
          <p:cNvPr id="32" name="Shape 26"/>
          <p:cNvSpPr/>
          <p:nvPr/>
        </p:nvSpPr>
        <p:spPr>
          <a:xfrm>
            <a:off x="3977640" y="2980944"/>
            <a:ext cx="182880" cy="0"/>
          </a:xfrm>
          <a:prstGeom prst="line">
            <a:avLst/>
          </a:prstGeom>
          <a:noFill/>
          <a:ln w="22225">
            <a:solidFill>
              <a:srgbClr val="9AA5B4"/>
            </a:solidFill>
            <a:prstDash val="solid"/>
            <a:tailEnd type="triangle"/>
          </a:ln>
        </p:spPr>
      </p:sp>
      <p:sp>
        <p:nvSpPr>
          <p:cNvPr id="33" name="Shape 27"/>
          <p:cNvSpPr/>
          <p:nvPr/>
        </p:nvSpPr>
        <p:spPr>
          <a:xfrm>
            <a:off x="4206240" y="2011680"/>
            <a:ext cx="1280160" cy="1938528"/>
          </a:xfrm>
          <a:prstGeom prst="roundRect">
            <a:avLst>
              <a:gd name="adj" fmla="val 5714"/>
            </a:avLst>
          </a:prstGeom>
          <a:solidFill>
            <a:srgbClr val="E3EAF5"/>
          </a:solidFill>
          <a:ln/>
        </p:spPr>
      </p:sp>
      <p:pic>
        <p:nvPicPr>
          <p:cNvPr id="34" name="Image 4" descr="preencoded.png">    </p:cNvPr>
          <p:cNvPicPr>
            <a:picLocks noChangeAspect="1"/>
          </p:cNvPicPr>
          <p:nvPr/>
        </p:nvPicPr>
        <p:blipFill>
          <a:blip r:embed="rId5"/>
          <a:stretch>
            <a:fillRect/>
          </a:stretch>
        </p:blipFill>
        <p:spPr>
          <a:xfrm>
            <a:off x="4617720" y="2139696"/>
            <a:ext cx="457200" cy="457200"/>
          </a:xfrm>
          <a:prstGeom prst="rect">
            <a:avLst/>
          </a:prstGeom>
        </p:spPr>
      </p:pic>
      <p:sp>
        <p:nvSpPr>
          <p:cNvPr id="35" name="Text 28"/>
          <p:cNvSpPr txBox="1"/>
          <p:nvPr/>
        </p:nvSpPr>
        <p:spPr>
          <a:xfrm>
            <a:off x="4251960" y="2633472"/>
            <a:ext cx="1188720" cy="1261872"/>
          </a:xfrm>
          <a:prstGeom prst="rect">
            <a:avLst/>
          </a:prstGeom>
          <a:noFill/>
          <a:ln/>
        </p:spPr>
        <p:txBody>
          <a:bodyPr wrap="square" lIns="0" tIns="0" rIns="0" bIns="0" rtlCol="0" anchor="ctr"/>
          <a:lstStyle/>
          <a:p>
            <a:pPr algn="ctr" indent="0" marL="0">
              <a:buNone/>
            </a:pPr>
            <a:r>
              <a:rPr lang="en-US" sz="1000" b="1" dirty="0">
                <a:solidFill>
                  <a:srgbClr val="1B2A49"/>
                </a:solidFill>
                <a:latin typeface="Meiryo UI" pitchFamily="34" charset="0"/>
                <a:ea typeface="Meiryo UI" pitchFamily="34" charset="-122"/>
                <a:cs typeface="Meiryo UI" pitchFamily="34" charset="-120"/>
              </a:rPr>
              <a:t>データ基盤</a:t>
            </a:r>
            <a:endParaRPr lang="en-US" sz="1000" dirty="0"/>
          </a:p>
          <a:p>
            <a:pPr algn="ctr" indent="0" marL="0">
              <a:buNone/>
            </a:pPr>
            <a:r>
              <a:rPr lang="en-US" sz="850" dirty="0">
                <a:solidFill>
                  <a:srgbClr val="6B7280"/>
                </a:solidFill>
                <a:latin typeface="Meiryo UI" pitchFamily="34" charset="0"/>
                <a:ea typeface="Meiryo UI" pitchFamily="34" charset="-122"/>
                <a:cs typeface="Meiryo UI" pitchFamily="34" charset="-120"/>
              </a:rPr>
              <a:t>Dataverse／SharePoint</a:t>
            </a:r>
            <a:endParaRPr lang="en-US" sz="1000" dirty="0"/>
          </a:p>
        </p:txBody>
      </p:sp>
      <p:sp>
        <p:nvSpPr>
          <p:cNvPr id="36" name="Shape 29"/>
          <p:cNvSpPr/>
          <p:nvPr/>
        </p:nvSpPr>
        <p:spPr>
          <a:xfrm>
            <a:off x="5532120" y="2423160"/>
            <a:ext cx="182880" cy="0"/>
          </a:xfrm>
          <a:prstGeom prst="line">
            <a:avLst/>
          </a:prstGeom>
          <a:noFill/>
          <a:ln w="22225">
            <a:solidFill>
              <a:srgbClr val="9AA5B4"/>
            </a:solidFill>
            <a:prstDash val="solid"/>
            <a:tailEnd type="triangle"/>
          </a:ln>
        </p:spPr>
      </p:sp>
      <p:sp>
        <p:nvSpPr>
          <p:cNvPr id="37" name="Shape 30"/>
          <p:cNvSpPr/>
          <p:nvPr/>
        </p:nvSpPr>
        <p:spPr>
          <a:xfrm>
            <a:off x="5760720" y="2011680"/>
            <a:ext cx="1554480" cy="822960"/>
          </a:xfrm>
          <a:prstGeom prst="roundRect">
            <a:avLst>
              <a:gd name="adj" fmla="val 8889"/>
            </a:avLst>
          </a:prstGeom>
          <a:solidFill>
            <a:srgbClr val="0E9F9A"/>
          </a:solidFill>
          <a:ln/>
        </p:spPr>
      </p:sp>
      <p:sp>
        <p:nvSpPr>
          <p:cNvPr id="38" name="Shape 31"/>
          <p:cNvSpPr/>
          <p:nvPr/>
        </p:nvSpPr>
        <p:spPr>
          <a:xfrm>
            <a:off x="5833872" y="2167128"/>
            <a:ext cx="512064" cy="512064"/>
          </a:xfrm>
          <a:prstGeom prst="ellipse">
            <a:avLst/>
          </a:prstGeom>
          <a:solidFill>
            <a:srgbClr val="FFFFFF"/>
          </a:solidFill>
          <a:ln/>
        </p:spPr>
      </p:sp>
      <p:pic>
        <p:nvPicPr>
          <p:cNvPr id="39" name="Image 5" descr="preencoded.png">    </p:cNvPr>
          <p:cNvPicPr>
            <a:picLocks noChangeAspect="1"/>
          </p:cNvPicPr>
          <p:nvPr/>
        </p:nvPicPr>
        <p:blipFill>
          <a:blip r:embed="rId6"/>
          <a:stretch>
            <a:fillRect/>
          </a:stretch>
        </p:blipFill>
        <p:spPr>
          <a:xfrm>
            <a:off x="5907024" y="2240280"/>
            <a:ext cx="365760" cy="365760"/>
          </a:xfrm>
          <a:prstGeom prst="rect">
            <a:avLst/>
          </a:prstGeom>
        </p:spPr>
      </p:pic>
      <p:sp>
        <p:nvSpPr>
          <p:cNvPr id="40" name="Text 32"/>
          <p:cNvSpPr txBox="1"/>
          <p:nvPr/>
        </p:nvSpPr>
        <p:spPr>
          <a:xfrm>
            <a:off x="6492240" y="2011680"/>
            <a:ext cx="777240" cy="822960"/>
          </a:xfrm>
          <a:prstGeom prst="rect">
            <a:avLst/>
          </a:prstGeom>
          <a:noFill/>
          <a:ln/>
        </p:spPr>
        <p:txBody>
          <a:bodyPr wrap="square" lIns="0" tIns="0" rIns="0" bIns="0" rtlCol="0" anchor="ctr"/>
          <a:lstStyle/>
          <a:p>
            <a:pPr algn="l" indent="0" marL="0">
              <a:buNone/>
            </a:pPr>
            <a:r>
              <a:rPr lang="en-US" sz="1000" b="1" dirty="0">
                <a:solidFill>
                  <a:srgbClr val="FFFFFF"/>
                </a:solidFill>
                <a:latin typeface="Meiryo UI" pitchFamily="34" charset="0"/>
                <a:ea typeface="Meiryo UI" pitchFamily="34" charset="-122"/>
                <a:cs typeface="Meiryo UI" pitchFamily="34" charset="-120"/>
              </a:rPr>
              <a:t>Copilot Studio</a:t>
            </a:r>
            <a:endParaRPr lang="en-US" sz="1000" dirty="0"/>
          </a:p>
          <a:p>
            <a:pPr algn="l" indent="0" marL="0">
              <a:buNone/>
            </a:pPr>
            <a:r>
              <a:rPr lang="en-US" sz="900" dirty="0">
                <a:solidFill>
                  <a:srgbClr val="E6F2F2"/>
                </a:solidFill>
                <a:latin typeface="Meiryo UI" pitchFamily="34" charset="0"/>
                <a:ea typeface="Meiryo UI" pitchFamily="34" charset="-122"/>
                <a:cs typeface="Meiryo UI" pitchFamily="34" charset="-120"/>
              </a:rPr>
              <a:t>エージェント</a:t>
            </a:r>
            <a:endParaRPr lang="en-US" sz="1000" dirty="0"/>
          </a:p>
        </p:txBody>
      </p:sp>
      <p:sp>
        <p:nvSpPr>
          <p:cNvPr id="41" name="Shape 33"/>
          <p:cNvSpPr/>
          <p:nvPr/>
        </p:nvSpPr>
        <p:spPr>
          <a:xfrm>
            <a:off x="6537960" y="2852928"/>
            <a:ext cx="0" cy="164592"/>
          </a:xfrm>
          <a:prstGeom prst="line">
            <a:avLst/>
          </a:prstGeom>
          <a:noFill/>
          <a:ln w="22225">
            <a:solidFill>
              <a:srgbClr val="9AA5B4"/>
            </a:solidFill>
            <a:prstDash val="solid"/>
            <a:headEnd type="triangle"/>
            <a:tailEnd type="triangle"/>
          </a:ln>
        </p:spPr>
      </p:sp>
      <p:sp>
        <p:nvSpPr>
          <p:cNvPr id="42" name="Shape 34"/>
          <p:cNvSpPr/>
          <p:nvPr/>
        </p:nvSpPr>
        <p:spPr>
          <a:xfrm>
            <a:off x="5760720" y="3035808"/>
            <a:ext cx="1554480" cy="411480"/>
          </a:xfrm>
          <a:prstGeom prst="roundRect">
            <a:avLst>
              <a:gd name="adj" fmla="val 17778"/>
            </a:avLst>
          </a:prstGeom>
          <a:solidFill>
            <a:srgbClr val="FDEBD3"/>
          </a:solidFill>
          <a:ln/>
        </p:spPr>
      </p:sp>
      <p:pic>
        <p:nvPicPr>
          <p:cNvPr id="43" name="Image 6" descr="preencoded.png">    </p:cNvPr>
          <p:cNvPicPr>
            <a:picLocks noChangeAspect="1"/>
          </p:cNvPicPr>
          <p:nvPr/>
        </p:nvPicPr>
        <p:blipFill>
          <a:blip r:embed="rId7"/>
          <a:stretch>
            <a:fillRect/>
          </a:stretch>
        </p:blipFill>
        <p:spPr>
          <a:xfrm>
            <a:off x="5870448" y="3113532"/>
            <a:ext cx="256032" cy="256032"/>
          </a:xfrm>
          <a:prstGeom prst="rect">
            <a:avLst/>
          </a:prstGeom>
        </p:spPr>
      </p:pic>
      <p:sp>
        <p:nvSpPr>
          <p:cNvPr id="44" name="Text 35"/>
          <p:cNvSpPr txBox="1"/>
          <p:nvPr/>
        </p:nvSpPr>
        <p:spPr>
          <a:xfrm>
            <a:off x="6217920" y="3035808"/>
            <a:ext cx="1051560" cy="4114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Teamsで対話</a:t>
            </a:r>
            <a:endParaRPr lang="en-US" sz="950" dirty="0"/>
          </a:p>
        </p:txBody>
      </p:sp>
      <p:sp>
        <p:nvSpPr>
          <p:cNvPr id="45" name="Shape 36"/>
          <p:cNvSpPr/>
          <p:nvPr/>
        </p:nvSpPr>
        <p:spPr>
          <a:xfrm>
            <a:off x="6537960" y="3465576"/>
            <a:ext cx="0" cy="73152"/>
          </a:xfrm>
          <a:prstGeom prst="line">
            <a:avLst/>
          </a:prstGeom>
          <a:noFill/>
          <a:ln w="22225">
            <a:solidFill>
              <a:srgbClr val="9AA5B4"/>
            </a:solidFill>
            <a:prstDash val="solid"/>
            <a:tailEnd type="triangle"/>
          </a:ln>
        </p:spPr>
      </p:sp>
      <p:sp>
        <p:nvSpPr>
          <p:cNvPr id="46" name="Shape 37"/>
          <p:cNvSpPr/>
          <p:nvPr/>
        </p:nvSpPr>
        <p:spPr>
          <a:xfrm>
            <a:off x="5760720" y="3538728"/>
            <a:ext cx="1554480" cy="411480"/>
          </a:xfrm>
          <a:prstGeom prst="roundRect">
            <a:avLst>
              <a:gd name="adj" fmla="val 17778"/>
            </a:avLst>
          </a:prstGeom>
          <a:solidFill>
            <a:srgbClr val="FDEBD3"/>
          </a:solidFill>
          <a:ln/>
        </p:spPr>
      </p:sp>
      <p:pic>
        <p:nvPicPr>
          <p:cNvPr id="47" name="Image 7" descr="preencoded.png">    </p:cNvPr>
          <p:cNvPicPr>
            <a:picLocks noChangeAspect="1"/>
          </p:cNvPicPr>
          <p:nvPr/>
        </p:nvPicPr>
        <p:blipFill>
          <a:blip r:embed="rId8"/>
          <a:stretch>
            <a:fillRect/>
          </a:stretch>
        </p:blipFill>
        <p:spPr>
          <a:xfrm>
            <a:off x="5870448" y="3616452"/>
            <a:ext cx="256032" cy="256032"/>
          </a:xfrm>
          <a:prstGeom prst="rect">
            <a:avLst/>
          </a:prstGeom>
        </p:spPr>
      </p:pic>
      <p:sp>
        <p:nvSpPr>
          <p:cNvPr id="48" name="Text 38"/>
          <p:cNvSpPr txBox="1"/>
          <p:nvPr/>
        </p:nvSpPr>
        <p:spPr>
          <a:xfrm>
            <a:off x="6217920" y="3538728"/>
            <a:ext cx="1051560" cy="4114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Airtableへ入力</a:t>
            </a:r>
            <a:endParaRPr lang="en-US" sz="950" dirty="0"/>
          </a:p>
        </p:txBody>
      </p:sp>
      <p:sp>
        <p:nvSpPr>
          <p:cNvPr id="49" name="Shape 39"/>
          <p:cNvSpPr/>
          <p:nvPr/>
        </p:nvSpPr>
        <p:spPr>
          <a:xfrm>
            <a:off x="7680960" y="1874520"/>
            <a:ext cx="3931920" cy="2514600"/>
          </a:xfrm>
          <a:prstGeom prst="roundRect">
            <a:avLst>
              <a:gd name="adj" fmla="val 2182"/>
            </a:avLst>
          </a:prstGeom>
          <a:solidFill>
            <a:srgbClr val="E3EAF5"/>
          </a:solidFill>
          <a:ln/>
        </p:spPr>
      </p:sp>
      <p:sp>
        <p:nvSpPr>
          <p:cNvPr id="50" name="Shape 40"/>
          <p:cNvSpPr/>
          <p:nvPr/>
        </p:nvSpPr>
        <p:spPr>
          <a:xfrm>
            <a:off x="7818120" y="1993392"/>
            <a:ext cx="384048" cy="384048"/>
          </a:xfrm>
          <a:prstGeom prst="ellipse">
            <a:avLst/>
          </a:prstGeom>
          <a:solidFill>
            <a:srgbClr val="FFFFFF"/>
          </a:solidFill>
          <a:ln/>
        </p:spPr>
      </p:sp>
      <p:pic>
        <p:nvPicPr>
          <p:cNvPr id="51" name="Image 8" descr="preencoded.png">    </p:cNvPr>
          <p:cNvPicPr>
            <a:picLocks noChangeAspect="1"/>
          </p:cNvPicPr>
          <p:nvPr/>
        </p:nvPicPr>
        <p:blipFill>
          <a:blip r:embed="rId9"/>
          <a:stretch>
            <a:fillRect/>
          </a:stretch>
        </p:blipFill>
        <p:spPr>
          <a:xfrm>
            <a:off x="7894930" y="2070202"/>
            <a:ext cx="230429" cy="230429"/>
          </a:xfrm>
          <a:prstGeom prst="rect">
            <a:avLst/>
          </a:prstGeom>
        </p:spPr>
      </p:pic>
      <p:sp>
        <p:nvSpPr>
          <p:cNvPr id="52" name="Text 41"/>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53" name="Text 42"/>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Copilot Studio（エージェント作成・Teams公開）</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Automate Premium（HTTP・Airtableコネクタ）</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Dataverse または SharePointリスト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GCP→M365の転送（共通要素①）</a:t>
            </a:r>
            <a:endParaRPr lang="en-US" sz="1100" dirty="0"/>
          </a:p>
        </p:txBody>
      </p:sp>
      <p:sp>
        <p:nvSpPr>
          <p:cNvPr id="54" name="Shape 43"/>
          <p:cNvSpPr/>
          <p:nvPr/>
        </p:nvSpPr>
        <p:spPr>
          <a:xfrm>
            <a:off x="548640" y="4572000"/>
            <a:ext cx="3566160" cy="1783080"/>
          </a:xfrm>
          <a:prstGeom prst="roundRect">
            <a:avLst>
              <a:gd name="adj" fmla="val 3077"/>
            </a:avLst>
          </a:prstGeom>
          <a:solidFill>
            <a:srgbClr val="D9F2F1"/>
          </a:solidFill>
          <a:ln/>
        </p:spPr>
      </p:sp>
      <p:sp>
        <p:nvSpPr>
          <p:cNvPr id="55" name="Shape 44"/>
          <p:cNvSpPr/>
          <p:nvPr/>
        </p:nvSpPr>
        <p:spPr>
          <a:xfrm>
            <a:off x="685800" y="4690872"/>
            <a:ext cx="384048" cy="384048"/>
          </a:xfrm>
          <a:prstGeom prst="ellipse">
            <a:avLst/>
          </a:prstGeom>
          <a:solidFill>
            <a:srgbClr val="FFFFFF"/>
          </a:solidFill>
          <a:ln/>
        </p:spPr>
      </p:sp>
      <p:pic>
        <p:nvPicPr>
          <p:cNvPr id="56" name="Image 9" descr="preencoded.png">    </p:cNvPr>
          <p:cNvPicPr>
            <a:picLocks noChangeAspect="1"/>
          </p:cNvPicPr>
          <p:nvPr/>
        </p:nvPicPr>
        <p:blipFill>
          <a:blip r:embed="rId10"/>
          <a:stretch>
            <a:fillRect/>
          </a:stretch>
        </p:blipFill>
        <p:spPr>
          <a:xfrm>
            <a:off x="762610" y="4767682"/>
            <a:ext cx="230429" cy="230429"/>
          </a:xfrm>
          <a:prstGeom prst="rect">
            <a:avLst/>
          </a:prstGeom>
        </p:spPr>
      </p:pic>
      <p:sp>
        <p:nvSpPr>
          <p:cNvPr id="57" name="Text 45"/>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8" name="Text 46"/>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最新のデータを自動で参照できる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全員が同じエージェントを使い、品質が揃う</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Teamsから使え、業務の変化が小さい</a:t>
            </a:r>
            <a:endParaRPr lang="en-US" sz="1150" dirty="0"/>
          </a:p>
        </p:txBody>
      </p:sp>
      <p:sp>
        <p:nvSpPr>
          <p:cNvPr id="59" name="Shape 47"/>
          <p:cNvSpPr/>
          <p:nvPr/>
        </p:nvSpPr>
        <p:spPr>
          <a:xfrm>
            <a:off x="4297680" y="4572000"/>
            <a:ext cx="3566160" cy="1783080"/>
          </a:xfrm>
          <a:prstGeom prst="roundRect">
            <a:avLst>
              <a:gd name="adj" fmla="val 3077"/>
            </a:avLst>
          </a:prstGeom>
          <a:solidFill>
            <a:srgbClr val="FBE3E3"/>
          </a:solidFill>
          <a:ln/>
        </p:spPr>
      </p:sp>
      <p:sp>
        <p:nvSpPr>
          <p:cNvPr id="60" name="Shape 48"/>
          <p:cNvSpPr/>
          <p:nvPr/>
        </p:nvSpPr>
        <p:spPr>
          <a:xfrm>
            <a:off x="4434840" y="4690872"/>
            <a:ext cx="384048" cy="384048"/>
          </a:xfrm>
          <a:prstGeom prst="ellipse">
            <a:avLst/>
          </a:prstGeom>
          <a:solidFill>
            <a:srgbClr val="FFFFFF"/>
          </a:solidFill>
          <a:ln/>
        </p:spPr>
      </p:sp>
      <p:pic>
        <p:nvPicPr>
          <p:cNvPr id="61" name="Image 10" descr="preencoded.png">    </p:cNvPr>
          <p:cNvPicPr>
            <a:picLocks noChangeAspect="1"/>
          </p:cNvPicPr>
          <p:nvPr/>
        </p:nvPicPr>
        <p:blipFill>
          <a:blip r:embed="rId11"/>
          <a:stretch>
            <a:fillRect/>
          </a:stretch>
        </p:blipFill>
        <p:spPr>
          <a:xfrm>
            <a:off x="4511650" y="4767682"/>
            <a:ext cx="230429" cy="230429"/>
          </a:xfrm>
          <a:prstGeom prst="rect">
            <a:avLst/>
          </a:prstGeom>
        </p:spPr>
      </p:pic>
      <p:sp>
        <p:nvSpPr>
          <p:cNvPr id="62" name="Text 49"/>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63" name="Text 50"/>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Airtableとの二重管理（同期の設計）</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転送した数値の扱いの精度は検証が必要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Copilot Studioの利用量に応じた課金</a:t>
            </a:r>
            <a:endParaRPr lang="en-US" sz="1150" dirty="0"/>
          </a:p>
        </p:txBody>
      </p:sp>
      <p:sp>
        <p:nvSpPr>
          <p:cNvPr id="64" name="Shape 51"/>
          <p:cNvSpPr/>
          <p:nvPr/>
        </p:nvSpPr>
        <p:spPr>
          <a:xfrm>
            <a:off x="8046720" y="4572000"/>
            <a:ext cx="3566160" cy="1783080"/>
          </a:xfrm>
          <a:prstGeom prst="roundRect">
            <a:avLst>
              <a:gd name="adj" fmla="val 3077"/>
            </a:avLst>
          </a:prstGeom>
          <a:solidFill>
            <a:srgbClr val="FDEBD3"/>
          </a:solidFill>
          <a:ln/>
        </p:spPr>
      </p:sp>
      <p:sp>
        <p:nvSpPr>
          <p:cNvPr id="65" name="Shape 52"/>
          <p:cNvSpPr/>
          <p:nvPr/>
        </p:nvSpPr>
        <p:spPr>
          <a:xfrm>
            <a:off x="8183880" y="4690872"/>
            <a:ext cx="384048" cy="384048"/>
          </a:xfrm>
          <a:prstGeom prst="ellipse">
            <a:avLst/>
          </a:prstGeom>
          <a:solidFill>
            <a:srgbClr val="FFFFFF"/>
          </a:solidFill>
          <a:ln/>
        </p:spPr>
      </p:sp>
      <p:pic>
        <p:nvPicPr>
          <p:cNvPr id="66" name="Image 11" descr="preencoded.png">    </p:cNvPr>
          <p:cNvPicPr>
            <a:picLocks noChangeAspect="1"/>
          </p:cNvPicPr>
          <p:nvPr/>
        </p:nvPicPr>
        <p:blipFill>
          <a:blip r:embed="rId12"/>
          <a:stretch>
            <a:fillRect/>
          </a:stretch>
        </p:blipFill>
        <p:spPr>
          <a:xfrm>
            <a:off x="8260690" y="4767682"/>
            <a:ext cx="230429" cy="230429"/>
          </a:xfrm>
          <a:prstGeom prst="rect">
            <a:avLst/>
          </a:prstGeom>
        </p:spPr>
      </p:pic>
      <p:sp>
        <p:nvSpPr>
          <p:cNvPr id="67" name="Text 53"/>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8" name="Text 54"/>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数値をどの粒度に集計して渡すか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国別ポリシーの切り替え方法</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エージェントの管理者・更新体制</a:t>
            </a:r>
            <a:endParaRPr lang="en-US" sz="1150" dirty="0"/>
          </a:p>
        </p:txBody>
      </p:sp>
      <p:sp>
        <p:nvSpPr>
          <p:cNvPr id="69" name="Text 55"/>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A4｜Power Automateで自動起案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Airtableを使ったまま、M365側の処理で配信カードの下書きを自動で作成する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26</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3〜4ヶ月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57400"/>
            <a:ext cx="2011680" cy="731520"/>
          </a:xfrm>
          <a:prstGeom prst="roundRect">
            <a:avLst>
              <a:gd name="adj" fmla="val 10000"/>
            </a:avLst>
          </a:prstGeom>
          <a:solidFill>
            <a:srgbClr val="D9F2F1"/>
          </a:solidFill>
          <a:ln/>
        </p:spPr>
      </p:sp>
      <p:pic>
        <p:nvPicPr>
          <p:cNvPr id="18" name="Image 0" descr="preencoded.png">    </p:cNvPr>
          <p:cNvPicPr>
            <a:picLocks noChangeAspect="1"/>
          </p:cNvPicPr>
          <p:nvPr/>
        </p:nvPicPr>
        <p:blipFill>
          <a:blip r:embed="rId1"/>
          <a:stretch>
            <a:fillRect/>
          </a:stretch>
        </p:blipFill>
        <p:spPr>
          <a:xfrm>
            <a:off x="841248" y="2240280"/>
            <a:ext cx="365760" cy="365760"/>
          </a:xfrm>
          <a:prstGeom prst="rect">
            <a:avLst/>
          </a:prstGeom>
        </p:spPr>
      </p:pic>
      <p:sp>
        <p:nvSpPr>
          <p:cNvPr id="19" name="Text 16"/>
          <p:cNvSpPr txBox="1"/>
          <p:nvPr/>
        </p:nvSpPr>
        <p:spPr>
          <a:xfrm>
            <a:off x="1298448" y="205740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トリガー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カード作成／夜間</a:t>
            </a:r>
            <a:endParaRPr lang="en-US" sz="1050" dirty="0"/>
          </a:p>
        </p:txBody>
      </p:sp>
      <p:sp>
        <p:nvSpPr>
          <p:cNvPr id="20" name="Shape 17"/>
          <p:cNvSpPr/>
          <p:nvPr/>
        </p:nvSpPr>
        <p:spPr>
          <a:xfrm>
            <a:off x="2788920" y="2423160"/>
            <a:ext cx="182880" cy="0"/>
          </a:xfrm>
          <a:prstGeom prst="line">
            <a:avLst/>
          </a:prstGeom>
          <a:noFill/>
          <a:ln w="22225">
            <a:solidFill>
              <a:srgbClr val="9AA5B4"/>
            </a:solidFill>
            <a:prstDash val="solid"/>
            <a:tailEnd type="triangle"/>
          </a:ln>
        </p:spPr>
      </p:sp>
      <p:sp>
        <p:nvSpPr>
          <p:cNvPr id="21" name="Shape 18"/>
          <p:cNvSpPr/>
          <p:nvPr/>
        </p:nvSpPr>
        <p:spPr>
          <a:xfrm>
            <a:off x="3017520" y="2057400"/>
            <a:ext cx="2011680" cy="731520"/>
          </a:xfrm>
          <a:prstGeom prst="roundRect">
            <a:avLst>
              <a:gd name="adj" fmla="val 10000"/>
            </a:avLst>
          </a:prstGeom>
          <a:solidFill>
            <a:srgbClr val="D9F2F1"/>
          </a:solidFill>
          <a:ln/>
        </p:spPr>
      </p:sp>
      <p:pic>
        <p:nvPicPr>
          <p:cNvPr id="22" name="Image 1" descr="preencoded.png">    </p:cNvPr>
          <p:cNvPicPr>
            <a:picLocks noChangeAspect="1"/>
          </p:cNvPicPr>
          <p:nvPr/>
        </p:nvPicPr>
        <p:blipFill>
          <a:blip r:embed="rId2"/>
          <a:stretch>
            <a:fillRect/>
          </a:stretch>
        </p:blipFill>
        <p:spPr>
          <a:xfrm>
            <a:off x="3127248" y="2240280"/>
            <a:ext cx="365760" cy="365760"/>
          </a:xfrm>
          <a:prstGeom prst="rect">
            <a:avLst/>
          </a:prstGeom>
        </p:spPr>
      </p:pic>
      <p:sp>
        <p:nvSpPr>
          <p:cNvPr id="23" name="Text 19"/>
          <p:cNvSpPr txBox="1"/>
          <p:nvPr/>
        </p:nvSpPr>
        <p:spPr>
          <a:xfrm>
            <a:off x="3584448" y="205740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Power Automate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データ取得・スコア</a:t>
            </a:r>
            <a:endParaRPr lang="en-US" sz="1050" dirty="0"/>
          </a:p>
        </p:txBody>
      </p:sp>
      <p:sp>
        <p:nvSpPr>
          <p:cNvPr id="24" name="Shape 20"/>
          <p:cNvSpPr/>
          <p:nvPr/>
        </p:nvSpPr>
        <p:spPr>
          <a:xfrm>
            <a:off x="5074920" y="2423160"/>
            <a:ext cx="182880" cy="0"/>
          </a:xfrm>
          <a:prstGeom prst="line">
            <a:avLst/>
          </a:prstGeom>
          <a:noFill/>
          <a:ln w="22225">
            <a:solidFill>
              <a:srgbClr val="9AA5B4"/>
            </a:solidFill>
            <a:prstDash val="solid"/>
            <a:tailEnd type="triangle"/>
          </a:ln>
        </p:spPr>
      </p:sp>
      <p:sp>
        <p:nvSpPr>
          <p:cNvPr id="25" name="Shape 21"/>
          <p:cNvSpPr/>
          <p:nvPr/>
        </p:nvSpPr>
        <p:spPr>
          <a:xfrm>
            <a:off x="5303520" y="2057400"/>
            <a:ext cx="2011680" cy="731520"/>
          </a:xfrm>
          <a:prstGeom prst="roundRect">
            <a:avLst>
              <a:gd name="adj" fmla="val 10000"/>
            </a:avLst>
          </a:prstGeom>
          <a:solidFill>
            <a:srgbClr val="0E9F9A"/>
          </a:solidFill>
          <a:ln/>
        </p:spPr>
      </p:sp>
      <p:sp>
        <p:nvSpPr>
          <p:cNvPr id="26" name="Shape 22"/>
          <p:cNvSpPr/>
          <p:nvPr/>
        </p:nvSpPr>
        <p:spPr>
          <a:xfrm>
            <a:off x="5376672" y="216712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5449824" y="2240280"/>
            <a:ext cx="365760" cy="365760"/>
          </a:xfrm>
          <a:prstGeom prst="rect">
            <a:avLst/>
          </a:prstGeom>
        </p:spPr>
      </p:pic>
      <p:sp>
        <p:nvSpPr>
          <p:cNvPr id="28" name="Text 23"/>
          <p:cNvSpPr txBox="1"/>
          <p:nvPr/>
        </p:nvSpPr>
        <p:spPr>
          <a:xfrm>
            <a:off x="6035040" y="2057400"/>
            <a:ext cx="1234440" cy="73152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AI生成</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AI Builder／Copilot Studio</a:t>
            </a:r>
            <a:endParaRPr lang="en-US" sz="1050" dirty="0"/>
          </a:p>
        </p:txBody>
      </p:sp>
      <p:sp>
        <p:nvSpPr>
          <p:cNvPr id="29" name="Shape 24"/>
          <p:cNvSpPr/>
          <p:nvPr/>
        </p:nvSpPr>
        <p:spPr>
          <a:xfrm>
            <a:off x="6309360" y="2834640"/>
            <a:ext cx="0" cy="365760"/>
          </a:xfrm>
          <a:prstGeom prst="line">
            <a:avLst/>
          </a:prstGeom>
          <a:noFill/>
          <a:ln w="22225">
            <a:solidFill>
              <a:srgbClr val="9AA5B4"/>
            </a:solidFill>
            <a:prstDash val="solid"/>
            <a:tailEnd type="triangle"/>
          </a:ln>
        </p:spPr>
      </p:sp>
      <p:sp>
        <p:nvSpPr>
          <p:cNvPr id="30" name="Shape 25"/>
          <p:cNvSpPr/>
          <p:nvPr/>
        </p:nvSpPr>
        <p:spPr>
          <a:xfrm>
            <a:off x="5303520" y="3246120"/>
            <a:ext cx="2011680" cy="731520"/>
          </a:xfrm>
          <a:prstGeom prst="roundRect">
            <a:avLst>
              <a:gd name="adj" fmla="val 10000"/>
            </a:avLst>
          </a:prstGeom>
          <a:solidFill>
            <a:srgbClr val="D9F2F1"/>
          </a:solidFill>
          <a:ln/>
        </p:spPr>
      </p:sp>
      <p:pic>
        <p:nvPicPr>
          <p:cNvPr id="31" name="Image 3" descr="preencoded.png">    </p:cNvPr>
          <p:cNvPicPr>
            <a:picLocks noChangeAspect="1"/>
          </p:cNvPicPr>
          <p:nvPr/>
        </p:nvPicPr>
        <p:blipFill>
          <a:blip r:embed="rId4"/>
          <a:stretch>
            <a:fillRect/>
          </a:stretch>
        </p:blipFill>
        <p:spPr>
          <a:xfrm>
            <a:off x="5413248" y="3429000"/>
            <a:ext cx="365760" cy="365760"/>
          </a:xfrm>
          <a:prstGeom prst="rect">
            <a:avLst/>
          </a:prstGeom>
        </p:spPr>
      </p:pic>
      <p:sp>
        <p:nvSpPr>
          <p:cNvPr id="32" name="Text 26"/>
          <p:cNvSpPr txBox="1"/>
          <p:nvPr/>
        </p:nvSpPr>
        <p:spPr>
          <a:xfrm>
            <a:off x="5870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下書きを書き戻し</a:t>
            </a:r>
            <a:endParaRPr lang="en-US" sz="1050" dirty="0"/>
          </a:p>
        </p:txBody>
      </p:sp>
      <p:sp>
        <p:nvSpPr>
          <p:cNvPr id="33" name="Shape 27"/>
          <p:cNvSpPr/>
          <p:nvPr/>
        </p:nvSpPr>
        <p:spPr>
          <a:xfrm flipH="1">
            <a:off x="5074920" y="3611880"/>
            <a:ext cx="182880" cy="0"/>
          </a:xfrm>
          <a:prstGeom prst="line">
            <a:avLst/>
          </a:prstGeom>
          <a:noFill/>
          <a:ln w="22225">
            <a:solidFill>
              <a:srgbClr val="9AA5B4"/>
            </a:solidFill>
            <a:prstDash val="solid"/>
            <a:tailEnd type="triangle"/>
          </a:ln>
        </p:spPr>
      </p:sp>
      <p:sp>
        <p:nvSpPr>
          <p:cNvPr id="34" name="Shape 28"/>
          <p:cNvSpPr/>
          <p:nvPr/>
        </p:nvSpPr>
        <p:spPr>
          <a:xfrm>
            <a:off x="3017520" y="3246120"/>
            <a:ext cx="2011680" cy="731520"/>
          </a:xfrm>
          <a:prstGeom prst="roundRect">
            <a:avLst>
              <a:gd name="adj" fmla="val 10000"/>
            </a:avLst>
          </a:prstGeom>
          <a:solidFill>
            <a:srgbClr val="FDEBD3"/>
          </a:solidFill>
          <a:ln/>
        </p:spPr>
      </p:sp>
      <p:pic>
        <p:nvPicPr>
          <p:cNvPr id="35" name="Image 4" descr="preencoded.png">    </p:cNvPr>
          <p:cNvPicPr>
            <a:picLocks noChangeAspect="1"/>
          </p:cNvPicPr>
          <p:nvPr/>
        </p:nvPicPr>
        <p:blipFill>
          <a:blip r:embed="rId5"/>
          <a:stretch>
            <a:fillRect/>
          </a:stretch>
        </p:blipFill>
        <p:spPr>
          <a:xfrm>
            <a:off x="3127248" y="3429000"/>
            <a:ext cx="365760" cy="365760"/>
          </a:xfrm>
          <a:prstGeom prst="rect">
            <a:avLst/>
          </a:prstGeom>
        </p:spPr>
      </p:pic>
      <p:sp>
        <p:nvSpPr>
          <p:cNvPr id="36" name="Text 29"/>
          <p:cNvSpPr txBox="1"/>
          <p:nvPr/>
        </p:nvSpPr>
        <p:spPr>
          <a:xfrm>
            <a:off x="3584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Teams通知</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人がレビュー・承認</a:t>
            </a:r>
            <a:endParaRPr lang="en-US" sz="1050" dirty="0"/>
          </a:p>
        </p:txBody>
      </p:sp>
      <p:sp>
        <p:nvSpPr>
          <p:cNvPr id="37" name="Shape 30"/>
          <p:cNvSpPr/>
          <p:nvPr/>
        </p:nvSpPr>
        <p:spPr>
          <a:xfrm>
            <a:off x="731520" y="3246120"/>
            <a:ext cx="2011680" cy="731520"/>
          </a:xfrm>
          <a:prstGeom prst="roundRect">
            <a:avLst>
              <a:gd name="adj" fmla="val 10000"/>
            </a:avLst>
          </a:prstGeom>
          <a:solidFill>
            <a:srgbClr val="E3EAF5"/>
          </a:solidFill>
          <a:ln/>
        </p:spPr>
      </p:sp>
      <p:pic>
        <p:nvPicPr>
          <p:cNvPr id="38" name="Image 5" descr="preencoded.png">    </p:cNvPr>
          <p:cNvPicPr>
            <a:picLocks noChangeAspect="1"/>
          </p:cNvPicPr>
          <p:nvPr/>
        </p:nvPicPr>
        <p:blipFill>
          <a:blip r:embed="rId6"/>
          <a:stretch>
            <a:fillRect/>
          </a:stretch>
        </p:blipFill>
        <p:spPr>
          <a:xfrm>
            <a:off x="841248" y="3429000"/>
            <a:ext cx="365760" cy="365760"/>
          </a:xfrm>
          <a:prstGeom prst="rect">
            <a:avLst/>
          </a:prstGeom>
        </p:spPr>
      </p:pic>
      <p:sp>
        <p:nvSpPr>
          <p:cNvPr id="39" name="Text 31"/>
          <p:cNvSpPr txBox="1"/>
          <p:nvPr/>
        </p:nvSpPr>
        <p:spPr>
          <a:xfrm>
            <a:off x="1298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データ基盤</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A3で構築したもの</a:t>
            </a:r>
            <a:endParaRPr lang="en-US" sz="1050" dirty="0"/>
          </a:p>
        </p:txBody>
      </p:sp>
      <p:sp>
        <p:nvSpPr>
          <p:cNvPr id="40" name="Shape 32"/>
          <p:cNvSpPr/>
          <p:nvPr/>
        </p:nvSpPr>
        <p:spPr>
          <a:xfrm flipV="1">
            <a:off x="2788920" y="2834640"/>
            <a:ext cx="365760" cy="548640"/>
          </a:xfrm>
          <a:prstGeom prst="line">
            <a:avLst/>
          </a:prstGeom>
          <a:noFill/>
          <a:ln w="22225">
            <a:solidFill>
              <a:srgbClr val="9AA5B4"/>
            </a:solidFill>
            <a:prstDash val="solid"/>
            <a:tailEnd type="triangle"/>
          </a:ln>
        </p:spPr>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A3の一式（データ基盤・ナレッジ）</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起案フロー（Airtableとの連携はHTTP＋PAT）</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 BuilderのプロンプトまたはCopilot Studioの呼び出し</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商品スコアリングのロジック</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Teams承認フローとエラー通知</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「作る」から「選ぶ・直す」業務に変わる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すべてのカードが同じ基準で起案される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毎日×複数国の量に対応できる</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Airtable連携が複雑になり、障害点が増える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Airtable側の項目変更に弱い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システムをまたぐ権限・監査</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起動の方式（定期確認か即時送信か）→個別論点</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何日前に、どの単位で生成するか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人のレビューを必須にする範囲</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A5｜Microsoft Listsに移行</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配信カードをMicrosoft Listsに移し、標準のカレンダービューでAirtableに近い運用をM365上で行う</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27</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Microsoft Lists</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1〜3ヶ月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57400"/>
            <a:ext cx="2148840" cy="914400"/>
          </a:xfrm>
          <a:prstGeom prst="roundRect">
            <a:avLst>
              <a:gd name="adj" fmla="val 8000"/>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331720"/>
            <a:ext cx="365760" cy="365760"/>
          </a:xfrm>
          <a:prstGeom prst="rect">
            <a:avLst/>
          </a:prstGeom>
        </p:spPr>
      </p:pic>
      <p:sp>
        <p:nvSpPr>
          <p:cNvPr id="19" name="Text 16"/>
          <p:cNvSpPr txBox="1"/>
          <p:nvPr/>
        </p:nvSpPr>
        <p:spPr>
          <a:xfrm>
            <a:off x="1298448" y="2057400"/>
            <a:ext cx="1536192" cy="9144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Microsoft Lists</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配信カード</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カレンダー／ボード表示</a:t>
            </a:r>
            <a:endParaRPr lang="en-US" sz="1050" dirty="0"/>
          </a:p>
        </p:txBody>
      </p:sp>
      <p:sp>
        <p:nvSpPr>
          <p:cNvPr id="20" name="Shape 17"/>
          <p:cNvSpPr/>
          <p:nvPr/>
        </p:nvSpPr>
        <p:spPr>
          <a:xfrm>
            <a:off x="2926080" y="2514600"/>
            <a:ext cx="228600" cy="0"/>
          </a:xfrm>
          <a:prstGeom prst="line">
            <a:avLst/>
          </a:prstGeom>
          <a:noFill/>
          <a:ln w="22225">
            <a:solidFill>
              <a:srgbClr val="9AA5B4"/>
            </a:solidFill>
            <a:prstDash val="solid"/>
            <a:headEnd type="triangle"/>
            <a:tailEnd type="triangle"/>
          </a:ln>
        </p:spPr>
      </p:sp>
      <p:sp>
        <p:nvSpPr>
          <p:cNvPr id="21" name="Shape 18"/>
          <p:cNvSpPr/>
          <p:nvPr/>
        </p:nvSpPr>
        <p:spPr>
          <a:xfrm>
            <a:off x="3200400" y="2057400"/>
            <a:ext cx="2011680" cy="914400"/>
          </a:xfrm>
          <a:prstGeom prst="roundRect">
            <a:avLst>
              <a:gd name="adj" fmla="val 8000"/>
            </a:avLst>
          </a:prstGeom>
          <a:solidFill>
            <a:srgbClr val="D9F2F1"/>
          </a:solidFill>
          <a:ln/>
        </p:spPr>
      </p:sp>
      <p:pic>
        <p:nvPicPr>
          <p:cNvPr id="22" name="Image 1" descr="preencoded.png">    </p:cNvPr>
          <p:cNvPicPr>
            <a:picLocks noChangeAspect="1"/>
          </p:cNvPicPr>
          <p:nvPr/>
        </p:nvPicPr>
        <p:blipFill>
          <a:blip r:embed="rId2"/>
          <a:stretch>
            <a:fillRect/>
          </a:stretch>
        </p:blipFill>
        <p:spPr>
          <a:xfrm>
            <a:off x="3310128" y="2331720"/>
            <a:ext cx="365760" cy="365760"/>
          </a:xfrm>
          <a:prstGeom prst="rect">
            <a:avLst/>
          </a:prstGeom>
        </p:spPr>
      </p:pic>
      <p:sp>
        <p:nvSpPr>
          <p:cNvPr id="23" name="Text 19"/>
          <p:cNvSpPr txBox="1"/>
          <p:nvPr/>
        </p:nvSpPr>
        <p:spPr>
          <a:xfrm>
            <a:off x="3767328" y="2057400"/>
            <a:ext cx="1399032" cy="9144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Power Automate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起案フロー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（SharePointは標準）</a:t>
            </a:r>
            <a:endParaRPr lang="en-US" sz="1050" dirty="0"/>
          </a:p>
        </p:txBody>
      </p:sp>
      <p:sp>
        <p:nvSpPr>
          <p:cNvPr id="24" name="Shape 20"/>
          <p:cNvSpPr/>
          <p:nvPr/>
        </p:nvSpPr>
        <p:spPr>
          <a:xfrm>
            <a:off x="5257800" y="2514600"/>
            <a:ext cx="228600" cy="0"/>
          </a:xfrm>
          <a:prstGeom prst="line">
            <a:avLst/>
          </a:prstGeom>
          <a:noFill/>
          <a:ln w="22225">
            <a:solidFill>
              <a:srgbClr val="9AA5B4"/>
            </a:solidFill>
            <a:prstDash val="solid"/>
            <a:headEnd type="triangle"/>
            <a:tailEnd type="triangle"/>
          </a:ln>
        </p:spPr>
      </p:sp>
      <p:sp>
        <p:nvSpPr>
          <p:cNvPr id="25" name="Shape 21"/>
          <p:cNvSpPr/>
          <p:nvPr/>
        </p:nvSpPr>
        <p:spPr>
          <a:xfrm>
            <a:off x="5532120" y="2057400"/>
            <a:ext cx="1783080" cy="914400"/>
          </a:xfrm>
          <a:prstGeom prst="roundRect">
            <a:avLst>
              <a:gd name="adj" fmla="val 8000"/>
            </a:avLst>
          </a:prstGeom>
          <a:solidFill>
            <a:srgbClr val="0E9F9A"/>
          </a:solidFill>
          <a:ln/>
        </p:spPr>
      </p:sp>
      <p:sp>
        <p:nvSpPr>
          <p:cNvPr id="26" name="Shape 22"/>
          <p:cNvSpPr/>
          <p:nvPr/>
        </p:nvSpPr>
        <p:spPr>
          <a:xfrm>
            <a:off x="5605272" y="225856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5678424" y="2331720"/>
            <a:ext cx="365760" cy="365760"/>
          </a:xfrm>
          <a:prstGeom prst="rect">
            <a:avLst/>
          </a:prstGeom>
        </p:spPr>
      </p:pic>
      <p:sp>
        <p:nvSpPr>
          <p:cNvPr id="28" name="Text 23"/>
          <p:cNvSpPr txBox="1"/>
          <p:nvPr/>
        </p:nvSpPr>
        <p:spPr>
          <a:xfrm>
            <a:off x="6263640" y="2057400"/>
            <a:ext cx="1005840" cy="91440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AI Builder</a:t>
            </a:r>
            <a:endParaRPr lang="en-US" sz="1050" dirty="0"/>
          </a:p>
        </p:txBody>
      </p:sp>
      <p:sp>
        <p:nvSpPr>
          <p:cNvPr id="29" name="Shape 24"/>
          <p:cNvSpPr/>
          <p:nvPr/>
        </p:nvSpPr>
        <p:spPr>
          <a:xfrm>
            <a:off x="1801368" y="3017520"/>
            <a:ext cx="0" cy="274320"/>
          </a:xfrm>
          <a:prstGeom prst="line">
            <a:avLst/>
          </a:prstGeom>
          <a:noFill/>
          <a:ln w="22225">
            <a:solidFill>
              <a:srgbClr val="9AA5B4"/>
            </a:solidFill>
            <a:prstDash val="solid"/>
            <a:headEnd type="triangle"/>
            <a:tailEnd type="triangle"/>
          </a:ln>
        </p:spPr>
      </p:sp>
      <p:sp>
        <p:nvSpPr>
          <p:cNvPr id="30" name="Shape 25"/>
          <p:cNvSpPr/>
          <p:nvPr/>
        </p:nvSpPr>
        <p:spPr>
          <a:xfrm>
            <a:off x="731520" y="3337560"/>
            <a:ext cx="2148840" cy="685800"/>
          </a:xfrm>
          <a:prstGeom prst="roundRect">
            <a:avLst>
              <a:gd name="adj" fmla="val 10667"/>
            </a:avLst>
          </a:prstGeom>
          <a:solidFill>
            <a:srgbClr val="FDEBD3"/>
          </a:solidFill>
          <a:ln/>
        </p:spPr>
      </p:sp>
      <p:pic>
        <p:nvPicPr>
          <p:cNvPr id="31" name="Image 3" descr="preencoded.png">    </p:cNvPr>
          <p:cNvPicPr>
            <a:picLocks noChangeAspect="1"/>
          </p:cNvPicPr>
          <p:nvPr/>
        </p:nvPicPr>
        <p:blipFill>
          <a:blip r:embed="rId4"/>
          <a:stretch>
            <a:fillRect/>
          </a:stretch>
        </p:blipFill>
        <p:spPr>
          <a:xfrm>
            <a:off x="841248" y="3497580"/>
            <a:ext cx="365760" cy="365760"/>
          </a:xfrm>
          <a:prstGeom prst="rect">
            <a:avLst/>
          </a:prstGeom>
        </p:spPr>
      </p:pic>
      <p:sp>
        <p:nvSpPr>
          <p:cNvPr id="32" name="Text 26"/>
          <p:cNvSpPr txBox="1"/>
          <p:nvPr/>
        </p:nvSpPr>
        <p:spPr>
          <a:xfrm>
            <a:off x="1298448" y="3337560"/>
            <a:ext cx="153619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Teams</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タブでカレンダー表示</a:t>
            </a:r>
            <a:endParaRPr lang="en-US" sz="1050" dirty="0"/>
          </a:p>
        </p:txBody>
      </p:sp>
      <p:sp>
        <p:nvSpPr>
          <p:cNvPr id="33" name="Shape 27"/>
          <p:cNvSpPr/>
          <p:nvPr/>
        </p:nvSpPr>
        <p:spPr>
          <a:xfrm>
            <a:off x="3200400" y="3337560"/>
            <a:ext cx="2011680" cy="685800"/>
          </a:xfrm>
          <a:prstGeom prst="roundRect">
            <a:avLst>
              <a:gd name="adj" fmla="val 10667"/>
            </a:avLst>
          </a:prstGeom>
          <a:solidFill>
            <a:srgbClr val="E3EAF5"/>
          </a:solidFill>
          <a:ln/>
        </p:spPr>
      </p:sp>
      <p:pic>
        <p:nvPicPr>
          <p:cNvPr id="34" name="Image 4" descr="preencoded.png">    </p:cNvPr>
          <p:cNvPicPr>
            <a:picLocks noChangeAspect="1"/>
          </p:cNvPicPr>
          <p:nvPr/>
        </p:nvPicPr>
        <p:blipFill>
          <a:blip r:embed="rId5"/>
          <a:stretch>
            <a:fillRect/>
          </a:stretch>
        </p:blipFill>
        <p:spPr>
          <a:xfrm>
            <a:off x="3310128" y="3497580"/>
            <a:ext cx="365760" cy="365760"/>
          </a:xfrm>
          <a:prstGeom prst="rect">
            <a:avLst/>
          </a:prstGeom>
        </p:spPr>
      </p:pic>
      <p:sp>
        <p:nvSpPr>
          <p:cNvPr id="35" name="Text 28"/>
          <p:cNvSpPr txBox="1"/>
          <p:nvPr/>
        </p:nvSpPr>
        <p:spPr>
          <a:xfrm>
            <a:off x="3767328" y="3337560"/>
            <a:ext cx="139903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資料・ガイドライン</a:t>
            </a:r>
            <a:endParaRPr lang="en-US" sz="1050" dirty="0"/>
          </a:p>
        </p:txBody>
      </p:sp>
      <p:sp>
        <p:nvSpPr>
          <p:cNvPr id="36" name="Shape 29"/>
          <p:cNvSpPr/>
          <p:nvPr/>
        </p:nvSpPr>
        <p:spPr>
          <a:xfrm flipV="1">
            <a:off x="4663440" y="3017520"/>
            <a:ext cx="0" cy="274320"/>
          </a:xfrm>
          <a:prstGeom prst="line">
            <a:avLst/>
          </a:prstGeom>
          <a:noFill/>
          <a:ln w="22225">
            <a:solidFill>
              <a:srgbClr val="9AA5B4"/>
            </a:solidFill>
            <a:prstDash val="solid"/>
            <a:tailEnd type="triangle"/>
          </a:ln>
        </p:spPr>
      </p:sp>
      <p:sp>
        <p:nvSpPr>
          <p:cNvPr id="37" name="Shape 30"/>
          <p:cNvSpPr/>
          <p:nvPr/>
        </p:nvSpPr>
        <p:spPr>
          <a:xfrm>
            <a:off x="5532120" y="3337560"/>
            <a:ext cx="1783080" cy="685800"/>
          </a:xfrm>
          <a:prstGeom prst="roundRect">
            <a:avLst>
              <a:gd name="adj" fmla="val 10667"/>
            </a:avLst>
          </a:prstGeom>
          <a:solidFill>
            <a:srgbClr val="E3EAF5"/>
          </a:solidFill>
          <a:ln/>
        </p:spPr>
      </p:sp>
      <p:pic>
        <p:nvPicPr>
          <p:cNvPr id="38" name="Image 5" descr="preencoded.png">    </p:cNvPr>
          <p:cNvPicPr>
            <a:picLocks noChangeAspect="1"/>
          </p:cNvPicPr>
          <p:nvPr/>
        </p:nvPicPr>
        <p:blipFill>
          <a:blip r:embed="rId6"/>
          <a:stretch>
            <a:fillRect/>
          </a:stretch>
        </p:blipFill>
        <p:spPr>
          <a:xfrm>
            <a:off x="5641848" y="3497580"/>
            <a:ext cx="365760" cy="365760"/>
          </a:xfrm>
          <a:prstGeom prst="rect">
            <a:avLst/>
          </a:prstGeom>
        </p:spPr>
      </p:pic>
      <p:sp>
        <p:nvSpPr>
          <p:cNvPr id="39" name="Text 31"/>
          <p:cNvSpPr txBox="1"/>
          <p:nvPr/>
        </p:nvSpPr>
        <p:spPr>
          <a:xfrm>
            <a:off x="6099048" y="3337560"/>
            <a:ext cx="117043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数値データ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GCSから転送</a:t>
            </a:r>
            <a:endParaRPr lang="en-US" sz="1050" dirty="0"/>
          </a:p>
        </p:txBody>
      </p:sp>
      <p:sp>
        <p:nvSpPr>
          <p:cNvPr id="40" name="Shape 32"/>
          <p:cNvSpPr/>
          <p:nvPr/>
        </p:nvSpPr>
        <p:spPr>
          <a:xfrm flipV="1">
            <a:off x="6419088" y="3017520"/>
            <a:ext cx="0" cy="274320"/>
          </a:xfrm>
          <a:prstGeom prst="line">
            <a:avLst/>
          </a:prstGeom>
          <a:noFill/>
          <a:ln w="22225">
            <a:solidFill>
              <a:srgbClr val="9AA5B4"/>
            </a:solidFill>
            <a:prstDash val="solid"/>
            <a:tailEnd type="triangle"/>
          </a:ln>
        </p:spPr>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Microsoft Lists（カレンダー・ボード・グリッドビュー）</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列の設計（インデックス、商品とのルックアップ）</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Automate（SharePointコネクタは標準）</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生成部分：AI BuilderまたはCopilot Studio</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Airtableからのデータ移行</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追加ライセンスなしでカレンダー表示ができる（ドラッグで日付変更も可）</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Teamsのタブ表示や、SharePointの資料と同じ場所での管理ができる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開発をほぼ必要としない</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1つのビューで扱えるのは5,000件まで（インデックス・アーカイブの設計が必要）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リレーション・集計はAirtableより弱い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入力制御や画面の作り込みには限界がある</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配信カードの年間件数（国×チャネル×日）と保存期間</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商品マスタとの紐付け方</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国別の権限・ビューの設計</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A6｜Power Apps キャンバスアプリで画面を作り込む</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ローコード（Power Fx）で、カレンダー・工程レイヤー・チャットの画面を作り込む。開発の敷居は低いが、Airtable・code apps並みの画面には手間がかかる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28</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キャンバスアプリ</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Step3〜4</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3〜4ヶ月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2194560" cy="960120"/>
          </a:xfrm>
          <a:prstGeom prst="roundRect">
            <a:avLst>
              <a:gd name="adj" fmla="val 7619"/>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308860"/>
            <a:ext cx="365760" cy="365760"/>
          </a:xfrm>
          <a:prstGeom prst="rect">
            <a:avLst/>
          </a:prstGeom>
        </p:spPr>
      </p:pic>
      <p:sp>
        <p:nvSpPr>
          <p:cNvPr id="19" name="Text 16"/>
          <p:cNvSpPr txBox="1"/>
          <p:nvPr/>
        </p:nvSpPr>
        <p:spPr>
          <a:xfrm>
            <a:off x="1298448" y="2011680"/>
            <a:ext cx="1581912" cy="9601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キャンバスアプリ</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カレンダー・工程レイヤー</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（ポップアップ）・チャット</a:t>
            </a:r>
            <a:endParaRPr lang="en-US" sz="1050" dirty="0"/>
          </a:p>
        </p:txBody>
      </p:sp>
      <p:sp>
        <p:nvSpPr>
          <p:cNvPr id="20" name="Shape 17"/>
          <p:cNvSpPr/>
          <p:nvPr/>
        </p:nvSpPr>
        <p:spPr>
          <a:xfrm>
            <a:off x="1828800" y="3017520"/>
            <a:ext cx="0" cy="182880"/>
          </a:xfrm>
          <a:prstGeom prst="line">
            <a:avLst/>
          </a:prstGeom>
          <a:noFill/>
          <a:ln w="22225">
            <a:solidFill>
              <a:srgbClr val="9AA5B4"/>
            </a:solidFill>
            <a:prstDash val="solid"/>
            <a:headEnd type="triangle"/>
            <a:tailEnd type="triangle"/>
          </a:ln>
        </p:spPr>
      </p:sp>
      <p:sp>
        <p:nvSpPr>
          <p:cNvPr id="21" name="Shape 18"/>
          <p:cNvSpPr/>
          <p:nvPr/>
        </p:nvSpPr>
        <p:spPr>
          <a:xfrm>
            <a:off x="731520" y="3246120"/>
            <a:ext cx="2194560" cy="731520"/>
          </a:xfrm>
          <a:prstGeom prst="roundRect">
            <a:avLst>
              <a:gd name="adj" fmla="val 10000"/>
            </a:avLst>
          </a:prstGeom>
          <a:solidFill>
            <a:srgbClr val="E3EAF5"/>
          </a:solidFill>
          <a:ln/>
        </p:spPr>
      </p:sp>
      <p:pic>
        <p:nvPicPr>
          <p:cNvPr id="22" name="Image 1" descr="preencoded.png">    </p:cNvPr>
          <p:cNvPicPr>
            <a:picLocks noChangeAspect="1"/>
          </p:cNvPicPr>
          <p:nvPr/>
        </p:nvPicPr>
        <p:blipFill>
          <a:blip r:embed="rId2"/>
          <a:stretch>
            <a:fillRect/>
          </a:stretch>
        </p:blipFill>
        <p:spPr>
          <a:xfrm>
            <a:off x="841248" y="3429000"/>
            <a:ext cx="365760" cy="365760"/>
          </a:xfrm>
          <a:prstGeom prst="rect">
            <a:avLst/>
          </a:prstGeom>
        </p:spPr>
      </p:pic>
      <p:sp>
        <p:nvSpPr>
          <p:cNvPr id="23" name="Text 19"/>
          <p:cNvSpPr txBox="1"/>
          <p:nvPr/>
        </p:nvSpPr>
        <p:spPr>
          <a:xfrm>
            <a:off x="1298448" y="3246120"/>
            <a:ext cx="15819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Dataverse</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カード・候補セット・下書き</a:t>
            </a:r>
            <a:endParaRPr lang="en-US" sz="1050" dirty="0"/>
          </a:p>
        </p:txBody>
      </p:sp>
      <p:sp>
        <p:nvSpPr>
          <p:cNvPr id="24" name="Shape 20"/>
          <p:cNvSpPr/>
          <p:nvPr/>
        </p:nvSpPr>
        <p:spPr>
          <a:xfrm>
            <a:off x="2971800" y="2487168"/>
            <a:ext cx="228600" cy="0"/>
          </a:xfrm>
          <a:prstGeom prst="line">
            <a:avLst/>
          </a:prstGeom>
          <a:noFill/>
          <a:ln w="22225">
            <a:solidFill>
              <a:srgbClr val="9AA5B4"/>
            </a:solidFill>
            <a:prstDash val="solid"/>
            <a:headEnd type="triangle"/>
            <a:tailEnd type="triangle"/>
          </a:ln>
        </p:spPr>
      </p:sp>
      <p:sp>
        <p:nvSpPr>
          <p:cNvPr id="25" name="Shape 21"/>
          <p:cNvSpPr/>
          <p:nvPr/>
        </p:nvSpPr>
        <p:spPr>
          <a:xfrm>
            <a:off x="3246120" y="2011680"/>
            <a:ext cx="2011680" cy="960120"/>
          </a:xfrm>
          <a:prstGeom prst="roundRect">
            <a:avLst>
              <a:gd name="adj" fmla="val 7619"/>
            </a:avLst>
          </a:prstGeom>
          <a:solidFill>
            <a:srgbClr val="0E9F9A"/>
          </a:solidFill>
          <a:ln/>
        </p:spPr>
      </p:sp>
      <p:sp>
        <p:nvSpPr>
          <p:cNvPr id="26" name="Shape 22"/>
          <p:cNvSpPr/>
          <p:nvPr/>
        </p:nvSpPr>
        <p:spPr>
          <a:xfrm>
            <a:off x="3319272" y="223570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3392424" y="2308860"/>
            <a:ext cx="365760" cy="365760"/>
          </a:xfrm>
          <a:prstGeom prst="rect">
            <a:avLst/>
          </a:prstGeom>
        </p:spPr>
      </p:pic>
      <p:sp>
        <p:nvSpPr>
          <p:cNvPr id="28" name="Text 23"/>
          <p:cNvSpPr txBox="1"/>
          <p:nvPr/>
        </p:nvSpPr>
        <p:spPr>
          <a:xfrm>
            <a:off x="3977640" y="2011680"/>
            <a:ext cx="1234440" cy="96012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850" dirty="0">
                <a:solidFill>
                  <a:srgbClr val="E6F2F2"/>
                </a:solidFill>
                <a:latin typeface="Meiryo UI" pitchFamily="34" charset="0"/>
                <a:ea typeface="Meiryo UI" pitchFamily="34" charset="-122"/>
                <a:cs typeface="Meiryo UI" pitchFamily="34" charset="-120"/>
              </a:rPr>
              <a:t>エージェント（対話・修正）</a:t>
            </a:r>
            <a:endParaRPr lang="en-US" sz="1050" dirty="0"/>
          </a:p>
        </p:txBody>
      </p:sp>
      <p:sp>
        <p:nvSpPr>
          <p:cNvPr id="29" name="Shape 24"/>
          <p:cNvSpPr/>
          <p:nvPr/>
        </p:nvSpPr>
        <p:spPr>
          <a:xfrm>
            <a:off x="2971800" y="3063240"/>
            <a:ext cx="228600" cy="365760"/>
          </a:xfrm>
          <a:prstGeom prst="line">
            <a:avLst/>
          </a:prstGeom>
          <a:noFill/>
          <a:ln w="22225">
            <a:solidFill>
              <a:srgbClr val="9AA5B4"/>
            </a:solidFill>
            <a:prstDash val="solid"/>
            <a:headEnd type="triangle"/>
            <a:tailEnd type="triangle"/>
          </a:ln>
        </p:spPr>
      </p:sp>
      <p:sp>
        <p:nvSpPr>
          <p:cNvPr id="30" name="Shape 25"/>
          <p:cNvSpPr/>
          <p:nvPr/>
        </p:nvSpPr>
        <p:spPr>
          <a:xfrm>
            <a:off x="3246120" y="3246120"/>
            <a:ext cx="2011680" cy="731520"/>
          </a:xfrm>
          <a:prstGeom prst="roundRect">
            <a:avLst>
              <a:gd name="adj" fmla="val 10000"/>
            </a:avLst>
          </a:prstGeom>
          <a:solidFill>
            <a:srgbClr val="D9F2F1"/>
          </a:solidFill>
          <a:ln/>
        </p:spPr>
      </p:sp>
      <p:pic>
        <p:nvPicPr>
          <p:cNvPr id="31" name="Image 3" descr="preencoded.png">    </p:cNvPr>
          <p:cNvPicPr>
            <a:picLocks noChangeAspect="1"/>
          </p:cNvPicPr>
          <p:nvPr/>
        </p:nvPicPr>
        <p:blipFill>
          <a:blip r:embed="rId4"/>
          <a:stretch>
            <a:fillRect/>
          </a:stretch>
        </p:blipFill>
        <p:spPr>
          <a:xfrm>
            <a:off x="3355848" y="3429000"/>
            <a:ext cx="365760" cy="365760"/>
          </a:xfrm>
          <a:prstGeom prst="rect">
            <a:avLst/>
          </a:prstGeom>
        </p:spPr>
      </p:pic>
      <p:sp>
        <p:nvSpPr>
          <p:cNvPr id="32" name="Text 26"/>
          <p:cNvSpPr txBox="1"/>
          <p:nvPr/>
        </p:nvSpPr>
        <p:spPr>
          <a:xfrm>
            <a:off x="38130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 Builder</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プロンプト（単発の生成）</a:t>
            </a:r>
            <a:endParaRPr lang="en-US" sz="1050" dirty="0"/>
          </a:p>
        </p:txBody>
      </p:sp>
      <p:sp>
        <p:nvSpPr>
          <p:cNvPr id="33" name="Shape 27"/>
          <p:cNvSpPr/>
          <p:nvPr/>
        </p:nvSpPr>
        <p:spPr>
          <a:xfrm flipH="1">
            <a:off x="5303520" y="2487168"/>
            <a:ext cx="228600" cy="0"/>
          </a:xfrm>
          <a:prstGeom prst="line">
            <a:avLst/>
          </a:prstGeom>
          <a:noFill/>
          <a:ln w="22225">
            <a:solidFill>
              <a:srgbClr val="9AA5B4"/>
            </a:solidFill>
            <a:prstDash val="solid"/>
            <a:tailEnd type="triangle"/>
          </a:ln>
        </p:spPr>
      </p:sp>
      <p:sp>
        <p:nvSpPr>
          <p:cNvPr id="34" name="Shape 28"/>
          <p:cNvSpPr/>
          <p:nvPr/>
        </p:nvSpPr>
        <p:spPr>
          <a:xfrm>
            <a:off x="5577840" y="2011680"/>
            <a:ext cx="1737360" cy="960120"/>
          </a:xfrm>
          <a:prstGeom prst="roundRect">
            <a:avLst>
              <a:gd name="adj" fmla="val 7619"/>
            </a:avLst>
          </a:prstGeom>
          <a:solidFill>
            <a:srgbClr val="E3EAF5"/>
          </a:solidFill>
          <a:ln/>
        </p:spPr>
      </p:sp>
      <p:pic>
        <p:nvPicPr>
          <p:cNvPr id="35" name="Image 4" descr="preencoded.png">    </p:cNvPr>
          <p:cNvPicPr>
            <a:picLocks noChangeAspect="1"/>
          </p:cNvPicPr>
          <p:nvPr/>
        </p:nvPicPr>
        <p:blipFill>
          <a:blip r:embed="rId5"/>
          <a:stretch>
            <a:fillRect/>
          </a:stretch>
        </p:blipFill>
        <p:spPr>
          <a:xfrm>
            <a:off x="5687568" y="2308860"/>
            <a:ext cx="365760" cy="365760"/>
          </a:xfrm>
          <a:prstGeom prst="rect">
            <a:avLst/>
          </a:prstGeom>
        </p:spPr>
      </p:pic>
      <p:sp>
        <p:nvSpPr>
          <p:cNvPr id="36" name="Text 29"/>
          <p:cNvSpPr txBox="1"/>
          <p:nvPr/>
        </p:nvSpPr>
        <p:spPr>
          <a:xfrm>
            <a:off x="6144768" y="2011680"/>
            <a:ext cx="1124712" cy="9601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ポリシー・ガイドライン</a:t>
            </a:r>
            <a:endParaRPr lang="en-US" sz="1050" dirty="0"/>
          </a:p>
        </p:txBody>
      </p:sp>
      <p:sp>
        <p:nvSpPr>
          <p:cNvPr id="37" name="Shape 30"/>
          <p:cNvSpPr/>
          <p:nvPr/>
        </p:nvSpPr>
        <p:spPr>
          <a:xfrm>
            <a:off x="5577840" y="3246120"/>
            <a:ext cx="1737360" cy="731520"/>
          </a:xfrm>
          <a:prstGeom prst="roundRect">
            <a:avLst>
              <a:gd name="adj" fmla="val 10000"/>
            </a:avLst>
          </a:prstGeom>
          <a:solidFill>
            <a:srgbClr val="FDEBD3"/>
          </a:solidFill>
          <a:ln/>
        </p:spPr>
      </p:sp>
      <p:pic>
        <p:nvPicPr>
          <p:cNvPr id="38" name="Image 5" descr="preencoded.png">    </p:cNvPr>
          <p:cNvPicPr>
            <a:picLocks noChangeAspect="1"/>
          </p:cNvPicPr>
          <p:nvPr/>
        </p:nvPicPr>
        <p:blipFill>
          <a:blip r:embed="rId6"/>
          <a:stretch>
            <a:fillRect/>
          </a:stretch>
        </p:blipFill>
        <p:spPr>
          <a:xfrm>
            <a:off x="5687568" y="3429000"/>
            <a:ext cx="365760" cy="365760"/>
          </a:xfrm>
          <a:prstGeom prst="rect">
            <a:avLst/>
          </a:prstGeom>
        </p:spPr>
      </p:pic>
      <p:sp>
        <p:nvSpPr>
          <p:cNvPr id="39" name="Text 31"/>
          <p:cNvSpPr txBox="1"/>
          <p:nvPr/>
        </p:nvSpPr>
        <p:spPr>
          <a:xfrm>
            <a:off x="6144768" y="3246120"/>
            <a:ext cx="11247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Teams</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タブに埋め込み可</a:t>
            </a:r>
            <a:endParaRPr lang="en-US" sz="1050" dirty="0"/>
          </a:p>
        </p:txBody>
      </p:sp>
      <p:sp>
        <p:nvSpPr>
          <p:cNvPr id="40" name="Shape 32"/>
          <p:cNvSpPr/>
          <p:nvPr/>
        </p:nvSpPr>
        <p:spPr>
          <a:xfrm>
            <a:off x="7680960" y="1874520"/>
            <a:ext cx="3931920" cy="2514600"/>
          </a:xfrm>
          <a:prstGeom prst="roundRect">
            <a:avLst>
              <a:gd name="adj" fmla="val 2182"/>
            </a:avLst>
          </a:prstGeom>
          <a:solidFill>
            <a:srgbClr val="E3EAF5"/>
          </a:solidFill>
          <a:ln/>
        </p:spPr>
      </p:sp>
      <p:sp>
        <p:nvSpPr>
          <p:cNvPr id="41" name="Shape 33"/>
          <p:cNvSpPr/>
          <p:nvPr/>
        </p:nvSpPr>
        <p:spPr>
          <a:xfrm>
            <a:off x="7818120" y="1993392"/>
            <a:ext cx="384048" cy="384048"/>
          </a:xfrm>
          <a:prstGeom prst="ellipse">
            <a:avLst/>
          </a:prstGeom>
          <a:solidFill>
            <a:srgbClr val="FFFFFF"/>
          </a:solidFill>
          <a:ln/>
        </p:spPr>
      </p:sp>
      <p:pic>
        <p:nvPicPr>
          <p:cNvPr id="42"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3" name="Text 34"/>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4" name="Text 35"/>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Apps（キャンバス）＋Dataverse</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利用者全員にPower Apps Premium</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生成：Copilot Studioのエージェント、またはAI Builderのプロンプト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カレンダー・ドラッグ操作は、ギャラリーの組み合わせやPCF（TypeScriptの部品）で実装</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Automate（書き込み・通知）</a:t>
            </a:r>
            <a:endParaRPr lang="en-US" sz="1100" dirty="0"/>
          </a:p>
        </p:txBody>
      </p:sp>
      <p:sp>
        <p:nvSpPr>
          <p:cNvPr id="45" name="Shape 36"/>
          <p:cNvSpPr/>
          <p:nvPr/>
        </p:nvSpPr>
        <p:spPr>
          <a:xfrm>
            <a:off x="548640" y="4572000"/>
            <a:ext cx="3566160" cy="1783080"/>
          </a:xfrm>
          <a:prstGeom prst="roundRect">
            <a:avLst>
              <a:gd name="adj" fmla="val 3077"/>
            </a:avLst>
          </a:prstGeom>
          <a:solidFill>
            <a:srgbClr val="D9F2F1"/>
          </a:solidFill>
          <a:ln/>
        </p:spPr>
      </p:sp>
      <p:sp>
        <p:nvSpPr>
          <p:cNvPr id="46" name="Shape 37"/>
          <p:cNvSpPr/>
          <p:nvPr/>
        </p:nvSpPr>
        <p:spPr>
          <a:xfrm>
            <a:off x="685800" y="4690872"/>
            <a:ext cx="384048" cy="384048"/>
          </a:xfrm>
          <a:prstGeom prst="ellipse">
            <a:avLst/>
          </a:prstGeom>
          <a:solidFill>
            <a:srgbClr val="FFFFFF"/>
          </a:solidFill>
          <a:ln/>
        </p:spPr>
      </p:sp>
      <p:pic>
        <p:nvPicPr>
          <p:cNvPr id="47"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8" name="Text 38"/>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49" name="Text 39"/>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ローコードのため、業務部門でも保守しやすい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Teamsのタブに埋め込める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コネクタやAI Builderを標準の関数からそのまま呼べる</a:t>
            </a:r>
            <a:endParaRPr lang="en-US" sz="1150" dirty="0"/>
          </a:p>
        </p:txBody>
      </p:sp>
      <p:sp>
        <p:nvSpPr>
          <p:cNvPr id="50" name="Shape 40"/>
          <p:cNvSpPr/>
          <p:nvPr/>
        </p:nvSpPr>
        <p:spPr>
          <a:xfrm>
            <a:off x="4297680" y="4572000"/>
            <a:ext cx="3566160" cy="1783080"/>
          </a:xfrm>
          <a:prstGeom prst="roundRect">
            <a:avLst>
              <a:gd name="adj" fmla="val 3077"/>
            </a:avLst>
          </a:prstGeom>
          <a:solidFill>
            <a:srgbClr val="FBE3E3"/>
          </a:solidFill>
          <a:ln/>
        </p:spPr>
      </p:sp>
      <p:sp>
        <p:nvSpPr>
          <p:cNvPr id="51" name="Shape 41"/>
          <p:cNvSpPr/>
          <p:nvPr/>
        </p:nvSpPr>
        <p:spPr>
          <a:xfrm>
            <a:off x="4434840" y="4690872"/>
            <a:ext cx="384048" cy="384048"/>
          </a:xfrm>
          <a:prstGeom prst="ellipse">
            <a:avLst/>
          </a:prstGeom>
          <a:solidFill>
            <a:srgbClr val="FFFFFF"/>
          </a:solidFill>
          <a:ln/>
        </p:spPr>
      </p:sp>
      <p:pic>
        <p:nvPicPr>
          <p:cNvPr id="52"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3" name="Text 42"/>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4" name="Text 43"/>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Airtableやcode apps（TypeScript）並みの操作感を出すには、作り込みにかなりの手間がかかる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カレンダー・ドラッグ操作は標準部品がなく、PCFなどで補う必要がある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利用者全員にPower Apps Premiumが必要</a:t>
            </a:r>
            <a:endParaRPr lang="en-US" sz="1150" dirty="0"/>
          </a:p>
        </p:txBody>
      </p:sp>
      <p:sp>
        <p:nvSpPr>
          <p:cNvPr id="55" name="Shape 44"/>
          <p:cNvSpPr/>
          <p:nvPr/>
        </p:nvSpPr>
        <p:spPr>
          <a:xfrm>
            <a:off x="8046720" y="4572000"/>
            <a:ext cx="3566160" cy="1783080"/>
          </a:xfrm>
          <a:prstGeom prst="roundRect">
            <a:avLst>
              <a:gd name="adj" fmla="val 3077"/>
            </a:avLst>
          </a:prstGeom>
          <a:solidFill>
            <a:srgbClr val="FDEBD3"/>
          </a:solidFill>
          <a:ln/>
        </p:spPr>
      </p:sp>
      <p:sp>
        <p:nvSpPr>
          <p:cNvPr id="56" name="Shape 45"/>
          <p:cNvSpPr/>
          <p:nvPr/>
        </p:nvSpPr>
        <p:spPr>
          <a:xfrm>
            <a:off x="8183880" y="4690872"/>
            <a:ext cx="384048" cy="384048"/>
          </a:xfrm>
          <a:prstGeom prst="ellipse">
            <a:avLst/>
          </a:prstGeom>
          <a:solidFill>
            <a:srgbClr val="FFFFFF"/>
          </a:solidFill>
          <a:ln/>
        </p:spPr>
      </p:sp>
      <p:pic>
        <p:nvPicPr>
          <p:cNvPr id="57"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8" name="Text 46"/>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59" name="Text 47"/>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Airtable・code appsと同等の操作感がどこまで必要か（必要なほど手間が増える）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標準部品でどこまで作り、どこからPCFで補うか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保守の担い手（業務部門か開発者か）</a:t>
            </a:r>
            <a:endParaRPr lang="en-US" sz="1150" dirty="0"/>
          </a:p>
        </p:txBody>
      </p:sp>
      <p:sp>
        <p:nvSpPr>
          <p:cNvPr id="60" name="Text 48"/>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A7｜Power Apps code apps（TypeScript）</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React・TypeScriptで配信管理アプリを開発し、Power Platform上で動かす（Azureは不要）</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29</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Power Apps</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Step3〜4</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3〜5ヶ月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640080" y="1938528"/>
            <a:ext cx="6766560" cy="2377440"/>
          </a:xfrm>
          <a:prstGeom prst="roundRect">
            <a:avLst>
              <a:gd name="adj" fmla="val 1923"/>
            </a:avLst>
          </a:prstGeom>
          <a:solidFill>
            <a:srgbClr val="FFFFFF"/>
          </a:solidFill>
          <a:ln w="12700">
            <a:solidFill>
              <a:srgbClr val="0F6CBD"/>
            </a:solidFill>
            <a:prstDash val="dash"/>
          </a:ln>
        </p:spPr>
      </p:sp>
      <p:sp>
        <p:nvSpPr>
          <p:cNvPr id="18" name="Text 16"/>
          <p:cNvSpPr txBox="1"/>
          <p:nvPr/>
        </p:nvSpPr>
        <p:spPr>
          <a:xfrm>
            <a:off x="713232" y="1956816"/>
            <a:ext cx="1828800" cy="237744"/>
          </a:xfrm>
          <a:prstGeom prst="rect">
            <a:avLst/>
          </a:prstGeom>
          <a:noFill/>
          <a:ln/>
        </p:spPr>
        <p:txBody>
          <a:bodyPr wrap="square" lIns="0" tIns="0" rIns="0" bIns="0" rtlCol="0" anchor="ctr"/>
          <a:lstStyle/>
          <a:p>
            <a:pPr indent="0" marL="0">
              <a:buNone/>
            </a:pPr>
            <a:r>
              <a:rPr lang="en-US" sz="900" b="1" dirty="0">
                <a:solidFill>
                  <a:srgbClr val="0F6CBD"/>
                </a:solidFill>
                <a:latin typeface="Meiryo UI" pitchFamily="34" charset="0"/>
                <a:ea typeface="Meiryo UI" pitchFamily="34" charset="-122"/>
                <a:cs typeface="Meiryo UI" pitchFamily="34" charset="-120"/>
              </a:rPr>
              <a:t>Power Platform（M365）</a:t>
            </a:r>
            <a:endParaRPr lang="en-US" sz="900" dirty="0"/>
          </a:p>
        </p:txBody>
      </p:sp>
      <p:sp>
        <p:nvSpPr>
          <p:cNvPr id="19" name="Shape 17"/>
          <p:cNvSpPr/>
          <p:nvPr/>
        </p:nvSpPr>
        <p:spPr>
          <a:xfrm>
            <a:off x="777240" y="2286000"/>
            <a:ext cx="2103120" cy="868680"/>
          </a:xfrm>
          <a:prstGeom prst="roundRect">
            <a:avLst>
              <a:gd name="adj" fmla="val 8421"/>
            </a:avLst>
          </a:prstGeom>
          <a:solidFill>
            <a:srgbClr val="FDEBD3"/>
          </a:solidFill>
          <a:ln/>
        </p:spPr>
      </p:sp>
      <p:pic>
        <p:nvPicPr>
          <p:cNvPr id="20" name="Image 0" descr="preencoded.png">    </p:cNvPr>
          <p:cNvPicPr>
            <a:picLocks noChangeAspect="1"/>
          </p:cNvPicPr>
          <p:nvPr/>
        </p:nvPicPr>
        <p:blipFill>
          <a:blip r:embed="rId1"/>
          <a:stretch>
            <a:fillRect/>
          </a:stretch>
        </p:blipFill>
        <p:spPr>
          <a:xfrm>
            <a:off x="886968" y="2537460"/>
            <a:ext cx="365760" cy="365760"/>
          </a:xfrm>
          <a:prstGeom prst="rect">
            <a:avLst/>
          </a:prstGeom>
        </p:spPr>
      </p:pic>
      <p:sp>
        <p:nvSpPr>
          <p:cNvPr id="21" name="Text 18"/>
          <p:cNvSpPr txBox="1"/>
          <p:nvPr/>
        </p:nvSpPr>
        <p:spPr>
          <a:xfrm>
            <a:off x="1344168" y="2286000"/>
            <a:ext cx="149047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React＋TypeScript</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カレンダーUI</a:t>
            </a:r>
            <a:endParaRPr lang="en-US" sz="1050" dirty="0"/>
          </a:p>
        </p:txBody>
      </p:sp>
      <p:sp>
        <p:nvSpPr>
          <p:cNvPr id="22" name="Shape 19"/>
          <p:cNvSpPr/>
          <p:nvPr/>
        </p:nvSpPr>
        <p:spPr>
          <a:xfrm>
            <a:off x="2926080" y="2715768"/>
            <a:ext cx="228600" cy="0"/>
          </a:xfrm>
          <a:prstGeom prst="line">
            <a:avLst/>
          </a:prstGeom>
          <a:noFill/>
          <a:ln w="22225">
            <a:solidFill>
              <a:srgbClr val="9AA5B4"/>
            </a:solidFill>
            <a:prstDash val="solid"/>
            <a:headEnd type="triangle"/>
            <a:tailEnd type="triangle"/>
          </a:ln>
        </p:spPr>
      </p:sp>
      <p:sp>
        <p:nvSpPr>
          <p:cNvPr id="23" name="Shape 20"/>
          <p:cNvSpPr/>
          <p:nvPr/>
        </p:nvSpPr>
        <p:spPr>
          <a:xfrm>
            <a:off x="3200400" y="2286000"/>
            <a:ext cx="1920240" cy="868680"/>
          </a:xfrm>
          <a:prstGeom prst="roundRect">
            <a:avLst>
              <a:gd name="adj" fmla="val 8421"/>
            </a:avLst>
          </a:prstGeom>
          <a:solidFill>
            <a:srgbClr val="D9F2F1"/>
          </a:solidFill>
          <a:ln/>
        </p:spPr>
      </p:sp>
      <p:pic>
        <p:nvPicPr>
          <p:cNvPr id="24" name="Image 1" descr="preencoded.png">    </p:cNvPr>
          <p:cNvPicPr>
            <a:picLocks noChangeAspect="1"/>
          </p:cNvPicPr>
          <p:nvPr/>
        </p:nvPicPr>
        <p:blipFill>
          <a:blip r:embed="rId2"/>
          <a:stretch>
            <a:fillRect/>
          </a:stretch>
        </p:blipFill>
        <p:spPr>
          <a:xfrm>
            <a:off x="3310128" y="2537460"/>
            <a:ext cx="365760" cy="365760"/>
          </a:xfrm>
          <a:prstGeom prst="rect">
            <a:avLst/>
          </a:prstGeom>
        </p:spPr>
      </p:pic>
      <p:sp>
        <p:nvSpPr>
          <p:cNvPr id="25" name="Text 21"/>
          <p:cNvSpPr txBox="1"/>
          <p:nvPr/>
        </p:nvSpPr>
        <p:spPr>
          <a:xfrm>
            <a:off x="3767328" y="2286000"/>
            <a:ext cx="130759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コネクタ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1,500以上を</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コードから利用</a:t>
            </a:r>
            <a:endParaRPr lang="en-US" sz="1050" dirty="0"/>
          </a:p>
        </p:txBody>
      </p:sp>
      <p:sp>
        <p:nvSpPr>
          <p:cNvPr id="26" name="Shape 22"/>
          <p:cNvSpPr/>
          <p:nvPr/>
        </p:nvSpPr>
        <p:spPr>
          <a:xfrm>
            <a:off x="5166360" y="2715768"/>
            <a:ext cx="228600" cy="0"/>
          </a:xfrm>
          <a:prstGeom prst="line">
            <a:avLst/>
          </a:prstGeom>
          <a:noFill/>
          <a:ln w="22225">
            <a:solidFill>
              <a:srgbClr val="9AA5B4"/>
            </a:solidFill>
            <a:prstDash val="solid"/>
            <a:headEnd type="triangle"/>
            <a:tailEnd type="triangle"/>
          </a:ln>
        </p:spPr>
      </p:sp>
      <p:sp>
        <p:nvSpPr>
          <p:cNvPr id="27" name="Shape 23"/>
          <p:cNvSpPr/>
          <p:nvPr/>
        </p:nvSpPr>
        <p:spPr>
          <a:xfrm>
            <a:off x="5440680" y="2286000"/>
            <a:ext cx="1828800" cy="868680"/>
          </a:xfrm>
          <a:prstGeom prst="roundRect">
            <a:avLst>
              <a:gd name="adj" fmla="val 8421"/>
            </a:avLst>
          </a:prstGeom>
          <a:solidFill>
            <a:srgbClr val="0E9F9A"/>
          </a:solidFill>
          <a:ln/>
        </p:spPr>
      </p:sp>
      <p:sp>
        <p:nvSpPr>
          <p:cNvPr id="28" name="Shape 24"/>
          <p:cNvSpPr/>
          <p:nvPr/>
        </p:nvSpPr>
        <p:spPr>
          <a:xfrm>
            <a:off x="5513832" y="2464308"/>
            <a:ext cx="512064" cy="512064"/>
          </a:xfrm>
          <a:prstGeom prst="ellipse">
            <a:avLst/>
          </a:prstGeom>
          <a:solidFill>
            <a:srgbClr val="FFFFFF"/>
          </a:solidFill>
          <a:ln/>
        </p:spPr>
      </p:sp>
      <p:pic>
        <p:nvPicPr>
          <p:cNvPr id="29" name="Image 2" descr="preencoded.png">    </p:cNvPr>
          <p:cNvPicPr>
            <a:picLocks noChangeAspect="1"/>
          </p:cNvPicPr>
          <p:nvPr/>
        </p:nvPicPr>
        <p:blipFill>
          <a:blip r:embed="rId3"/>
          <a:stretch>
            <a:fillRect/>
          </a:stretch>
        </p:blipFill>
        <p:spPr>
          <a:xfrm>
            <a:off x="5586984" y="2537460"/>
            <a:ext cx="365760" cy="365760"/>
          </a:xfrm>
          <a:prstGeom prst="rect">
            <a:avLst/>
          </a:prstGeom>
        </p:spPr>
      </p:pic>
      <p:sp>
        <p:nvSpPr>
          <p:cNvPr id="30" name="Text 25"/>
          <p:cNvSpPr txBox="1"/>
          <p:nvPr/>
        </p:nvSpPr>
        <p:spPr>
          <a:xfrm>
            <a:off x="6172200" y="2286000"/>
            <a:ext cx="1051560" cy="86868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AI Builder</a:t>
            </a:r>
            <a:endParaRPr lang="en-US" sz="1050" dirty="0"/>
          </a:p>
        </p:txBody>
      </p:sp>
      <p:sp>
        <p:nvSpPr>
          <p:cNvPr id="31" name="Shape 26"/>
          <p:cNvSpPr/>
          <p:nvPr/>
        </p:nvSpPr>
        <p:spPr>
          <a:xfrm>
            <a:off x="777240" y="3429000"/>
            <a:ext cx="2103120" cy="685800"/>
          </a:xfrm>
          <a:prstGeom prst="roundRect">
            <a:avLst>
              <a:gd name="adj" fmla="val 10667"/>
            </a:avLst>
          </a:prstGeom>
          <a:solidFill>
            <a:srgbClr val="E3EAF5"/>
          </a:solidFill>
          <a:ln/>
        </p:spPr>
      </p:sp>
      <p:pic>
        <p:nvPicPr>
          <p:cNvPr id="32" name="Image 3" descr="preencoded.png">    </p:cNvPr>
          <p:cNvPicPr>
            <a:picLocks noChangeAspect="1"/>
          </p:cNvPicPr>
          <p:nvPr/>
        </p:nvPicPr>
        <p:blipFill>
          <a:blip r:embed="rId4"/>
          <a:stretch>
            <a:fillRect/>
          </a:stretch>
        </p:blipFill>
        <p:spPr>
          <a:xfrm>
            <a:off x="886968" y="3589020"/>
            <a:ext cx="365760" cy="365760"/>
          </a:xfrm>
          <a:prstGeom prst="rect">
            <a:avLst/>
          </a:prstGeom>
        </p:spPr>
      </p:pic>
      <p:sp>
        <p:nvSpPr>
          <p:cNvPr id="33" name="Text 27"/>
          <p:cNvSpPr txBox="1"/>
          <p:nvPr/>
        </p:nvSpPr>
        <p:spPr>
          <a:xfrm>
            <a:off x="1344168" y="3429000"/>
            <a:ext cx="149047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Entra ID</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認証・DLPは標準</a:t>
            </a:r>
            <a:endParaRPr lang="en-US" sz="1050" dirty="0"/>
          </a:p>
        </p:txBody>
      </p:sp>
      <p:sp>
        <p:nvSpPr>
          <p:cNvPr id="34" name="Shape 28"/>
          <p:cNvSpPr/>
          <p:nvPr/>
        </p:nvSpPr>
        <p:spPr>
          <a:xfrm>
            <a:off x="4160520" y="3200400"/>
            <a:ext cx="0" cy="182880"/>
          </a:xfrm>
          <a:prstGeom prst="line">
            <a:avLst/>
          </a:prstGeom>
          <a:noFill/>
          <a:ln w="22225">
            <a:solidFill>
              <a:srgbClr val="9AA5B4"/>
            </a:solidFill>
            <a:prstDash val="solid"/>
            <a:headEnd type="triangle"/>
            <a:tailEnd type="triangle"/>
          </a:ln>
        </p:spPr>
      </p:sp>
      <p:sp>
        <p:nvSpPr>
          <p:cNvPr id="35" name="Shape 29"/>
          <p:cNvSpPr/>
          <p:nvPr/>
        </p:nvSpPr>
        <p:spPr>
          <a:xfrm>
            <a:off x="3200400" y="3429000"/>
            <a:ext cx="1920240" cy="685800"/>
          </a:xfrm>
          <a:prstGeom prst="roundRect">
            <a:avLst>
              <a:gd name="adj" fmla="val 10667"/>
            </a:avLst>
          </a:prstGeom>
          <a:solidFill>
            <a:srgbClr val="E3EAF5"/>
          </a:solidFill>
          <a:ln/>
        </p:spPr>
      </p:sp>
      <p:pic>
        <p:nvPicPr>
          <p:cNvPr id="36" name="Image 4" descr="preencoded.png">    </p:cNvPr>
          <p:cNvPicPr>
            <a:picLocks noChangeAspect="1"/>
          </p:cNvPicPr>
          <p:nvPr/>
        </p:nvPicPr>
        <p:blipFill>
          <a:blip r:embed="rId5"/>
          <a:stretch>
            <a:fillRect/>
          </a:stretch>
        </p:blipFill>
        <p:spPr>
          <a:xfrm>
            <a:off x="3310128" y="3589020"/>
            <a:ext cx="365760" cy="365760"/>
          </a:xfrm>
          <a:prstGeom prst="rect">
            <a:avLst/>
          </a:prstGeom>
        </p:spPr>
      </p:pic>
      <p:sp>
        <p:nvSpPr>
          <p:cNvPr id="37" name="Text 30"/>
          <p:cNvSpPr txBox="1"/>
          <p:nvPr/>
        </p:nvSpPr>
        <p:spPr>
          <a:xfrm>
            <a:off x="3767328" y="3429000"/>
            <a:ext cx="130759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Dataverse／Lists</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配信カード・商品</a:t>
            </a:r>
            <a:endParaRPr lang="en-US" sz="1050" dirty="0"/>
          </a:p>
        </p:txBody>
      </p:sp>
      <p:sp>
        <p:nvSpPr>
          <p:cNvPr id="38" name="Shape 31"/>
          <p:cNvSpPr/>
          <p:nvPr/>
        </p:nvSpPr>
        <p:spPr>
          <a:xfrm>
            <a:off x="5440680" y="3429000"/>
            <a:ext cx="1828800" cy="685800"/>
          </a:xfrm>
          <a:prstGeom prst="roundRect">
            <a:avLst>
              <a:gd name="adj" fmla="val 10667"/>
            </a:avLst>
          </a:prstGeom>
          <a:solidFill>
            <a:srgbClr val="E3EAF5"/>
          </a:solidFill>
          <a:ln/>
        </p:spPr>
      </p:sp>
      <p:pic>
        <p:nvPicPr>
          <p:cNvPr id="39" name="Image 5" descr="preencoded.png">    </p:cNvPr>
          <p:cNvPicPr>
            <a:picLocks noChangeAspect="1"/>
          </p:cNvPicPr>
          <p:nvPr/>
        </p:nvPicPr>
        <p:blipFill>
          <a:blip r:embed="rId6"/>
          <a:stretch>
            <a:fillRect/>
          </a:stretch>
        </p:blipFill>
        <p:spPr>
          <a:xfrm>
            <a:off x="5550408" y="3589020"/>
            <a:ext cx="365760" cy="365760"/>
          </a:xfrm>
          <a:prstGeom prst="rect">
            <a:avLst/>
          </a:prstGeom>
        </p:spPr>
      </p:pic>
      <p:sp>
        <p:nvSpPr>
          <p:cNvPr id="40" name="Text 32"/>
          <p:cNvSpPr txBox="1"/>
          <p:nvPr/>
        </p:nvSpPr>
        <p:spPr>
          <a:xfrm>
            <a:off x="6007608" y="3429000"/>
            <a:ext cx="121615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数値データ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GCSから転送</a:t>
            </a:r>
            <a:endParaRPr lang="en-US" sz="1050" dirty="0"/>
          </a:p>
        </p:txBody>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Apps code apps（2026年2月にGA）</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開発環境：VS Code、Node.js、Power Apps CLI</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管理者が環境でcode appsを有効化</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利用者全員にPower Apps Premium</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Copilot Studio／Power Automate（生成・承認）</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TypeScriptでカレンダーUIを自由に作れる（既存ライブラリも使える）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認証・ホスティング・DLPはPower Platformが担う</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キャンバスアプリより作り込みの手間が少ない</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利用者全員にPower Apps Premiumが必要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コードの開発・保守が必要（属人化リスク）</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Git統合など一部の管理機能に制約がある</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ライセンス費（利用者数×国数）</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開発・保守の担い手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データの置き場所（DataverseかListsか）</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A7の具体案①：構成とデータの流れ</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画面はcode apps、データはDataverse、推論はCopilot Studio。BigQueryからは推論に必要な部分だけを渡す</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30</a:t>
            </a:r>
            <a:endParaRPr lang="en-US" sz="900" dirty="0"/>
          </a:p>
        </p:txBody>
      </p:sp>
      <p:sp>
        <p:nvSpPr>
          <p:cNvPr id="6" name="Shape 4"/>
          <p:cNvSpPr/>
          <p:nvPr/>
        </p:nvSpPr>
        <p:spPr>
          <a:xfrm>
            <a:off x="548640" y="1371600"/>
            <a:ext cx="2560320" cy="3291840"/>
          </a:xfrm>
          <a:prstGeom prst="roundRect">
            <a:avLst>
              <a:gd name="adj" fmla="val 1786"/>
            </a:avLst>
          </a:prstGeom>
          <a:solidFill>
            <a:srgbClr val="FFFFFF"/>
          </a:solidFill>
          <a:ln w="12700">
            <a:solidFill>
              <a:srgbClr val="4285F4"/>
            </a:solidFill>
            <a:prstDash val="dash"/>
          </a:ln>
        </p:spPr>
      </p:sp>
      <p:sp>
        <p:nvSpPr>
          <p:cNvPr id="7" name="Text 5"/>
          <p:cNvSpPr txBox="1"/>
          <p:nvPr/>
        </p:nvSpPr>
        <p:spPr>
          <a:xfrm>
            <a:off x="621792" y="1389888"/>
            <a:ext cx="1828800" cy="237744"/>
          </a:xfrm>
          <a:prstGeom prst="rect">
            <a:avLst/>
          </a:prstGeom>
          <a:noFill/>
          <a:ln/>
        </p:spPr>
        <p:txBody>
          <a:bodyPr wrap="square" lIns="0" tIns="0" rIns="0" bIns="0" rtlCol="0" anchor="ctr"/>
          <a:lstStyle/>
          <a:p>
            <a:pPr indent="0" marL="0">
              <a:buNone/>
            </a:pPr>
            <a:r>
              <a:rPr lang="en-US" sz="900" b="1" dirty="0">
                <a:solidFill>
                  <a:srgbClr val="4285F4"/>
                </a:solidFill>
                <a:latin typeface="Meiryo UI" pitchFamily="34" charset="0"/>
                <a:ea typeface="Meiryo UI" pitchFamily="34" charset="-122"/>
                <a:cs typeface="Meiryo UI" pitchFamily="34" charset="-120"/>
              </a:rPr>
              <a:t>GCP</a:t>
            </a:r>
            <a:endParaRPr lang="en-US" sz="900" dirty="0"/>
          </a:p>
        </p:txBody>
      </p:sp>
      <p:sp>
        <p:nvSpPr>
          <p:cNvPr id="8" name="Shape 6"/>
          <p:cNvSpPr/>
          <p:nvPr/>
        </p:nvSpPr>
        <p:spPr>
          <a:xfrm>
            <a:off x="685800" y="1691640"/>
            <a:ext cx="2286000" cy="685800"/>
          </a:xfrm>
          <a:prstGeom prst="roundRect">
            <a:avLst>
              <a:gd name="adj" fmla="val 10667"/>
            </a:avLst>
          </a:prstGeom>
          <a:solidFill>
            <a:srgbClr val="E3EAF5"/>
          </a:solidFill>
          <a:ln/>
        </p:spPr>
      </p:sp>
      <p:pic>
        <p:nvPicPr>
          <p:cNvPr id="9" name="Image 0" descr="preencoded.png">    </p:cNvPr>
          <p:cNvPicPr>
            <a:picLocks noChangeAspect="1"/>
          </p:cNvPicPr>
          <p:nvPr/>
        </p:nvPicPr>
        <p:blipFill>
          <a:blip r:embed="rId1"/>
          <a:stretch>
            <a:fillRect/>
          </a:stretch>
        </p:blipFill>
        <p:spPr>
          <a:xfrm>
            <a:off x="795528" y="1851660"/>
            <a:ext cx="365760" cy="365760"/>
          </a:xfrm>
          <a:prstGeom prst="rect">
            <a:avLst/>
          </a:prstGeom>
        </p:spPr>
      </p:pic>
      <p:sp>
        <p:nvSpPr>
          <p:cNvPr id="10" name="Text 7"/>
          <p:cNvSpPr txBox="1"/>
          <p:nvPr/>
        </p:nvSpPr>
        <p:spPr>
          <a:xfrm>
            <a:off x="1252728" y="1691640"/>
            <a:ext cx="167335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商品・売上・レビュー・天気</a:t>
            </a:r>
            <a:endParaRPr lang="en-US" sz="1050" dirty="0"/>
          </a:p>
        </p:txBody>
      </p:sp>
      <p:sp>
        <p:nvSpPr>
          <p:cNvPr id="11" name="Shape 8"/>
          <p:cNvSpPr/>
          <p:nvPr/>
        </p:nvSpPr>
        <p:spPr>
          <a:xfrm>
            <a:off x="1828800" y="2404872"/>
            <a:ext cx="0" cy="219456"/>
          </a:xfrm>
          <a:prstGeom prst="line">
            <a:avLst/>
          </a:prstGeom>
          <a:noFill/>
          <a:ln w="22225">
            <a:solidFill>
              <a:srgbClr val="9AA5B4"/>
            </a:solidFill>
            <a:prstDash val="solid"/>
            <a:tailEnd type="triangle"/>
          </a:ln>
        </p:spPr>
      </p:sp>
      <p:sp>
        <p:nvSpPr>
          <p:cNvPr id="12" name="Shape 9"/>
          <p:cNvSpPr/>
          <p:nvPr/>
        </p:nvSpPr>
        <p:spPr>
          <a:xfrm>
            <a:off x="685800" y="2651760"/>
            <a:ext cx="2286000" cy="685800"/>
          </a:xfrm>
          <a:prstGeom prst="roundRect">
            <a:avLst>
              <a:gd name="adj" fmla="val 10667"/>
            </a:avLst>
          </a:prstGeom>
          <a:solidFill>
            <a:srgbClr val="D9F2F1"/>
          </a:solidFill>
          <a:ln/>
        </p:spPr>
      </p:sp>
      <p:pic>
        <p:nvPicPr>
          <p:cNvPr id="13" name="Image 1" descr="preencoded.png">    </p:cNvPr>
          <p:cNvPicPr>
            <a:picLocks noChangeAspect="1"/>
          </p:cNvPicPr>
          <p:nvPr/>
        </p:nvPicPr>
        <p:blipFill>
          <a:blip r:embed="rId2"/>
          <a:stretch>
            <a:fillRect/>
          </a:stretch>
        </p:blipFill>
        <p:spPr>
          <a:xfrm>
            <a:off x="795528" y="2811780"/>
            <a:ext cx="365760" cy="365760"/>
          </a:xfrm>
          <a:prstGeom prst="rect">
            <a:avLst/>
          </a:prstGeom>
        </p:spPr>
      </p:pic>
      <p:sp>
        <p:nvSpPr>
          <p:cNvPr id="14" name="Text 10"/>
          <p:cNvSpPr txBox="1"/>
          <p:nvPr/>
        </p:nvSpPr>
        <p:spPr>
          <a:xfrm>
            <a:off x="1252728" y="2651760"/>
            <a:ext cx="167335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SQLで前処理</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スケジュールクエリ（日次）</a:t>
            </a:r>
            <a:endParaRPr lang="en-US" sz="1050" dirty="0"/>
          </a:p>
        </p:txBody>
      </p:sp>
      <p:sp>
        <p:nvSpPr>
          <p:cNvPr id="15" name="Shape 11"/>
          <p:cNvSpPr/>
          <p:nvPr/>
        </p:nvSpPr>
        <p:spPr>
          <a:xfrm>
            <a:off x="1828800" y="3364992"/>
            <a:ext cx="0" cy="219456"/>
          </a:xfrm>
          <a:prstGeom prst="line">
            <a:avLst/>
          </a:prstGeom>
          <a:noFill/>
          <a:ln w="22225">
            <a:solidFill>
              <a:srgbClr val="9AA5B4"/>
            </a:solidFill>
            <a:prstDash val="solid"/>
            <a:tailEnd type="triangle"/>
          </a:ln>
        </p:spPr>
      </p:sp>
      <p:sp>
        <p:nvSpPr>
          <p:cNvPr id="16" name="Shape 12"/>
          <p:cNvSpPr/>
          <p:nvPr/>
        </p:nvSpPr>
        <p:spPr>
          <a:xfrm>
            <a:off x="685800" y="3611880"/>
            <a:ext cx="2286000" cy="822960"/>
          </a:xfrm>
          <a:prstGeom prst="roundRect">
            <a:avLst>
              <a:gd name="adj" fmla="val 8889"/>
            </a:avLst>
          </a:prstGeom>
          <a:solidFill>
            <a:srgbClr val="E3EAF5"/>
          </a:solidFill>
          <a:ln/>
        </p:spPr>
      </p:sp>
      <p:pic>
        <p:nvPicPr>
          <p:cNvPr id="17" name="Image 2" descr="preencoded.png">    </p:cNvPr>
          <p:cNvPicPr>
            <a:picLocks noChangeAspect="1"/>
          </p:cNvPicPr>
          <p:nvPr/>
        </p:nvPicPr>
        <p:blipFill>
          <a:blip r:embed="rId3"/>
          <a:stretch>
            <a:fillRect/>
          </a:stretch>
        </p:blipFill>
        <p:spPr>
          <a:xfrm>
            <a:off x="795528" y="3840480"/>
            <a:ext cx="365760" cy="365760"/>
          </a:xfrm>
          <a:prstGeom prst="rect">
            <a:avLst/>
          </a:prstGeom>
        </p:spPr>
      </p:pic>
      <p:sp>
        <p:nvSpPr>
          <p:cNvPr id="18" name="Text 13"/>
          <p:cNvSpPr txBox="1"/>
          <p:nvPr/>
        </p:nvSpPr>
        <p:spPr>
          <a:xfrm>
            <a:off x="1252728" y="3611880"/>
            <a:ext cx="1673352" cy="82296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推論用データ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候補セット（テーブル／JSON）</a:t>
            </a:r>
            <a:endParaRPr lang="en-US" sz="1050" dirty="0"/>
          </a:p>
        </p:txBody>
      </p:sp>
      <p:sp>
        <p:nvSpPr>
          <p:cNvPr id="19" name="Text 14"/>
          <p:cNvSpPr txBox="1"/>
          <p:nvPr/>
        </p:nvSpPr>
        <p:spPr>
          <a:xfrm>
            <a:off x="3108960" y="3474720"/>
            <a:ext cx="621792" cy="457200"/>
          </a:xfrm>
          <a:prstGeom prst="rect">
            <a:avLst/>
          </a:prstGeom>
          <a:noFill/>
          <a:ln/>
        </p:spPr>
        <p:txBody>
          <a:bodyPr wrap="square" lIns="0" tIns="0" rIns="0" bIns="0" rtlCol="0" anchor="t"/>
          <a:lstStyle/>
          <a:p>
            <a:pPr algn="ctr" indent="0" marL="0">
              <a:buNone/>
            </a:pPr>
            <a:r>
              <a:rPr lang="en-US" sz="800" b="1" dirty="0">
                <a:solidFill>
                  <a:srgbClr val="1B2A49"/>
                </a:solidFill>
                <a:latin typeface="Meiryo UI" pitchFamily="34" charset="0"/>
                <a:ea typeface="Meiryo UI" pitchFamily="34" charset="-122"/>
                <a:cs typeface="Meiryo UI" pitchFamily="34" charset="-120"/>
              </a:rPr>
              <a:t>①日次で</a:t>
            </a:r>
            <a:endParaRPr lang="en-US" sz="800" dirty="0"/>
          </a:p>
          <a:p>
            <a:pPr algn="ctr" indent="0" marL="0">
              <a:buNone/>
            </a:pPr>
            <a:r>
              <a:rPr lang="en-US" sz="800" b="1" dirty="0">
                <a:solidFill>
                  <a:srgbClr val="1B2A49"/>
                </a:solidFill>
                <a:latin typeface="Meiryo UI" pitchFamily="34" charset="0"/>
                <a:ea typeface="Meiryo UI" pitchFamily="34" charset="-122"/>
                <a:cs typeface="Meiryo UI" pitchFamily="34" charset="-120"/>
              </a:rPr>
              <a:t>転送</a:t>
            </a:r>
            <a:endParaRPr lang="en-US" sz="800" dirty="0"/>
          </a:p>
        </p:txBody>
      </p:sp>
      <p:sp>
        <p:nvSpPr>
          <p:cNvPr id="20" name="Shape 15"/>
          <p:cNvSpPr/>
          <p:nvPr/>
        </p:nvSpPr>
        <p:spPr>
          <a:xfrm>
            <a:off x="3730752" y="1371600"/>
            <a:ext cx="7882128" cy="3291840"/>
          </a:xfrm>
          <a:prstGeom prst="roundRect">
            <a:avLst>
              <a:gd name="adj" fmla="val 1389"/>
            </a:avLst>
          </a:prstGeom>
          <a:solidFill>
            <a:srgbClr val="FFFFFF"/>
          </a:solidFill>
          <a:ln w="12700">
            <a:solidFill>
              <a:srgbClr val="0F6CBD"/>
            </a:solidFill>
            <a:prstDash val="dash"/>
          </a:ln>
        </p:spPr>
      </p:sp>
      <p:sp>
        <p:nvSpPr>
          <p:cNvPr id="21" name="Text 16"/>
          <p:cNvSpPr txBox="1"/>
          <p:nvPr/>
        </p:nvSpPr>
        <p:spPr>
          <a:xfrm>
            <a:off x="3803904" y="1389888"/>
            <a:ext cx="1828800" cy="237744"/>
          </a:xfrm>
          <a:prstGeom prst="rect">
            <a:avLst/>
          </a:prstGeom>
          <a:noFill/>
          <a:ln/>
        </p:spPr>
        <p:txBody>
          <a:bodyPr wrap="square" lIns="0" tIns="0" rIns="0" bIns="0" rtlCol="0" anchor="ctr"/>
          <a:lstStyle/>
          <a:p>
            <a:pPr indent="0" marL="0">
              <a:buNone/>
            </a:pPr>
            <a:r>
              <a:rPr lang="en-US" sz="900" b="1" dirty="0">
                <a:solidFill>
                  <a:srgbClr val="0F6CBD"/>
                </a:solidFill>
                <a:latin typeface="Meiryo UI" pitchFamily="34" charset="0"/>
                <a:ea typeface="Meiryo UI" pitchFamily="34" charset="-122"/>
                <a:cs typeface="Meiryo UI" pitchFamily="34" charset="-120"/>
              </a:rPr>
              <a:t>Power Platform／M365</a:t>
            </a:r>
            <a:endParaRPr lang="en-US" sz="900" dirty="0"/>
          </a:p>
        </p:txBody>
      </p:sp>
      <p:sp>
        <p:nvSpPr>
          <p:cNvPr id="22" name="Shape 17"/>
          <p:cNvSpPr/>
          <p:nvPr/>
        </p:nvSpPr>
        <p:spPr>
          <a:xfrm>
            <a:off x="3017520" y="3995928"/>
            <a:ext cx="841248" cy="0"/>
          </a:xfrm>
          <a:prstGeom prst="line">
            <a:avLst/>
          </a:prstGeom>
          <a:noFill/>
          <a:ln w="31750">
            <a:solidFill>
              <a:srgbClr val="1B2A49"/>
            </a:solidFill>
            <a:prstDash val="solid"/>
            <a:tailEnd type="triangle"/>
          </a:ln>
        </p:spPr>
      </p:sp>
      <p:sp>
        <p:nvSpPr>
          <p:cNvPr id="23" name="Shape 18"/>
          <p:cNvSpPr/>
          <p:nvPr/>
        </p:nvSpPr>
        <p:spPr>
          <a:xfrm>
            <a:off x="3886200" y="3566160"/>
            <a:ext cx="2103120" cy="868680"/>
          </a:xfrm>
          <a:prstGeom prst="roundRect">
            <a:avLst>
              <a:gd name="adj" fmla="val 8421"/>
            </a:avLst>
          </a:prstGeom>
          <a:solidFill>
            <a:srgbClr val="E3EAF5"/>
          </a:solidFill>
          <a:ln/>
        </p:spPr>
      </p:sp>
      <p:pic>
        <p:nvPicPr>
          <p:cNvPr id="24" name="Image 3" descr="preencoded.png">    </p:cNvPr>
          <p:cNvPicPr>
            <a:picLocks noChangeAspect="1"/>
          </p:cNvPicPr>
          <p:nvPr/>
        </p:nvPicPr>
        <p:blipFill>
          <a:blip r:embed="rId4"/>
          <a:stretch>
            <a:fillRect/>
          </a:stretch>
        </p:blipFill>
        <p:spPr>
          <a:xfrm>
            <a:off x="3995928" y="3817620"/>
            <a:ext cx="365760" cy="365760"/>
          </a:xfrm>
          <a:prstGeom prst="rect">
            <a:avLst/>
          </a:prstGeom>
        </p:spPr>
      </p:pic>
      <p:sp>
        <p:nvSpPr>
          <p:cNvPr id="25" name="Text 19"/>
          <p:cNvSpPr txBox="1"/>
          <p:nvPr/>
        </p:nvSpPr>
        <p:spPr>
          <a:xfrm>
            <a:off x="4453128" y="3566160"/>
            <a:ext cx="149047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Dataverse</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カード（確定）・検討中の下書き・履歴・候補セット</a:t>
            </a:r>
            <a:endParaRPr lang="en-US" sz="1050" dirty="0"/>
          </a:p>
        </p:txBody>
      </p:sp>
      <p:sp>
        <p:nvSpPr>
          <p:cNvPr id="26" name="Shape 20"/>
          <p:cNvSpPr/>
          <p:nvPr/>
        </p:nvSpPr>
        <p:spPr>
          <a:xfrm>
            <a:off x="6263640" y="1691640"/>
            <a:ext cx="2377440" cy="1143000"/>
          </a:xfrm>
          <a:prstGeom prst="roundRect">
            <a:avLst>
              <a:gd name="adj" fmla="val 6400"/>
            </a:avLst>
          </a:prstGeom>
          <a:solidFill>
            <a:srgbClr val="FDEBD3"/>
          </a:solidFill>
          <a:ln/>
        </p:spPr>
      </p:sp>
      <p:pic>
        <p:nvPicPr>
          <p:cNvPr id="27" name="Image 4" descr="preencoded.png">    </p:cNvPr>
          <p:cNvPicPr>
            <a:picLocks noChangeAspect="1"/>
          </p:cNvPicPr>
          <p:nvPr/>
        </p:nvPicPr>
        <p:blipFill>
          <a:blip r:embed="rId5"/>
          <a:stretch>
            <a:fillRect/>
          </a:stretch>
        </p:blipFill>
        <p:spPr>
          <a:xfrm>
            <a:off x="6373368" y="2080260"/>
            <a:ext cx="365760" cy="365760"/>
          </a:xfrm>
          <a:prstGeom prst="rect">
            <a:avLst/>
          </a:prstGeom>
        </p:spPr>
      </p:pic>
      <p:sp>
        <p:nvSpPr>
          <p:cNvPr id="28" name="Text 21"/>
          <p:cNvSpPr txBox="1"/>
          <p:nvPr/>
        </p:nvSpPr>
        <p:spPr>
          <a:xfrm>
            <a:off x="6830568" y="1691640"/>
            <a:ext cx="1764792" cy="11430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カレンダー・入れ替え・プレビュー・チャット</a:t>
            </a:r>
            <a:endParaRPr lang="en-US" sz="1050" dirty="0"/>
          </a:p>
        </p:txBody>
      </p:sp>
      <p:sp>
        <p:nvSpPr>
          <p:cNvPr id="29" name="Shape 22"/>
          <p:cNvSpPr/>
          <p:nvPr/>
        </p:nvSpPr>
        <p:spPr>
          <a:xfrm>
            <a:off x="9006840" y="1691640"/>
            <a:ext cx="2468880" cy="1143000"/>
          </a:xfrm>
          <a:prstGeom prst="roundRect">
            <a:avLst>
              <a:gd name="adj" fmla="val 6400"/>
            </a:avLst>
          </a:prstGeom>
          <a:solidFill>
            <a:srgbClr val="0E9F9A"/>
          </a:solidFill>
          <a:ln/>
        </p:spPr>
      </p:sp>
      <p:sp>
        <p:nvSpPr>
          <p:cNvPr id="30" name="Shape 23"/>
          <p:cNvSpPr/>
          <p:nvPr/>
        </p:nvSpPr>
        <p:spPr>
          <a:xfrm>
            <a:off x="9079992" y="2007108"/>
            <a:ext cx="512064" cy="512064"/>
          </a:xfrm>
          <a:prstGeom prst="ellipse">
            <a:avLst/>
          </a:prstGeom>
          <a:solidFill>
            <a:srgbClr val="FFFFFF"/>
          </a:solidFill>
          <a:ln/>
        </p:spPr>
      </p:sp>
      <p:pic>
        <p:nvPicPr>
          <p:cNvPr id="31" name="Image 5" descr="preencoded.png">    </p:cNvPr>
          <p:cNvPicPr>
            <a:picLocks noChangeAspect="1"/>
          </p:cNvPicPr>
          <p:nvPr/>
        </p:nvPicPr>
        <p:blipFill>
          <a:blip r:embed="rId6"/>
          <a:stretch>
            <a:fillRect/>
          </a:stretch>
        </p:blipFill>
        <p:spPr>
          <a:xfrm>
            <a:off x="9153144" y="2080260"/>
            <a:ext cx="365760" cy="365760"/>
          </a:xfrm>
          <a:prstGeom prst="rect">
            <a:avLst/>
          </a:prstGeom>
        </p:spPr>
      </p:pic>
      <p:sp>
        <p:nvSpPr>
          <p:cNvPr id="32" name="Text 24"/>
          <p:cNvSpPr txBox="1"/>
          <p:nvPr/>
        </p:nvSpPr>
        <p:spPr>
          <a:xfrm>
            <a:off x="9738360" y="1691640"/>
            <a:ext cx="1691640" cy="114300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850" dirty="0">
                <a:solidFill>
                  <a:srgbClr val="E6F2F2"/>
                </a:solidFill>
                <a:latin typeface="Meiryo UI" pitchFamily="34" charset="0"/>
                <a:ea typeface="Meiryo UI" pitchFamily="34" charset="-122"/>
                <a:cs typeface="Meiryo UI" pitchFamily="34" charset="-120"/>
              </a:rPr>
              <a:t>エージェント（JSONで下書きを返す）</a:t>
            </a:r>
            <a:endParaRPr lang="en-US" sz="1050" dirty="0"/>
          </a:p>
        </p:txBody>
      </p:sp>
      <p:sp>
        <p:nvSpPr>
          <p:cNvPr id="33" name="Shape 25"/>
          <p:cNvSpPr/>
          <p:nvPr/>
        </p:nvSpPr>
        <p:spPr>
          <a:xfrm>
            <a:off x="9006840" y="3566160"/>
            <a:ext cx="2468880" cy="868680"/>
          </a:xfrm>
          <a:prstGeom prst="roundRect">
            <a:avLst>
              <a:gd name="adj" fmla="val 8421"/>
            </a:avLst>
          </a:prstGeom>
          <a:solidFill>
            <a:srgbClr val="E3EAF5"/>
          </a:solidFill>
          <a:ln/>
        </p:spPr>
      </p:sp>
      <p:pic>
        <p:nvPicPr>
          <p:cNvPr id="34" name="Image 6" descr="preencoded.png">    </p:cNvPr>
          <p:cNvPicPr>
            <a:picLocks noChangeAspect="1"/>
          </p:cNvPicPr>
          <p:nvPr/>
        </p:nvPicPr>
        <p:blipFill>
          <a:blip r:embed="rId7"/>
          <a:stretch>
            <a:fillRect/>
          </a:stretch>
        </p:blipFill>
        <p:spPr>
          <a:xfrm>
            <a:off x="9116568" y="3817620"/>
            <a:ext cx="365760" cy="365760"/>
          </a:xfrm>
          <a:prstGeom prst="rect">
            <a:avLst/>
          </a:prstGeom>
        </p:spPr>
      </p:pic>
      <p:sp>
        <p:nvSpPr>
          <p:cNvPr id="35" name="Text 26"/>
          <p:cNvSpPr txBox="1"/>
          <p:nvPr/>
        </p:nvSpPr>
        <p:spPr>
          <a:xfrm>
            <a:off x="9573768" y="3566160"/>
            <a:ext cx="185623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ポリシー・ガイドライン・好事例</a:t>
            </a:r>
            <a:endParaRPr lang="en-US" sz="1050" dirty="0"/>
          </a:p>
        </p:txBody>
      </p:sp>
      <p:sp>
        <p:nvSpPr>
          <p:cNvPr id="36" name="Shape 27"/>
          <p:cNvSpPr/>
          <p:nvPr/>
        </p:nvSpPr>
        <p:spPr>
          <a:xfrm>
            <a:off x="6263640" y="3566160"/>
            <a:ext cx="2377440" cy="868680"/>
          </a:xfrm>
          <a:prstGeom prst="roundRect">
            <a:avLst>
              <a:gd name="adj" fmla="val 8421"/>
            </a:avLst>
          </a:prstGeom>
          <a:solidFill>
            <a:srgbClr val="FDEBD3"/>
          </a:solidFill>
          <a:ln/>
        </p:spPr>
      </p:sp>
      <p:pic>
        <p:nvPicPr>
          <p:cNvPr id="37" name="Image 7" descr="preencoded.png">    </p:cNvPr>
          <p:cNvPicPr>
            <a:picLocks noChangeAspect="1"/>
          </p:cNvPicPr>
          <p:nvPr/>
        </p:nvPicPr>
        <p:blipFill>
          <a:blip r:embed="rId8"/>
          <a:stretch>
            <a:fillRect/>
          </a:stretch>
        </p:blipFill>
        <p:spPr>
          <a:xfrm>
            <a:off x="6373368" y="3817620"/>
            <a:ext cx="365760" cy="365760"/>
          </a:xfrm>
          <a:prstGeom prst="rect">
            <a:avLst/>
          </a:prstGeom>
        </p:spPr>
      </p:pic>
      <p:sp>
        <p:nvSpPr>
          <p:cNvPr id="38" name="Text 28"/>
          <p:cNvSpPr txBox="1"/>
          <p:nvPr/>
        </p:nvSpPr>
        <p:spPr>
          <a:xfrm>
            <a:off x="6830568" y="3566160"/>
            <a:ext cx="176479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Teams</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通知・承認・簡単な問い合わせ</a:t>
            </a:r>
            <a:endParaRPr lang="en-US" sz="1050" dirty="0"/>
          </a:p>
        </p:txBody>
      </p:sp>
      <p:sp>
        <p:nvSpPr>
          <p:cNvPr id="39" name="Shape 29"/>
          <p:cNvSpPr/>
          <p:nvPr/>
        </p:nvSpPr>
        <p:spPr>
          <a:xfrm flipV="1">
            <a:off x="4937760" y="2880360"/>
            <a:ext cx="1417320" cy="640080"/>
          </a:xfrm>
          <a:prstGeom prst="line">
            <a:avLst/>
          </a:prstGeom>
          <a:noFill/>
          <a:ln w="22225">
            <a:solidFill>
              <a:srgbClr val="9AA5B4"/>
            </a:solidFill>
            <a:prstDash val="solid"/>
            <a:headEnd type="triangle"/>
            <a:tailEnd type="triangle"/>
          </a:ln>
        </p:spPr>
      </p:sp>
      <p:sp>
        <p:nvSpPr>
          <p:cNvPr id="40" name="Text 30"/>
          <p:cNvSpPr txBox="1"/>
          <p:nvPr/>
        </p:nvSpPr>
        <p:spPr>
          <a:xfrm>
            <a:off x="4617720" y="2743200"/>
            <a:ext cx="1188720" cy="411480"/>
          </a:xfrm>
          <a:prstGeom prst="rect">
            <a:avLst/>
          </a:prstGeom>
          <a:noFill/>
          <a:ln/>
        </p:spPr>
        <p:txBody>
          <a:bodyPr wrap="square" lIns="0" tIns="0" rIns="0" bIns="0" rtlCol="0" anchor="t"/>
          <a:lstStyle/>
          <a:p>
            <a:pPr algn="ctr" indent="0" marL="0">
              <a:buNone/>
            </a:pPr>
            <a:r>
              <a:rPr lang="en-US" sz="800" dirty="0">
                <a:solidFill>
                  <a:srgbClr val="6B7280"/>
                </a:solidFill>
                <a:latin typeface="Meiryo UI" pitchFamily="34" charset="0"/>
                <a:ea typeface="Meiryo UI" pitchFamily="34" charset="-122"/>
                <a:cs typeface="Meiryo UI" pitchFamily="34" charset="-120"/>
              </a:rPr>
              <a:t>②③カードと</a:t>
            </a:r>
            <a:endParaRPr lang="en-US" sz="800" dirty="0"/>
          </a:p>
          <a:p>
            <a:pPr algn="ctr" indent="0" marL="0">
              <a:buNone/>
            </a:pPr>
            <a:r>
              <a:rPr lang="en-US" sz="800" dirty="0">
                <a:solidFill>
                  <a:srgbClr val="6B7280"/>
                </a:solidFill>
                <a:latin typeface="Meiryo UI" pitchFamily="34" charset="0"/>
                <a:ea typeface="Meiryo UI" pitchFamily="34" charset="-122"/>
                <a:cs typeface="Meiryo UI" pitchFamily="34" charset="-120"/>
              </a:rPr>
              <a:t>候補を読込</a:t>
            </a:r>
            <a:endParaRPr lang="en-US" sz="800" dirty="0"/>
          </a:p>
        </p:txBody>
      </p:sp>
      <p:sp>
        <p:nvSpPr>
          <p:cNvPr id="41" name="Shape 31"/>
          <p:cNvSpPr/>
          <p:nvPr/>
        </p:nvSpPr>
        <p:spPr>
          <a:xfrm>
            <a:off x="8686800" y="2258568"/>
            <a:ext cx="274320" cy="0"/>
          </a:xfrm>
          <a:prstGeom prst="line">
            <a:avLst/>
          </a:prstGeom>
          <a:noFill/>
          <a:ln w="22225">
            <a:solidFill>
              <a:srgbClr val="9AA5B4"/>
            </a:solidFill>
            <a:prstDash val="solid"/>
            <a:headEnd type="triangle"/>
            <a:tailEnd type="triangle"/>
          </a:ln>
        </p:spPr>
      </p:sp>
      <p:sp>
        <p:nvSpPr>
          <p:cNvPr id="42" name="Text 32"/>
          <p:cNvSpPr txBox="1"/>
          <p:nvPr/>
        </p:nvSpPr>
        <p:spPr>
          <a:xfrm>
            <a:off x="8183880" y="1417320"/>
            <a:ext cx="1280160" cy="228600"/>
          </a:xfrm>
          <a:prstGeom prst="rect">
            <a:avLst/>
          </a:prstGeom>
          <a:noFill/>
          <a:ln/>
        </p:spPr>
        <p:txBody>
          <a:bodyPr wrap="square" lIns="0" tIns="0" rIns="0" bIns="0" rtlCol="0" anchor="t"/>
          <a:lstStyle/>
          <a:p>
            <a:pPr algn="ctr" indent="0" marL="0">
              <a:buNone/>
            </a:pPr>
            <a:r>
              <a:rPr lang="en-US" sz="800" dirty="0">
                <a:solidFill>
                  <a:srgbClr val="6B7280"/>
                </a:solidFill>
                <a:latin typeface="Meiryo UI" pitchFamily="34" charset="0"/>
                <a:ea typeface="Meiryo UI" pitchFamily="34" charset="-122"/>
                <a:cs typeface="Meiryo UI" pitchFamily="34" charset="-120"/>
              </a:rPr>
              <a:t>③依頼／④下書き</a:t>
            </a:r>
            <a:endParaRPr lang="en-US" sz="800" dirty="0"/>
          </a:p>
        </p:txBody>
      </p:sp>
      <p:sp>
        <p:nvSpPr>
          <p:cNvPr id="43" name="Shape 33"/>
          <p:cNvSpPr/>
          <p:nvPr/>
        </p:nvSpPr>
        <p:spPr>
          <a:xfrm flipV="1">
            <a:off x="10241280" y="2880360"/>
            <a:ext cx="0" cy="640080"/>
          </a:xfrm>
          <a:prstGeom prst="line">
            <a:avLst/>
          </a:prstGeom>
          <a:noFill/>
          <a:ln w="22225">
            <a:solidFill>
              <a:srgbClr val="9AA5B4"/>
            </a:solidFill>
            <a:prstDash val="solid"/>
            <a:tailEnd type="triangle"/>
          </a:ln>
        </p:spPr>
      </p:sp>
      <p:sp>
        <p:nvSpPr>
          <p:cNvPr id="44" name="Text 34"/>
          <p:cNvSpPr txBox="1"/>
          <p:nvPr/>
        </p:nvSpPr>
        <p:spPr>
          <a:xfrm>
            <a:off x="10314432" y="3063240"/>
            <a:ext cx="731520" cy="27432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ナレッジ</a:t>
            </a:r>
            <a:endParaRPr lang="en-US" sz="800" dirty="0"/>
          </a:p>
        </p:txBody>
      </p:sp>
      <p:sp>
        <p:nvSpPr>
          <p:cNvPr id="45" name="Shape 35"/>
          <p:cNvSpPr/>
          <p:nvPr/>
        </p:nvSpPr>
        <p:spPr>
          <a:xfrm>
            <a:off x="7452360" y="2880360"/>
            <a:ext cx="0" cy="640080"/>
          </a:xfrm>
          <a:prstGeom prst="line">
            <a:avLst/>
          </a:prstGeom>
          <a:noFill/>
          <a:ln w="22225">
            <a:solidFill>
              <a:srgbClr val="9AA5B4"/>
            </a:solidFill>
            <a:prstDash val="solid"/>
            <a:tailEnd type="triangle"/>
          </a:ln>
        </p:spPr>
      </p:sp>
      <p:sp>
        <p:nvSpPr>
          <p:cNvPr id="46" name="Text 36"/>
          <p:cNvSpPr txBox="1"/>
          <p:nvPr/>
        </p:nvSpPr>
        <p:spPr>
          <a:xfrm>
            <a:off x="7516368" y="3063240"/>
            <a:ext cx="1097280" cy="27432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⑥通知・承認</a:t>
            </a:r>
            <a:endParaRPr lang="en-US" sz="800" dirty="0"/>
          </a:p>
        </p:txBody>
      </p:sp>
      <p:sp>
        <p:nvSpPr>
          <p:cNvPr id="47" name="Shape 37"/>
          <p:cNvSpPr/>
          <p:nvPr/>
        </p:nvSpPr>
        <p:spPr>
          <a:xfrm>
            <a:off x="548640" y="4800600"/>
            <a:ext cx="1755648" cy="1097280"/>
          </a:xfrm>
          <a:prstGeom prst="roundRect">
            <a:avLst>
              <a:gd name="adj" fmla="val 5000"/>
            </a:avLst>
          </a:prstGeom>
          <a:solidFill>
            <a:srgbClr val="F3F5F8"/>
          </a:solidFill>
          <a:ln/>
        </p:spPr>
      </p:sp>
      <p:sp>
        <p:nvSpPr>
          <p:cNvPr id="48" name="Shape 38"/>
          <p:cNvSpPr/>
          <p:nvPr/>
        </p:nvSpPr>
        <p:spPr>
          <a:xfrm>
            <a:off x="640080" y="4873752"/>
            <a:ext cx="310896" cy="310896"/>
          </a:xfrm>
          <a:prstGeom prst="ellipse">
            <a:avLst/>
          </a:prstGeom>
          <a:solidFill>
            <a:srgbClr val="1B2A49"/>
          </a:solidFill>
          <a:ln/>
        </p:spPr>
      </p:sp>
      <p:sp>
        <p:nvSpPr>
          <p:cNvPr id="49" name="Text 39"/>
          <p:cNvSpPr txBox="1"/>
          <p:nvPr/>
        </p:nvSpPr>
        <p:spPr>
          <a:xfrm>
            <a:off x="640080"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①</a:t>
            </a:r>
            <a:endParaRPr lang="en-US" sz="1100" dirty="0"/>
          </a:p>
        </p:txBody>
      </p:sp>
      <p:sp>
        <p:nvSpPr>
          <p:cNvPr id="50" name="Text 40"/>
          <p:cNvSpPr txBox="1"/>
          <p:nvPr/>
        </p:nvSpPr>
        <p:spPr>
          <a:xfrm>
            <a:off x="640080"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日次：BigQueryで候補セットを作り、Dataverseに取り込む</a:t>
            </a:r>
            <a:endParaRPr lang="en-US" sz="900" dirty="0"/>
          </a:p>
        </p:txBody>
      </p:sp>
      <p:sp>
        <p:nvSpPr>
          <p:cNvPr id="51" name="Shape 41"/>
          <p:cNvSpPr/>
          <p:nvPr/>
        </p:nvSpPr>
        <p:spPr>
          <a:xfrm>
            <a:off x="2414016" y="4800600"/>
            <a:ext cx="1755648" cy="1097280"/>
          </a:xfrm>
          <a:prstGeom prst="roundRect">
            <a:avLst>
              <a:gd name="adj" fmla="val 5000"/>
            </a:avLst>
          </a:prstGeom>
          <a:solidFill>
            <a:srgbClr val="F3F5F8"/>
          </a:solidFill>
          <a:ln/>
        </p:spPr>
      </p:sp>
      <p:sp>
        <p:nvSpPr>
          <p:cNvPr id="52" name="Shape 42"/>
          <p:cNvSpPr/>
          <p:nvPr/>
        </p:nvSpPr>
        <p:spPr>
          <a:xfrm>
            <a:off x="2505456" y="4873752"/>
            <a:ext cx="310896" cy="310896"/>
          </a:xfrm>
          <a:prstGeom prst="ellipse">
            <a:avLst/>
          </a:prstGeom>
          <a:solidFill>
            <a:srgbClr val="1B2A49"/>
          </a:solidFill>
          <a:ln/>
        </p:spPr>
      </p:sp>
      <p:sp>
        <p:nvSpPr>
          <p:cNvPr id="53" name="Text 43"/>
          <p:cNvSpPr txBox="1"/>
          <p:nvPr/>
        </p:nvSpPr>
        <p:spPr>
          <a:xfrm>
            <a:off x="2505456"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②</a:t>
            </a:r>
            <a:endParaRPr lang="en-US" sz="1100" dirty="0"/>
          </a:p>
        </p:txBody>
      </p:sp>
      <p:sp>
        <p:nvSpPr>
          <p:cNvPr id="54" name="Text 44"/>
          <p:cNvSpPr txBox="1"/>
          <p:nvPr/>
        </p:nvSpPr>
        <p:spPr>
          <a:xfrm>
            <a:off x="2505456"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配信日ごとにカードを作成しておく</a:t>
            </a:r>
            <a:endParaRPr lang="en-US" sz="900" dirty="0"/>
          </a:p>
        </p:txBody>
      </p:sp>
      <p:sp>
        <p:nvSpPr>
          <p:cNvPr id="55" name="Shape 45"/>
          <p:cNvSpPr/>
          <p:nvPr/>
        </p:nvSpPr>
        <p:spPr>
          <a:xfrm>
            <a:off x="4279392" y="4800600"/>
            <a:ext cx="1755648" cy="1097280"/>
          </a:xfrm>
          <a:prstGeom prst="roundRect">
            <a:avLst>
              <a:gd name="adj" fmla="val 5000"/>
            </a:avLst>
          </a:prstGeom>
          <a:solidFill>
            <a:srgbClr val="F3F5F8"/>
          </a:solidFill>
          <a:ln/>
        </p:spPr>
      </p:sp>
      <p:sp>
        <p:nvSpPr>
          <p:cNvPr id="56" name="Shape 46"/>
          <p:cNvSpPr/>
          <p:nvPr/>
        </p:nvSpPr>
        <p:spPr>
          <a:xfrm>
            <a:off x="4370832" y="4873752"/>
            <a:ext cx="310896" cy="310896"/>
          </a:xfrm>
          <a:prstGeom prst="ellipse">
            <a:avLst/>
          </a:prstGeom>
          <a:solidFill>
            <a:srgbClr val="1B2A49"/>
          </a:solidFill>
          <a:ln/>
        </p:spPr>
      </p:sp>
      <p:sp>
        <p:nvSpPr>
          <p:cNvPr id="57" name="Text 47"/>
          <p:cNvSpPr txBox="1"/>
          <p:nvPr/>
        </p:nvSpPr>
        <p:spPr>
          <a:xfrm>
            <a:off x="4370832"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③</a:t>
            </a:r>
            <a:endParaRPr lang="en-US" sz="1100" dirty="0"/>
          </a:p>
        </p:txBody>
      </p:sp>
      <p:sp>
        <p:nvSpPr>
          <p:cNvPr id="58" name="Text 48"/>
          <p:cNvSpPr txBox="1"/>
          <p:nvPr/>
        </p:nvSpPr>
        <p:spPr>
          <a:xfrm>
            <a:off x="4370832"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code appから起案を依頼（カード＋候補セットを入力として渡す）</a:t>
            </a:r>
            <a:endParaRPr lang="en-US" sz="900" dirty="0"/>
          </a:p>
        </p:txBody>
      </p:sp>
      <p:sp>
        <p:nvSpPr>
          <p:cNvPr id="59" name="Shape 49"/>
          <p:cNvSpPr/>
          <p:nvPr/>
        </p:nvSpPr>
        <p:spPr>
          <a:xfrm>
            <a:off x="6144768" y="4800600"/>
            <a:ext cx="1755648" cy="1097280"/>
          </a:xfrm>
          <a:prstGeom prst="roundRect">
            <a:avLst>
              <a:gd name="adj" fmla="val 5000"/>
            </a:avLst>
          </a:prstGeom>
          <a:solidFill>
            <a:srgbClr val="F3F5F8"/>
          </a:solidFill>
          <a:ln/>
        </p:spPr>
      </p:sp>
      <p:sp>
        <p:nvSpPr>
          <p:cNvPr id="60" name="Shape 50"/>
          <p:cNvSpPr/>
          <p:nvPr/>
        </p:nvSpPr>
        <p:spPr>
          <a:xfrm>
            <a:off x="6236208" y="4873752"/>
            <a:ext cx="310896" cy="310896"/>
          </a:xfrm>
          <a:prstGeom prst="ellipse">
            <a:avLst/>
          </a:prstGeom>
          <a:solidFill>
            <a:srgbClr val="1B2A49"/>
          </a:solidFill>
          <a:ln/>
        </p:spPr>
      </p:sp>
      <p:sp>
        <p:nvSpPr>
          <p:cNvPr id="61" name="Text 51"/>
          <p:cNvSpPr txBox="1"/>
          <p:nvPr/>
        </p:nvSpPr>
        <p:spPr>
          <a:xfrm>
            <a:off x="6236208"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④</a:t>
            </a:r>
            <a:endParaRPr lang="en-US" sz="1100" dirty="0"/>
          </a:p>
        </p:txBody>
      </p:sp>
      <p:sp>
        <p:nvSpPr>
          <p:cNvPr id="62" name="Text 52"/>
          <p:cNvSpPr txBox="1"/>
          <p:nvPr/>
        </p:nvSpPr>
        <p:spPr>
          <a:xfrm>
            <a:off x="6236208"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エージェントが社内資料を参照し、JSONで下書きを返す</a:t>
            </a:r>
            <a:endParaRPr lang="en-US" sz="900" dirty="0"/>
          </a:p>
        </p:txBody>
      </p:sp>
      <p:sp>
        <p:nvSpPr>
          <p:cNvPr id="63" name="Shape 53"/>
          <p:cNvSpPr/>
          <p:nvPr/>
        </p:nvSpPr>
        <p:spPr>
          <a:xfrm>
            <a:off x="8010144" y="4800600"/>
            <a:ext cx="1755648" cy="1097280"/>
          </a:xfrm>
          <a:prstGeom prst="roundRect">
            <a:avLst>
              <a:gd name="adj" fmla="val 5000"/>
            </a:avLst>
          </a:prstGeom>
          <a:solidFill>
            <a:srgbClr val="FDEBD3"/>
          </a:solidFill>
          <a:ln/>
        </p:spPr>
      </p:sp>
      <p:sp>
        <p:nvSpPr>
          <p:cNvPr id="64" name="Shape 54"/>
          <p:cNvSpPr/>
          <p:nvPr/>
        </p:nvSpPr>
        <p:spPr>
          <a:xfrm>
            <a:off x="8101584" y="4873752"/>
            <a:ext cx="310896" cy="310896"/>
          </a:xfrm>
          <a:prstGeom prst="ellipse">
            <a:avLst/>
          </a:prstGeom>
          <a:solidFill>
            <a:srgbClr val="E8912D"/>
          </a:solidFill>
          <a:ln/>
        </p:spPr>
      </p:sp>
      <p:sp>
        <p:nvSpPr>
          <p:cNvPr id="65" name="Text 55"/>
          <p:cNvSpPr txBox="1"/>
          <p:nvPr/>
        </p:nvSpPr>
        <p:spPr>
          <a:xfrm>
            <a:off x="8101584"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⑤</a:t>
            </a:r>
            <a:endParaRPr lang="en-US" sz="1100" dirty="0"/>
          </a:p>
        </p:txBody>
      </p:sp>
      <p:sp>
        <p:nvSpPr>
          <p:cNvPr id="66" name="Text 56"/>
          <p:cNvSpPr txBox="1"/>
          <p:nvPr/>
        </p:nvSpPr>
        <p:spPr>
          <a:xfrm>
            <a:off x="8101584"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工程ごとのレイヤーで修正・入れ替え→下書きを更新して再依頼</a:t>
            </a:r>
            <a:endParaRPr lang="en-US" sz="900" dirty="0"/>
          </a:p>
        </p:txBody>
      </p:sp>
      <p:sp>
        <p:nvSpPr>
          <p:cNvPr id="67" name="Shape 57"/>
          <p:cNvSpPr/>
          <p:nvPr/>
        </p:nvSpPr>
        <p:spPr>
          <a:xfrm>
            <a:off x="9875520" y="4800600"/>
            <a:ext cx="1755648" cy="1097280"/>
          </a:xfrm>
          <a:prstGeom prst="roundRect">
            <a:avLst>
              <a:gd name="adj" fmla="val 5000"/>
            </a:avLst>
          </a:prstGeom>
          <a:solidFill>
            <a:srgbClr val="F3F5F8"/>
          </a:solidFill>
          <a:ln/>
        </p:spPr>
      </p:sp>
      <p:sp>
        <p:nvSpPr>
          <p:cNvPr id="68" name="Shape 58"/>
          <p:cNvSpPr/>
          <p:nvPr/>
        </p:nvSpPr>
        <p:spPr>
          <a:xfrm>
            <a:off x="9966960" y="4873752"/>
            <a:ext cx="310896" cy="310896"/>
          </a:xfrm>
          <a:prstGeom prst="ellipse">
            <a:avLst/>
          </a:prstGeom>
          <a:solidFill>
            <a:srgbClr val="1B2A49"/>
          </a:solidFill>
          <a:ln/>
        </p:spPr>
      </p:sp>
      <p:sp>
        <p:nvSpPr>
          <p:cNvPr id="69" name="Text 59"/>
          <p:cNvSpPr txBox="1"/>
          <p:nvPr/>
        </p:nvSpPr>
        <p:spPr>
          <a:xfrm>
            <a:off x="9966960"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⑥</a:t>
            </a:r>
            <a:endParaRPr lang="en-US" sz="1100" dirty="0"/>
          </a:p>
        </p:txBody>
      </p:sp>
      <p:sp>
        <p:nvSpPr>
          <p:cNvPr id="70" name="Text 60"/>
          <p:cNvSpPr txBox="1"/>
          <p:nvPr/>
        </p:nvSpPr>
        <p:spPr>
          <a:xfrm>
            <a:off x="9966960"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確定したらカードに反映し、Teamsで通知・承認</a:t>
            </a:r>
            <a:endParaRPr lang="en-US" sz="900" dirty="0"/>
          </a:p>
        </p:txBody>
      </p:sp>
      <p:sp>
        <p:nvSpPr>
          <p:cNvPr id="71" name="Text 61"/>
          <p:cNvSpPr txBox="1"/>
          <p:nvPr/>
        </p:nvSpPr>
        <p:spPr>
          <a:xfrm>
            <a:off x="548640" y="5961888"/>
            <a:ext cx="11064240" cy="411480"/>
          </a:xfrm>
          <a:prstGeom prst="rect">
            <a:avLst/>
          </a:prstGeom>
          <a:noFill/>
          <a:ln/>
        </p:spPr>
        <p:txBody>
          <a:bodyPr wrap="square" lIns="0" tIns="0" rIns="0" bIns="0" rtlCol="0" anchor="t"/>
          <a:lstStyle/>
          <a:p>
            <a:pPr indent="0" marL="0">
              <a:buNone/>
            </a:pPr>
            <a:r>
              <a:rPr lang="en-US" sz="900" dirty="0">
                <a:solidFill>
                  <a:srgbClr val="6B7280"/>
                </a:solidFill>
                <a:latin typeface="Meiryo UI" pitchFamily="34" charset="0"/>
                <a:ea typeface="Meiryo UI" pitchFamily="34" charset="-122"/>
                <a:cs typeface="Meiryo UI" pitchFamily="34" charset="-120"/>
              </a:rPr>
              <a:t>推論用データはDataverseのテーブルでも、BigQueryから出力したJSONファイルでもよい。どちらの場合も、該当部分をプロンプトに直接渡すと確実（検索任せにしない）。会話の文脈は、アプリが毎回「下書き＋指示＋やり取り」として送る</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A7の具体案②：画面イメージ（カレンダー）</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配信日ごとのカードをカレンダーに並べ、確定状況をひと目で把握する。カードを選ぶと確定情報の概要が開く（検討用のイメージ）</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31</a:t>
            </a:r>
            <a:endParaRPr lang="en-US" sz="900" dirty="0"/>
          </a:p>
        </p:txBody>
      </p:sp>
      <p:sp>
        <p:nvSpPr>
          <p:cNvPr id="6" name="Shape 4"/>
          <p:cNvSpPr/>
          <p:nvPr/>
        </p:nvSpPr>
        <p:spPr>
          <a:xfrm>
            <a:off x="548640" y="1325880"/>
            <a:ext cx="11064240" cy="4663440"/>
          </a:xfrm>
          <a:prstGeom prst="roundRect">
            <a:avLst>
              <a:gd name="adj" fmla="val 980"/>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7" name="Shape 5"/>
          <p:cNvSpPr/>
          <p:nvPr/>
        </p:nvSpPr>
        <p:spPr>
          <a:xfrm>
            <a:off x="548640" y="1325880"/>
            <a:ext cx="11064240" cy="310896"/>
          </a:xfrm>
          <a:prstGeom prst="rect">
            <a:avLst/>
          </a:prstGeom>
          <a:solidFill>
            <a:srgbClr val="1B2A49"/>
          </a:solidFill>
          <a:ln/>
        </p:spPr>
      </p:sp>
      <p:sp>
        <p:nvSpPr>
          <p:cNvPr id="8" name="Shape 6"/>
          <p:cNvSpPr/>
          <p:nvPr/>
        </p:nvSpPr>
        <p:spPr>
          <a:xfrm>
            <a:off x="685800" y="1426464"/>
            <a:ext cx="109728" cy="109728"/>
          </a:xfrm>
          <a:prstGeom prst="ellipse">
            <a:avLst/>
          </a:prstGeom>
          <a:solidFill>
            <a:srgbClr val="FF6B6B"/>
          </a:solidFill>
          <a:ln/>
        </p:spPr>
      </p:sp>
      <p:sp>
        <p:nvSpPr>
          <p:cNvPr id="9" name="Shape 7"/>
          <p:cNvSpPr/>
          <p:nvPr/>
        </p:nvSpPr>
        <p:spPr>
          <a:xfrm>
            <a:off x="868680" y="1426464"/>
            <a:ext cx="109728" cy="109728"/>
          </a:xfrm>
          <a:prstGeom prst="ellipse">
            <a:avLst/>
          </a:prstGeom>
          <a:solidFill>
            <a:srgbClr val="FFD166"/>
          </a:solidFill>
          <a:ln/>
        </p:spPr>
      </p:sp>
      <p:sp>
        <p:nvSpPr>
          <p:cNvPr id="10" name="Shape 8"/>
          <p:cNvSpPr/>
          <p:nvPr/>
        </p:nvSpPr>
        <p:spPr>
          <a:xfrm>
            <a:off x="1051560" y="1426464"/>
            <a:ext cx="109728" cy="109728"/>
          </a:xfrm>
          <a:prstGeom prst="ellipse">
            <a:avLst/>
          </a:prstGeom>
          <a:solidFill>
            <a:srgbClr val="06D6A0"/>
          </a:solidFill>
          <a:ln/>
        </p:spPr>
      </p:sp>
      <p:sp>
        <p:nvSpPr>
          <p:cNvPr id="11" name="Text 9"/>
          <p:cNvSpPr txBox="1"/>
          <p:nvPr/>
        </p:nvSpPr>
        <p:spPr>
          <a:xfrm>
            <a:off x="1371600" y="1325880"/>
            <a:ext cx="5486400" cy="310896"/>
          </a:xfrm>
          <a:prstGeom prst="rect">
            <a:avLst/>
          </a:prstGeom>
          <a:noFill/>
          <a:ln/>
        </p:spPr>
        <p:txBody>
          <a:bodyPr wrap="square" lIns="0" tIns="0" rIns="0" bIns="0" rtlCol="0" anchor="ctr"/>
          <a:lstStyle/>
          <a:p>
            <a:pPr indent="0" marL="0">
              <a:buNone/>
            </a:pPr>
            <a:r>
              <a:rPr lang="en-US" sz="950" b="1" dirty="0">
                <a:solidFill>
                  <a:srgbClr val="FFFFFF"/>
                </a:solidFill>
                <a:latin typeface="Meiryo UI" pitchFamily="34" charset="0"/>
                <a:ea typeface="Meiryo UI" pitchFamily="34" charset="-122"/>
                <a:cs typeface="Meiryo UI" pitchFamily="34" charset="-120"/>
              </a:rPr>
              <a:t>配信コンテンツ企画（code app）</a:t>
            </a:r>
            <a:endParaRPr lang="en-US" sz="950" dirty="0"/>
          </a:p>
        </p:txBody>
      </p:sp>
      <p:sp>
        <p:nvSpPr>
          <p:cNvPr id="12" name="Shape 10"/>
          <p:cNvSpPr/>
          <p:nvPr/>
        </p:nvSpPr>
        <p:spPr>
          <a:xfrm>
            <a:off x="658368" y="1737360"/>
            <a:ext cx="1828800" cy="4160520"/>
          </a:xfrm>
          <a:prstGeom prst="roundRect">
            <a:avLst>
              <a:gd name="adj" fmla="val 2500"/>
            </a:avLst>
          </a:prstGeom>
          <a:solidFill>
            <a:srgbClr val="F3F5F8"/>
          </a:solidFill>
          <a:ln/>
        </p:spPr>
      </p:sp>
      <p:sp>
        <p:nvSpPr>
          <p:cNvPr id="13" name="Text 11"/>
          <p:cNvSpPr txBox="1"/>
          <p:nvPr/>
        </p:nvSpPr>
        <p:spPr>
          <a:xfrm>
            <a:off x="777240" y="1810512"/>
            <a:ext cx="1645920" cy="256032"/>
          </a:xfrm>
          <a:prstGeom prst="rect">
            <a:avLst/>
          </a:prstGeom>
          <a:noFill/>
          <a:ln/>
        </p:spPr>
        <p:txBody>
          <a:bodyPr wrap="square" lIns="0" tIns="0" rIns="0" bIns="0" rtlCol="0" anchor="t"/>
          <a:lstStyle/>
          <a:p>
            <a:pPr indent="0" marL="0">
              <a:buNone/>
            </a:pPr>
            <a:r>
              <a:rPr lang="en-US" sz="900" b="1" dirty="0">
                <a:solidFill>
                  <a:srgbClr val="1B2A49"/>
                </a:solidFill>
                <a:latin typeface="Meiryo UI" pitchFamily="34" charset="0"/>
                <a:ea typeface="Meiryo UI" pitchFamily="34" charset="-122"/>
                <a:cs typeface="Meiryo UI" pitchFamily="34" charset="-120"/>
              </a:rPr>
              <a:t>絞り込み</a:t>
            </a:r>
            <a:endParaRPr lang="en-US" sz="900" dirty="0"/>
          </a:p>
        </p:txBody>
      </p:sp>
      <p:sp>
        <p:nvSpPr>
          <p:cNvPr id="14" name="Text 12"/>
          <p:cNvSpPr txBox="1"/>
          <p:nvPr/>
        </p:nvSpPr>
        <p:spPr>
          <a:xfrm>
            <a:off x="777240" y="2121408"/>
            <a:ext cx="1645920" cy="182880"/>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国</a:t>
            </a:r>
            <a:endParaRPr lang="en-US" sz="750" dirty="0"/>
          </a:p>
        </p:txBody>
      </p:sp>
      <p:sp>
        <p:nvSpPr>
          <p:cNvPr id="15" name="Shape 13"/>
          <p:cNvSpPr/>
          <p:nvPr/>
        </p:nvSpPr>
        <p:spPr>
          <a:xfrm>
            <a:off x="777240" y="2304288"/>
            <a:ext cx="1600200" cy="256032"/>
          </a:xfrm>
          <a:prstGeom prst="roundRect">
            <a:avLst>
              <a:gd name="adj" fmla="val 14286"/>
            </a:avLst>
          </a:prstGeom>
          <a:solidFill>
            <a:srgbClr val="FFFFFF"/>
          </a:solidFill>
          <a:ln w="12700">
            <a:solidFill>
              <a:srgbClr val="D5DBE3"/>
            </a:solidFill>
            <a:prstDash val="solid"/>
          </a:ln>
        </p:spPr>
      </p:sp>
      <p:sp>
        <p:nvSpPr>
          <p:cNvPr id="16" name="Text 14"/>
          <p:cNvSpPr txBox="1"/>
          <p:nvPr/>
        </p:nvSpPr>
        <p:spPr>
          <a:xfrm>
            <a:off x="841248" y="2304288"/>
            <a:ext cx="1508760" cy="256032"/>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US  ▾</a:t>
            </a:r>
            <a:endParaRPr lang="en-US" sz="800" dirty="0"/>
          </a:p>
        </p:txBody>
      </p:sp>
      <p:sp>
        <p:nvSpPr>
          <p:cNvPr id="17" name="Text 15"/>
          <p:cNvSpPr txBox="1"/>
          <p:nvPr/>
        </p:nvSpPr>
        <p:spPr>
          <a:xfrm>
            <a:off x="777240" y="2651760"/>
            <a:ext cx="1645920" cy="182880"/>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チャネル</a:t>
            </a:r>
            <a:endParaRPr lang="en-US" sz="750" dirty="0"/>
          </a:p>
        </p:txBody>
      </p:sp>
      <p:sp>
        <p:nvSpPr>
          <p:cNvPr id="18" name="Shape 16"/>
          <p:cNvSpPr/>
          <p:nvPr/>
        </p:nvSpPr>
        <p:spPr>
          <a:xfrm>
            <a:off x="777240" y="2834640"/>
            <a:ext cx="1600200" cy="256032"/>
          </a:xfrm>
          <a:prstGeom prst="roundRect">
            <a:avLst>
              <a:gd name="adj" fmla="val 14286"/>
            </a:avLst>
          </a:prstGeom>
          <a:solidFill>
            <a:srgbClr val="FFFFFF"/>
          </a:solidFill>
          <a:ln w="12700">
            <a:solidFill>
              <a:srgbClr val="D5DBE3"/>
            </a:solidFill>
            <a:prstDash val="solid"/>
          </a:ln>
        </p:spPr>
      </p:sp>
      <p:sp>
        <p:nvSpPr>
          <p:cNvPr id="19" name="Text 17"/>
          <p:cNvSpPr txBox="1"/>
          <p:nvPr/>
        </p:nvSpPr>
        <p:spPr>
          <a:xfrm>
            <a:off x="841248" y="2834640"/>
            <a:ext cx="1508760" cy="256032"/>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メール／プッシュ  ▾</a:t>
            </a:r>
            <a:endParaRPr lang="en-US" sz="800" dirty="0"/>
          </a:p>
        </p:txBody>
      </p:sp>
      <p:sp>
        <p:nvSpPr>
          <p:cNvPr id="20" name="Text 18"/>
          <p:cNvSpPr txBox="1"/>
          <p:nvPr/>
        </p:nvSpPr>
        <p:spPr>
          <a:xfrm>
            <a:off x="777240" y="3182112"/>
            <a:ext cx="1645920" cy="182880"/>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部署</a:t>
            </a:r>
            <a:endParaRPr lang="en-US" sz="750" dirty="0"/>
          </a:p>
        </p:txBody>
      </p:sp>
      <p:sp>
        <p:nvSpPr>
          <p:cNvPr id="21" name="Shape 19"/>
          <p:cNvSpPr/>
          <p:nvPr/>
        </p:nvSpPr>
        <p:spPr>
          <a:xfrm>
            <a:off x="777240" y="3364992"/>
            <a:ext cx="1600200" cy="256032"/>
          </a:xfrm>
          <a:prstGeom prst="roundRect">
            <a:avLst>
              <a:gd name="adj" fmla="val 14286"/>
            </a:avLst>
          </a:prstGeom>
          <a:solidFill>
            <a:srgbClr val="FFFFFF"/>
          </a:solidFill>
          <a:ln w="12700">
            <a:solidFill>
              <a:srgbClr val="D5DBE3"/>
            </a:solidFill>
            <a:prstDash val="solid"/>
          </a:ln>
        </p:spPr>
      </p:sp>
      <p:sp>
        <p:nvSpPr>
          <p:cNvPr id="22" name="Text 20"/>
          <p:cNvSpPr txBox="1"/>
          <p:nvPr/>
        </p:nvSpPr>
        <p:spPr>
          <a:xfrm>
            <a:off x="841248" y="3364992"/>
            <a:ext cx="1508760" cy="256032"/>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すべて  ▾</a:t>
            </a:r>
            <a:endParaRPr lang="en-US" sz="800" dirty="0"/>
          </a:p>
        </p:txBody>
      </p:sp>
      <p:sp>
        <p:nvSpPr>
          <p:cNvPr id="23" name="Text 21"/>
          <p:cNvSpPr txBox="1"/>
          <p:nvPr/>
        </p:nvSpPr>
        <p:spPr>
          <a:xfrm>
            <a:off x="777240" y="3749040"/>
            <a:ext cx="1645920" cy="201168"/>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ステータス</a:t>
            </a:r>
            <a:endParaRPr lang="en-US" sz="750" dirty="0"/>
          </a:p>
        </p:txBody>
      </p:sp>
      <p:sp>
        <p:nvSpPr>
          <p:cNvPr id="24" name="Shape 22"/>
          <p:cNvSpPr/>
          <p:nvPr/>
        </p:nvSpPr>
        <p:spPr>
          <a:xfrm>
            <a:off x="804672" y="4023360"/>
            <a:ext cx="146304" cy="146304"/>
          </a:xfrm>
          <a:prstGeom prst="rect">
            <a:avLst/>
          </a:prstGeom>
          <a:solidFill>
            <a:srgbClr val="1B2A49"/>
          </a:solidFill>
          <a:ln/>
        </p:spPr>
      </p:sp>
      <p:sp>
        <p:nvSpPr>
          <p:cNvPr id="25" name="Text 23"/>
          <p:cNvSpPr txBox="1"/>
          <p:nvPr/>
        </p:nvSpPr>
        <p:spPr>
          <a:xfrm>
            <a:off x="1005840" y="3977640"/>
            <a:ext cx="1280160" cy="237744"/>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確定</a:t>
            </a:r>
            <a:endParaRPr lang="en-US" sz="800" dirty="0"/>
          </a:p>
        </p:txBody>
      </p:sp>
      <p:sp>
        <p:nvSpPr>
          <p:cNvPr id="26" name="Shape 24"/>
          <p:cNvSpPr/>
          <p:nvPr/>
        </p:nvSpPr>
        <p:spPr>
          <a:xfrm>
            <a:off x="804672" y="4297680"/>
            <a:ext cx="146304" cy="146304"/>
          </a:xfrm>
          <a:prstGeom prst="rect">
            <a:avLst/>
          </a:prstGeom>
          <a:solidFill>
            <a:srgbClr val="0E9F9A"/>
          </a:solidFill>
          <a:ln/>
        </p:spPr>
      </p:sp>
      <p:sp>
        <p:nvSpPr>
          <p:cNvPr id="27" name="Text 25"/>
          <p:cNvSpPr txBox="1"/>
          <p:nvPr/>
        </p:nvSpPr>
        <p:spPr>
          <a:xfrm>
            <a:off x="1005840" y="4251960"/>
            <a:ext cx="1280160" cy="237744"/>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下書きあり</a:t>
            </a:r>
            <a:endParaRPr lang="en-US" sz="800" dirty="0"/>
          </a:p>
        </p:txBody>
      </p:sp>
      <p:sp>
        <p:nvSpPr>
          <p:cNvPr id="28" name="Shape 26"/>
          <p:cNvSpPr/>
          <p:nvPr/>
        </p:nvSpPr>
        <p:spPr>
          <a:xfrm>
            <a:off x="804672" y="4572000"/>
            <a:ext cx="146304" cy="146304"/>
          </a:xfrm>
          <a:prstGeom prst="rect">
            <a:avLst/>
          </a:prstGeom>
          <a:solidFill>
            <a:srgbClr val="6B4FBB"/>
          </a:solidFill>
          <a:ln/>
        </p:spPr>
      </p:sp>
      <p:sp>
        <p:nvSpPr>
          <p:cNvPr id="29" name="Text 27"/>
          <p:cNvSpPr txBox="1"/>
          <p:nvPr/>
        </p:nvSpPr>
        <p:spPr>
          <a:xfrm>
            <a:off x="1005840" y="4526280"/>
            <a:ext cx="1280160" cy="237744"/>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検討中</a:t>
            </a:r>
            <a:endParaRPr lang="en-US" sz="800" dirty="0"/>
          </a:p>
        </p:txBody>
      </p:sp>
      <p:sp>
        <p:nvSpPr>
          <p:cNvPr id="30" name="Shape 28"/>
          <p:cNvSpPr/>
          <p:nvPr/>
        </p:nvSpPr>
        <p:spPr>
          <a:xfrm>
            <a:off x="804672" y="4846320"/>
            <a:ext cx="146304" cy="146304"/>
          </a:xfrm>
          <a:prstGeom prst="rect">
            <a:avLst/>
          </a:prstGeom>
          <a:solidFill>
            <a:srgbClr val="E8912D"/>
          </a:solidFill>
          <a:ln/>
        </p:spPr>
      </p:sp>
      <p:sp>
        <p:nvSpPr>
          <p:cNvPr id="31" name="Text 29"/>
          <p:cNvSpPr txBox="1"/>
          <p:nvPr/>
        </p:nvSpPr>
        <p:spPr>
          <a:xfrm>
            <a:off x="1005840" y="4800600"/>
            <a:ext cx="1280160" cy="237744"/>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未起案</a:t>
            </a:r>
            <a:endParaRPr lang="en-US" sz="800" dirty="0"/>
          </a:p>
        </p:txBody>
      </p:sp>
      <p:sp>
        <p:nvSpPr>
          <p:cNvPr id="32" name="Text 30"/>
          <p:cNvSpPr txBox="1"/>
          <p:nvPr/>
        </p:nvSpPr>
        <p:spPr>
          <a:xfrm>
            <a:off x="2606040" y="1737360"/>
            <a:ext cx="2743200" cy="27432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  2026年10月  ›</a:t>
            </a:r>
            <a:endParaRPr lang="en-US" sz="1050" dirty="0"/>
          </a:p>
        </p:txBody>
      </p:sp>
      <p:sp>
        <p:nvSpPr>
          <p:cNvPr id="33" name="Shape 31"/>
          <p:cNvSpPr/>
          <p:nvPr/>
        </p:nvSpPr>
        <p:spPr>
          <a:xfrm>
            <a:off x="10040112" y="1737360"/>
            <a:ext cx="1463040" cy="274320"/>
          </a:xfrm>
          <a:prstGeom prst="roundRect">
            <a:avLst>
              <a:gd name="adj" fmla="val 50000"/>
            </a:avLst>
          </a:prstGeom>
          <a:solidFill>
            <a:srgbClr val="FFFFFF"/>
          </a:solidFill>
          <a:ln w="12700">
            <a:solidFill>
              <a:srgbClr val="1B2A49"/>
            </a:solidFill>
            <a:prstDash val="solid"/>
          </a:ln>
        </p:spPr>
      </p:sp>
      <p:sp>
        <p:nvSpPr>
          <p:cNvPr id="34" name="Text 32"/>
          <p:cNvSpPr txBox="1"/>
          <p:nvPr/>
        </p:nvSpPr>
        <p:spPr>
          <a:xfrm>
            <a:off x="10040112" y="1737360"/>
            <a:ext cx="1463040" cy="274320"/>
          </a:xfrm>
          <a:prstGeom prst="rect">
            <a:avLst/>
          </a:prstGeom>
          <a:noFill/>
          <a:ln/>
        </p:spPr>
        <p:txBody>
          <a:bodyPr wrap="square" lIns="762" tIns="762" rIns="762" bIns="762" rtlCol="0" anchor="ctr"/>
          <a:lstStyle/>
          <a:p>
            <a:pPr algn="ctr" indent="0" marL="0">
              <a:buNone/>
            </a:pPr>
            <a:r>
              <a:rPr lang="en-US" sz="800" b="1" dirty="0">
                <a:solidFill>
                  <a:srgbClr val="1B2A49"/>
                </a:solidFill>
                <a:latin typeface="Meiryo UI" pitchFamily="34" charset="0"/>
                <a:ea typeface="Meiryo UI" pitchFamily="34" charset="-122"/>
                <a:cs typeface="Meiryo UI" pitchFamily="34" charset="-120"/>
              </a:rPr>
              <a:t>＋ カードを追加</a:t>
            </a:r>
            <a:endParaRPr lang="en-US" sz="800" dirty="0"/>
          </a:p>
        </p:txBody>
      </p:sp>
      <p:sp>
        <p:nvSpPr>
          <p:cNvPr id="35" name="Text 33"/>
          <p:cNvSpPr txBox="1"/>
          <p:nvPr/>
        </p:nvSpPr>
        <p:spPr>
          <a:xfrm>
            <a:off x="2606040"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Sun</a:t>
            </a:r>
            <a:endParaRPr lang="en-US" sz="750" dirty="0"/>
          </a:p>
        </p:txBody>
      </p:sp>
      <p:sp>
        <p:nvSpPr>
          <p:cNvPr id="36" name="Text 34"/>
          <p:cNvSpPr txBox="1"/>
          <p:nvPr/>
        </p:nvSpPr>
        <p:spPr>
          <a:xfrm>
            <a:off x="3877056"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Mon</a:t>
            </a:r>
            <a:endParaRPr lang="en-US" sz="750" dirty="0"/>
          </a:p>
        </p:txBody>
      </p:sp>
      <p:sp>
        <p:nvSpPr>
          <p:cNvPr id="37" name="Text 35"/>
          <p:cNvSpPr txBox="1"/>
          <p:nvPr/>
        </p:nvSpPr>
        <p:spPr>
          <a:xfrm>
            <a:off x="5148072"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Tue</a:t>
            </a:r>
            <a:endParaRPr lang="en-US" sz="750" dirty="0"/>
          </a:p>
        </p:txBody>
      </p:sp>
      <p:sp>
        <p:nvSpPr>
          <p:cNvPr id="38" name="Text 36"/>
          <p:cNvSpPr txBox="1"/>
          <p:nvPr/>
        </p:nvSpPr>
        <p:spPr>
          <a:xfrm>
            <a:off x="6419088"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Wed</a:t>
            </a:r>
            <a:endParaRPr lang="en-US" sz="750" dirty="0"/>
          </a:p>
        </p:txBody>
      </p:sp>
      <p:sp>
        <p:nvSpPr>
          <p:cNvPr id="39" name="Text 37"/>
          <p:cNvSpPr txBox="1"/>
          <p:nvPr/>
        </p:nvSpPr>
        <p:spPr>
          <a:xfrm>
            <a:off x="7690104"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Thu</a:t>
            </a:r>
            <a:endParaRPr lang="en-US" sz="750" dirty="0"/>
          </a:p>
        </p:txBody>
      </p:sp>
      <p:sp>
        <p:nvSpPr>
          <p:cNvPr id="40" name="Text 38"/>
          <p:cNvSpPr txBox="1"/>
          <p:nvPr/>
        </p:nvSpPr>
        <p:spPr>
          <a:xfrm>
            <a:off x="8961120"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Fri</a:t>
            </a:r>
            <a:endParaRPr lang="en-US" sz="750" dirty="0"/>
          </a:p>
        </p:txBody>
      </p:sp>
      <p:sp>
        <p:nvSpPr>
          <p:cNvPr id="41" name="Text 39"/>
          <p:cNvSpPr txBox="1"/>
          <p:nvPr/>
        </p:nvSpPr>
        <p:spPr>
          <a:xfrm>
            <a:off x="10232136"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Sat</a:t>
            </a:r>
            <a:endParaRPr lang="en-US" sz="750" dirty="0"/>
          </a:p>
        </p:txBody>
      </p:sp>
      <p:sp>
        <p:nvSpPr>
          <p:cNvPr id="42" name="Shape 40"/>
          <p:cNvSpPr/>
          <p:nvPr/>
        </p:nvSpPr>
        <p:spPr>
          <a:xfrm>
            <a:off x="7708392" y="2286000"/>
            <a:ext cx="1234440" cy="676656"/>
          </a:xfrm>
          <a:prstGeom prst="roundRect">
            <a:avLst>
              <a:gd name="adj" fmla="val 4054"/>
            </a:avLst>
          </a:prstGeom>
          <a:solidFill>
            <a:srgbClr val="FFFFFF"/>
          </a:solidFill>
          <a:ln w="12700">
            <a:solidFill>
              <a:srgbClr val="D5DBE3"/>
            </a:solidFill>
            <a:prstDash val="solid"/>
          </a:ln>
        </p:spPr>
      </p:sp>
      <p:sp>
        <p:nvSpPr>
          <p:cNvPr id="43" name="Text 41"/>
          <p:cNvSpPr txBox="1"/>
          <p:nvPr/>
        </p:nvSpPr>
        <p:spPr>
          <a:xfrm>
            <a:off x="7744968" y="2295144"/>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a:t>
            </a:r>
            <a:endParaRPr lang="en-US" sz="700" dirty="0"/>
          </a:p>
        </p:txBody>
      </p:sp>
      <p:sp>
        <p:nvSpPr>
          <p:cNvPr id="44" name="Shape 42"/>
          <p:cNvSpPr/>
          <p:nvPr/>
        </p:nvSpPr>
        <p:spPr>
          <a:xfrm>
            <a:off x="7744968" y="2450592"/>
            <a:ext cx="1161288" cy="219456"/>
          </a:xfrm>
          <a:prstGeom prst="roundRect">
            <a:avLst>
              <a:gd name="adj" fmla="val 16667"/>
            </a:avLst>
          </a:prstGeom>
          <a:solidFill>
            <a:srgbClr val="F3F5F8"/>
          </a:solidFill>
          <a:ln/>
        </p:spPr>
      </p:sp>
      <p:sp>
        <p:nvSpPr>
          <p:cNvPr id="45" name="Shape 43"/>
          <p:cNvSpPr/>
          <p:nvPr/>
        </p:nvSpPr>
        <p:spPr>
          <a:xfrm>
            <a:off x="7744968" y="2450592"/>
            <a:ext cx="54864" cy="219456"/>
          </a:xfrm>
          <a:prstGeom prst="rect">
            <a:avLst/>
          </a:prstGeom>
          <a:solidFill>
            <a:srgbClr val="1B2A49"/>
          </a:solidFill>
          <a:ln/>
        </p:spPr>
      </p:sp>
      <p:sp>
        <p:nvSpPr>
          <p:cNvPr id="46" name="Text 44"/>
          <p:cNvSpPr txBox="1"/>
          <p:nvPr/>
        </p:nvSpPr>
        <p:spPr>
          <a:xfrm>
            <a:off x="7827264" y="2450592"/>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Fall Arrivals</a:t>
            </a:r>
            <a:endParaRPr lang="en-US" sz="650" dirty="0"/>
          </a:p>
        </p:txBody>
      </p:sp>
      <p:sp>
        <p:nvSpPr>
          <p:cNvPr id="47" name="Shape 45"/>
          <p:cNvSpPr/>
          <p:nvPr/>
        </p:nvSpPr>
        <p:spPr>
          <a:xfrm>
            <a:off x="8979408" y="2286000"/>
            <a:ext cx="1234440" cy="676656"/>
          </a:xfrm>
          <a:prstGeom prst="roundRect">
            <a:avLst>
              <a:gd name="adj" fmla="val 4054"/>
            </a:avLst>
          </a:prstGeom>
          <a:solidFill>
            <a:srgbClr val="FFFFFF"/>
          </a:solidFill>
          <a:ln w="12700">
            <a:solidFill>
              <a:srgbClr val="D5DBE3"/>
            </a:solidFill>
            <a:prstDash val="solid"/>
          </a:ln>
        </p:spPr>
      </p:sp>
      <p:sp>
        <p:nvSpPr>
          <p:cNvPr id="48" name="Text 46"/>
          <p:cNvSpPr txBox="1"/>
          <p:nvPr/>
        </p:nvSpPr>
        <p:spPr>
          <a:xfrm>
            <a:off x="9015984" y="2295144"/>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a:t>
            </a:r>
            <a:endParaRPr lang="en-US" sz="700" dirty="0"/>
          </a:p>
        </p:txBody>
      </p:sp>
      <p:sp>
        <p:nvSpPr>
          <p:cNvPr id="49" name="Shape 47"/>
          <p:cNvSpPr/>
          <p:nvPr/>
        </p:nvSpPr>
        <p:spPr>
          <a:xfrm>
            <a:off x="10250424" y="2286000"/>
            <a:ext cx="1234440" cy="676656"/>
          </a:xfrm>
          <a:prstGeom prst="roundRect">
            <a:avLst>
              <a:gd name="adj" fmla="val 4054"/>
            </a:avLst>
          </a:prstGeom>
          <a:solidFill>
            <a:srgbClr val="FFFFFF"/>
          </a:solidFill>
          <a:ln w="12700">
            <a:solidFill>
              <a:srgbClr val="D5DBE3"/>
            </a:solidFill>
            <a:prstDash val="solid"/>
          </a:ln>
        </p:spPr>
      </p:sp>
      <p:sp>
        <p:nvSpPr>
          <p:cNvPr id="50" name="Text 48"/>
          <p:cNvSpPr txBox="1"/>
          <p:nvPr/>
        </p:nvSpPr>
        <p:spPr>
          <a:xfrm>
            <a:off x="10287000" y="2295144"/>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3</a:t>
            </a:r>
            <a:endParaRPr lang="en-US" sz="700" dirty="0"/>
          </a:p>
        </p:txBody>
      </p:sp>
      <p:sp>
        <p:nvSpPr>
          <p:cNvPr id="51" name="Shape 49"/>
          <p:cNvSpPr/>
          <p:nvPr/>
        </p:nvSpPr>
        <p:spPr>
          <a:xfrm>
            <a:off x="10287000" y="2450592"/>
            <a:ext cx="1161288" cy="219456"/>
          </a:xfrm>
          <a:prstGeom prst="roundRect">
            <a:avLst>
              <a:gd name="adj" fmla="val 16667"/>
            </a:avLst>
          </a:prstGeom>
          <a:solidFill>
            <a:srgbClr val="F3F5F8"/>
          </a:solidFill>
          <a:ln/>
        </p:spPr>
      </p:sp>
      <p:sp>
        <p:nvSpPr>
          <p:cNvPr id="52" name="Shape 50"/>
          <p:cNvSpPr/>
          <p:nvPr/>
        </p:nvSpPr>
        <p:spPr>
          <a:xfrm>
            <a:off x="10287000" y="2450592"/>
            <a:ext cx="54864" cy="219456"/>
          </a:xfrm>
          <a:prstGeom prst="rect">
            <a:avLst/>
          </a:prstGeom>
          <a:solidFill>
            <a:srgbClr val="1B2A49"/>
          </a:solidFill>
          <a:ln/>
        </p:spPr>
      </p:sp>
      <p:sp>
        <p:nvSpPr>
          <p:cNvPr id="53" name="Text 51"/>
          <p:cNvSpPr txBox="1"/>
          <p:nvPr/>
        </p:nvSpPr>
        <p:spPr>
          <a:xfrm>
            <a:off x="10369296" y="2450592"/>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Weekend Sale</a:t>
            </a:r>
            <a:endParaRPr lang="en-US" sz="650" dirty="0"/>
          </a:p>
        </p:txBody>
      </p:sp>
      <p:sp>
        <p:nvSpPr>
          <p:cNvPr id="54" name="Shape 52"/>
          <p:cNvSpPr/>
          <p:nvPr/>
        </p:nvSpPr>
        <p:spPr>
          <a:xfrm>
            <a:off x="10287000" y="2697480"/>
            <a:ext cx="1161288" cy="219456"/>
          </a:xfrm>
          <a:prstGeom prst="roundRect">
            <a:avLst>
              <a:gd name="adj" fmla="val 16667"/>
            </a:avLst>
          </a:prstGeom>
          <a:solidFill>
            <a:srgbClr val="F3F5F8"/>
          </a:solidFill>
          <a:ln/>
        </p:spPr>
      </p:sp>
      <p:sp>
        <p:nvSpPr>
          <p:cNvPr id="55" name="Shape 53"/>
          <p:cNvSpPr/>
          <p:nvPr/>
        </p:nvSpPr>
        <p:spPr>
          <a:xfrm>
            <a:off x="10287000" y="2697480"/>
            <a:ext cx="54864" cy="219456"/>
          </a:xfrm>
          <a:prstGeom prst="rect">
            <a:avLst/>
          </a:prstGeom>
          <a:solidFill>
            <a:srgbClr val="1B2A49"/>
          </a:solidFill>
          <a:ln/>
        </p:spPr>
      </p:sp>
      <p:sp>
        <p:nvSpPr>
          <p:cNvPr id="56" name="Text 54"/>
          <p:cNvSpPr txBox="1"/>
          <p:nvPr/>
        </p:nvSpPr>
        <p:spPr>
          <a:xfrm>
            <a:off x="10369296" y="2697480"/>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Flash Deal</a:t>
            </a:r>
            <a:endParaRPr lang="en-US" sz="650" dirty="0"/>
          </a:p>
        </p:txBody>
      </p:sp>
      <p:sp>
        <p:nvSpPr>
          <p:cNvPr id="57" name="Shape 55"/>
          <p:cNvSpPr/>
          <p:nvPr/>
        </p:nvSpPr>
        <p:spPr>
          <a:xfrm>
            <a:off x="2624328" y="2999232"/>
            <a:ext cx="1234440" cy="676656"/>
          </a:xfrm>
          <a:prstGeom prst="roundRect">
            <a:avLst>
              <a:gd name="adj" fmla="val 4054"/>
            </a:avLst>
          </a:prstGeom>
          <a:solidFill>
            <a:srgbClr val="FFFFFF"/>
          </a:solidFill>
          <a:ln w="12700">
            <a:solidFill>
              <a:srgbClr val="D5DBE3"/>
            </a:solidFill>
            <a:prstDash val="solid"/>
          </a:ln>
        </p:spPr>
      </p:sp>
      <p:sp>
        <p:nvSpPr>
          <p:cNvPr id="58" name="Text 56"/>
          <p:cNvSpPr txBox="1"/>
          <p:nvPr/>
        </p:nvSpPr>
        <p:spPr>
          <a:xfrm>
            <a:off x="2660904"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4</a:t>
            </a:r>
            <a:endParaRPr lang="en-US" sz="700" dirty="0"/>
          </a:p>
        </p:txBody>
      </p:sp>
      <p:sp>
        <p:nvSpPr>
          <p:cNvPr id="59" name="Shape 57"/>
          <p:cNvSpPr/>
          <p:nvPr/>
        </p:nvSpPr>
        <p:spPr>
          <a:xfrm>
            <a:off x="3895344" y="2999232"/>
            <a:ext cx="1234440" cy="676656"/>
          </a:xfrm>
          <a:prstGeom prst="roundRect">
            <a:avLst>
              <a:gd name="adj" fmla="val 4054"/>
            </a:avLst>
          </a:prstGeom>
          <a:solidFill>
            <a:srgbClr val="EEEAF8"/>
          </a:solidFill>
          <a:ln w="12700">
            <a:solidFill>
              <a:srgbClr val="6B4FBB"/>
            </a:solidFill>
            <a:prstDash val="solid"/>
          </a:ln>
        </p:spPr>
      </p:sp>
      <p:sp>
        <p:nvSpPr>
          <p:cNvPr id="60" name="Text 58"/>
          <p:cNvSpPr txBox="1"/>
          <p:nvPr/>
        </p:nvSpPr>
        <p:spPr>
          <a:xfrm>
            <a:off x="3931920"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5</a:t>
            </a:r>
            <a:endParaRPr lang="en-US" sz="700" dirty="0"/>
          </a:p>
        </p:txBody>
      </p:sp>
      <p:sp>
        <p:nvSpPr>
          <p:cNvPr id="61" name="Shape 59"/>
          <p:cNvSpPr/>
          <p:nvPr/>
        </p:nvSpPr>
        <p:spPr>
          <a:xfrm>
            <a:off x="3931920" y="3163824"/>
            <a:ext cx="1161288" cy="219456"/>
          </a:xfrm>
          <a:prstGeom prst="roundRect">
            <a:avLst>
              <a:gd name="adj" fmla="val 16667"/>
            </a:avLst>
          </a:prstGeom>
          <a:solidFill>
            <a:srgbClr val="F3F5F8"/>
          </a:solidFill>
          <a:ln/>
        </p:spPr>
      </p:sp>
      <p:sp>
        <p:nvSpPr>
          <p:cNvPr id="62" name="Shape 60"/>
          <p:cNvSpPr/>
          <p:nvPr/>
        </p:nvSpPr>
        <p:spPr>
          <a:xfrm>
            <a:off x="3931920" y="3163824"/>
            <a:ext cx="54864" cy="219456"/>
          </a:xfrm>
          <a:prstGeom prst="rect">
            <a:avLst/>
          </a:prstGeom>
          <a:solidFill>
            <a:srgbClr val="6B4FBB"/>
          </a:solidFill>
          <a:ln/>
        </p:spPr>
      </p:sp>
      <p:sp>
        <p:nvSpPr>
          <p:cNvPr id="63" name="Text 61"/>
          <p:cNvSpPr txBox="1"/>
          <p:nvPr/>
        </p:nvSpPr>
        <p:spPr>
          <a:xfrm>
            <a:off x="4014216" y="3163824"/>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秋の新作を先取り</a:t>
            </a:r>
            <a:endParaRPr lang="en-US" sz="650" dirty="0"/>
          </a:p>
        </p:txBody>
      </p:sp>
      <p:sp>
        <p:nvSpPr>
          <p:cNvPr id="64" name="Shape 62"/>
          <p:cNvSpPr/>
          <p:nvPr/>
        </p:nvSpPr>
        <p:spPr>
          <a:xfrm>
            <a:off x="5166360" y="2999232"/>
            <a:ext cx="1234440" cy="676656"/>
          </a:xfrm>
          <a:prstGeom prst="roundRect">
            <a:avLst>
              <a:gd name="adj" fmla="val 4054"/>
            </a:avLst>
          </a:prstGeom>
          <a:solidFill>
            <a:srgbClr val="FFFFFF"/>
          </a:solidFill>
          <a:ln w="12700">
            <a:solidFill>
              <a:srgbClr val="D5DBE3"/>
            </a:solidFill>
            <a:prstDash val="solid"/>
          </a:ln>
        </p:spPr>
      </p:sp>
      <p:sp>
        <p:nvSpPr>
          <p:cNvPr id="65" name="Text 63"/>
          <p:cNvSpPr txBox="1"/>
          <p:nvPr/>
        </p:nvSpPr>
        <p:spPr>
          <a:xfrm>
            <a:off x="5202936"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6</a:t>
            </a:r>
            <a:endParaRPr lang="en-US" sz="700" dirty="0"/>
          </a:p>
        </p:txBody>
      </p:sp>
      <p:sp>
        <p:nvSpPr>
          <p:cNvPr id="66" name="Shape 64"/>
          <p:cNvSpPr/>
          <p:nvPr/>
        </p:nvSpPr>
        <p:spPr>
          <a:xfrm>
            <a:off x="6437376" y="2999232"/>
            <a:ext cx="1234440" cy="676656"/>
          </a:xfrm>
          <a:prstGeom prst="roundRect">
            <a:avLst>
              <a:gd name="adj" fmla="val 4054"/>
            </a:avLst>
          </a:prstGeom>
          <a:solidFill>
            <a:srgbClr val="FFFFFF"/>
          </a:solidFill>
          <a:ln w="12700">
            <a:solidFill>
              <a:srgbClr val="D5DBE3"/>
            </a:solidFill>
            <a:prstDash val="solid"/>
          </a:ln>
        </p:spPr>
      </p:sp>
      <p:sp>
        <p:nvSpPr>
          <p:cNvPr id="67" name="Text 65"/>
          <p:cNvSpPr txBox="1"/>
          <p:nvPr/>
        </p:nvSpPr>
        <p:spPr>
          <a:xfrm>
            <a:off x="6473952"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7</a:t>
            </a:r>
            <a:endParaRPr lang="en-US" sz="700" dirty="0"/>
          </a:p>
        </p:txBody>
      </p:sp>
      <p:sp>
        <p:nvSpPr>
          <p:cNvPr id="68" name="Shape 66"/>
          <p:cNvSpPr/>
          <p:nvPr/>
        </p:nvSpPr>
        <p:spPr>
          <a:xfrm>
            <a:off x="6473952" y="3163824"/>
            <a:ext cx="1161288" cy="219456"/>
          </a:xfrm>
          <a:prstGeom prst="roundRect">
            <a:avLst>
              <a:gd name="adj" fmla="val 16667"/>
            </a:avLst>
          </a:prstGeom>
          <a:solidFill>
            <a:srgbClr val="F3F5F8"/>
          </a:solidFill>
          <a:ln/>
        </p:spPr>
      </p:sp>
      <p:sp>
        <p:nvSpPr>
          <p:cNvPr id="69" name="Shape 67"/>
          <p:cNvSpPr/>
          <p:nvPr/>
        </p:nvSpPr>
        <p:spPr>
          <a:xfrm>
            <a:off x="6473952" y="3163824"/>
            <a:ext cx="54864" cy="219456"/>
          </a:xfrm>
          <a:prstGeom prst="rect">
            <a:avLst/>
          </a:prstGeom>
          <a:solidFill>
            <a:srgbClr val="0E9F9A"/>
          </a:solidFill>
          <a:ln/>
        </p:spPr>
      </p:sp>
      <p:sp>
        <p:nvSpPr>
          <p:cNvPr id="70" name="Text 68"/>
          <p:cNvSpPr txBox="1"/>
          <p:nvPr/>
        </p:nvSpPr>
        <p:spPr>
          <a:xfrm>
            <a:off x="6556248" y="3163824"/>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Rainy Day Picks</a:t>
            </a:r>
            <a:endParaRPr lang="en-US" sz="650" dirty="0"/>
          </a:p>
        </p:txBody>
      </p:sp>
      <p:sp>
        <p:nvSpPr>
          <p:cNvPr id="71" name="Shape 69"/>
          <p:cNvSpPr/>
          <p:nvPr/>
        </p:nvSpPr>
        <p:spPr>
          <a:xfrm>
            <a:off x="7708392" y="2999232"/>
            <a:ext cx="1234440" cy="676656"/>
          </a:xfrm>
          <a:prstGeom prst="roundRect">
            <a:avLst>
              <a:gd name="adj" fmla="val 4054"/>
            </a:avLst>
          </a:prstGeom>
          <a:solidFill>
            <a:srgbClr val="FFFFFF"/>
          </a:solidFill>
          <a:ln w="12700">
            <a:solidFill>
              <a:srgbClr val="D5DBE3"/>
            </a:solidFill>
            <a:prstDash val="solid"/>
          </a:ln>
        </p:spPr>
      </p:sp>
      <p:sp>
        <p:nvSpPr>
          <p:cNvPr id="72" name="Text 70"/>
          <p:cNvSpPr txBox="1"/>
          <p:nvPr/>
        </p:nvSpPr>
        <p:spPr>
          <a:xfrm>
            <a:off x="7744968"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8</a:t>
            </a:r>
            <a:endParaRPr lang="en-US" sz="700" dirty="0"/>
          </a:p>
        </p:txBody>
      </p:sp>
      <p:sp>
        <p:nvSpPr>
          <p:cNvPr id="73" name="Shape 71"/>
          <p:cNvSpPr/>
          <p:nvPr/>
        </p:nvSpPr>
        <p:spPr>
          <a:xfrm>
            <a:off x="7744968" y="3163824"/>
            <a:ext cx="1161288" cy="219456"/>
          </a:xfrm>
          <a:prstGeom prst="roundRect">
            <a:avLst>
              <a:gd name="adj" fmla="val 16667"/>
            </a:avLst>
          </a:prstGeom>
          <a:solidFill>
            <a:srgbClr val="F3F5F8"/>
          </a:solidFill>
          <a:ln/>
        </p:spPr>
      </p:sp>
      <p:sp>
        <p:nvSpPr>
          <p:cNvPr id="74" name="Shape 72"/>
          <p:cNvSpPr/>
          <p:nvPr/>
        </p:nvSpPr>
        <p:spPr>
          <a:xfrm>
            <a:off x="7744968" y="3163824"/>
            <a:ext cx="54864" cy="219456"/>
          </a:xfrm>
          <a:prstGeom prst="rect">
            <a:avLst/>
          </a:prstGeom>
          <a:solidFill>
            <a:srgbClr val="0E9F9A"/>
          </a:solidFill>
          <a:ln/>
        </p:spPr>
      </p:sp>
      <p:sp>
        <p:nvSpPr>
          <p:cNvPr id="75" name="Text 73"/>
          <p:cNvSpPr txBox="1"/>
          <p:nvPr/>
        </p:nvSpPr>
        <p:spPr>
          <a:xfrm>
            <a:off x="7827264" y="3163824"/>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Outerwear Guide</a:t>
            </a:r>
            <a:endParaRPr lang="en-US" sz="650" dirty="0"/>
          </a:p>
        </p:txBody>
      </p:sp>
      <p:sp>
        <p:nvSpPr>
          <p:cNvPr id="76" name="Shape 74"/>
          <p:cNvSpPr/>
          <p:nvPr/>
        </p:nvSpPr>
        <p:spPr>
          <a:xfrm>
            <a:off x="8979408" y="2999232"/>
            <a:ext cx="1234440" cy="676656"/>
          </a:xfrm>
          <a:prstGeom prst="roundRect">
            <a:avLst>
              <a:gd name="adj" fmla="val 4054"/>
            </a:avLst>
          </a:prstGeom>
          <a:solidFill>
            <a:srgbClr val="FFFFFF"/>
          </a:solidFill>
          <a:ln w="12700">
            <a:solidFill>
              <a:srgbClr val="D5DBE3"/>
            </a:solidFill>
            <a:prstDash val="solid"/>
          </a:ln>
        </p:spPr>
      </p:sp>
      <p:sp>
        <p:nvSpPr>
          <p:cNvPr id="77" name="Text 75"/>
          <p:cNvSpPr txBox="1"/>
          <p:nvPr/>
        </p:nvSpPr>
        <p:spPr>
          <a:xfrm>
            <a:off x="9015984"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9</a:t>
            </a:r>
            <a:endParaRPr lang="en-US" sz="700" dirty="0"/>
          </a:p>
        </p:txBody>
      </p:sp>
      <p:sp>
        <p:nvSpPr>
          <p:cNvPr id="78" name="Shape 76"/>
          <p:cNvSpPr/>
          <p:nvPr/>
        </p:nvSpPr>
        <p:spPr>
          <a:xfrm>
            <a:off x="10250424" y="2999232"/>
            <a:ext cx="1234440" cy="676656"/>
          </a:xfrm>
          <a:prstGeom prst="roundRect">
            <a:avLst>
              <a:gd name="adj" fmla="val 4054"/>
            </a:avLst>
          </a:prstGeom>
          <a:solidFill>
            <a:srgbClr val="FFFFFF"/>
          </a:solidFill>
          <a:ln w="12700">
            <a:solidFill>
              <a:srgbClr val="D5DBE3"/>
            </a:solidFill>
            <a:prstDash val="solid"/>
          </a:ln>
        </p:spPr>
      </p:sp>
      <p:sp>
        <p:nvSpPr>
          <p:cNvPr id="79" name="Text 77"/>
          <p:cNvSpPr txBox="1"/>
          <p:nvPr/>
        </p:nvSpPr>
        <p:spPr>
          <a:xfrm>
            <a:off x="10287000"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10</a:t>
            </a:r>
            <a:endParaRPr lang="en-US" sz="700" dirty="0"/>
          </a:p>
        </p:txBody>
      </p:sp>
      <p:sp>
        <p:nvSpPr>
          <p:cNvPr id="80" name="Shape 78"/>
          <p:cNvSpPr/>
          <p:nvPr/>
        </p:nvSpPr>
        <p:spPr>
          <a:xfrm>
            <a:off x="10287000" y="3163824"/>
            <a:ext cx="1161288" cy="219456"/>
          </a:xfrm>
          <a:prstGeom prst="roundRect">
            <a:avLst>
              <a:gd name="adj" fmla="val 16667"/>
            </a:avLst>
          </a:prstGeom>
          <a:solidFill>
            <a:srgbClr val="F3F5F8"/>
          </a:solidFill>
          <a:ln/>
        </p:spPr>
      </p:sp>
      <p:sp>
        <p:nvSpPr>
          <p:cNvPr id="81" name="Shape 79"/>
          <p:cNvSpPr/>
          <p:nvPr/>
        </p:nvSpPr>
        <p:spPr>
          <a:xfrm>
            <a:off x="10287000" y="3163824"/>
            <a:ext cx="54864" cy="219456"/>
          </a:xfrm>
          <a:prstGeom prst="rect">
            <a:avLst/>
          </a:prstGeom>
          <a:solidFill>
            <a:srgbClr val="0E9F9A"/>
          </a:solidFill>
          <a:ln/>
        </p:spPr>
      </p:sp>
      <p:sp>
        <p:nvSpPr>
          <p:cNvPr id="82" name="Text 80"/>
          <p:cNvSpPr txBox="1"/>
          <p:nvPr/>
        </p:nvSpPr>
        <p:spPr>
          <a:xfrm>
            <a:off x="10369296" y="3163824"/>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Member Week</a:t>
            </a:r>
            <a:endParaRPr lang="en-US" sz="650" dirty="0"/>
          </a:p>
        </p:txBody>
      </p:sp>
      <p:sp>
        <p:nvSpPr>
          <p:cNvPr id="83" name="Shape 81"/>
          <p:cNvSpPr/>
          <p:nvPr/>
        </p:nvSpPr>
        <p:spPr>
          <a:xfrm>
            <a:off x="10287000" y="3410712"/>
            <a:ext cx="1161288" cy="219456"/>
          </a:xfrm>
          <a:prstGeom prst="roundRect">
            <a:avLst>
              <a:gd name="adj" fmla="val 16667"/>
            </a:avLst>
          </a:prstGeom>
          <a:solidFill>
            <a:srgbClr val="F3F5F8"/>
          </a:solidFill>
          <a:ln/>
        </p:spPr>
      </p:sp>
      <p:sp>
        <p:nvSpPr>
          <p:cNvPr id="84" name="Shape 82"/>
          <p:cNvSpPr/>
          <p:nvPr/>
        </p:nvSpPr>
        <p:spPr>
          <a:xfrm>
            <a:off x="10287000" y="3410712"/>
            <a:ext cx="54864" cy="219456"/>
          </a:xfrm>
          <a:prstGeom prst="rect">
            <a:avLst/>
          </a:prstGeom>
          <a:solidFill>
            <a:srgbClr val="E8912D"/>
          </a:solidFill>
          <a:ln/>
        </p:spPr>
      </p:sp>
      <p:sp>
        <p:nvSpPr>
          <p:cNvPr id="85" name="Text 83"/>
          <p:cNvSpPr txBox="1"/>
          <p:nvPr/>
        </p:nvSpPr>
        <p:spPr>
          <a:xfrm>
            <a:off x="10369296" y="3410712"/>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Reminder</a:t>
            </a:r>
            <a:endParaRPr lang="en-US" sz="650" dirty="0"/>
          </a:p>
        </p:txBody>
      </p:sp>
      <p:sp>
        <p:nvSpPr>
          <p:cNvPr id="86" name="Shape 84"/>
          <p:cNvSpPr/>
          <p:nvPr/>
        </p:nvSpPr>
        <p:spPr>
          <a:xfrm>
            <a:off x="2624328" y="3712464"/>
            <a:ext cx="1234440" cy="676656"/>
          </a:xfrm>
          <a:prstGeom prst="roundRect">
            <a:avLst>
              <a:gd name="adj" fmla="val 4054"/>
            </a:avLst>
          </a:prstGeom>
          <a:solidFill>
            <a:srgbClr val="FFFFFF"/>
          </a:solidFill>
          <a:ln w="12700">
            <a:solidFill>
              <a:srgbClr val="D5DBE3"/>
            </a:solidFill>
            <a:prstDash val="solid"/>
          </a:ln>
        </p:spPr>
      </p:sp>
      <p:sp>
        <p:nvSpPr>
          <p:cNvPr id="87" name="Text 85"/>
          <p:cNvSpPr txBox="1"/>
          <p:nvPr/>
        </p:nvSpPr>
        <p:spPr>
          <a:xfrm>
            <a:off x="2660904"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11</a:t>
            </a:r>
            <a:endParaRPr lang="en-US" sz="700" dirty="0"/>
          </a:p>
        </p:txBody>
      </p:sp>
      <p:sp>
        <p:nvSpPr>
          <p:cNvPr id="88" name="Shape 86"/>
          <p:cNvSpPr/>
          <p:nvPr/>
        </p:nvSpPr>
        <p:spPr>
          <a:xfrm>
            <a:off x="3895344" y="3712464"/>
            <a:ext cx="1234440" cy="676656"/>
          </a:xfrm>
          <a:prstGeom prst="roundRect">
            <a:avLst>
              <a:gd name="adj" fmla="val 4054"/>
            </a:avLst>
          </a:prstGeom>
          <a:solidFill>
            <a:srgbClr val="FFFFFF"/>
          </a:solidFill>
          <a:ln w="12700">
            <a:solidFill>
              <a:srgbClr val="D5DBE3"/>
            </a:solidFill>
            <a:prstDash val="solid"/>
          </a:ln>
        </p:spPr>
      </p:sp>
      <p:sp>
        <p:nvSpPr>
          <p:cNvPr id="89" name="Text 87"/>
          <p:cNvSpPr txBox="1"/>
          <p:nvPr/>
        </p:nvSpPr>
        <p:spPr>
          <a:xfrm>
            <a:off x="3931920"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12</a:t>
            </a:r>
            <a:endParaRPr lang="en-US" sz="700" dirty="0"/>
          </a:p>
        </p:txBody>
      </p:sp>
      <p:sp>
        <p:nvSpPr>
          <p:cNvPr id="90" name="Shape 88"/>
          <p:cNvSpPr/>
          <p:nvPr/>
        </p:nvSpPr>
        <p:spPr>
          <a:xfrm>
            <a:off x="3931920" y="3877056"/>
            <a:ext cx="1161288" cy="219456"/>
          </a:xfrm>
          <a:prstGeom prst="roundRect">
            <a:avLst>
              <a:gd name="adj" fmla="val 16667"/>
            </a:avLst>
          </a:prstGeom>
          <a:solidFill>
            <a:srgbClr val="F3F5F8"/>
          </a:solidFill>
          <a:ln/>
        </p:spPr>
      </p:sp>
      <p:sp>
        <p:nvSpPr>
          <p:cNvPr id="91" name="Shape 89"/>
          <p:cNvSpPr/>
          <p:nvPr/>
        </p:nvSpPr>
        <p:spPr>
          <a:xfrm>
            <a:off x="3931920" y="3877056"/>
            <a:ext cx="54864" cy="219456"/>
          </a:xfrm>
          <a:prstGeom prst="rect">
            <a:avLst/>
          </a:prstGeom>
          <a:solidFill>
            <a:srgbClr val="E8912D"/>
          </a:solidFill>
          <a:ln/>
        </p:spPr>
      </p:sp>
      <p:sp>
        <p:nvSpPr>
          <p:cNvPr id="92" name="Text 90"/>
          <p:cNvSpPr txBox="1"/>
          <p:nvPr/>
        </p:nvSpPr>
        <p:spPr>
          <a:xfrm>
            <a:off x="4014216" y="3877056"/>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New Knits</a:t>
            </a:r>
            <a:endParaRPr lang="en-US" sz="650" dirty="0"/>
          </a:p>
        </p:txBody>
      </p:sp>
      <p:sp>
        <p:nvSpPr>
          <p:cNvPr id="93" name="Shape 91"/>
          <p:cNvSpPr/>
          <p:nvPr/>
        </p:nvSpPr>
        <p:spPr>
          <a:xfrm>
            <a:off x="5166360" y="3712464"/>
            <a:ext cx="1234440" cy="676656"/>
          </a:xfrm>
          <a:prstGeom prst="roundRect">
            <a:avLst>
              <a:gd name="adj" fmla="val 4054"/>
            </a:avLst>
          </a:prstGeom>
          <a:solidFill>
            <a:srgbClr val="FFFFFF"/>
          </a:solidFill>
          <a:ln w="12700">
            <a:solidFill>
              <a:srgbClr val="D5DBE3"/>
            </a:solidFill>
            <a:prstDash val="solid"/>
          </a:ln>
        </p:spPr>
      </p:sp>
      <p:sp>
        <p:nvSpPr>
          <p:cNvPr id="94" name="Text 92"/>
          <p:cNvSpPr txBox="1"/>
          <p:nvPr/>
        </p:nvSpPr>
        <p:spPr>
          <a:xfrm>
            <a:off x="5202936"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13</a:t>
            </a:r>
            <a:endParaRPr lang="en-US" sz="700" dirty="0"/>
          </a:p>
        </p:txBody>
      </p:sp>
      <p:sp>
        <p:nvSpPr>
          <p:cNvPr id="95" name="Shape 93"/>
          <p:cNvSpPr/>
          <p:nvPr/>
        </p:nvSpPr>
        <p:spPr>
          <a:xfrm>
            <a:off x="6437376" y="3712464"/>
            <a:ext cx="1234440" cy="676656"/>
          </a:xfrm>
          <a:prstGeom prst="roundRect">
            <a:avLst>
              <a:gd name="adj" fmla="val 4054"/>
            </a:avLst>
          </a:prstGeom>
          <a:solidFill>
            <a:srgbClr val="FFFFFF"/>
          </a:solidFill>
          <a:ln w="12700">
            <a:solidFill>
              <a:srgbClr val="D5DBE3"/>
            </a:solidFill>
            <a:prstDash val="solid"/>
          </a:ln>
        </p:spPr>
      </p:sp>
      <p:sp>
        <p:nvSpPr>
          <p:cNvPr id="96" name="Text 94"/>
          <p:cNvSpPr txBox="1"/>
          <p:nvPr/>
        </p:nvSpPr>
        <p:spPr>
          <a:xfrm>
            <a:off x="6473952"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14</a:t>
            </a:r>
            <a:endParaRPr lang="en-US" sz="700" dirty="0"/>
          </a:p>
        </p:txBody>
      </p:sp>
      <p:sp>
        <p:nvSpPr>
          <p:cNvPr id="97" name="Shape 95"/>
          <p:cNvSpPr/>
          <p:nvPr/>
        </p:nvSpPr>
        <p:spPr>
          <a:xfrm>
            <a:off x="6473952" y="3877056"/>
            <a:ext cx="1161288" cy="219456"/>
          </a:xfrm>
          <a:prstGeom prst="roundRect">
            <a:avLst>
              <a:gd name="adj" fmla="val 16667"/>
            </a:avLst>
          </a:prstGeom>
          <a:solidFill>
            <a:srgbClr val="F3F5F8"/>
          </a:solidFill>
          <a:ln/>
        </p:spPr>
      </p:sp>
      <p:sp>
        <p:nvSpPr>
          <p:cNvPr id="98" name="Shape 96"/>
          <p:cNvSpPr/>
          <p:nvPr/>
        </p:nvSpPr>
        <p:spPr>
          <a:xfrm>
            <a:off x="6473952" y="3877056"/>
            <a:ext cx="54864" cy="219456"/>
          </a:xfrm>
          <a:prstGeom prst="rect">
            <a:avLst/>
          </a:prstGeom>
          <a:solidFill>
            <a:srgbClr val="E8912D"/>
          </a:solidFill>
          <a:ln/>
        </p:spPr>
      </p:sp>
      <p:sp>
        <p:nvSpPr>
          <p:cNvPr id="99" name="Text 97"/>
          <p:cNvSpPr txBox="1"/>
          <p:nvPr/>
        </p:nvSpPr>
        <p:spPr>
          <a:xfrm>
            <a:off x="6556248" y="3877056"/>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Price Drop</a:t>
            </a:r>
            <a:endParaRPr lang="en-US" sz="650" dirty="0"/>
          </a:p>
        </p:txBody>
      </p:sp>
      <p:sp>
        <p:nvSpPr>
          <p:cNvPr id="100" name="Shape 98"/>
          <p:cNvSpPr/>
          <p:nvPr/>
        </p:nvSpPr>
        <p:spPr>
          <a:xfrm>
            <a:off x="7708392" y="3712464"/>
            <a:ext cx="1234440" cy="676656"/>
          </a:xfrm>
          <a:prstGeom prst="roundRect">
            <a:avLst>
              <a:gd name="adj" fmla="val 4054"/>
            </a:avLst>
          </a:prstGeom>
          <a:solidFill>
            <a:srgbClr val="FFFFFF"/>
          </a:solidFill>
          <a:ln w="12700">
            <a:solidFill>
              <a:srgbClr val="D5DBE3"/>
            </a:solidFill>
            <a:prstDash val="solid"/>
          </a:ln>
        </p:spPr>
      </p:sp>
      <p:sp>
        <p:nvSpPr>
          <p:cNvPr id="101" name="Text 99"/>
          <p:cNvSpPr txBox="1"/>
          <p:nvPr/>
        </p:nvSpPr>
        <p:spPr>
          <a:xfrm>
            <a:off x="7744968"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15</a:t>
            </a:r>
            <a:endParaRPr lang="en-US" sz="700" dirty="0"/>
          </a:p>
        </p:txBody>
      </p:sp>
      <p:sp>
        <p:nvSpPr>
          <p:cNvPr id="102" name="Shape 100"/>
          <p:cNvSpPr/>
          <p:nvPr/>
        </p:nvSpPr>
        <p:spPr>
          <a:xfrm>
            <a:off x="7744968" y="3877056"/>
            <a:ext cx="1161288" cy="219456"/>
          </a:xfrm>
          <a:prstGeom prst="roundRect">
            <a:avLst>
              <a:gd name="adj" fmla="val 16667"/>
            </a:avLst>
          </a:prstGeom>
          <a:solidFill>
            <a:srgbClr val="F3F5F8"/>
          </a:solidFill>
          <a:ln/>
        </p:spPr>
      </p:sp>
      <p:sp>
        <p:nvSpPr>
          <p:cNvPr id="103" name="Shape 101"/>
          <p:cNvSpPr/>
          <p:nvPr/>
        </p:nvSpPr>
        <p:spPr>
          <a:xfrm>
            <a:off x="7744968" y="3877056"/>
            <a:ext cx="54864" cy="219456"/>
          </a:xfrm>
          <a:prstGeom prst="rect">
            <a:avLst/>
          </a:prstGeom>
          <a:solidFill>
            <a:srgbClr val="E8912D"/>
          </a:solidFill>
          <a:ln/>
        </p:spPr>
      </p:sp>
      <p:sp>
        <p:nvSpPr>
          <p:cNvPr id="104" name="Text 102"/>
          <p:cNvSpPr txBox="1"/>
          <p:nvPr/>
        </p:nvSpPr>
        <p:spPr>
          <a:xfrm>
            <a:off x="7827264" y="3877056"/>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Boots Edit</a:t>
            </a:r>
            <a:endParaRPr lang="en-US" sz="650" dirty="0"/>
          </a:p>
        </p:txBody>
      </p:sp>
      <p:sp>
        <p:nvSpPr>
          <p:cNvPr id="105" name="Shape 103"/>
          <p:cNvSpPr/>
          <p:nvPr/>
        </p:nvSpPr>
        <p:spPr>
          <a:xfrm>
            <a:off x="8979408" y="3712464"/>
            <a:ext cx="1234440" cy="676656"/>
          </a:xfrm>
          <a:prstGeom prst="roundRect">
            <a:avLst>
              <a:gd name="adj" fmla="val 4054"/>
            </a:avLst>
          </a:prstGeom>
          <a:solidFill>
            <a:srgbClr val="FFFFFF"/>
          </a:solidFill>
          <a:ln w="12700">
            <a:solidFill>
              <a:srgbClr val="D5DBE3"/>
            </a:solidFill>
            <a:prstDash val="solid"/>
          </a:ln>
        </p:spPr>
      </p:sp>
      <p:sp>
        <p:nvSpPr>
          <p:cNvPr id="106" name="Text 104"/>
          <p:cNvSpPr txBox="1"/>
          <p:nvPr/>
        </p:nvSpPr>
        <p:spPr>
          <a:xfrm>
            <a:off x="9015984"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16</a:t>
            </a:r>
            <a:endParaRPr lang="en-US" sz="700" dirty="0"/>
          </a:p>
        </p:txBody>
      </p:sp>
      <p:sp>
        <p:nvSpPr>
          <p:cNvPr id="107" name="Shape 105"/>
          <p:cNvSpPr/>
          <p:nvPr/>
        </p:nvSpPr>
        <p:spPr>
          <a:xfrm>
            <a:off x="10250424" y="3712464"/>
            <a:ext cx="1234440" cy="676656"/>
          </a:xfrm>
          <a:prstGeom prst="roundRect">
            <a:avLst>
              <a:gd name="adj" fmla="val 4054"/>
            </a:avLst>
          </a:prstGeom>
          <a:solidFill>
            <a:srgbClr val="FFFFFF"/>
          </a:solidFill>
          <a:ln w="12700">
            <a:solidFill>
              <a:srgbClr val="D5DBE3"/>
            </a:solidFill>
            <a:prstDash val="solid"/>
          </a:ln>
        </p:spPr>
      </p:sp>
      <p:sp>
        <p:nvSpPr>
          <p:cNvPr id="108" name="Text 106"/>
          <p:cNvSpPr txBox="1"/>
          <p:nvPr/>
        </p:nvSpPr>
        <p:spPr>
          <a:xfrm>
            <a:off x="10287000"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17</a:t>
            </a:r>
            <a:endParaRPr lang="en-US" sz="700" dirty="0"/>
          </a:p>
        </p:txBody>
      </p:sp>
      <p:sp>
        <p:nvSpPr>
          <p:cNvPr id="109" name="Shape 107"/>
          <p:cNvSpPr/>
          <p:nvPr/>
        </p:nvSpPr>
        <p:spPr>
          <a:xfrm>
            <a:off x="10287000" y="3877056"/>
            <a:ext cx="1161288" cy="219456"/>
          </a:xfrm>
          <a:prstGeom prst="roundRect">
            <a:avLst>
              <a:gd name="adj" fmla="val 16667"/>
            </a:avLst>
          </a:prstGeom>
          <a:solidFill>
            <a:srgbClr val="F3F5F8"/>
          </a:solidFill>
          <a:ln/>
        </p:spPr>
      </p:sp>
      <p:sp>
        <p:nvSpPr>
          <p:cNvPr id="110" name="Shape 108"/>
          <p:cNvSpPr/>
          <p:nvPr/>
        </p:nvSpPr>
        <p:spPr>
          <a:xfrm>
            <a:off x="10287000" y="3877056"/>
            <a:ext cx="54864" cy="219456"/>
          </a:xfrm>
          <a:prstGeom prst="rect">
            <a:avLst/>
          </a:prstGeom>
          <a:solidFill>
            <a:srgbClr val="E8912D"/>
          </a:solidFill>
          <a:ln/>
        </p:spPr>
      </p:sp>
      <p:sp>
        <p:nvSpPr>
          <p:cNvPr id="111" name="Text 109"/>
          <p:cNvSpPr txBox="1"/>
          <p:nvPr/>
        </p:nvSpPr>
        <p:spPr>
          <a:xfrm>
            <a:off x="10369296" y="3877056"/>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Weekend Sale</a:t>
            </a:r>
            <a:endParaRPr lang="en-US" sz="650" dirty="0"/>
          </a:p>
        </p:txBody>
      </p:sp>
      <p:sp>
        <p:nvSpPr>
          <p:cNvPr id="112" name="Shape 110"/>
          <p:cNvSpPr/>
          <p:nvPr/>
        </p:nvSpPr>
        <p:spPr>
          <a:xfrm>
            <a:off x="2624328" y="4425696"/>
            <a:ext cx="1234440" cy="676656"/>
          </a:xfrm>
          <a:prstGeom prst="roundRect">
            <a:avLst>
              <a:gd name="adj" fmla="val 4054"/>
            </a:avLst>
          </a:prstGeom>
          <a:solidFill>
            <a:srgbClr val="FFFFFF"/>
          </a:solidFill>
          <a:ln w="12700">
            <a:solidFill>
              <a:srgbClr val="D5DBE3"/>
            </a:solidFill>
            <a:prstDash val="solid"/>
          </a:ln>
        </p:spPr>
      </p:sp>
      <p:sp>
        <p:nvSpPr>
          <p:cNvPr id="113" name="Text 111"/>
          <p:cNvSpPr txBox="1"/>
          <p:nvPr/>
        </p:nvSpPr>
        <p:spPr>
          <a:xfrm>
            <a:off x="2660904"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18</a:t>
            </a:r>
            <a:endParaRPr lang="en-US" sz="700" dirty="0"/>
          </a:p>
        </p:txBody>
      </p:sp>
      <p:sp>
        <p:nvSpPr>
          <p:cNvPr id="114" name="Shape 112"/>
          <p:cNvSpPr/>
          <p:nvPr/>
        </p:nvSpPr>
        <p:spPr>
          <a:xfrm>
            <a:off x="3895344" y="4425696"/>
            <a:ext cx="1234440" cy="676656"/>
          </a:xfrm>
          <a:prstGeom prst="roundRect">
            <a:avLst>
              <a:gd name="adj" fmla="val 4054"/>
            </a:avLst>
          </a:prstGeom>
          <a:solidFill>
            <a:srgbClr val="FFFFFF"/>
          </a:solidFill>
          <a:ln w="12700">
            <a:solidFill>
              <a:srgbClr val="D5DBE3"/>
            </a:solidFill>
            <a:prstDash val="solid"/>
          </a:ln>
        </p:spPr>
      </p:sp>
      <p:sp>
        <p:nvSpPr>
          <p:cNvPr id="115" name="Text 113"/>
          <p:cNvSpPr txBox="1"/>
          <p:nvPr/>
        </p:nvSpPr>
        <p:spPr>
          <a:xfrm>
            <a:off x="3931920"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19</a:t>
            </a:r>
            <a:endParaRPr lang="en-US" sz="700" dirty="0"/>
          </a:p>
        </p:txBody>
      </p:sp>
      <p:sp>
        <p:nvSpPr>
          <p:cNvPr id="116" name="Shape 114"/>
          <p:cNvSpPr/>
          <p:nvPr/>
        </p:nvSpPr>
        <p:spPr>
          <a:xfrm>
            <a:off x="3931920" y="4590288"/>
            <a:ext cx="1161288" cy="219456"/>
          </a:xfrm>
          <a:prstGeom prst="roundRect">
            <a:avLst>
              <a:gd name="adj" fmla="val 16667"/>
            </a:avLst>
          </a:prstGeom>
          <a:solidFill>
            <a:srgbClr val="F3F5F8"/>
          </a:solidFill>
          <a:ln/>
        </p:spPr>
      </p:sp>
      <p:sp>
        <p:nvSpPr>
          <p:cNvPr id="117" name="Shape 115"/>
          <p:cNvSpPr/>
          <p:nvPr/>
        </p:nvSpPr>
        <p:spPr>
          <a:xfrm>
            <a:off x="3931920" y="4590288"/>
            <a:ext cx="54864" cy="219456"/>
          </a:xfrm>
          <a:prstGeom prst="rect">
            <a:avLst/>
          </a:prstGeom>
          <a:solidFill>
            <a:srgbClr val="E8912D"/>
          </a:solidFill>
          <a:ln/>
        </p:spPr>
      </p:sp>
      <p:sp>
        <p:nvSpPr>
          <p:cNvPr id="118" name="Text 116"/>
          <p:cNvSpPr txBox="1"/>
          <p:nvPr/>
        </p:nvSpPr>
        <p:spPr>
          <a:xfrm>
            <a:off x="4014216" y="4590288"/>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Holiday Preview</a:t>
            </a:r>
            <a:endParaRPr lang="en-US" sz="650" dirty="0"/>
          </a:p>
        </p:txBody>
      </p:sp>
      <p:sp>
        <p:nvSpPr>
          <p:cNvPr id="119" name="Shape 117"/>
          <p:cNvSpPr/>
          <p:nvPr/>
        </p:nvSpPr>
        <p:spPr>
          <a:xfrm>
            <a:off x="5166360" y="4425696"/>
            <a:ext cx="1234440" cy="676656"/>
          </a:xfrm>
          <a:prstGeom prst="roundRect">
            <a:avLst>
              <a:gd name="adj" fmla="val 4054"/>
            </a:avLst>
          </a:prstGeom>
          <a:solidFill>
            <a:srgbClr val="FFFFFF"/>
          </a:solidFill>
          <a:ln w="12700">
            <a:solidFill>
              <a:srgbClr val="D5DBE3"/>
            </a:solidFill>
            <a:prstDash val="solid"/>
          </a:ln>
        </p:spPr>
      </p:sp>
      <p:sp>
        <p:nvSpPr>
          <p:cNvPr id="120" name="Text 118"/>
          <p:cNvSpPr txBox="1"/>
          <p:nvPr/>
        </p:nvSpPr>
        <p:spPr>
          <a:xfrm>
            <a:off x="5202936"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20</a:t>
            </a:r>
            <a:endParaRPr lang="en-US" sz="700" dirty="0"/>
          </a:p>
        </p:txBody>
      </p:sp>
      <p:sp>
        <p:nvSpPr>
          <p:cNvPr id="121" name="Shape 119"/>
          <p:cNvSpPr/>
          <p:nvPr/>
        </p:nvSpPr>
        <p:spPr>
          <a:xfrm>
            <a:off x="6437376" y="4425696"/>
            <a:ext cx="1234440" cy="676656"/>
          </a:xfrm>
          <a:prstGeom prst="roundRect">
            <a:avLst>
              <a:gd name="adj" fmla="val 4054"/>
            </a:avLst>
          </a:prstGeom>
          <a:solidFill>
            <a:srgbClr val="FFFFFF"/>
          </a:solidFill>
          <a:ln w="12700">
            <a:solidFill>
              <a:srgbClr val="D5DBE3"/>
            </a:solidFill>
            <a:prstDash val="solid"/>
          </a:ln>
        </p:spPr>
      </p:sp>
      <p:sp>
        <p:nvSpPr>
          <p:cNvPr id="122" name="Text 120"/>
          <p:cNvSpPr txBox="1"/>
          <p:nvPr/>
        </p:nvSpPr>
        <p:spPr>
          <a:xfrm>
            <a:off x="6473952"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21</a:t>
            </a:r>
            <a:endParaRPr lang="en-US" sz="700" dirty="0"/>
          </a:p>
        </p:txBody>
      </p:sp>
      <p:sp>
        <p:nvSpPr>
          <p:cNvPr id="123" name="Shape 121"/>
          <p:cNvSpPr/>
          <p:nvPr/>
        </p:nvSpPr>
        <p:spPr>
          <a:xfrm>
            <a:off x="7708392" y="4425696"/>
            <a:ext cx="1234440" cy="676656"/>
          </a:xfrm>
          <a:prstGeom prst="roundRect">
            <a:avLst>
              <a:gd name="adj" fmla="val 4054"/>
            </a:avLst>
          </a:prstGeom>
          <a:solidFill>
            <a:srgbClr val="FFFFFF"/>
          </a:solidFill>
          <a:ln w="12700">
            <a:solidFill>
              <a:srgbClr val="D5DBE3"/>
            </a:solidFill>
            <a:prstDash val="solid"/>
          </a:ln>
        </p:spPr>
      </p:sp>
      <p:sp>
        <p:nvSpPr>
          <p:cNvPr id="124" name="Text 122"/>
          <p:cNvSpPr txBox="1"/>
          <p:nvPr/>
        </p:nvSpPr>
        <p:spPr>
          <a:xfrm>
            <a:off x="7744968"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22</a:t>
            </a:r>
            <a:endParaRPr lang="en-US" sz="700" dirty="0"/>
          </a:p>
        </p:txBody>
      </p:sp>
      <p:sp>
        <p:nvSpPr>
          <p:cNvPr id="125" name="Shape 123"/>
          <p:cNvSpPr/>
          <p:nvPr/>
        </p:nvSpPr>
        <p:spPr>
          <a:xfrm>
            <a:off x="7744968" y="4590288"/>
            <a:ext cx="1161288" cy="219456"/>
          </a:xfrm>
          <a:prstGeom prst="roundRect">
            <a:avLst>
              <a:gd name="adj" fmla="val 16667"/>
            </a:avLst>
          </a:prstGeom>
          <a:solidFill>
            <a:srgbClr val="F3F5F8"/>
          </a:solidFill>
          <a:ln/>
        </p:spPr>
      </p:sp>
      <p:sp>
        <p:nvSpPr>
          <p:cNvPr id="126" name="Shape 124"/>
          <p:cNvSpPr/>
          <p:nvPr/>
        </p:nvSpPr>
        <p:spPr>
          <a:xfrm>
            <a:off x="7744968" y="4590288"/>
            <a:ext cx="54864" cy="219456"/>
          </a:xfrm>
          <a:prstGeom prst="rect">
            <a:avLst/>
          </a:prstGeom>
          <a:solidFill>
            <a:srgbClr val="E8912D"/>
          </a:solidFill>
          <a:ln/>
        </p:spPr>
      </p:sp>
      <p:sp>
        <p:nvSpPr>
          <p:cNvPr id="127" name="Text 125"/>
          <p:cNvSpPr txBox="1"/>
          <p:nvPr/>
        </p:nvSpPr>
        <p:spPr>
          <a:xfrm>
            <a:off x="7827264" y="4590288"/>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Flash Deal</a:t>
            </a:r>
            <a:endParaRPr lang="en-US" sz="650" dirty="0"/>
          </a:p>
        </p:txBody>
      </p:sp>
      <p:sp>
        <p:nvSpPr>
          <p:cNvPr id="128" name="Shape 126"/>
          <p:cNvSpPr/>
          <p:nvPr/>
        </p:nvSpPr>
        <p:spPr>
          <a:xfrm>
            <a:off x="8979408" y="4425696"/>
            <a:ext cx="1234440" cy="676656"/>
          </a:xfrm>
          <a:prstGeom prst="roundRect">
            <a:avLst>
              <a:gd name="adj" fmla="val 4054"/>
            </a:avLst>
          </a:prstGeom>
          <a:solidFill>
            <a:srgbClr val="FFFFFF"/>
          </a:solidFill>
          <a:ln w="12700">
            <a:solidFill>
              <a:srgbClr val="D5DBE3"/>
            </a:solidFill>
            <a:prstDash val="solid"/>
          </a:ln>
        </p:spPr>
      </p:sp>
      <p:sp>
        <p:nvSpPr>
          <p:cNvPr id="129" name="Text 127"/>
          <p:cNvSpPr txBox="1"/>
          <p:nvPr/>
        </p:nvSpPr>
        <p:spPr>
          <a:xfrm>
            <a:off x="9015984"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23</a:t>
            </a:r>
            <a:endParaRPr lang="en-US" sz="700" dirty="0"/>
          </a:p>
        </p:txBody>
      </p:sp>
      <p:sp>
        <p:nvSpPr>
          <p:cNvPr id="130" name="Shape 128"/>
          <p:cNvSpPr/>
          <p:nvPr/>
        </p:nvSpPr>
        <p:spPr>
          <a:xfrm>
            <a:off x="10250424" y="4425696"/>
            <a:ext cx="1234440" cy="676656"/>
          </a:xfrm>
          <a:prstGeom prst="roundRect">
            <a:avLst>
              <a:gd name="adj" fmla="val 4054"/>
            </a:avLst>
          </a:prstGeom>
          <a:solidFill>
            <a:srgbClr val="FFFFFF"/>
          </a:solidFill>
          <a:ln w="12700">
            <a:solidFill>
              <a:srgbClr val="D5DBE3"/>
            </a:solidFill>
            <a:prstDash val="solid"/>
          </a:ln>
        </p:spPr>
      </p:sp>
      <p:sp>
        <p:nvSpPr>
          <p:cNvPr id="131" name="Text 129"/>
          <p:cNvSpPr txBox="1"/>
          <p:nvPr/>
        </p:nvSpPr>
        <p:spPr>
          <a:xfrm>
            <a:off x="10287000"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24</a:t>
            </a:r>
            <a:endParaRPr lang="en-US" sz="700" dirty="0"/>
          </a:p>
        </p:txBody>
      </p:sp>
      <p:sp>
        <p:nvSpPr>
          <p:cNvPr id="132" name="Shape 130"/>
          <p:cNvSpPr/>
          <p:nvPr/>
        </p:nvSpPr>
        <p:spPr>
          <a:xfrm>
            <a:off x="10287000" y="4590288"/>
            <a:ext cx="1161288" cy="219456"/>
          </a:xfrm>
          <a:prstGeom prst="roundRect">
            <a:avLst>
              <a:gd name="adj" fmla="val 16667"/>
            </a:avLst>
          </a:prstGeom>
          <a:solidFill>
            <a:srgbClr val="F3F5F8"/>
          </a:solidFill>
          <a:ln/>
        </p:spPr>
      </p:sp>
      <p:sp>
        <p:nvSpPr>
          <p:cNvPr id="133" name="Shape 131"/>
          <p:cNvSpPr/>
          <p:nvPr/>
        </p:nvSpPr>
        <p:spPr>
          <a:xfrm>
            <a:off x="10287000" y="4590288"/>
            <a:ext cx="54864" cy="219456"/>
          </a:xfrm>
          <a:prstGeom prst="rect">
            <a:avLst/>
          </a:prstGeom>
          <a:solidFill>
            <a:srgbClr val="E8912D"/>
          </a:solidFill>
          <a:ln/>
        </p:spPr>
      </p:sp>
      <p:sp>
        <p:nvSpPr>
          <p:cNvPr id="134" name="Text 132"/>
          <p:cNvSpPr txBox="1"/>
          <p:nvPr/>
        </p:nvSpPr>
        <p:spPr>
          <a:xfrm>
            <a:off x="10369296" y="4590288"/>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Halloween</a:t>
            </a:r>
            <a:endParaRPr lang="en-US" sz="650" dirty="0"/>
          </a:p>
        </p:txBody>
      </p:sp>
      <p:sp>
        <p:nvSpPr>
          <p:cNvPr id="135" name="Shape 133"/>
          <p:cNvSpPr/>
          <p:nvPr/>
        </p:nvSpPr>
        <p:spPr>
          <a:xfrm>
            <a:off x="2624328" y="5138928"/>
            <a:ext cx="1234440" cy="676656"/>
          </a:xfrm>
          <a:prstGeom prst="roundRect">
            <a:avLst>
              <a:gd name="adj" fmla="val 4054"/>
            </a:avLst>
          </a:prstGeom>
          <a:solidFill>
            <a:srgbClr val="FFFFFF"/>
          </a:solidFill>
          <a:ln w="12700">
            <a:solidFill>
              <a:srgbClr val="D5DBE3"/>
            </a:solidFill>
            <a:prstDash val="solid"/>
          </a:ln>
        </p:spPr>
      </p:sp>
      <p:sp>
        <p:nvSpPr>
          <p:cNvPr id="136" name="Text 134"/>
          <p:cNvSpPr txBox="1"/>
          <p:nvPr/>
        </p:nvSpPr>
        <p:spPr>
          <a:xfrm>
            <a:off x="2660904"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25</a:t>
            </a:r>
            <a:endParaRPr lang="en-US" sz="700" dirty="0"/>
          </a:p>
        </p:txBody>
      </p:sp>
      <p:sp>
        <p:nvSpPr>
          <p:cNvPr id="137" name="Shape 135"/>
          <p:cNvSpPr/>
          <p:nvPr/>
        </p:nvSpPr>
        <p:spPr>
          <a:xfrm>
            <a:off x="3895344" y="5138928"/>
            <a:ext cx="1234440" cy="676656"/>
          </a:xfrm>
          <a:prstGeom prst="roundRect">
            <a:avLst>
              <a:gd name="adj" fmla="val 4054"/>
            </a:avLst>
          </a:prstGeom>
          <a:solidFill>
            <a:srgbClr val="FFFFFF"/>
          </a:solidFill>
          <a:ln w="12700">
            <a:solidFill>
              <a:srgbClr val="D5DBE3"/>
            </a:solidFill>
            <a:prstDash val="solid"/>
          </a:ln>
        </p:spPr>
      </p:sp>
      <p:sp>
        <p:nvSpPr>
          <p:cNvPr id="138" name="Text 136"/>
          <p:cNvSpPr txBox="1"/>
          <p:nvPr/>
        </p:nvSpPr>
        <p:spPr>
          <a:xfrm>
            <a:off x="3931920"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26</a:t>
            </a:r>
            <a:endParaRPr lang="en-US" sz="700" dirty="0"/>
          </a:p>
        </p:txBody>
      </p:sp>
      <p:sp>
        <p:nvSpPr>
          <p:cNvPr id="139" name="Shape 137"/>
          <p:cNvSpPr/>
          <p:nvPr/>
        </p:nvSpPr>
        <p:spPr>
          <a:xfrm>
            <a:off x="3931920" y="5303520"/>
            <a:ext cx="1161288" cy="219456"/>
          </a:xfrm>
          <a:prstGeom prst="roundRect">
            <a:avLst>
              <a:gd name="adj" fmla="val 16667"/>
            </a:avLst>
          </a:prstGeom>
          <a:solidFill>
            <a:srgbClr val="F3F5F8"/>
          </a:solidFill>
          <a:ln/>
        </p:spPr>
      </p:sp>
      <p:sp>
        <p:nvSpPr>
          <p:cNvPr id="140" name="Shape 138"/>
          <p:cNvSpPr/>
          <p:nvPr/>
        </p:nvSpPr>
        <p:spPr>
          <a:xfrm>
            <a:off x="3931920" y="5303520"/>
            <a:ext cx="54864" cy="219456"/>
          </a:xfrm>
          <a:prstGeom prst="rect">
            <a:avLst/>
          </a:prstGeom>
          <a:solidFill>
            <a:srgbClr val="E8912D"/>
          </a:solidFill>
          <a:ln/>
        </p:spPr>
      </p:sp>
      <p:sp>
        <p:nvSpPr>
          <p:cNvPr id="141" name="Text 139"/>
          <p:cNvSpPr txBox="1"/>
          <p:nvPr/>
        </p:nvSpPr>
        <p:spPr>
          <a:xfrm>
            <a:off x="4014216" y="5303520"/>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Cozy Home</a:t>
            </a:r>
            <a:endParaRPr lang="en-US" sz="650" dirty="0"/>
          </a:p>
        </p:txBody>
      </p:sp>
      <p:sp>
        <p:nvSpPr>
          <p:cNvPr id="142" name="Shape 140"/>
          <p:cNvSpPr/>
          <p:nvPr/>
        </p:nvSpPr>
        <p:spPr>
          <a:xfrm>
            <a:off x="5166360" y="5138928"/>
            <a:ext cx="1234440" cy="676656"/>
          </a:xfrm>
          <a:prstGeom prst="roundRect">
            <a:avLst>
              <a:gd name="adj" fmla="val 4054"/>
            </a:avLst>
          </a:prstGeom>
          <a:solidFill>
            <a:srgbClr val="FFFFFF"/>
          </a:solidFill>
          <a:ln w="12700">
            <a:solidFill>
              <a:srgbClr val="D5DBE3"/>
            </a:solidFill>
            <a:prstDash val="solid"/>
          </a:ln>
        </p:spPr>
      </p:sp>
      <p:sp>
        <p:nvSpPr>
          <p:cNvPr id="143" name="Text 141"/>
          <p:cNvSpPr txBox="1"/>
          <p:nvPr/>
        </p:nvSpPr>
        <p:spPr>
          <a:xfrm>
            <a:off x="5202936"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27</a:t>
            </a:r>
            <a:endParaRPr lang="en-US" sz="700" dirty="0"/>
          </a:p>
        </p:txBody>
      </p:sp>
      <p:sp>
        <p:nvSpPr>
          <p:cNvPr id="144" name="Shape 142"/>
          <p:cNvSpPr/>
          <p:nvPr/>
        </p:nvSpPr>
        <p:spPr>
          <a:xfrm>
            <a:off x="6437376" y="5138928"/>
            <a:ext cx="1234440" cy="676656"/>
          </a:xfrm>
          <a:prstGeom prst="roundRect">
            <a:avLst>
              <a:gd name="adj" fmla="val 4054"/>
            </a:avLst>
          </a:prstGeom>
          <a:solidFill>
            <a:srgbClr val="FFFFFF"/>
          </a:solidFill>
          <a:ln w="12700">
            <a:solidFill>
              <a:srgbClr val="D5DBE3"/>
            </a:solidFill>
            <a:prstDash val="solid"/>
          </a:ln>
        </p:spPr>
      </p:sp>
      <p:sp>
        <p:nvSpPr>
          <p:cNvPr id="145" name="Text 143"/>
          <p:cNvSpPr txBox="1"/>
          <p:nvPr/>
        </p:nvSpPr>
        <p:spPr>
          <a:xfrm>
            <a:off x="6473952"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28</a:t>
            </a:r>
            <a:endParaRPr lang="en-US" sz="700" dirty="0"/>
          </a:p>
        </p:txBody>
      </p:sp>
      <p:sp>
        <p:nvSpPr>
          <p:cNvPr id="146" name="Shape 144"/>
          <p:cNvSpPr/>
          <p:nvPr/>
        </p:nvSpPr>
        <p:spPr>
          <a:xfrm>
            <a:off x="7708392" y="5138928"/>
            <a:ext cx="1234440" cy="676656"/>
          </a:xfrm>
          <a:prstGeom prst="roundRect">
            <a:avLst>
              <a:gd name="adj" fmla="val 4054"/>
            </a:avLst>
          </a:prstGeom>
          <a:solidFill>
            <a:srgbClr val="FFFFFF"/>
          </a:solidFill>
          <a:ln w="12700">
            <a:solidFill>
              <a:srgbClr val="D5DBE3"/>
            </a:solidFill>
            <a:prstDash val="solid"/>
          </a:ln>
        </p:spPr>
      </p:sp>
      <p:sp>
        <p:nvSpPr>
          <p:cNvPr id="147" name="Text 145"/>
          <p:cNvSpPr txBox="1"/>
          <p:nvPr/>
        </p:nvSpPr>
        <p:spPr>
          <a:xfrm>
            <a:off x="7744968"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29</a:t>
            </a:r>
            <a:endParaRPr lang="en-US" sz="700" dirty="0"/>
          </a:p>
        </p:txBody>
      </p:sp>
      <p:sp>
        <p:nvSpPr>
          <p:cNvPr id="148" name="Shape 146"/>
          <p:cNvSpPr/>
          <p:nvPr/>
        </p:nvSpPr>
        <p:spPr>
          <a:xfrm>
            <a:off x="7744968" y="5303520"/>
            <a:ext cx="1161288" cy="219456"/>
          </a:xfrm>
          <a:prstGeom prst="roundRect">
            <a:avLst>
              <a:gd name="adj" fmla="val 16667"/>
            </a:avLst>
          </a:prstGeom>
          <a:solidFill>
            <a:srgbClr val="F3F5F8"/>
          </a:solidFill>
          <a:ln/>
        </p:spPr>
      </p:sp>
      <p:sp>
        <p:nvSpPr>
          <p:cNvPr id="149" name="Shape 147"/>
          <p:cNvSpPr/>
          <p:nvPr/>
        </p:nvSpPr>
        <p:spPr>
          <a:xfrm>
            <a:off x="7744968" y="5303520"/>
            <a:ext cx="54864" cy="219456"/>
          </a:xfrm>
          <a:prstGeom prst="rect">
            <a:avLst/>
          </a:prstGeom>
          <a:solidFill>
            <a:srgbClr val="E8912D"/>
          </a:solidFill>
          <a:ln/>
        </p:spPr>
      </p:sp>
      <p:sp>
        <p:nvSpPr>
          <p:cNvPr id="150" name="Text 148"/>
          <p:cNvSpPr txBox="1"/>
          <p:nvPr/>
        </p:nvSpPr>
        <p:spPr>
          <a:xfrm>
            <a:off x="7827264" y="5303520"/>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Early Black Friday</a:t>
            </a:r>
            <a:endParaRPr lang="en-US" sz="650" dirty="0"/>
          </a:p>
        </p:txBody>
      </p:sp>
      <p:sp>
        <p:nvSpPr>
          <p:cNvPr id="151" name="Shape 149"/>
          <p:cNvSpPr/>
          <p:nvPr/>
        </p:nvSpPr>
        <p:spPr>
          <a:xfrm>
            <a:off x="8979408" y="5138928"/>
            <a:ext cx="1234440" cy="676656"/>
          </a:xfrm>
          <a:prstGeom prst="roundRect">
            <a:avLst>
              <a:gd name="adj" fmla="val 4054"/>
            </a:avLst>
          </a:prstGeom>
          <a:solidFill>
            <a:srgbClr val="FFFFFF"/>
          </a:solidFill>
          <a:ln w="12700">
            <a:solidFill>
              <a:srgbClr val="D5DBE3"/>
            </a:solidFill>
            <a:prstDash val="solid"/>
          </a:ln>
        </p:spPr>
      </p:sp>
      <p:sp>
        <p:nvSpPr>
          <p:cNvPr id="152" name="Text 150"/>
          <p:cNvSpPr txBox="1"/>
          <p:nvPr/>
        </p:nvSpPr>
        <p:spPr>
          <a:xfrm>
            <a:off x="9015984"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30</a:t>
            </a:r>
            <a:endParaRPr lang="en-US" sz="700" dirty="0"/>
          </a:p>
        </p:txBody>
      </p:sp>
      <p:sp>
        <p:nvSpPr>
          <p:cNvPr id="153" name="Shape 151"/>
          <p:cNvSpPr/>
          <p:nvPr/>
        </p:nvSpPr>
        <p:spPr>
          <a:xfrm>
            <a:off x="10250424" y="5138928"/>
            <a:ext cx="1234440" cy="676656"/>
          </a:xfrm>
          <a:prstGeom prst="roundRect">
            <a:avLst>
              <a:gd name="adj" fmla="val 4054"/>
            </a:avLst>
          </a:prstGeom>
          <a:solidFill>
            <a:srgbClr val="FFFFFF"/>
          </a:solidFill>
          <a:ln w="12700">
            <a:solidFill>
              <a:srgbClr val="D5DBE3"/>
            </a:solidFill>
            <a:prstDash val="solid"/>
          </a:ln>
        </p:spPr>
      </p:sp>
      <p:sp>
        <p:nvSpPr>
          <p:cNvPr id="154" name="Text 152"/>
          <p:cNvSpPr txBox="1"/>
          <p:nvPr/>
        </p:nvSpPr>
        <p:spPr>
          <a:xfrm>
            <a:off x="10287000"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31</a:t>
            </a:r>
            <a:endParaRPr lang="en-US" sz="700" dirty="0"/>
          </a:p>
        </p:txBody>
      </p:sp>
      <p:sp>
        <p:nvSpPr>
          <p:cNvPr id="155" name="Shape 153"/>
          <p:cNvSpPr/>
          <p:nvPr/>
        </p:nvSpPr>
        <p:spPr>
          <a:xfrm>
            <a:off x="10287000" y="5303520"/>
            <a:ext cx="1161288" cy="219456"/>
          </a:xfrm>
          <a:prstGeom prst="roundRect">
            <a:avLst>
              <a:gd name="adj" fmla="val 16667"/>
            </a:avLst>
          </a:prstGeom>
          <a:solidFill>
            <a:srgbClr val="F3F5F8"/>
          </a:solidFill>
          <a:ln/>
        </p:spPr>
      </p:sp>
      <p:sp>
        <p:nvSpPr>
          <p:cNvPr id="156" name="Shape 154"/>
          <p:cNvSpPr/>
          <p:nvPr/>
        </p:nvSpPr>
        <p:spPr>
          <a:xfrm>
            <a:off x="10287000" y="5303520"/>
            <a:ext cx="54864" cy="219456"/>
          </a:xfrm>
          <a:prstGeom prst="rect">
            <a:avLst/>
          </a:prstGeom>
          <a:solidFill>
            <a:srgbClr val="E8912D"/>
          </a:solidFill>
          <a:ln/>
        </p:spPr>
      </p:sp>
      <p:sp>
        <p:nvSpPr>
          <p:cNvPr id="157" name="Text 155"/>
          <p:cNvSpPr txBox="1"/>
          <p:nvPr/>
        </p:nvSpPr>
        <p:spPr>
          <a:xfrm>
            <a:off x="10369296" y="5303520"/>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Last Call</a:t>
            </a:r>
            <a:endParaRPr lang="en-US" sz="650" dirty="0"/>
          </a:p>
        </p:txBody>
      </p:sp>
      <p:sp>
        <p:nvSpPr>
          <p:cNvPr id="158" name="Shape 156"/>
          <p:cNvSpPr/>
          <p:nvPr/>
        </p:nvSpPr>
        <p:spPr>
          <a:xfrm>
            <a:off x="5257800" y="2743200"/>
            <a:ext cx="2971800" cy="2331720"/>
          </a:xfrm>
          <a:prstGeom prst="roundRect">
            <a:avLst>
              <a:gd name="adj" fmla="val 2353"/>
            </a:avLst>
          </a:prstGeom>
          <a:solidFill>
            <a:srgbClr val="FFFFFF"/>
          </a:solidFill>
          <a:ln w="15875">
            <a:solidFill>
              <a:srgbClr val="6B4FBB"/>
            </a:solidFill>
            <a:prstDash val="solid"/>
          </a:ln>
          <a:effectLst>
            <a:outerShdw sx="100000" sy="100000" kx="0" ky="0" algn="bl" rotWithShape="0" blurRad="50800" dist="19050" dir="5400000">
              <a:srgbClr val="000000">
                <a:alpha val="12000"/>
              </a:srgbClr>
            </a:outerShdw>
          </a:effectLst>
        </p:spPr>
      </p:sp>
      <p:sp>
        <p:nvSpPr>
          <p:cNvPr id="159" name="Text 157"/>
          <p:cNvSpPr txBox="1"/>
          <p:nvPr/>
        </p:nvSpPr>
        <p:spPr>
          <a:xfrm>
            <a:off x="5394960" y="2816352"/>
            <a:ext cx="2743200" cy="274320"/>
          </a:xfrm>
          <a:prstGeom prst="rect">
            <a:avLst/>
          </a:prstGeom>
          <a:noFill/>
          <a:ln/>
        </p:spPr>
        <p:txBody>
          <a:bodyPr wrap="square" lIns="0" tIns="0" rIns="0" bIns="0" rtlCol="0" anchor="ctr"/>
          <a:lstStyle/>
          <a:p>
            <a:pPr indent="0" marL="0">
              <a:buNone/>
            </a:pPr>
            <a:r>
              <a:rPr lang="en-US" sz="900" b="1" dirty="0">
                <a:solidFill>
                  <a:srgbClr val="6B4FBB"/>
                </a:solidFill>
                <a:latin typeface="Meiryo UI" pitchFamily="34" charset="0"/>
                <a:ea typeface="Meiryo UI" pitchFamily="34" charset="-122"/>
                <a:cs typeface="Meiryo UI" pitchFamily="34" charset="-120"/>
              </a:rPr>
              <a:t>10/5（Mon）メール｜検討中</a:t>
            </a:r>
            <a:endParaRPr lang="en-US" sz="900" dirty="0"/>
          </a:p>
        </p:txBody>
      </p:sp>
      <p:sp>
        <p:nvSpPr>
          <p:cNvPr id="160" name="Text 158"/>
          <p:cNvSpPr txBox="1"/>
          <p:nvPr/>
        </p:nvSpPr>
        <p:spPr>
          <a:xfrm>
            <a:off x="5394960" y="3154680"/>
            <a:ext cx="822960" cy="274320"/>
          </a:xfrm>
          <a:prstGeom prst="rect">
            <a:avLst/>
          </a:prstGeom>
          <a:noFill/>
          <a:ln/>
        </p:spPr>
        <p:txBody>
          <a:bodyPr wrap="square" lIns="0" tIns="0" rIns="0" bIns="0" rtlCol="0" anchor="ctr"/>
          <a:lstStyle/>
          <a:p>
            <a:pPr indent="0" marL="0">
              <a:buNone/>
            </a:pPr>
            <a:r>
              <a:rPr lang="en-US" sz="800" b="1" dirty="0">
                <a:solidFill>
                  <a:srgbClr val="6B7280"/>
                </a:solidFill>
                <a:latin typeface="Meiryo UI" pitchFamily="34" charset="0"/>
                <a:ea typeface="Meiryo UI" pitchFamily="34" charset="-122"/>
                <a:cs typeface="Meiryo UI" pitchFamily="34" charset="-120"/>
              </a:rPr>
              <a:t>テーマ</a:t>
            </a:r>
            <a:endParaRPr lang="en-US" sz="800" dirty="0"/>
          </a:p>
        </p:txBody>
      </p:sp>
      <p:sp>
        <p:nvSpPr>
          <p:cNvPr id="161" name="Text 159"/>
          <p:cNvSpPr txBox="1"/>
          <p:nvPr/>
        </p:nvSpPr>
        <p:spPr>
          <a:xfrm>
            <a:off x="6172200" y="3154680"/>
            <a:ext cx="1965960" cy="274320"/>
          </a:xfrm>
          <a:prstGeom prst="rect">
            <a:avLst/>
          </a:prstGeom>
          <a:noFill/>
          <a:ln/>
        </p:spPr>
        <p:txBody>
          <a:bodyPr wrap="square" lIns="0" tIns="0" rIns="0" bIns="0" rtlCol="0" anchor="ctr"/>
          <a:lstStyle/>
          <a:p>
            <a:pPr indent="0" marL="0">
              <a:buNone/>
            </a:pPr>
            <a:r>
              <a:rPr lang="en-US" sz="800" dirty="0">
                <a:solidFill>
                  <a:srgbClr val="0E9F9A"/>
                </a:solidFill>
                <a:latin typeface="Meiryo UI" pitchFamily="34" charset="0"/>
                <a:ea typeface="Meiryo UI" pitchFamily="34" charset="-122"/>
                <a:cs typeface="Meiryo UI" pitchFamily="34" charset="-120"/>
              </a:rPr>
              <a:t>✔ 秋の新作を先取り</a:t>
            </a:r>
            <a:endParaRPr lang="en-US" sz="800" dirty="0"/>
          </a:p>
        </p:txBody>
      </p:sp>
      <p:sp>
        <p:nvSpPr>
          <p:cNvPr id="162" name="Text 160"/>
          <p:cNvSpPr txBox="1"/>
          <p:nvPr/>
        </p:nvSpPr>
        <p:spPr>
          <a:xfrm>
            <a:off x="5394960" y="3465576"/>
            <a:ext cx="822960" cy="274320"/>
          </a:xfrm>
          <a:prstGeom prst="rect">
            <a:avLst/>
          </a:prstGeom>
          <a:noFill/>
          <a:ln/>
        </p:spPr>
        <p:txBody>
          <a:bodyPr wrap="square" lIns="0" tIns="0" rIns="0" bIns="0" rtlCol="0" anchor="ctr"/>
          <a:lstStyle/>
          <a:p>
            <a:pPr indent="0" marL="0">
              <a:buNone/>
            </a:pPr>
            <a:r>
              <a:rPr lang="en-US" sz="800" b="1" dirty="0">
                <a:solidFill>
                  <a:srgbClr val="6B7280"/>
                </a:solidFill>
                <a:latin typeface="Meiryo UI" pitchFamily="34" charset="0"/>
                <a:ea typeface="Meiryo UI" pitchFamily="34" charset="-122"/>
                <a:cs typeface="Meiryo UI" pitchFamily="34" charset="-120"/>
              </a:rPr>
              <a:t>掲載商品</a:t>
            </a:r>
            <a:endParaRPr lang="en-US" sz="800" dirty="0"/>
          </a:p>
        </p:txBody>
      </p:sp>
      <p:sp>
        <p:nvSpPr>
          <p:cNvPr id="163" name="Text 161"/>
          <p:cNvSpPr txBox="1"/>
          <p:nvPr/>
        </p:nvSpPr>
        <p:spPr>
          <a:xfrm>
            <a:off x="6172200" y="3465576"/>
            <a:ext cx="1965960" cy="274320"/>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商品選定中（担当：Sato）</a:t>
            </a:r>
            <a:endParaRPr lang="en-US" sz="800" dirty="0"/>
          </a:p>
        </p:txBody>
      </p:sp>
      <p:sp>
        <p:nvSpPr>
          <p:cNvPr id="164" name="Text 162"/>
          <p:cNvSpPr txBox="1"/>
          <p:nvPr/>
        </p:nvSpPr>
        <p:spPr>
          <a:xfrm>
            <a:off x="5394960" y="3776472"/>
            <a:ext cx="822960" cy="274320"/>
          </a:xfrm>
          <a:prstGeom prst="rect">
            <a:avLst/>
          </a:prstGeom>
          <a:noFill/>
          <a:ln/>
        </p:spPr>
        <p:txBody>
          <a:bodyPr wrap="square" lIns="0" tIns="0" rIns="0" bIns="0" rtlCol="0" anchor="ctr"/>
          <a:lstStyle/>
          <a:p>
            <a:pPr indent="0" marL="0">
              <a:buNone/>
            </a:pPr>
            <a:r>
              <a:rPr lang="en-US" sz="800" b="1" dirty="0">
                <a:solidFill>
                  <a:srgbClr val="6B7280"/>
                </a:solidFill>
                <a:latin typeface="Meiryo UI" pitchFamily="34" charset="0"/>
                <a:ea typeface="Meiryo UI" pitchFamily="34" charset="-122"/>
                <a:cs typeface="Meiryo UI" pitchFamily="34" charset="-120"/>
              </a:rPr>
              <a:t>コピー</a:t>
            </a:r>
            <a:endParaRPr lang="en-US" sz="800" dirty="0"/>
          </a:p>
        </p:txBody>
      </p:sp>
      <p:sp>
        <p:nvSpPr>
          <p:cNvPr id="165" name="Text 163"/>
          <p:cNvSpPr txBox="1"/>
          <p:nvPr/>
        </p:nvSpPr>
        <p:spPr>
          <a:xfrm>
            <a:off x="6172200" y="3776472"/>
            <a:ext cx="1965960" cy="274320"/>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未確定</a:t>
            </a:r>
            <a:endParaRPr lang="en-US" sz="800" dirty="0"/>
          </a:p>
        </p:txBody>
      </p:sp>
      <p:sp>
        <p:nvSpPr>
          <p:cNvPr id="166" name="Text 164"/>
          <p:cNvSpPr txBox="1"/>
          <p:nvPr/>
        </p:nvSpPr>
        <p:spPr>
          <a:xfrm>
            <a:off x="5394960" y="4087368"/>
            <a:ext cx="822960" cy="274320"/>
          </a:xfrm>
          <a:prstGeom prst="rect">
            <a:avLst/>
          </a:prstGeom>
          <a:noFill/>
          <a:ln/>
        </p:spPr>
        <p:txBody>
          <a:bodyPr wrap="square" lIns="0" tIns="0" rIns="0" bIns="0" rtlCol="0" anchor="ctr"/>
          <a:lstStyle/>
          <a:p>
            <a:pPr indent="0" marL="0">
              <a:buNone/>
            </a:pPr>
            <a:r>
              <a:rPr lang="en-US" sz="800" b="1" dirty="0">
                <a:solidFill>
                  <a:srgbClr val="6B7280"/>
                </a:solidFill>
                <a:latin typeface="Meiryo UI" pitchFamily="34" charset="0"/>
                <a:ea typeface="Meiryo UI" pitchFamily="34" charset="-122"/>
                <a:cs typeface="Meiryo UI" pitchFamily="34" charset="-120"/>
              </a:rPr>
              <a:t>制作指示</a:t>
            </a:r>
            <a:endParaRPr lang="en-US" sz="800" dirty="0"/>
          </a:p>
        </p:txBody>
      </p:sp>
      <p:sp>
        <p:nvSpPr>
          <p:cNvPr id="167" name="Text 165"/>
          <p:cNvSpPr txBox="1"/>
          <p:nvPr/>
        </p:nvSpPr>
        <p:spPr>
          <a:xfrm>
            <a:off x="6172200" y="4087368"/>
            <a:ext cx="1965960" cy="274320"/>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未確定</a:t>
            </a:r>
            <a:endParaRPr lang="en-US" sz="800" dirty="0"/>
          </a:p>
        </p:txBody>
      </p:sp>
      <p:sp>
        <p:nvSpPr>
          <p:cNvPr id="168" name="Shape 166"/>
          <p:cNvSpPr/>
          <p:nvPr/>
        </p:nvSpPr>
        <p:spPr>
          <a:xfrm>
            <a:off x="5394960" y="4480560"/>
            <a:ext cx="1280160" cy="365760"/>
          </a:xfrm>
          <a:prstGeom prst="roundRect">
            <a:avLst>
              <a:gd name="adj" fmla="val 50000"/>
            </a:avLst>
          </a:prstGeom>
          <a:solidFill>
            <a:srgbClr val="FFFFFF"/>
          </a:solidFill>
          <a:ln w="12700">
            <a:solidFill>
              <a:srgbClr val="1B2A49"/>
            </a:solidFill>
            <a:prstDash val="solid"/>
          </a:ln>
        </p:spPr>
      </p:sp>
      <p:sp>
        <p:nvSpPr>
          <p:cNvPr id="169" name="Text 167"/>
          <p:cNvSpPr txBox="1"/>
          <p:nvPr/>
        </p:nvSpPr>
        <p:spPr>
          <a:xfrm>
            <a:off x="5394960" y="4480560"/>
            <a:ext cx="1280160" cy="365760"/>
          </a:xfrm>
          <a:prstGeom prst="rect">
            <a:avLst/>
          </a:prstGeom>
          <a:noFill/>
          <a:ln/>
        </p:spPr>
        <p:txBody>
          <a:bodyPr wrap="square" lIns="762" tIns="762" rIns="762" bIns="762" rtlCol="0" anchor="ctr"/>
          <a:lstStyle/>
          <a:p>
            <a:pPr algn="ctr" indent="0" marL="0">
              <a:buNone/>
            </a:pPr>
            <a:r>
              <a:rPr lang="en-US" sz="850" b="1" dirty="0">
                <a:solidFill>
                  <a:srgbClr val="1B2A49"/>
                </a:solidFill>
                <a:latin typeface="Meiryo UI" pitchFamily="34" charset="0"/>
                <a:ea typeface="Meiryo UI" pitchFamily="34" charset="-122"/>
                <a:cs typeface="Meiryo UI" pitchFamily="34" charset="-120"/>
              </a:rPr>
              <a:t>カードを開く</a:t>
            </a:r>
            <a:endParaRPr lang="en-US" sz="850" dirty="0"/>
          </a:p>
        </p:txBody>
      </p:sp>
      <p:sp>
        <p:nvSpPr>
          <p:cNvPr id="170" name="Shape 168"/>
          <p:cNvSpPr/>
          <p:nvPr/>
        </p:nvSpPr>
        <p:spPr>
          <a:xfrm>
            <a:off x="6812280" y="4480560"/>
            <a:ext cx="1280160" cy="365760"/>
          </a:xfrm>
          <a:prstGeom prst="roundRect">
            <a:avLst>
              <a:gd name="adj" fmla="val 50000"/>
            </a:avLst>
          </a:prstGeom>
          <a:solidFill>
            <a:srgbClr val="1B2A49"/>
          </a:solidFill>
          <a:ln/>
        </p:spPr>
      </p:sp>
      <p:sp>
        <p:nvSpPr>
          <p:cNvPr id="171" name="Text 169"/>
          <p:cNvSpPr txBox="1"/>
          <p:nvPr/>
        </p:nvSpPr>
        <p:spPr>
          <a:xfrm>
            <a:off x="6812280" y="4480560"/>
            <a:ext cx="1280160" cy="365760"/>
          </a:xfrm>
          <a:prstGeom prst="rect">
            <a:avLst/>
          </a:prstGeom>
          <a:noFill/>
          <a:ln/>
        </p:spPr>
        <p:txBody>
          <a:bodyPr wrap="square" lIns="762" tIns="762" rIns="762" bIns="762"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商品選定の続き</a:t>
            </a:r>
            <a:endParaRPr lang="en-US" sz="850" dirty="0"/>
          </a:p>
        </p:txBody>
      </p:sp>
      <p:sp>
        <p:nvSpPr>
          <p:cNvPr id="172" name="Shape 170"/>
          <p:cNvSpPr/>
          <p:nvPr/>
        </p:nvSpPr>
        <p:spPr>
          <a:xfrm>
            <a:off x="548640" y="1719072"/>
            <a:ext cx="256032" cy="256032"/>
          </a:xfrm>
          <a:prstGeom prst="ellipse">
            <a:avLst/>
          </a:prstGeom>
          <a:solidFill>
            <a:srgbClr val="D64545"/>
          </a:solidFill>
          <a:ln/>
        </p:spPr>
      </p:sp>
      <p:sp>
        <p:nvSpPr>
          <p:cNvPr id="173" name="Text 171"/>
          <p:cNvSpPr txBox="1"/>
          <p:nvPr/>
        </p:nvSpPr>
        <p:spPr>
          <a:xfrm>
            <a:off x="548640" y="171907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174" name="Shape 172"/>
          <p:cNvSpPr/>
          <p:nvPr/>
        </p:nvSpPr>
        <p:spPr>
          <a:xfrm>
            <a:off x="2395728" y="2999232"/>
            <a:ext cx="256032" cy="256032"/>
          </a:xfrm>
          <a:prstGeom prst="ellipse">
            <a:avLst/>
          </a:prstGeom>
          <a:solidFill>
            <a:srgbClr val="D64545"/>
          </a:solidFill>
          <a:ln/>
        </p:spPr>
      </p:sp>
      <p:sp>
        <p:nvSpPr>
          <p:cNvPr id="175" name="Text 173"/>
          <p:cNvSpPr txBox="1"/>
          <p:nvPr/>
        </p:nvSpPr>
        <p:spPr>
          <a:xfrm>
            <a:off x="2395728" y="29992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176" name="Shape 174"/>
          <p:cNvSpPr/>
          <p:nvPr/>
        </p:nvSpPr>
        <p:spPr>
          <a:xfrm>
            <a:off x="5120640" y="2633472"/>
            <a:ext cx="256032" cy="256032"/>
          </a:xfrm>
          <a:prstGeom prst="ellipse">
            <a:avLst/>
          </a:prstGeom>
          <a:solidFill>
            <a:srgbClr val="D64545"/>
          </a:solidFill>
          <a:ln/>
        </p:spPr>
      </p:sp>
      <p:sp>
        <p:nvSpPr>
          <p:cNvPr id="177" name="Text 175"/>
          <p:cNvSpPr txBox="1"/>
          <p:nvPr/>
        </p:nvSpPr>
        <p:spPr>
          <a:xfrm>
            <a:off x="5120640" y="263347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178" name="Text 176"/>
          <p:cNvSpPr txBox="1"/>
          <p:nvPr/>
        </p:nvSpPr>
        <p:spPr>
          <a:xfrm>
            <a:off x="548640" y="6080760"/>
            <a:ext cx="301752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① 国・チャネル・部署・ステータスで絞り込む</a:t>
            </a:r>
            <a:endParaRPr lang="en-US" sz="850" dirty="0"/>
          </a:p>
        </p:txBody>
      </p:sp>
      <p:sp>
        <p:nvSpPr>
          <p:cNvPr id="179" name="Text 177"/>
          <p:cNvSpPr txBox="1"/>
          <p:nvPr/>
        </p:nvSpPr>
        <p:spPr>
          <a:xfrm>
            <a:off x="3566160" y="6080760"/>
            <a:ext cx="411480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② 配信日ごとのカードを、ステータスの色で表示（✉メール／🔔プッシュ）</a:t>
            </a:r>
            <a:endParaRPr lang="en-US" sz="850" dirty="0"/>
          </a:p>
        </p:txBody>
      </p:sp>
      <p:sp>
        <p:nvSpPr>
          <p:cNvPr id="180" name="Text 178"/>
          <p:cNvSpPr txBox="1"/>
          <p:nvPr/>
        </p:nvSpPr>
        <p:spPr>
          <a:xfrm>
            <a:off x="7680960" y="6080760"/>
            <a:ext cx="393192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③ カードを選ぶと確定情報の概要が開き、工程レイヤー（次ページ）へ進める</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A7の具体案③：画面イメージ（工程ごとのレイヤー）</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カードには確定した情報だけを表示し、決めるプロセスは工程ごとに前面に開くレイヤーで行う（検討用のイメージ）</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32</a:t>
            </a:r>
            <a:endParaRPr lang="en-US" sz="900" dirty="0"/>
          </a:p>
        </p:txBody>
      </p:sp>
      <p:sp>
        <p:nvSpPr>
          <p:cNvPr id="6" name="Shape 4"/>
          <p:cNvSpPr/>
          <p:nvPr/>
        </p:nvSpPr>
        <p:spPr>
          <a:xfrm>
            <a:off x="548640" y="1325880"/>
            <a:ext cx="11064240" cy="4663440"/>
          </a:xfrm>
          <a:prstGeom prst="roundRect">
            <a:avLst>
              <a:gd name="adj" fmla="val 980"/>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7" name="Shape 5"/>
          <p:cNvSpPr/>
          <p:nvPr/>
        </p:nvSpPr>
        <p:spPr>
          <a:xfrm>
            <a:off x="548640" y="1325880"/>
            <a:ext cx="11064240" cy="310896"/>
          </a:xfrm>
          <a:prstGeom prst="rect">
            <a:avLst/>
          </a:prstGeom>
          <a:solidFill>
            <a:srgbClr val="1B2A49"/>
          </a:solidFill>
          <a:ln/>
        </p:spPr>
      </p:sp>
      <p:sp>
        <p:nvSpPr>
          <p:cNvPr id="8" name="Shape 6"/>
          <p:cNvSpPr/>
          <p:nvPr/>
        </p:nvSpPr>
        <p:spPr>
          <a:xfrm>
            <a:off x="685800" y="1426464"/>
            <a:ext cx="109728" cy="109728"/>
          </a:xfrm>
          <a:prstGeom prst="ellipse">
            <a:avLst/>
          </a:prstGeom>
          <a:solidFill>
            <a:srgbClr val="FF6B6B"/>
          </a:solidFill>
          <a:ln/>
        </p:spPr>
      </p:sp>
      <p:sp>
        <p:nvSpPr>
          <p:cNvPr id="9" name="Shape 7"/>
          <p:cNvSpPr/>
          <p:nvPr/>
        </p:nvSpPr>
        <p:spPr>
          <a:xfrm>
            <a:off x="868680" y="1426464"/>
            <a:ext cx="109728" cy="109728"/>
          </a:xfrm>
          <a:prstGeom prst="ellipse">
            <a:avLst/>
          </a:prstGeom>
          <a:solidFill>
            <a:srgbClr val="FFD166"/>
          </a:solidFill>
          <a:ln/>
        </p:spPr>
      </p:sp>
      <p:sp>
        <p:nvSpPr>
          <p:cNvPr id="10" name="Shape 8"/>
          <p:cNvSpPr/>
          <p:nvPr/>
        </p:nvSpPr>
        <p:spPr>
          <a:xfrm>
            <a:off x="1051560" y="1426464"/>
            <a:ext cx="109728" cy="109728"/>
          </a:xfrm>
          <a:prstGeom prst="ellipse">
            <a:avLst/>
          </a:prstGeom>
          <a:solidFill>
            <a:srgbClr val="06D6A0"/>
          </a:solidFill>
          <a:ln/>
        </p:spPr>
      </p:sp>
      <p:sp>
        <p:nvSpPr>
          <p:cNvPr id="11" name="Text 9"/>
          <p:cNvSpPr txBox="1"/>
          <p:nvPr/>
        </p:nvSpPr>
        <p:spPr>
          <a:xfrm>
            <a:off x="1371600" y="1325880"/>
            <a:ext cx="5486400" cy="310896"/>
          </a:xfrm>
          <a:prstGeom prst="rect">
            <a:avLst/>
          </a:prstGeom>
          <a:noFill/>
          <a:ln/>
        </p:spPr>
        <p:txBody>
          <a:bodyPr wrap="square" lIns="0" tIns="0" rIns="0" bIns="0" rtlCol="0" anchor="ctr"/>
          <a:lstStyle/>
          <a:p>
            <a:pPr indent="0" marL="0">
              <a:buNone/>
            </a:pPr>
            <a:r>
              <a:rPr lang="en-US" sz="950" b="1" dirty="0">
                <a:solidFill>
                  <a:srgbClr val="FFFFFF"/>
                </a:solidFill>
                <a:latin typeface="Meiryo UI" pitchFamily="34" charset="0"/>
                <a:ea typeface="Meiryo UI" pitchFamily="34" charset="-122"/>
                <a:cs typeface="Meiryo UI" pitchFamily="34" charset="-120"/>
              </a:rPr>
              <a:t>配信コンテンツ企画（code app）</a:t>
            </a:r>
            <a:endParaRPr lang="en-US" sz="950" dirty="0"/>
          </a:p>
        </p:txBody>
      </p:sp>
      <p:sp>
        <p:nvSpPr>
          <p:cNvPr id="12" name="Text 10"/>
          <p:cNvSpPr txBox="1"/>
          <p:nvPr/>
        </p:nvSpPr>
        <p:spPr>
          <a:xfrm>
            <a:off x="685800" y="1737360"/>
            <a:ext cx="1737360" cy="237744"/>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2026年10月｜日本</a:t>
            </a:r>
            <a:endParaRPr lang="en-US" sz="900" dirty="0"/>
          </a:p>
        </p:txBody>
      </p:sp>
      <p:sp>
        <p:nvSpPr>
          <p:cNvPr id="13" name="Shape 11"/>
          <p:cNvSpPr/>
          <p:nvPr/>
        </p:nvSpPr>
        <p:spPr>
          <a:xfrm>
            <a:off x="1600200" y="2029968"/>
            <a:ext cx="210312" cy="201168"/>
          </a:xfrm>
          <a:prstGeom prst="roundRect">
            <a:avLst>
              <a:gd name="adj" fmla="val 9091"/>
            </a:avLst>
          </a:prstGeom>
          <a:solidFill>
            <a:srgbClr val="F3F5F8"/>
          </a:solidFill>
          <a:ln/>
        </p:spPr>
      </p:sp>
      <p:sp>
        <p:nvSpPr>
          <p:cNvPr id="14" name="Shape 12"/>
          <p:cNvSpPr/>
          <p:nvPr/>
        </p:nvSpPr>
        <p:spPr>
          <a:xfrm>
            <a:off x="1828800" y="2029968"/>
            <a:ext cx="210312" cy="201168"/>
          </a:xfrm>
          <a:prstGeom prst="roundRect">
            <a:avLst>
              <a:gd name="adj" fmla="val 9091"/>
            </a:avLst>
          </a:prstGeom>
          <a:solidFill>
            <a:srgbClr val="F3F5F8"/>
          </a:solidFill>
          <a:ln/>
        </p:spPr>
      </p:sp>
      <p:sp>
        <p:nvSpPr>
          <p:cNvPr id="15" name="Shape 13"/>
          <p:cNvSpPr/>
          <p:nvPr/>
        </p:nvSpPr>
        <p:spPr>
          <a:xfrm>
            <a:off x="2057400" y="2029968"/>
            <a:ext cx="210312" cy="201168"/>
          </a:xfrm>
          <a:prstGeom prst="roundRect">
            <a:avLst>
              <a:gd name="adj" fmla="val 9091"/>
            </a:avLst>
          </a:prstGeom>
          <a:solidFill>
            <a:srgbClr val="F3F5F8"/>
          </a:solidFill>
          <a:ln/>
        </p:spPr>
      </p:sp>
      <p:sp>
        <p:nvSpPr>
          <p:cNvPr id="16" name="Shape 14"/>
          <p:cNvSpPr/>
          <p:nvPr/>
        </p:nvSpPr>
        <p:spPr>
          <a:xfrm>
            <a:off x="685800" y="2249424"/>
            <a:ext cx="210312" cy="201168"/>
          </a:xfrm>
          <a:prstGeom prst="roundRect">
            <a:avLst>
              <a:gd name="adj" fmla="val 9091"/>
            </a:avLst>
          </a:prstGeom>
          <a:solidFill>
            <a:srgbClr val="F3F5F8"/>
          </a:solidFill>
          <a:ln/>
        </p:spPr>
      </p:sp>
      <p:sp>
        <p:nvSpPr>
          <p:cNvPr id="17" name="Shape 15"/>
          <p:cNvSpPr/>
          <p:nvPr/>
        </p:nvSpPr>
        <p:spPr>
          <a:xfrm>
            <a:off x="914400" y="2249424"/>
            <a:ext cx="210312" cy="201168"/>
          </a:xfrm>
          <a:prstGeom prst="roundRect">
            <a:avLst>
              <a:gd name="adj" fmla="val 9091"/>
            </a:avLst>
          </a:prstGeom>
          <a:solidFill>
            <a:srgbClr val="D9F2F1"/>
          </a:solidFill>
          <a:ln w="12700">
            <a:solidFill>
              <a:srgbClr val="0E9F9A"/>
            </a:solidFill>
            <a:prstDash val="solid"/>
          </a:ln>
        </p:spPr>
      </p:sp>
      <p:sp>
        <p:nvSpPr>
          <p:cNvPr id="18" name="Shape 16"/>
          <p:cNvSpPr/>
          <p:nvPr/>
        </p:nvSpPr>
        <p:spPr>
          <a:xfrm>
            <a:off x="1143000" y="2249424"/>
            <a:ext cx="210312" cy="201168"/>
          </a:xfrm>
          <a:prstGeom prst="roundRect">
            <a:avLst>
              <a:gd name="adj" fmla="val 9091"/>
            </a:avLst>
          </a:prstGeom>
          <a:solidFill>
            <a:srgbClr val="F3F5F8"/>
          </a:solidFill>
          <a:ln/>
        </p:spPr>
      </p:sp>
      <p:sp>
        <p:nvSpPr>
          <p:cNvPr id="19" name="Shape 17"/>
          <p:cNvSpPr/>
          <p:nvPr/>
        </p:nvSpPr>
        <p:spPr>
          <a:xfrm>
            <a:off x="1371600" y="2249424"/>
            <a:ext cx="210312" cy="201168"/>
          </a:xfrm>
          <a:prstGeom prst="roundRect">
            <a:avLst>
              <a:gd name="adj" fmla="val 9091"/>
            </a:avLst>
          </a:prstGeom>
          <a:solidFill>
            <a:srgbClr val="F3F5F8"/>
          </a:solidFill>
          <a:ln/>
        </p:spPr>
      </p:sp>
      <p:sp>
        <p:nvSpPr>
          <p:cNvPr id="20" name="Shape 18"/>
          <p:cNvSpPr/>
          <p:nvPr/>
        </p:nvSpPr>
        <p:spPr>
          <a:xfrm>
            <a:off x="1600200" y="2249424"/>
            <a:ext cx="210312" cy="201168"/>
          </a:xfrm>
          <a:prstGeom prst="roundRect">
            <a:avLst>
              <a:gd name="adj" fmla="val 9091"/>
            </a:avLst>
          </a:prstGeom>
          <a:solidFill>
            <a:srgbClr val="F3F5F8"/>
          </a:solidFill>
          <a:ln/>
        </p:spPr>
      </p:sp>
      <p:sp>
        <p:nvSpPr>
          <p:cNvPr id="21" name="Shape 19"/>
          <p:cNvSpPr/>
          <p:nvPr/>
        </p:nvSpPr>
        <p:spPr>
          <a:xfrm>
            <a:off x="1828800" y="2249424"/>
            <a:ext cx="210312" cy="201168"/>
          </a:xfrm>
          <a:prstGeom prst="roundRect">
            <a:avLst>
              <a:gd name="adj" fmla="val 9091"/>
            </a:avLst>
          </a:prstGeom>
          <a:solidFill>
            <a:srgbClr val="F3F5F8"/>
          </a:solidFill>
          <a:ln/>
        </p:spPr>
      </p:sp>
      <p:sp>
        <p:nvSpPr>
          <p:cNvPr id="22" name="Shape 20"/>
          <p:cNvSpPr/>
          <p:nvPr/>
        </p:nvSpPr>
        <p:spPr>
          <a:xfrm>
            <a:off x="2057400" y="2249424"/>
            <a:ext cx="210312" cy="201168"/>
          </a:xfrm>
          <a:prstGeom prst="roundRect">
            <a:avLst>
              <a:gd name="adj" fmla="val 9091"/>
            </a:avLst>
          </a:prstGeom>
          <a:solidFill>
            <a:srgbClr val="F3F5F8"/>
          </a:solidFill>
          <a:ln/>
        </p:spPr>
      </p:sp>
      <p:sp>
        <p:nvSpPr>
          <p:cNvPr id="23" name="Shape 21"/>
          <p:cNvSpPr/>
          <p:nvPr/>
        </p:nvSpPr>
        <p:spPr>
          <a:xfrm>
            <a:off x="685800" y="2468880"/>
            <a:ext cx="210312" cy="201168"/>
          </a:xfrm>
          <a:prstGeom prst="roundRect">
            <a:avLst>
              <a:gd name="adj" fmla="val 9091"/>
            </a:avLst>
          </a:prstGeom>
          <a:solidFill>
            <a:srgbClr val="F3F5F8"/>
          </a:solidFill>
          <a:ln/>
        </p:spPr>
      </p:sp>
      <p:sp>
        <p:nvSpPr>
          <p:cNvPr id="24" name="Shape 22"/>
          <p:cNvSpPr/>
          <p:nvPr/>
        </p:nvSpPr>
        <p:spPr>
          <a:xfrm>
            <a:off x="914400" y="2468880"/>
            <a:ext cx="210312" cy="201168"/>
          </a:xfrm>
          <a:prstGeom prst="roundRect">
            <a:avLst>
              <a:gd name="adj" fmla="val 9091"/>
            </a:avLst>
          </a:prstGeom>
          <a:solidFill>
            <a:srgbClr val="F3F5F8"/>
          </a:solidFill>
          <a:ln/>
        </p:spPr>
      </p:sp>
      <p:sp>
        <p:nvSpPr>
          <p:cNvPr id="25" name="Shape 23"/>
          <p:cNvSpPr/>
          <p:nvPr/>
        </p:nvSpPr>
        <p:spPr>
          <a:xfrm>
            <a:off x="1143000" y="2468880"/>
            <a:ext cx="210312" cy="201168"/>
          </a:xfrm>
          <a:prstGeom prst="roundRect">
            <a:avLst>
              <a:gd name="adj" fmla="val 9091"/>
            </a:avLst>
          </a:prstGeom>
          <a:solidFill>
            <a:srgbClr val="F3F5F8"/>
          </a:solidFill>
          <a:ln/>
        </p:spPr>
      </p:sp>
      <p:sp>
        <p:nvSpPr>
          <p:cNvPr id="26" name="Shape 24"/>
          <p:cNvSpPr/>
          <p:nvPr/>
        </p:nvSpPr>
        <p:spPr>
          <a:xfrm>
            <a:off x="1371600" y="2468880"/>
            <a:ext cx="210312" cy="201168"/>
          </a:xfrm>
          <a:prstGeom prst="roundRect">
            <a:avLst>
              <a:gd name="adj" fmla="val 9091"/>
            </a:avLst>
          </a:prstGeom>
          <a:solidFill>
            <a:srgbClr val="F3F5F8"/>
          </a:solidFill>
          <a:ln/>
        </p:spPr>
      </p:sp>
      <p:sp>
        <p:nvSpPr>
          <p:cNvPr id="27" name="Shape 25"/>
          <p:cNvSpPr/>
          <p:nvPr/>
        </p:nvSpPr>
        <p:spPr>
          <a:xfrm>
            <a:off x="1600200" y="2468880"/>
            <a:ext cx="210312" cy="201168"/>
          </a:xfrm>
          <a:prstGeom prst="roundRect">
            <a:avLst>
              <a:gd name="adj" fmla="val 9091"/>
            </a:avLst>
          </a:prstGeom>
          <a:solidFill>
            <a:srgbClr val="F3F5F8"/>
          </a:solidFill>
          <a:ln/>
        </p:spPr>
      </p:sp>
      <p:sp>
        <p:nvSpPr>
          <p:cNvPr id="28" name="Shape 26"/>
          <p:cNvSpPr/>
          <p:nvPr/>
        </p:nvSpPr>
        <p:spPr>
          <a:xfrm>
            <a:off x="1828800" y="2468880"/>
            <a:ext cx="210312" cy="201168"/>
          </a:xfrm>
          <a:prstGeom prst="roundRect">
            <a:avLst>
              <a:gd name="adj" fmla="val 9091"/>
            </a:avLst>
          </a:prstGeom>
          <a:solidFill>
            <a:srgbClr val="F3F5F8"/>
          </a:solidFill>
          <a:ln/>
        </p:spPr>
      </p:sp>
      <p:sp>
        <p:nvSpPr>
          <p:cNvPr id="29" name="Shape 27"/>
          <p:cNvSpPr/>
          <p:nvPr/>
        </p:nvSpPr>
        <p:spPr>
          <a:xfrm>
            <a:off x="2057400" y="2468880"/>
            <a:ext cx="210312" cy="201168"/>
          </a:xfrm>
          <a:prstGeom prst="roundRect">
            <a:avLst>
              <a:gd name="adj" fmla="val 9091"/>
            </a:avLst>
          </a:prstGeom>
          <a:solidFill>
            <a:srgbClr val="F3F5F8"/>
          </a:solidFill>
          <a:ln/>
        </p:spPr>
      </p:sp>
      <p:sp>
        <p:nvSpPr>
          <p:cNvPr id="30" name="Shape 28"/>
          <p:cNvSpPr/>
          <p:nvPr/>
        </p:nvSpPr>
        <p:spPr>
          <a:xfrm>
            <a:off x="685800" y="2688336"/>
            <a:ext cx="210312" cy="201168"/>
          </a:xfrm>
          <a:prstGeom prst="roundRect">
            <a:avLst>
              <a:gd name="adj" fmla="val 9091"/>
            </a:avLst>
          </a:prstGeom>
          <a:solidFill>
            <a:srgbClr val="F3F5F8"/>
          </a:solidFill>
          <a:ln/>
        </p:spPr>
      </p:sp>
      <p:sp>
        <p:nvSpPr>
          <p:cNvPr id="31" name="Shape 29"/>
          <p:cNvSpPr/>
          <p:nvPr/>
        </p:nvSpPr>
        <p:spPr>
          <a:xfrm>
            <a:off x="914400" y="2688336"/>
            <a:ext cx="210312" cy="201168"/>
          </a:xfrm>
          <a:prstGeom prst="roundRect">
            <a:avLst>
              <a:gd name="adj" fmla="val 9091"/>
            </a:avLst>
          </a:prstGeom>
          <a:solidFill>
            <a:srgbClr val="F3F5F8"/>
          </a:solidFill>
          <a:ln/>
        </p:spPr>
      </p:sp>
      <p:sp>
        <p:nvSpPr>
          <p:cNvPr id="32" name="Shape 30"/>
          <p:cNvSpPr/>
          <p:nvPr/>
        </p:nvSpPr>
        <p:spPr>
          <a:xfrm>
            <a:off x="1143000" y="2688336"/>
            <a:ext cx="210312" cy="201168"/>
          </a:xfrm>
          <a:prstGeom prst="roundRect">
            <a:avLst>
              <a:gd name="adj" fmla="val 9091"/>
            </a:avLst>
          </a:prstGeom>
          <a:solidFill>
            <a:srgbClr val="F3F5F8"/>
          </a:solidFill>
          <a:ln/>
        </p:spPr>
      </p:sp>
      <p:sp>
        <p:nvSpPr>
          <p:cNvPr id="33" name="Shape 31"/>
          <p:cNvSpPr/>
          <p:nvPr/>
        </p:nvSpPr>
        <p:spPr>
          <a:xfrm>
            <a:off x="1371600" y="2688336"/>
            <a:ext cx="210312" cy="201168"/>
          </a:xfrm>
          <a:prstGeom prst="roundRect">
            <a:avLst>
              <a:gd name="adj" fmla="val 9091"/>
            </a:avLst>
          </a:prstGeom>
          <a:solidFill>
            <a:srgbClr val="F3F5F8"/>
          </a:solidFill>
          <a:ln/>
        </p:spPr>
      </p:sp>
      <p:sp>
        <p:nvSpPr>
          <p:cNvPr id="34" name="Shape 32"/>
          <p:cNvSpPr/>
          <p:nvPr/>
        </p:nvSpPr>
        <p:spPr>
          <a:xfrm>
            <a:off x="1600200" y="2688336"/>
            <a:ext cx="210312" cy="201168"/>
          </a:xfrm>
          <a:prstGeom prst="roundRect">
            <a:avLst>
              <a:gd name="adj" fmla="val 9091"/>
            </a:avLst>
          </a:prstGeom>
          <a:solidFill>
            <a:srgbClr val="F3F5F8"/>
          </a:solidFill>
          <a:ln/>
        </p:spPr>
      </p:sp>
      <p:sp>
        <p:nvSpPr>
          <p:cNvPr id="35" name="Shape 33"/>
          <p:cNvSpPr/>
          <p:nvPr/>
        </p:nvSpPr>
        <p:spPr>
          <a:xfrm>
            <a:off x="1828800" y="2688336"/>
            <a:ext cx="210312" cy="201168"/>
          </a:xfrm>
          <a:prstGeom prst="roundRect">
            <a:avLst>
              <a:gd name="adj" fmla="val 9091"/>
            </a:avLst>
          </a:prstGeom>
          <a:solidFill>
            <a:srgbClr val="F3F5F8"/>
          </a:solidFill>
          <a:ln/>
        </p:spPr>
      </p:sp>
      <p:sp>
        <p:nvSpPr>
          <p:cNvPr id="36" name="Shape 34"/>
          <p:cNvSpPr/>
          <p:nvPr/>
        </p:nvSpPr>
        <p:spPr>
          <a:xfrm>
            <a:off x="2057400" y="2688336"/>
            <a:ext cx="210312" cy="201168"/>
          </a:xfrm>
          <a:prstGeom prst="roundRect">
            <a:avLst>
              <a:gd name="adj" fmla="val 9091"/>
            </a:avLst>
          </a:prstGeom>
          <a:solidFill>
            <a:srgbClr val="F3F5F8"/>
          </a:solidFill>
          <a:ln/>
        </p:spPr>
      </p:sp>
      <p:sp>
        <p:nvSpPr>
          <p:cNvPr id="37" name="Shape 35"/>
          <p:cNvSpPr/>
          <p:nvPr/>
        </p:nvSpPr>
        <p:spPr>
          <a:xfrm>
            <a:off x="685800" y="2907792"/>
            <a:ext cx="210312" cy="201168"/>
          </a:xfrm>
          <a:prstGeom prst="roundRect">
            <a:avLst>
              <a:gd name="adj" fmla="val 9091"/>
            </a:avLst>
          </a:prstGeom>
          <a:solidFill>
            <a:srgbClr val="F3F5F8"/>
          </a:solidFill>
          <a:ln/>
        </p:spPr>
      </p:sp>
      <p:sp>
        <p:nvSpPr>
          <p:cNvPr id="38" name="Shape 36"/>
          <p:cNvSpPr/>
          <p:nvPr/>
        </p:nvSpPr>
        <p:spPr>
          <a:xfrm>
            <a:off x="914400" y="2907792"/>
            <a:ext cx="210312" cy="201168"/>
          </a:xfrm>
          <a:prstGeom prst="roundRect">
            <a:avLst>
              <a:gd name="adj" fmla="val 9091"/>
            </a:avLst>
          </a:prstGeom>
          <a:solidFill>
            <a:srgbClr val="F3F5F8"/>
          </a:solidFill>
          <a:ln/>
        </p:spPr>
      </p:sp>
      <p:sp>
        <p:nvSpPr>
          <p:cNvPr id="39" name="Shape 37"/>
          <p:cNvSpPr/>
          <p:nvPr/>
        </p:nvSpPr>
        <p:spPr>
          <a:xfrm>
            <a:off x="1143000" y="2907792"/>
            <a:ext cx="210312" cy="201168"/>
          </a:xfrm>
          <a:prstGeom prst="roundRect">
            <a:avLst>
              <a:gd name="adj" fmla="val 9091"/>
            </a:avLst>
          </a:prstGeom>
          <a:solidFill>
            <a:srgbClr val="F3F5F8"/>
          </a:solidFill>
          <a:ln/>
        </p:spPr>
      </p:sp>
      <p:sp>
        <p:nvSpPr>
          <p:cNvPr id="40" name="Shape 38"/>
          <p:cNvSpPr/>
          <p:nvPr/>
        </p:nvSpPr>
        <p:spPr>
          <a:xfrm>
            <a:off x="1371600" y="2907792"/>
            <a:ext cx="210312" cy="201168"/>
          </a:xfrm>
          <a:prstGeom prst="roundRect">
            <a:avLst>
              <a:gd name="adj" fmla="val 9091"/>
            </a:avLst>
          </a:prstGeom>
          <a:solidFill>
            <a:srgbClr val="F3F5F8"/>
          </a:solidFill>
          <a:ln/>
        </p:spPr>
      </p:sp>
      <p:sp>
        <p:nvSpPr>
          <p:cNvPr id="41" name="Shape 39"/>
          <p:cNvSpPr/>
          <p:nvPr/>
        </p:nvSpPr>
        <p:spPr>
          <a:xfrm>
            <a:off x="1600200" y="2907792"/>
            <a:ext cx="210312" cy="201168"/>
          </a:xfrm>
          <a:prstGeom prst="roundRect">
            <a:avLst>
              <a:gd name="adj" fmla="val 9091"/>
            </a:avLst>
          </a:prstGeom>
          <a:solidFill>
            <a:srgbClr val="F3F5F8"/>
          </a:solidFill>
          <a:ln/>
        </p:spPr>
      </p:sp>
      <p:sp>
        <p:nvSpPr>
          <p:cNvPr id="42" name="Shape 40"/>
          <p:cNvSpPr/>
          <p:nvPr/>
        </p:nvSpPr>
        <p:spPr>
          <a:xfrm>
            <a:off x="1828800" y="2907792"/>
            <a:ext cx="210312" cy="201168"/>
          </a:xfrm>
          <a:prstGeom prst="roundRect">
            <a:avLst>
              <a:gd name="adj" fmla="val 9091"/>
            </a:avLst>
          </a:prstGeom>
          <a:solidFill>
            <a:srgbClr val="F3F5F8"/>
          </a:solidFill>
          <a:ln/>
        </p:spPr>
      </p:sp>
      <p:sp>
        <p:nvSpPr>
          <p:cNvPr id="43" name="Shape 41"/>
          <p:cNvSpPr/>
          <p:nvPr/>
        </p:nvSpPr>
        <p:spPr>
          <a:xfrm>
            <a:off x="2057400" y="2907792"/>
            <a:ext cx="210312" cy="201168"/>
          </a:xfrm>
          <a:prstGeom prst="roundRect">
            <a:avLst>
              <a:gd name="adj" fmla="val 9091"/>
            </a:avLst>
          </a:prstGeom>
          <a:solidFill>
            <a:srgbClr val="F3F5F8"/>
          </a:solidFill>
          <a:ln/>
        </p:spPr>
      </p:sp>
      <p:sp>
        <p:nvSpPr>
          <p:cNvPr id="44" name="Shape 42"/>
          <p:cNvSpPr/>
          <p:nvPr/>
        </p:nvSpPr>
        <p:spPr>
          <a:xfrm>
            <a:off x="2423160" y="1783080"/>
            <a:ext cx="9052560" cy="4069080"/>
          </a:xfrm>
          <a:prstGeom prst="roundRect">
            <a:avLst>
              <a:gd name="adj" fmla="val 1124"/>
            </a:avLst>
          </a:prstGeom>
          <a:solidFill>
            <a:srgbClr val="F3F5F8"/>
          </a:solidFill>
          <a:ln/>
        </p:spPr>
      </p:sp>
      <p:sp>
        <p:nvSpPr>
          <p:cNvPr id="45" name="Text 43"/>
          <p:cNvSpPr txBox="1"/>
          <p:nvPr/>
        </p:nvSpPr>
        <p:spPr>
          <a:xfrm>
            <a:off x="2560320" y="1828800"/>
            <a:ext cx="7315200" cy="310896"/>
          </a:xfrm>
          <a:prstGeom prst="rect">
            <a:avLst/>
          </a:prstGeom>
          <a:noFill/>
          <a:ln/>
        </p:spPr>
        <p:txBody>
          <a:bodyPr wrap="square" lIns="0" tIns="0" rIns="0" bIns="0" rtlCol="0" anchor="ctr"/>
          <a:lstStyle/>
          <a:p>
            <a:pPr indent="0" marL="0">
              <a:buNone/>
            </a:pPr>
            <a:r>
              <a:rPr lang="en-US" sz="1000" b="1" dirty="0">
                <a:solidFill>
                  <a:srgbClr val="1B2A49"/>
                </a:solidFill>
                <a:latin typeface="Meiryo UI" pitchFamily="34" charset="0"/>
                <a:ea typeface="Meiryo UI" pitchFamily="34" charset="-122"/>
                <a:cs typeface="Meiryo UI" pitchFamily="34" charset="-120"/>
              </a:rPr>
              <a:t>10/5（日）メール｜配信カード（確定した情報だけを表示）</a:t>
            </a:r>
            <a:endParaRPr lang="en-US" sz="1000" dirty="0"/>
          </a:p>
        </p:txBody>
      </p:sp>
      <p:sp>
        <p:nvSpPr>
          <p:cNvPr id="46" name="Text 44"/>
          <p:cNvSpPr txBox="1"/>
          <p:nvPr/>
        </p:nvSpPr>
        <p:spPr>
          <a:xfrm>
            <a:off x="2560320" y="2212848"/>
            <a:ext cx="1097280" cy="310896"/>
          </a:xfrm>
          <a:prstGeom prst="rect">
            <a:avLst/>
          </a:prstGeom>
          <a:noFill/>
          <a:ln/>
        </p:spPr>
        <p:txBody>
          <a:bodyPr wrap="square" lIns="0" tIns="0" rIns="0" bIns="0" rtlCol="0" anchor="ctr"/>
          <a:lstStyle/>
          <a:p>
            <a:pPr indent="0" marL="0">
              <a:buNone/>
            </a:pPr>
            <a:r>
              <a:rPr lang="en-US" sz="900" b="1" dirty="0">
                <a:solidFill>
                  <a:srgbClr val="6B7280"/>
                </a:solidFill>
                <a:latin typeface="Meiryo UI" pitchFamily="34" charset="0"/>
                <a:ea typeface="Meiryo UI" pitchFamily="34" charset="-122"/>
                <a:cs typeface="Meiryo UI" pitchFamily="34" charset="-120"/>
              </a:rPr>
              <a:t>テーマ</a:t>
            </a:r>
            <a:endParaRPr lang="en-US" sz="900" dirty="0"/>
          </a:p>
        </p:txBody>
      </p:sp>
      <p:sp>
        <p:nvSpPr>
          <p:cNvPr id="47" name="Text 45"/>
          <p:cNvSpPr txBox="1"/>
          <p:nvPr/>
        </p:nvSpPr>
        <p:spPr>
          <a:xfrm>
            <a:off x="3657600" y="2212848"/>
            <a:ext cx="4572000" cy="310896"/>
          </a:xfrm>
          <a:prstGeom prst="rect">
            <a:avLst/>
          </a:prstGeom>
          <a:noFill/>
          <a:ln/>
        </p:spPr>
        <p:txBody>
          <a:bodyPr wrap="square" lIns="0" tIns="0" rIns="0" bIns="0" rtlCol="0" anchor="ctr"/>
          <a:lstStyle/>
          <a:p>
            <a:pPr indent="0" marL="0">
              <a:buNone/>
            </a:pPr>
            <a:r>
              <a:rPr lang="en-US" sz="900" b="1" dirty="0">
                <a:solidFill>
                  <a:srgbClr val="0E9F9A"/>
                </a:solidFill>
                <a:latin typeface="Meiryo UI" pitchFamily="34" charset="0"/>
                <a:ea typeface="Meiryo UI" pitchFamily="34" charset="-122"/>
                <a:cs typeface="Meiryo UI" pitchFamily="34" charset="-120"/>
              </a:rPr>
              <a:t>✔ 秋の新作を先取り</a:t>
            </a:r>
            <a:endParaRPr lang="en-US" sz="900" dirty="0"/>
          </a:p>
        </p:txBody>
      </p:sp>
      <p:sp>
        <p:nvSpPr>
          <p:cNvPr id="48" name="Text 46"/>
          <p:cNvSpPr txBox="1"/>
          <p:nvPr/>
        </p:nvSpPr>
        <p:spPr>
          <a:xfrm>
            <a:off x="2560320" y="2596896"/>
            <a:ext cx="1097280" cy="310896"/>
          </a:xfrm>
          <a:prstGeom prst="rect">
            <a:avLst/>
          </a:prstGeom>
          <a:noFill/>
          <a:ln/>
        </p:spPr>
        <p:txBody>
          <a:bodyPr wrap="square" lIns="0" tIns="0" rIns="0" bIns="0" rtlCol="0" anchor="ctr"/>
          <a:lstStyle/>
          <a:p>
            <a:pPr indent="0" marL="0">
              <a:buNone/>
            </a:pPr>
            <a:r>
              <a:rPr lang="en-US" sz="900" b="1" dirty="0">
                <a:solidFill>
                  <a:srgbClr val="6B7280"/>
                </a:solidFill>
                <a:latin typeface="Meiryo UI" pitchFamily="34" charset="0"/>
                <a:ea typeface="Meiryo UI" pitchFamily="34" charset="-122"/>
                <a:cs typeface="Meiryo UI" pitchFamily="34" charset="-120"/>
              </a:rPr>
              <a:t>掲載商品</a:t>
            </a:r>
            <a:endParaRPr lang="en-US" sz="900" dirty="0"/>
          </a:p>
        </p:txBody>
      </p:sp>
      <p:sp>
        <p:nvSpPr>
          <p:cNvPr id="49" name="Text 47"/>
          <p:cNvSpPr txBox="1"/>
          <p:nvPr/>
        </p:nvSpPr>
        <p:spPr>
          <a:xfrm>
            <a:off x="3657600" y="2596896"/>
            <a:ext cx="4572000" cy="310896"/>
          </a:xfrm>
          <a:prstGeom prst="rect">
            <a:avLst/>
          </a:prstGeom>
          <a:noFill/>
          <a:ln/>
        </p:spPr>
        <p:txBody>
          <a:bodyPr wrap="square" lIns="0" tIns="0" rIns="0" bIns="0"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未確定　［商品選定を開く］</a:t>
            </a:r>
            <a:endParaRPr lang="en-US" sz="900" dirty="0"/>
          </a:p>
        </p:txBody>
      </p:sp>
      <p:sp>
        <p:nvSpPr>
          <p:cNvPr id="50" name="Text 48"/>
          <p:cNvSpPr txBox="1"/>
          <p:nvPr/>
        </p:nvSpPr>
        <p:spPr>
          <a:xfrm>
            <a:off x="2560320" y="2980944"/>
            <a:ext cx="1097280" cy="310896"/>
          </a:xfrm>
          <a:prstGeom prst="rect">
            <a:avLst/>
          </a:prstGeom>
          <a:noFill/>
          <a:ln/>
        </p:spPr>
        <p:txBody>
          <a:bodyPr wrap="square" lIns="0" tIns="0" rIns="0" bIns="0" rtlCol="0" anchor="ctr"/>
          <a:lstStyle/>
          <a:p>
            <a:pPr indent="0" marL="0">
              <a:buNone/>
            </a:pPr>
            <a:r>
              <a:rPr lang="en-US" sz="900" b="1" dirty="0">
                <a:solidFill>
                  <a:srgbClr val="6B7280"/>
                </a:solidFill>
                <a:latin typeface="Meiryo UI" pitchFamily="34" charset="0"/>
                <a:ea typeface="Meiryo UI" pitchFamily="34" charset="-122"/>
                <a:cs typeface="Meiryo UI" pitchFamily="34" charset="-120"/>
              </a:rPr>
              <a:t>コピー</a:t>
            </a:r>
            <a:endParaRPr lang="en-US" sz="900" dirty="0"/>
          </a:p>
        </p:txBody>
      </p:sp>
      <p:sp>
        <p:nvSpPr>
          <p:cNvPr id="51" name="Text 49"/>
          <p:cNvSpPr txBox="1"/>
          <p:nvPr/>
        </p:nvSpPr>
        <p:spPr>
          <a:xfrm>
            <a:off x="3657600" y="2980944"/>
            <a:ext cx="4572000" cy="310896"/>
          </a:xfrm>
          <a:prstGeom prst="rect">
            <a:avLst/>
          </a:prstGeom>
          <a:noFill/>
          <a:ln/>
        </p:spPr>
        <p:txBody>
          <a:bodyPr wrap="square" lIns="0" tIns="0" rIns="0" bIns="0"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未確定</a:t>
            </a:r>
            <a:endParaRPr lang="en-US" sz="900" dirty="0"/>
          </a:p>
        </p:txBody>
      </p:sp>
      <p:sp>
        <p:nvSpPr>
          <p:cNvPr id="52" name="Text 50"/>
          <p:cNvSpPr txBox="1"/>
          <p:nvPr/>
        </p:nvSpPr>
        <p:spPr>
          <a:xfrm>
            <a:off x="2560320" y="3364992"/>
            <a:ext cx="1097280" cy="310896"/>
          </a:xfrm>
          <a:prstGeom prst="rect">
            <a:avLst/>
          </a:prstGeom>
          <a:noFill/>
          <a:ln/>
        </p:spPr>
        <p:txBody>
          <a:bodyPr wrap="square" lIns="0" tIns="0" rIns="0" bIns="0" rtlCol="0" anchor="ctr"/>
          <a:lstStyle/>
          <a:p>
            <a:pPr indent="0" marL="0">
              <a:buNone/>
            </a:pPr>
            <a:r>
              <a:rPr lang="en-US" sz="900" b="1" dirty="0">
                <a:solidFill>
                  <a:srgbClr val="6B7280"/>
                </a:solidFill>
                <a:latin typeface="Meiryo UI" pitchFamily="34" charset="0"/>
                <a:ea typeface="Meiryo UI" pitchFamily="34" charset="-122"/>
                <a:cs typeface="Meiryo UI" pitchFamily="34" charset="-120"/>
              </a:rPr>
              <a:t>制作指示</a:t>
            </a:r>
            <a:endParaRPr lang="en-US" sz="900" dirty="0"/>
          </a:p>
        </p:txBody>
      </p:sp>
      <p:sp>
        <p:nvSpPr>
          <p:cNvPr id="53" name="Text 51"/>
          <p:cNvSpPr txBox="1"/>
          <p:nvPr/>
        </p:nvSpPr>
        <p:spPr>
          <a:xfrm>
            <a:off x="3657600" y="3364992"/>
            <a:ext cx="4572000" cy="310896"/>
          </a:xfrm>
          <a:prstGeom prst="rect">
            <a:avLst/>
          </a:prstGeom>
          <a:noFill/>
          <a:ln/>
        </p:spPr>
        <p:txBody>
          <a:bodyPr wrap="square" lIns="0" tIns="0" rIns="0" bIns="0"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未確定</a:t>
            </a:r>
            <a:endParaRPr lang="en-US" sz="900" dirty="0"/>
          </a:p>
        </p:txBody>
      </p:sp>
      <p:sp>
        <p:nvSpPr>
          <p:cNvPr id="54" name="Shape 52"/>
          <p:cNvSpPr/>
          <p:nvPr/>
        </p:nvSpPr>
        <p:spPr>
          <a:xfrm>
            <a:off x="548640" y="1636776"/>
            <a:ext cx="11064240" cy="4352544"/>
          </a:xfrm>
          <a:prstGeom prst="rect">
            <a:avLst/>
          </a:prstGeom>
          <a:solidFill>
            <a:srgbClr val="1B2A49">
              <a:alpha val="45000"/>
            </a:srgbClr>
          </a:solidFill>
          <a:ln/>
        </p:spPr>
      </p:sp>
      <p:sp>
        <p:nvSpPr>
          <p:cNvPr id="55" name="Shape 53"/>
          <p:cNvSpPr/>
          <p:nvPr/>
        </p:nvSpPr>
        <p:spPr>
          <a:xfrm>
            <a:off x="3246120" y="1874520"/>
            <a:ext cx="8229600" cy="3977640"/>
          </a:xfrm>
          <a:prstGeom prst="roundRect">
            <a:avLst>
              <a:gd name="adj" fmla="val 1379"/>
            </a:avLst>
          </a:prstGeom>
          <a:solidFill>
            <a:srgbClr val="FFFFFF"/>
          </a:solidFill>
          <a:ln/>
          <a:effectLst>
            <a:outerShdw sx="100000" sy="100000" kx="0" ky="0" algn="bl" rotWithShape="0" blurRad="50800" dist="19050" dir="5400000">
              <a:srgbClr val="000000">
                <a:alpha val="12000"/>
              </a:srgbClr>
            </a:outerShdw>
          </a:effectLst>
        </p:spPr>
      </p:sp>
      <p:sp>
        <p:nvSpPr>
          <p:cNvPr id="56" name="Text 54"/>
          <p:cNvSpPr txBox="1"/>
          <p:nvPr/>
        </p:nvSpPr>
        <p:spPr>
          <a:xfrm>
            <a:off x="3429000" y="1947672"/>
            <a:ext cx="3200400" cy="292608"/>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商品選定｜10/5（日）メール</a:t>
            </a:r>
            <a:endParaRPr lang="en-US" sz="1050" dirty="0"/>
          </a:p>
        </p:txBody>
      </p:sp>
      <p:sp>
        <p:nvSpPr>
          <p:cNvPr id="57" name="Shape 55"/>
          <p:cNvSpPr/>
          <p:nvPr/>
        </p:nvSpPr>
        <p:spPr>
          <a:xfrm>
            <a:off x="6766560" y="1965960"/>
            <a:ext cx="914400" cy="256032"/>
          </a:xfrm>
          <a:prstGeom prst="roundRect">
            <a:avLst>
              <a:gd name="adj" fmla="val 50000"/>
            </a:avLst>
          </a:prstGeom>
          <a:solidFill>
            <a:srgbClr val="D9F2F1"/>
          </a:solidFill>
          <a:ln/>
        </p:spPr>
      </p:sp>
      <p:sp>
        <p:nvSpPr>
          <p:cNvPr id="58" name="Text 56"/>
          <p:cNvSpPr txBox="1"/>
          <p:nvPr/>
        </p:nvSpPr>
        <p:spPr>
          <a:xfrm>
            <a:off x="6766560" y="1965960"/>
            <a:ext cx="914400" cy="256032"/>
          </a:xfrm>
          <a:prstGeom prst="rect">
            <a:avLst/>
          </a:prstGeom>
          <a:noFill/>
          <a:ln/>
        </p:spPr>
        <p:txBody>
          <a:bodyPr wrap="square" lIns="762" tIns="762" rIns="762" bIns="762" rtlCol="0" anchor="ctr"/>
          <a:lstStyle/>
          <a:p>
            <a:pPr algn="ctr" indent="0" marL="0">
              <a:buNone/>
            </a:pPr>
            <a:r>
              <a:rPr lang="en-US" sz="800" b="1" dirty="0">
                <a:solidFill>
                  <a:srgbClr val="0E9F9A"/>
                </a:solidFill>
                <a:latin typeface="Meiryo UI" pitchFamily="34" charset="0"/>
                <a:ea typeface="Meiryo UI" pitchFamily="34" charset="-122"/>
                <a:cs typeface="Meiryo UI" pitchFamily="34" charset="-120"/>
              </a:rPr>
              <a:t>✔ テーマ</a:t>
            </a:r>
            <a:endParaRPr lang="en-US" sz="800" dirty="0"/>
          </a:p>
        </p:txBody>
      </p:sp>
      <p:sp>
        <p:nvSpPr>
          <p:cNvPr id="59" name="Shape 57"/>
          <p:cNvSpPr/>
          <p:nvPr/>
        </p:nvSpPr>
        <p:spPr>
          <a:xfrm>
            <a:off x="7772400" y="1965960"/>
            <a:ext cx="914400" cy="256032"/>
          </a:xfrm>
          <a:prstGeom prst="roundRect">
            <a:avLst>
              <a:gd name="adj" fmla="val 50000"/>
            </a:avLst>
          </a:prstGeom>
          <a:solidFill>
            <a:srgbClr val="0E9F9A"/>
          </a:solidFill>
          <a:ln/>
        </p:spPr>
      </p:sp>
      <p:sp>
        <p:nvSpPr>
          <p:cNvPr id="60" name="Text 58"/>
          <p:cNvSpPr txBox="1"/>
          <p:nvPr/>
        </p:nvSpPr>
        <p:spPr>
          <a:xfrm>
            <a:off x="7772400" y="1965960"/>
            <a:ext cx="914400" cy="256032"/>
          </a:xfrm>
          <a:prstGeom prst="rect">
            <a:avLst/>
          </a:prstGeom>
          <a:noFill/>
          <a:ln/>
        </p:spPr>
        <p:txBody>
          <a:bodyPr wrap="square" lIns="762" tIns="762" rIns="762" bIns="762"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商品選定</a:t>
            </a:r>
            <a:endParaRPr lang="en-US" sz="800" dirty="0"/>
          </a:p>
        </p:txBody>
      </p:sp>
      <p:sp>
        <p:nvSpPr>
          <p:cNvPr id="61" name="Shape 59"/>
          <p:cNvSpPr/>
          <p:nvPr/>
        </p:nvSpPr>
        <p:spPr>
          <a:xfrm>
            <a:off x="8778240" y="1965960"/>
            <a:ext cx="914400" cy="256032"/>
          </a:xfrm>
          <a:prstGeom prst="roundRect">
            <a:avLst>
              <a:gd name="adj" fmla="val 50000"/>
            </a:avLst>
          </a:prstGeom>
          <a:solidFill>
            <a:srgbClr val="F3F5F8"/>
          </a:solidFill>
          <a:ln/>
        </p:spPr>
      </p:sp>
      <p:sp>
        <p:nvSpPr>
          <p:cNvPr id="62" name="Text 60"/>
          <p:cNvSpPr txBox="1"/>
          <p:nvPr/>
        </p:nvSpPr>
        <p:spPr>
          <a:xfrm>
            <a:off x="8778240" y="1965960"/>
            <a:ext cx="914400" cy="256032"/>
          </a:xfrm>
          <a:prstGeom prst="rect">
            <a:avLst/>
          </a:prstGeom>
          <a:noFill/>
          <a:ln/>
        </p:spPr>
        <p:txBody>
          <a:bodyPr wrap="square" lIns="762" tIns="762" rIns="762" bIns="762" rtlCol="0" anchor="ctr"/>
          <a:lstStyle/>
          <a:p>
            <a:pPr algn="ctr" indent="0" marL="0">
              <a:buNone/>
            </a:pPr>
            <a:r>
              <a:rPr lang="en-US" sz="800" b="1" dirty="0">
                <a:solidFill>
                  <a:srgbClr val="6B7280"/>
                </a:solidFill>
                <a:latin typeface="Meiryo UI" pitchFamily="34" charset="0"/>
                <a:ea typeface="Meiryo UI" pitchFamily="34" charset="-122"/>
                <a:cs typeface="Meiryo UI" pitchFamily="34" charset="-120"/>
              </a:rPr>
              <a:t>コピー</a:t>
            </a:r>
            <a:endParaRPr lang="en-US" sz="800" dirty="0"/>
          </a:p>
        </p:txBody>
      </p:sp>
      <p:sp>
        <p:nvSpPr>
          <p:cNvPr id="63" name="Shape 61"/>
          <p:cNvSpPr/>
          <p:nvPr/>
        </p:nvSpPr>
        <p:spPr>
          <a:xfrm>
            <a:off x="9784080" y="1965960"/>
            <a:ext cx="914400" cy="256032"/>
          </a:xfrm>
          <a:prstGeom prst="roundRect">
            <a:avLst>
              <a:gd name="adj" fmla="val 50000"/>
            </a:avLst>
          </a:prstGeom>
          <a:solidFill>
            <a:srgbClr val="F3F5F8"/>
          </a:solidFill>
          <a:ln/>
        </p:spPr>
      </p:sp>
      <p:sp>
        <p:nvSpPr>
          <p:cNvPr id="64" name="Text 62"/>
          <p:cNvSpPr txBox="1"/>
          <p:nvPr/>
        </p:nvSpPr>
        <p:spPr>
          <a:xfrm>
            <a:off x="9784080" y="1965960"/>
            <a:ext cx="914400" cy="256032"/>
          </a:xfrm>
          <a:prstGeom prst="rect">
            <a:avLst/>
          </a:prstGeom>
          <a:noFill/>
          <a:ln/>
        </p:spPr>
        <p:txBody>
          <a:bodyPr wrap="square" lIns="762" tIns="762" rIns="762" bIns="762" rtlCol="0" anchor="ctr"/>
          <a:lstStyle/>
          <a:p>
            <a:pPr algn="ctr" indent="0" marL="0">
              <a:buNone/>
            </a:pPr>
            <a:r>
              <a:rPr lang="en-US" sz="800" b="1" dirty="0">
                <a:solidFill>
                  <a:srgbClr val="6B7280"/>
                </a:solidFill>
                <a:latin typeface="Meiryo UI" pitchFamily="34" charset="0"/>
                <a:ea typeface="Meiryo UI" pitchFamily="34" charset="-122"/>
                <a:cs typeface="Meiryo UI" pitchFamily="34" charset="-120"/>
              </a:rPr>
              <a:t>制作指示</a:t>
            </a:r>
            <a:endParaRPr lang="en-US" sz="800" dirty="0"/>
          </a:p>
        </p:txBody>
      </p:sp>
      <p:sp>
        <p:nvSpPr>
          <p:cNvPr id="65" name="Text 63"/>
          <p:cNvSpPr txBox="1"/>
          <p:nvPr/>
        </p:nvSpPr>
        <p:spPr>
          <a:xfrm>
            <a:off x="11155680" y="1929384"/>
            <a:ext cx="274320" cy="274320"/>
          </a:xfrm>
          <a:prstGeom prst="rect">
            <a:avLst/>
          </a:prstGeom>
          <a:noFill/>
          <a:ln/>
        </p:spPr>
        <p:txBody>
          <a:bodyPr wrap="square" lIns="0" tIns="0" rIns="0" bIns="0" rtlCol="0" anchor="ctr"/>
          <a:lstStyle/>
          <a:p>
            <a:pPr algn="ctr" indent="0" marL="0">
              <a:buNone/>
            </a:pPr>
            <a:r>
              <a:rPr lang="en-US" sz="1200" dirty="0">
                <a:solidFill>
                  <a:srgbClr val="6B7280"/>
                </a:solidFill>
                <a:latin typeface="Meiryo UI" pitchFamily="34" charset="0"/>
                <a:ea typeface="Meiryo UI" pitchFamily="34" charset="-122"/>
                <a:cs typeface="Meiryo UI" pitchFamily="34" charset="-120"/>
              </a:rPr>
              <a:t>×</a:t>
            </a:r>
            <a:endParaRPr lang="en-US" sz="1200" dirty="0"/>
          </a:p>
        </p:txBody>
      </p:sp>
      <p:sp>
        <p:nvSpPr>
          <p:cNvPr id="66" name="Shape 64"/>
          <p:cNvSpPr/>
          <p:nvPr/>
        </p:nvSpPr>
        <p:spPr>
          <a:xfrm>
            <a:off x="3246120" y="2295144"/>
            <a:ext cx="8229600" cy="0"/>
          </a:xfrm>
          <a:prstGeom prst="line">
            <a:avLst/>
          </a:prstGeom>
          <a:noFill/>
          <a:ln w="9525">
            <a:solidFill>
              <a:srgbClr val="D5DBE3"/>
            </a:solidFill>
            <a:prstDash val="solid"/>
          </a:ln>
        </p:spPr>
      </p:sp>
      <p:sp>
        <p:nvSpPr>
          <p:cNvPr id="67" name="Text 65"/>
          <p:cNvSpPr txBox="1"/>
          <p:nvPr/>
        </p:nvSpPr>
        <p:spPr>
          <a:xfrm>
            <a:off x="3383280" y="2377440"/>
            <a:ext cx="2560320" cy="219456"/>
          </a:xfrm>
          <a:prstGeom prst="rect">
            <a:avLst/>
          </a:prstGeom>
          <a:noFill/>
          <a:ln/>
        </p:spPr>
        <p:txBody>
          <a:bodyPr wrap="square" lIns="0" tIns="0" rIns="0" bIns="0" rtlCol="0" anchor="t"/>
          <a:lstStyle/>
          <a:p>
            <a:pPr indent="0" marL="0">
              <a:buNone/>
            </a:pPr>
            <a:r>
              <a:rPr lang="en-US" sz="850" b="1" dirty="0">
                <a:solidFill>
                  <a:srgbClr val="0E9F9A"/>
                </a:solidFill>
                <a:latin typeface="Meiryo UI" pitchFamily="34" charset="0"/>
                <a:ea typeface="Meiryo UI" pitchFamily="34" charset="-122"/>
                <a:cs typeface="Meiryo UI" pitchFamily="34" charset="-120"/>
              </a:rPr>
              <a:t>AIの推奨と理由</a:t>
            </a:r>
            <a:endParaRPr lang="en-US" sz="850" dirty="0"/>
          </a:p>
        </p:txBody>
      </p:sp>
      <p:sp>
        <p:nvSpPr>
          <p:cNvPr id="68" name="Shape 66"/>
          <p:cNvSpPr/>
          <p:nvPr/>
        </p:nvSpPr>
        <p:spPr>
          <a:xfrm>
            <a:off x="3383280" y="2624328"/>
            <a:ext cx="2560320" cy="320040"/>
          </a:xfrm>
          <a:prstGeom prst="roundRect">
            <a:avLst>
              <a:gd name="adj" fmla="val 14286"/>
            </a:avLst>
          </a:prstGeom>
          <a:solidFill>
            <a:srgbClr val="D9F2F1"/>
          </a:solidFill>
          <a:ln/>
        </p:spPr>
      </p:sp>
      <p:sp>
        <p:nvSpPr>
          <p:cNvPr id="69" name="Text 67"/>
          <p:cNvSpPr txBox="1"/>
          <p:nvPr/>
        </p:nvSpPr>
        <p:spPr>
          <a:xfrm>
            <a:off x="3456432" y="2624328"/>
            <a:ext cx="640080" cy="320040"/>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商品B</a:t>
            </a:r>
            <a:endParaRPr lang="en-US" sz="800" dirty="0"/>
          </a:p>
        </p:txBody>
      </p:sp>
      <p:sp>
        <p:nvSpPr>
          <p:cNvPr id="70" name="Text 68"/>
          <p:cNvSpPr txBox="1"/>
          <p:nvPr/>
        </p:nvSpPr>
        <p:spPr>
          <a:xfrm>
            <a:off x="4041648" y="2624328"/>
            <a:ext cx="1874520" cy="320040"/>
          </a:xfrm>
          <a:prstGeom prst="rect">
            <a:avLst/>
          </a:prstGeom>
          <a:noFill/>
          <a:ln/>
        </p:spPr>
        <p:txBody>
          <a:bodyPr wrap="square" lIns="0" tIns="0" rIns="0" bIns="0" rtlCol="0" anchor="ctr"/>
          <a:lstStyle/>
          <a:p>
            <a:pPr indent="0" marL="0">
              <a:buNone/>
            </a:pPr>
            <a:r>
              <a:rPr lang="en-US" sz="650" dirty="0">
                <a:solidFill>
                  <a:srgbClr val="2B2B2B"/>
                </a:solidFill>
                <a:latin typeface="Meiryo UI" pitchFamily="34" charset="0"/>
                <a:ea typeface="Meiryo UI" pitchFamily="34" charset="-122"/>
                <a:cs typeface="Meiryo UI" pitchFamily="34" charset="-120"/>
              </a:rPr>
              <a:t>秋の新作・在庫多・前年同期に反応大</a:t>
            </a:r>
            <a:endParaRPr lang="en-US" sz="650" dirty="0"/>
          </a:p>
        </p:txBody>
      </p:sp>
      <p:sp>
        <p:nvSpPr>
          <p:cNvPr id="71" name="Shape 69"/>
          <p:cNvSpPr/>
          <p:nvPr/>
        </p:nvSpPr>
        <p:spPr>
          <a:xfrm>
            <a:off x="3383280" y="2990088"/>
            <a:ext cx="2560320" cy="320040"/>
          </a:xfrm>
          <a:prstGeom prst="roundRect">
            <a:avLst>
              <a:gd name="adj" fmla="val 14286"/>
            </a:avLst>
          </a:prstGeom>
          <a:solidFill>
            <a:srgbClr val="D9F2F1"/>
          </a:solidFill>
          <a:ln/>
        </p:spPr>
      </p:sp>
      <p:sp>
        <p:nvSpPr>
          <p:cNvPr id="72" name="Text 70"/>
          <p:cNvSpPr txBox="1"/>
          <p:nvPr/>
        </p:nvSpPr>
        <p:spPr>
          <a:xfrm>
            <a:off x="3456432" y="2990088"/>
            <a:ext cx="640080" cy="320040"/>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商品E</a:t>
            </a:r>
            <a:endParaRPr lang="en-US" sz="800" dirty="0"/>
          </a:p>
        </p:txBody>
      </p:sp>
      <p:sp>
        <p:nvSpPr>
          <p:cNvPr id="73" name="Text 71"/>
          <p:cNvSpPr txBox="1"/>
          <p:nvPr/>
        </p:nvSpPr>
        <p:spPr>
          <a:xfrm>
            <a:off x="4041648" y="2990088"/>
            <a:ext cx="1874520" cy="320040"/>
          </a:xfrm>
          <a:prstGeom prst="rect">
            <a:avLst/>
          </a:prstGeom>
          <a:noFill/>
          <a:ln/>
        </p:spPr>
        <p:txBody>
          <a:bodyPr wrap="square" lIns="0" tIns="0" rIns="0" bIns="0" rtlCol="0" anchor="ctr"/>
          <a:lstStyle/>
          <a:p>
            <a:pPr indent="0" marL="0">
              <a:buNone/>
            </a:pPr>
            <a:r>
              <a:rPr lang="en-US" sz="650" dirty="0">
                <a:solidFill>
                  <a:srgbClr val="2B2B2B"/>
                </a:solidFill>
                <a:latin typeface="Meiryo UI" pitchFamily="34" charset="0"/>
                <a:ea typeface="Meiryo UI" pitchFamily="34" charset="-122"/>
                <a:cs typeface="Meiryo UI" pitchFamily="34" charset="-120"/>
              </a:rPr>
              <a:t>売上上昇中・週末は気温低下の予報</a:t>
            </a:r>
            <a:endParaRPr lang="en-US" sz="650" dirty="0"/>
          </a:p>
        </p:txBody>
      </p:sp>
      <p:sp>
        <p:nvSpPr>
          <p:cNvPr id="74" name="Shape 72"/>
          <p:cNvSpPr/>
          <p:nvPr/>
        </p:nvSpPr>
        <p:spPr>
          <a:xfrm>
            <a:off x="3383280" y="3355848"/>
            <a:ext cx="2560320" cy="320040"/>
          </a:xfrm>
          <a:prstGeom prst="roundRect">
            <a:avLst>
              <a:gd name="adj" fmla="val 14286"/>
            </a:avLst>
          </a:prstGeom>
          <a:solidFill>
            <a:srgbClr val="D9F2F1"/>
          </a:solidFill>
          <a:ln/>
        </p:spPr>
      </p:sp>
      <p:sp>
        <p:nvSpPr>
          <p:cNvPr id="75" name="Text 73"/>
          <p:cNvSpPr txBox="1"/>
          <p:nvPr/>
        </p:nvSpPr>
        <p:spPr>
          <a:xfrm>
            <a:off x="3456432" y="3355848"/>
            <a:ext cx="640080" cy="320040"/>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商品D</a:t>
            </a:r>
            <a:endParaRPr lang="en-US" sz="800" dirty="0"/>
          </a:p>
        </p:txBody>
      </p:sp>
      <p:sp>
        <p:nvSpPr>
          <p:cNvPr id="76" name="Text 74"/>
          <p:cNvSpPr txBox="1"/>
          <p:nvPr/>
        </p:nvSpPr>
        <p:spPr>
          <a:xfrm>
            <a:off x="4041648" y="3355848"/>
            <a:ext cx="1874520" cy="320040"/>
          </a:xfrm>
          <a:prstGeom prst="rect">
            <a:avLst/>
          </a:prstGeom>
          <a:noFill/>
          <a:ln/>
        </p:spPr>
        <p:txBody>
          <a:bodyPr wrap="square" lIns="0" tIns="0" rIns="0" bIns="0" rtlCol="0" anchor="ctr"/>
          <a:lstStyle/>
          <a:p>
            <a:pPr indent="0" marL="0">
              <a:buNone/>
            </a:pPr>
            <a:r>
              <a:rPr lang="en-US" sz="650" dirty="0">
                <a:solidFill>
                  <a:srgbClr val="2B2B2B"/>
                </a:solidFill>
                <a:latin typeface="Meiryo UI" pitchFamily="34" charset="0"/>
                <a:ea typeface="Meiryo UI" pitchFamily="34" charset="-122"/>
                <a:cs typeface="Meiryo UI" pitchFamily="34" charset="-120"/>
              </a:rPr>
              <a:t>レビュー高評価・テーマと合う</a:t>
            </a:r>
            <a:endParaRPr lang="en-US" sz="650" dirty="0"/>
          </a:p>
        </p:txBody>
      </p:sp>
      <p:sp>
        <p:nvSpPr>
          <p:cNvPr id="77" name="Text 75"/>
          <p:cNvSpPr txBox="1"/>
          <p:nvPr/>
        </p:nvSpPr>
        <p:spPr>
          <a:xfrm>
            <a:off x="3383280" y="3767328"/>
            <a:ext cx="2560320" cy="219456"/>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候補商品（全件・ドラッグで入れ替え）</a:t>
            </a:r>
            <a:endParaRPr lang="en-US" sz="850" dirty="0"/>
          </a:p>
        </p:txBody>
      </p:sp>
      <p:sp>
        <p:nvSpPr>
          <p:cNvPr id="78" name="Shape 76"/>
          <p:cNvSpPr/>
          <p:nvPr/>
        </p:nvSpPr>
        <p:spPr>
          <a:xfrm>
            <a:off x="3383280" y="4014216"/>
            <a:ext cx="2560320" cy="320040"/>
          </a:xfrm>
          <a:prstGeom prst="roundRect">
            <a:avLst>
              <a:gd name="adj" fmla="val 14286"/>
            </a:avLst>
          </a:prstGeom>
          <a:solidFill>
            <a:srgbClr val="F3F5F8"/>
          </a:solidFill>
          <a:ln/>
        </p:spPr>
      </p:sp>
      <p:sp>
        <p:nvSpPr>
          <p:cNvPr id="79" name="Text 77"/>
          <p:cNvSpPr txBox="1"/>
          <p:nvPr/>
        </p:nvSpPr>
        <p:spPr>
          <a:xfrm>
            <a:off x="3419856" y="4014216"/>
            <a:ext cx="182880" cy="320040"/>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a:t>
            </a:r>
            <a:endParaRPr lang="en-US" sz="750" dirty="0"/>
          </a:p>
        </p:txBody>
      </p:sp>
      <p:sp>
        <p:nvSpPr>
          <p:cNvPr id="80" name="Text 78"/>
          <p:cNvSpPr txBox="1"/>
          <p:nvPr/>
        </p:nvSpPr>
        <p:spPr>
          <a:xfrm>
            <a:off x="3602736" y="4023360"/>
            <a:ext cx="2286000" cy="164592"/>
          </a:xfrm>
          <a:prstGeom prst="rect">
            <a:avLst/>
          </a:prstGeom>
          <a:noFill/>
          <a:ln/>
        </p:spPr>
        <p:txBody>
          <a:bodyPr wrap="square" lIns="0" tIns="0" rIns="0" bIns="0" rtlCol="0" anchor="t"/>
          <a:lstStyle/>
          <a:p>
            <a:pPr indent="0" marL="0">
              <a:buNone/>
            </a:pPr>
            <a:r>
              <a:rPr lang="en-US" sz="750" b="1" dirty="0">
                <a:solidFill>
                  <a:srgbClr val="1B2A49"/>
                </a:solidFill>
                <a:latin typeface="Meiryo UI" pitchFamily="34" charset="0"/>
                <a:ea typeface="Meiryo UI" pitchFamily="34" charset="-122"/>
                <a:cs typeface="Meiryo UI" pitchFamily="34" charset="-120"/>
              </a:rPr>
              <a:t>商品F｜ウールコート</a:t>
            </a:r>
            <a:endParaRPr lang="en-US" sz="750" dirty="0"/>
          </a:p>
        </p:txBody>
      </p:sp>
      <p:sp>
        <p:nvSpPr>
          <p:cNvPr id="81" name="Text 79"/>
          <p:cNvSpPr txBox="1"/>
          <p:nvPr/>
        </p:nvSpPr>
        <p:spPr>
          <a:xfrm>
            <a:off x="3602736" y="4178808"/>
            <a:ext cx="2286000" cy="137160"/>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在庫中｜レビュー4.6</a:t>
            </a:r>
            <a:endParaRPr lang="en-US" sz="650" dirty="0"/>
          </a:p>
        </p:txBody>
      </p:sp>
      <p:sp>
        <p:nvSpPr>
          <p:cNvPr id="82" name="Shape 80"/>
          <p:cNvSpPr/>
          <p:nvPr/>
        </p:nvSpPr>
        <p:spPr>
          <a:xfrm>
            <a:off x="3383280" y="4379976"/>
            <a:ext cx="2560320" cy="320040"/>
          </a:xfrm>
          <a:prstGeom prst="roundRect">
            <a:avLst>
              <a:gd name="adj" fmla="val 14286"/>
            </a:avLst>
          </a:prstGeom>
          <a:solidFill>
            <a:srgbClr val="FDEBD3"/>
          </a:solidFill>
          <a:ln w="12700">
            <a:solidFill>
              <a:srgbClr val="E8912D"/>
            </a:solidFill>
            <a:prstDash val="solid"/>
          </a:ln>
        </p:spPr>
      </p:sp>
      <p:sp>
        <p:nvSpPr>
          <p:cNvPr id="83" name="Text 81"/>
          <p:cNvSpPr txBox="1"/>
          <p:nvPr/>
        </p:nvSpPr>
        <p:spPr>
          <a:xfrm>
            <a:off x="3419856" y="4379976"/>
            <a:ext cx="182880" cy="320040"/>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a:t>
            </a:r>
            <a:endParaRPr lang="en-US" sz="750" dirty="0"/>
          </a:p>
        </p:txBody>
      </p:sp>
      <p:sp>
        <p:nvSpPr>
          <p:cNvPr id="84" name="Text 82"/>
          <p:cNvSpPr txBox="1"/>
          <p:nvPr/>
        </p:nvSpPr>
        <p:spPr>
          <a:xfrm>
            <a:off x="3602736" y="4389120"/>
            <a:ext cx="2286000" cy="164592"/>
          </a:xfrm>
          <a:prstGeom prst="rect">
            <a:avLst/>
          </a:prstGeom>
          <a:noFill/>
          <a:ln/>
        </p:spPr>
        <p:txBody>
          <a:bodyPr wrap="square" lIns="0" tIns="0" rIns="0" bIns="0" rtlCol="0" anchor="t"/>
          <a:lstStyle/>
          <a:p>
            <a:pPr indent="0" marL="0">
              <a:buNone/>
            </a:pPr>
            <a:r>
              <a:rPr lang="en-US" sz="750" b="1" dirty="0">
                <a:solidFill>
                  <a:srgbClr val="1B2A49"/>
                </a:solidFill>
                <a:latin typeface="Meiryo UI" pitchFamily="34" charset="0"/>
                <a:ea typeface="Meiryo UI" pitchFamily="34" charset="-122"/>
                <a:cs typeface="Meiryo UI" pitchFamily="34" charset="-120"/>
              </a:rPr>
              <a:t>商品G｜ブーツ</a:t>
            </a:r>
            <a:endParaRPr lang="en-US" sz="750" dirty="0"/>
          </a:p>
        </p:txBody>
      </p:sp>
      <p:sp>
        <p:nvSpPr>
          <p:cNvPr id="85" name="Text 83"/>
          <p:cNvSpPr txBox="1"/>
          <p:nvPr/>
        </p:nvSpPr>
        <p:spPr>
          <a:xfrm>
            <a:off x="3602736" y="4544568"/>
            <a:ext cx="2286000" cy="137160"/>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在庫多｜雨予報◎</a:t>
            </a:r>
            <a:endParaRPr lang="en-US" sz="650" dirty="0"/>
          </a:p>
        </p:txBody>
      </p:sp>
      <p:sp>
        <p:nvSpPr>
          <p:cNvPr id="86" name="Shape 84"/>
          <p:cNvSpPr/>
          <p:nvPr/>
        </p:nvSpPr>
        <p:spPr>
          <a:xfrm>
            <a:off x="3383280" y="4745736"/>
            <a:ext cx="2560320" cy="320040"/>
          </a:xfrm>
          <a:prstGeom prst="roundRect">
            <a:avLst>
              <a:gd name="adj" fmla="val 14286"/>
            </a:avLst>
          </a:prstGeom>
          <a:solidFill>
            <a:srgbClr val="F3F5F8"/>
          </a:solidFill>
          <a:ln/>
        </p:spPr>
      </p:sp>
      <p:sp>
        <p:nvSpPr>
          <p:cNvPr id="87" name="Text 85"/>
          <p:cNvSpPr txBox="1"/>
          <p:nvPr/>
        </p:nvSpPr>
        <p:spPr>
          <a:xfrm>
            <a:off x="3419856" y="4745736"/>
            <a:ext cx="182880" cy="320040"/>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a:t>
            </a:r>
            <a:endParaRPr lang="en-US" sz="750" dirty="0"/>
          </a:p>
        </p:txBody>
      </p:sp>
      <p:sp>
        <p:nvSpPr>
          <p:cNvPr id="88" name="Text 86"/>
          <p:cNvSpPr txBox="1"/>
          <p:nvPr/>
        </p:nvSpPr>
        <p:spPr>
          <a:xfrm>
            <a:off x="3602736" y="4754880"/>
            <a:ext cx="2286000" cy="164592"/>
          </a:xfrm>
          <a:prstGeom prst="rect">
            <a:avLst/>
          </a:prstGeom>
          <a:noFill/>
          <a:ln/>
        </p:spPr>
        <p:txBody>
          <a:bodyPr wrap="square" lIns="0" tIns="0" rIns="0" bIns="0" rtlCol="0" anchor="t"/>
          <a:lstStyle/>
          <a:p>
            <a:pPr indent="0" marL="0">
              <a:buNone/>
            </a:pPr>
            <a:r>
              <a:rPr lang="en-US" sz="750" b="1" dirty="0">
                <a:solidFill>
                  <a:srgbClr val="1B2A49"/>
                </a:solidFill>
                <a:latin typeface="Meiryo UI" pitchFamily="34" charset="0"/>
                <a:ea typeface="Meiryo UI" pitchFamily="34" charset="-122"/>
                <a:cs typeface="Meiryo UI" pitchFamily="34" charset="-120"/>
              </a:rPr>
              <a:t>商品H｜マフラー</a:t>
            </a:r>
            <a:endParaRPr lang="en-US" sz="750" dirty="0"/>
          </a:p>
        </p:txBody>
      </p:sp>
      <p:sp>
        <p:nvSpPr>
          <p:cNvPr id="89" name="Text 87"/>
          <p:cNvSpPr txBox="1"/>
          <p:nvPr/>
        </p:nvSpPr>
        <p:spPr>
          <a:xfrm>
            <a:off x="3602736" y="4910328"/>
            <a:ext cx="2286000" cy="137160"/>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在庫少｜売上↑</a:t>
            </a:r>
            <a:endParaRPr lang="en-US" sz="650" dirty="0"/>
          </a:p>
        </p:txBody>
      </p:sp>
      <p:sp>
        <p:nvSpPr>
          <p:cNvPr id="90" name="Shape 88"/>
          <p:cNvSpPr/>
          <p:nvPr/>
        </p:nvSpPr>
        <p:spPr>
          <a:xfrm>
            <a:off x="3383280" y="5111496"/>
            <a:ext cx="2560320" cy="320040"/>
          </a:xfrm>
          <a:prstGeom prst="roundRect">
            <a:avLst>
              <a:gd name="adj" fmla="val 14286"/>
            </a:avLst>
          </a:prstGeom>
          <a:solidFill>
            <a:srgbClr val="F3F5F8"/>
          </a:solidFill>
          <a:ln/>
        </p:spPr>
      </p:sp>
      <p:sp>
        <p:nvSpPr>
          <p:cNvPr id="91" name="Text 89"/>
          <p:cNvSpPr txBox="1"/>
          <p:nvPr/>
        </p:nvSpPr>
        <p:spPr>
          <a:xfrm>
            <a:off x="3419856" y="5111496"/>
            <a:ext cx="182880" cy="320040"/>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a:t>
            </a:r>
            <a:endParaRPr lang="en-US" sz="750" dirty="0"/>
          </a:p>
        </p:txBody>
      </p:sp>
      <p:sp>
        <p:nvSpPr>
          <p:cNvPr id="92" name="Text 90"/>
          <p:cNvSpPr txBox="1"/>
          <p:nvPr/>
        </p:nvSpPr>
        <p:spPr>
          <a:xfrm>
            <a:off x="3602736" y="5120640"/>
            <a:ext cx="2286000" cy="164592"/>
          </a:xfrm>
          <a:prstGeom prst="rect">
            <a:avLst/>
          </a:prstGeom>
          <a:noFill/>
          <a:ln/>
        </p:spPr>
        <p:txBody>
          <a:bodyPr wrap="square" lIns="0" tIns="0" rIns="0" bIns="0" rtlCol="0" anchor="t"/>
          <a:lstStyle/>
          <a:p>
            <a:pPr indent="0" marL="0">
              <a:buNone/>
            </a:pPr>
            <a:r>
              <a:rPr lang="en-US" sz="750" b="1" dirty="0">
                <a:solidFill>
                  <a:srgbClr val="1B2A49"/>
                </a:solidFill>
                <a:latin typeface="Meiryo UI" pitchFamily="34" charset="0"/>
                <a:ea typeface="Meiryo UI" pitchFamily="34" charset="-122"/>
                <a:cs typeface="Meiryo UI" pitchFamily="34" charset="-120"/>
              </a:rPr>
              <a:t>商品I｜ニット帽</a:t>
            </a:r>
            <a:endParaRPr lang="en-US" sz="750" dirty="0"/>
          </a:p>
        </p:txBody>
      </p:sp>
      <p:sp>
        <p:nvSpPr>
          <p:cNvPr id="93" name="Text 91"/>
          <p:cNvSpPr txBox="1"/>
          <p:nvPr/>
        </p:nvSpPr>
        <p:spPr>
          <a:xfrm>
            <a:off x="3602736" y="5276088"/>
            <a:ext cx="2286000" cy="137160"/>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在庫多｜新作</a:t>
            </a:r>
            <a:endParaRPr lang="en-US" sz="650" dirty="0"/>
          </a:p>
        </p:txBody>
      </p:sp>
      <p:sp>
        <p:nvSpPr>
          <p:cNvPr id="94" name="Text 92"/>
          <p:cNvSpPr txBox="1"/>
          <p:nvPr/>
        </p:nvSpPr>
        <p:spPr>
          <a:xfrm>
            <a:off x="6080760" y="2377440"/>
            <a:ext cx="1828800" cy="219456"/>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掲載枠</a:t>
            </a:r>
            <a:endParaRPr lang="en-US" sz="850" dirty="0"/>
          </a:p>
        </p:txBody>
      </p:sp>
      <p:sp>
        <p:nvSpPr>
          <p:cNvPr id="95" name="Shape 93"/>
          <p:cNvSpPr/>
          <p:nvPr/>
        </p:nvSpPr>
        <p:spPr>
          <a:xfrm>
            <a:off x="6080760" y="2624328"/>
            <a:ext cx="896112" cy="685800"/>
          </a:xfrm>
          <a:prstGeom prst="roundRect">
            <a:avLst>
              <a:gd name="adj" fmla="val 6667"/>
            </a:avLst>
          </a:prstGeom>
          <a:solidFill>
            <a:srgbClr val="F3F5F8"/>
          </a:solidFill>
          <a:ln w="12700">
            <a:solidFill>
              <a:srgbClr val="D5DBE3"/>
            </a:solidFill>
            <a:prstDash val="solid"/>
          </a:ln>
        </p:spPr>
      </p:sp>
      <p:sp>
        <p:nvSpPr>
          <p:cNvPr id="96" name="Shape 94"/>
          <p:cNvSpPr/>
          <p:nvPr/>
        </p:nvSpPr>
        <p:spPr>
          <a:xfrm>
            <a:off x="6300216" y="2679192"/>
            <a:ext cx="457200" cy="347472"/>
          </a:xfrm>
          <a:prstGeom prst="roundRect">
            <a:avLst>
              <a:gd name="adj" fmla="val 7895"/>
            </a:avLst>
          </a:prstGeom>
          <a:solidFill>
            <a:srgbClr val="E4E8EE"/>
          </a:solidFill>
          <a:ln/>
        </p:spPr>
      </p:sp>
      <p:sp>
        <p:nvSpPr>
          <p:cNvPr id="97" name="Text 95"/>
          <p:cNvSpPr txBox="1"/>
          <p:nvPr/>
        </p:nvSpPr>
        <p:spPr>
          <a:xfrm>
            <a:off x="6080760" y="3044952"/>
            <a:ext cx="896112" cy="237744"/>
          </a:xfrm>
          <a:prstGeom prst="rect">
            <a:avLst/>
          </a:prstGeom>
          <a:noFill/>
          <a:ln/>
        </p:spPr>
        <p:txBody>
          <a:bodyPr wrap="square" lIns="0" tIns="0" rIns="0" bIns="0" rtlCol="0" anchor="ctr"/>
          <a:lstStyle/>
          <a:p>
            <a:pPr algn="ctr" indent="0" marL="0">
              <a:buNone/>
            </a:pPr>
            <a:r>
              <a:rPr lang="en-US" sz="700" b="1" dirty="0">
                <a:solidFill>
                  <a:srgbClr val="1B2A49"/>
                </a:solidFill>
                <a:latin typeface="Meiryo UI" pitchFamily="34" charset="0"/>
                <a:ea typeface="Meiryo UI" pitchFamily="34" charset="-122"/>
                <a:cs typeface="Meiryo UI" pitchFamily="34" charset="-120"/>
              </a:rPr>
              <a:t>商品B</a:t>
            </a:r>
            <a:endParaRPr lang="en-US" sz="700" dirty="0"/>
          </a:p>
        </p:txBody>
      </p:sp>
      <p:sp>
        <p:nvSpPr>
          <p:cNvPr id="98" name="Shape 96"/>
          <p:cNvSpPr/>
          <p:nvPr/>
        </p:nvSpPr>
        <p:spPr>
          <a:xfrm>
            <a:off x="7059168" y="2624328"/>
            <a:ext cx="896112" cy="685800"/>
          </a:xfrm>
          <a:prstGeom prst="roundRect">
            <a:avLst>
              <a:gd name="adj" fmla="val 6667"/>
            </a:avLst>
          </a:prstGeom>
          <a:solidFill>
            <a:srgbClr val="FDEBD3"/>
          </a:solidFill>
          <a:ln w="12700">
            <a:solidFill>
              <a:srgbClr val="E8912D"/>
            </a:solidFill>
            <a:prstDash val="dash"/>
          </a:ln>
        </p:spPr>
      </p:sp>
      <p:sp>
        <p:nvSpPr>
          <p:cNvPr id="99" name="Text 97"/>
          <p:cNvSpPr txBox="1"/>
          <p:nvPr/>
        </p:nvSpPr>
        <p:spPr>
          <a:xfrm>
            <a:off x="7059168" y="2624328"/>
            <a:ext cx="896112" cy="685800"/>
          </a:xfrm>
          <a:prstGeom prst="rect">
            <a:avLst/>
          </a:prstGeom>
          <a:noFill/>
          <a:ln/>
        </p:spPr>
        <p:txBody>
          <a:bodyPr wrap="square" lIns="0" tIns="0" rIns="0" bIns="0" rtlCol="0" anchor="ctr"/>
          <a:lstStyle/>
          <a:p>
            <a:pPr algn="ctr" indent="0" marL="0">
              <a:buNone/>
            </a:pPr>
            <a:r>
              <a:rPr lang="en-US" sz="700" b="1" dirty="0">
                <a:solidFill>
                  <a:srgbClr val="E8912D"/>
                </a:solidFill>
                <a:latin typeface="Meiryo UI" pitchFamily="34" charset="0"/>
                <a:ea typeface="Meiryo UI" pitchFamily="34" charset="-122"/>
                <a:cs typeface="Meiryo UI" pitchFamily="34" charset="-120"/>
              </a:rPr>
              <a:t>ここにドロップ</a:t>
            </a:r>
            <a:endParaRPr lang="en-US" sz="700" dirty="0"/>
          </a:p>
          <a:p>
            <a:pPr algn="ctr" indent="0" marL="0">
              <a:buNone/>
            </a:pPr>
            <a:r>
              <a:rPr lang="en-US" sz="700" b="1" dirty="0">
                <a:solidFill>
                  <a:srgbClr val="E8912D"/>
                </a:solidFill>
                <a:latin typeface="Meiryo UI" pitchFamily="34" charset="0"/>
                <a:ea typeface="Meiryo UI" pitchFamily="34" charset="-122"/>
                <a:cs typeface="Meiryo UI" pitchFamily="34" charset="-120"/>
              </a:rPr>
              <a:t>商品E → 商品G</a:t>
            </a:r>
            <a:endParaRPr lang="en-US" sz="700" dirty="0"/>
          </a:p>
        </p:txBody>
      </p:sp>
      <p:sp>
        <p:nvSpPr>
          <p:cNvPr id="100" name="Shape 98"/>
          <p:cNvSpPr/>
          <p:nvPr/>
        </p:nvSpPr>
        <p:spPr>
          <a:xfrm>
            <a:off x="8037576" y="2624328"/>
            <a:ext cx="896112" cy="685800"/>
          </a:xfrm>
          <a:prstGeom prst="roundRect">
            <a:avLst>
              <a:gd name="adj" fmla="val 6667"/>
            </a:avLst>
          </a:prstGeom>
          <a:solidFill>
            <a:srgbClr val="F3F5F8"/>
          </a:solidFill>
          <a:ln w="12700">
            <a:solidFill>
              <a:srgbClr val="D5DBE3"/>
            </a:solidFill>
            <a:prstDash val="solid"/>
          </a:ln>
        </p:spPr>
      </p:sp>
      <p:sp>
        <p:nvSpPr>
          <p:cNvPr id="101" name="Shape 99"/>
          <p:cNvSpPr/>
          <p:nvPr/>
        </p:nvSpPr>
        <p:spPr>
          <a:xfrm>
            <a:off x="8257032" y="2679192"/>
            <a:ext cx="457200" cy="347472"/>
          </a:xfrm>
          <a:prstGeom prst="roundRect">
            <a:avLst>
              <a:gd name="adj" fmla="val 7895"/>
            </a:avLst>
          </a:prstGeom>
          <a:solidFill>
            <a:srgbClr val="E4E8EE"/>
          </a:solidFill>
          <a:ln/>
        </p:spPr>
      </p:sp>
      <p:sp>
        <p:nvSpPr>
          <p:cNvPr id="102" name="Text 100"/>
          <p:cNvSpPr txBox="1"/>
          <p:nvPr/>
        </p:nvSpPr>
        <p:spPr>
          <a:xfrm>
            <a:off x="8037576" y="3044952"/>
            <a:ext cx="896112" cy="237744"/>
          </a:xfrm>
          <a:prstGeom prst="rect">
            <a:avLst/>
          </a:prstGeom>
          <a:noFill/>
          <a:ln/>
        </p:spPr>
        <p:txBody>
          <a:bodyPr wrap="square" lIns="0" tIns="0" rIns="0" bIns="0" rtlCol="0" anchor="ctr"/>
          <a:lstStyle/>
          <a:p>
            <a:pPr algn="ctr" indent="0" marL="0">
              <a:buNone/>
            </a:pPr>
            <a:r>
              <a:rPr lang="en-US" sz="700" b="1" dirty="0">
                <a:solidFill>
                  <a:srgbClr val="1B2A49"/>
                </a:solidFill>
                <a:latin typeface="Meiryo UI" pitchFamily="34" charset="0"/>
                <a:ea typeface="Meiryo UI" pitchFamily="34" charset="-122"/>
                <a:cs typeface="Meiryo UI" pitchFamily="34" charset="-120"/>
              </a:rPr>
              <a:t>商品D</a:t>
            </a:r>
            <a:endParaRPr lang="en-US" sz="700" dirty="0"/>
          </a:p>
        </p:txBody>
      </p:sp>
      <p:sp>
        <p:nvSpPr>
          <p:cNvPr id="103" name="Shape 101"/>
          <p:cNvSpPr/>
          <p:nvPr/>
        </p:nvSpPr>
        <p:spPr>
          <a:xfrm flipV="1">
            <a:off x="5961888" y="3337560"/>
            <a:ext cx="1490472" cy="1234440"/>
          </a:xfrm>
          <a:prstGeom prst="line">
            <a:avLst/>
          </a:prstGeom>
          <a:noFill/>
          <a:ln w="25400">
            <a:solidFill>
              <a:srgbClr val="E8912D"/>
            </a:solidFill>
            <a:prstDash val="dash"/>
            <a:tailEnd type="triangle"/>
          </a:ln>
        </p:spPr>
      </p:sp>
      <p:sp>
        <p:nvSpPr>
          <p:cNvPr id="104" name="Text 102"/>
          <p:cNvSpPr txBox="1"/>
          <p:nvPr/>
        </p:nvSpPr>
        <p:spPr>
          <a:xfrm>
            <a:off x="6080760" y="3474720"/>
            <a:ext cx="1828800" cy="219456"/>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プレビュー</a:t>
            </a:r>
            <a:endParaRPr lang="en-US" sz="850" dirty="0"/>
          </a:p>
        </p:txBody>
      </p:sp>
      <p:sp>
        <p:nvSpPr>
          <p:cNvPr id="105" name="Shape 103"/>
          <p:cNvSpPr/>
          <p:nvPr/>
        </p:nvSpPr>
        <p:spPr>
          <a:xfrm>
            <a:off x="6080760" y="3721608"/>
            <a:ext cx="2834640" cy="1463040"/>
          </a:xfrm>
          <a:prstGeom prst="roundRect">
            <a:avLst>
              <a:gd name="adj" fmla="val 2500"/>
            </a:avLst>
          </a:prstGeom>
          <a:solidFill>
            <a:srgbClr val="F3F5F8"/>
          </a:solidFill>
          <a:ln w="12700">
            <a:solidFill>
              <a:srgbClr val="D5DBE3"/>
            </a:solidFill>
            <a:prstDash val="solid"/>
          </a:ln>
        </p:spPr>
      </p:sp>
      <p:sp>
        <p:nvSpPr>
          <p:cNvPr id="106" name="Shape 104"/>
          <p:cNvSpPr/>
          <p:nvPr/>
        </p:nvSpPr>
        <p:spPr>
          <a:xfrm>
            <a:off x="6172200" y="3794760"/>
            <a:ext cx="2651760" cy="502920"/>
          </a:xfrm>
          <a:prstGeom prst="roundRect">
            <a:avLst>
              <a:gd name="adj" fmla="val 5455"/>
            </a:avLst>
          </a:prstGeom>
          <a:solidFill>
            <a:srgbClr val="E4E8EE"/>
          </a:solidFill>
          <a:ln/>
        </p:spPr>
      </p:sp>
      <p:sp>
        <p:nvSpPr>
          <p:cNvPr id="107" name="Text 105"/>
          <p:cNvSpPr txBox="1"/>
          <p:nvPr/>
        </p:nvSpPr>
        <p:spPr>
          <a:xfrm>
            <a:off x="6172200" y="3794760"/>
            <a:ext cx="2651760" cy="502920"/>
          </a:xfrm>
          <a:prstGeom prst="rect">
            <a:avLst/>
          </a:prstGeom>
          <a:noFill/>
          <a:ln/>
        </p:spPr>
        <p:txBody>
          <a:bodyPr wrap="square" lIns="0" tIns="0" rIns="0" bIns="0" rtlCol="0" anchor="ctr"/>
          <a:lstStyle/>
          <a:p>
            <a:pPr algn="ctr" indent="0" marL="0">
              <a:buNone/>
            </a:pPr>
            <a:r>
              <a:rPr lang="en-US" sz="750" dirty="0">
                <a:solidFill>
                  <a:srgbClr val="6B7280"/>
                </a:solidFill>
                <a:latin typeface="Meiryo UI" pitchFamily="34" charset="0"/>
                <a:ea typeface="Meiryo UI" pitchFamily="34" charset="-122"/>
                <a:cs typeface="Meiryo UI" pitchFamily="34" charset="-120"/>
              </a:rPr>
              <a:t>メインビジュアル</a:t>
            </a:r>
            <a:endParaRPr lang="en-US" sz="750" dirty="0"/>
          </a:p>
        </p:txBody>
      </p:sp>
      <p:sp>
        <p:nvSpPr>
          <p:cNvPr id="108" name="Shape 106"/>
          <p:cNvSpPr/>
          <p:nvPr/>
        </p:nvSpPr>
        <p:spPr>
          <a:xfrm>
            <a:off x="6263640" y="4416552"/>
            <a:ext cx="749808" cy="640080"/>
          </a:xfrm>
          <a:prstGeom prst="roundRect">
            <a:avLst>
              <a:gd name="adj" fmla="val 4286"/>
            </a:avLst>
          </a:prstGeom>
          <a:solidFill>
            <a:srgbClr val="FFFFFF"/>
          </a:solidFill>
          <a:ln w="12700">
            <a:solidFill>
              <a:srgbClr val="D5DBE3"/>
            </a:solidFill>
            <a:prstDash val="solid"/>
          </a:ln>
        </p:spPr>
      </p:sp>
      <p:sp>
        <p:nvSpPr>
          <p:cNvPr id="109" name="Text 107"/>
          <p:cNvSpPr txBox="1"/>
          <p:nvPr/>
        </p:nvSpPr>
        <p:spPr>
          <a:xfrm>
            <a:off x="6263640" y="4416552"/>
            <a:ext cx="749808" cy="640080"/>
          </a:xfrm>
          <a:prstGeom prst="rect">
            <a:avLst/>
          </a:prstGeom>
          <a:noFill/>
          <a:ln/>
        </p:spPr>
        <p:txBody>
          <a:bodyPr wrap="square" lIns="0" tIns="0" rIns="0" bIns="0" rtlCol="0" anchor="ctr"/>
          <a:lstStyle/>
          <a:p>
            <a:pPr algn="ctr" indent="0" marL="0">
              <a:buNone/>
            </a:pPr>
            <a:r>
              <a:rPr lang="en-US" sz="700" dirty="0">
                <a:solidFill>
                  <a:srgbClr val="6B7280"/>
                </a:solidFill>
                <a:latin typeface="Meiryo UI" pitchFamily="34" charset="0"/>
                <a:ea typeface="Meiryo UI" pitchFamily="34" charset="-122"/>
                <a:cs typeface="Meiryo UI" pitchFamily="34" charset="-120"/>
              </a:rPr>
              <a:t>商品B</a:t>
            </a:r>
            <a:endParaRPr lang="en-US" sz="700" dirty="0"/>
          </a:p>
        </p:txBody>
      </p:sp>
      <p:sp>
        <p:nvSpPr>
          <p:cNvPr id="110" name="Shape 108"/>
          <p:cNvSpPr/>
          <p:nvPr/>
        </p:nvSpPr>
        <p:spPr>
          <a:xfrm>
            <a:off x="7132320" y="4416552"/>
            <a:ext cx="749808" cy="640080"/>
          </a:xfrm>
          <a:prstGeom prst="roundRect">
            <a:avLst>
              <a:gd name="adj" fmla="val 4286"/>
            </a:avLst>
          </a:prstGeom>
          <a:solidFill>
            <a:srgbClr val="FFFFFF"/>
          </a:solidFill>
          <a:ln w="12700">
            <a:solidFill>
              <a:srgbClr val="D5DBE3"/>
            </a:solidFill>
            <a:prstDash val="solid"/>
          </a:ln>
        </p:spPr>
      </p:sp>
      <p:sp>
        <p:nvSpPr>
          <p:cNvPr id="111" name="Text 109"/>
          <p:cNvSpPr txBox="1"/>
          <p:nvPr/>
        </p:nvSpPr>
        <p:spPr>
          <a:xfrm>
            <a:off x="7132320" y="4416552"/>
            <a:ext cx="749808" cy="640080"/>
          </a:xfrm>
          <a:prstGeom prst="rect">
            <a:avLst/>
          </a:prstGeom>
          <a:noFill/>
          <a:ln/>
        </p:spPr>
        <p:txBody>
          <a:bodyPr wrap="square" lIns="0" tIns="0" rIns="0" bIns="0" rtlCol="0" anchor="ctr"/>
          <a:lstStyle/>
          <a:p>
            <a:pPr algn="ctr" indent="0" marL="0">
              <a:buNone/>
            </a:pPr>
            <a:r>
              <a:rPr lang="en-US" sz="700" dirty="0">
                <a:solidFill>
                  <a:srgbClr val="6B7280"/>
                </a:solidFill>
                <a:latin typeface="Meiryo UI" pitchFamily="34" charset="0"/>
                <a:ea typeface="Meiryo UI" pitchFamily="34" charset="-122"/>
                <a:cs typeface="Meiryo UI" pitchFamily="34" charset="-120"/>
              </a:rPr>
              <a:t>商品G</a:t>
            </a:r>
            <a:endParaRPr lang="en-US" sz="700" dirty="0"/>
          </a:p>
        </p:txBody>
      </p:sp>
      <p:sp>
        <p:nvSpPr>
          <p:cNvPr id="112" name="Shape 110"/>
          <p:cNvSpPr/>
          <p:nvPr/>
        </p:nvSpPr>
        <p:spPr>
          <a:xfrm>
            <a:off x="8001000" y="4416552"/>
            <a:ext cx="749808" cy="640080"/>
          </a:xfrm>
          <a:prstGeom prst="roundRect">
            <a:avLst>
              <a:gd name="adj" fmla="val 4286"/>
            </a:avLst>
          </a:prstGeom>
          <a:solidFill>
            <a:srgbClr val="FFFFFF"/>
          </a:solidFill>
          <a:ln w="12700">
            <a:solidFill>
              <a:srgbClr val="D5DBE3"/>
            </a:solidFill>
            <a:prstDash val="solid"/>
          </a:ln>
        </p:spPr>
      </p:sp>
      <p:sp>
        <p:nvSpPr>
          <p:cNvPr id="113" name="Text 111"/>
          <p:cNvSpPr txBox="1"/>
          <p:nvPr/>
        </p:nvSpPr>
        <p:spPr>
          <a:xfrm>
            <a:off x="8001000" y="4416552"/>
            <a:ext cx="749808" cy="640080"/>
          </a:xfrm>
          <a:prstGeom prst="rect">
            <a:avLst/>
          </a:prstGeom>
          <a:noFill/>
          <a:ln/>
        </p:spPr>
        <p:txBody>
          <a:bodyPr wrap="square" lIns="0" tIns="0" rIns="0" bIns="0" rtlCol="0" anchor="ctr"/>
          <a:lstStyle/>
          <a:p>
            <a:pPr algn="ctr" indent="0" marL="0">
              <a:buNone/>
            </a:pPr>
            <a:r>
              <a:rPr lang="en-US" sz="700" dirty="0">
                <a:solidFill>
                  <a:srgbClr val="6B7280"/>
                </a:solidFill>
                <a:latin typeface="Meiryo UI" pitchFamily="34" charset="0"/>
                <a:ea typeface="Meiryo UI" pitchFamily="34" charset="-122"/>
                <a:cs typeface="Meiryo UI" pitchFamily="34" charset="-120"/>
              </a:rPr>
              <a:t>商品D</a:t>
            </a:r>
            <a:endParaRPr lang="en-US" sz="700" dirty="0"/>
          </a:p>
        </p:txBody>
      </p:sp>
      <p:sp>
        <p:nvSpPr>
          <p:cNvPr id="114" name="Shape 112"/>
          <p:cNvSpPr/>
          <p:nvPr/>
        </p:nvSpPr>
        <p:spPr>
          <a:xfrm>
            <a:off x="9006840" y="2377440"/>
            <a:ext cx="0" cy="2834640"/>
          </a:xfrm>
          <a:prstGeom prst="line">
            <a:avLst/>
          </a:prstGeom>
          <a:noFill/>
          <a:ln w="9525">
            <a:solidFill>
              <a:srgbClr val="D5DBE3"/>
            </a:solidFill>
            <a:prstDash val="solid"/>
          </a:ln>
        </p:spPr>
      </p:sp>
      <p:sp>
        <p:nvSpPr>
          <p:cNvPr id="115" name="Text 113"/>
          <p:cNvSpPr txBox="1"/>
          <p:nvPr/>
        </p:nvSpPr>
        <p:spPr>
          <a:xfrm>
            <a:off x="9098280" y="2377440"/>
            <a:ext cx="1828800" cy="219456"/>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チャット</a:t>
            </a:r>
            <a:endParaRPr lang="en-US" sz="850" dirty="0"/>
          </a:p>
        </p:txBody>
      </p:sp>
      <p:sp>
        <p:nvSpPr>
          <p:cNvPr id="116" name="Shape 114"/>
          <p:cNvSpPr/>
          <p:nvPr/>
        </p:nvSpPr>
        <p:spPr>
          <a:xfrm>
            <a:off x="9464040" y="2651760"/>
            <a:ext cx="1874520" cy="457200"/>
          </a:xfrm>
          <a:prstGeom prst="roundRect">
            <a:avLst>
              <a:gd name="adj" fmla="val 16000"/>
            </a:avLst>
          </a:prstGeom>
          <a:solidFill>
            <a:srgbClr val="FDEBD3"/>
          </a:solidFill>
          <a:ln/>
        </p:spPr>
      </p:sp>
      <p:sp>
        <p:nvSpPr>
          <p:cNvPr id="117" name="Text 115"/>
          <p:cNvSpPr txBox="1"/>
          <p:nvPr/>
        </p:nvSpPr>
        <p:spPr>
          <a:xfrm>
            <a:off x="9518904" y="2651760"/>
            <a:ext cx="1783080" cy="457200"/>
          </a:xfrm>
          <a:prstGeom prst="rect">
            <a:avLst/>
          </a:prstGeom>
          <a:noFill/>
          <a:ln/>
        </p:spPr>
        <p:txBody>
          <a:bodyPr wrap="square" lIns="0" tIns="0" rIns="0" bIns="0" rtlCol="0" anchor="ctr"/>
          <a:lstStyle/>
          <a:p>
            <a:pPr indent="0" marL="0">
              <a:buNone/>
            </a:pPr>
            <a:r>
              <a:rPr lang="en-US" sz="700" dirty="0">
                <a:solidFill>
                  <a:srgbClr val="2B2B2B"/>
                </a:solidFill>
                <a:latin typeface="Meiryo UI" pitchFamily="34" charset="0"/>
                <a:ea typeface="Meiryo UI" pitchFamily="34" charset="-122"/>
                <a:cs typeface="Meiryo UI" pitchFamily="34" charset="-120"/>
              </a:rPr>
              <a:t>雨予報なので、2つ目は雨の日に使える商品にして</a:t>
            </a:r>
            <a:endParaRPr lang="en-US" sz="700" dirty="0"/>
          </a:p>
        </p:txBody>
      </p:sp>
      <p:sp>
        <p:nvSpPr>
          <p:cNvPr id="118" name="Shape 116"/>
          <p:cNvSpPr/>
          <p:nvPr/>
        </p:nvSpPr>
        <p:spPr>
          <a:xfrm>
            <a:off x="9098280" y="3172968"/>
            <a:ext cx="1874520" cy="457200"/>
          </a:xfrm>
          <a:prstGeom prst="roundRect">
            <a:avLst>
              <a:gd name="adj" fmla="val 16000"/>
            </a:avLst>
          </a:prstGeom>
          <a:solidFill>
            <a:srgbClr val="D9F2F1"/>
          </a:solidFill>
          <a:ln/>
        </p:spPr>
      </p:sp>
      <p:sp>
        <p:nvSpPr>
          <p:cNvPr id="119" name="Text 117"/>
          <p:cNvSpPr txBox="1"/>
          <p:nvPr/>
        </p:nvSpPr>
        <p:spPr>
          <a:xfrm>
            <a:off x="9153144" y="3172968"/>
            <a:ext cx="1783080" cy="457200"/>
          </a:xfrm>
          <a:prstGeom prst="rect">
            <a:avLst/>
          </a:prstGeom>
          <a:noFill/>
          <a:ln/>
        </p:spPr>
        <p:txBody>
          <a:bodyPr wrap="square" lIns="0" tIns="0" rIns="0" bIns="0" rtlCol="0" anchor="ctr"/>
          <a:lstStyle/>
          <a:p>
            <a:pPr indent="0" marL="0">
              <a:buNone/>
            </a:pPr>
            <a:r>
              <a:rPr lang="en-US" sz="700" dirty="0">
                <a:solidFill>
                  <a:srgbClr val="2B2B2B"/>
                </a:solidFill>
                <a:latin typeface="Meiryo UI" pitchFamily="34" charset="0"/>
                <a:ea typeface="Meiryo UI" pitchFamily="34" charset="-122"/>
                <a:cs typeface="Meiryo UI" pitchFamily="34" charset="-120"/>
              </a:rPr>
              <a:t>商品Gを提案します（在庫多・雨予報に合う）</a:t>
            </a:r>
            <a:endParaRPr lang="en-US" sz="700" dirty="0"/>
          </a:p>
        </p:txBody>
      </p:sp>
      <p:sp>
        <p:nvSpPr>
          <p:cNvPr id="120" name="Shape 118"/>
          <p:cNvSpPr/>
          <p:nvPr/>
        </p:nvSpPr>
        <p:spPr>
          <a:xfrm>
            <a:off x="9464040" y="3694176"/>
            <a:ext cx="1874520" cy="457200"/>
          </a:xfrm>
          <a:prstGeom prst="roundRect">
            <a:avLst>
              <a:gd name="adj" fmla="val 16000"/>
            </a:avLst>
          </a:prstGeom>
          <a:solidFill>
            <a:srgbClr val="FDEBD3"/>
          </a:solidFill>
          <a:ln/>
        </p:spPr>
      </p:sp>
      <p:sp>
        <p:nvSpPr>
          <p:cNvPr id="121" name="Text 119"/>
          <p:cNvSpPr txBox="1"/>
          <p:nvPr/>
        </p:nvSpPr>
        <p:spPr>
          <a:xfrm>
            <a:off x="9518904" y="3694176"/>
            <a:ext cx="1783080" cy="457200"/>
          </a:xfrm>
          <a:prstGeom prst="rect">
            <a:avLst/>
          </a:prstGeom>
          <a:noFill/>
          <a:ln/>
        </p:spPr>
        <p:txBody>
          <a:bodyPr wrap="square" lIns="0" tIns="0" rIns="0" bIns="0" rtlCol="0" anchor="ctr"/>
          <a:lstStyle/>
          <a:p>
            <a:pPr indent="0" marL="0">
              <a:buNone/>
            </a:pPr>
            <a:r>
              <a:rPr lang="en-US" sz="700" dirty="0">
                <a:solidFill>
                  <a:srgbClr val="2B2B2B"/>
                </a:solidFill>
                <a:latin typeface="Meiryo UI" pitchFamily="34" charset="0"/>
                <a:ea typeface="Meiryo UI" pitchFamily="34" charset="-122"/>
                <a:cs typeface="Meiryo UI" pitchFamily="34" charset="-120"/>
              </a:rPr>
              <a:t>OK。理由をカード用に短くまとめて</a:t>
            </a:r>
            <a:endParaRPr lang="en-US" sz="700" dirty="0"/>
          </a:p>
        </p:txBody>
      </p:sp>
      <p:sp>
        <p:nvSpPr>
          <p:cNvPr id="122" name="Shape 120"/>
          <p:cNvSpPr/>
          <p:nvPr/>
        </p:nvSpPr>
        <p:spPr>
          <a:xfrm>
            <a:off x="9098280" y="4800600"/>
            <a:ext cx="2240280" cy="310896"/>
          </a:xfrm>
          <a:prstGeom prst="roundRect">
            <a:avLst>
              <a:gd name="adj" fmla="val 50000"/>
            </a:avLst>
          </a:prstGeom>
          <a:solidFill>
            <a:srgbClr val="FFFFFF"/>
          </a:solidFill>
          <a:ln w="12700">
            <a:solidFill>
              <a:srgbClr val="D5DBE3"/>
            </a:solidFill>
            <a:prstDash val="solid"/>
          </a:ln>
        </p:spPr>
      </p:sp>
      <p:sp>
        <p:nvSpPr>
          <p:cNvPr id="123" name="Text 121"/>
          <p:cNvSpPr txBox="1"/>
          <p:nvPr/>
        </p:nvSpPr>
        <p:spPr>
          <a:xfrm>
            <a:off x="9208008" y="4800600"/>
            <a:ext cx="2057400" cy="310896"/>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修正の指示を入力…</a:t>
            </a:r>
            <a:endParaRPr lang="en-US" sz="750" dirty="0"/>
          </a:p>
        </p:txBody>
      </p:sp>
      <p:sp>
        <p:nvSpPr>
          <p:cNvPr id="124" name="Shape 122"/>
          <p:cNvSpPr/>
          <p:nvPr/>
        </p:nvSpPr>
        <p:spPr>
          <a:xfrm>
            <a:off x="3246120" y="5276088"/>
            <a:ext cx="8229600" cy="0"/>
          </a:xfrm>
          <a:prstGeom prst="line">
            <a:avLst/>
          </a:prstGeom>
          <a:noFill/>
          <a:ln w="9525">
            <a:solidFill>
              <a:srgbClr val="D5DBE3"/>
            </a:solidFill>
            <a:prstDash val="solid"/>
          </a:ln>
        </p:spPr>
      </p:sp>
      <p:sp>
        <p:nvSpPr>
          <p:cNvPr id="125" name="Shape 123"/>
          <p:cNvSpPr/>
          <p:nvPr/>
        </p:nvSpPr>
        <p:spPr>
          <a:xfrm>
            <a:off x="6903720" y="5367528"/>
            <a:ext cx="2103120" cy="365760"/>
          </a:xfrm>
          <a:prstGeom prst="roundRect">
            <a:avLst>
              <a:gd name="adj" fmla="val 50000"/>
            </a:avLst>
          </a:prstGeom>
          <a:solidFill>
            <a:srgbClr val="FFFFFF"/>
          </a:solidFill>
          <a:ln w="12700">
            <a:solidFill>
              <a:srgbClr val="1B2A49"/>
            </a:solidFill>
            <a:prstDash val="solid"/>
          </a:ln>
        </p:spPr>
      </p:sp>
      <p:sp>
        <p:nvSpPr>
          <p:cNvPr id="126" name="Text 124"/>
          <p:cNvSpPr txBox="1"/>
          <p:nvPr/>
        </p:nvSpPr>
        <p:spPr>
          <a:xfrm>
            <a:off x="6903720" y="5367528"/>
            <a:ext cx="2103120" cy="365760"/>
          </a:xfrm>
          <a:prstGeom prst="rect">
            <a:avLst/>
          </a:prstGeom>
          <a:noFill/>
          <a:ln/>
        </p:spPr>
        <p:txBody>
          <a:bodyPr wrap="square" lIns="762" tIns="762" rIns="762" bIns="762" rtlCol="0" anchor="ctr"/>
          <a:lstStyle/>
          <a:p>
            <a:pPr algn="ctr" indent="0" marL="0">
              <a:buNone/>
            </a:pPr>
            <a:r>
              <a:rPr lang="en-US" sz="850" b="1" dirty="0">
                <a:solidFill>
                  <a:srgbClr val="1B2A49"/>
                </a:solidFill>
                <a:latin typeface="Meiryo UI" pitchFamily="34" charset="0"/>
                <a:ea typeface="Meiryo UI" pitchFamily="34" charset="-122"/>
                <a:cs typeface="Meiryo UI" pitchFamily="34" charset="-120"/>
              </a:rPr>
              <a:t>下書きを保存（あとで再開）</a:t>
            </a:r>
            <a:endParaRPr lang="en-US" sz="850" dirty="0"/>
          </a:p>
        </p:txBody>
      </p:sp>
      <p:sp>
        <p:nvSpPr>
          <p:cNvPr id="127" name="Shape 125"/>
          <p:cNvSpPr/>
          <p:nvPr/>
        </p:nvSpPr>
        <p:spPr>
          <a:xfrm>
            <a:off x="9144000" y="5367528"/>
            <a:ext cx="2148840" cy="365760"/>
          </a:xfrm>
          <a:prstGeom prst="roundRect">
            <a:avLst>
              <a:gd name="adj" fmla="val 50000"/>
            </a:avLst>
          </a:prstGeom>
          <a:solidFill>
            <a:srgbClr val="1B2A49"/>
          </a:solidFill>
          <a:ln/>
        </p:spPr>
      </p:sp>
      <p:sp>
        <p:nvSpPr>
          <p:cNvPr id="128" name="Text 126"/>
          <p:cNvSpPr txBox="1"/>
          <p:nvPr/>
        </p:nvSpPr>
        <p:spPr>
          <a:xfrm>
            <a:off x="9144000" y="5367528"/>
            <a:ext cx="2148840" cy="365760"/>
          </a:xfrm>
          <a:prstGeom prst="rect">
            <a:avLst/>
          </a:prstGeom>
          <a:noFill/>
          <a:ln/>
        </p:spPr>
        <p:txBody>
          <a:bodyPr wrap="square" lIns="762" tIns="762" rIns="762" bIns="762"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確定してカードに反映</a:t>
            </a:r>
            <a:endParaRPr lang="en-US" sz="850" dirty="0"/>
          </a:p>
        </p:txBody>
      </p:sp>
      <p:sp>
        <p:nvSpPr>
          <p:cNvPr id="129" name="Shape 127"/>
          <p:cNvSpPr/>
          <p:nvPr/>
        </p:nvSpPr>
        <p:spPr>
          <a:xfrm>
            <a:off x="2130552" y="1810512"/>
            <a:ext cx="256032" cy="256032"/>
          </a:xfrm>
          <a:prstGeom prst="ellipse">
            <a:avLst/>
          </a:prstGeom>
          <a:solidFill>
            <a:srgbClr val="D64545"/>
          </a:solidFill>
          <a:ln/>
        </p:spPr>
      </p:sp>
      <p:sp>
        <p:nvSpPr>
          <p:cNvPr id="130" name="Text 128"/>
          <p:cNvSpPr txBox="1"/>
          <p:nvPr/>
        </p:nvSpPr>
        <p:spPr>
          <a:xfrm>
            <a:off x="2130552" y="181051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131" name="Shape 129"/>
          <p:cNvSpPr/>
          <p:nvPr/>
        </p:nvSpPr>
        <p:spPr>
          <a:xfrm>
            <a:off x="2935224" y="1947672"/>
            <a:ext cx="256032" cy="256032"/>
          </a:xfrm>
          <a:prstGeom prst="ellipse">
            <a:avLst/>
          </a:prstGeom>
          <a:solidFill>
            <a:srgbClr val="D64545"/>
          </a:solidFill>
          <a:ln/>
        </p:spPr>
      </p:sp>
      <p:sp>
        <p:nvSpPr>
          <p:cNvPr id="132" name="Text 130"/>
          <p:cNvSpPr txBox="1"/>
          <p:nvPr/>
        </p:nvSpPr>
        <p:spPr>
          <a:xfrm>
            <a:off x="2935224" y="194767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133" name="Shape 131"/>
          <p:cNvSpPr/>
          <p:nvPr/>
        </p:nvSpPr>
        <p:spPr>
          <a:xfrm>
            <a:off x="2935224" y="3739896"/>
            <a:ext cx="256032" cy="256032"/>
          </a:xfrm>
          <a:prstGeom prst="ellipse">
            <a:avLst/>
          </a:prstGeom>
          <a:solidFill>
            <a:srgbClr val="D64545"/>
          </a:solidFill>
          <a:ln/>
        </p:spPr>
      </p:sp>
      <p:sp>
        <p:nvSpPr>
          <p:cNvPr id="134" name="Text 132"/>
          <p:cNvSpPr txBox="1"/>
          <p:nvPr/>
        </p:nvSpPr>
        <p:spPr>
          <a:xfrm>
            <a:off x="2935224" y="37398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135" name="Shape 133"/>
          <p:cNvSpPr/>
          <p:nvPr/>
        </p:nvSpPr>
        <p:spPr>
          <a:xfrm>
            <a:off x="8714232" y="2350008"/>
            <a:ext cx="256032" cy="256032"/>
          </a:xfrm>
          <a:prstGeom prst="ellipse">
            <a:avLst/>
          </a:prstGeom>
          <a:solidFill>
            <a:srgbClr val="D64545"/>
          </a:solidFill>
          <a:ln/>
        </p:spPr>
      </p:sp>
      <p:sp>
        <p:nvSpPr>
          <p:cNvPr id="136" name="Text 134"/>
          <p:cNvSpPr txBox="1"/>
          <p:nvPr/>
        </p:nvSpPr>
        <p:spPr>
          <a:xfrm>
            <a:off x="8714232" y="235000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4</a:t>
            </a:r>
            <a:endParaRPr lang="en-US" sz="1100" dirty="0"/>
          </a:p>
        </p:txBody>
      </p:sp>
      <p:sp>
        <p:nvSpPr>
          <p:cNvPr id="137" name="Shape 135"/>
          <p:cNvSpPr/>
          <p:nvPr/>
        </p:nvSpPr>
        <p:spPr>
          <a:xfrm>
            <a:off x="8805672" y="5422392"/>
            <a:ext cx="256032" cy="256032"/>
          </a:xfrm>
          <a:prstGeom prst="ellipse">
            <a:avLst/>
          </a:prstGeom>
          <a:solidFill>
            <a:srgbClr val="D64545"/>
          </a:solidFill>
          <a:ln/>
        </p:spPr>
      </p:sp>
      <p:sp>
        <p:nvSpPr>
          <p:cNvPr id="138" name="Text 136"/>
          <p:cNvSpPr txBox="1"/>
          <p:nvPr/>
        </p:nvSpPr>
        <p:spPr>
          <a:xfrm>
            <a:off x="8805672" y="542239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5</a:t>
            </a:r>
            <a:endParaRPr lang="en-US" sz="1100" dirty="0"/>
          </a:p>
        </p:txBody>
      </p:sp>
      <p:sp>
        <p:nvSpPr>
          <p:cNvPr id="139" name="Text 137"/>
          <p:cNvSpPr txBox="1"/>
          <p:nvPr/>
        </p:nvSpPr>
        <p:spPr>
          <a:xfrm>
            <a:off x="548640" y="6080760"/>
            <a:ext cx="182880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① カードには確定情報だけ</a:t>
            </a:r>
            <a:endParaRPr lang="en-US" sz="850" dirty="0"/>
          </a:p>
        </p:txBody>
      </p:sp>
      <p:sp>
        <p:nvSpPr>
          <p:cNvPr id="140" name="Text 138"/>
          <p:cNvSpPr txBox="1"/>
          <p:nvPr/>
        </p:nvSpPr>
        <p:spPr>
          <a:xfrm>
            <a:off x="2377440" y="6080760"/>
            <a:ext cx="224028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② 工程ごとに前面にレイヤーを開く</a:t>
            </a:r>
            <a:endParaRPr lang="en-US" sz="850" dirty="0"/>
          </a:p>
        </p:txBody>
      </p:sp>
      <p:sp>
        <p:nvSpPr>
          <p:cNvPr id="141" name="Text 139"/>
          <p:cNvSpPr txBox="1"/>
          <p:nvPr/>
        </p:nvSpPr>
        <p:spPr>
          <a:xfrm>
            <a:off x="4617720" y="6080760"/>
            <a:ext cx="278892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③ 推奨と理由を確認し、ドラッグで入れ替え</a:t>
            </a:r>
            <a:endParaRPr lang="en-US" sz="850" dirty="0"/>
          </a:p>
        </p:txBody>
      </p:sp>
      <p:sp>
        <p:nvSpPr>
          <p:cNvPr id="142" name="Text 140"/>
          <p:cNvSpPr txBox="1"/>
          <p:nvPr/>
        </p:nvSpPr>
        <p:spPr>
          <a:xfrm>
            <a:off x="7406640" y="6080760"/>
            <a:ext cx="160020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④ チャットで修正を指示</a:t>
            </a:r>
            <a:endParaRPr lang="en-US" sz="850" dirty="0"/>
          </a:p>
        </p:txBody>
      </p:sp>
      <p:sp>
        <p:nvSpPr>
          <p:cNvPr id="143" name="Text 141"/>
          <p:cNvSpPr txBox="1"/>
          <p:nvPr/>
        </p:nvSpPr>
        <p:spPr>
          <a:xfrm>
            <a:off x="9006840" y="6080760"/>
            <a:ext cx="260604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⑤ 確定するとカードに反映（下書きは保存して再開可）</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A7の具体案④：データの持ち方（確定と検討中の分離）</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カードは確定した情報だけを持ち、検討の過程は別のテーブルに残す（Dataverse）</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33</a:t>
            </a:r>
            <a:endParaRPr lang="en-US" sz="900" dirty="0"/>
          </a:p>
        </p:txBody>
      </p:sp>
      <p:sp>
        <p:nvSpPr>
          <p:cNvPr id="6" name="Shape 4"/>
          <p:cNvSpPr/>
          <p:nvPr/>
        </p:nvSpPr>
        <p:spPr>
          <a:xfrm>
            <a:off x="548640" y="1371600"/>
            <a:ext cx="3383280" cy="1920240"/>
          </a:xfrm>
          <a:prstGeom prst="roundRect">
            <a:avLst>
              <a:gd name="adj" fmla="val 285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7" name="Shape 5"/>
          <p:cNvSpPr/>
          <p:nvPr/>
        </p:nvSpPr>
        <p:spPr>
          <a:xfrm>
            <a:off x="548640" y="1371600"/>
            <a:ext cx="3383280" cy="384048"/>
          </a:xfrm>
          <a:prstGeom prst="roundRect">
            <a:avLst>
              <a:gd name="adj" fmla="val 14286"/>
            </a:avLst>
          </a:prstGeom>
          <a:solidFill>
            <a:srgbClr val="1B2A49"/>
          </a:solidFill>
          <a:ln/>
        </p:spPr>
      </p:sp>
      <p:sp>
        <p:nvSpPr>
          <p:cNvPr id="8" name="Text 6"/>
          <p:cNvSpPr txBox="1"/>
          <p:nvPr/>
        </p:nvSpPr>
        <p:spPr>
          <a:xfrm>
            <a:off x="658368" y="1371600"/>
            <a:ext cx="3200400" cy="384048"/>
          </a:xfrm>
          <a:prstGeom prst="rect">
            <a:avLst/>
          </a:prstGeom>
          <a:noFill/>
          <a:ln/>
        </p:spPr>
        <p:txBody>
          <a:bodyPr wrap="square" lIns="0" tIns="0" rIns="0" bIns="0" rtlCol="0" anchor="ctr"/>
          <a:lstStyle/>
          <a:p>
            <a:pPr indent="0" marL="0">
              <a:buNone/>
            </a:pPr>
            <a:r>
              <a:rPr lang="en-US" sz="1150" b="1" dirty="0">
                <a:solidFill>
                  <a:srgbClr val="FFFFFF"/>
                </a:solidFill>
                <a:latin typeface="Meiryo UI" pitchFamily="34" charset="0"/>
                <a:ea typeface="Meiryo UI" pitchFamily="34" charset="-122"/>
                <a:cs typeface="Meiryo UI" pitchFamily="34" charset="-120"/>
              </a:rPr>
              <a:t>配信カード</a:t>
            </a:r>
            <a:pPr indent="0" marL="0">
              <a:buNone/>
            </a:pPr>
            <a:r>
              <a:rPr lang="en-US" sz="850" dirty="0">
                <a:solidFill>
                  <a:srgbClr val="FFFFFF"/>
                </a:solidFill>
                <a:latin typeface="Meiryo UI" pitchFamily="34" charset="0"/>
                <a:ea typeface="Meiryo UI" pitchFamily="34" charset="-122"/>
                <a:cs typeface="Meiryo UI" pitchFamily="34" charset="-120"/>
              </a:rPr>
              <a:t>  確定情報だけ</a:t>
            </a:r>
            <a:endParaRPr lang="en-US" sz="1150" dirty="0"/>
          </a:p>
        </p:txBody>
      </p:sp>
      <p:sp>
        <p:nvSpPr>
          <p:cNvPr id="9" name="Text 7"/>
          <p:cNvSpPr txBox="1"/>
          <p:nvPr/>
        </p:nvSpPr>
        <p:spPr>
          <a:xfrm>
            <a:off x="658368" y="1874520"/>
            <a:ext cx="3182112" cy="137160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配信日・国・チャネル</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テーマ／掲載商品／コピー／制作指示（確定値）</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ステータス：未起案→検討中→確定→承認済み</a:t>
            </a:r>
            <a:endParaRPr lang="en-US" sz="1100" dirty="0"/>
          </a:p>
        </p:txBody>
      </p:sp>
      <p:sp>
        <p:nvSpPr>
          <p:cNvPr id="10" name="Shape 8"/>
          <p:cNvSpPr/>
          <p:nvPr/>
        </p:nvSpPr>
        <p:spPr>
          <a:xfrm>
            <a:off x="4297680" y="1371600"/>
            <a:ext cx="3383280" cy="1920240"/>
          </a:xfrm>
          <a:prstGeom prst="roundRect">
            <a:avLst>
              <a:gd name="adj" fmla="val 285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11" name="Shape 9"/>
          <p:cNvSpPr/>
          <p:nvPr/>
        </p:nvSpPr>
        <p:spPr>
          <a:xfrm>
            <a:off x="4297680" y="1371600"/>
            <a:ext cx="3383280" cy="384048"/>
          </a:xfrm>
          <a:prstGeom prst="roundRect">
            <a:avLst>
              <a:gd name="adj" fmla="val 14286"/>
            </a:avLst>
          </a:prstGeom>
          <a:solidFill>
            <a:srgbClr val="0E9F9A"/>
          </a:solidFill>
          <a:ln/>
        </p:spPr>
      </p:sp>
      <p:sp>
        <p:nvSpPr>
          <p:cNvPr id="12" name="Text 10"/>
          <p:cNvSpPr txBox="1"/>
          <p:nvPr/>
        </p:nvSpPr>
        <p:spPr>
          <a:xfrm>
            <a:off x="4407408" y="1371600"/>
            <a:ext cx="3200400" cy="384048"/>
          </a:xfrm>
          <a:prstGeom prst="rect">
            <a:avLst/>
          </a:prstGeom>
          <a:noFill/>
          <a:ln/>
        </p:spPr>
        <p:txBody>
          <a:bodyPr wrap="square" lIns="0" tIns="0" rIns="0" bIns="0" rtlCol="0" anchor="ctr"/>
          <a:lstStyle/>
          <a:p>
            <a:pPr indent="0" marL="0">
              <a:buNone/>
            </a:pPr>
            <a:r>
              <a:rPr lang="en-US" sz="1150" b="1" dirty="0">
                <a:solidFill>
                  <a:srgbClr val="FFFFFF"/>
                </a:solidFill>
                <a:latin typeface="Meiryo UI" pitchFamily="34" charset="0"/>
                <a:ea typeface="Meiryo UI" pitchFamily="34" charset="-122"/>
                <a:cs typeface="Meiryo UI" pitchFamily="34" charset="-120"/>
              </a:rPr>
              <a:t>検討セッション</a:t>
            </a:r>
            <a:pPr indent="0" marL="0">
              <a:buNone/>
            </a:pPr>
            <a:r>
              <a:rPr lang="en-US" sz="850" dirty="0">
                <a:solidFill>
                  <a:srgbClr val="FFFFFF"/>
                </a:solidFill>
                <a:latin typeface="Meiryo UI" pitchFamily="34" charset="0"/>
                <a:ea typeface="Meiryo UI" pitchFamily="34" charset="-122"/>
                <a:cs typeface="Meiryo UI" pitchFamily="34" charset="-120"/>
              </a:rPr>
              <a:t>  工程ごと</a:t>
            </a:r>
            <a:endParaRPr lang="en-US" sz="1150" dirty="0"/>
          </a:p>
        </p:txBody>
      </p:sp>
      <p:sp>
        <p:nvSpPr>
          <p:cNvPr id="13" name="Text 11"/>
          <p:cNvSpPr txBox="1"/>
          <p:nvPr/>
        </p:nvSpPr>
        <p:spPr>
          <a:xfrm>
            <a:off x="4407408" y="1874520"/>
            <a:ext cx="3182112" cy="137160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対象のカードと工程（テーマ・商品・コピー・指示）</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担当者とロック（同時編集を防ぐ）</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状態：検討中／確定／破棄</a:t>
            </a:r>
            <a:endParaRPr lang="en-US" sz="1100" dirty="0"/>
          </a:p>
        </p:txBody>
      </p:sp>
      <p:sp>
        <p:nvSpPr>
          <p:cNvPr id="14" name="Shape 12"/>
          <p:cNvSpPr/>
          <p:nvPr/>
        </p:nvSpPr>
        <p:spPr>
          <a:xfrm>
            <a:off x="8046720" y="1371600"/>
            <a:ext cx="3566160" cy="1920240"/>
          </a:xfrm>
          <a:prstGeom prst="roundRect">
            <a:avLst>
              <a:gd name="adj" fmla="val 285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15" name="Shape 13"/>
          <p:cNvSpPr/>
          <p:nvPr/>
        </p:nvSpPr>
        <p:spPr>
          <a:xfrm>
            <a:off x="8046720" y="1371600"/>
            <a:ext cx="3566160" cy="384048"/>
          </a:xfrm>
          <a:prstGeom prst="roundRect">
            <a:avLst>
              <a:gd name="adj" fmla="val 14286"/>
            </a:avLst>
          </a:prstGeom>
          <a:solidFill>
            <a:srgbClr val="D9F2F1"/>
          </a:solidFill>
          <a:ln/>
        </p:spPr>
      </p:sp>
      <p:sp>
        <p:nvSpPr>
          <p:cNvPr id="16" name="Text 14"/>
          <p:cNvSpPr txBox="1"/>
          <p:nvPr/>
        </p:nvSpPr>
        <p:spPr>
          <a:xfrm>
            <a:off x="8156448" y="1371600"/>
            <a:ext cx="3383280" cy="384048"/>
          </a:xfrm>
          <a:prstGeom prst="rect">
            <a:avLst/>
          </a:prstGeom>
          <a:noFill/>
          <a:ln/>
        </p:spPr>
        <p:txBody>
          <a:bodyPr wrap="square" lIns="0" tIns="0" rIns="0" bIns="0" rtlCol="0" anchor="ctr"/>
          <a:lstStyle/>
          <a:p>
            <a:pPr indent="0" marL="0">
              <a:buNone/>
            </a:pPr>
            <a:r>
              <a:rPr lang="en-US" sz="1150" b="1" dirty="0">
                <a:solidFill>
                  <a:srgbClr val="0E9F9A"/>
                </a:solidFill>
                <a:latin typeface="Meiryo UI" pitchFamily="34" charset="0"/>
                <a:ea typeface="Meiryo UI" pitchFamily="34" charset="-122"/>
                <a:cs typeface="Meiryo UI" pitchFamily="34" charset="-120"/>
              </a:rPr>
              <a:t>AIの提案</a:t>
            </a:r>
            <a:pPr indent="0" marL="0">
              <a:buNone/>
            </a:pPr>
            <a:r>
              <a:rPr lang="en-US" sz="850" dirty="0">
                <a:solidFill>
                  <a:srgbClr val="0E9F9A"/>
                </a:solidFill>
                <a:latin typeface="Meiryo UI" pitchFamily="34" charset="0"/>
                <a:ea typeface="Meiryo UI" pitchFamily="34" charset="-122"/>
                <a:cs typeface="Meiryo UI" pitchFamily="34" charset="-120"/>
              </a:rPr>
              <a:t>  版ごと</a:t>
            </a:r>
            <a:endParaRPr lang="en-US" sz="1150" dirty="0"/>
          </a:p>
        </p:txBody>
      </p:sp>
      <p:sp>
        <p:nvSpPr>
          <p:cNvPr id="17" name="Text 15"/>
          <p:cNvSpPr txBox="1"/>
          <p:nvPr/>
        </p:nvSpPr>
        <p:spPr>
          <a:xfrm>
            <a:off x="8156448" y="1874520"/>
            <a:ext cx="3364992" cy="137160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提案内容（JSON）と理由</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入力に使った候補セットの版</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何回目の提案か</a:t>
            </a:r>
            <a:endParaRPr lang="en-US" sz="1100" dirty="0"/>
          </a:p>
        </p:txBody>
      </p:sp>
      <p:sp>
        <p:nvSpPr>
          <p:cNvPr id="18" name="Shape 16"/>
          <p:cNvSpPr/>
          <p:nvPr/>
        </p:nvSpPr>
        <p:spPr>
          <a:xfrm>
            <a:off x="548640" y="3703320"/>
            <a:ext cx="3383280" cy="1737360"/>
          </a:xfrm>
          <a:prstGeom prst="roundRect">
            <a:avLst>
              <a:gd name="adj" fmla="val 3158"/>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19" name="Shape 17"/>
          <p:cNvSpPr/>
          <p:nvPr/>
        </p:nvSpPr>
        <p:spPr>
          <a:xfrm>
            <a:off x="548640" y="3703320"/>
            <a:ext cx="3383280" cy="384048"/>
          </a:xfrm>
          <a:prstGeom prst="roundRect">
            <a:avLst>
              <a:gd name="adj" fmla="val 14286"/>
            </a:avLst>
          </a:prstGeom>
          <a:solidFill>
            <a:srgbClr val="E3EAF5"/>
          </a:solidFill>
          <a:ln/>
        </p:spPr>
      </p:sp>
      <p:sp>
        <p:nvSpPr>
          <p:cNvPr id="20" name="Text 18"/>
          <p:cNvSpPr txBox="1"/>
          <p:nvPr/>
        </p:nvSpPr>
        <p:spPr>
          <a:xfrm>
            <a:off x="658368" y="3703320"/>
            <a:ext cx="3200400" cy="384048"/>
          </a:xfrm>
          <a:prstGeom prst="rect">
            <a:avLst/>
          </a:prstGeom>
          <a:noFill/>
          <a:ln/>
        </p:spPr>
        <p:txBody>
          <a:bodyPr wrap="square" lIns="0" tIns="0" rIns="0" bIns="0"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候補セット</a:t>
            </a:r>
            <a:pPr indent="0" marL="0">
              <a:buNone/>
            </a:pPr>
            <a:r>
              <a:rPr lang="en-US" sz="850" dirty="0">
                <a:solidFill>
                  <a:srgbClr val="1B2A49"/>
                </a:solidFill>
                <a:latin typeface="Meiryo UI" pitchFamily="34" charset="0"/>
                <a:ea typeface="Meiryo UI" pitchFamily="34" charset="-122"/>
                <a:cs typeface="Meiryo UI" pitchFamily="34" charset="-120"/>
              </a:rPr>
              <a:t>  BigQueryで前処理</a:t>
            </a:r>
            <a:endParaRPr lang="en-US" sz="1150" dirty="0"/>
          </a:p>
        </p:txBody>
      </p:sp>
      <p:sp>
        <p:nvSpPr>
          <p:cNvPr id="21" name="Text 19"/>
          <p:cNvSpPr txBox="1"/>
          <p:nvPr/>
        </p:nvSpPr>
        <p:spPr>
          <a:xfrm>
            <a:off x="658368" y="4206240"/>
            <a:ext cx="3182112" cy="118872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配信日×国×カテゴリごとの候補商品</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売上・在庫・レビュー要約・天気などの指標</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日次で更新</a:t>
            </a:r>
            <a:endParaRPr lang="en-US" sz="1100" dirty="0"/>
          </a:p>
        </p:txBody>
      </p:sp>
      <p:sp>
        <p:nvSpPr>
          <p:cNvPr id="22" name="Shape 20"/>
          <p:cNvSpPr/>
          <p:nvPr/>
        </p:nvSpPr>
        <p:spPr>
          <a:xfrm>
            <a:off x="4297680" y="3703320"/>
            <a:ext cx="3383280" cy="1737360"/>
          </a:xfrm>
          <a:prstGeom prst="roundRect">
            <a:avLst>
              <a:gd name="adj" fmla="val 3158"/>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23" name="Shape 21"/>
          <p:cNvSpPr/>
          <p:nvPr/>
        </p:nvSpPr>
        <p:spPr>
          <a:xfrm>
            <a:off x="4297680" y="3703320"/>
            <a:ext cx="3383280" cy="384048"/>
          </a:xfrm>
          <a:prstGeom prst="roundRect">
            <a:avLst>
              <a:gd name="adj" fmla="val 14286"/>
            </a:avLst>
          </a:prstGeom>
          <a:solidFill>
            <a:srgbClr val="FDEBD3"/>
          </a:solidFill>
          <a:ln/>
        </p:spPr>
      </p:sp>
      <p:sp>
        <p:nvSpPr>
          <p:cNvPr id="24" name="Text 22"/>
          <p:cNvSpPr txBox="1"/>
          <p:nvPr/>
        </p:nvSpPr>
        <p:spPr>
          <a:xfrm>
            <a:off x="4407408" y="3703320"/>
            <a:ext cx="3200400" cy="384048"/>
          </a:xfrm>
          <a:prstGeom prst="rect">
            <a:avLst/>
          </a:prstGeom>
          <a:noFill/>
          <a:ln/>
        </p:spPr>
        <p:txBody>
          <a:bodyPr wrap="square" lIns="0" tIns="0" rIns="0" bIns="0" rtlCol="0" anchor="ctr"/>
          <a:lstStyle/>
          <a:p>
            <a:pPr indent="0" marL="0">
              <a:buNone/>
            </a:pPr>
            <a:r>
              <a:rPr lang="en-US" sz="1150" b="1" dirty="0">
                <a:solidFill>
                  <a:srgbClr val="E8912D"/>
                </a:solidFill>
                <a:latin typeface="Meiryo UI" pitchFamily="34" charset="0"/>
                <a:ea typeface="Meiryo UI" pitchFamily="34" charset="-122"/>
                <a:cs typeface="Meiryo UI" pitchFamily="34" charset="-120"/>
              </a:rPr>
              <a:t>やり取りの記録</a:t>
            </a:r>
            <a:pPr indent="0" marL="0">
              <a:buNone/>
            </a:pPr>
            <a:r>
              <a:rPr lang="en-US" sz="850" dirty="0">
                <a:solidFill>
                  <a:srgbClr val="E8912D"/>
                </a:solidFill>
                <a:latin typeface="Meiryo UI" pitchFamily="34" charset="0"/>
                <a:ea typeface="Meiryo UI" pitchFamily="34" charset="-122"/>
                <a:cs typeface="Meiryo UI" pitchFamily="34" charset="-120"/>
              </a:rPr>
              <a:t>  </a:t>
            </a:r>
            <a:endParaRPr lang="en-US" sz="1150" dirty="0"/>
          </a:p>
        </p:txBody>
      </p:sp>
      <p:sp>
        <p:nvSpPr>
          <p:cNvPr id="25" name="Text 23"/>
          <p:cNvSpPr txBox="1"/>
          <p:nvPr/>
        </p:nvSpPr>
        <p:spPr>
          <a:xfrm>
            <a:off x="4407408" y="4206240"/>
            <a:ext cx="3182112" cy="118872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チャットの指示と応答</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ドラッグでの入れ替えなどの操作</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日時と操作した人</a:t>
            </a:r>
            <a:endParaRPr lang="en-US" sz="1100" dirty="0"/>
          </a:p>
        </p:txBody>
      </p:sp>
      <p:sp>
        <p:nvSpPr>
          <p:cNvPr id="26" name="Shape 24"/>
          <p:cNvSpPr/>
          <p:nvPr/>
        </p:nvSpPr>
        <p:spPr>
          <a:xfrm>
            <a:off x="3959352" y="2103120"/>
            <a:ext cx="310896" cy="0"/>
          </a:xfrm>
          <a:prstGeom prst="line">
            <a:avLst/>
          </a:prstGeom>
          <a:noFill/>
          <a:ln w="22225">
            <a:solidFill>
              <a:srgbClr val="9AA5B4"/>
            </a:solidFill>
            <a:prstDash val="solid"/>
            <a:tailEnd type="triangle"/>
          </a:ln>
        </p:spPr>
      </p:sp>
      <p:sp>
        <p:nvSpPr>
          <p:cNvPr id="27" name="Text 25"/>
          <p:cNvSpPr txBox="1"/>
          <p:nvPr/>
        </p:nvSpPr>
        <p:spPr>
          <a:xfrm>
            <a:off x="3931920" y="1828800"/>
            <a:ext cx="411480" cy="22860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1対多</a:t>
            </a:r>
            <a:endParaRPr lang="en-US" sz="750" dirty="0"/>
          </a:p>
        </p:txBody>
      </p:sp>
      <p:sp>
        <p:nvSpPr>
          <p:cNvPr id="28" name="Shape 26"/>
          <p:cNvSpPr/>
          <p:nvPr/>
        </p:nvSpPr>
        <p:spPr>
          <a:xfrm flipH="1">
            <a:off x="3959352" y="2697480"/>
            <a:ext cx="310896" cy="0"/>
          </a:xfrm>
          <a:prstGeom prst="line">
            <a:avLst/>
          </a:prstGeom>
          <a:noFill/>
          <a:ln w="25400">
            <a:solidFill>
              <a:srgbClr val="0E9F9A"/>
            </a:solidFill>
            <a:prstDash val="dash"/>
            <a:tailEnd type="triangle"/>
          </a:ln>
        </p:spPr>
      </p:sp>
      <p:sp>
        <p:nvSpPr>
          <p:cNvPr id="29" name="Text 27"/>
          <p:cNvSpPr txBox="1"/>
          <p:nvPr/>
        </p:nvSpPr>
        <p:spPr>
          <a:xfrm>
            <a:off x="3886200" y="2761488"/>
            <a:ext cx="502920" cy="365760"/>
          </a:xfrm>
          <a:prstGeom prst="rect">
            <a:avLst/>
          </a:prstGeom>
          <a:noFill/>
          <a:ln/>
        </p:spPr>
        <p:txBody>
          <a:bodyPr wrap="square" lIns="0" tIns="0" rIns="0" bIns="0" rtlCol="0" anchor="t"/>
          <a:lstStyle/>
          <a:p>
            <a:pPr algn="ctr" indent="0" marL="0">
              <a:buNone/>
            </a:pPr>
            <a:r>
              <a:rPr lang="en-US" sz="700" b="1" dirty="0">
                <a:solidFill>
                  <a:srgbClr val="0E9F9A"/>
                </a:solidFill>
                <a:latin typeface="Meiryo UI" pitchFamily="34" charset="0"/>
                <a:ea typeface="Meiryo UI" pitchFamily="34" charset="-122"/>
                <a:cs typeface="Meiryo UI" pitchFamily="34" charset="-120"/>
              </a:rPr>
              <a:t>確定時に</a:t>
            </a:r>
            <a:endParaRPr lang="en-US" sz="700" dirty="0"/>
          </a:p>
          <a:p>
            <a:pPr algn="ctr" indent="0" marL="0">
              <a:buNone/>
            </a:pPr>
            <a:r>
              <a:rPr lang="en-US" sz="700" b="1" dirty="0">
                <a:solidFill>
                  <a:srgbClr val="0E9F9A"/>
                </a:solidFill>
                <a:latin typeface="Meiryo UI" pitchFamily="34" charset="0"/>
                <a:ea typeface="Meiryo UI" pitchFamily="34" charset="-122"/>
                <a:cs typeface="Meiryo UI" pitchFamily="34" charset="-120"/>
              </a:rPr>
              <a:t>書き込み</a:t>
            </a:r>
            <a:endParaRPr lang="en-US" sz="700" dirty="0"/>
          </a:p>
        </p:txBody>
      </p:sp>
      <p:sp>
        <p:nvSpPr>
          <p:cNvPr id="30" name="Shape 28"/>
          <p:cNvSpPr/>
          <p:nvPr/>
        </p:nvSpPr>
        <p:spPr>
          <a:xfrm>
            <a:off x="7708392" y="2331720"/>
            <a:ext cx="310896" cy="0"/>
          </a:xfrm>
          <a:prstGeom prst="line">
            <a:avLst/>
          </a:prstGeom>
          <a:noFill/>
          <a:ln w="22225">
            <a:solidFill>
              <a:srgbClr val="9AA5B4"/>
            </a:solidFill>
            <a:prstDash val="solid"/>
            <a:tailEnd type="triangle"/>
          </a:ln>
        </p:spPr>
      </p:sp>
      <p:sp>
        <p:nvSpPr>
          <p:cNvPr id="31" name="Text 29"/>
          <p:cNvSpPr txBox="1"/>
          <p:nvPr/>
        </p:nvSpPr>
        <p:spPr>
          <a:xfrm>
            <a:off x="7680960" y="2057400"/>
            <a:ext cx="411480" cy="22860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1対多</a:t>
            </a:r>
            <a:endParaRPr lang="en-US" sz="750" dirty="0"/>
          </a:p>
        </p:txBody>
      </p:sp>
      <p:sp>
        <p:nvSpPr>
          <p:cNvPr id="32" name="Shape 30"/>
          <p:cNvSpPr/>
          <p:nvPr/>
        </p:nvSpPr>
        <p:spPr>
          <a:xfrm>
            <a:off x="5989320" y="3319272"/>
            <a:ext cx="0" cy="356616"/>
          </a:xfrm>
          <a:prstGeom prst="line">
            <a:avLst/>
          </a:prstGeom>
          <a:noFill/>
          <a:ln w="22225">
            <a:solidFill>
              <a:srgbClr val="9AA5B4"/>
            </a:solidFill>
            <a:prstDash val="solid"/>
            <a:tailEnd type="triangle"/>
          </a:ln>
        </p:spPr>
      </p:sp>
      <p:sp>
        <p:nvSpPr>
          <p:cNvPr id="33" name="Text 31"/>
          <p:cNvSpPr txBox="1"/>
          <p:nvPr/>
        </p:nvSpPr>
        <p:spPr>
          <a:xfrm>
            <a:off x="6053328" y="3383280"/>
            <a:ext cx="457200" cy="228600"/>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1対多</a:t>
            </a:r>
            <a:endParaRPr lang="en-US" sz="750" dirty="0"/>
          </a:p>
        </p:txBody>
      </p:sp>
      <p:sp>
        <p:nvSpPr>
          <p:cNvPr id="34" name="Shape 32"/>
          <p:cNvSpPr/>
          <p:nvPr/>
        </p:nvSpPr>
        <p:spPr>
          <a:xfrm flipV="1">
            <a:off x="2240280" y="3319272"/>
            <a:ext cx="2514600" cy="356616"/>
          </a:xfrm>
          <a:prstGeom prst="line">
            <a:avLst/>
          </a:prstGeom>
          <a:noFill/>
          <a:ln w="22225">
            <a:solidFill>
              <a:srgbClr val="9AA5B4"/>
            </a:solidFill>
            <a:prstDash val="dash"/>
            <a:tailEnd type="triangle"/>
          </a:ln>
        </p:spPr>
      </p:sp>
      <p:sp>
        <p:nvSpPr>
          <p:cNvPr id="35" name="Text 33"/>
          <p:cNvSpPr txBox="1"/>
          <p:nvPr/>
        </p:nvSpPr>
        <p:spPr>
          <a:xfrm>
            <a:off x="3017520" y="3310128"/>
            <a:ext cx="457200" cy="228600"/>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参照</a:t>
            </a:r>
            <a:endParaRPr lang="en-US" sz="750" dirty="0"/>
          </a:p>
        </p:txBody>
      </p:sp>
      <p:sp>
        <p:nvSpPr>
          <p:cNvPr id="36" name="Shape 34"/>
          <p:cNvSpPr/>
          <p:nvPr/>
        </p:nvSpPr>
        <p:spPr>
          <a:xfrm>
            <a:off x="8046720" y="3703320"/>
            <a:ext cx="3566160" cy="1737360"/>
          </a:xfrm>
          <a:prstGeom prst="roundRect">
            <a:avLst>
              <a:gd name="adj" fmla="val 3158"/>
            </a:avLst>
          </a:prstGeom>
          <a:solidFill>
            <a:srgbClr val="D9F2F1"/>
          </a:solidFill>
          <a:ln/>
        </p:spPr>
      </p:sp>
      <p:sp>
        <p:nvSpPr>
          <p:cNvPr id="37" name="Shape 35"/>
          <p:cNvSpPr/>
          <p:nvPr/>
        </p:nvSpPr>
        <p:spPr>
          <a:xfrm>
            <a:off x="8183880" y="3822192"/>
            <a:ext cx="384048" cy="384048"/>
          </a:xfrm>
          <a:prstGeom prst="ellipse">
            <a:avLst/>
          </a:prstGeom>
          <a:solidFill>
            <a:srgbClr val="FFFFFF"/>
          </a:solidFill>
          <a:ln/>
        </p:spPr>
      </p:sp>
      <p:pic>
        <p:nvPicPr>
          <p:cNvPr id="38" name="Image 0" descr="preencoded.png">    </p:cNvPr>
          <p:cNvPicPr>
            <a:picLocks noChangeAspect="1"/>
          </p:cNvPicPr>
          <p:nvPr/>
        </p:nvPicPr>
        <p:blipFill>
          <a:blip r:embed="rId1"/>
          <a:stretch>
            <a:fillRect/>
          </a:stretch>
        </p:blipFill>
        <p:spPr>
          <a:xfrm>
            <a:off x="8260690" y="3899002"/>
            <a:ext cx="230429" cy="230429"/>
          </a:xfrm>
          <a:prstGeom prst="rect">
            <a:avLst/>
          </a:prstGeom>
        </p:spPr>
      </p:pic>
      <p:sp>
        <p:nvSpPr>
          <p:cNvPr id="39" name="Text 36"/>
          <p:cNvSpPr txBox="1"/>
          <p:nvPr/>
        </p:nvSpPr>
        <p:spPr>
          <a:xfrm>
            <a:off x="8641080" y="3822192"/>
            <a:ext cx="2880360" cy="384048"/>
          </a:xfrm>
          <a:prstGeom prst="rect">
            <a:avLst/>
          </a:prstGeom>
          <a:noFill/>
          <a:ln/>
        </p:spPr>
        <p:txBody>
          <a:bodyPr wrap="square" lIns="0" tIns="0" rIns="0" bIns="0"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分けることの利点</a:t>
            </a:r>
            <a:endParaRPr lang="en-US" sz="1150" dirty="0"/>
          </a:p>
        </p:txBody>
      </p:sp>
      <p:sp>
        <p:nvSpPr>
          <p:cNvPr id="40" name="Text 37"/>
          <p:cNvSpPr txBox="1"/>
          <p:nvPr/>
        </p:nvSpPr>
        <p:spPr>
          <a:xfrm>
            <a:off x="8229600" y="4306824"/>
            <a:ext cx="3246120" cy="1042416"/>
          </a:xfrm>
          <a:prstGeom prst="rect">
            <a:avLst/>
          </a:prstGeom>
          <a:noFill/>
          <a:ln/>
        </p:spPr>
        <p:txBody>
          <a:bodyPr wrap="square" lIns="254" tIns="254" rIns="254" bIns="254" rtlCol="0" anchor="t"/>
          <a:lstStyle/>
          <a:p>
            <a:pPr marL="152400" indent="-152400">
              <a:spcAft>
                <a:spcPts val="300"/>
              </a:spcAft>
              <a:buSzPct val="100000"/>
              <a:buChar char="•"/>
            </a:pPr>
            <a:r>
              <a:rPr lang="en-US" sz="1000" dirty="0">
                <a:solidFill>
                  <a:srgbClr val="2B2B2B"/>
                </a:solidFill>
                <a:latin typeface="Meiryo UI" pitchFamily="34" charset="0"/>
                <a:ea typeface="Meiryo UI" pitchFamily="34" charset="-122"/>
                <a:cs typeface="Meiryo UI" pitchFamily="34" charset="-120"/>
              </a:rPr>
              <a:t>途中で閉じても、あとで再開できる</a:t>
            </a:r>
            <a:endParaRPr lang="en-US" sz="1000" dirty="0"/>
          </a:p>
          <a:p>
            <a:pPr marL="152400" indent="-152400">
              <a:spcAft>
                <a:spcPts val="300"/>
              </a:spcAft>
              <a:buSzPct val="100000"/>
              <a:buChar char="•"/>
            </a:pPr>
            <a:r>
              <a:rPr lang="en-US" sz="1000" dirty="0">
                <a:solidFill>
                  <a:srgbClr val="2B2B2B"/>
                </a:solidFill>
                <a:latin typeface="Meiryo UI" pitchFamily="34" charset="0"/>
                <a:ea typeface="Meiryo UI" pitchFamily="34" charset="-122"/>
                <a:cs typeface="Meiryo UI" pitchFamily="34" charset="-120"/>
              </a:rPr>
              <a:t>AIの提案と確定内容の差が残り、品質評価・振り返り・好事例ライブラリに使える</a:t>
            </a:r>
            <a:endParaRPr lang="en-US" sz="1000" dirty="0"/>
          </a:p>
          <a:p>
            <a:pPr marL="152400" indent="-152400">
              <a:spcAft>
                <a:spcPts val="300"/>
              </a:spcAft>
              <a:buSzPct val="100000"/>
              <a:buChar char="•"/>
            </a:pPr>
            <a:r>
              <a:rPr lang="en-US" sz="1000" dirty="0">
                <a:solidFill>
                  <a:srgbClr val="2B2B2B"/>
                </a:solidFill>
                <a:latin typeface="Meiryo UI" pitchFamily="34" charset="0"/>
                <a:ea typeface="Meiryo UI" pitchFamily="34" charset="-122"/>
                <a:cs typeface="Meiryo UI" pitchFamily="34" charset="-120"/>
              </a:rPr>
              <a:t>同時編集をロックで防げる</a:t>
            </a:r>
            <a:endParaRPr lang="en-US" sz="1000" dirty="0"/>
          </a:p>
          <a:p>
            <a:pPr marL="152400" indent="-152400">
              <a:spcAft>
                <a:spcPts val="300"/>
              </a:spcAft>
              <a:buSzPct val="100000"/>
              <a:buChar char="•"/>
            </a:pPr>
            <a:r>
              <a:rPr lang="en-US" sz="1000" dirty="0">
                <a:solidFill>
                  <a:srgbClr val="2B2B2B"/>
                </a:solidFill>
                <a:latin typeface="Meiryo UI" pitchFamily="34" charset="0"/>
                <a:ea typeface="Meiryo UI" pitchFamily="34" charset="-122"/>
                <a:cs typeface="Meiryo UI" pitchFamily="34" charset="-120"/>
              </a:rPr>
              <a:t>検討中の内容でカードが散らからない</a:t>
            </a:r>
            <a:endParaRPr lang="en-US" sz="1000" dirty="0"/>
          </a:p>
        </p:txBody>
      </p:sp>
      <p:sp>
        <p:nvSpPr>
          <p:cNvPr id="41" name="Shape 38"/>
          <p:cNvSpPr/>
          <p:nvPr/>
        </p:nvSpPr>
        <p:spPr>
          <a:xfrm>
            <a:off x="548640" y="5577840"/>
            <a:ext cx="11064240" cy="749808"/>
          </a:xfrm>
          <a:prstGeom prst="roundRect">
            <a:avLst>
              <a:gd name="adj" fmla="val 7317"/>
            </a:avLst>
          </a:prstGeom>
          <a:solidFill>
            <a:srgbClr val="F3F5F8"/>
          </a:solidFill>
          <a:ln/>
        </p:spPr>
      </p:sp>
      <p:sp>
        <p:nvSpPr>
          <p:cNvPr id="42" name="Shape 39"/>
          <p:cNvSpPr/>
          <p:nvPr/>
        </p:nvSpPr>
        <p:spPr>
          <a:xfrm>
            <a:off x="685800" y="5705856"/>
            <a:ext cx="457200" cy="457200"/>
          </a:xfrm>
          <a:prstGeom prst="ellipse">
            <a:avLst/>
          </a:prstGeom>
          <a:solidFill>
            <a:srgbClr val="FFFFFF"/>
          </a:solidFill>
          <a:ln/>
        </p:spPr>
      </p:sp>
      <p:pic>
        <p:nvPicPr>
          <p:cNvPr id="43" name="Image 1" descr="preencoded.png">    </p:cNvPr>
          <p:cNvPicPr>
            <a:picLocks noChangeAspect="1"/>
          </p:cNvPicPr>
          <p:nvPr/>
        </p:nvPicPr>
        <p:blipFill>
          <a:blip r:embed="rId2"/>
          <a:stretch>
            <a:fillRect/>
          </a:stretch>
        </p:blipFill>
        <p:spPr>
          <a:xfrm>
            <a:off x="777240" y="5797296"/>
            <a:ext cx="274320" cy="274320"/>
          </a:xfrm>
          <a:prstGeom prst="rect">
            <a:avLst/>
          </a:prstGeom>
        </p:spPr>
      </p:pic>
      <p:sp>
        <p:nvSpPr>
          <p:cNvPr id="44" name="Text 40"/>
          <p:cNvSpPr txBox="1"/>
          <p:nvPr/>
        </p:nvSpPr>
        <p:spPr>
          <a:xfrm>
            <a:off x="1280160" y="5577840"/>
            <a:ext cx="10241280" cy="749808"/>
          </a:xfrm>
          <a:prstGeom prst="rect">
            <a:avLst/>
          </a:prstGeom>
          <a:noFill/>
          <a:ln/>
        </p:spPr>
        <p:txBody>
          <a:bodyPr wrap="square" lIns="0" tIns="0" rIns="0" bIns="0" rtlCol="0" anchor="ctr"/>
          <a:lstStyle/>
          <a:p>
            <a:pPr indent="0" marL="0">
              <a:buNone/>
            </a:pPr>
            <a:r>
              <a:rPr lang="en-US" sz="1000" b="1" dirty="0">
                <a:solidFill>
                  <a:srgbClr val="1B2A49"/>
                </a:solidFill>
                <a:latin typeface="Meiryo UI" pitchFamily="34" charset="0"/>
                <a:ea typeface="Meiryo UI" pitchFamily="34" charset="-122"/>
                <a:cs typeface="Meiryo UI" pitchFamily="34" charset="-120"/>
              </a:rPr>
              <a:t>設計で決めること：</a:t>
            </a:r>
            <a:pPr indent="0" marL="0">
              <a:buNone/>
            </a:pPr>
            <a:r>
              <a:rPr lang="en-US" sz="1000" dirty="0">
                <a:solidFill>
                  <a:srgbClr val="000000"/>
                </a:solidFill>
                <a:latin typeface="Meiryo UI" pitchFamily="34" charset="0"/>
                <a:ea typeface="Meiryo UI" pitchFamily="34" charset="-122"/>
                <a:cs typeface="Meiryo UI" pitchFamily="34" charset="-120"/>
              </a:rPr>
              <a:t>工程間のつながり（商品を確定し直したら、確定済みのコピーや制作指示をどう扱うか）／確定の粒度（工程ごとか、最後に一括か）／承認に回す単位（カード単位か）</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A8｜Lists＋code apps（組み合わせ）</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データはMicrosoft Listsに置き、画面をcode apps（TypeScript）で作り込む。カードをcode appとListsのどちらで表示するかは次ページ</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34</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Lists＋code apps</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Step3〜4</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2〜4ヶ月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2103120" cy="868680"/>
          </a:xfrm>
          <a:prstGeom prst="roundRect">
            <a:avLst>
              <a:gd name="adj" fmla="val 8421"/>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263140"/>
            <a:ext cx="365760" cy="365760"/>
          </a:xfrm>
          <a:prstGeom prst="rect">
            <a:avLst/>
          </a:prstGeom>
        </p:spPr>
      </p:pic>
      <p:sp>
        <p:nvSpPr>
          <p:cNvPr id="19" name="Text 16"/>
          <p:cNvSpPr txBox="1"/>
          <p:nvPr/>
        </p:nvSpPr>
        <p:spPr>
          <a:xfrm>
            <a:off x="1298448" y="2011680"/>
            <a:ext cx="149047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カレンダー・起案画面</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（TypeScript）</a:t>
            </a:r>
            <a:endParaRPr lang="en-US" sz="1050" dirty="0"/>
          </a:p>
        </p:txBody>
      </p:sp>
      <p:sp>
        <p:nvSpPr>
          <p:cNvPr id="20" name="Shape 17"/>
          <p:cNvSpPr/>
          <p:nvPr/>
        </p:nvSpPr>
        <p:spPr>
          <a:xfrm>
            <a:off x="731520" y="3154680"/>
            <a:ext cx="2103120" cy="868680"/>
          </a:xfrm>
          <a:prstGeom prst="roundRect">
            <a:avLst>
              <a:gd name="adj" fmla="val 8421"/>
            </a:avLst>
          </a:prstGeom>
          <a:solidFill>
            <a:srgbClr val="FDEBD3"/>
          </a:solidFill>
          <a:ln/>
        </p:spPr>
      </p:sp>
      <p:pic>
        <p:nvPicPr>
          <p:cNvPr id="21" name="Image 1" descr="preencoded.png">    </p:cNvPr>
          <p:cNvPicPr>
            <a:picLocks noChangeAspect="1"/>
          </p:cNvPicPr>
          <p:nvPr/>
        </p:nvPicPr>
        <p:blipFill>
          <a:blip r:embed="rId2"/>
          <a:stretch>
            <a:fillRect/>
          </a:stretch>
        </p:blipFill>
        <p:spPr>
          <a:xfrm>
            <a:off x="841248" y="3406140"/>
            <a:ext cx="365760" cy="365760"/>
          </a:xfrm>
          <a:prstGeom prst="rect">
            <a:avLst/>
          </a:prstGeom>
        </p:spPr>
      </p:pic>
      <p:sp>
        <p:nvSpPr>
          <p:cNvPr id="22" name="Text 18"/>
          <p:cNvSpPr txBox="1"/>
          <p:nvPr/>
        </p:nvSpPr>
        <p:spPr>
          <a:xfrm>
            <a:off x="1298448" y="3154680"/>
            <a:ext cx="149047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Listsの標準ビュー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簡単な確認・編集</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Teamsタブ</a:t>
            </a:r>
            <a:endParaRPr lang="en-US" sz="1050" dirty="0"/>
          </a:p>
        </p:txBody>
      </p:sp>
      <p:sp>
        <p:nvSpPr>
          <p:cNvPr id="23" name="Shape 19"/>
          <p:cNvSpPr/>
          <p:nvPr/>
        </p:nvSpPr>
        <p:spPr>
          <a:xfrm>
            <a:off x="2880360" y="2441448"/>
            <a:ext cx="365760" cy="347472"/>
          </a:xfrm>
          <a:prstGeom prst="line">
            <a:avLst/>
          </a:prstGeom>
          <a:noFill/>
          <a:ln w="22225">
            <a:solidFill>
              <a:srgbClr val="9AA5B4"/>
            </a:solidFill>
            <a:prstDash val="solid"/>
            <a:headEnd type="triangle"/>
            <a:tailEnd type="triangle"/>
          </a:ln>
        </p:spPr>
      </p:sp>
      <p:sp>
        <p:nvSpPr>
          <p:cNvPr id="24" name="Shape 20"/>
          <p:cNvSpPr/>
          <p:nvPr/>
        </p:nvSpPr>
        <p:spPr>
          <a:xfrm flipV="1">
            <a:off x="2880360" y="3246120"/>
            <a:ext cx="365760" cy="338328"/>
          </a:xfrm>
          <a:prstGeom prst="line">
            <a:avLst/>
          </a:prstGeom>
          <a:noFill/>
          <a:ln w="22225">
            <a:solidFill>
              <a:srgbClr val="9AA5B4"/>
            </a:solidFill>
            <a:prstDash val="solid"/>
            <a:headEnd type="triangle"/>
            <a:tailEnd type="triangle"/>
          </a:ln>
        </p:spPr>
      </p:sp>
      <p:sp>
        <p:nvSpPr>
          <p:cNvPr id="25" name="Shape 21"/>
          <p:cNvSpPr/>
          <p:nvPr/>
        </p:nvSpPr>
        <p:spPr>
          <a:xfrm>
            <a:off x="3291840" y="2011680"/>
            <a:ext cx="1783080" cy="2011680"/>
          </a:xfrm>
          <a:prstGeom prst="roundRect">
            <a:avLst>
              <a:gd name="adj" fmla="val 4103"/>
            </a:avLst>
          </a:prstGeom>
          <a:solidFill>
            <a:srgbClr val="1B2A49"/>
          </a:solidFill>
          <a:ln/>
        </p:spPr>
      </p:sp>
      <p:pic>
        <p:nvPicPr>
          <p:cNvPr id="26" name="Image 2" descr="preencoded.png">    </p:cNvPr>
          <p:cNvPicPr>
            <a:picLocks noChangeAspect="1"/>
          </p:cNvPicPr>
          <p:nvPr/>
        </p:nvPicPr>
        <p:blipFill>
          <a:blip r:embed="rId3"/>
          <a:stretch>
            <a:fillRect/>
          </a:stretch>
        </p:blipFill>
        <p:spPr>
          <a:xfrm>
            <a:off x="3995928" y="2194560"/>
            <a:ext cx="384048" cy="384048"/>
          </a:xfrm>
          <a:prstGeom prst="rect">
            <a:avLst/>
          </a:prstGeom>
        </p:spPr>
      </p:pic>
      <p:sp>
        <p:nvSpPr>
          <p:cNvPr id="27" name="Text 22"/>
          <p:cNvSpPr txBox="1"/>
          <p:nvPr/>
        </p:nvSpPr>
        <p:spPr>
          <a:xfrm>
            <a:off x="3291840" y="2697480"/>
            <a:ext cx="1783080" cy="320040"/>
          </a:xfrm>
          <a:prstGeom prst="rect">
            <a:avLst/>
          </a:prstGeom>
          <a:noFill/>
          <a:ln/>
        </p:spPr>
        <p:txBody>
          <a:bodyPr wrap="square" lIns="508" tIns="508" rIns="508" bIns="508"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Microsoft Lists</a:t>
            </a:r>
            <a:endParaRPr lang="en-US" sz="1100" dirty="0"/>
          </a:p>
        </p:txBody>
      </p:sp>
      <p:sp>
        <p:nvSpPr>
          <p:cNvPr id="28" name="Text 23"/>
          <p:cNvSpPr txBox="1"/>
          <p:nvPr/>
        </p:nvSpPr>
        <p:spPr>
          <a:xfrm>
            <a:off x="3291840" y="3017520"/>
            <a:ext cx="1783080" cy="868680"/>
          </a:xfrm>
          <a:prstGeom prst="rect">
            <a:avLst/>
          </a:prstGeom>
          <a:noFill/>
          <a:ln/>
        </p:spPr>
        <p:txBody>
          <a:bodyPr wrap="square" lIns="508" tIns="508" rIns="508" bIns="508" rtlCol="0" anchor="ctr"/>
          <a:lstStyle/>
          <a:p>
            <a:pPr algn="ctr" indent="0" marL="0">
              <a:buNone/>
            </a:pPr>
            <a:r>
              <a:rPr lang="en-US" sz="900" dirty="0">
                <a:solidFill>
                  <a:srgbClr val="E6F2F2"/>
                </a:solidFill>
                <a:latin typeface="Meiryo UI" pitchFamily="34" charset="0"/>
                <a:ea typeface="Meiryo UI" pitchFamily="34" charset="-122"/>
                <a:cs typeface="Meiryo UI" pitchFamily="34" charset="-120"/>
              </a:rPr>
              <a:t>配信カード</a:t>
            </a:r>
            <a:endParaRPr lang="en-US" sz="900" dirty="0"/>
          </a:p>
          <a:p>
            <a:pPr algn="ctr" indent="0" marL="0">
              <a:buNone/>
            </a:pPr>
            <a:r>
              <a:rPr lang="en-US" sz="900" dirty="0">
                <a:solidFill>
                  <a:srgbClr val="E6F2F2"/>
                </a:solidFill>
                <a:latin typeface="Meiryo UI" pitchFamily="34" charset="0"/>
                <a:ea typeface="Meiryo UI" pitchFamily="34" charset="-122"/>
                <a:cs typeface="Meiryo UI" pitchFamily="34" charset="-120"/>
              </a:rPr>
              <a:t>商品マスタ</a:t>
            </a:r>
            <a:endParaRPr lang="en-US" sz="900" dirty="0"/>
          </a:p>
          <a:p>
            <a:pPr algn="ctr" indent="0" marL="0">
              <a:buNone/>
            </a:pPr>
            <a:r>
              <a:rPr lang="en-US" sz="900" dirty="0">
                <a:solidFill>
                  <a:srgbClr val="E6F2F2"/>
                </a:solidFill>
                <a:latin typeface="Meiryo UI" pitchFamily="34" charset="0"/>
                <a:ea typeface="Meiryo UI" pitchFamily="34" charset="-122"/>
                <a:cs typeface="Meiryo UI" pitchFamily="34" charset="-120"/>
              </a:rPr>
              <a:t>ステータス</a:t>
            </a:r>
            <a:endParaRPr lang="en-US" sz="900" dirty="0"/>
          </a:p>
        </p:txBody>
      </p:sp>
      <p:sp>
        <p:nvSpPr>
          <p:cNvPr id="29" name="Shape 24"/>
          <p:cNvSpPr/>
          <p:nvPr/>
        </p:nvSpPr>
        <p:spPr>
          <a:xfrm>
            <a:off x="5120640" y="2441448"/>
            <a:ext cx="320040" cy="0"/>
          </a:xfrm>
          <a:prstGeom prst="line">
            <a:avLst/>
          </a:prstGeom>
          <a:noFill/>
          <a:ln w="22225">
            <a:solidFill>
              <a:srgbClr val="9AA5B4"/>
            </a:solidFill>
            <a:prstDash val="solid"/>
            <a:headEnd type="triangle"/>
            <a:tailEnd type="triangle"/>
          </a:ln>
        </p:spPr>
      </p:sp>
      <p:sp>
        <p:nvSpPr>
          <p:cNvPr id="30" name="Shape 25"/>
          <p:cNvSpPr/>
          <p:nvPr/>
        </p:nvSpPr>
        <p:spPr>
          <a:xfrm>
            <a:off x="5486400" y="2011680"/>
            <a:ext cx="1828800" cy="868680"/>
          </a:xfrm>
          <a:prstGeom prst="roundRect">
            <a:avLst>
              <a:gd name="adj" fmla="val 8421"/>
            </a:avLst>
          </a:prstGeom>
          <a:solidFill>
            <a:srgbClr val="D9F2F1"/>
          </a:solidFill>
          <a:ln/>
        </p:spPr>
      </p:sp>
      <p:pic>
        <p:nvPicPr>
          <p:cNvPr id="31" name="Image 3" descr="preencoded.png">    </p:cNvPr>
          <p:cNvPicPr>
            <a:picLocks noChangeAspect="1"/>
          </p:cNvPicPr>
          <p:nvPr/>
        </p:nvPicPr>
        <p:blipFill>
          <a:blip r:embed="rId4"/>
          <a:stretch>
            <a:fillRect/>
          </a:stretch>
        </p:blipFill>
        <p:spPr>
          <a:xfrm>
            <a:off x="5596128" y="2263140"/>
            <a:ext cx="365760" cy="365760"/>
          </a:xfrm>
          <a:prstGeom prst="rect">
            <a:avLst/>
          </a:prstGeom>
        </p:spPr>
      </p:pic>
      <p:sp>
        <p:nvSpPr>
          <p:cNvPr id="32" name="Text 26"/>
          <p:cNvSpPr txBox="1"/>
          <p:nvPr/>
        </p:nvSpPr>
        <p:spPr>
          <a:xfrm>
            <a:off x="6053328" y="2011680"/>
            <a:ext cx="121615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Power Automate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起案フロー</a:t>
            </a:r>
            <a:endParaRPr lang="en-US" sz="1050" dirty="0"/>
          </a:p>
        </p:txBody>
      </p:sp>
      <p:sp>
        <p:nvSpPr>
          <p:cNvPr id="33" name="Shape 27"/>
          <p:cNvSpPr/>
          <p:nvPr/>
        </p:nvSpPr>
        <p:spPr>
          <a:xfrm>
            <a:off x="6400800" y="2926080"/>
            <a:ext cx="0" cy="182880"/>
          </a:xfrm>
          <a:prstGeom prst="line">
            <a:avLst/>
          </a:prstGeom>
          <a:noFill/>
          <a:ln w="22225">
            <a:solidFill>
              <a:srgbClr val="9AA5B4"/>
            </a:solidFill>
            <a:prstDash val="solid"/>
            <a:headEnd type="triangle"/>
            <a:tailEnd type="triangle"/>
          </a:ln>
        </p:spPr>
      </p:sp>
      <p:sp>
        <p:nvSpPr>
          <p:cNvPr id="34" name="Shape 28"/>
          <p:cNvSpPr/>
          <p:nvPr/>
        </p:nvSpPr>
        <p:spPr>
          <a:xfrm>
            <a:off x="5486400" y="3154680"/>
            <a:ext cx="1828800" cy="868680"/>
          </a:xfrm>
          <a:prstGeom prst="roundRect">
            <a:avLst>
              <a:gd name="adj" fmla="val 8421"/>
            </a:avLst>
          </a:prstGeom>
          <a:solidFill>
            <a:srgbClr val="0E9F9A"/>
          </a:solidFill>
          <a:ln/>
        </p:spPr>
      </p:sp>
      <p:sp>
        <p:nvSpPr>
          <p:cNvPr id="35" name="Shape 29"/>
          <p:cNvSpPr/>
          <p:nvPr/>
        </p:nvSpPr>
        <p:spPr>
          <a:xfrm>
            <a:off x="5559552" y="3332988"/>
            <a:ext cx="512064" cy="512064"/>
          </a:xfrm>
          <a:prstGeom prst="ellipse">
            <a:avLst/>
          </a:prstGeom>
          <a:solidFill>
            <a:srgbClr val="FFFFFF"/>
          </a:solidFill>
          <a:ln/>
        </p:spPr>
      </p:sp>
      <p:pic>
        <p:nvPicPr>
          <p:cNvPr id="36" name="Image 4" descr="preencoded.png">    </p:cNvPr>
          <p:cNvPicPr>
            <a:picLocks noChangeAspect="1"/>
          </p:cNvPicPr>
          <p:nvPr/>
        </p:nvPicPr>
        <p:blipFill>
          <a:blip r:embed="rId5"/>
          <a:stretch>
            <a:fillRect/>
          </a:stretch>
        </p:blipFill>
        <p:spPr>
          <a:xfrm>
            <a:off x="5632704" y="3406140"/>
            <a:ext cx="365760" cy="365760"/>
          </a:xfrm>
          <a:prstGeom prst="rect">
            <a:avLst/>
          </a:prstGeom>
        </p:spPr>
      </p:pic>
      <p:sp>
        <p:nvSpPr>
          <p:cNvPr id="37" name="Text 30"/>
          <p:cNvSpPr txBox="1"/>
          <p:nvPr/>
        </p:nvSpPr>
        <p:spPr>
          <a:xfrm>
            <a:off x="6217920" y="3154680"/>
            <a:ext cx="1051560" cy="86868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AI Builder</a:t>
            </a:r>
            <a:endParaRPr lang="en-US" sz="1050" dirty="0"/>
          </a:p>
        </p:txBody>
      </p:sp>
      <p:sp>
        <p:nvSpPr>
          <p:cNvPr id="38" name="Shape 31"/>
          <p:cNvSpPr/>
          <p:nvPr/>
        </p:nvSpPr>
        <p:spPr>
          <a:xfrm>
            <a:off x="7680960" y="1874520"/>
            <a:ext cx="3931920" cy="2514600"/>
          </a:xfrm>
          <a:prstGeom prst="roundRect">
            <a:avLst>
              <a:gd name="adj" fmla="val 2182"/>
            </a:avLst>
          </a:prstGeom>
          <a:solidFill>
            <a:srgbClr val="E3EAF5"/>
          </a:solidFill>
          <a:ln/>
        </p:spPr>
      </p:sp>
      <p:sp>
        <p:nvSpPr>
          <p:cNvPr id="39" name="Shape 32"/>
          <p:cNvSpPr/>
          <p:nvPr/>
        </p:nvSpPr>
        <p:spPr>
          <a:xfrm>
            <a:off x="7818120" y="1993392"/>
            <a:ext cx="384048" cy="384048"/>
          </a:xfrm>
          <a:prstGeom prst="ellipse">
            <a:avLst/>
          </a:prstGeom>
          <a:solidFill>
            <a:srgbClr val="FFFFFF"/>
          </a:solidFill>
          <a:ln/>
        </p:spPr>
      </p:sp>
      <p:pic>
        <p:nvPicPr>
          <p:cNvPr id="40" name="Image 5" descr="preencoded.png">    </p:cNvPr>
          <p:cNvPicPr>
            <a:picLocks noChangeAspect="1"/>
          </p:cNvPicPr>
          <p:nvPr/>
        </p:nvPicPr>
        <p:blipFill>
          <a:blip r:embed="rId6"/>
          <a:stretch>
            <a:fillRect/>
          </a:stretch>
        </p:blipFill>
        <p:spPr>
          <a:xfrm>
            <a:off x="7894930" y="2070202"/>
            <a:ext cx="230429" cy="230429"/>
          </a:xfrm>
          <a:prstGeom prst="rect">
            <a:avLst/>
          </a:prstGeom>
        </p:spPr>
      </p:pic>
      <p:sp>
        <p:nvSpPr>
          <p:cNvPr id="41" name="Text 33"/>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2" name="Text 34"/>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Microsoft Lists（データの置き場所）</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Apps code apps（画面）</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SharePointコネクタ（code appsから利用）</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Automate／Copilot Studio（起案）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code appsの利用者にPower Apps Premium</a:t>
            </a:r>
            <a:endParaRPr lang="en-US" sz="1100" dirty="0"/>
          </a:p>
        </p:txBody>
      </p:sp>
      <p:sp>
        <p:nvSpPr>
          <p:cNvPr id="43" name="Shape 35"/>
          <p:cNvSpPr/>
          <p:nvPr/>
        </p:nvSpPr>
        <p:spPr>
          <a:xfrm>
            <a:off x="548640" y="4572000"/>
            <a:ext cx="3566160" cy="1783080"/>
          </a:xfrm>
          <a:prstGeom prst="roundRect">
            <a:avLst>
              <a:gd name="adj" fmla="val 3077"/>
            </a:avLst>
          </a:prstGeom>
          <a:solidFill>
            <a:srgbClr val="D9F2F1"/>
          </a:solidFill>
          <a:ln/>
        </p:spPr>
      </p:sp>
      <p:sp>
        <p:nvSpPr>
          <p:cNvPr id="44" name="Shape 36"/>
          <p:cNvSpPr/>
          <p:nvPr/>
        </p:nvSpPr>
        <p:spPr>
          <a:xfrm>
            <a:off x="685800" y="4690872"/>
            <a:ext cx="384048" cy="384048"/>
          </a:xfrm>
          <a:prstGeom prst="ellipse">
            <a:avLst/>
          </a:prstGeom>
          <a:solidFill>
            <a:srgbClr val="FFFFFF"/>
          </a:solidFill>
          <a:ln/>
        </p:spPr>
      </p:sp>
      <p:pic>
        <p:nvPicPr>
          <p:cNvPr id="45" name="Image 6" descr="preencoded.png">    </p:cNvPr>
          <p:cNvPicPr>
            <a:picLocks noChangeAspect="1"/>
          </p:cNvPicPr>
          <p:nvPr/>
        </p:nvPicPr>
        <p:blipFill>
          <a:blip r:embed="rId7"/>
          <a:stretch>
            <a:fillRect/>
          </a:stretch>
        </p:blipFill>
        <p:spPr>
          <a:xfrm>
            <a:off x="762610" y="4767682"/>
            <a:ext cx="230429" cy="230429"/>
          </a:xfrm>
          <a:prstGeom prst="rect">
            <a:avLst/>
          </a:prstGeom>
        </p:spPr>
      </p:pic>
      <p:sp>
        <p:nvSpPr>
          <p:cNvPr id="46" name="Text 37"/>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47" name="Text 38"/>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画面はTypeScriptで作り込み、データ管理はListsの手軽さを活かせる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Dataverseへのデータ移行が不要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A5（Lists）から段階的に移行できる</a:t>
            </a:r>
            <a:endParaRPr lang="en-US" sz="1150" dirty="0"/>
          </a:p>
        </p:txBody>
      </p:sp>
      <p:sp>
        <p:nvSpPr>
          <p:cNvPr id="48" name="Shape 39"/>
          <p:cNvSpPr/>
          <p:nvPr/>
        </p:nvSpPr>
        <p:spPr>
          <a:xfrm>
            <a:off x="4297680" y="4572000"/>
            <a:ext cx="3566160" cy="1783080"/>
          </a:xfrm>
          <a:prstGeom prst="roundRect">
            <a:avLst>
              <a:gd name="adj" fmla="val 3077"/>
            </a:avLst>
          </a:prstGeom>
          <a:solidFill>
            <a:srgbClr val="FBE3E3"/>
          </a:solidFill>
          <a:ln/>
        </p:spPr>
      </p:sp>
      <p:sp>
        <p:nvSpPr>
          <p:cNvPr id="49" name="Shape 40"/>
          <p:cNvSpPr/>
          <p:nvPr/>
        </p:nvSpPr>
        <p:spPr>
          <a:xfrm>
            <a:off x="4434840" y="4690872"/>
            <a:ext cx="384048" cy="384048"/>
          </a:xfrm>
          <a:prstGeom prst="ellipse">
            <a:avLst/>
          </a:prstGeom>
          <a:solidFill>
            <a:srgbClr val="FFFFFF"/>
          </a:solidFill>
          <a:ln/>
        </p:spPr>
      </p:sp>
      <p:pic>
        <p:nvPicPr>
          <p:cNvPr id="50" name="Image 7" descr="preencoded.png">    </p:cNvPr>
          <p:cNvPicPr>
            <a:picLocks noChangeAspect="1"/>
          </p:cNvPicPr>
          <p:nvPr/>
        </p:nvPicPr>
        <p:blipFill>
          <a:blip r:embed="rId8"/>
          <a:stretch>
            <a:fillRect/>
          </a:stretch>
        </p:blipFill>
        <p:spPr>
          <a:xfrm>
            <a:off x="4511650" y="4767682"/>
            <a:ext cx="230429" cy="230429"/>
          </a:xfrm>
          <a:prstGeom prst="rect">
            <a:avLst/>
          </a:prstGeom>
        </p:spPr>
      </p:pic>
      <p:sp>
        <p:nvSpPr>
          <p:cNvPr id="51" name="Text 41"/>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2" name="Text 42"/>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Listsの制約（ビュー5,000件、弱いリレーション）はそのまま残る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code appsの利用者にはPremiumが必要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2つの画面の役割分担を決める必要がある</a:t>
            </a:r>
            <a:endParaRPr lang="en-US" sz="1150" dirty="0"/>
          </a:p>
        </p:txBody>
      </p:sp>
      <p:sp>
        <p:nvSpPr>
          <p:cNvPr id="53" name="Shape 43"/>
          <p:cNvSpPr/>
          <p:nvPr/>
        </p:nvSpPr>
        <p:spPr>
          <a:xfrm>
            <a:off x="8046720" y="4572000"/>
            <a:ext cx="3566160" cy="1783080"/>
          </a:xfrm>
          <a:prstGeom prst="roundRect">
            <a:avLst>
              <a:gd name="adj" fmla="val 3077"/>
            </a:avLst>
          </a:prstGeom>
          <a:solidFill>
            <a:srgbClr val="FDEBD3"/>
          </a:solidFill>
          <a:ln/>
        </p:spPr>
      </p:sp>
      <p:sp>
        <p:nvSpPr>
          <p:cNvPr id="54" name="Shape 44"/>
          <p:cNvSpPr/>
          <p:nvPr/>
        </p:nvSpPr>
        <p:spPr>
          <a:xfrm>
            <a:off x="8183880" y="4690872"/>
            <a:ext cx="384048" cy="384048"/>
          </a:xfrm>
          <a:prstGeom prst="ellipse">
            <a:avLst/>
          </a:prstGeom>
          <a:solidFill>
            <a:srgbClr val="FFFFFF"/>
          </a:solidFill>
          <a:ln/>
        </p:spPr>
      </p:sp>
      <p:pic>
        <p:nvPicPr>
          <p:cNvPr id="55" name="Image 8" descr="preencoded.png">    </p:cNvPr>
          <p:cNvPicPr>
            <a:picLocks noChangeAspect="1"/>
          </p:cNvPicPr>
          <p:nvPr/>
        </p:nvPicPr>
        <p:blipFill>
          <a:blip r:embed="rId9"/>
          <a:stretch>
            <a:fillRect/>
          </a:stretch>
        </p:blipFill>
        <p:spPr>
          <a:xfrm>
            <a:off x="8260690" y="4767682"/>
            <a:ext cx="230429" cy="230429"/>
          </a:xfrm>
          <a:prstGeom prst="rect">
            <a:avLst/>
          </a:prstGeom>
        </p:spPr>
      </p:pic>
      <p:sp>
        <p:nvSpPr>
          <p:cNvPr id="56" name="Text 45"/>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57" name="Text 46"/>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code appsを使う人の範囲（全員か、起案担当だけか）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Listsの列・インデックスの設計</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将来Dataverseへ移す可能性</a:t>
            </a:r>
            <a:endParaRPr lang="en-US" sz="1150" dirty="0"/>
          </a:p>
        </p:txBody>
      </p:sp>
      <p:sp>
        <p:nvSpPr>
          <p:cNvPr id="58" name="Text 47"/>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A8の画面構成：カードをどこで表示するか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Lists＋code appsの組み合わせには2通りあり、どちらにするかで必要な機能とライセンスの範囲が変わる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35</a:t>
            </a:r>
            <a:endParaRPr lang="en-US" sz="900" dirty="0"/>
          </a:p>
        </p:txBody>
      </p:sp>
      <p:sp>
        <p:nvSpPr>
          <p:cNvPr id="6" name="Shape 4"/>
          <p:cNvSpPr/>
          <p:nvPr/>
        </p:nvSpPr>
        <p:spPr>
          <a:xfrm>
            <a:off x="548640" y="1371600"/>
            <a:ext cx="5440680" cy="4937760"/>
          </a:xfrm>
          <a:prstGeom prst="roundRect">
            <a:avLst>
              <a:gd name="adj" fmla="val 1111"/>
            </a:avLst>
          </a:prstGeom>
          <a:solidFill>
            <a:srgbClr val="F3F5F8"/>
          </a:solidFill>
          <a:ln/>
        </p:spPr>
      </p:sp>
      <p:sp>
        <p:nvSpPr>
          <p:cNvPr id="7" name="Shape 5"/>
          <p:cNvSpPr/>
          <p:nvPr/>
        </p:nvSpPr>
        <p:spPr>
          <a:xfrm>
            <a:off x="731520" y="1508760"/>
            <a:ext cx="731520" cy="310896"/>
          </a:xfrm>
          <a:prstGeom prst="roundRect">
            <a:avLst>
              <a:gd name="adj" fmla="val 50000"/>
            </a:avLst>
          </a:prstGeom>
          <a:solidFill>
            <a:srgbClr val="1B2A49"/>
          </a:solidFill>
          <a:ln/>
        </p:spPr>
      </p:sp>
      <p:sp>
        <p:nvSpPr>
          <p:cNvPr id="8" name="Text 6"/>
          <p:cNvSpPr txBox="1"/>
          <p:nvPr/>
        </p:nvSpPr>
        <p:spPr>
          <a:xfrm>
            <a:off x="731520" y="1508760"/>
            <a:ext cx="73152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案a</a:t>
            </a:r>
            <a:endParaRPr lang="en-US" sz="1050" dirty="0"/>
          </a:p>
        </p:txBody>
      </p:sp>
      <p:sp>
        <p:nvSpPr>
          <p:cNvPr id="9" name="Text 7"/>
          <p:cNvSpPr txBox="1"/>
          <p:nvPr/>
        </p:nvSpPr>
        <p:spPr>
          <a:xfrm>
            <a:off x="1554480" y="1481328"/>
            <a:ext cx="4297680" cy="36576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カード表示もcode appで作る</a:t>
            </a:r>
            <a:endParaRPr lang="en-US" sz="1300" dirty="0"/>
          </a:p>
        </p:txBody>
      </p:sp>
      <p:sp>
        <p:nvSpPr>
          <p:cNvPr id="10" name="Shape 8"/>
          <p:cNvSpPr/>
          <p:nvPr/>
        </p:nvSpPr>
        <p:spPr>
          <a:xfrm>
            <a:off x="731520" y="1965960"/>
            <a:ext cx="5074920" cy="960120"/>
          </a:xfrm>
          <a:prstGeom prst="roundRect">
            <a:avLst>
              <a:gd name="adj" fmla="val 5714"/>
            </a:avLst>
          </a:prstGeom>
          <a:solidFill>
            <a:srgbClr val="FFFFFF"/>
          </a:solidFill>
          <a:ln w="12700">
            <a:solidFill>
              <a:srgbClr val="D5DBE3"/>
            </a:solidFill>
            <a:prstDash val="solid"/>
          </a:ln>
        </p:spPr>
      </p:sp>
      <p:sp>
        <p:nvSpPr>
          <p:cNvPr id="11" name="Shape 9"/>
          <p:cNvSpPr/>
          <p:nvPr/>
        </p:nvSpPr>
        <p:spPr>
          <a:xfrm>
            <a:off x="822960" y="2057400"/>
            <a:ext cx="2377440" cy="777240"/>
          </a:xfrm>
          <a:prstGeom prst="roundRect">
            <a:avLst>
              <a:gd name="adj" fmla="val 9412"/>
            </a:avLst>
          </a:prstGeom>
          <a:solidFill>
            <a:srgbClr val="FDEBD3"/>
          </a:solidFill>
          <a:ln/>
        </p:spPr>
      </p:sp>
      <p:pic>
        <p:nvPicPr>
          <p:cNvPr id="12" name="Image 0" descr="preencoded.png">    </p:cNvPr>
          <p:cNvPicPr>
            <a:picLocks noChangeAspect="1"/>
          </p:cNvPicPr>
          <p:nvPr/>
        </p:nvPicPr>
        <p:blipFill>
          <a:blip r:embed="rId1"/>
          <a:stretch>
            <a:fillRect/>
          </a:stretch>
        </p:blipFill>
        <p:spPr>
          <a:xfrm>
            <a:off x="932688" y="2263140"/>
            <a:ext cx="365760" cy="365760"/>
          </a:xfrm>
          <a:prstGeom prst="rect">
            <a:avLst/>
          </a:prstGeom>
        </p:spPr>
      </p:pic>
      <p:sp>
        <p:nvSpPr>
          <p:cNvPr id="13" name="Text 10"/>
          <p:cNvSpPr txBox="1"/>
          <p:nvPr/>
        </p:nvSpPr>
        <p:spPr>
          <a:xfrm>
            <a:off x="1389888" y="2057400"/>
            <a:ext cx="176479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カレンダー・カード表示・工程レイヤー</a:t>
            </a:r>
            <a:endParaRPr lang="en-US" sz="1050" dirty="0"/>
          </a:p>
        </p:txBody>
      </p:sp>
      <p:sp>
        <p:nvSpPr>
          <p:cNvPr id="14" name="Shape 11"/>
          <p:cNvSpPr/>
          <p:nvPr/>
        </p:nvSpPr>
        <p:spPr>
          <a:xfrm>
            <a:off x="3246120" y="2441448"/>
            <a:ext cx="228600" cy="0"/>
          </a:xfrm>
          <a:prstGeom prst="line">
            <a:avLst/>
          </a:prstGeom>
          <a:noFill/>
          <a:ln w="22225">
            <a:solidFill>
              <a:srgbClr val="9AA5B4"/>
            </a:solidFill>
            <a:prstDash val="solid"/>
            <a:headEnd type="triangle"/>
            <a:tailEnd type="triangle"/>
          </a:ln>
        </p:spPr>
      </p:sp>
      <p:sp>
        <p:nvSpPr>
          <p:cNvPr id="15" name="Shape 12"/>
          <p:cNvSpPr/>
          <p:nvPr/>
        </p:nvSpPr>
        <p:spPr>
          <a:xfrm>
            <a:off x="3520440" y="2057400"/>
            <a:ext cx="2194560" cy="777240"/>
          </a:xfrm>
          <a:prstGeom prst="roundRect">
            <a:avLst>
              <a:gd name="adj" fmla="val 9412"/>
            </a:avLst>
          </a:prstGeom>
          <a:solidFill>
            <a:srgbClr val="E3EAF5"/>
          </a:solidFill>
          <a:ln/>
        </p:spPr>
      </p:sp>
      <p:pic>
        <p:nvPicPr>
          <p:cNvPr id="16" name="Image 1" descr="preencoded.png">    </p:cNvPr>
          <p:cNvPicPr>
            <a:picLocks noChangeAspect="1"/>
          </p:cNvPicPr>
          <p:nvPr/>
        </p:nvPicPr>
        <p:blipFill>
          <a:blip r:embed="rId2"/>
          <a:stretch>
            <a:fillRect/>
          </a:stretch>
        </p:blipFill>
        <p:spPr>
          <a:xfrm>
            <a:off x="3630168" y="2263140"/>
            <a:ext cx="365760" cy="365760"/>
          </a:xfrm>
          <a:prstGeom prst="rect">
            <a:avLst/>
          </a:prstGeom>
        </p:spPr>
      </p:pic>
      <p:sp>
        <p:nvSpPr>
          <p:cNvPr id="17" name="Text 13"/>
          <p:cNvSpPr txBox="1"/>
          <p:nvPr/>
        </p:nvSpPr>
        <p:spPr>
          <a:xfrm>
            <a:off x="4087368" y="2057400"/>
            <a:ext cx="158191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Microsoft Lists</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データの置き場所</a:t>
            </a:r>
            <a:endParaRPr lang="en-US" sz="1050" dirty="0"/>
          </a:p>
        </p:txBody>
      </p:sp>
      <p:sp>
        <p:nvSpPr>
          <p:cNvPr id="18" name="Text 14"/>
          <p:cNvSpPr txBox="1"/>
          <p:nvPr/>
        </p:nvSpPr>
        <p:spPr>
          <a:xfrm>
            <a:off x="731520" y="3063240"/>
            <a:ext cx="5120640" cy="3200400"/>
          </a:xfrm>
          <a:prstGeom prst="rect">
            <a:avLst/>
          </a:prstGeom>
          <a:noFill/>
          <a:ln/>
        </p:spPr>
        <p:txBody>
          <a:bodyPr wrap="square" lIns="254" tIns="254" rIns="254" bIns="254" rtlCol="0" anchor="t"/>
          <a:lstStyle/>
          <a:p>
            <a:pPr indent="0" marL="0">
              <a:spcAft>
                <a:spcPts val="300"/>
              </a:spcAft>
              <a:buNone/>
            </a:pPr>
            <a:r>
              <a:rPr lang="en-US" sz="1100" b="1" dirty="0">
                <a:solidFill>
                  <a:srgbClr val="1B2A49"/>
                </a:solidFill>
                <a:latin typeface="Meiryo UI" pitchFamily="34" charset="0"/>
                <a:ea typeface="Meiryo UI" pitchFamily="34" charset="-122"/>
                <a:cs typeface="Meiryo UI" pitchFamily="34" charset="-120"/>
              </a:rPr>
              <a:t>必要な機能</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code appでカレンダー・カード表示・工程レイヤーを実装</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Listsはデータの置き場所（標準ビューは補助的に使える）</a:t>
            </a:r>
            <a:endParaRPr lang="en-US" sz="1100" dirty="0"/>
          </a:p>
          <a:p>
            <a:pPr indent="0" marL="0">
              <a:spcAft>
                <a:spcPts val="300"/>
              </a:spcAft>
              <a:buNone/>
            </a:pPr>
            <a:r>
              <a:rPr lang="en-US" sz="1100" b="1" dirty="0">
                <a:solidFill>
                  <a:srgbClr val="0E9F9A"/>
                </a:solidFill>
                <a:latin typeface="Meiryo UI" pitchFamily="34" charset="0"/>
                <a:ea typeface="Meiryo UI" pitchFamily="34" charset="-122"/>
                <a:cs typeface="Meiryo UI" pitchFamily="34" charset="-120"/>
              </a:rPr>
              <a:t>長所</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表示を自由に設計でき、1つの画面で完結する</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カードの見せ方（色・情報量）を業務に合わせられる</a:t>
            </a:r>
            <a:endParaRPr lang="en-US" sz="1100" dirty="0"/>
          </a:p>
          <a:p>
            <a:pPr indent="0" marL="0">
              <a:spcAft>
                <a:spcPts val="300"/>
              </a:spcAft>
              <a:buNone/>
            </a:pPr>
            <a:r>
              <a:rPr lang="en-US" sz="1100" b="1" dirty="0">
                <a:solidFill>
                  <a:srgbClr val="D64545"/>
                </a:solidFill>
                <a:latin typeface="Meiryo UI" pitchFamily="34" charset="0"/>
                <a:ea typeface="Meiryo UI" pitchFamily="34" charset="-122"/>
                <a:cs typeface="Meiryo UI" pitchFamily="34" charset="-120"/>
              </a:rPr>
              <a:t>留意点</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カレンダー部分も開発が必要</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カードを見るだけの人も含め、code appの利用者全員にPower Apps Premium</a:t>
            </a:r>
            <a:endParaRPr lang="en-US" sz="1100" dirty="0"/>
          </a:p>
        </p:txBody>
      </p:sp>
      <p:sp>
        <p:nvSpPr>
          <p:cNvPr id="19" name="Shape 15"/>
          <p:cNvSpPr/>
          <p:nvPr/>
        </p:nvSpPr>
        <p:spPr>
          <a:xfrm>
            <a:off x="6172200" y="1371600"/>
            <a:ext cx="5440680" cy="4937760"/>
          </a:xfrm>
          <a:prstGeom prst="roundRect">
            <a:avLst>
              <a:gd name="adj" fmla="val 1111"/>
            </a:avLst>
          </a:prstGeom>
          <a:solidFill>
            <a:srgbClr val="D9F2F1"/>
          </a:solidFill>
          <a:ln/>
        </p:spPr>
      </p:sp>
      <p:sp>
        <p:nvSpPr>
          <p:cNvPr id="20" name="Shape 16"/>
          <p:cNvSpPr/>
          <p:nvPr/>
        </p:nvSpPr>
        <p:spPr>
          <a:xfrm>
            <a:off x="6355080" y="1508760"/>
            <a:ext cx="731520" cy="310896"/>
          </a:xfrm>
          <a:prstGeom prst="roundRect">
            <a:avLst>
              <a:gd name="adj" fmla="val 50000"/>
            </a:avLst>
          </a:prstGeom>
          <a:solidFill>
            <a:srgbClr val="1B2A49"/>
          </a:solidFill>
          <a:ln/>
        </p:spPr>
      </p:sp>
      <p:sp>
        <p:nvSpPr>
          <p:cNvPr id="21" name="Text 17"/>
          <p:cNvSpPr txBox="1"/>
          <p:nvPr/>
        </p:nvSpPr>
        <p:spPr>
          <a:xfrm>
            <a:off x="6355080" y="1508760"/>
            <a:ext cx="73152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案b</a:t>
            </a:r>
            <a:endParaRPr lang="en-US" sz="1050" dirty="0"/>
          </a:p>
        </p:txBody>
      </p:sp>
      <p:sp>
        <p:nvSpPr>
          <p:cNvPr id="22" name="Text 18"/>
          <p:cNvSpPr txBox="1"/>
          <p:nvPr/>
        </p:nvSpPr>
        <p:spPr>
          <a:xfrm>
            <a:off x="7178040" y="1481328"/>
            <a:ext cx="4297680" cy="36576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カード表示はListsのカレンダービュー</a:t>
            </a:r>
            <a:endParaRPr lang="en-US" sz="1300" dirty="0"/>
          </a:p>
        </p:txBody>
      </p:sp>
      <p:sp>
        <p:nvSpPr>
          <p:cNvPr id="23" name="Shape 19"/>
          <p:cNvSpPr/>
          <p:nvPr/>
        </p:nvSpPr>
        <p:spPr>
          <a:xfrm>
            <a:off x="6355080" y="1965960"/>
            <a:ext cx="5074920" cy="960120"/>
          </a:xfrm>
          <a:prstGeom prst="roundRect">
            <a:avLst>
              <a:gd name="adj" fmla="val 5714"/>
            </a:avLst>
          </a:prstGeom>
          <a:solidFill>
            <a:srgbClr val="FFFFFF"/>
          </a:solidFill>
          <a:ln w="12700">
            <a:solidFill>
              <a:srgbClr val="D5DBE3"/>
            </a:solidFill>
            <a:prstDash val="solid"/>
          </a:ln>
        </p:spPr>
      </p:sp>
      <p:sp>
        <p:nvSpPr>
          <p:cNvPr id="24" name="Shape 20"/>
          <p:cNvSpPr/>
          <p:nvPr/>
        </p:nvSpPr>
        <p:spPr>
          <a:xfrm>
            <a:off x="6446520" y="2057400"/>
            <a:ext cx="2377440" cy="777240"/>
          </a:xfrm>
          <a:prstGeom prst="roundRect">
            <a:avLst>
              <a:gd name="adj" fmla="val 9412"/>
            </a:avLst>
          </a:prstGeom>
          <a:solidFill>
            <a:srgbClr val="FDEBD3"/>
          </a:solidFill>
          <a:ln/>
        </p:spPr>
      </p:sp>
      <p:pic>
        <p:nvPicPr>
          <p:cNvPr id="25" name="Image 2" descr="preencoded.png">    </p:cNvPr>
          <p:cNvPicPr>
            <a:picLocks noChangeAspect="1"/>
          </p:cNvPicPr>
          <p:nvPr/>
        </p:nvPicPr>
        <p:blipFill>
          <a:blip r:embed="rId3"/>
          <a:stretch>
            <a:fillRect/>
          </a:stretch>
        </p:blipFill>
        <p:spPr>
          <a:xfrm>
            <a:off x="6556248" y="2263140"/>
            <a:ext cx="365760" cy="365760"/>
          </a:xfrm>
          <a:prstGeom prst="rect">
            <a:avLst/>
          </a:prstGeom>
        </p:spPr>
      </p:pic>
      <p:sp>
        <p:nvSpPr>
          <p:cNvPr id="26" name="Text 21"/>
          <p:cNvSpPr txBox="1"/>
          <p:nvPr/>
        </p:nvSpPr>
        <p:spPr>
          <a:xfrm>
            <a:off x="7013448" y="2057400"/>
            <a:ext cx="176479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Listsのカレンダービュー</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カード表示（標準機能）</a:t>
            </a:r>
            <a:endParaRPr lang="en-US" sz="1050" dirty="0"/>
          </a:p>
        </p:txBody>
      </p:sp>
      <p:sp>
        <p:nvSpPr>
          <p:cNvPr id="27" name="Shape 22"/>
          <p:cNvSpPr/>
          <p:nvPr/>
        </p:nvSpPr>
        <p:spPr>
          <a:xfrm>
            <a:off x="8869680" y="2441448"/>
            <a:ext cx="228600" cy="0"/>
          </a:xfrm>
          <a:prstGeom prst="line">
            <a:avLst/>
          </a:prstGeom>
          <a:noFill/>
          <a:ln w="22225">
            <a:solidFill>
              <a:srgbClr val="9AA5B4"/>
            </a:solidFill>
            <a:prstDash val="solid"/>
            <a:tailEnd type="triangle"/>
          </a:ln>
        </p:spPr>
      </p:sp>
      <p:sp>
        <p:nvSpPr>
          <p:cNvPr id="28" name="Shape 23"/>
          <p:cNvSpPr/>
          <p:nvPr/>
        </p:nvSpPr>
        <p:spPr>
          <a:xfrm>
            <a:off x="9144000" y="2057400"/>
            <a:ext cx="2194560" cy="777240"/>
          </a:xfrm>
          <a:prstGeom prst="roundRect">
            <a:avLst>
              <a:gd name="adj" fmla="val 9412"/>
            </a:avLst>
          </a:prstGeom>
          <a:solidFill>
            <a:srgbClr val="D9F2F1"/>
          </a:solidFill>
          <a:ln/>
        </p:spPr>
      </p:sp>
      <p:pic>
        <p:nvPicPr>
          <p:cNvPr id="29" name="Image 3" descr="preencoded.png">    </p:cNvPr>
          <p:cNvPicPr>
            <a:picLocks noChangeAspect="1"/>
          </p:cNvPicPr>
          <p:nvPr/>
        </p:nvPicPr>
        <p:blipFill>
          <a:blip r:embed="rId4"/>
          <a:stretch>
            <a:fillRect/>
          </a:stretch>
        </p:blipFill>
        <p:spPr>
          <a:xfrm>
            <a:off x="9253728" y="2263140"/>
            <a:ext cx="365760" cy="365760"/>
          </a:xfrm>
          <a:prstGeom prst="rect">
            <a:avLst/>
          </a:prstGeom>
        </p:spPr>
      </p:pic>
      <p:sp>
        <p:nvSpPr>
          <p:cNvPr id="30" name="Text 24"/>
          <p:cNvSpPr txBox="1"/>
          <p:nvPr/>
        </p:nvSpPr>
        <p:spPr>
          <a:xfrm>
            <a:off x="9710928" y="2057400"/>
            <a:ext cx="158191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工程レイヤーのみ（リンクで開く）</a:t>
            </a:r>
            <a:endParaRPr lang="en-US" sz="1050" dirty="0"/>
          </a:p>
        </p:txBody>
      </p:sp>
      <p:sp>
        <p:nvSpPr>
          <p:cNvPr id="31" name="Text 25"/>
          <p:cNvSpPr txBox="1"/>
          <p:nvPr/>
        </p:nvSpPr>
        <p:spPr>
          <a:xfrm>
            <a:off x="6355080" y="3063240"/>
            <a:ext cx="5120640" cy="3200400"/>
          </a:xfrm>
          <a:prstGeom prst="rect">
            <a:avLst/>
          </a:prstGeom>
          <a:noFill/>
          <a:ln/>
        </p:spPr>
        <p:txBody>
          <a:bodyPr wrap="square" lIns="254" tIns="254" rIns="254" bIns="254" rtlCol="0" anchor="t"/>
          <a:lstStyle/>
          <a:p>
            <a:pPr indent="0" marL="0">
              <a:spcAft>
                <a:spcPts val="300"/>
              </a:spcAft>
              <a:buNone/>
            </a:pPr>
            <a:r>
              <a:rPr lang="en-US" sz="1100" b="1" dirty="0">
                <a:solidFill>
                  <a:srgbClr val="1B2A49"/>
                </a:solidFill>
                <a:latin typeface="Meiryo UI" pitchFamily="34" charset="0"/>
                <a:ea typeface="Meiryo UI" pitchFamily="34" charset="-122"/>
                <a:cs typeface="Meiryo UI" pitchFamily="34" charset="-120"/>
              </a:rPr>
              <a:t>必要な機能</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Listsのカレンダービュー（標準機能）でカードを表示</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Listsの列の書式設定で「AIで起案・修正」ボタンを作り、項目IDつきでcode appを開く</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code appは工程レイヤー（推奨・入れ替え・プレビュー・チャット）だけを実装</a:t>
            </a:r>
            <a:endParaRPr lang="en-US" sz="1100" dirty="0"/>
          </a:p>
          <a:p>
            <a:pPr indent="0" marL="0">
              <a:spcAft>
                <a:spcPts val="300"/>
              </a:spcAft>
              <a:buNone/>
            </a:pPr>
            <a:r>
              <a:rPr lang="en-US" sz="1100" b="1" dirty="0">
                <a:solidFill>
                  <a:srgbClr val="0E9F9A"/>
                </a:solidFill>
                <a:latin typeface="Meiryo UI" pitchFamily="34" charset="0"/>
                <a:ea typeface="Meiryo UI" pitchFamily="34" charset="-122"/>
                <a:cs typeface="Meiryo UI" pitchFamily="34" charset="-120"/>
              </a:rPr>
              <a:t>長所</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カレンダー部分の開発が不要</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カレンダーはTeamsのタブにも表示できる</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Power Apps Premiumはcode appを使う人だけで済む</a:t>
            </a:r>
            <a:endParaRPr lang="en-US" sz="1100" dirty="0"/>
          </a:p>
          <a:p>
            <a:pPr indent="0" marL="0">
              <a:spcAft>
                <a:spcPts val="300"/>
              </a:spcAft>
              <a:buNone/>
            </a:pPr>
            <a:r>
              <a:rPr lang="en-US" sz="1100" b="1" dirty="0">
                <a:solidFill>
                  <a:srgbClr val="D64545"/>
                </a:solidFill>
                <a:latin typeface="Meiryo UI" pitchFamily="34" charset="0"/>
                <a:ea typeface="Meiryo UI" pitchFamily="34" charset="-122"/>
                <a:cs typeface="Meiryo UI" pitchFamily="34" charset="-120"/>
              </a:rPr>
              <a:t>留意点</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画面が2つ（Listsとcode app）に分かれる</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カードの見た目はListsの表示機能の範囲（列の書式設定での色・アイコン程度）</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1つのビューで扱えるのは5,000件まで</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H1｜Copilot Studio＋GCP API（ハイブリッド）</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資料と利用画面はM365、数値はGCPに置いたまま、APIで必要な結果だけを受け渡す</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36</a:t>
            </a:r>
            <a:endParaRPr lang="en-US" sz="900" dirty="0"/>
          </a:p>
        </p:txBody>
      </p:sp>
      <p:sp>
        <p:nvSpPr>
          <p:cNvPr id="6" name="Shape 4"/>
          <p:cNvSpPr/>
          <p:nvPr/>
        </p:nvSpPr>
        <p:spPr>
          <a:xfrm>
            <a:off x="548640" y="1371600"/>
            <a:ext cx="2103120" cy="347472"/>
          </a:xfrm>
          <a:prstGeom prst="roundRect">
            <a:avLst>
              <a:gd name="adj" fmla="val 50000"/>
            </a:avLst>
          </a:prstGeom>
          <a:solidFill>
            <a:srgbClr val="EEEAF8"/>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6B4FBB"/>
                </a:solidFill>
                <a:latin typeface="Meiryo UI" pitchFamily="34" charset="0"/>
                <a:ea typeface="Meiryo UI" pitchFamily="34" charset="-122"/>
                <a:cs typeface="Meiryo UI" pitchFamily="34" charset="-120"/>
              </a:rPr>
              <a:t>集約先  </a:t>
            </a:r>
            <a:pPr algn="ctr" indent="0" marL="0">
              <a:buNone/>
            </a:pPr>
            <a:r>
              <a:rPr lang="en-US" sz="1100" b="1" dirty="0">
                <a:solidFill>
                  <a:srgbClr val="6B4FBB"/>
                </a:solidFill>
                <a:latin typeface="Meiryo UI" pitchFamily="34" charset="0"/>
                <a:ea typeface="Meiryo UI" pitchFamily="34" charset="-122"/>
                <a:cs typeface="Meiryo UI" pitchFamily="34" charset="-120"/>
              </a:rPr>
              <a:t>ハイブリッド</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2〜4ヶ月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640080" y="1938528"/>
            <a:ext cx="4160520" cy="2377440"/>
          </a:xfrm>
          <a:prstGeom prst="roundRect">
            <a:avLst>
              <a:gd name="adj" fmla="val 1923"/>
            </a:avLst>
          </a:prstGeom>
          <a:solidFill>
            <a:srgbClr val="FFFFFF"/>
          </a:solidFill>
          <a:ln w="12700">
            <a:solidFill>
              <a:srgbClr val="0F6CBD"/>
            </a:solidFill>
            <a:prstDash val="dash"/>
          </a:ln>
        </p:spPr>
      </p:sp>
      <p:sp>
        <p:nvSpPr>
          <p:cNvPr id="18" name="Text 16"/>
          <p:cNvSpPr txBox="1"/>
          <p:nvPr/>
        </p:nvSpPr>
        <p:spPr>
          <a:xfrm>
            <a:off x="713232" y="1956816"/>
            <a:ext cx="1828800" cy="237744"/>
          </a:xfrm>
          <a:prstGeom prst="rect">
            <a:avLst/>
          </a:prstGeom>
          <a:noFill/>
          <a:ln/>
        </p:spPr>
        <p:txBody>
          <a:bodyPr wrap="square" lIns="0" tIns="0" rIns="0" bIns="0" rtlCol="0" anchor="ctr"/>
          <a:lstStyle/>
          <a:p>
            <a:pPr indent="0" marL="0">
              <a:buNone/>
            </a:pPr>
            <a:r>
              <a:rPr lang="en-US" sz="900" b="1" dirty="0">
                <a:solidFill>
                  <a:srgbClr val="0F6CBD"/>
                </a:solidFill>
                <a:latin typeface="Meiryo UI" pitchFamily="34" charset="0"/>
                <a:ea typeface="Meiryo UI" pitchFamily="34" charset="-122"/>
                <a:cs typeface="Meiryo UI" pitchFamily="34" charset="-120"/>
              </a:rPr>
              <a:t>M365</a:t>
            </a:r>
            <a:endParaRPr lang="en-US" sz="900" dirty="0"/>
          </a:p>
        </p:txBody>
      </p:sp>
      <p:sp>
        <p:nvSpPr>
          <p:cNvPr id="19" name="Shape 17"/>
          <p:cNvSpPr/>
          <p:nvPr/>
        </p:nvSpPr>
        <p:spPr>
          <a:xfrm>
            <a:off x="4937760" y="1938528"/>
            <a:ext cx="2468880" cy="2377440"/>
          </a:xfrm>
          <a:prstGeom prst="roundRect">
            <a:avLst>
              <a:gd name="adj" fmla="val 1923"/>
            </a:avLst>
          </a:prstGeom>
          <a:solidFill>
            <a:srgbClr val="FFFFFF"/>
          </a:solidFill>
          <a:ln w="12700">
            <a:solidFill>
              <a:srgbClr val="4285F4"/>
            </a:solidFill>
            <a:prstDash val="dash"/>
          </a:ln>
        </p:spPr>
      </p:sp>
      <p:sp>
        <p:nvSpPr>
          <p:cNvPr id="20" name="Text 18"/>
          <p:cNvSpPr txBox="1"/>
          <p:nvPr/>
        </p:nvSpPr>
        <p:spPr>
          <a:xfrm>
            <a:off x="5010912" y="1956816"/>
            <a:ext cx="1828800" cy="237744"/>
          </a:xfrm>
          <a:prstGeom prst="rect">
            <a:avLst/>
          </a:prstGeom>
          <a:noFill/>
          <a:ln/>
        </p:spPr>
        <p:txBody>
          <a:bodyPr wrap="square" lIns="0" tIns="0" rIns="0" bIns="0" rtlCol="0" anchor="ctr"/>
          <a:lstStyle/>
          <a:p>
            <a:pPr indent="0" marL="0">
              <a:buNone/>
            </a:pPr>
            <a:r>
              <a:rPr lang="en-US" sz="900" b="1" dirty="0">
                <a:solidFill>
                  <a:srgbClr val="4285F4"/>
                </a:solidFill>
                <a:latin typeface="Meiryo UI" pitchFamily="34" charset="0"/>
                <a:ea typeface="Meiryo UI" pitchFamily="34" charset="-122"/>
                <a:cs typeface="Meiryo UI" pitchFamily="34" charset="-120"/>
              </a:rPr>
              <a:t>GCP</a:t>
            </a:r>
            <a:endParaRPr lang="en-US" sz="900" dirty="0"/>
          </a:p>
        </p:txBody>
      </p:sp>
      <p:sp>
        <p:nvSpPr>
          <p:cNvPr id="21" name="Shape 19"/>
          <p:cNvSpPr/>
          <p:nvPr/>
        </p:nvSpPr>
        <p:spPr>
          <a:xfrm>
            <a:off x="777240" y="2240280"/>
            <a:ext cx="1691640" cy="777240"/>
          </a:xfrm>
          <a:prstGeom prst="roundRect">
            <a:avLst>
              <a:gd name="adj" fmla="val 9412"/>
            </a:avLst>
          </a:prstGeom>
          <a:solidFill>
            <a:srgbClr val="FDEBD3"/>
          </a:solidFill>
          <a:ln/>
        </p:spPr>
      </p:sp>
      <p:pic>
        <p:nvPicPr>
          <p:cNvPr id="22" name="Image 0" descr="preencoded.png">    </p:cNvPr>
          <p:cNvPicPr>
            <a:picLocks noChangeAspect="1"/>
          </p:cNvPicPr>
          <p:nvPr/>
        </p:nvPicPr>
        <p:blipFill>
          <a:blip r:embed="rId1"/>
          <a:stretch>
            <a:fillRect/>
          </a:stretch>
        </p:blipFill>
        <p:spPr>
          <a:xfrm>
            <a:off x="886968" y="2446020"/>
            <a:ext cx="365760" cy="365760"/>
          </a:xfrm>
          <a:prstGeom prst="rect">
            <a:avLst/>
          </a:prstGeom>
        </p:spPr>
      </p:pic>
      <p:sp>
        <p:nvSpPr>
          <p:cNvPr id="23" name="Text 20"/>
          <p:cNvSpPr txBox="1"/>
          <p:nvPr/>
        </p:nvSpPr>
        <p:spPr>
          <a:xfrm>
            <a:off x="1344168" y="2240280"/>
            <a:ext cx="107899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マーケター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Teamsで対話</a:t>
            </a:r>
            <a:endParaRPr lang="en-US" sz="1050" dirty="0"/>
          </a:p>
        </p:txBody>
      </p:sp>
      <p:sp>
        <p:nvSpPr>
          <p:cNvPr id="24" name="Shape 21"/>
          <p:cNvSpPr/>
          <p:nvPr/>
        </p:nvSpPr>
        <p:spPr>
          <a:xfrm>
            <a:off x="2514600" y="2624328"/>
            <a:ext cx="228600" cy="0"/>
          </a:xfrm>
          <a:prstGeom prst="line">
            <a:avLst/>
          </a:prstGeom>
          <a:noFill/>
          <a:ln w="22225">
            <a:solidFill>
              <a:srgbClr val="9AA5B4"/>
            </a:solidFill>
            <a:prstDash val="solid"/>
            <a:headEnd type="triangle"/>
            <a:tailEnd type="triangle"/>
          </a:ln>
        </p:spPr>
      </p:sp>
      <p:sp>
        <p:nvSpPr>
          <p:cNvPr id="25" name="Shape 22"/>
          <p:cNvSpPr/>
          <p:nvPr/>
        </p:nvSpPr>
        <p:spPr>
          <a:xfrm>
            <a:off x="2788920" y="2240280"/>
            <a:ext cx="1874520" cy="777240"/>
          </a:xfrm>
          <a:prstGeom prst="roundRect">
            <a:avLst>
              <a:gd name="adj" fmla="val 9412"/>
            </a:avLst>
          </a:prstGeom>
          <a:solidFill>
            <a:srgbClr val="0E9F9A"/>
          </a:solidFill>
          <a:ln/>
        </p:spPr>
      </p:sp>
      <p:sp>
        <p:nvSpPr>
          <p:cNvPr id="26" name="Shape 23"/>
          <p:cNvSpPr/>
          <p:nvPr/>
        </p:nvSpPr>
        <p:spPr>
          <a:xfrm>
            <a:off x="2862072" y="2372868"/>
            <a:ext cx="512064" cy="512064"/>
          </a:xfrm>
          <a:prstGeom prst="ellipse">
            <a:avLst/>
          </a:prstGeom>
          <a:solidFill>
            <a:srgbClr val="FFFFFF"/>
          </a:solidFill>
          <a:ln/>
        </p:spPr>
      </p:sp>
      <p:pic>
        <p:nvPicPr>
          <p:cNvPr id="27" name="Image 1" descr="preencoded.png">    </p:cNvPr>
          <p:cNvPicPr>
            <a:picLocks noChangeAspect="1"/>
          </p:cNvPicPr>
          <p:nvPr/>
        </p:nvPicPr>
        <p:blipFill>
          <a:blip r:embed="rId2"/>
          <a:stretch>
            <a:fillRect/>
          </a:stretch>
        </p:blipFill>
        <p:spPr>
          <a:xfrm>
            <a:off x="2935224" y="2446020"/>
            <a:ext cx="365760" cy="365760"/>
          </a:xfrm>
          <a:prstGeom prst="rect">
            <a:avLst/>
          </a:prstGeom>
        </p:spPr>
      </p:pic>
      <p:sp>
        <p:nvSpPr>
          <p:cNvPr id="28" name="Text 24"/>
          <p:cNvSpPr txBox="1"/>
          <p:nvPr/>
        </p:nvSpPr>
        <p:spPr>
          <a:xfrm>
            <a:off x="3520440" y="2240280"/>
            <a:ext cx="1097280" cy="77724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エージェント</a:t>
            </a:r>
            <a:endParaRPr lang="en-US" sz="1050" dirty="0"/>
          </a:p>
        </p:txBody>
      </p:sp>
      <p:sp>
        <p:nvSpPr>
          <p:cNvPr id="29" name="Shape 25"/>
          <p:cNvSpPr/>
          <p:nvPr/>
        </p:nvSpPr>
        <p:spPr>
          <a:xfrm flipV="1">
            <a:off x="3721608" y="3063240"/>
            <a:ext cx="0" cy="365760"/>
          </a:xfrm>
          <a:prstGeom prst="line">
            <a:avLst/>
          </a:prstGeom>
          <a:noFill/>
          <a:ln w="22225">
            <a:solidFill>
              <a:srgbClr val="9AA5B4"/>
            </a:solidFill>
            <a:prstDash val="solid"/>
            <a:tailEnd type="triangle"/>
          </a:ln>
        </p:spPr>
      </p:sp>
      <p:sp>
        <p:nvSpPr>
          <p:cNvPr id="30" name="Shape 26"/>
          <p:cNvSpPr/>
          <p:nvPr/>
        </p:nvSpPr>
        <p:spPr>
          <a:xfrm>
            <a:off x="2788920" y="3474720"/>
            <a:ext cx="1874520" cy="685800"/>
          </a:xfrm>
          <a:prstGeom prst="roundRect">
            <a:avLst>
              <a:gd name="adj" fmla="val 10667"/>
            </a:avLst>
          </a:prstGeom>
          <a:solidFill>
            <a:srgbClr val="E3EAF5"/>
          </a:solidFill>
          <a:ln/>
        </p:spPr>
      </p:sp>
      <p:pic>
        <p:nvPicPr>
          <p:cNvPr id="31" name="Image 2" descr="preencoded.png">    </p:cNvPr>
          <p:cNvPicPr>
            <a:picLocks noChangeAspect="1"/>
          </p:cNvPicPr>
          <p:nvPr/>
        </p:nvPicPr>
        <p:blipFill>
          <a:blip r:embed="rId3"/>
          <a:stretch>
            <a:fillRect/>
          </a:stretch>
        </p:blipFill>
        <p:spPr>
          <a:xfrm>
            <a:off x="2898648" y="3634740"/>
            <a:ext cx="365760" cy="365760"/>
          </a:xfrm>
          <a:prstGeom prst="rect">
            <a:avLst/>
          </a:prstGeom>
        </p:spPr>
      </p:pic>
      <p:sp>
        <p:nvSpPr>
          <p:cNvPr id="32" name="Text 27"/>
          <p:cNvSpPr txBox="1"/>
          <p:nvPr/>
        </p:nvSpPr>
        <p:spPr>
          <a:xfrm>
            <a:off x="3355848" y="3474720"/>
            <a:ext cx="126187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資料・ガイドライン</a:t>
            </a:r>
            <a:endParaRPr lang="en-US" sz="1050" dirty="0"/>
          </a:p>
        </p:txBody>
      </p:sp>
      <p:sp>
        <p:nvSpPr>
          <p:cNvPr id="33" name="Shape 28"/>
          <p:cNvSpPr/>
          <p:nvPr/>
        </p:nvSpPr>
        <p:spPr>
          <a:xfrm>
            <a:off x="777240" y="3474720"/>
            <a:ext cx="1691640" cy="685800"/>
          </a:xfrm>
          <a:prstGeom prst="roundRect">
            <a:avLst>
              <a:gd name="adj" fmla="val 10667"/>
            </a:avLst>
          </a:prstGeom>
          <a:solidFill>
            <a:srgbClr val="FDEBD3"/>
          </a:solidFill>
          <a:ln/>
        </p:spPr>
      </p:sp>
      <p:pic>
        <p:nvPicPr>
          <p:cNvPr id="34" name="Image 3" descr="preencoded.png">    </p:cNvPr>
          <p:cNvPicPr>
            <a:picLocks noChangeAspect="1"/>
          </p:cNvPicPr>
          <p:nvPr/>
        </p:nvPicPr>
        <p:blipFill>
          <a:blip r:embed="rId4"/>
          <a:stretch>
            <a:fillRect/>
          </a:stretch>
        </p:blipFill>
        <p:spPr>
          <a:xfrm>
            <a:off x="886968" y="3634740"/>
            <a:ext cx="365760" cy="365760"/>
          </a:xfrm>
          <a:prstGeom prst="rect">
            <a:avLst/>
          </a:prstGeom>
        </p:spPr>
      </p:pic>
      <p:sp>
        <p:nvSpPr>
          <p:cNvPr id="35" name="Text 29"/>
          <p:cNvSpPr txBox="1"/>
          <p:nvPr/>
        </p:nvSpPr>
        <p:spPr>
          <a:xfrm>
            <a:off x="1344168" y="3474720"/>
            <a:ext cx="107899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カード（外部）</a:t>
            </a:r>
            <a:endParaRPr lang="en-US" sz="1050" dirty="0"/>
          </a:p>
        </p:txBody>
      </p:sp>
      <p:sp>
        <p:nvSpPr>
          <p:cNvPr id="36" name="Shape 30"/>
          <p:cNvSpPr/>
          <p:nvPr/>
        </p:nvSpPr>
        <p:spPr>
          <a:xfrm>
            <a:off x="1618488" y="3063240"/>
            <a:ext cx="0" cy="365760"/>
          </a:xfrm>
          <a:prstGeom prst="line">
            <a:avLst/>
          </a:prstGeom>
          <a:noFill/>
          <a:ln w="22225">
            <a:solidFill>
              <a:srgbClr val="9AA5B4"/>
            </a:solidFill>
            <a:prstDash val="solid"/>
            <a:tailEnd type="triangle"/>
          </a:ln>
        </p:spPr>
      </p:sp>
      <p:sp>
        <p:nvSpPr>
          <p:cNvPr id="37" name="Shape 31"/>
          <p:cNvSpPr/>
          <p:nvPr/>
        </p:nvSpPr>
        <p:spPr>
          <a:xfrm>
            <a:off x="4709160" y="2624328"/>
            <a:ext cx="365760" cy="0"/>
          </a:xfrm>
          <a:prstGeom prst="line">
            <a:avLst/>
          </a:prstGeom>
          <a:noFill/>
          <a:ln w="22225">
            <a:solidFill>
              <a:srgbClr val="9AA5B4"/>
            </a:solidFill>
            <a:prstDash val="solid"/>
            <a:headEnd type="triangle"/>
            <a:tailEnd type="triangle"/>
          </a:ln>
        </p:spPr>
      </p:sp>
      <p:sp>
        <p:nvSpPr>
          <p:cNvPr id="38" name="Shape 32"/>
          <p:cNvSpPr/>
          <p:nvPr/>
        </p:nvSpPr>
        <p:spPr>
          <a:xfrm>
            <a:off x="5120640" y="2240280"/>
            <a:ext cx="2148840" cy="777240"/>
          </a:xfrm>
          <a:prstGeom prst="roundRect">
            <a:avLst>
              <a:gd name="adj" fmla="val 9412"/>
            </a:avLst>
          </a:prstGeom>
          <a:solidFill>
            <a:srgbClr val="D9F2F1"/>
          </a:solidFill>
          <a:ln/>
        </p:spPr>
      </p:sp>
      <p:pic>
        <p:nvPicPr>
          <p:cNvPr id="39" name="Image 4" descr="preencoded.png">    </p:cNvPr>
          <p:cNvPicPr>
            <a:picLocks noChangeAspect="1"/>
          </p:cNvPicPr>
          <p:nvPr/>
        </p:nvPicPr>
        <p:blipFill>
          <a:blip r:embed="rId5"/>
          <a:stretch>
            <a:fillRect/>
          </a:stretch>
        </p:blipFill>
        <p:spPr>
          <a:xfrm>
            <a:off x="5230368" y="2446020"/>
            <a:ext cx="365760" cy="365760"/>
          </a:xfrm>
          <a:prstGeom prst="rect">
            <a:avLst/>
          </a:prstGeom>
        </p:spPr>
      </p:pic>
      <p:sp>
        <p:nvSpPr>
          <p:cNvPr id="40" name="Text 33"/>
          <p:cNvSpPr txBox="1"/>
          <p:nvPr/>
        </p:nvSpPr>
        <p:spPr>
          <a:xfrm>
            <a:off x="5687568" y="2240280"/>
            <a:ext cx="153619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Cloud Run API</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カスタムコネクタ経由</a:t>
            </a:r>
            <a:endParaRPr lang="en-US" sz="1050" dirty="0"/>
          </a:p>
        </p:txBody>
      </p:sp>
      <p:sp>
        <p:nvSpPr>
          <p:cNvPr id="41" name="Shape 34"/>
          <p:cNvSpPr/>
          <p:nvPr/>
        </p:nvSpPr>
        <p:spPr>
          <a:xfrm>
            <a:off x="6190488" y="3063240"/>
            <a:ext cx="0" cy="365760"/>
          </a:xfrm>
          <a:prstGeom prst="line">
            <a:avLst/>
          </a:prstGeom>
          <a:noFill/>
          <a:ln w="22225">
            <a:solidFill>
              <a:srgbClr val="9AA5B4"/>
            </a:solidFill>
            <a:prstDash val="solid"/>
            <a:headEnd type="triangle"/>
            <a:tailEnd type="triangle"/>
          </a:ln>
        </p:spPr>
      </p:sp>
      <p:sp>
        <p:nvSpPr>
          <p:cNvPr id="42" name="Shape 35"/>
          <p:cNvSpPr/>
          <p:nvPr/>
        </p:nvSpPr>
        <p:spPr>
          <a:xfrm>
            <a:off x="5120640" y="3474720"/>
            <a:ext cx="2148840" cy="685800"/>
          </a:xfrm>
          <a:prstGeom prst="roundRect">
            <a:avLst>
              <a:gd name="adj" fmla="val 10667"/>
            </a:avLst>
          </a:prstGeom>
          <a:solidFill>
            <a:srgbClr val="E3EAF5"/>
          </a:solidFill>
          <a:ln/>
        </p:spPr>
      </p:sp>
      <p:pic>
        <p:nvPicPr>
          <p:cNvPr id="43" name="Image 5" descr="preencoded.png">    </p:cNvPr>
          <p:cNvPicPr>
            <a:picLocks noChangeAspect="1"/>
          </p:cNvPicPr>
          <p:nvPr/>
        </p:nvPicPr>
        <p:blipFill>
          <a:blip r:embed="rId6"/>
          <a:stretch>
            <a:fillRect/>
          </a:stretch>
        </p:blipFill>
        <p:spPr>
          <a:xfrm>
            <a:off x="5230368" y="3634740"/>
            <a:ext cx="365760" cy="365760"/>
          </a:xfrm>
          <a:prstGeom prst="rect">
            <a:avLst/>
          </a:prstGeom>
        </p:spPr>
      </p:pic>
      <p:sp>
        <p:nvSpPr>
          <p:cNvPr id="44" name="Text 36"/>
          <p:cNvSpPr txBox="1"/>
          <p:nvPr/>
        </p:nvSpPr>
        <p:spPr>
          <a:xfrm>
            <a:off x="5687568" y="3474720"/>
            <a:ext cx="153619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直接クエリ・スコア</a:t>
            </a:r>
            <a:endParaRPr lang="en-US" sz="1050" dirty="0"/>
          </a:p>
        </p:txBody>
      </p:sp>
      <p:sp>
        <p:nvSpPr>
          <p:cNvPr id="45" name="Shape 37"/>
          <p:cNvSpPr/>
          <p:nvPr/>
        </p:nvSpPr>
        <p:spPr>
          <a:xfrm>
            <a:off x="7680960" y="1874520"/>
            <a:ext cx="3931920" cy="2514600"/>
          </a:xfrm>
          <a:prstGeom prst="roundRect">
            <a:avLst>
              <a:gd name="adj" fmla="val 2182"/>
            </a:avLst>
          </a:prstGeom>
          <a:solidFill>
            <a:srgbClr val="E3EAF5"/>
          </a:solidFill>
          <a:ln/>
        </p:spPr>
      </p:sp>
      <p:sp>
        <p:nvSpPr>
          <p:cNvPr id="46" name="Shape 38"/>
          <p:cNvSpPr/>
          <p:nvPr/>
        </p:nvSpPr>
        <p:spPr>
          <a:xfrm>
            <a:off x="7818120" y="1993392"/>
            <a:ext cx="384048" cy="384048"/>
          </a:xfrm>
          <a:prstGeom prst="ellipse">
            <a:avLst/>
          </a:prstGeom>
          <a:solidFill>
            <a:srgbClr val="FFFFFF"/>
          </a:solidFill>
          <a:ln/>
        </p:spPr>
      </p:sp>
      <p:pic>
        <p:nvPicPr>
          <p:cNvPr id="47"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8" name="Text 39"/>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9" name="Text 40"/>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Copilot Studio（エージェント）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Platformのカスタムコネクタ</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Cloud Run上のAPI（Python・BQクエリ）</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API認証（Entra ID連携など）</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自動起案する場合はPower Automateから同じAPIを利用</a:t>
            </a:r>
            <a:endParaRPr lang="en-US" sz="1100" dirty="0"/>
          </a:p>
        </p:txBody>
      </p:sp>
      <p:sp>
        <p:nvSpPr>
          <p:cNvPr id="50" name="Shape 41"/>
          <p:cNvSpPr/>
          <p:nvPr/>
        </p:nvSpPr>
        <p:spPr>
          <a:xfrm>
            <a:off x="548640" y="4572000"/>
            <a:ext cx="3566160" cy="1783080"/>
          </a:xfrm>
          <a:prstGeom prst="roundRect">
            <a:avLst>
              <a:gd name="adj" fmla="val 3077"/>
            </a:avLst>
          </a:prstGeom>
          <a:solidFill>
            <a:srgbClr val="D9F2F1"/>
          </a:solidFill>
          <a:ln/>
        </p:spPr>
      </p:sp>
      <p:sp>
        <p:nvSpPr>
          <p:cNvPr id="51" name="Shape 42"/>
          <p:cNvSpPr/>
          <p:nvPr/>
        </p:nvSpPr>
        <p:spPr>
          <a:xfrm>
            <a:off x="685800" y="4690872"/>
            <a:ext cx="384048" cy="384048"/>
          </a:xfrm>
          <a:prstGeom prst="ellipse">
            <a:avLst/>
          </a:prstGeom>
          <a:solidFill>
            <a:srgbClr val="FFFFFF"/>
          </a:solidFill>
          <a:ln/>
        </p:spPr>
      </p:sp>
      <p:pic>
        <p:nvPicPr>
          <p:cNvPr id="52"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53" name="Text 43"/>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4" name="Text 44"/>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社内資料をGCPに複製しなくてよい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対話中の想定外の数値の問いにもBigQueryで答えられる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利用画面はTeamsのまま</a:t>
            </a:r>
            <a:endParaRPr lang="en-US" sz="1150" dirty="0"/>
          </a:p>
        </p:txBody>
      </p:sp>
      <p:sp>
        <p:nvSpPr>
          <p:cNvPr id="55" name="Shape 45"/>
          <p:cNvSpPr/>
          <p:nvPr/>
        </p:nvSpPr>
        <p:spPr>
          <a:xfrm>
            <a:off x="4297680" y="4572000"/>
            <a:ext cx="3566160" cy="1783080"/>
          </a:xfrm>
          <a:prstGeom prst="roundRect">
            <a:avLst>
              <a:gd name="adj" fmla="val 3077"/>
            </a:avLst>
          </a:prstGeom>
          <a:solidFill>
            <a:srgbClr val="FBE3E3"/>
          </a:solidFill>
          <a:ln/>
        </p:spPr>
      </p:sp>
      <p:sp>
        <p:nvSpPr>
          <p:cNvPr id="56" name="Shape 46"/>
          <p:cNvSpPr/>
          <p:nvPr/>
        </p:nvSpPr>
        <p:spPr>
          <a:xfrm>
            <a:off x="4434840" y="4690872"/>
            <a:ext cx="384048" cy="384048"/>
          </a:xfrm>
          <a:prstGeom prst="ellipse">
            <a:avLst/>
          </a:prstGeom>
          <a:solidFill>
            <a:srgbClr val="FFFFFF"/>
          </a:solidFill>
          <a:ln/>
        </p:spPr>
      </p:sp>
      <p:pic>
        <p:nvPicPr>
          <p:cNvPr id="57"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8" name="Text 47"/>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9" name="Text 48"/>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2つの環境にまたがる設計・運用</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API開発と保守が必要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認証・ネットワークの設計が必要</a:t>
            </a:r>
            <a:endParaRPr lang="en-US" sz="1150" dirty="0"/>
          </a:p>
        </p:txBody>
      </p:sp>
      <p:sp>
        <p:nvSpPr>
          <p:cNvPr id="60" name="Shape 49"/>
          <p:cNvSpPr/>
          <p:nvPr/>
        </p:nvSpPr>
        <p:spPr>
          <a:xfrm>
            <a:off x="8046720" y="4572000"/>
            <a:ext cx="3566160" cy="1783080"/>
          </a:xfrm>
          <a:prstGeom prst="roundRect">
            <a:avLst>
              <a:gd name="adj" fmla="val 3077"/>
            </a:avLst>
          </a:prstGeom>
          <a:solidFill>
            <a:srgbClr val="FDEBD3"/>
          </a:solidFill>
          <a:ln/>
        </p:spPr>
      </p:sp>
      <p:sp>
        <p:nvSpPr>
          <p:cNvPr id="61" name="Shape 50"/>
          <p:cNvSpPr/>
          <p:nvPr/>
        </p:nvSpPr>
        <p:spPr>
          <a:xfrm>
            <a:off x="8183880" y="4690872"/>
            <a:ext cx="384048" cy="384048"/>
          </a:xfrm>
          <a:prstGeom prst="ellipse">
            <a:avLst/>
          </a:prstGeom>
          <a:solidFill>
            <a:srgbClr val="FFFFFF"/>
          </a:solidFill>
          <a:ln/>
        </p:spPr>
      </p:sp>
      <p:pic>
        <p:nvPicPr>
          <p:cNvPr id="62"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63" name="Text 51"/>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4" name="Text 52"/>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業務部門とIT部門の役割分担</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APIで返すデータの範囲・粒度</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障害時の原因の切り分け</a:t>
            </a:r>
            <a:endParaRPr lang="en-US" sz="1150" dirty="0"/>
          </a:p>
        </p:txBody>
      </p:sp>
      <p:sp>
        <p:nvSpPr>
          <p:cNvPr id="65" name="Text 53"/>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B1｜Gemini Enterpriseエージェント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Gemini Enterpriseのアプリで、社内資料の検索とBigQueryのデータ分析を1つの画面にまとめる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37</a:t>
            </a:r>
            <a:endParaRPr lang="en-US" sz="900" dirty="0"/>
          </a:p>
        </p:txBody>
      </p:sp>
      <p:sp>
        <p:nvSpPr>
          <p:cNvPr id="6" name="Shape 4"/>
          <p:cNvSpPr/>
          <p:nvPr/>
        </p:nvSpPr>
        <p:spPr>
          <a:xfrm>
            <a:off x="548640" y="1371600"/>
            <a:ext cx="2103120" cy="347472"/>
          </a:xfrm>
          <a:prstGeom prst="roundRect">
            <a:avLst>
              <a:gd name="adj" fmla="val 50000"/>
            </a:avLst>
          </a:prstGeom>
          <a:solidFill>
            <a:srgbClr val="E8F0FE"/>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4285F4"/>
                </a:solidFill>
                <a:latin typeface="Meiryo UI" pitchFamily="34" charset="0"/>
                <a:ea typeface="Meiryo UI" pitchFamily="34" charset="-122"/>
                <a:cs typeface="Meiryo UI" pitchFamily="34" charset="-120"/>
              </a:rPr>
              <a:t>集約先  </a:t>
            </a:r>
            <a:pPr algn="ctr" indent="0" marL="0">
              <a:buNone/>
            </a:pPr>
            <a:r>
              <a:rPr lang="en-US" sz="1100" b="1" dirty="0">
                <a:solidFill>
                  <a:srgbClr val="4285F4"/>
                </a:solidFill>
                <a:latin typeface="Meiryo UI" pitchFamily="34" charset="0"/>
                <a:ea typeface="Meiryo UI" pitchFamily="34" charset="-122"/>
                <a:cs typeface="Meiryo UI" pitchFamily="34" charset="-120"/>
              </a:rPr>
              <a:t>GCPに寄せる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Airtable／Lists</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1〜3ヶ月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103120"/>
            <a:ext cx="1920240" cy="731520"/>
          </a:xfrm>
          <a:prstGeom prst="roundRect">
            <a:avLst>
              <a:gd name="adj" fmla="val 10000"/>
            </a:avLst>
          </a:prstGeom>
          <a:solidFill>
            <a:srgbClr val="E3EAF5"/>
          </a:solidFill>
          <a:ln/>
        </p:spPr>
      </p:sp>
      <p:pic>
        <p:nvPicPr>
          <p:cNvPr id="18" name="Image 0" descr="preencoded.png">    </p:cNvPr>
          <p:cNvPicPr>
            <a:picLocks noChangeAspect="1"/>
          </p:cNvPicPr>
          <p:nvPr/>
        </p:nvPicPr>
        <p:blipFill>
          <a:blip r:embed="rId1"/>
          <a:stretch>
            <a:fillRect/>
          </a:stretch>
        </p:blipFill>
        <p:spPr>
          <a:xfrm>
            <a:off x="841248" y="2286000"/>
            <a:ext cx="365760" cy="365760"/>
          </a:xfrm>
          <a:prstGeom prst="rect">
            <a:avLst/>
          </a:prstGeom>
        </p:spPr>
      </p:pic>
      <p:sp>
        <p:nvSpPr>
          <p:cNvPr id="19" name="Text 16"/>
          <p:cNvSpPr txBox="1"/>
          <p:nvPr/>
        </p:nvSpPr>
        <p:spPr>
          <a:xfrm>
            <a:off x="1298448" y="2103120"/>
            <a:ext cx="130759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コネクタ（フェデ／取込）</a:t>
            </a:r>
            <a:endParaRPr lang="en-US" sz="1050" dirty="0"/>
          </a:p>
        </p:txBody>
      </p:sp>
      <p:sp>
        <p:nvSpPr>
          <p:cNvPr id="20" name="Shape 17"/>
          <p:cNvSpPr/>
          <p:nvPr/>
        </p:nvSpPr>
        <p:spPr>
          <a:xfrm>
            <a:off x="731520" y="3291840"/>
            <a:ext cx="1920240" cy="731520"/>
          </a:xfrm>
          <a:prstGeom prst="roundRect">
            <a:avLst>
              <a:gd name="adj" fmla="val 10000"/>
            </a:avLst>
          </a:prstGeom>
          <a:solidFill>
            <a:srgbClr val="E3EAF5"/>
          </a:solidFill>
          <a:ln/>
        </p:spPr>
      </p:sp>
      <p:pic>
        <p:nvPicPr>
          <p:cNvPr id="21" name="Image 1" descr="preencoded.png">    </p:cNvPr>
          <p:cNvPicPr>
            <a:picLocks noChangeAspect="1"/>
          </p:cNvPicPr>
          <p:nvPr/>
        </p:nvPicPr>
        <p:blipFill>
          <a:blip r:embed="rId2"/>
          <a:stretch>
            <a:fillRect/>
          </a:stretch>
        </p:blipFill>
        <p:spPr>
          <a:xfrm>
            <a:off x="841248" y="3474720"/>
            <a:ext cx="365760" cy="365760"/>
          </a:xfrm>
          <a:prstGeom prst="rect">
            <a:avLst/>
          </a:prstGeom>
        </p:spPr>
      </p:pic>
      <p:sp>
        <p:nvSpPr>
          <p:cNvPr id="22" name="Text 18"/>
          <p:cNvSpPr txBox="1"/>
          <p:nvPr/>
        </p:nvSpPr>
        <p:spPr>
          <a:xfrm>
            <a:off x="1298448" y="3291840"/>
            <a:ext cx="130759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データエージェント</a:t>
            </a:r>
            <a:endParaRPr lang="en-US" sz="1050" dirty="0"/>
          </a:p>
        </p:txBody>
      </p:sp>
      <p:sp>
        <p:nvSpPr>
          <p:cNvPr id="23" name="Shape 19"/>
          <p:cNvSpPr/>
          <p:nvPr/>
        </p:nvSpPr>
        <p:spPr>
          <a:xfrm>
            <a:off x="2697480" y="2468880"/>
            <a:ext cx="411480" cy="320040"/>
          </a:xfrm>
          <a:prstGeom prst="line">
            <a:avLst/>
          </a:prstGeom>
          <a:noFill/>
          <a:ln w="22225">
            <a:solidFill>
              <a:srgbClr val="9AA5B4"/>
            </a:solidFill>
            <a:prstDash val="solid"/>
            <a:tailEnd type="triangle"/>
          </a:ln>
        </p:spPr>
      </p:sp>
      <p:sp>
        <p:nvSpPr>
          <p:cNvPr id="24" name="Shape 20"/>
          <p:cNvSpPr/>
          <p:nvPr/>
        </p:nvSpPr>
        <p:spPr>
          <a:xfrm flipV="1">
            <a:off x="2697480" y="3291840"/>
            <a:ext cx="411480" cy="365760"/>
          </a:xfrm>
          <a:prstGeom prst="line">
            <a:avLst/>
          </a:prstGeom>
          <a:noFill/>
          <a:ln w="22225">
            <a:solidFill>
              <a:srgbClr val="9AA5B4"/>
            </a:solidFill>
            <a:prstDash val="solid"/>
            <a:tailEnd type="triangle"/>
          </a:ln>
        </p:spPr>
      </p:sp>
      <p:sp>
        <p:nvSpPr>
          <p:cNvPr id="25" name="Shape 21"/>
          <p:cNvSpPr/>
          <p:nvPr/>
        </p:nvSpPr>
        <p:spPr>
          <a:xfrm>
            <a:off x="3154680" y="2286000"/>
            <a:ext cx="1920240" cy="1554480"/>
          </a:xfrm>
          <a:prstGeom prst="roundRect">
            <a:avLst>
              <a:gd name="adj" fmla="val 4706"/>
            </a:avLst>
          </a:prstGeom>
          <a:solidFill>
            <a:srgbClr val="0E9F9A"/>
          </a:solidFill>
          <a:ln/>
        </p:spPr>
      </p:sp>
      <p:sp>
        <p:nvSpPr>
          <p:cNvPr id="26" name="Shape 22"/>
          <p:cNvSpPr/>
          <p:nvPr/>
        </p:nvSpPr>
        <p:spPr>
          <a:xfrm>
            <a:off x="3785616" y="2395728"/>
            <a:ext cx="658368" cy="658368"/>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3886200" y="2496312"/>
            <a:ext cx="457200" cy="457200"/>
          </a:xfrm>
          <a:prstGeom prst="rect">
            <a:avLst/>
          </a:prstGeom>
        </p:spPr>
      </p:pic>
      <p:sp>
        <p:nvSpPr>
          <p:cNvPr id="28" name="Text 23"/>
          <p:cNvSpPr txBox="1"/>
          <p:nvPr/>
        </p:nvSpPr>
        <p:spPr>
          <a:xfrm>
            <a:off x="3200400" y="3099816"/>
            <a:ext cx="1828800" cy="68580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Gemini Enterprise</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資料検索＋データ分析</a:t>
            </a:r>
            <a:endParaRPr lang="en-US" sz="1050" dirty="0"/>
          </a:p>
        </p:txBody>
      </p:sp>
      <p:sp>
        <p:nvSpPr>
          <p:cNvPr id="29" name="Shape 24"/>
          <p:cNvSpPr/>
          <p:nvPr/>
        </p:nvSpPr>
        <p:spPr>
          <a:xfrm>
            <a:off x="5120640" y="2514600"/>
            <a:ext cx="274320" cy="0"/>
          </a:xfrm>
          <a:prstGeom prst="line">
            <a:avLst/>
          </a:prstGeom>
          <a:noFill/>
          <a:ln w="22225">
            <a:solidFill>
              <a:srgbClr val="9AA5B4"/>
            </a:solidFill>
            <a:prstDash val="solid"/>
            <a:headEnd type="triangle"/>
            <a:tailEnd type="triangle"/>
          </a:ln>
        </p:spPr>
      </p:sp>
      <p:sp>
        <p:nvSpPr>
          <p:cNvPr id="30" name="Shape 25"/>
          <p:cNvSpPr/>
          <p:nvPr/>
        </p:nvSpPr>
        <p:spPr>
          <a:xfrm>
            <a:off x="5440680" y="2103120"/>
            <a:ext cx="1874520" cy="731520"/>
          </a:xfrm>
          <a:prstGeom prst="roundRect">
            <a:avLst>
              <a:gd name="adj" fmla="val 10000"/>
            </a:avLst>
          </a:prstGeom>
          <a:solidFill>
            <a:srgbClr val="FDEBD3"/>
          </a:solidFill>
          <a:ln/>
        </p:spPr>
      </p:sp>
      <p:pic>
        <p:nvPicPr>
          <p:cNvPr id="31" name="Image 3" descr="preencoded.png">    </p:cNvPr>
          <p:cNvPicPr>
            <a:picLocks noChangeAspect="1"/>
          </p:cNvPicPr>
          <p:nvPr/>
        </p:nvPicPr>
        <p:blipFill>
          <a:blip r:embed="rId4"/>
          <a:stretch>
            <a:fillRect/>
          </a:stretch>
        </p:blipFill>
        <p:spPr>
          <a:xfrm>
            <a:off x="5550408" y="2286000"/>
            <a:ext cx="365760" cy="365760"/>
          </a:xfrm>
          <a:prstGeom prst="rect">
            <a:avLst/>
          </a:prstGeom>
        </p:spPr>
      </p:pic>
      <p:sp>
        <p:nvSpPr>
          <p:cNvPr id="32" name="Text 26"/>
          <p:cNvSpPr txBox="1"/>
          <p:nvPr/>
        </p:nvSpPr>
        <p:spPr>
          <a:xfrm>
            <a:off x="6007608" y="2103120"/>
            <a:ext cx="12618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マーケター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ブラウザで対話</a:t>
            </a:r>
            <a:endParaRPr lang="en-US" sz="1050" dirty="0"/>
          </a:p>
        </p:txBody>
      </p:sp>
      <p:sp>
        <p:nvSpPr>
          <p:cNvPr id="33" name="Shape 27"/>
          <p:cNvSpPr/>
          <p:nvPr/>
        </p:nvSpPr>
        <p:spPr>
          <a:xfrm>
            <a:off x="6373368" y="2880360"/>
            <a:ext cx="0" cy="365760"/>
          </a:xfrm>
          <a:prstGeom prst="line">
            <a:avLst/>
          </a:prstGeom>
          <a:noFill/>
          <a:ln w="22225">
            <a:solidFill>
              <a:srgbClr val="9AA5B4"/>
            </a:solidFill>
            <a:prstDash val="solid"/>
            <a:tailEnd type="triangle"/>
          </a:ln>
        </p:spPr>
      </p:sp>
      <p:sp>
        <p:nvSpPr>
          <p:cNvPr id="34" name="Shape 28"/>
          <p:cNvSpPr/>
          <p:nvPr/>
        </p:nvSpPr>
        <p:spPr>
          <a:xfrm>
            <a:off x="5440680" y="3291840"/>
            <a:ext cx="1874520" cy="731520"/>
          </a:xfrm>
          <a:prstGeom prst="roundRect">
            <a:avLst>
              <a:gd name="adj" fmla="val 10000"/>
            </a:avLst>
          </a:prstGeom>
          <a:solidFill>
            <a:srgbClr val="FDEBD3"/>
          </a:solidFill>
          <a:ln/>
        </p:spPr>
      </p:sp>
      <p:pic>
        <p:nvPicPr>
          <p:cNvPr id="35" name="Image 4" descr="preencoded.png">    </p:cNvPr>
          <p:cNvPicPr>
            <a:picLocks noChangeAspect="1"/>
          </p:cNvPicPr>
          <p:nvPr/>
        </p:nvPicPr>
        <p:blipFill>
          <a:blip r:embed="rId5"/>
          <a:stretch>
            <a:fillRect/>
          </a:stretch>
        </p:blipFill>
        <p:spPr>
          <a:xfrm>
            <a:off x="5550408" y="3474720"/>
            <a:ext cx="365760" cy="365760"/>
          </a:xfrm>
          <a:prstGeom prst="rect">
            <a:avLst/>
          </a:prstGeom>
        </p:spPr>
      </p:pic>
      <p:sp>
        <p:nvSpPr>
          <p:cNvPr id="36" name="Text 29"/>
          <p:cNvSpPr txBox="1"/>
          <p:nvPr/>
        </p:nvSpPr>
        <p:spPr>
          <a:xfrm>
            <a:off x="6007608" y="3291840"/>
            <a:ext cx="12618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配信カード</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入力／Listsは直接更新</a:t>
            </a:r>
            <a:endParaRPr lang="en-US" sz="1050" dirty="0"/>
          </a:p>
        </p:txBody>
      </p:sp>
      <p:sp>
        <p:nvSpPr>
          <p:cNvPr id="37" name="Shape 30"/>
          <p:cNvSpPr/>
          <p:nvPr/>
        </p:nvSpPr>
        <p:spPr>
          <a:xfrm>
            <a:off x="7680960" y="1874520"/>
            <a:ext cx="3931920" cy="2514600"/>
          </a:xfrm>
          <a:prstGeom prst="roundRect">
            <a:avLst>
              <a:gd name="adj" fmla="val 2182"/>
            </a:avLst>
          </a:prstGeom>
          <a:solidFill>
            <a:srgbClr val="E3EAF5"/>
          </a:solidFill>
          <a:ln/>
        </p:spPr>
      </p:sp>
      <p:sp>
        <p:nvSpPr>
          <p:cNvPr id="38" name="Shape 31"/>
          <p:cNvSpPr/>
          <p:nvPr/>
        </p:nvSpPr>
        <p:spPr>
          <a:xfrm>
            <a:off x="7818120" y="1993392"/>
            <a:ext cx="384048" cy="384048"/>
          </a:xfrm>
          <a:prstGeom prst="ellipse">
            <a:avLst/>
          </a:prstGeom>
          <a:solidFill>
            <a:srgbClr val="FFFFFF"/>
          </a:solidFill>
          <a:ln/>
        </p:spPr>
      </p:sp>
      <p:pic>
        <p:nvPicPr>
          <p:cNvPr id="39" name="Image 5" descr="preencoded.png">    </p:cNvPr>
          <p:cNvPicPr>
            <a:picLocks noChangeAspect="1"/>
          </p:cNvPicPr>
          <p:nvPr/>
        </p:nvPicPr>
        <p:blipFill>
          <a:blip r:embed="rId6"/>
          <a:stretch>
            <a:fillRect/>
          </a:stretch>
        </p:blipFill>
        <p:spPr>
          <a:xfrm>
            <a:off x="7894930" y="2070202"/>
            <a:ext cx="230429" cy="230429"/>
          </a:xfrm>
          <a:prstGeom prst="rect">
            <a:avLst/>
          </a:prstGeom>
        </p:spPr>
      </p:pic>
      <p:sp>
        <p:nvSpPr>
          <p:cNvPr id="40" name="Text 32"/>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1" name="Text 33"/>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Gemini Enterpriseのライセンス（Standard／Plusなど）</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SharePointコネクタ（GA）とEntraのアプリ登録</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Entra IDとの連携（Workforce Identity Federation）</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BigQueryの会話型分析（データエージェント）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Agent Platformで独自エージェントも追加できる</a:t>
            </a:r>
            <a:endParaRPr lang="en-US" sz="1100" dirty="0"/>
          </a:p>
        </p:txBody>
      </p:sp>
      <p:sp>
        <p:nvSpPr>
          <p:cNvPr id="42" name="Shape 34"/>
          <p:cNvSpPr/>
          <p:nvPr/>
        </p:nvSpPr>
        <p:spPr>
          <a:xfrm>
            <a:off x="548640" y="4572000"/>
            <a:ext cx="3566160" cy="1783080"/>
          </a:xfrm>
          <a:prstGeom prst="roundRect">
            <a:avLst>
              <a:gd name="adj" fmla="val 3077"/>
            </a:avLst>
          </a:prstGeom>
          <a:solidFill>
            <a:srgbClr val="D9F2F1"/>
          </a:solidFill>
          <a:ln/>
        </p:spPr>
      </p:sp>
      <p:sp>
        <p:nvSpPr>
          <p:cNvPr id="43" name="Shape 35"/>
          <p:cNvSpPr/>
          <p:nvPr/>
        </p:nvSpPr>
        <p:spPr>
          <a:xfrm>
            <a:off x="685800" y="4690872"/>
            <a:ext cx="384048" cy="384048"/>
          </a:xfrm>
          <a:prstGeom prst="ellipse">
            <a:avLst/>
          </a:prstGeom>
          <a:solidFill>
            <a:srgbClr val="FFFFFF"/>
          </a:solidFill>
          <a:ln/>
        </p:spPr>
      </p:sp>
      <p:pic>
        <p:nvPicPr>
          <p:cNvPr id="44" name="Image 6" descr="preencoded.png">    </p:cNvPr>
          <p:cNvPicPr>
            <a:picLocks noChangeAspect="1"/>
          </p:cNvPicPr>
          <p:nvPr/>
        </p:nvPicPr>
        <p:blipFill>
          <a:blip r:embed="rId7"/>
          <a:stretch>
            <a:fillRect/>
          </a:stretch>
        </p:blipFill>
        <p:spPr>
          <a:xfrm>
            <a:off x="762610" y="4767682"/>
            <a:ext cx="230429" cy="230429"/>
          </a:xfrm>
          <a:prstGeom prst="rect">
            <a:avLst/>
          </a:prstGeom>
        </p:spPr>
      </p:pic>
      <p:sp>
        <p:nvSpPr>
          <p:cNvPr id="45" name="Text 36"/>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46" name="Text 37"/>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対話の中で想定外の数値の問いにも答えやすい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フェデレーション方式なら資料をGCPに複製しない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資料の検索と数値の分析を1つの画面で行える</a:t>
            </a:r>
            <a:endParaRPr lang="en-US" sz="1150" dirty="0"/>
          </a:p>
        </p:txBody>
      </p:sp>
      <p:sp>
        <p:nvSpPr>
          <p:cNvPr id="47" name="Shape 38"/>
          <p:cNvSpPr/>
          <p:nvPr/>
        </p:nvSpPr>
        <p:spPr>
          <a:xfrm>
            <a:off x="4297680" y="4572000"/>
            <a:ext cx="3566160" cy="1783080"/>
          </a:xfrm>
          <a:prstGeom prst="roundRect">
            <a:avLst>
              <a:gd name="adj" fmla="val 3077"/>
            </a:avLst>
          </a:prstGeom>
          <a:solidFill>
            <a:srgbClr val="FBE3E3"/>
          </a:solidFill>
          <a:ln/>
        </p:spPr>
      </p:sp>
      <p:sp>
        <p:nvSpPr>
          <p:cNvPr id="48" name="Shape 39"/>
          <p:cNvSpPr/>
          <p:nvPr/>
        </p:nvSpPr>
        <p:spPr>
          <a:xfrm>
            <a:off x="4434840" y="4690872"/>
            <a:ext cx="384048" cy="384048"/>
          </a:xfrm>
          <a:prstGeom prst="ellipse">
            <a:avLst/>
          </a:prstGeom>
          <a:solidFill>
            <a:srgbClr val="FFFFFF"/>
          </a:solidFill>
          <a:ln/>
        </p:spPr>
      </p:sp>
      <p:pic>
        <p:nvPicPr>
          <p:cNvPr id="49" name="Image 7" descr="preencoded.png">    </p:cNvPr>
          <p:cNvPicPr>
            <a:picLocks noChangeAspect="1"/>
          </p:cNvPicPr>
          <p:nvPr/>
        </p:nvPicPr>
        <p:blipFill>
          <a:blip r:embed="rId8"/>
          <a:stretch>
            <a:fillRect/>
          </a:stretch>
        </p:blipFill>
        <p:spPr>
          <a:xfrm>
            <a:off x="4511650" y="4767682"/>
            <a:ext cx="230429" cy="230429"/>
          </a:xfrm>
          <a:prstGeom prst="rect">
            <a:avLst/>
          </a:prstGeom>
        </p:spPr>
      </p:pic>
      <p:sp>
        <p:nvSpPr>
          <p:cNvPr id="50" name="Text 40"/>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1" name="Text 41"/>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取り込み方式は同期間隔（3時間〜7日）の分だけ鮮度が遅れる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Teams・Copilotとは別の画面で利用する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M365 Copilotと機能・費用が重複する</a:t>
            </a:r>
            <a:endParaRPr lang="en-US" sz="1150" dirty="0"/>
          </a:p>
        </p:txBody>
      </p:sp>
      <p:sp>
        <p:nvSpPr>
          <p:cNvPr id="52" name="Shape 42"/>
          <p:cNvSpPr/>
          <p:nvPr/>
        </p:nvSpPr>
        <p:spPr>
          <a:xfrm>
            <a:off x="8046720" y="4572000"/>
            <a:ext cx="3566160" cy="1783080"/>
          </a:xfrm>
          <a:prstGeom prst="roundRect">
            <a:avLst>
              <a:gd name="adj" fmla="val 3077"/>
            </a:avLst>
          </a:prstGeom>
          <a:solidFill>
            <a:srgbClr val="FDEBD3"/>
          </a:solidFill>
          <a:ln/>
        </p:spPr>
      </p:sp>
      <p:sp>
        <p:nvSpPr>
          <p:cNvPr id="53" name="Shape 43"/>
          <p:cNvSpPr/>
          <p:nvPr/>
        </p:nvSpPr>
        <p:spPr>
          <a:xfrm>
            <a:off x="8183880" y="4690872"/>
            <a:ext cx="384048" cy="384048"/>
          </a:xfrm>
          <a:prstGeom prst="ellipse">
            <a:avLst/>
          </a:prstGeom>
          <a:solidFill>
            <a:srgbClr val="FFFFFF"/>
          </a:solidFill>
          <a:ln/>
        </p:spPr>
      </p:sp>
      <p:pic>
        <p:nvPicPr>
          <p:cNvPr id="54" name="Image 8" descr="preencoded.png">    </p:cNvPr>
          <p:cNvPicPr>
            <a:picLocks noChangeAspect="1"/>
          </p:cNvPicPr>
          <p:nvPr/>
        </p:nvPicPr>
        <p:blipFill>
          <a:blip r:embed="rId9"/>
          <a:stretch>
            <a:fillRect/>
          </a:stretch>
        </p:blipFill>
        <p:spPr>
          <a:xfrm>
            <a:off x="8260690" y="4767682"/>
            <a:ext cx="230429" cy="230429"/>
          </a:xfrm>
          <a:prstGeom prst="rect">
            <a:avLst/>
          </a:prstGeom>
        </p:spPr>
      </p:pic>
      <p:sp>
        <p:nvSpPr>
          <p:cNvPr id="55" name="Text 44"/>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56" name="Text 45"/>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フェデレーションと取り込みのどちらにするか（どちらも可。検索精度と鮮度で選ぶ）</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Entraのアプリ登録・権限付与の可否</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別の画面の利用が定着するか</a:t>
            </a:r>
            <a:endParaRPr lang="en-US" sz="1150" dirty="0"/>
          </a:p>
        </p:txBody>
      </p:sp>
      <p:sp>
        <p:nvSpPr>
          <p:cNvPr id="57" name="Text 46"/>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B2｜Agent Platform＋Geminiで自動起案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Airtableを使ったまま、GCP上のエージェントがBigQueryと資料を参照して下書きを作る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38</a:t>
            </a:r>
            <a:endParaRPr lang="en-US" sz="900" dirty="0"/>
          </a:p>
        </p:txBody>
      </p:sp>
      <p:sp>
        <p:nvSpPr>
          <p:cNvPr id="6" name="Shape 4"/>
          <p:cNvSpPr/>
          <p:nvPr/>
        </p:nvSpPr>
        <p:spPr>
          <a:xfrm>
            <a:off x="548640" y="1371600"/>
            <a:ext cx="2103120" cy="347472"/>
          </a:xfrm>
          <a:prstGeom prst="roundRect">
            <a:avLst>
              <a:gd name="adj" fmla="val 50000"/>
            </a:avLst>
          </a:prstGeom>
          <a:solidFill>
            <a:srgbClr val="E8F0FE"/>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4285F4"/>
                </a:solidFill>
                <a:latin typeface="Meiryo UI" pitchFamily="34" charset="0"/>
                <a:ea typeface="Meiryo UI" pitchFamily="34" charset="-122"/>
                <a:cs typeface="Meiryo UI" pitchFamily="34" charset="-120"/>
              </a:rPr>
              <a:t>集約先  </a:t>
            </a:r>
            <a:pPr algn="ctr" indent="0" marL="0">
              <a:buNone/>
            </a:pPr>
            <a:r>
              <a:rPr lang="en-US" sz="1100" b="1" dirty="0">
                <a:solidFill>
                  <a:srgbClr val="4285F4"/>
                </a:solidFill>
                <a:latin typeface="Meiryo UI" pitchFamily="34" charset="0"/>
                <a:ea typeface="Meiryo UI" pitchFamily="34" charset="-122"/>
                <a:cs typeface="Meiryo UI" pitchFamily="34" charset="-120"/>
              </a:rPr>
              <a:t>GCPに寄せる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3〜4ヶ月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57400"/>
            <a:ext cx="2011680" cy="731520"/>
          </a:xfrm>
          <a:prstGeom prst="roundRect">
            <a:avLst>
              <a:gd name="adj" fmla="val 10000"/>
            </a:avLst>
          </a:prstGeom>
          <a:solidFill>
            <a:srgbClr val="D9F2F1"/>
          </a:solidFill>
          <a:ln/>
        </p:spPr>
      </p:sp>
      <p:pic>
        <p:nvPicPr>
          <p:cNvPr id="18" name="Image 0" descr="preencoded.png">    </p:cNvPr>
          <p:cNvPicPr>
            <a:picLocks noChangeAspect="1"/>
          </p:cNvPicPr>
          <p:nvPr/>
        </p:nvPicPr>
        <p:blipFill>
          <a:blip r:embed="rId1"/>
          <a:stretch>
            <a:fillRect/>
          </a:stretch>
        </p:blipFill>
        <p:spPr>
          <a:xfrm>
            <a:off x="841248" y="2240280"/>
            <a:ext cx="365760" cy="365760"/>
          </a:xfrm>
          <a:prstGeom prst="rect">
            <a:avLst/>
          </a:prstGeom>
        </p:spPr>
      </p:pic>
      <p:sp>
        <p:nvSpPr>
          <p:cNvPr id="19" name="Text 16"/>
          <p:cNvSpPr txBox="1"/>
          <p:nvPr/>
        </p:nvSpPr>
        <p:spPr>
          <a:xfrm>
            <a:off x="1298448" y="205740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トリガー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カード作成／定時実行</a:t>
            </a:r>
            <a:endParaRPr lang="en-US" sz="1050" dirty="0"/>
          </a:p>
        </p:txBody>
      </p:sp>
      <p:sp>
        <p:nvSpPr>
          <p:cNvPr id="20" name="Shape 17"/>
          <p:cNvSpPr/>
          <p:nvPr/>
        </p:nvSpPr>
        <p:spPr>
          <a:xfrm>
            <a:off x="2788920" y="2423160"/>
            <a:ext cx="182880" cy="0"/>
          </a:xfrm>
          <a:prstGeom prst="line">
            <a:avLst/>
          </a:prstGeom>
          <a:noFill/>
          <a:ln w="22225">
            <a:solidFill>
              <a:srgbClr val="9AA5B4"/>
            </a:solidFill>
            <a:prstDash val="solid"/>
            <a:tailEnd type="triangle"/>
          </a:ln>
        </p:spPr>
      </p:sp>
      <p:sp>
        <p:nvSpPr>
          <p:cNvPr id="21" name="Shape 18"/>
          <p:cNvSpPr/>
          <p:nvPr/>
        </p:nvSpPr>
        <p:spPr>
          <a:xfrm>
            <a:off x="3017520" y="2057400"/>
            <a:ext cx="2011680" cy="731520"/>
          </a:xfrm>
          <a:prstGeom prst="roundRect">
            <a:avLst>
              <a:gd name="adj" fmla="val 10000"/>
            </a:avLst>
          </a:prstGeom>
          <a:solidFill>
            <a:srgbClr val="D9F2F1"/>
          </a:solidFill>
          <a:ln/>
        </p:spPr>
      </p:sp>
      <p:pic>
        <p:nvPicPr>
          <p:cNvPr id="22" name="Image 1" descr="preencoded.png">    </p:cNvPr>
          <p:cNvPicPr>
            <a:picLocks noChangeAspect="1"/>
          </p:cNvPicPr>
          <p:nvPr/>
        </p:nvPicPr>
        <p:blipFill>
          <a:blip r:embed="rId2"/>
          <a:stretch>
            <a:fillRect/>
          </a:stretch>
        </p:blipFill>
        <p:spPr>
          <a:xfrm>
            <a:off x="3127248" y="2240280"/>
            <a:ext cx="365760" cy="365760"/>
          </a:xfrm>
          <a:prstGeom prst="rect">
            <a:avLst/>
          </a:prstGeom>
        </p:spPr>
      </p:pic>
      <p:sp>
        <p:nvSpPr>
          <p:cNvPr id="23" name="Text 19"/>
          <p:cNvSpPr txBox="1"/>
          <p:nvPr/>
        </p:nvSpPr>
        <p:spPr>
          <a:xfrm>
            <a:off x="3584448" y="205740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エージェント</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ADK／Cloud Run</a:t>
            </a:r>
            <a:endParaRPr lang="en-US" sz="1050" dirty="0"/>
          </a:p>
        </p:txBody>
      </p:sp>
      <p:sp>
        <p:nvSpPr>
          <p:cNvPr id="24" name="Shape 20"/>
          <p:cNvSpPr/>
          <p:nvPr/>
        </p:nvSpPr>
        <p:spPr>
          <a:xfrm>
            <a:off x="5074920" y="2423160"/>
            <a:ext cx="182880" cy="0"/>
          </a:xfrm>
          <a:prstGeom prst="line">
            <a:avLst/>
          </a:prstGeom>
          <a:noFill/>
          <a:ln w="22225">
            <a:solidFill>
              <a:srgbClr val="9AA5B4"/>
            </a:solidFill>
            <a:prstDash val="solid"/>
            <a:tailEnd type="triangle"/>
          </a:ln>
        </p:spPr>
      </p:sp>
      <p:sp>
        <p:nvSpPr>
          <p:cNvPr id="25" name="Shape 21"/>
          <p:cNvSpPr/>
          <p:nvPr/>
        </p:nvSpPr>
        <p:spPr>
          <a:xfrm>
            <a:off x="5303520" y="2057400"/>
            <a:ext cx="2011680" cy="731520"/>
          </a:xfrm>
          <a:prstGeom prst="roundRect">
            <a:avLst>
              <a:gd name="adj" fmla="val 10000"/>
            </a:avLst>
          </a:prstGeom>
          <a:solidFill>
            <a:srgbClr val="0E9F9A"/>
          </a:solidFill>
          <a:ln/>
        </p:spPr>
      </p:sp>
      <p:sp>
        <p:nvSpPr>
          <p:cNvPr id="26" name="Shape 22"/>
          <p:cNvSpPr/>
          <p:nvPr/>
        </p:nvSpPr>
        <p:spPr>
          <a:xfrm>
            <a:off x="5376672" y="216712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5449824" y="2240280"/>
            <a:ext cx="365760" cy="365760"/>
          </a:xfrm>
          <a:prstGeom prst="rect">
            <a:avLst/>
          </a:prstGeom>
        </p:spPr>
      </p:pic>
      <p:sp>
        <p:nvSpPr>
          <p:cNvPr id="28" name="Text 23"/>
          <p:cNvSpPr txBox="1"/>
          <p:nvPr/>
        </p:nvSpPr>
        <p:spPr>
          <a:xfrm>
            <a:off x="6035040" y="2057400"/>
            <a:ext cx="1234440" cy="73152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Gemini</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Agent Platform</a:t>
            </a:r>
            <a:endParaRPr lang="en-US" sz="1050" dirty="0"/>
          </a:p>
        </p:txBody>
      </p:sp>
      <p:sp>
        <p:nvSpPr>
          <p:cNvPr id="29" name="Shape 24"/>
          <p:cNvSpPr/>
          <p:nvPr/>
        </p:nvSpPr>
        <p:spPr>
          <a:xfrm>
            <a:off x="731520" y="3246120"/>
            <a:ext cx="2011680" cy="731520"/>
          </a:xfrm>
          <a:prstGeom prst="roundRect">
            <a:avLst>
              <a:gd name="adj" fmla="val 10000"/>
            </a:avLst>
          </a:prstGeom>
          <a:solidFill>
            <a:srgbClr val="E3EAF5"/>
          </a:solidFill>
          <a:ln/>
        </p:spPr>
      </p:sp>
      <p:pic>
        <p:nvPicPr>
          <p:cNvPr id="30" name="Image 3" descr="preencoded.png">    </p:cNvPr>
          <p:cNvPicPr>
            <a:picLocks noChangeAspect="1"/>
          </p:cNvPicPr>
          <p:nvPr/>
        </p:nvPicPr>
        <p:blipFill>
          <a:blip r:embed="rId4"/>
          <a:stretch>
            <a:fillRect/>
          </a:stretch>
        </p:blipFill>
        <p:spPr>
          <a:xfrm>
            <a:off x="841248" y="3429000"/>
            <a:ext cx="365760" cy="365760"/>
          </a:xfrm>
          <a:prstGeom prst="rect">
            <a:avLst/>
          </a:prstGeom>
        </p:spPr>
      </p:pic>
      <p:sp>
        <p:nvSpPr>
          <p:cNvPr id="31" name="Text 25"/>
          <p:cNvSpPr txBox="1"/>
          <p:nvPr/>
        </p:nvSpPr>
        <p:spPr>
          <a:xfrm>
            <a:off x="1298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直接参照・スコア</a:t>
            </a:r>
            <a:endParaRPr lang="en-US" sz="1050" dirty="0"/>
          </a:p>
        </p:txBody>
      </p:sp>
      <p:sp>
        <p:nvSpPr>
          <p:cNvPr id="32" name="Shape 26"/>
          <p:cNvSpPr/>
          <p:nvPr/>
        </p:nvSpPr>
        <p:spPr>
          <a:xfrm flipV="1">
            <a:off x="2743200" y="2834640"/>
            <a:ext cx="411480" cy="548640"/>
          </a:xfrm>
          <a:prstGeom prst="line">
            <a:avLst/>
          </a:prstGeom>
          <a:noFill/>
          <a:ln w="22225">
            <a:solidFill>
              <a:srgbClr val="9AA5B4"/>
            </a:solidFill>
            <a:prstDash val="solid"/>
            <a:tailEnd type="triangle"/>
          </a:ln>
        </p:spPr>
      </p:sp>
      <p:sp>
        <p:nvSpPr>
          <p:cNvPr id="33" name="Shape 27"/>
          <p:cNvSpPr/>
          <p:nvPr/>
        </p:nvSpPr>
        <p:spPr>
          <a:xfrm>
            <a:off x="3017520" y="3246120"/>
            <a:ext cx="2011680" cy="731520"/>
          </a:xfrm>
          <a:prstGeom prst="roundRect">
            <a:avLst>
              <a:gd name="adj" fmla="val 10000"/>
            </a:avLst>
          </a:prstGeom>
          <a:solidFill>
            <a:srgbClr val="E3EAF5"/>
          </a:solidFill>
          <a:ln/>
        </p:spPr>
      </p:sp>
      <p:pic>
        <p:nvPicPr>
          <p:cNvPr id="34" name="Image 4" descr="preencoded.png">    </p:cNvPr>
          <p:cNvPicPr>
            <a:picLocks noChangeAspect="1"/>
          </p:cNvPicPr>
          <p:nvPr/>
        </p:nvPicPr>
        <p:blipFill>
          <a:blip r:embed="rId5"/>
          <a:stretch>
            <a:fillRect/>
          </a:stretch>
        </p:blipFill>
        <p:spPr>
          <a:xfrm>
            <a:off x="3127248" y="3429000"/>
            <a:ext cx="365760" cy="365760"/>
          </a:xfrm>
          <a:prstGeom prst="rect">
            <a:avLst/>
          </a:prstGeom>
        </p:spPr>
      </p:pic>
      <p:sp>
        <p:nvSpPr>
          <p:cNvPr id="35" name="Text 28"/>
          <p:cNvSpPr txBox="1"/>
          <p:nvPr/>
        </p:nvSpPr>
        <p:spPr>
          <a:xfrm>
            <a:off x="3584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資料の検索</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SharePointから同期</a:t>
            </a:r>
            <a:endParaRPr lang="en-US" sz="1050" dirty="0"/>
          </a:p>
        </p:txBody>
      </p:sp>
      <p:sp>
        <p:nvSpPr>
          <p:cNvPr id="36" name="Shape 29"/>
          <p:cNvSpPr/>
          <p:nvPr/>
        </p:nvSpPr>
        <p:spPr>
          <a:xfrm flipV="1">
            <a:off x="4023360" y="2834640"/>
            <a:ext cx="0" cy="365760"/>
          </a:xfrm>
          <a:prstGeom prst="line">
            <a:avLst/>
          </a:prstGeom>
          <a:noFill/>
          <a:ln w="22225">
            <a:solidFill>
              <a:srgbClr val="9AA5B4"/>
            </a:solidFill>
            <a:prstDash val="solid"/>
            <a:tailEnd type="triangle"/>
          </a:ln>
        </p:spPr>
      </p:sp>
      <p:sp>
        <p:nvSpPr>
          <p:cNvPr id="37" name="Shape 30"/>
          <p:cNvSpPr/>
          <p:nvPr/>
        </p:nvSpPr>
        <p:spPr>
          <a:xfrm>
            <a:off x="6309360" y="2834640"/>
            <a:ext cx="0" cy="365760"/>
          </a:xfrm>
          <a:prstGeom prst="line">
            <a:avLst/>
          </a:prstGeom>
          <a:noFill/>
          <a:ln w="22225">
            <a:solidFill>
              <a:srgbClr val="9AA5B4"/>
            </a:solidFill>
            <a:prstDash val="solid"/>
            <a:tailEnd type="triangle"/>
          </a:ln>
        </p:spPr>
      </p:sp>
      <p:sp>
        <p:nvSpPr>
          <p:cNvPr id="38" name="Shape 31"/>
          <p:cNvSpPr/>
          <p:nvPr/>
        </p:nvSpPr>
        <p:spPr>
          <a:xfrm>
            <a:off x="5303520" y="3246120"/>
            <a:ext cx="2011680" cy="731520"/>
          </a:xfrm>
          <a:prstGeom prst="roundRect">
            <a:avLst>
              <a:gd name="adj" fmla="val 10000"/>
            </a:avLst>
          </a:prstGeom>
          <a:solidFill>
            <a:srgbClr val="FDEBD3"/>
          </a:solidFill>
          <a:ln/>
        </p:spPr>
      </p:sp>
      <p:pic>
        <p:nvPicPr>
          <p:cNvPr id="39" name="Image 5" descr="preencoded.png">    </p:cNvPr>
          <p:cNvPicPr>
            <a:picLocks noChangeAspect="1"/>
          </p:cNvPicPr>
          <p:nvPr/>
        </p:nvPicPr>
        <p:blipFill>
          <a:blip r:embed="rId6"/>
          <a:stretch>
            <a:fillRect/>
          </a:stretch>
        </p:blipFill>
        <p:spPr>
          <a:xfrm>
            <a:off x="5413248" y="3429000"/>
            <a:ext cx="365760" cy="365760"/>
          </a:xfrm>
          <a:prstGeom prst="rect">
            <a:avLst/>
          </a:prstGeom>
        </p:spPr>
      </p:pic>
      <p:sp>
        <p:nvSpPr>
          <p:cNvPr id="40" name="Text 32"/>
          <p:cNvSpPr txBox="1"/>
          <p:nvPr/>
        </p:nvSpPr>
        <p:spPr>
          <a:xfrm>
            <a:off x="5870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書き戻し→人がレビュー</a:t>
            </a:r>
            <a:endParaRPr lang="en-US" sz="1050" dirty="0"/>
          </a:p>
        </p:txBody>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Gemini Enterprise Agent Platform（旧Vertex AI）</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ADKなどでのエージェント開発、Cloud Run／Scheduler</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Agent Platformの検索・RAG機能</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SharePoint→GCPの同期（共通要素①）</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Airtable API、Teamsへの通知</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試作（SQL→Pandas→Gemini）の構成をほぼそのまま流用できる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前処理と推論を同じ環境で完結できる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作ったエージェントをGemini Enterpriseにも公開できる</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資料の同期の仕組みと権限設計が必要（取り込み自体は可）</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エージェントの開発・保守が必要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Airtable・M365・GCPの3つにまたがる</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試作で得た知見をどこまで流用できるか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同期する資料の範囲</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2026年から始まる一部機能の課金の影響</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B3｜スクラッチ開発（React＋Cloud Run＋Gemini）</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GCP上に専用の配信管理アプリを開発し、画面・データ・AIを一体で設計する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39</a:t>
            </a:r>
            <a:endParaRPr lang="en-US" sz="900" dirty="0"/>
          </a:p>
        </p:txBody>
      </p:sp>
      <p:sp>
        <p:nvSpPr>
          <p:cNvPr id="6" name="Shape 4"/>
          <p:cNvSpPr/>
          <p:nvPr/>
        </p:nvSpPr>
        <p:spPr>
          <a:xfrm>
            <a:off x="548640" y="1371600"/>
            <a:ext cx="2103120" cy="347472"/>
          </a:xfrm>
          <a:prstGeom prst="roundRect">
            <a:avLst>
              <a:gd name="adj" fmla="val 50000"/>
            </a:avLst>
          </a:prstGeom>
          <a:solidFill>
            <a:srgbClr val="E8F0FE"/>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4285F4"/>
                </a:solidFill>
                <a:latin typeface="Meiryo UI" pitchFamily="34" charset="0"/>
                <a:ea typeface="Meiryo UI" pitchFamily="34" charset="-122"/>
                <a:cs typeface="Meiryo UI" pitchFamily="34" charset="-120"/>
              </a:rPr>
              <a:t>集約先  </a:t>
            </a:r>
            <a:pPr algn="ctr" indent="0" marL="0">
              <a:buNone/>
            </a:pPr>
            <a:r>
              <a:rPr lang="en-US" sz="1100" b="1" dirty="0">
                <a:solidFill>
                  <a:srgbClr val="4285F4"/>
                </a:solidFill>
                <a:latin typeface="Meiryo UI" pitchFamily="34" charset="0"/>
                <a:ea typeface="Meiryo UI" pitchFamily="34" charset="-122"/>
                <a:cs typeface="Meiryo UI" pitchFamily="34" charset="-120"/>
              </a:rPr>
              <a:t>GCPに寄せる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独自アプリ</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Step3〜4</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6ヶ月〜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103120"/>
            <a:ext cx="1828800" cy="777240"/>
          </a:xfrm>
          <a:prstGeom prst="roundRect">
            <a:avLst>
              <a:gd name="adj" fmla="val 9412"/>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308860"/>
            <a:ext cx="365760" cy="365760"/>
          </a:xfrm>
          <a:prstGeom prst="rect">
            <a:avLst/>
          </a:prstGeom>
        </p:spPr>
      </p:pic>
      <p:sp>
        <p:nvSpPr>
          <p:cNvPr id="19" name="Text 16"/>
          <p:cNvSpPr txBox="1"/>
          <p:nvPr/>
        </p:nvSpPr>
        <p:spPr>
          <a:xfrm>
            <a:off x="1298448" y="2103120"/>
            <a:ext cx="121615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React UI</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Cloud Run</a:t>
            </a:r>
            <a:endParaRPr lang="en-US" sz="1050" dirty="0"/>
          </a:p>
        </p:txBody>
      </p:sp>
      <p:sp>
        <p:nvSpPr>
          <p:cNvPr id="20" name="Shape 17"/>
          <p:cNvSpPr/>
          <p:nvPr/>
        </p:nvSpPr>
        <p:spPr>
          <a:xfrm>
            <a:off x="2606040" y="2487168"/>
            <a:ext cx="274320" cy="0"/>
          </a:xfrm>
          <a:prstGeom prst="line">
            <a:avLst/>
          </a:prstGeom>
          <a:noFill/>
          <a:ln w="22225">
            <a:solidFill>
              <a:srgbClr val="9AA5B4"/>
            </a:solidFill>
            <a:prstDash val="solid"/>
            <a:tailEnd type="triangle"/>
          </a:ln>
        </p:spPr>
      </p:sp>
      <p:sp>
        <p:nvSpPr>
          <p:cNvPr id="21" name="Shape 18"/>
          <p:cNvSpPr/>
          <p:nvPr/>
        </p:nvSpPr>
        <p:spPr>
          <a:xfrm>
            <a:off x="2926080" y="2103120"/>
            <a:ext cx="1828800" cy="777240"/>
          </a:xfrm>
          <a:prstGeom prst="roundRect">
            <a:avLst>
              <a:gd name="adj" fmla="val 9412"/>
            </a:avLst>
          </a:prstGeom>
          <a:solidFill>
            <a:srgbClr val="D9F2F1"/>
          </a:solidFill>
          <a:ln/>
        </p:spPr>
      </p:sp>
      <p:pic>
        <p:nvPicPr>
          <p:cNvPr id="22" name="Image 1" descr="preencoded.png">    </p:cNvPr>
          <p:cNvPicPr>
            <a:picLocks noChangeAspect="1"/>
          </p:cNvPicPr>
          <p:nvPr/>
        </p:nvPicPr>
        <p:blipFill>
          <a:blip r:embed="rId2"/>
          <a:stretch>
            <a:fillRect/>
          </a:stretch>
        </p:blipFill>
        <p:spPr>
          <a:xfrm>
            <a:off x="3035808" y="2308860"/>
            <a:ext cx="365760" cy="365760"/>
          </a:xfrm>
          <a:prstGeom prst="rect">
            <a:avLst/>
          </a:prstGeom>
        </p:spPr>
      </p:pic>
      <p:sp>
        <p:nvSpPr>
          <p:cNvPr id="23" name="Text 19"/>
          <p:cNvSpPr txBox="1"/>
          <p:nvPr/>
        </p:nvSpPr>
        <p:spPr>
          <a:xfrm>
            <a:off x="3493008" y="2103120"/>
            <a:ext cx="121615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Python API</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Cloud Run</a:t>
            </a:r>
            <a:endParaRPr lang="en-US" sz="1050" dirty="0"/>
          </a:p>
        </p:txBody>
      </p:sp>
      <p:sp>
        <p:nvSpPr>
          <p:cNvPr id="24" name="Shape 20"/>
          <p:cNvSpPr/>
          <p:nvPr/>
        </p:nvSpPr>
        <p:spPr>
          <a:xfrm>
            <a:off x="4800600" y="2487168"/>
            <a:ext cx="274320" cy="0"/>
          </a:xfrm>
          <a:prstGeom prst="line">
            <a:avLst/>
          </a:prstGeom>
          <a:noFill/>
          <a:ln w="22225">
            <a:solidFill>
              <a:srgbClr val="9AA5B4"/>
            </a:solidFill>
            <a:prstDash val="solid"/>
            <a:tailEnd type="triangle"/>
          </a:ln>
        </p:spPr>
      </p:sp>
      <p:sp>
        <p:nvSpPr>
          <p:cNvPr id="25" name="Shape 21"/>
          <p:cNvSpPr/>
          <p:nvPr/>
        </p:nvSpPr>
        <p:spPr>
          <a:xfrm>
            <a:off x="5120640" y="2103120"/>
            <a:ext cx="2194560" cy="777240"/>
          </a:xfrm>
          <a:prstGeom prst="roundRect">
            <a:avLst>
              <a:gd name="adj" fmla="val 9412"/>
            </a:avLst>
          </a:prstGeom>
          <a:solidFill>
            <a:srgbClr val="0E9F9A"/>
          </a:solidFill>
          <a:ln/>
        </p:spPr>
      </p:sp>
      <p:sp>
        <p:nvSpPr>
          <p:cNvPr id="26" name="Shape 22"/>
          <p:cNvSpPr/>
          <p:nvPr/>
        </p:nvSpPr>
        <p:spPr>
          <a:xfrm>
            <a:off x="5193792" y="223570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5266944" y="2308860"/>
            <a:ext cx="365760" cy="365760"/>
          </a:xfrm>
          <a:prstGeom prst="rect">
            <a:avLst/>
          </a:prstGeom>
        </p:spPr>
      </p:pic>
      <p:sp>
        <p:nvSpPr>
          <p:cNvPr id="28" name="Text 23"/>
          <p:cNvSpPr txBox="1"/>
          <p:nvPr/>
        </p:nvSpPr>
        <p:spPr>
          <a:xfrm>
            <a:off x="5852160" y="2103120"/>
            <a:ext cx="1417320" cy="77724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Gemini</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Agent Platform</a:t>
            </a:r>
            <a:endParaRPr lang="en-US" sz="1050" dirty="0"/>
          </a:p>
        </p:txBody>
      </p:sp>
      <p:sp>
        <p:nvSpPr>
          <p:cNvPr id="29" name="Shape 24"/>
          <p:cNvSpPr/>
          <p:nvPr/>
        </p:nvSpPr>
        <p:spPr>
          <a:xfrm>
            <a:off x="1645920" y="2926080"/>
            <a:ext cx="0" cy="274320"/>
          </a:xfrm>
          <a:prstGeom prst="line">
            <a:avLst/>
          </a:prstGeom>
          <a:noFill/>
          <a:ln w="22225">
            <a:solidFill>
              <a:srgbClr val="9AA5B4"/>
            </a:solidFill>
            <a:prstDash val="solid"/>
            <a:tailEnd type="triangle"/>
          </a:ln>
        </p:spPr>
      </p:sp>
      <p:sp>
        <p:nvSpPr>
          <p:cNvPr id="30" name="Shape 25"/>
          <p:cNvSpPr/>
          <p:nvPr/>
        </p:nvSpPr>
        <p:spPr>
          <a:xfrm>
            <a:off x="731520" y="3246120"/>
            <a:ext cx="1828800" cy="731520"/>
          </a:xfrm>
          <a:prstGeom prst="roundRect">
            <a:avLst>
              <a:gd name="adj" fmla="val 10000"/>
            </a:avLst>
          </a:prstGeom>
          <a:solidFill>
            <a:srgbClr val="E3EAF5"/>
          </a:solidFill>
          <a:ln/>
        </p:spPr>
      </p:sp>
      <p:pic>
        <p:nvPicPr>
          <p:cNvPr id="31" name="Image 3" descr="preencoded.png">    </p:cNvPr>
          <p:cNvPicPr>
            <a:picLocks noChangeAspect="1"/>
          </p:cNvPicPr>
          <p:nvPr/>
        </p:nvPicPr>
        <p:blipFill>
          <a:blip r:embed="rId4"/>
          <a:stretch>
            <a:fillRect/>
          </a:stretch>
        </p:blipFill>
        <p:spPr>
          <a:xfrm>
            <a:off x="841248" y="3429000"/>
            <a:ext cx="365760" cy="365760"/>
          </a:xfrm>
          <a:prstGeom prst="rect">
            <a:avLst/>
          </a:prstGeom>
        </p:spPr>
      </p:pic>
      <p:sp>
        <p:nvSpPr>
          <p:cNvPr id="32" name="Text 26"/>
          <p:cNvSpPr txBox="1"/>
          <p:nvPr/>
        </p:nvSpPr>
        <p:spPr>
          <a:xfrm>
            <a:off x="1298448" y="3246120"/>
            <a:ext cx="12161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Entra ID</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SSO認証</a:t>
            </a:r>
            <a:endParaRPr lang="en-US" sz="1050" dirty="0"/>
          </a:p>
        </p:txBody>
      </p:sp>
      <p:sp>
        <p:nvSpPr>
          <p:cNvPr id="33" name="Shape 27"/>
          <p:cNvSpPr/>
          <p:nvPr/>
        </p:nvSpPr>
        <p:spPr>
          <a:xfrm>
            <a:off x="3840480" y="2926080"/>
            <a:ext cx="0" cy="274320"/>
          </a:xfrm>
          <a:prstGeom prst="line">
            <a:avLst/>
          </a:prstGeom>
          <a:noFill/>
          <a:ln w="22225">
            <a:solidFill>
              <a:srgbClr val="9AA5B4"/>
            </a:solidFill>
            <a:prstDash val="solid"/>
            <a:tailEnd type="triangle"/>
          </a:ln>
        </p:spPr>
      </p:sp>
      <p:sp>
        <p:nvSpPr>
          <p:cNvPr id="34" name="Shape 28"/>
          <p:cNvSpPr/>
          <p:nvPr/>
        </p:nvSpPr>
        <p:spPr>
          <a:xfrm>
            <a:off x="2926080" y="3246120"/>
            <a:ext cx="1828800" cy="731520"/>
          </a:xfrm>
          <a:prstGeom prst="roundRect">
            <a:avLst>
              <a:gd name="adj" fmla="val 10000"/>
            </a:avLst>
          </a:prstGeom>
          <a:solidFill>
            <a:srgbClr val="E3EAF5"/>
          </a:solidFill>
          <a:ln/>
        </p:spPr>
      </p:sp>
      <p:pic>
        <p:nvPicPr>
          <p:cNvPr id="35" name="Image 4" descr="preencoded.png">    </p:cNvPr>
          <p:cNvPicPr>
            <a:picLocks noChangeAspect="1"/>
          </p:cNvPicPr>
          <p:nvPr/>
        </p:nvPicPr>
        <p:blipFill>
          <a:blip r:embed="rId5"/>
          <a:stretch>
            <a:fillRect/>
          </a:stretch>
        </p:blipFill>
        <p:spPr>
          <a:xfrm>
            <a:off x="3035808" y="3429000"/>
            <a:ext cx="365760" cy="365760"/>
          </a:xfrm>
          <a:prstGeom prst="rect">
            <a:avLst/>
          </a:prstGeom>
        </p:spPr>
      </p:pic>
      <p:sp>
        <p:nvSpPr>
          <p:cNvPr id="36" name="Text 29"/>
          <p:cNvSpPr txBox="1"/>
          <p:nvPr/>
        </p:nvSpPr>
        <p:spPr>
          <a:xfrm>
            <a:off x="3493008" y="3246120"/>
            <a:ext cx="12161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Cloud SQL等</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配信カードのDB</a:t>
            </a:r>
            <a:endParaRPr lang="en-US" sz="1050" dirty="0"/>
          </a:p>
        </p:txBody>
      </p:sp>
      <p:sp>
        <p:nvSpPr>
          <p:cNvPr id="37" name="Shape 30"/>
          <p:cNvSpPr/>
          <p:nvPr/>
        </p:nvSpPr>
        <p:spPr>
          <a:xfrm>
            <a:off x="4663440" y="2926080"/>
            <a:ext cx="502920" cy="320040"/>
          </a:xfrm>
          <a:prstGeom prst="line">
            <a:avLst/>
          </a:prstGeom>
          <a:noFill/>
          <a:ln w="22225">
            <a:solidFill>
              <a:srgbClr val="9AA5B4"/>
            </a:solidFill>
            <a:prstDash val="solid"/>
            <a:tailEnd type="triangle"/>
          </a:ln>
        </p:spPr>
      </p:sp>
      <p:sp>
        <p:nvSpPr>
          <p:cNvPr id="38" name="Shape 31"/>
          <p:cNvSpPr/>
          <p:nvPr/>
        </p:nvSpPr>
        <p:spPr>
          <a:xfrm>
            <a:off x="5120640" y="3246120"/>
            <a:ext cx="2194560" cy="731520"/>
          </a:xfrm>
          <a:prstGeom prst="roundRect">
            <a:avLst>
              <a:gd name="adj" fmla="val 10000"/>
            </a:avLst>
          </a:prstGeom>
          <a:solidFill>
            <a:srgbClr val="E3EAF5"/>
          </a:solidFill>
          <a:ln/>
        </p:spPr>
      </p:sp>
      <p:pic>
        <p:nvPicPr>
          <p:cNvPr id="39" name="Image 5" descr="preencoded.png">    </p:cNvPr>
          <p:cNvPicPr>
            <a:picLocks noChangeAspect="1"/>
          </p:cNvPicPr>
          <p:nvPr/>
        </p:nvPicPr>
        <p:blipFill>
          <a:blip r:embed="rId6"/>
          <a:stretch>
            <a:fillRect/>
          </a:stretch>
        </p:blipFill>
        <p:spPr>
          <a:xfrm>
            <a:off x="5230368" y="3429000"/>
            <a:ext cx="365760" cy="365760"/>
          </a:xfrm>
          <a:prstGeom prst="rect">
            <a:avLst/>
          </a:prstGeom>
        </p:spPr>
      </p:pic>
      <p:sp>
        <p:nvSpPr>
          <p:cNvPr id="40" name="Text 32"/>
          <p:cNvSpPr txBox="1"/>
          <p:nvPr/>
        </p:nvSpPr>
        <p:spPr>
          <a:xfrm>
            <a:off x="5687568" y="3246120"/>
            <a:ext cx="15819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BigQuery＋資料</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直接参照／Graphで同期</a:t>
            </a:r>
            <a:endParaRPr lang="en-US" sz="1050" dirty="0"/>
          </a:p>
        </p:txBody>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フロントエンド／バックエンドの開発</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Entra IDとの認証連携（SSO）</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Graph APIでの資料同期</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DB・CI/CD・監視などの運用基盤</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LLM：Gemini（Agent Platform）</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画面・スコアリングの自由度が最も高い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前処理・推論・画面を一体で設計できる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Power Appsのライセンスが不要</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開発期間・コストが最も大きい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認証・ホスティング・運用を自前で持つ</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資料の同期の仕組みが必要（取り込み自体は可）</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同じTypeScript開発ならA7（code apps）との比較</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内製か外注か、保守の体制</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M365（Teams）との連携の範囲</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C1｜Airtable標準のAI（Field Agents）</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Airtableの標準AI機能で、カードの項目（テーマ・コピー・制作指示など）を自動生成する。M365・GCPとは独立した選択肢</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40</a:t>
            </a:r>
            <a:endParaRPr lang="en-US" sz="900" dirty="0"/>
          </a:p>
        </p:txBody>
      </p:sp>
      <p:sp>
        <p:nvSpPr>
          <p:cNvPr id="6" name="Shape 4"/>
          <p:cNvSpPr/>
          <p:nvPr/>
        </p:nvSpPr>
        <p:spPr>
          <a:xfrm>
            <a:off x="548640" y="1371600"/>
            <a:ext cx="2103120" cy="347472"/>
          </a:xfrm>
          <a:prstGeom prst="roundRect">
            <a:avLst>
              <a:gd name="adj" fmla="val 50000"/>
            </a:avLst>
          </a:prstGeom>
          <a:solidFill>
            <a:srgbClr val="FFF4E0"/>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C77700"/>
                </a:solidFill>
                <a:latin typeface="Meiryo UI" pitchFamily="34" charset="0"/>
                <a:ea typeface="Meiryo UI" pitchFamily="34" charset="-122"/>
                <a:cs typeface="Meiryo UI" pitchFamily="34" charset="-120"/>
              </a:rPr>
              <a:t>集約先  </a:t>
            </a:r>
            <a:pPr algn="ctr" indent="0" marL="0">
              <a:buNone/>
            </a:pPr>
            <a:r>
              <a:rPr lang="en-US" sz="1100" b="1" dirty="0">
                <a:solidFill>
                  <a:srgbClr val="C77700"/>
                </a:solidFill>
                <a:latin typeface="Meiryo UI" pitchFamily="34" charset="0"/>
                <a:ea typeface="Meiryo UI" pitchFamily="34" charset="-122"/>
                <a:cs typeface="Meiryo UI" pitchFamily="34" charset="-120"/>
              </a:rPr>
              <a:t>Airtable内で完結</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103120"/>
            <a:ext cx="2103120" cy="914400"/>
          </a:xfrm>
          <a:prstGeom prst="roundRect">
            <a:avLst>
              <a:gd name="adj" fmla="val 8000"/>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377440"/>
            <a:ext cx="365760" cy="365760"/>
          </a:xfrm>
          <a:prstGeom prst="rect">
            <a:avLst/>
          </a:prstGeom>
        </p:spPr>
      </p:pic>
      <p:sp>
        <p:nvSpPr>
          <p:cNvPr id="19" name="Text 16"/>
          <p:cNvSpPr txBox="1"/>
          <p:nvPr/>
        </p:nvSpPr>
        <p:spPr>
          <a:xfrm>
            <a:off x="1298448" y="2103120"/>
            <a:ext cx="1490472" cy="9144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配信カード</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配信日ごとに作成済み</a:t>
            </a:r>
            <a:endParaRPr lang="en-US" sz="1050" dirty="0"/>
          </a:p>
        </p:txBody>
      </p:sp>
      <p:sp>
        <p:nvSpPr>
          <p:cNvPr id="20" name="Shape 17"/>
          <p:cNvSpPr/>
          <p:nvPr/>
        </p:nvSpPr>
        <p:spPr>
          <a:xfrm>
            <a:off x="2880360" y="2560320"/>
            <a:ext cx="274320" cy="0"/>
          </a:xfrm>
          <a:prstGeom prst="line">
            <a:avLst/>
          </a:prstGeom>
          <a:noFill/>
          <a:ln w="22225">
            <a:solidFill>
              <a:srgbClr val="9AA5B4"/>
            </a:solidFill>
            <a:prstDash val="solid"/>
            <a:tailEnd type="triangle"/>
          </a:ln>
        </p:spPr>
      </p:sp>
      <p:sp>
        <p:nvSpPr>
          <p:cNvPr id="21" name="Shape 18"/>
          <p:cNvSpPr/>
          <p:nvPr/>
        </p:nvSpPr>
        <p:spPr>
          <a:xfrm>
            <a:off x="3200400" y="2103120"/>
            <a:ext cx="2103120" cy="914400"/>
          </a:xfrm>
          <a:prstGeom prst="roundRect">
            <a:avLst>
              <a:gd name="adj" fmla="val 8000"/>
            </a:avLst>
          </a:prstGeom>
          <a:solidFill>
            <a:srgbClr val="0E9F9A"/>
          </a:solidFill>
          <a:ln/>
        </p:spPr>
      </p:sp>
      <p:sp>
        <p:nvSpPr>
          <p:cNvPr id="22" name="Shape 19"/>
          <p:cNvSpPr/>
          <p:nvPr/>
        </p:nvSpPr>
        <p:spPr>
          <a:xfrm>
            <a:off x="3273552" y="2304288"/>
            <a:ext cx="512064" cy="512064"/>
          </a:xfrm>
          <a:prstGeom prst="ellipse">
            <a:avLst/>
          </a:prstGeom>
          <a:solidFill>
            <a:srgbClr val="FFFFFF"/>
          </a:solidFill>
          <a:ln/>
        </p:spPr>
      </p:sp>
      <p:pic>
        <p:nvPicPr>
          <p:cNvPr id="23" name="Image 1" descr="preencoded.png">    </p:cNvPr>
          <p:cNvPicPr>
            <a:picLocks noChangeAspect="1"/>
          </p:cNvPicPr>
          <p:nvPr/>
        </p:nvPicPr>
        <p:blipFill>
          <a:blip r:embed="rId2"/>
          <a:stretch>
            <a:fillRect/>
          </a:stretch>
        </p:blipFill>
        <p:spPr>
          <a:xfrm>
            <a:off x="3346704" y="2377440"/>
            <a:ext cx="365760" cy="365760"/>
          </a:xfrm>
          <a:prstGeom prst="rect">
            <a:avLst/>
          </a:prstGeom>
        </p:spPr>
      </p:pic>
      <p:sp>
        <p:nvSpPr>
          <p:cNvPr id="24" name="Text 20"/>
          <p:cNvSpPr txBox="1"/>
          <p:nvPr/>
        </p:nvSpPr>
        <p:spPr>
          <a:xfrm>
            <a:off x="3931920" y="2103120"/>
            <a:ext cx="1325880" cy="91440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Field Agents</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項目の追加・更新で自動実行</a:t>
            </a:r>
            <a:endParaRPr lang="en-US" sz="1050" dirty="0"/>
          </a:p>
        </p:txBody>
      </p:sp>
      <p:sp>
        <p:nvSpPr>
          <p:cNvPr id="25" name="Shape 21"/>
          <p:cNvSpPr/>
          <p:nvPr/>
        </p:nvSpPr>
        <p:spPr>
          <a:xfrm>
            <a:off x="5349240" y="2560320"/>
            <a:ext cx="274320" cy="0"/>
          </a:xfrm>
          <a:prstGeom prst="line">
            <a:avLst/>
          </a:prstGeom>
          <a:noFill/>
          <a:ln w="22225">
            <a:solidFill>
              <a:srgbClr val="9AA5B4"/>
            </a:solidFill>
            <a:prstDash val="solid"/>
            <a:tailEnd type="triangle"/>
          </a:ln>
        </p:spPr>
      </p:sp>
      <p:sp>
        <p:nvSpPr>
          <p:cNvPr id="26" name="Shape 22"/>
          <p:cNvSpPr/>
          <p:nvPr/>
        </p:nvSpPr>
        <p:spPr>
          <a:xfrm>
            <a:off x="5669280" y="2103120"/>
            <a:ext cx="1645920" cy="914400"/>
          </a:xfrm>
          <a:prstGeom prst="roundRect">
            <a:avLst>
              <a:gd name="adj" fmla="val 8000"/>
            </a:avLst>
          </a:prstGeom>
          <a:solidFill>
            <a:srgbClr val="D9F2F1"/>
          </a:solidFill>
          <a:ln/>
        </p:spPr>
      </p:sp>
      <p:pic>
        <p:nvPicPr>
          <p:cNvPr id="27" name="Image 2" descr="preencoded.png">    </p:cNvPr>
          <p:cNvPicPr>
            <a:picLocks noChangeAspect="1"/>
          </p:cNvPicPr>
          <p:nvPr/>
        </p:nvPicPr>
        <p:blipFill>
          <a:blip r:embed="rId3"/>
          <a:stretch>
            <a:fillRect/>
          </a:stretch>
        </p:blipFill>
        <p:spPr>
          <a:xfrm>
            <a:off x="5779008" y="2377440"/>
            <a:ext cx="365760" cy="365760"/>
          </a:xfrm>
          <a:prstGeom prst="rect">
            <a:avLst/>
          </a:prstGeom>
        </p:spPr>
      </p:pic>
      <p:sp>
        <p:nvSpPr>
          <p:cNvPr id="28" name="Text 23"/>
          <p:cNvSpPr txBox="1"/>
          <p:nvPr/>
        </p:nvSpPr>
        <p:spPr>
          <a:xfrm>
            <a:off x="6236208" y="2103120"/>
            <a:ext cx="1033272" cy="9144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カードの項目</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テーマ・コピー・指示</a:t>
            </a:r>
            <a:endParaRPr lang="en-US" sz="1050" dirty="0"/>
          </a:p>
        </p:txBody>
      </p:sp>
      <p:sp>
        <p:nvSpPr>
          <p:cNvPr id="29" name="Shape 24"/>
          <p:cNvSpPr/>
          <p:nvPr/>
        </p:nvSpPr>
        <p:spPr>
          <a:xfrm>
            <a:off x="731520" y="3291840"/>
            <a:ext cx="2103120" cy="685800"/>
          </a:xfrm>
          <a:prstGeom prst="roundRect">
            <a:avLst>
              <a:gd name="adj" fmla="val 10667"/>
            </a:avLst>
          </a:prstGeom>
          <a:solidFill>
            <a:srgbClr val="E3EAF5"/>
          </a:solidFill>
          <a:ln/>
        </p:spPr>
      </p:sp>
      <p:pic>
        <p:nvPicPr>
          <p:cNvPr id="30" name="Image 3" descr="preencoded.png">    </p:cNvPr>
          <p:cNvPicPr>
            <a:picLocks noChangeAspect="1"/>
          </p:cNvPicPr>
          <p:nvPr/>
        </p:nvPicPr>
        <p:blipFill>
          <a:blip r:embed="rId4"/>
          <a:stretch>
            <a:fillRect/>
          </a:stretch>
        </p:blipFill>
        <p:spPr>
          <a:xfrm>
            <a:off x="841248" y="3451860"/>
            <a:ext cx="365760" cy="365760"/>
          </a:xfrm>
          <a:prstGeom prst="rect">
            <a:avLst/>
          </a:prstGeom>
        </p:spPr>
      </p:pic>
      <p:sp>
        <p:nvSpPr>
          <p:cNvPr id="31" name="Text 25"/>
          <p:cNvSpPr txBox="1"/>
          <p:nvPr/>
        </p:nvSpPr>
        <p:spPr>
          <a:xfrm>
            <a:off x="1298448" y="3291840"/>
            <a:ext cx="149047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添付・テキスト</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カードに持ち込んだ情報</a:t>
            </a:r>
            <a:endParaRPr lang="en-US" sz="1050" dirty="0"/>
          </a:p>
        </p:txBody>
      </p:sp>
      <p:sp>
        <p:nvSpPr>
          <p:cNvPr id="32" name="Shape 26"/>
          <p:cNvSpPr/>
          <p:nvPr/>
        </p:nvSpPr>
        <p:spPr>
          <a:xfrm flipV="1">
            <a:off x="2834640" y="3063240"/>
            <a:ext cx="457200" cy="502920"/>
          </a:xfrm>
          <a:prstGeom prst="line">
            <a:avLst/>
          </a:prstGeom>
          <a:noFill/>
          <a:ln w="22225">
            <a:solidFill>
              <a:srgbClr val="9AA5B4"/>
            </a:solidFill>
            <a:prstDash val="solid"/>
            <a:tailEnd type="triangle"/>
          </a:ln>
        </p:spPr>
      </p:sp>
      <p:sp>
        <p:nvSpPr>
          <p:cNvPr id="33" name="Shape 27"/>
          <p:cNvSpPr/>
          <p:nvPr/>
        </p:nvSpPr>
        <p:spPr>
          <a:xfrm>
            <a:off x="3200400" y="3291840"/>
            <a:ext cx="4114800" cy="685800"/>
          </a:xfrm>
          <a:prstGeom prst="roundRect">
            <a:avLst>
              <a:gd name="adj" fmla="val 10667"/>
            </a:avLst>
          </a:prstGeom>
          <a:solidFill>
            <a:srgbClr val="FFFFFF"/>
          </a:solidFill>
          <a:ln w="12700">
            <a:solidFill>
              <a:srgbClr val="9AA5B4"/>
            </a:solidFill>
            <a:prstDash val="dash"/>
          </a:ln>
        </p:spPr>
      </p:sp>
      <p:pic>
        <p:nvPicPr>
          <p:cNvPr id="34" name="Image 4" descr="preencoded.png">    </p:cNvPr>
          <p:cNvPicPr>
            <a:picLocks noChangeAspect="1"/>
          </p:cNvPicPr>
          <p:nvPr/>
        </p:nvPicPr>
        <p:blipFill>
          <a:blip r:embed="rId5">
            <a:alphaModFix amt="50000"/>
          </a:blip>
          <a:stretch>
            <a:fillRect/>
          </a:stretch>
        </p:blipFill>
        <p:spPr>
          <a:xfrm>
            <a:off x="3337560" y="3474720"/>
            <a:ext cx="310896" cy="310896"/>
          </a:xfrm>
          <a:prstGeom prst="rect">
            <a:avLst/>
          </a:prstGeom>
        </p:spPr>
      </p:pic>
      <p:pic>
        <p:nvPicPr>
          <p:cNvPr id="35" name="Image 5" descr="preencoded.png">    </p:cNvPr>
          <p:cNvPicPr>
            <a:picLocks noChangeAspect="1"/>
          </p:cNvPicPr>
          <p:nvPr/>
        </p:nvPicPr>
        <p:blipFill>
          <a:blip r:embed="rId6">
            <a:alphaModFix amt="50000"/>
          </a:blip>
          <a:stretch>
            <a:fillRect/>
          </a:stretch>
        </p:blipFill>
        <p:spPr>
          <a:xfrm>
            <a:off x="3703320" y="3474720"/>
            <a:ext cx="310896" cy="310896"/>
          </a:xfrm>
          <a:prstGeom prst="rect">
            <a:avLst/>
          </a:prstGeom>
        </p:spPr>
      </p:pic>
      <p:sp>
        <p:nvSpPr>
          <p:cNvPr id="36" name="Text 28"/>
          <p:cNvSpPr txBox="1"/>
          <p:nvPr/>
        </p:nvSpPr>
        <p:spPr>
          <a:xfrm>
            <a:off x="4114800" y="3291840"/>
            <a:ext cx="3154680" cy="685800"/>
          </a:xfrm>
          <a:prstGeom prst="rect">
            <a:avLst/>
          </a:prstGeom>
          <a:noFill/>
          <a:ln/>
        </p:spPr>
        <p:txBody>
          <a:bodyPr wrap="square" lIns="508" tIns="508" rIns="508" bIns="508" rtlCol="0" anchor="ctr"/>
          <a:lstStyle/>
          <a:p>
            <a:pPr indent="0" marL="0">
              <a:buNone/>
            </a:pPr>
            <a:r>
              <a:rPr lang="en-US" sz="950" dirty="0">
                <a:solidFill>
                  <a:srgbClr val="6B7280"/>
                </a:solidFill>
                <a:latin typeface="Meiryo UI" pitchFamily="34" charset="0"/>
                <a:ea typeface="Meiryo UI" pitchFamily="34" charset="-122"/>
                <a:cs typeface="Meiryo UI" pitchFamily="34" charset="-120"/>
              </a:rPr>
              <a:t>SharePointの資料やBigQueryのデータは直接参照しにくい</a:t>
            </a:r>
            <a:endParaRPr lang="en-US" sz="950" dirty="0"/>
          </a:p>
        </p:txBody>
      </p:sp>
      <p:sp>
        <p:nvSpPr>
          <p:cNvPr id="37" name="Shape 29"/>
          <p:cNvSpPr/>
          <p:nvPr/>
        </p:nvSpPr>
        <p:spPr>
          <a:xfrm>
            <a:off x="7680960" y="1874520"/>
            <a:ext cx="3931920" cy="2514600"/>
          </a:xfrm>
          <a:prstGeom prst="roundRect">
            <a:avLst>
              <a:gd name="adj" fmla="val 2182"/>
            </a:avLst>
          </a:prstGeom>
          <a:solidFill>
            <a:srgbClr val="E3EAF5"/>
          </a:solidFill>
          <a:ln/>
        </p:spPr>
      </p:sp>
      <p:sp>
        <p:nvSpPr>
          <p:cNvPr id="38" name="Shape 30"/>
          <p:cNvSpPr/>
          <p:nvPr/>
        </p:nvSpPr>
        <p:spPr>
          <a:xfrm>
            <a:off x="7818120" y="1993392"/>
            <a:ext cx="384048" cy="384048"/>
          </a:xfrm>
          <a:prstGeom prst="ellipse">
            <a:avLst/>
          </a:prstGeom>
          <a:solidFill>
            <a:srgbClr val="FFFFFF"/>
          </a:solidFill>
          <a:ln/>
        </p:spPr>
      </p:sp>
      <p:pic>
        <p:nvPicPr>
          <p:cNvPr id="39"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0" name="Text 31"/>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1" name="Text 32"/>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Airtable AI（Field Agents、Omni）</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AIクレジット（プランに一定量を含み、追加購入も可）</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参照させる情報をカードに持ち込む（添付・テキスト）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項目ごとのプロンプトの設計</a:t>
            </a:r>
            <a:endParaRPr lang="en-US" sz="1100" dirty="0"/>
          </a:p>
        </p:txBody>
      </p:sp>
      <p:sp>
        <p:nvSpPr>
          <p:cNvPr id="42" name="Shape 33"/>
          <p:cNvSpPr/>
          <p:nvPr/>
        </p:nvSpPr>
        <p:spPr>
          <a:xfrm>
            <a:off x="548640" y="4572000"/>
            <a:ext cx="3566160" cy="1783080"/>
          </a:xfrm>
          <a:prstGeom prst="roundRect">
            <a:avLst>
              <a:gd name="adj" fmla="val 3077"/>
            </a:avLst>
          </a:prstGeom>
          <a:solidFill>
            <a:srgbClr val="D9F2F1"/>
          </a:solidFill>
          <a:ln/>
        </p:spPr>
      </p:sp>
      <p:sp>
        <p:nvSpPr>
          <p:cNvPr id="43" name="Shape 34"/>
          <p:cNvSpPr/>
          <p:nvPr/>
        </p:nvSpPr>
        <p:spPr>
          <a:xfrm>
            <a:off x="685800" y="4690872"/>
            <a:ext cx="384048" cy="384048"/>
          </a:xfrm>
          <a:prstGeom prst="ellipse">
            <a:avLst/>
          </a:prstGeom>
          <a:solidFill>
            <a:srgbClr val="FFFFFF"/>
          </a:solidFill>
          <a:ln/>
        </p:spPr>
      </p:sp>
      <p:pic>
        <p:nvPicPr>
          <p:cNvPr id="44"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5" name="Text 35"/>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46" name="Text 36"/>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管理基盤のまま、最も手軽に自動生成を試せる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カードの項目単位で自動実行できる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M365・GCPとのシステム連携が不要</a:t>
            </a:r>
            <a:endParaRPr lang="en-US" sz="1150" dirty="0"/>
          </a:p>
        </p:txBody>
      </p:sp>
      <p:sp>
        <p:nvSpPr>
          <p:cNvPr id="47" name="Shape 37"/>
          <p:cNvSpPr/>
          <p:nvPr/>
        </p:nvSpPr>
        <p:spPr>
          <a:xfrm>
            <a:off x="4297680" y="4572000"/>
            <a:ext cx="3566160" cy="1783080"/>
          </a:xfrm>
          <a:prstGeom prst="roundRect">
            <a:avLst>
              <a:gd name="adj" fmla="val 3077"/>
            </a:avLst>
          </a:prstGeom>
          <a:solidFill>
            <a:srgbClr val="FBE3E3"/>
          </a:solidFill>
          <a:ln/>
        </p:spPr>
      </p:sp>
      <p:sp>
        <p:nvSpPr>
          <p:cNvPr id="48" name="Shape 38"/>
          <p:cNvSpPr/>
          <p:nvPr/>
        </p:nvSpPr>
        <p:spPr>
          <a:xfrm>
            <a:off x="4434840" y="4690872"/>
            <a:ext cx="384048" cy="384048"/>
          </a:xfrm>
          <a:prstGeom prst="ellipse">
            <a:avLst/>
          </a:prstGeom>
          <a:solidFill>
            <a:srgbClr val="FFFFFF"/>
          </a:solidFill>
          <a:ln/>
        </p:spPr>
      </p:sp>
      <p:pic>
        <p:nvPicPr>
          <p:cNvPr id="49"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0" name="Text 39"/>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1" name="Text 40"/>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SharePointの資料やBigQueryのデータを直接参照しにくい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社内情報がAirtable経由でAIに渡る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ガイドラインの常時適用や、高度な選定ロジックには限界がある</a:t>
            </a:r>
            <a:endParaRPr lang="en-US" sz="1150" dirty="0"/>
          </a:p>
        </p:txBody>
      </p:sp>
      <p:sp>
        <p:nvSpPr>
          <p:cNvPr id="52" name="Shape 41"/>
          <p:cNvSpPr/>
          <p:nvPr/>
        </p:nvSpPr>
        <p:spPr>
          <a:xfrm>
            <a:off x="8046720" y="4572000"/>
            <a:ext cx="3566160" cy="1783080"/>
          </a:xfrm>
          <a:prstGeom prst="roundRect">
            <a:avLst>
              <a:gd name="adj" fmla="val 3077"/>
            </a:avLst>
          </a:prstGeom>
          <a:solidFill>
            <a:srgbClr val="FDEBD3"/>
          </a:solidFill>
          <a:ln/>
        </p:spPr>
      </p:sp>
      <p:sp>
        <p:nvSpPr>
          <p:cNvPr id="53" name="Shape 42"/>
          <p:cNvSpPr/>
          <p:nvPr/>
        </p:nvSpPr>
        <p:spPr>
          <a:xfrm>
            <a:off x="8183880" y="4690872"/>
            <a:ext cx="384048" cy="384048"/>
          </a:xfrm>
          <a:prstGeom prst="ellipse">
            <a:avLst/>
          </a:prstGeom>
          <a:solidFill>
            <a:srgbClr val="FFFFFF"/>
          </a:solidFill>
          <a:ln/>
        </p:spPr>
      </p:sp>
      <p:pic>
        <p:nvPicPr>
          <p:cNvPr id="54"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5" name="Text 43"/>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56" name="Text 44"/>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参照させたい情報をAirtableに持ち込めるか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AIクレジットの消費量</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Airtable経由でAIを使うことの情報セキュリティ上の位置付け</a:t>
            </a:r>
            <a:endParaRPr lang="en-US" sz="1150" dirty="0"/>
          </a:p>
        </p:txBody>
      </p:sp>
      <p:sp>
        <p:nvSpPr>
          <p:cNvPr id="57" name="Text 45"/>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段階的な進め方の例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どの経路を選んでも、途中で方向を切り替えることもできる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41</a:t>
            </a:r>
            <a:endParaRPr lang="en-US" sz="900" dirty="0"/>
          </a:p>
        </p:txBody>
      </p:sp>
      <p:sp>
        <p:nvSpPr>
          <p:cNvPr id="6" name="Shape 4"/>
          <p:cNvSpPr/>
          <p:nvPr/>
        </p:nvSpPr>
        <p:spPr>
          <a:xfrm>
            <a:off x="548640" y="1463040"/>
            <a:ext cx="11064240" cy="1188720"/>
          </a:xfrm>
          <a:prstGeom prst="roundRect">
            <a:avLst>
              <a:gd name="adj" fmla="val 4615"/>
            </a:avLst>
          </a:prstGeom>
          <a:solidFill>
            <a:srgbClr val="E5F0FA"/>
          </a:solidFill>
          <a:ln/>
        </p:spPr>
      </p:sp>
      <p:sp>
        <p:nvSpPr>
          <p:cNvPr id="7" name="Shape 5"/>
          <p:cNvSpPr/>
          <p:nvPr/>
        </p:nvSpPr>
        <p:spPr>
          <a:xfrm>
            <a:off x="731520" y="1783080"/>
            <a:ext cx="548640" cy="54864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41248" y="1892808"/>
            <a:ext cx="329184" cy="329184"/>
          </a:xfrm>
          <a:prstGeom prst="rect">
            <a:avLst/>
          </a:prstGeom>
        </p:spPr>
      </p:pic>
      <p:sp>
        <p:nvSpPr>
          <p:cNvPr id="9" name="Text 6"/>
          <p:cNvSpPr txBox="1"/>
          <p:nvPr/>
        </p:nvSpPr>
        <p:spPr>
          <a:xfrm>
            <a:off x="1371600" y="1463040"/>
            <a:ext cx="2286000" cy="1188720"/>
          </a:xfrm>
          <a:prstGeom prst="rect">
            <a:avLst/>
          </a:prstGeom>
          <a:noFill/>
          <a:ln/>
        </p:spPr>
        <p:txBody>
          <a:bodyPr wrap="square" lIns="508" tIns="508" rIns="508" bIns="508" rtlCol="0" anchor="ctr"/>
          <a:lstStyle/>
          <a:p>
            <a:pPr indent="0" marL="0">
              <a:buNone/>
            </a:pPr>
            <a:r>
              <a:rPr lang="en-US" sz="1250" b="1" dirty="0">
                <a:solidFill>
                  <a:srgbClr val="0F6CBD"/>
                </a:solidFill>
                <a:latin typeface="Meiryo UI" pitchFamily="34" charset="0"/>
                <a:ea typeface="Meiryo UI" pitchFamily="34" charset="-122"/>
                <a:cs typeface="Meiryo UI" pitchFamily="34" charset="-120"/>
              </a:rPr>
              <a:t>例1：M365を中心に進める</a:t>
            </a:r>
            <a:endParaRPr lang="en-US" sz="1250" dirty="0"/>
          </a:p>
        </p:txBody>
      </p:sp>
      <p:sp>
        <p:nvSpPr>
          <p:cNvPr id="10" name="Shape 7"/>
          <p:cNvSpPr/>
          <p:nvPr/>
        </p:nvSpPr>
        <p:spPr>
          <a:xfrm>
            <a:off x="3749040"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11" name="Text 8"/>
          <p:cNvSpPr txBox="1"/>
          <p:nvPr/>
        </p:nvSpPr>
        <p:spPr>
          <a:xfrm>
            <a:off x="3749040"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A1</a:t>
            </a:r>
            <a:endParaRPr lang="en-US" sz="1400" dirty="0"/>
          </a:p>
        </p:txBody>
      </p:sp>
      <p:sp>
        <p:nvSpPr>
          <p:cNvPr id="12" name="Text 9"/>
          <p:cNvSpPr txBox="1"/>
          <p:nvPr/>
        </p:nvSpPr>
        <p:spPr>
          <a:xfrm>
            <a:off x="3749040"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手動アシスト</a:t>
            </a:r>
            <a:endParaRPr lang="en-US" sz="850" dirty="0"/>
          </a:p>
        </p:txBody>
      </p:sp>
      <p:sp>
        <p:nvSpPr>
          <p:cNvPr id="13" name="Shape 10"/>
          <p:cNvSpPr/>
          <p:nvPr/>
        </p:nvSpPr>
        <p:spPr>
          <a:xfrm>
            <a:off x="5102352" y="2057400"/>
            <a:ext cx="192024" cy="0"/>
          </a:xfrm>
          <a:prstGeom prst="line">
            <a:avLst/>
          </a:prstGeom>
          <a:noFill/>
          <a:ln w="25400">
            <a:solidFill>
              <a:srgbClr val="0F6CBD"/>
            </a:solidFill>
            <a:prstDash val="solid"/>
            <a:tailEnd type="triangle"/>
          </a:ln>
        </p:spPr>
      </p:sp>
      <p:sp>
        <p:nvSpPr>
          <p:cNvPr id="14" name="Shape 11"/>
          <p:cNvSpPr/>
          <p:nvPr/>
        </p:nvSpPr>
        <p:spPr>
          <a:xfrm>
            <a:off x="5321808"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15" name="Text 12"/>
          <p:cNvSpPr txBox="1"/>
          <p:nvPr/>
        </p:nvSpPr>
        <p:spPr>
          <a:xfrm>
            <a:off x="5321808"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A2</a:t>
            </a:r>
            <a:endParaRPr lang="en-US" sz="1400" dirty="0"/>
          </a:p>
        </p:txBody>
      </p:sp>
      <p:sp>
        <p:nvSpPr>
          <p:cNvPr id="16" name="Text 13"/>
          <p:cNvSpPr txBox="1"/>
          <p:nvPr/>
        </p:nvSpPr>
        <p:spPr>
          <a:xfrm>
            <a:off x="5321808"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Agent Builder</a:t>
            </a:r>
            <a:endParaRPr lang="en-US" sz="850" dirty="0"/>
          </a:p>
        </p:txBody>
      </p:sp>
      <p:sp>
        <p:nvSpPr>
          <p:cNvPr id="17" name="Shape 14"/>
          <p:cNvSpPr/>
          <p:nvPr/>
        </p:nvSpPr>
        <p:spPr>
          <a:xfrm>
            <a:off x="6675120" y="2057400"/>
            <a:ext cx="192024" cy="0"/>
          </a:xfrm>
          <a:prstGeom prst="line">
            <a:avLst/>
          </a:prstGeom>
          <a:noFill/>
          <a:ln w="25400">
            <a:solidFill>
              <a:srgbClr val="0F6CBD"/>
            </a:solidFill>
            <a:prstDash val="solid"/>
            <a:tailEnd type="triangle"/>
          </a:ln>
        </p:spPr>
      </p:sp>
      <p:sp>
        <p:nvSpPr>
          <p:cNvPr id="18" name="Shape 15"/>
          <p:cNvSpPr/>
          <p:nvPr/>
        </p:nvSpPr>
        <p:spPr>
          <a:xfrm>
            <a:off x="6894576"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19" name="Text 16"/>
          <p:cNvSpPr txBox="1"/>
          <p:nvPr/>
        </p:nvSpPr>
        <p:spPr>
          <a:xfrm>
            <a:off x="6894576"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A3</a:t>
            </a:r>
            <a:endParaRPr lang="en-US" sz="1400" dirty="0"/>
          </a:p>
        </p:txBody>
      </p:sp>
      <p:sp>
        <p:nvSpPr>
          <p:cNvPr id="20" name="Text 17"/>
          <p:cNvSpPr txBox="1"/>
          <p:nvPr/>
        </p:nvSpPr>
        <p:spPr>
          <a:xfrm>
            <a:off x="6894576"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Copilot Studio</a:t>
            </a:r>
            <a:endParaRPr lang="en-US" sz="850" dirty="0"/>
          </a:p>
        </p:txBody>
      </p:sp>
      <p:sp>
        <p:nvSpPr>
          <p:cNvPr id="21" name="Shape 18"/>
          <p:cNvSpPr/>
          <p:nvPr/>
        </p:nvSpPr>
        <p:spPr>
          <a:xfrm>
            <a:off x="8247888" y="2057400"/>
            <a:ext cx="192024" cy="0"/>
          </a:xfrm>
          <a:prstGeom prst="line">
            <a:avLst/>
          </a:prstGeom>
          <a:noFill/>
          <a:ln w="25400">
            <a:solidFill>
              <a:srgbClr val="0F6CBD"/>
            </a:solidFill>
            <a:prstDash val="solid"/>
            <a:tailEnd type="triangle"/>
          </a:ln>
        </p:spPr>
      </p:sp>
      <p:sp>
        <p:nvSpPr>
          <p:cNvPr id="22" name="Shape 19"/>
          <p:cNvSpPr/>
          <p:nvPr/>
        </p:nvSpPr>
        <p:spPr>
          <a:xfrm>
            <a:off x="8467344"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23" name="Text 20"/>
          <p:cNvSpPr txBox="1"/>
          <p:nvPr/>
        </p:nvSpPr>
        <p:spPr>
          <a:xfrm>
            <a:off x="8467344"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A5</a:t>
            </a:r>
            <a:endParaRPr lang="en-US" sz="1400" dirty="0"/>
          </a:p>
        </p:txBody>
      </p:sp>
      <p:sp>
        <p:nvSpPr>
          <p:cNvPr id="24" name="Text 21"/>
          <p:cNvSpPr txBox="1"/>
          <p:nvPr/>
        </p:nvSpPr>
        <p:spPr>
          <a:xfrm>
            <a:off x="8467344"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Listsに移行</a:t>
            </a:r>
            <a:endParaRPr lang="en-US" sz="850" dirty="0"/>
          </a:p>
        </p:txBody>
      </p:sp>
      <p:sp>
        <p:nvSpPr>
          <p:cNvPr id="25" name="Shape 22"/>
          <p:cNvSpPr/>
          <p:nvPr/>
        </p:nvSpPr>
        <p:spPr>
          <a:xfrm>
            <a:off x="9820656" y="2057400"/>
            <a:ext cx="192024" cy="0"/>
          </a:xfrm>
          <a:prstGeom prst="line">
            <a:avLst/>
          </a:prstGeom>
          <a:noFill/>
          <a:ln w="25400">
            <a:solidFill>
              <a:srgbClr val="0F6CBD"/>
            </a:solidFill>
            <a:prstDash val="solid"/>
            <a:tailEnd type="triangle"/>
          </a:ln>
        </p:spPr>
      </p:sp>
      <p:sp>
        <p:nvSpPr>
          <p:cNvPr id="26" name="Shape 23"/>
          <p:cNvSpPr/>
          <p:nvPr/>
        </p:nvSpPr>
        <p:spPr>
          <a:xfrm>
            <a:off x="10040112"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27" name="Text 24"/>
          <p:cNvSpPr txBox="1"/>
          <p:nvPr/>
        </p:nvSpPr>
        <p:spPr>
          <a:xfrm>
            <a:off x="10040112"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A8</a:t>
            </a:r>
            <a:endParaRPr lang="en-US" sz="1400" dirty="0"/>
          </a:p>
        </p:txBody>
      </p:sp>
      <p:sp>
        <p:nvSpPr>
          <p:cNvPr id="28" name="Text 25"/>
          <p:cNvSpPr txBox="1"/>
          <p:nvPr/>
        </p:nvSpPr>
        <p:spPr>
          <a:xfrm>
            <a:off x="10040112"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Lists＋code apps</a:t>
            </a:r>
            <a:endParaRPr lang="en-US" sz="850" dirty="0"/>
          </a:p>
        </p:txBody>
      </p:sp>
      <p:sp>
        <p:nvSpPr>
          <p:cNvPr id="29" name="Shape 26"/>
          <p:cNvSpPr/>
          <p:nvPr/>
        </p:nvSpPr>
        <p:spPr>
          <a:xfrm>
            <a:off x="548640" y="2834640"/>
            <a:ext cx="11064240" cy="1188720"/>
          </a:xfrm>
          <a:prstGeom prst="roundRect">
            <a:avLst>
              <a:gd name="adj" fmla="val 4615"/>
            </a:avLst>
          </a:prstGeom>
          <a:solidFill>
            <a:srgbClr val="EEEAF8"/>
          </a:solidFill>
          <a:ln/>
        </p:spPr>
      </p:sp>
      <p:sp>
        <p:nvSpPr>
          <p:cNvPr id="30" name="Shape 27"/>
          <p:cNvSpPr/>
          <p:nvPr/>
        </p:nvSpPr>
        <p:spPr>
          <a:xfrm>
            <a:off x="731520" y="3154680"/>
            <a:ext cx="548640" cy="548640"/>
          </a:xfrm>
          <a:prstGeom prst="ellipse">
            <a:avLst/>
          </a:prstGeom>
          <a:solidFill>
            <a:srgbClr val="FFFFFF"/>
          </a:solidFill>
          <a:ln/>
        </p:spPr>
      </p:sp>
      <p:pic>
        <p:nvPicPr>
          <p:cNvPr id="31" name="Image 1" descr="preencoded.png">    </p:cNvPr>
          <p:cNvPicPr>
            <a:picLocks noChangeAspect="1"/>
          </p:cNvPicPr>
          <p:nvPr/>
        </p:nvPicPr>
        <p:blipFill>
          <a:blip r:embed="rId2"/>
          <a:stretch>
            <a:fillRect/>
          </a:stretch>
        </p:blipFill>
        <p:spPr>
          <a:xfrm>
            <a:off x="841248" y="3264408"/>
            <a:ext cx="329184" cy="329184"/>
          </a:xfrm>
          <a:prstGeom prst="rect">
            <a:avLst/>
          </a:prstGeom>
        </p:spPr>
      </p:pic>
      <p:sp>
        <p:nvSpPr>
          <p:cNvPr id="32" name="Text 28"/>
          <p:cNvSpPr txBox="1"/>
          <p:nvPr/>
        </p:nvSpPr>
        <p:spPr>
          <a:xfrm>
            <a:off x="1371600" y="2834640"/>
            <a:ext cx="2286000" cy="1188720"/>
          </a:xfrm>
          <a:prstGeom prst="rect">
            <a:avLst/>
          </a:prstGeom>
          <a:noFill/>
          <a:ln/>
        </p:spPr>
        <p:txBody>
          <a:bodyPr wrap="square" lIns="508" tIns="508" rIns="508" bIns="508" rtlCol="0" anchor="ctr"/>
          <a:lstStyle/>
          <a:p>
            <a:pPr indent="0" marL="0">
              <a:buNone/>
            </a:pPr>
            <a:r>
              <a:rPr lang="en-US" sz="1250" b="1" dirty="0">
                <a:solidFill>
                  <a:srgbClr val="6B4FBB"/>
                </a:solidFill>
                <a:latin typeface="Meiryo UI" pitchFamily="34" charset="0"/>
                <a:ea typeface="Meiryo UI" pitchFamily="34" charset="-122"/>
                <a:cs typeface="Meiryo UI" pitchFamily="34" charset="-120"/>
              </a:rPr>
              <a:t>例2：ハイブリッドで進める</a:t>
            </a:r>
            <a:endParaRPr lang="en-US" sz="1250" dirty="0"/>
          </a:p>
        </p:txBody>
      </p:sp>
      <p:sp>
        <p:nvSpPr>
          <p:cNvPr id="33" name="Shape 29"/>
          <p:cNvSpPr/>
          <p:nvPr/>
        </p:nvSpPr>
        <p:spPr>
          <a:xfrm>
            <a:off x="3749040" y="30632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34" name="Text 30"/>
          <p:cNvSpPr txBox="1"/>
          <p:nvPr/>
        </p:nvSpPr>
        <p:spPr>
          <a:xfrm>
            <a:off x="3749040" y="3090672"/>
            <a:ext cx="1325880" cy="365760"/>
          </a:xfrm>
          <a:prstGeom prst="rect">
            <a:avLst/>
          </a:prstGeom>
          <a:noFill/>
          <a:ln/>
        </p:spPr>
        <p:txBody>
          <a:bodyPr wrap="square" lIns="508" tIns="508" rIns="508" bIns="508" rtlCol="0" anchor="ctr"/>
          <a:lstStyle/>
          <a:p>
            <a:pPr algn="ctr" indent="0" marL="0">
              <a:buNone/>
            </a:pPr>
            <a:r>
              <a:rPr lang="en-US" sz="1400" b="1" dirty="0">
                <a:solidFill>
                  <a:srgbClr val="6B4FBB"/>
                </a:solidFill>
                <a:latin typeface="Meiryo UI" pitchFamily="34" charset="0"/>
                <a:ea typeface="Meiryo UI" pitchFamily="34" charset="-122"/>
                <a:cs typeface="Meiryo UI" pitchFamily="34" charset="-120"/>
              </a:rPr>
              <a:t>A1</a:t>
            </a:r>
            <a:endParaRPr lang="en-US" sz="1400" dirty="0"/>
          </a:p>
        </p:txBody>
      </p:sp>
      <p:sp>
        <p:nvSpPr>
          <p:cNvPr id="35" name="Text 31"/>
          <p:cNvSpPr txBox="1"/>
          <p:nvPr/>
        </p:nvSpPr>
        <p:spPr>
          <a:xfrm>
            <a:off x="3749040" y="34381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手動アシスト</a:t>
            </a:r>
            <a:endParaRPr lang="en-US" sz="850" dirty="0"/>
          </a:p>
        </p:txBody>
      </p:sp>
      <p:sp>
        <p:nvSpPr>
          <p:cNvPr id="36" name="Shape 32"/>
          <p:cNvSpPr/>
          <p:nvPr/>
        </p:nvSpPr>
        <p:spPr>
          <a:xfrm>
            <a:off x="5102352" y="3429000"/>
            <a:ext cx="192024" cy="0"/>
          </a:xfrm>
          <a:prstGeom prst="line">
            <a:avLst/>
          </a:prstGeom>
          <a:noFill/>
          <a:ln w="25400">
            <a:solidFill>
              <a:srgbClr val="6B4FBB"/>
            </a:solidFill>
            <a:prstDash val="solid"/>
            <a:tailEnd type="triangle"/>
          </a:ln>
        </p:spPr>
      </p:sp>
      <p:sp>
        <p:nvSpPr>
          <p:cNvPr id="37" name="Shape 33"/>
          <p:cNvSpPr/>
          <p:nvPr/>
        </p:nvSpPr>
        <p:spPr>
          <a:xfrm>
            <a:off x="5321808" y="30632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38" name="Text 34"/>
          <p:cNvSpPr txBox="1"/>
          <p:nvPr/>
        </p:nvSpPr>
        <p:spPr>
          <a:xfrm>
            <a:off x="5321808" y="3090672"/>
            <a:ext cx="1325880" cy="365760"/>
          </a:xfrm>
          <a:prstGeom prst="rect">
            <a:avLst/>
          </a:prstGeom>
          <a:noFill/>
          <a:ln/>
        </p:spPr>
        <p:txBody>
          <a:bodyPr wrap="square" lIns="508" tIns="508" rIns="508" bIns="508" rtlCol="0" anchor="ctr"/>
          <a:lstStyle/>
          <a:p>
            <a:pPr algn="ctr" indent="0" marL="0">
              <a:buNone/>
            </a:pPr>
            <a:r>
              <a:rPr lang="en-US" sz="1400" b="1" dirty="0">
                <a:solidFill>
                  <a:srgbClr val="6B4FBB"/>
                </a:solidFill>
                <a:latin typeface="Meiryo UI" pitchFamily="34" charset="0"/>
                <a:ea typeface="Meiryo UI" pitchFamily="34" charset="-122"/>
                <a:cs typeface="Meiryo UI" pitchFamily="34" charset="-120"/>
              </a:rPr>
              <a:t>A2</a:t>
            </a:r>
            <a:endParaRPr lang="en-US" sz="1400" dirty="0"/>
          </a:p>
        </p:txBody>
      </p:sp>
      <p:sp>
        <p:nvSpPr>
          <p:cNvPr id="39" name="Text 35"/>
          <p:cNvSpPr txBox="1"/>
          <p:nvPr/>
        </p:nvSpPr>
        <p:spPr>
          <a:xfrm>
            <a:off x="5321808" y="34381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Agent Builder</a:t>
            </a:r>
            <a:endParaRPr lang="en-US" sz="850" dirty="0"/>
          </a:p>
        </p:txBody>
      </p:sp>
      <p:sp>
        <p:nvSpPr>
          <p:cNvPr id="40" name="Shape 36"/>
          <p:cNvSpPr/>
          <p:nvPr/>
        </p:nvSpPr>
        <p:spPr>
          <a:xfrm>
            <a:off x="6675120" y="3429000"/>
            <a:ext cx="192024" cy="0"/>
          </a:xfrm>
          <a:prstGeom prst="line">
            <a:avLst/>
          </a:prstGeom>
          <a:noFill/>
          <a:ln w="25400">
            <a:solidFill>
              <a:srgbClr val="6B4FBB"/>
            </a:solidFill>
            <a:prstDash val="solid"/>
            <a:tailEnd type="triangle"/>
          </a:ln>
        </p:spPr>
      </p:sp>
      <p:sp>
        <p:nvSpPr>
          <p:cNvPr id="41" name="Shape 37"/>
          <p:cNvSpPr/>
          <p:nvPr/>
        </p:nvSpPr>
        <p:spPr>
          <a:xfrm>
            <a:off x="6894576" y="30632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42" name="Text 38"/>
          <p:cNvSpPr txBox="1"/>
          <p:nvPr/>
        </p:nvSpPr>
        <p:spPr>
          <a:xfrm>
            <a:off x="6894576" y="3090672"/>
            <a:ext cx="1325880" cy="365760"/>
          </a:xfrm>
          <a:prstGeom prst="rect">
            <a:avLst/>
          </a:prstGeom>
          <a:noFill/>
          <a:ln/>
        </p:spPr>
        <p:txBody>
          <a:bodyPr wrap="square" lIns="508" tIns="508" rIns="508" bIns="508" rtlCol="0" anchor="ctr"/>
          <a:lstStyle/>
          <a:p>
            <a:pPr algn="ctr" indent="0" marL="0">
              <a:buNone/>
            </a:pPr>
            <a:r>
              <a:rPr lang="en-US" sz="1400" b="1" dirty="0">
                <a:solidFill>
                  <a:srgbClr val="6B4FBB"/>
                </a:solidFill>
                <a:latin typeface="Meiryo UI" pitchFamily="34" charset="0"/>
                <a:ea typeface="Meiryo UI" pitchFamily="34" charset="-122"/>
                <a:cs typeface="Meiryo UI" pitchFamily="34" charset="-120"/>
              </a:rPr>
              <a:t>H1</a:t>
            </a:r>
            <a:endParaRPr lang="en-US" sz="1400" dirty="0"/>
          </a:p>
        </p:txBody>
      </p:sp>
      <p:sp>
        <p:nvSpPr>
          <p:cNvPr id="43" name="Text 39"/>
          <p:cNvSpPr txBox="1"/>
          <p:nvPr/>
        </p:nvSpPr>
        <p:spPr>
          <a:xfrm>
            <a:off x="6894576" y="34381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Copilot Studio＋API</a:t>
            </a:r>
            <a:endParaRPr lang="en-US" sz="850" dirty="0"/>
          </a:p>
        </p:txBody>
      </p:sp>
      <p:sp>
        <p:nvSpPr>
          <p:cNvPr id="44" name="Shape 40"/>
          <p:cNvSpPr/>
          <p:nvPr/>
        </p:nvSpPr>
        <p:spPr>
          <a:xfrm>
            <a:off x="8247888" y="3429000"/>
            <a:ext cx="192024" cy="0"/>
          </a:xfrm>
          <a:prstGeom prst="line">
            <a:avLst/>
          </a:prstGeom>
          <a:noFill/>
          <a:ln w="25400">
            <a:solidFill>
              <a:srgbClr val="6B4FBB"/>
            </a:solidFill>
            <a:prstDash val="solid"/>
            <a:tailEnd type="triangle"/>
          </a:ln>
        </p:spPr>
      </p:sp>
      <p:sp>
        <p:nvSpPr>
          <p:cNvPr id="45" name="Shape 41"/>
          <p:cNvSpPr/>
          <p:nvPr/>
        </p:nvSpPr>
        <p:spPr>
          <a:xfrm>
            <a:off x="8467344" y="30632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46" name="Text 42"/>
          <p:cNvSpPr txBox="1"/>
          <p:nvPr/>
        </p:nvSpPr>
        <p:spPr>
          <a:xfrm>
            <a:off x="8467344" y="3090672"/>
            <a:ext cx="1325880" cy="365760"/>
          </a:xfrm>
          <a:prstGeom prst="rect">
            <a:avLst/>
          </a:prstGeom>
          <a:noFill/>
          <a:ln/>
        </p:spPr>
        <p:txBody>
          <a:bodyPr wrap="square" lIns="508" tIns="508" rIns="508" bIns="508" rtlCol="0" anchor="ctr"/>
          <a:lstStyle/>
          <a:p>
            <a:pPr algn="ctr" indent="0" marL="0">
              <a:buNone/>
            </a:pPr>
            <a:r>
              <a:rPr lang="en-US" sz="1400" b="1" dirty="0">
                <a:solidFill>
                  <a:srgbClr val="6B4FBB"/>
                </a:solidFill>
                <a:latin typeface="Meiryo UI" pitchFamily="34" charset="0"/>
                <a:ea typeface="Meiryo UI" pitchFamily="34" charset="-122"/>
                <a:cs typeface="Meiryo UI" pitchFamily="34" charset="-120"/>
              </a:rPr>
              <a:t>A4/B2</a:t>
            </a:r>
            <a:endParaRPr lang="en-US" sz="1400" dirty="0"/>
          </a:p>
        </p:txBody>
      </p:sp>
      <p:sp>
        <p:nvSpPr>
          <p:cNvPr id="47" name="Text 43"/>
          <p:cNvSpPr txBox="1"/>
          <p:nvPr/>
        </p:nvSpPr>
        <p:spPr>
          <a:xfrm>
            <a:off x="8467344" y="34381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自動起案</a:t>
            </a:r>
            <a:endParaRPr lang="en-US" sz="850" dirty="0"/>
          </a:p>
        </p:txBody>
      </p:sp>
      <p:sp>
        <p:nvSpPr>
          <p:cNvPr id="48" name="Shape 44"/>
          <p:cNvSpPr/>
          <p:nvPr/>
        </p:nvSpPr>
        <p:spPr>
          <a:xfrm>
            <a:off x="548640" y="4206240"/>
            <a:ext cx="11064240" cy="1188720"/>
          </a:xfrm>
          <a:prstGeom prst="roundRect">
            <a:avLst>
              <a:gd name="adj" fmla="val 4615"/>
            </a:avLst>
          </a:prstGeom>
          <a:solidFill>
            <a:srgbClr val="E8F0FE"/>
          </a:solidFill>
          <a:ln/>
        </p:spPr>
      </p:sp>
      <p:sp>
        <p:nvSpPr>
          <p:cNvPr id="49" name="Shape 45"/>
          <p:cNvSpPr/>
          <p:nvPr/>
        </p:nvSpPr>
        <p:spPr>
          <a:xfrm>
            <a:off x="731520" y="4526280"/>
            <a:ext cx="548640" cy="548640"/>
          </a:xfrm>
          <a:prstGeom prst="ellipse">
            <a:avLst/>
          </a:prstGeom>
          <a:solidFill>
            <a:srgbClr val="FFFFFF"/>
          </a:solidFill>
          <a:ln/>
        </p:spPr>
      </p:sp>
      <p:pic>
        <p:nvPicPr>
          <p:cNvPr id="50" name="Image 2" descr="preencoded.png">    </p:cNvPr>
          <p:cNvPicPr>
            <a:picLocks noChangeAspect="1"/>
          </p:cNvPicPr>
          <p:nvPr/>
        </p:nvPicPr>
        <p:blipFill>
          <a:blip r:embed="rId3"/>
          <a:stretch>
            <a:fillRect/>
          </a:stretch>
        </p:blipFill>
        <p:spPr>
          <a:xfrm>
            <a:off x="841248" y="4636008"/>
            <a:ext cx="329184" cy="329184"/>
          </a:xfrm>
          <a:prstGeom prst="rect">
            <a:avLst/>
          </a:prstGeom>
        </p:spPr>
      </p:pic>
      <p:sp>
        <p:nvSpPr>
          <p:cNvPr id="51" name="Text 46"/>
          <p:cNvSpPr txBox="1"/>
          <p:nvPr/>
        </p:nvSpPr>
        <p:spPr>
          <a:xfrm>
            <a:off x="1371600" y="4206240"/>
            <a:ext cx="2286000" cy="1188720"/>
          </a:xfrm>
          <a:prstGeom prst="rect">
            <a:avLst/>
          </a:prstGeom>
          <a:noFill/>
          <a:ln/>
        </p:spPr>
        <p:txBody>
          <a:bodyPr wrap="square" lIns="508" tIns="508" rIns="508" bIns="508" rtlCol="0" anchor="ctr"/>
          <a:lstStyle/>
          <a:p>
            <a:pPr indent="0" marL="0">
              <a:buNone/>
            </a:pPr>
            <a:r>
              <a:rPr lang="en-US" sz="1250" b="1" dirty="0">
                <a:solidFill>
                  <a:srgbClr val="4285F4"/>
                </a:solidFill>
                <a:latin typeface="Meiryo UI" pitchFamily="34" charset="0"/>
                <a:ea typeface="Meiryo UI" pitchFamily="34" charset="-122"/>
                <a:cs typeface="Meiryo UI" pitchFamily="34" charset="-120"/>
              </a:rPr>
              <a:t>例3：GCPを中心に進める</a:t>
            </a:r>
            <a:endParaRPr lang="en-US" sz="1250" dirty="0"/>
          </a:p>
        </p:txBody>
      </p:sp>
      <p:sp>
        <p:nvSpPr>
          <p:cNvPr id="52" name="Shape 47"/>
          <p:cNvSpPr/>
          <p:nvPr/>
        </p:nvSpPr>
        <p:spPr>
          <a:xfrm>
            <a:off x="3749040" y="44348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53" name="Text 48"/>
          <p:cNvSpPr txBox="1"/>
          <p:nvPr/>
        </p:nvSpPr>
        <p:spPr>
          <a:xfrm>
            <a:off x="3749040" y="4462272"/>
            <a:ext cx="1325880" cy="365760"/>
          </a:xfrm>
          <a:prstGeom prst="rect">
            <a:avLst/>
          </a:prstGeom>
          <a:noFill/>
          <a:ln/>
        </p:spPr>
        <p:txBody>
          <a:bodyPr wrap="square" lIns="508" tIns="508" rIns="508" bIns="508" rtlCol="0" anchor="ctr"/>
          <a:lstStyle/>
          <a:p>
            <a:pPr algn="ctr" indent="0" marL="0">
              <a:buNone/>
            </a:pPr>
            <a:r>
              <a:rPr lang="en-US" sz="1400" b="1" dirty="0">
                <a:solidFill>
                  <a:srgbClr val="4285F4"/>
                </a:solidFill>
                <a:latin typeface="Meiryo UI" pitchFamily="34" charset="0"/>
                <a:ea typeface="Meiryo UI" pitchFamily="34" charset="-122"/>
                <a:cs typeface="Meiryo UI" pitchFamily="34" charset="-120"/>
              </a:rPr>
              <a:t>A1</a:t>
            </a:r>
            <a:endParaRPr lang="en-US" sz="1400" dirty="0"/>
          </a:p>
        </p:txBody>
      </p:sp>
      <p:sp>
        <p:nvSpPr>
          <p:cNvPr id="54" name="Text 49"/>
          <p:cNvSpPr txBox="1"/>
          <p:nvPr/>
        </p:nvSpPr>
        <p:spPr>
          <a:xfrm>
            <a:off x="3749040" y="48097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手動アシスト</a:t>
            </a:r>
            <a:endParaRPr lang="en-US" sz="850" dirty="0"/>
          </a:p>
        </p:txBody>
      </p:sp>
      <p:sp>
        <p:nvSpPr>
          <p:cNvPr id="55" name="Shape 50"/>
          <p:cNvSpPr/>
          <p:nvPr/>
        </p:nvSpPr>
        <p:spPr>
          <a:xfrm>
            <a:off x="5102352" y="4800600"/>
            <a:ext cx="192024" cy="0"/>
          </a:xfrm>
          <a:prstGeom prst="line">
            <a:avLst/>
          </a:prstGeom>
          <a:noFill/>
          <a:ln w="25400">
            <a:solidFill>
              <a:srgbClr val="4285F4"/>
            </a:solidFill>
            <a:prstDash val="solid"/>
            <a:tailEnd type="triangle"/>
          </a:ln>
        </p:spPr>
      </p:sp>
      <p:sp>
        <p:nvSpPr>
          <p:cNvPr id="56" name="Shape 51"/>
          <p:cNvSpPr/>
          <p:nvPr/>
        </p:nvSpPr>
        <p:spPr>
          <a:xfrm>
            <a:off x="5321808" y="44348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57" name="Text 52"/>
          <p:cNvSpPr txBox="1"/>
          <p:nvPr/>
        </p:nvSpPr>
        <p:spPr>
          <a:xfrm>
            <a:off x="5321808" y="4462272"/>
            <a:ext cx="1325880" cy="365760"/>
          </a:xfrm>
          <a:prstGeom prst="rect">
            <a:avLst/>
          </a:prstGeom>
          <a:noFill/>
          <a:ln/>
        </p:spPr>
        <p:txBody>
          <a:bodyPr wrap="square" lIns="508" tIns="508" rIns="508" bIns="508" rtlCol="0" anchor="ctr"/>
          <a:lstStyle/>
          <a:p>
            <a:pPr algn="ctr" indent="0" marL="0">
              <a:buNone/>
            </a:pPr>
            <a:r>
              <a:rPr lang="en-US" sz="1400" b="1" dirty="0">
                <a:solidFill>
                  <a:srgbClr val="4285F4"/>
                </a:solidFill>
                <a:latin typeface="Meiryo UI" pitchFamily="34" charset="0"/>
                <a:ea typeface="Meiryo UI" pitchFamily="34" charset="-122"/>
                <a:cs typeface="Meiryo UI" pitchFamily="34" charset="-120"/>
              </a:rPr>
              <a:t>B1</a:t>
            </a:r>
            <a:endParaRPr lang="en-US" sz="1400" dirty="0"/>
          </a:p>
        </p:txBody>
      </p:sp>
      <p:sp>
        <p:nvSpPr>
          <p:cNvPr id="58" name="Text 53"/>
          <p:cNvSpPr txBox="1"/>
          <p:nvPr/>
        </p:nvSpPr>
        <p:spPr>
          <a:xfrm>
            <a:off x="5321808" y="48097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Gemini Ent.</a:t>
            </a:r>
            <a:endParaRPr lang="en-US" sz="850" dirty="0"/>
          </a:p>
        </p:txBody>
      </p:sp>
      <p:sp>
        <p:nvSpPr>
          <p:cNvPr id="59" name="Shape 54"/>
          <p:cNvSpPr/>
          <p:nvPr/>
        </p:nvSpPr>
        <p:spPr>
          <a:xfrm>
            <a:off x="6675120" y="4800600"/>
            <a:ext cx="192024" cy="0"/>
          </a:xfrm>
          <a:prstGeom prst="line">
            <a:avLst/>
          </a:prstGeom>
          <a:noFill/>
          <a:ln w="25400">
            <a:solidFill>
              <a:srgbClr val="4285F4"/>
            </a:solidFill>
            <a:prstDash val="solid"/>
            <a:tailEnd type="triangle"/>
          </a:ln>
        </p:spPr>
      </p:sp>
      <p:sp>
        <p:nvSpPr>
          <p:cNvPr id="60" name="Shape 55"/>
          <p:cNvSpPr/>
          <p:nvPr/>
        </p:nvSpPr>
        <p:spPr>
          <a:xfrm>
            <a:off x="6894576" y="44348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61" name="Text 56"/>
          <p:cNvSpPr txBox="1"/>
          <p:nvPr/>
        </p:nvSpPr>
        <p:spPr>
          <a:xfrm>
            <a:off x="6894576" y="4462272"/>
            <a:ext cx="1325880" cy="365760"/>
          </a:xfrm>
          <a:prstGeom prst="rect">
            <a:avLst/>
          </a:prstGeom>
          <a:noFill/>
          <a:ln/>
        </p:spPr>
        <p:txBody>
          <a:bodyPr wrap="square" lIns="508" tIns="508" rIns="508" bIns="508" rtlCol="0" anchor="ctr"/>
          <a:lstStyle/>
          <a:p>
            <a:pPr algn="ctr" indent="0" marL="0">
              <a:buNone/>
            </a:pPr>
            <a:r>
              <a:rPr lang="en-US" sz="1400" b="1" dirty="0">
                <a:solidFill>
                  <a:srgbClr val="4285F4"/>
                </a:solidFill>
                <a:latin typeface="Meiryo UI" pitchFamily="34" charset="0"/>
                <a:ea typeface="Meiryo UI" pitchFamily="34" charset="-122"/>
                <a:cs typeface="Meiryo UI" pitchFamily="34" charset="-120"/>
              </a:rPr>
              <a:t>B2</a:t>
            </a:r>
            <a:endParaRPr lang="en-US" sz="1400" dirty="0"/>
          </a:p>
        </p:txBody>
      </p:sp>
      <p:sp>
        <p:nvSpPr>
          <p:cNvPr id="62" name="Text 57"/>
          <p:cNvSpPr txBox="1"/>
          <p:nvPr/>
        </p:nvSpPr>
        <p:spPr>
          <a:xfrm>
            <a:off x="6894576" y="48097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自動起案</a:t>
            </a:r>
            <a:endParaRPr lang="en-US" sz="850" dirty="0"/>
          </a:p>
        </p:txBody>
      </p:sp>
      <p:sp>
        <p:nvSpPr>
          <p:cNvPr id="63" name="Shape 58"/>
          <p:cNvSpPr/>
          <p:nvPr/>
        </p:nvSpPr>
        <p:spPr>
          <a:xfrm>
            <a:off x="8247888" y="4800600"/>
            <a:ext cx="192024" cy="0"/>
          </a:xfrm>
          <a:prstGeom prst="line">
            <a:avLst/>
          </a:prstGeom>
          <a:noFill/>
          <a:ln w="25400">
            <a:solidFill>
              <a:srgbClr val="4285F4"/>
            </a:solidFill>
            <a:prstDash val="solid"/>
            <a:tailEnd type="triangle"/>
          </a:ln>
        </p:spPr>
      </p:sp>
      <p:sp>
        <p:nvSpPr>
          <p:cNvPr id="64" name="Shape 59"/>
          <p:cNvSpPr/>
          <p:nvPr/>
        </p:nvSpPr>
        <p:spPr>
          <a:xfrm>
            <a:off x="8467344" y="44348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65" name="Text 60"/>
          <p:cNvSpPr txBox="1"/>
          <p:nvPr/>
        </p:nvSpPr>
        <p:spPr>
          <a:xfrm>
            <a:off x="8467344" y="4462272"/>
            <a:ext cx="1325880" cy="365760"/>
          </a:xfrm>
          <a:prstGeom prst="rect">
            <a:avLst/>
          </a:prstGeom>
          <a:noFill/>
          <a:ln/>
        </p:spPr>
        <p:txBody>
          <a:bodyPr wrap="square" lIns="508" tIns="508" rIns="508" bIns="508" rtlCol="0" anchor="ctr"/>
          <a:lstStyle/>
          <a:p>
            <a:pPr algn="ctr" indent="0" marL="0">
              <a:buNone/>
            </a:pPr>
            <a:r>
              <a:rPr lang="en-US" sz="1400" b="1" dirty="0">
                <a:solidFill>
                  <a:srgbClr val="4285F4"/>
                </a:solidFill>
                <a:latin typeface="Meiryo UI" pitchFamily="34" charset="0"/>
                <a:ea typeface="Meiryo UI" pitchFamily="34" charset="-122"/>
                <a:cs typeface="Meiryo UI" pitchFamily="34" charset="-120"/>
              </a:rPr>
              <a:t>B3</a:t>
            </a:r>
            <a:endParaRPr lang="en-US" sz="1400" dirty="0"/>
          </a:p>
        </p:txBody>
      </p:sp>
      <p:sp>
        <p:nvSpPr>
          <p:cNvPr id="66" name="Text 61"/>
          <p:cNvSpPr txBox="1"/>
          <p:nvPr/>
        </p:nvSpPr>
        <p:spPr>
          <a:xfrm>
            <a:off x="8467344" y="48097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スクラッチ</a:t>
            </a:r>
            <a:endParaRPr lang="en-US" sz="850" dirty="0"/>
          </a:p>
        </p:txBody>
      </p:sp>
      <p:sp>
        <p:nvSpPr>
          <p:cNvPr id="67" name="Shape 62"/>
          <p:cNvSpPr/>
          <p:nvPr/>
        </p:nvSpPr>
        <p:spPr>
          <a:xfrm>
            <a:off x="548640" y="5669280"/>
            <a:ext cx="11064240" cy="658368"/>
          </a:xfrm>
          <a:prstGeom prst="roundRect">
            <a:avLst>
              <a:gd name="adj" fmla="val 8333"/>
            </a:avLst>
          </a:prstGeom>
          <a:solidFill>
            <a:srgbClr val="F3F5F8"/>
          </a:solidFill>
          <a:ln/>
        </p:spPr>
      </p:sp>
      <p:sp>
        <p:nvSpPr>
          <p:cNvPr id="68" name="Shape 63"/>
          <p:cNvSpPr/>
          <p:nvPr/>
        </p:nvSpPr>
        <p:spPr>
          <a:xfrm>
            <a:off x="685800" y="5751576"/>
            <a:ext cx="493776" cy="493776"/>
          </a:xfrm>
          <a:prstGeom prst="ellipse">
            <a:avLst/>
          </a:prstGeom>
          <a:solidFill>
            <a:srgbClr val="FFFFFF"/>
          </a:solidFill>
          <a:ln/>
        </p:spPr>
      </p:sp>
      <p:pic>
        <p:nvPicPr>
          <p:cNvPr id="69" name="Image 3" descr="preencoded.png">    </p:cNvPr>
          <p:cNvPicPr>
            <a:picLocks noChangeAspect="1"/>
          </p:cNvPicPr>
          <p:nvPr/>
        </p:nvPicPr>
        <p:blipFill>
          <a:blip r:embed="rId4"/>
          <a:stretch>
            <a:fillRect/>
          </a:stretch>
        </p:blipFill>
        <p:spPr>
          <a:xfrm>
            <a:off x="784555" y="5850331"/>
            <a:ext cx="296266" cy="296266"/>
          </a:xfrm>
          <a:prstGeom prst="rect">
            <a:avLst/>
          </a:prstGeom>
        </p:spPr>
      </p:pic>
      <p:sp>
        <p:nvSpPr>
          <p:cNvPr id="70" name="Text 64"/>
          <p:cNvSpPr txBox="1"/>
          <p:nvPr/>
        </p:nvSpPr>
        <p:spPr>
          <a:xfrm>
            <a:off x="1325880" y="5669280"/>
            <a:ext cx="10149840" cy="658368"/>
          </a:xfrm>
          <a:prstGeom prst="rect">
            <a:avLst/>
          </a:prstGeom>
          <a:noFill/>
          <a:ln/>
        </p:spPr>
        <p:txBody>
          <a:bodyPr wrap="square" lIns="508" tIns="508" rIns="508" bIns="508"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ガイドラインのMD化・評価基準・プロンプトは、どの経路でも共通に使える。A1・A2（デモ作成済み）はどの経路でも共通の出発点にできる</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論点整理：数値データはリアルタイムにSQLで引く必要があるか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前処理したデータをAIに渡す以上、AIが都度SQLを発行する必要はない。構成を分ける重要な論点ではない</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42</a:t>
            </a:r>
            <a:endParaRPr lang="en-US" sz="900" dirty="0"/>
          </a:p>
        </p:txBody>
      </p:sp>
      <p:sp>
        <p:nvSpPr>
          <p:cNvPr id="6" name="Shape 4"/>
          <p:cNvSpPr/>
          <p:nvPr/>
        </p:nvSpPr>
        <p:spPr>
          <a:xfrm>
            <a:off x="548640" y="1417320"/>
            <a:ext cx="11064240" cy="1691640"/>
          </a:xfrm>
          <a:prstGeom prst="roundRect">
            <a:avLst>
              <a:gd name="adj" fmla="val 3243"/>
            </a:avLst>
          </a:prstGeom>
          <a:solidFill>
            <a:srgbClr val="F3F5F8"/>
          </a:solidFill>
          <a:ln/>
        </p:spPr>
      </p:sp>
      <p:sp>
        <p:nvSpPr>
          <p:cNvPr id="7" name="Text 5"/>
          <p:cNvSpPr txBox="1"/>
          <p:nvPr/>
        </p:nvSpPr>
        <p:spPr>
          <a:xfrm>
            <a:off x="731520" y="1481328"/>
            <a:ext cx="5486400" cy="320040"/>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Geminiの試作アプリで行っていた処理</a:t>
            </a:r>
            <a:endParaRPr lang="en-US" sz="1200" dirty="0"/>
          </a:p>
        </p:txBody>
      </p:sp>
      <p:sp>
        <p:nvSpPr>
          <p:cNvPr id="8" name="Shape 6"/>
          <p:cNvSpPr/>
          <p:nvPr/>
        </p:nvSpPr>
        <p:spPr>
          <a:xfrm>
            <a:off x="731520" y="1847088"/>
            <a:ext cx="5760720" cy="1143000"/>
          </a:xfrm>
          <a:prstGeom prst="roundRect">
            <a:avLst>
              <a:gd name="adj" fmla="val 4800"/>
            </a:avLst>
          </a:prstGeom>
          <a:solidFill>
            <a:srgbClr val="FFFFFF"/>
          </a:solidFill>
          <a:ln w="12700">
            <a:solidFill>
              <a:srgbClr val="0E9F9A"/>
            </a:solidFill>
            <a:prstDash val="dash"/>
          </a:ln>
        </p:spPr>
      </p:sp>
      <p:sp>
        <p:nvSpPr>
          <p:cNvPr id="9" name="Text 7"/>
          <p:cNvSpPr txBox="1"/>
          <p:nvPr/>
        </p:nvSpPr>
        <p:spPr>
          <a:xfrm>
            <a:off x="822960" y="1865376"/>
            <a:ext cx="2743200" cy="237744"/>
          </a:xfrm>
          <a:prstGeom prst="rect">
            <a:avLst/>
          </a:prstGeom>
          <a:noFill/>
          <a:ln/>
        </p:spPr>
        <p:txBody>
          <a:bodyPr wrap="square" lIns="0" tIns="0" rIns="0" bIns="0" rtlCol="0" anchor="t"/>
          <a:lstStyle/>
          <a:p>
            <a:pPr indent="0" marL="0">
              <a:buNone/>
            </a:pPr>
            <a:r>
              <a:rPr lang="en-US" sz="900" b="1" dirty="0">
                <a:solidFill>
                  <a:srgbClr val="0E9F9A"/>
                </a:solidFill>
                <a:latin typeface="Meiryo UI" pitchFamily="34" charset="0"/>
                <a:ea typeface="Meiryo UI" pitchFamily="34" charset="-122"/>
                <a:cs typeface="Meiryo UI" pitchFamily="34" charset="-120"/>
              </a:rPr>
              <a:t>前処理（決まった処理）</a:t>
            </a:r>
            <a:endParaRPr lang="en-US" sz="900" dirty="0"/>
          </a:p>
        </p:txBody>
      </p:sp>
      <p:sp>
        <p:nvSpPr>
          <p:cNvPr id="10" name="Shape 8"/>
          <p:cNvSpPr/>
          <p:nvPr/>
        </p:nvSpPr>
        <p:spPr>
          <a:xfrm>
            <a:off x="868680" y="2148840"/>
            <a:ext cx="1600200" cy="731520"/>
          </a:xfrm>
          <a:prstGeom prst="roundRect">
            <a:avLst>
              <a:gd name="adj" fmla="val 10000"/>
            </a:avLst>
          </a:prstGeom>
          <a:solidFill>
            <a:srgbClr val="E3EAF5"/>
          </a:solidFill>
          <a:ln/>
        </p:spPr>
      </p:sp>
      <p:pic>
        <p:nvPicPr>
          <p:cNvPr id="11" name="Image 0" descr="preencoded.png">    </p:cNvPr>
          <p:cNvPicPr>
            <a:picLocks noChangeAspect="1"/>
          </p:cNvPicPr>
          <p:nvPr/>
        </p:nvPicPr>
        <p:blipFill>
          <a:blip r:embed="rId1"/>
          <a:stretch>
            <a:fillRect/>
          </a:stretch>
        </p:blipFill>
        <p:spPr>
          <a:xfrm>
            <a:off x="978408" y="2331720"/>
            <a:ext cx="365760" cy="365760"/>
          </a:xfrm>
          <a:prstGeom prst="rect">
            <a:avLst/>
          </a:prstGeom>
        </p:spPr>
      </p:pic>
      <p:sp>
        <p:nvSpPr>
          <p:cNvPr id="12" name="Text 9"/>
          <p:cNvSpPr txBox="1"/>
          <p:nvPr/>
        </p:nvSpPr>
        <p:spPr>
          <a:xfrm>
            <a:off x="1435608" y="2148840"/>
            <a:ext cx="9875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売上・在庫</a:t>
            </a:r>
            <a:endParaRPr lang="en-US" sz="1050" dirty="0"/>
          </a:p>
        </p:txBody>
      </p:sp>
      <p:sp>
        <p:nvSpPr>
          <p:cNvPr id="13" name="Shape 10"/>
          <p:cNvSpPr/>
          <p:nvPr/>
        </p:nvSpPr>
        <p:spPr>
          <a:xfrm>
            <a:off x="2514600" y="2514600"/>
            <a:ext cx="228600" cy="0"/>
          </a:xfrm>
          <a:prstGeom prst="line">
            <a:avLst/>
          </a:prstGeom>
          <a:noFill/>
          <a:ln w="22225">
            <a:solidFill>
              <a:srgbClr val="9AA5B4"/>
            </a:solidFill>
            <a:prstDash val="solid"/>
            <a:tailEnd type="triangle"/>
          </a:ln>
        </p:spPr>
      </p:sp>
      <p:sp>
        <p:nvSpPr>
          <p:cNvPr id="14" name="Shape 11"/>
          <p:cNvSpPr/>
          <p:nvPr/>
        </p:nvSpPr>
        <p:spPr>
          <a:xfrm>
            <a:off x="2788920" y="2148840"/>
            <a:ext cx="1600200" cy="731520"/>
          </a:xfrm>
          <a:prstGeom prst="roundRect">
            <a:avLst>
              <a:gd name="adj" fmla="val 10000"/>
            </a:avLst>
          </a:prstGeom>
          <a:solidFill>
            <a:srgbClr val="D9F2F1"/>
          </a:solidFill>
          <a:ln/>
        </p:spPr>
      </p:sp>
      <p:pic>
        <p:nvPicPr>
          <p:cNvPr id="15" name="Image 1" descr="preencoded.png">    </p:cNvPr>
          <p:cNvPicPr>
            <a:picLocks noChangeAspect="1"/>
          </p:cNvPicPr>
          <p:nvPr/>
        </p:nvPicPr>
        <p:blipFill>
          <a:blip r:embed="rId2"/>
          <a:stretch>
            <a:fillRect/>
          </a:stretch>
        </p:blipFill>
        <p:spPr>
          <a:xfrm>
            <a:off x="2898648" y="2331720"/>
            <a:ext cx="365760" cy="365760"/>
          </a:xfrm>
          <a:prstGeom prst="rect">
            <a:avLst/>
          </a:prstGeom>
        </p:spPr>
      </p:pic>
      <p:sp>
        <p:nvSpPr>
          <p:cNvPr id="16" name="Text 12"/>
          <p:cNvSpPr txBox="1"/>
          <p:nvPr/>
        </p:nvSpPr>
        <p:spPr>
          <a:xfrm>
            <a:off x="3355848" y="2148840"/>
            <a:ext cx="9875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SQLで抽出</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Python</a:t>
            </a:r>
            <a:endParaRPr lang="en-US" sz="1050" dirty="0"/>
          </a:p>
        </p:txBody>
      </p:sp>
      <p:sp>
        <p:nvSpPr>
          <p:cNvPr id="17" name="Shape 13"/>
          <p:cNvSpPr/>
          <p:nvPr/>
        </p:nvSpPr>
        <p:spPr>
          <a:xfrm>
            <a:off x="4434840" y="2514600"/>
            <a:ext cx="228600" cy="0"/>
          </a:xfrm>
          <a:prstGeom prst="line">
            <a:avLst/>
          </a:prstGeom>
          <a:noFill/>
          <a:ln w="22225">
            <a:solidFill>
              <a:srgbClr val="9AA5B4"/>
            </a:solidFill>
            <a:prstDash val="solid"/>
            <a:tailEnd type="triangle"/>
          </a:ln>
        </p:spPr>
      </p:sp>
      <p:sp>
        <p:nvSpPr>
          <p:cNvPr id="18" name="Shape 14"/>
          <p:cNvSpPr/>
          <p:nvPr/>
        </p:nvSpPr>
        <p:spPr>
          <a:xfrm>
            <a:off x="4709160" y="2148840"/>
            <a:ext cx="1645920" cy="731520"/>
          </a:xfrm>
          <a:prstGeom prst="roundRect">
            <a:avLst>
              <a:gd name="adj" fmla="val 10000"/>
            </a:avLst>
          </a:prstGeom>
          <a:solidFill>
            <a:srgbClr val="D9F2F1"/>
          </a:solidFill>
          <a:ln/>
        </p:spPr>
      </p:sp>
      <p:pic>
        <p:nvPicPr>
          <p:cNvPr id="19" name="Image 2" descr="preencoded.png">    </p:cNvPr>
          <p:cNvPicPr>
            <a:picLocks noChangeAspect="1"/>
          </p:cNvPicPr>
          <p:nvPr/>
        </p:nvPicPr>
        <p:blipFill>
          <a:blip r:embed="rId3"/>
          <a:stretch>
            <a:fillRect/>
          </a:stretch>
        </p:blipFill>
        <p:spPr>
          <a:xfrm>
            <a:off x="4818888" y="2331720"/>
            <a:ext cx="365760" cy="365760"/>
          </a:xfrm>
          <a:prstGeom prst="rect">
            <a:avLst/>
          </a:prstGeom>
        </p:spPr>
      </p:pic>
      <p:sp>
        <p:nvSpPr>
          <p:cNvPr id="20" name="Text 15"/>
          <p:cNvSpPr txBox="1"/>
          <p:nvPr/>
        </p:nvSpPr>
        <p:spPr>
          <a:xfrm>
            <a:off x="5276088" y="2148840"/>
            <a:ext cx="10332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Pandasで加工</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候補・集計</a:t>
            </a:r>
            <a:endParaRPr lang="en-US" sz="1050" dirty="0"/>
          </a:p>
        </p:txBody>
      </p:sp>
      <p:sp>
        <p:nvSpPr>
          <p:cNvPr id="21" name="Shape 16"/>
          <p:cNvSpPr/>
          <p:nvPr/>
        </p:nvSpPr>
        <p:spPr>
          <a:xfrm>
            <a:off x="6537960" y="2514600"/>
            <a:ext cx="411480" cy="0"/>
          </a:xfrm>
          <a:prstGeom prst="line">
            <a:avLst/>
          </a:prstGeom>
          <a:noFill/>
          <a:ln w="31750">
            <a:solidFill>
              <a:srgbClr val="1B2A49"/>
            </a:solidFill>
            <a:prstDash val="solid"/>
            <a:tailEnd type="triangle"/>
          </a:ln>
        </p:spPr>
      </p:sp>
      <p:sp>
        <p:nvSpPr>
          <p:cNvPr id="22" name="Text 17"/>
          <p:cNvSpPr txBox="1"/>
          <p:nvPr/>
        </p:nvSpPr>
        <p:spPr>
          <a:xfrm>
            <a:off x="6492240" y="1874520"/>
            <a:ext cx="502920" cy="502920"/>
          </a:xfrm>
          <a:prstGeom prst="rect">
            <a:avLst/>
          </a:prstGeom>
          <a:noFill/>
          <a:ln/>
        </p:spPr>
        <p:txBody>
          <a:bodyPr wrap="square" lIns="0" tIns="0" rIns="0" bIns="0" rtlCol="0" anchor="t"/>
          <a:lstStyle/>
          <a:p>
            <a:pPr algn="ctr" indent="0" marL="0">
              <a:buNone/>
            </a:pPr>
            <a:r>
              <a:rPr lang="en-US" sz="800" dirty="0">
                <a:solidFill>
                  <a:srgbClr val="6B7280"/>
                </a:solidFill>
                <a:latin typeface="Meiryo UI" pitchFamily="34" charset="0"/>
                <a:ea typeface="Meiryo UI" pitchFamily="34" charset="-122"/>
                <a:cs typeface="Meiryo UI" pitchFamily="34" charset="-120"/>
              </a:rPr>
              <a:t>加工済み</a:t>
            </a:r>
            <a:endParaRPr lang="en-US" sz="800" dirty="0"/>
          </a:p>
          <a:p>
            <a:pPr algn="ctr" indent="0" marL="0">
              <a:buNone/>
            </a:pPr>
            <a:r>
              <a:rPr lang="en-US" sz="800" dirty="0">
                <a:solidFill>
                  <a:srgbClr val="6B7280"/>
                </a:solidFill>
                <a:latin typeface="Meiryo UI" pitchFamily="34" charset="0"/>
                <a:ea typeface="Meiryo UI" pitchFamily="34" charset="-122"/>
                <a:cs typeface="Meiryo UI" pitchFamily="34" charset="-120"/>
              </a:rPr>
              <a:t>データ</a:t>
            </a:r>
            <a:endParaRPr lang="en-US" sz="800" dirty="0"/>
          </a:p>
        </p:txBody>
      </p:sp>
      <p:sp>
        <p:nvSpPr>
          <p:cNvPr id="23" name="Shape 18"/>
          <p:cNvSpPr/>
          <p:nvPr/>
        </p:nvSpPr>
        <p:spPr>
          <a:xfrm>
            <a:off x="7040880" y="1847088"/>
            <a:ext cx="2103120" cy="1143000"/>
          </a:xfrm>
          <a:prstGeom prst="roundRect">
            <a:avLst>
              <a:gd name="adj" fmla="val 4800"/>
            </a:avLst>
          </a:prstGeom>
          <a:solidFill>
            <a:srgbClr val="FFFFFF"/>
          </a:solidFill>
          <a:ln w="12700">
            <a:solidFill>
              <a:srgbClr val="6B4FBB"/>
            </a:solidFill>
            <a:prstDash val="dash"/>
          </a:ln>
        </p:spPr>
      </p:sp>
      <p:sp>
        <p:nvSpPr>
          <p:cNvPr id="24" name="Text 19"/>
          <p:cNvSpPr txBox="1"/>
          <p:nvPr/>
        </p:nvSpPr>
        <p:spPr>
          <a:xfrm>
            <a:off x="7132320" y="1865376"/>
            <a:ext cx="1828800" cy="237744"/>
          </a:xfrm>
          <a:prstGeom prst="rect">
            <a:avLst/>
          </a:prstGeom>
          <a:noFill/>
          <a:ln/>
        </p:spPr>
        <p:txBody>
          <a:bodyPr wrap="square" lIns="0" tIns="0" rIns="0" bIns="0" rtlCol="0" anchor="t"/>
          <a:lstStyle/>
          <a:p>
            <a:pPr indent="0" marL="0">
              <a:buNone/>
            </a:pPr>
            <a:r>
              <a:rPr lang="en-US" sz="900" b="1" dirty="0">
                <a:solidFill>
                  <a:srgbClr val="6B4FBB"/>
                </a:solidFill>
                <a:latin typeface="Meiryo UI" pitchFamily="34" charset="0"/>
                <a:ea typeface="Meiryo UI" pitchFamily="34" charset="-122"/>
                <a:cs typeface="Meiryo UI" pitchFamily="34" charset="-120"/>
              </a:rPr>
              <a:t>推論（LLM）</a:t>
            </a:r>
            <a:endParaRPr lang="en-US" sz="900" dirty="0"/>
          </a:p>
        </p:txBody>
      </p:sp>
      <p:sp>
        <p:nvSpPr>
          <p:cNvPr id="25" name="Shape 20"/>
          <p:cNvSpPr/>
          <p:nvPr/>
        </p:nvSpPr>
        <p:spPr>
          <a:xfrm>
            <a:off x="7178040" y="2148840"/>
            <a:ext cx="1828800" cy="731520"/>
          </a:xfrm>
          <a:prstGeom prst="roundRect">
            <a:avLst>
              <a:gd name="adj" fmla="val 10000"/>
            </a:avLst>
          </a:prstGeom>
          <a:solidFill>
            <a:srgbClr val="0E9F9A"/>
          </a:solidFill>
          <a:ln/>
        </p:spPr>
      </p:sp>
      <p:sp>
        <p:nvSpPr>
          <p:cNvPr id="26" name="Shape 21"/>
          <p:cNvSpPr/>
          <p:nvPr/>
        </p:nvSpPr>
        <p:spPr>
          <a:xfrm>
            <a:off x="7251192" y="2258568"/>
            <a:ext cx="512064" cy="512064"/>
          </a:xfrm>
          <a:prstGeom prst="ellipse">
            <a:avLst/>
          </a:prstGeom>
          <a:solidFill>
            <a:srgbClr val="FFFFFF"/>
          </a:solidFill>
          <a:ln/>
        </p:spPr>
      </p:sp>
      <p:pic>
        <p:nvPicPr>
          <p:cNvPr id="27" name="Image 3" descr="preencoded.png">    </p:cNvPr>
          <p:cNvPicPr>
            <a:picLocks noChangeAspect="1"/>
          </p:cNvPicPr>
          <p:nvPr/>
        </p:nvPicPr>
        <p:blipFill>
          <a:blip r:embed="rId4"/>
          <a:stretch>
            <a:fillRect/>
          </a:stretch>
        </p:blipFill>
        <p:spPr>
          <a:xfrm>
            <a:off x="7324344" y="2331720"/>
            <a:ext cx="365760" cy="365760"/>
          </a:xfrm>
          <a:prstGeom prst="rect">
            <a:avLst/>
          </a:prstGeom>
        </p:spPr>
      </p:pic>
      <p:sp>
        <p:nvSpPr>
          <p:cNvPr id="28" name="Text 22"/>
          <p:cNvSpPr txBox="1"/>
          <p:nvPr/>
        </p:nvSpPr>
        <p:spPr>
          <a:xfrm>
            <a:off x="7909560" y="2148840"/>
            <a:ext cx="1051560" cy="73152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Gemini</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解釈・文章化</a:t>
            </a:r>
            <a:endParaRPr lang="en-US" sz="1050" dirty="0"/>
          </a:p>
        </p:txBody>
      </p:sp>
      <p:sp>
        <p:nvSpPr>
          <p:cNvPr id="29" name="Text 23"/>
          <p:cNvSpPr txBox="1"/>
          <p:nvPr/>
        </p:nvSpPr>
        <p:spPr>
          <a:xfrm>
            <a:off x="9326880" y="1874520"/>
            <a:ext cx="2148840" cy="1097280"/>
          </a:xfrm>
          <a:prstGeom prst="rect">
            <a:avLst/>
          </a:prstGeom>
          <a:noFill/>
          <a:ln/>
        </p:spPr>
        <p:txBody>
          <a:bodyPr wrap="square" lIns="0" tIns="0" rIns="0" bIns="0" rtlCol="0" anchor="ctr"/>
          <a:lstStyle/>
          <a:p>
            <a:pPr algn="ctr" indent="0" marL="0">
              <a:buNone/>
            </a:pPr>
            <a:r>
              <a:rPr lang="en-US" sz="1300" b="1" dirty="0">
                <a:solidFill>
                  <a:srgbClr val="D64545"/>
                </a:solidFill>
                <a:latin typeface="Meiryo UI" pitchFamily="34" charset="0"/>
                <a:ea typeface="Meiryo UI" pitchFamily="34" charset="-122"/>
                <a:cs typeface="Meiryo UI" pitchFamily="34" charset="-120"/>
              </a:rPr>
              <a:t>AIはSQLを</a:t>
            </a:r>
            <a:endParaRPr lang="en-US" sz="1300" dirty="0"/>
          </a:p>
          <a:p>
            <a:pPr algn="ctr" indent="0" marL="0">
              <a:buNone/>
            </a:pPr>
            <a:r>
              <a:rPr lang="en-US" sz="1300" b="1" dirty="0">
                <a:solidFill>
                  <a:srgbClr val="D64545"/>
                </a:solidFill>
                <a:latin typeface="Meiryo UI" pitchFamily="34" charset="0"/>
                <a:ea typeface="Meiryo UI" pitchFamily="34" charset="-122"/>
                <a:cs typeface="Meiryo UI" pitchFamily="34" charset="-120"/>
              </a:rPr>
              <a:t>書いていない</a:t>
            </a:r>
            <a:endParaRPr lang="en-US" sz="1300" dirty="0"/>
          </a:p>
        </p:txBody>
      </p:sp>
      <p:sp>
        <p:nvSpPr>
          <p:cNvPr id="30" name="Shape 24"/>
          <p:cNvSpPr/>
          <p:nvPr/>
        </p:nvSpPr>
        <p:spPr>
          <a:xfrm>
            <a:off x="548640" y="3246120"/>
            <a:ext cx="3566160" cy="1325880"/>
          </a:xfrm>
          <a:prstGeom prst="roundRect">
            <a:avLst>
              <a:gd name="adj" fmla="val 4138"/>
            </a:avLst>
          </a:prstGeom>
          <a:solidFill>
            <a:srgbClr val="D9F2F1"/>
          </a:solidFill>
          <a:ln/>
        </p:spPr>
      </p:sp>
      <p:sp>
        <p:nvSpPr>
          <p:cNvPr id="31" name="Shape 25"/>
          <p:cNvSpPr/>
          <p:nvPr/>
        </p:nvSpPr>
        <p:spPr>
          <a:xfrm>
            <a:off x="685800" y="3364992"/>
            <a:ext cx="384048" cy="384048"/>
          </a:xfrm>
          <a:prstGeom prst="ellipse">
            <a:avLst/>
          </a:prstGeom>
          <a:solidFill>
            <a:srgbClr val="FFFFFF"/>
          </a:solidFill>
          <a:ln/>
        </p:spPr>
      </p:sp>
      <p:pic>
        <p:nvPicPr>
          <p:cNvPr id="32" name="Image 4" descr="preencoded.png">    </p:cNvPr>
          <p:cNvPicPr>
            <a:picLocks noChangeAspect="1"/>
          </p:cNvPicPr>
          <p:nvPr/>
        </p:nvPicPr>
        <p:blipFill>
          <a:blip r:embed="rId5"/>
          <a:stretch>
            <a:fillRect/>
          </a:stretch>
        </p:blipFill>
        <p:spPr>
          <a:xfrm>
            <a:off x="762610" y="3441802"/>
            <a:ext cx="230429" cy="230429"/>
          </a:xfrm>
          <a:prstGeom prst="rect">
            <a:avLst/>
          </a:prstGeom>
        </p:spPr>
      </p:pic>
      <p:sp>
        <p:nvSpPr>
          <p:cNvPr id="33" name="Text 26"/>
          <p:cNvSpPr txBox="1"/>
          <p:nvPr/>
        </p:nvSpPr>
        <p:spPr>
          <a:xfrm>
            <a:off x="1143000" y="3364992"/>
            <a:ext cx="2880360" cy="384048"/>
          </a:xfrm>
          <a:prstGeom prst="rect">
            <a:avLst/>
          </a:prstGeom>
          <a:noFill/>
          <a:ln/>
        </p:spPr>
        <p:txBody>
          <a:bodyPr wrap="square" lIns="0" tIns="0" rIns="0" bIns="0"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必要なデータは事前に決まる</a:t>
            </a:r>
            <a:endParaRPr lang="en-US" sz="1250" dirty="0"/>
          </a:p>
        </p:txBody>
      </p:sp>
      <p:sp>
        <p:nvSpPr>
          <p:cNvPr id="34" name="Text 27"/>
          <p:cNvSpPr txBox="1"/>
          <p:nvPr/>
        </p:nvSpPr>
        <p:spPr>
          <a:xfrm>
            <a:off x="731520" y="3849624"/>
            <a:ext cx="3246120" cy="6309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配信日・国・部署・カテゴリ別の「候補商品×在庫×売上推移×粗利」など、問いの形が決まっている</a:t>
            </a:r>
            <a:endParaRPr lang="en-US" sz="1150" dirty="0"/>
          </a:p>
        </p:txBody>
      </p:sp>
      <p:sp>
        <p:nvSpPr>
          <p:cNvPr id="35" name="Shape 28"/>
          <p:cNvSpPr/>
          <p:nvPr/>
        </p:nvSpPr>
        <p:spPr>
          <a:xfrm>
            <a:off x="4297680" y="3246120"/>
            <a:ext cx="3566160" cy="1325880"/>
          </a:xfrm>
          <a:prstGeom prst="roundRect">
            <a:avLst>
              <a:gd name="adj" fmla="val 4138"/>
            </a:avLst>
          </a:prstGeom>
          <a:solidFill>
            <a:srgbClr val="D9F2F1"/>
          </a:solidFill>
          <a:ln/>
        </p:spPr>
      </p:sp>
      <p:sp>
        <p:nvSpPr>
          <p:cNvPr id="36" name="Shape 29"/>
          <p:cNvSpPr/>
          <p:nvPr/>
        </p:nvSpPr>
        <p:spPr>
          <a:xfrm>
            <a:off x="4434840" y="3364992"/>
            <a:ext cx="384048" cy="384048"/>
          </a:xfrm>
          <a:prstGeom prst="ellipse">
            <a:avLst/>
          </a:prstGeom>
          <a:solidFill>
            <a:srgbClr val="FFFFFF"/>
          </a:solidFill>
          <a:ln/>
        </p:spPr>
      </p:sp>
      <p:pic>
        <p:nvPicPr>
          <p:cNvPr id="37" name="Image 5" descr="preencoded.png">    </p:cNvPr>
          <p:cNvPicPr>
            <a:picLocks noChangeAspect="1"/>
          </p:cNvPicPr>
          <p:nvPr/>
        </p:nvPicPr>
        <p:blipFill>
          <a:blip r:embed="rId6"/>
          <a:stretch>
            <a:fillRect/>
          </a:stretch>
        </p:blipFill>
        <p:spPr>
          <a:xfrm>
            <a:off x="4511650" y="3441802"/>
            <a:ext cx="230429" cy="230429"/>
          </a:xfrm>
          <a:prstGeom prst="rect">
            <a:avLst/>
          </a:prstGeom>
        </p:spPr>
      </p:pic>
      <p:sp>
        <p:nvSpPr>
          <p:cNvPr id="38" name="Text 30"/>
          <p:cNvSpPr txBox="1"/>
          <p:nvPr/>
        </p:nvSpPr>
        <p:spPr>
          <a:xfrm>
            <a:off x="4892040" y="3364992"/>
            <a:ext cx="2880360" cy="384048"/>
          </a:xfrm>
          <a:prstGeom prst="rect">
            <a:avLst/>
          </a:prstGeom>
          <a:noFill/>
          <a:ln/>
        </p:spPr>
        <p:txBody>
          <a:bodyPr wrap="square" lIns="0" tIns="0" rIns="0" bIns="0"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決まった処理の方が正確</a:t>
            </a:r>
            <a:endParaRPr lang="en-US" sz="1250" dirty="0"/>
          </a:p>
        </p:txBody>
      </p:sp>
      <p:sp>
        <p:nvSpPr>
          <p:cNvPr id="39" name="Text 31"/>
          <p:cNvSpPr txBox="1"/>
          <p:nvPr/>
        </p:nvSpPr>
        <p:spPr>
          <a:xfrm>
            <a:off x="4480560" y="3849624"/>
            <a:ext cx="3246120" cy="6309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LLMにSQLを書かせるとJOINや期間条件の誤りが起きうる。前処理で作る方が再現性も高い</a:t>
            </a:r>
            <a:endParaRPr lang="en-US" sz="1150" dirty="0"/>
          </a:p>
        </p:txBody>
      </p:sp>
      <p:sp>
        <p:nvSpPr>
          <p:cNvPr id="40" name="Shape 32"/>
          <p:cNvSpPr/>
          <p:nvPr/>
        </p:nvSpPr>
        <p:spPr>
          <a:xfrm>
            <a:off x="8046720" y="3246120"/>
            <a:ext cx="3566160" cy="1325880"/>
          </a:xfrm>
          <a:prstGeom prst="roundRect">
            <a:avLst>
              <a:gd name="adj" fmla="val 4138"/>
            </a:avLst>
          </a:prstGeom>
          <a:solidFill>
            <a:srgbClr val="D9F2F1"/>
          </a:solidFill>
          <a:ln/>
        </p:spPr>
      </p:sp>
      <p:sp>
        <p:nvSpPr>
          <p:cNvPr id="41" name="Shape 33"/>
          <p:cNvSpPr/>
          <p:nvPr/>
        </p:nvSpPr>
        <p:spPr>
          <a:xfrm>
            <a:off x="8183880" y="3364992"/>
            <a:ext cx="384048" cy="384048"/>
          </a:xfrm>
          <a:prstGeom prst="ellipse">
            <a:avLst/>
          </a:prstGeom>
          <a:solidFill>
            <a:srgbClr val="FFFFFF"/>
          </a:solidFill>
          <a:ln/>
        </p:spPr>
      </p:sp>
      <p:pic>
        <p:nvPicPr>
          <p:cNvPr id="42" name="Image 6" descr="preencoded.png">    </p:cNvPr>
          <p:cNvPicPr>
            <a:picLocks noChangeAspect="1"/>
          </p:cNvPicPr>
          <p:nvPr/>
        </p:nvPicPr>
        <p:blipFill>
          <a:blip r:embed="rId7"/>
          <a:stretch>
            <a:fillRect/>
          </a:stretch>
        </p:blipFill>
        <p:spPr>
          <a:xfrm>
            <a:off x="8260690" y="3441802"/>
            <a:ext cx="230429" cy="230429"/>
          </a:xfrm>
          <a:prstGeom prst="rect">
            <a:avLst/>
          </a:prstGeom>
        </p:spPr>
      </p:pic>
      <p:sp>
        <p:nvSpPr>
          <p:cNvPr id="43" name="Text 34"/>
          <p:cNvSpPr txBox="1"/>
          <p:nvPr/>
        </p:nvSpPr>
        <p:spPr>
          <a:xfrm>
            <a:off x="8641080" y="3364992"/>
            <a:ext cx="2880360" cy="384048"/>
          </a:xfrm>
          <a:prstGeom prst="rect">
            <a:avLst/>
          </a:prstGeom>
          <a:noFill/>
          <a:ln/>
        </p:spPr>
        <p:txBody>
          <a:bodyPr wrap="square" lIns="0" tIns="0" rIns="0" bIns="0"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日次更新で足りる</a:t>
            </a:r>
            <a:endParaRPr lang="en-US" sz="1250" dirty="0"/>
          </a:p>
        </p:txBody>
      </p:sp>
      <p:sp>
        <p:nvSpPr>
          <p:cNvPr id="44" name="Text 35"/>
          <p:cNvSpPr txBox="1"/>
          <p:nvPr/>
        </p:nvSpPr>
        <p:spPr>
          <a:xfrm>
            <a:off x="8229600" y="3849624"/>
            <a:ext cx="3246120" cy="6309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企画の対象は数日〜数週間先の配信。数値は日次の更新で十分</a:t>
            </a:r>
            <a:endParaRPr lang="en-US" sz="1150" dirty="0"/>
          </a:p>
        </p:txBody>
      </p:sp>
      <p:sp>
        <p:nvSpPr>
          <p:cNvPr id="45" name="Shape 36"/>
          <p:cNvSpPr/>
          <p:nvPr/>
        </p:nvSpPr>
        <p:spPr>
          <a:xfrm>
            <a:off x="548640" y="4709160"/>
            <a:ext cx="6949440" cy="1600200"/>
          </a:xfrm>
          <a:prstGeom prst="roundRect">
            <a:avLst>
              <a:gd name="adj" fmla="val 3429"/>
            </a:avLst>
          </a:prstGeom>
          <a:solidFill>
            <a:srgbClr val="E3EAF5"/>
          </a:solidFill>
          <a:ln/>
        </p:spPr>
      </p:sp>
      <p:sp>
        <p:nvSpPr>
          <p:cNvPr id="46" name="Text 37"/>
          <p:cNvSpPr txBox="1"/>
          <p:nvPr/>
        </p:nvSpPr>
        <p:spPr>
          <a:xfrm>
            <a:off x="731520" y="4754880"/>
            <a:ext cx="6583680" cy="310896"/>
          </a:xfrm>
          <a:prstGeom prst="rect">
            <a:avLst/>
          </a:prstGeom>
          <a:noFill/>
          <a:ln/>
        </p:spPr>
        <p:txBody>
          <a:bodyPr wrap="square" lIns="508" tIns="508" rIns="508" bIns="508"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前処理の層：基本はBigQueryのSQLだけで完結できる</a:t>
            </a:r>
            <a:endParaRPr lang="en-US" sz="1250" dirty="0"/>
          </a:p>
        </p:txBody>
      </p:sp>
      <p:sp>
        <p:nvSpPr>
          <p:cNvPr id="47" name="Shape 38"/>
          <p:cNvSpPr/>
          <p:nvPr/>
        </p:nvSpPr>
        <p:spPr>
          <a:xfrm>
            <a:off x="731520" y="5102352"/>
            <a:ext cx="2788920" cy="731520"/>
          </a:xfrm>
          <a:prstGeom prst="roundRect">
            <a:avLst>
              <a:gd name="adj" fmla="val 10000"/>
            </a:avLst>
          </a:prstGeom>
          <a:solidFill>
            <a:srgbClr val="FFFFFF"/>
          </a:solidFill>
          <a:ln w="25400">
            <a:solidFill>
              <a:srgbClr val="0E9F9A"/>
            </a:solidFill>
            <a:prstDash val="solid"/>
          </a:ln>
        </p:spPr>
      </p:sp>
      <p:pic>
        <p:nvPicPr>
          <p:cNvPr id="48" name="Image 7" descr="preencoded.png">    </p:cNvPr>
          <p:cNvPicPr>
            <a:picLocks noChangeAspect="1"/>
          </p:cNvPicPr>
          <p:nvPr/>
        </p:nvPicPr>
        <p:blipFill>
          <a:blip r:embed="rId8"/>
          <a:stretch>
            <a:fillRect/>
          </a:stretch>
        </p:blipFill>
        <p:spPr>
          <a:xfrm>
            <a:off x="841248" y="5285232"/>
            <a:ext cx="365760" cy="365760"/>
          </a:xfrm>
          <a:prstGeom prst="rect">
            <a:avLst/>
          </a:prstGeom>
        </p:spPr>
      </p:pic>
      <p:sp>
        <p:nvSpPr>
          <p:cNvPr id="49" name="Text 39"/>
          <p:cNvSpPr txBox="1"/>
          <p:nvPr/>
        </p:nvSpPr>
        <p:spPr>
          <a:xfrm>
            <a:off x="1298448" y="5102352"/>
            <a:ext cx="2176272" cy="73152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基本：BigQueryのSQL</a:t>
            </a:r>
            <a:endParaRPr lang="en-US" sz="1050" dirty="0"/>
          </a:p>
          <a:p>
            <a:pPr indent="0" marL="0">
              <a:buNone/>
            </a:pPr>
            <a:r>
              <a:rPr lang="en-US" sz="850" dirty="0">
                <a:solidFill>
                  <a:srgbClr val="6B7280"/>
                </a:solidFill>
                <a:latin typeface="Meiryo UI" pitchFamily="34" charset="0"/>
                <a:ea typeface="Meiryo UI" pitchFamily="34" charset="-122"/>
                <a:cs typeface="Meiryo UI" pitchFamily="34" charset="-120"/>
              </a:rPr>
              <a:t>AIに渡すJSONまで作り、スケジュールクエリで日次実行</a:t>
            </a:r>
            <a:endParaRPr lang="en-US" sz="1050" dirty="0"/>
          </a:p>
        </p:txBody>
      </p:sp>
      <p:sp>
        <p:nvSpPr>
          <p:cNvPr id="50" name="Text 40"/>
          <p:cNvSpPr txBox="1"/>
          <p:nvPr/>
        </p:nvSpPr>
        <p:spPr>
          <a:xfrm>
            <a:off x="3566160" y="5102352"/>
            <a:ext cx="731520" cy="731520"/>
          </a:xfrm>
          <a:prstGeom prst="rect">
            <a:avLst/>
          </a:prstGeom>
          <a:noFill/>
          <a:ln/>
        </p:spPr>
        <p:txBody>
          <a:bodyPr wrap="square" lIns="0" tIns="0" rIns="0" bIns="0" rtlCol="0" anchor="ctr"/>
          <a:lstStyle/>
          <a:p>
            <a:pPr algn="ctr" indent="0" marL="0">
              <a:buNone/>
            </a:pPr>
            <a:r>
              <a:rPr lang="en-US" sz="900" b="1" dirty="0">
                <a:solidFill>
                  <a:srgbClr val="6B7280"/>
                </a:solidFill>
                <a:latin typeface="Meiryo UI" pitchFamily="34" charset="0"/>
                <a:ea typeface="Meiryo UI" pitchFamily="34" charset="-122"/>
                <a:cs typeface="Meiryo UI" pitchFamily="34" charset="-120"/>
              </a:rPr>
              <a:t>＋必要な</a:t>
            </a:r>
            <a:endParaRPr lang="en-US" sz="900" dirty="0"/>
          </a:p>
          <a:p>
            <a:pPr algn="ctr" indent="0" marL="0">
              <a:buNone/>
            </a:pPr>
            <a:r>
              <a:rPr lang="en-US" sz="900" b="1" dirty="0">
                <a:solidFill>
                  <a:srgbClr val="6B7280"/>
                </a:solidFill>
                <a:latin typeface="Meiryo UI" pitchFamily="34" charset="0"/>
                <a:ea typeface="Meiryo UI" pitchFamily="34" charset="-122"/>
                <a:cs typeface="Meiryo UI" pitchFamily="34" charset="-120"/>
              </a:rPr>
              <a:t>場合のみ</a:t>
            </a:r>
            <a:endParaRPr lang="en-US" sz="900" dirty="0"/>
          </a:p>
        </p:txBody>
      </p:sp>
      <p:sp>
        <p:nvSpPr>
          <p:cNvPr id="51" name="Shape 41"/>
          <p:cNvSpPr/>
          <p:nvPr/>
        </p:nvSpPr>
        <p:spPr>
          <a:xfrm>
            <a:off x="4343400" y="5102352"/>
            <a:ext cx="1508760" cy="731520"/>
          </a:xfrm>
          <a:prstGeom prst="roundRect">
            <a:avLst>
              <a:gd name="adj" fmla="val 10000"/>
            </a:avLst>
          </a:prstGeom>
          <a:solidFill>
            <a:srgbClr val="FFFFFF"/>
          </a:solidFill>
          <a:ln w="12700">
            <a:solidFill>
              <a:srgbClr val="D5DBE3"/>
            </a:solidFill>
            <a:prstDash val="solid"/>
          </a:ln>
        </p:spPr>
      </p:sp>
      <p:pic>
        <p:nvPicPr>
          <p:cNvPr id="52" name="Image 8" descr="preencoded.png">    </p:cNvPr>
          <p:cNvPicPr>
            <a:picLocks noChangeAspect="1"/>
          </p:cNvPicPr>
          <p:nvPr/>
        </p:nvPicPr>
        <p:blipFill>
          <a:blip r:embed="rId9"/>
          <a:stretch>
            <a:fillRect/>
          </a:stretch>
        </p:blipFill>
        <p:spPr>
          <a:xfrm>
            <a:off x="4453128" y="5312664"/>
            <a:ext cx="310896" cy="310896"/>
          </a:xfrm>
          <a:prstGeom prst="rect">
            <a:avLst/>
          </a:prstGeom>
        </p:spPr>
      </p:pic>
      <p:sp>
        <p:nvSpPr>
          <p:cNvPr id="53" name="Text 42"/>
          <p:cNvSpPr txBox="1"/>
          <p:nvPr/>
        </p:nvSpPr>
        <p:spPr>
          <a:xfrm>
            <a:off x="4855464" y="5102352"/>
            <a:ext cx="950976" cy="73152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Python</a:t>
            </a:r>
            <a:endParaRPr lang="en-US" sz="1000" dirty="0"/>
          </a:p>
          <a:p>
            <a:pPr algn="l" indent="0" marL="0">
              <a:buNone/>
            </a:pPr>
            <a:r>
              <a:rPr lang="en-US" sz="850" dirty="0">
                <a:solidFill>
                  <a:srgbClr val="6B7280"/>
                </a:solidFill>
                <a:latin typeface="Meiryo UI" pitchFamily="34" charset="0"/>
                <a:ea typeface="Meiryo UI" pitchFamily="34" charset="-122"/>
                <a:cs typeface="Meiryo UI" pitchFamily="34" charset="-120"/>
              </a:rPr>
              <a:t>Cloud Run Job</a:t>
            </a:r>
            <a:endParaRPr lang="en-US" sz="1000" dirty="0"/>
          </a:p>
        </p:txBody>
      </p:sp>
      <p:sp>
        <p:nvSpPr>
          <p:cNvPr id="54" name="Shape 43"/>
          <p:cNvSpPr/>
          <p:nvPr/>
        </p:nvSpPr>
        <p:spPr>
          <a:xfrm>
            <a:off x="5897880" y="5102352"/>
            <a:ext cx="1463040" cy="731520"/>
          </a:xfrm>
          <a:prstGeom prst="roundRect">
            <a:avLst>
              <a:gd name="adj" fmla="val 10000"/>
            </a:avLst>
          </a:prstGeom>
          <a:solidFill>
            <a:srgbClr val="FFFFFF"/>
          </a:solidFill>
          <a:ln w="12700">
            <a:solidFill>
              <a:srgbClr val="D5DBE3"/>
            </a:solidFill>
            <a:prstDash val="solid"/>
          </a:ln>
        </p:spPr>
      </p:sp>
      <p:pic>
        <p:nvPicPr>
          <p:cNvPr id="55" name="Image 9" descr="preencoded.png">    </p:cNvPr>
          <p:cNvPicPr>
            <a:picLocks noChangeAspect="1"/>
          </p:cNvPicPr>
          <p:nvPr/>
        </p:nvPicPr>
        <p:blipFill>
          <a:blip r:embed="rId10"/>
          <a:stretch>
            <a:fillRect/>
          </a:stretch>
        </p:blipFill>
        <p:spPr>
          <a:xfrm>
            <a:off x="6007608" y="5312664"/>
            <a:ext cx="310896" cy="310896"/>
          </a:xfrm>
          <a:prstGeom prst="rect">
            <a:avLst/>
          </a:prstGeom>
        </p:spPr>
      </p:pic>
      <p:sp>
        <p:nvSpPr>
          <p:cNvPr id="56" name="Text 44"/>
          <p:cNvSpPr txBox="1"/>
          <p:nvPr/>
        </p:nvSpPr>
        <p:spPr>
          <a:xfrm>
            <a:off x="6409944" y="5102352"/>
            <a:ext cx="905256" cy="73152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M365側</a:t>
            </a:r>
            <a:endParaRPr lang="en-US" sz="1000" dirty="0"/>
          </a:p>
          <a:p>
            <a:pPr algn="l" indent="0" marL="0">
              <a:buNone/>
            </a:pPr>
            <a:r>
              <a:rPr lang="en-US" sz="800" dirty="0">
                <a:solidFill>
                  <a:srgbClr val="6B7280"/>
                </a:solidFill>
                <a:latin typeface="Meiryo UI" pitchFamily="34" charset="0"/>
                <a:ea typeface="Meiryo UI" pitchFamily="34" charset="-122"/>
                <a:cs typeface="Meiryo UI" pitchFamily="34" charset="-120"/>
              </a:rPr>
              <a:t>Power Automate等</a:t>
            </a:r>
            <a:endParaRPr lang="en-US" sz="1000" dirty="0"/>
          </a:p>
        </p:txBody>
      </p:sp>
      <p:sp>
        <p:nvSpPr>
          <p:cNvPr id="57" name="Text 45"/>
          <p:cNvSpPr txBox="1"/>
          <p:nvPr/>
        </p:nvSpPr>
        <p:spPr>
          <a:xfrm>
            <a:off x="731520" y="5870448"/>
            <a:ext cx="6629400" cy="41148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追加が必要になる条件：</a:t>
            </a:r>
            <a:pPr indent="0" marL="0">
              <a:buNone/>
            </a:pPr>
            <a:r>
              <a:rPr lang="en-US" sz="900" dirty="0">
                <a:solidFill>
                  <a:srgbClr val="000000"/>
                </a:solidFill>
                <a:latin typeface="Meiryo UI" pitchFamily="34" charset="0"/>
                <a:ea typeface="Meiryo UI" pitchFamily="34" charset="-122"/>
                <a:cs typeface="Meiryo UI" pitchFamily="34" charset="-120"/>
              </a:rPr>
              <a:t>BigQuery外のデータ（SharePointの商品マスタ・ポリシー）との結合／SQLでは読みにくい複雑なロジック</a:t>
            </a:r>
            <a:endParaRPr lang="en-US" sz="900" dirty="0"/>
          </a:p>
        </p:txBody>
      </p:sp>
      <p:sp>
        <p:nvSpPr>
          <p:cNvPr id="58" name="Shape 46"/>
          <p:cNvSpPr/>
          <p:nvPr/>
        </p:nvSpPr>
        <p:spPr>
          <a:xfrm>
            <a:off x="7680960" y="4709160"/>
            <a:ext cx="3931920" cy="1600200"/>
          </a:xfrm>
          <a:prstGeom prst="roundRect">
            <a:avLst>
              <a:gd name="adj" fmla="val 3429"/>
            </a:avLst>
          </a:prstGeom>
          <a:solidFill>
            <a:srgbClr val="FDEBD3"/>
          </a:solidFill>
          <a:ln/>
        </p:spPr>
      </p:sp>
      <p:sp>
        <p:nvSpPr>
          <p:cNvPr id="59" name="Text 47"/>
          <p:cNvSpPr txBox="1"/>
          <p:nvPr/>
        </p:nvSpPr>
        <p:spPr>
          <a:xfrm>
            <a:off x="7863840" y="4773168"/>
            <a:ext cx="3657600" cy="320040"/>
          </a:xfrm>
          <a:prstGeom prst="rect">
            <a:avLst/>
          </a:prstGeom>
          <a:noFill/>
          <a:ln/>
        </p:spPr>
        <p:txBody>
          <a:bodyPr wrap="square" lIns="508" tIns="508" rIns="508" bIns="508" rtlCol="0" anchor="ctr"/>
          <a:lstStyle/>
          <a:p>
            <a:pPr indent="0" marL="0">
              <a:buNone/>
            </a:pPr>
            <a:r>
              <a:rPr lang="en-US" sz="1200" b="1" dirty="0">
                <a:solidFill>
                  <a:srgbClr val="E8912D"/>
                </a:solidFill>
                <a:latin typeface="Meiryo UI" pitchFamily="34" charset="0"/>
                <a:ea typeface="Meiryo UI" pitchFamily="34" charset="-122"/>
                <a:cs typeface="Meiryo UI" pitchFamily="34" charset="-120"/>
              </a:rPr>
              <a:t>随時SQLが必要になる例外</a:t>
            </a:r>
            <a:endParaRPr lang="en-US" sz="1200" dirty="0"/>
          </a:p>
        </p:txBody>
      </p:sp>
      <p:sp>
        <p:nvSpPr>
          <p:cNvPr id="60" name="Text 48"/>
          <p:cNvSpPr txBox="1"/>
          <p:nvPr/>
        </p:nvSpPr>
        <p:spPr>
          <a:xfrm>
            <a:off x="7863840" y="5120640"/>
            <a:ext cx="3657600" cy="1143000"/>
          </a:xfrm>
          <a:prstGeom prst="rect">
            <a:avLst/>
          </a:prstGeom>
          <a:noFill/>
          <a:ln/>
        </p:spPr>
        <p:txBody>
          <a:bodyPr wrap="square" lIns="254" tIns="254" rIns="254" bIns="254" rtlCol="0" anchor="t"/>
          <a:lstStyle/>
          <a:p>
            <a:pPr marL="152400" indent="-152400">
              <a:spcAft>
                <a:spcPts val="200"/>
              </a:spcAft>
              <a:buSzPct val="100000"/>
              <a:buChar char="•"/>
            </a:pPr>
            <a:r>
              <a:rPr lang="en-US" sz="1100" dirty="0">
                <a:solidFill>
                  <a:srgbClr val="000000"/>
                </a:solidFill>
                <a:latin typeface="Meiryo UI" pitchFamily="34" charset="0"/>
                <a:ea typeface="Meiryo UI" pitchFamily="34" charset="-122"/>
                <a:cs typeface="Meiryo UI" pitchFamily="34" charset="-120"/>
              </a:rPr>
              <a:t>対話の中で想定外の数値の問いを投げたい</a:t>
            </a:r>
            <a:endParaRPr lang="en-US" sz="1100" dirty="0"/>
          </a:p>
          <a:p>
            <a:pPr marL="152400" indent="-152400">
              <a:spcAft>
                <a:spcPts val="200"/>
              </a:spcAft>
              <a:buSzPct val="100000"/>
              <a:buChar char="•"/>
            </a:pPr>
            <a:r>
              <a:rPr lang="en-US" sz="1100" dirty="0">
                <a:solidFill>
                  <a:srgbClr val="000000"/>
                </a:solidFill>
                <a:latin typeface="Meiryo UI" pitchFamily="34" charset="0"/>
                <a:ea typeface="Meiryo UI" pitchFamily="34" charset="-122"/>
                <a:cs typeface="Meiryo UI" pitchFamily="34" charset="-120"/>
              </a:rPr>
              <a:t>当日の在庫切れなど、日次より高い鮮度が必要</a:t>
            </a:r>
            <a:endParaRPr lang="en-US" sz="1100" dirty="0"/>
          </a:p>
          <a:p>
            <a:pPr marL="152400" indent="-152400">
              <a:spcAft>
                <a:spcPts val="200"/>
              </a:spcAft>
              <a:buSzPct val="100000"/>
              <a:buChar char="•"/>
            </a:pPr>
            <a:r>
              <a:rPr lang="en-US" sz="1100" dirty="0">
                <a:solidFill>
                  <a:srgbClr val="000000"/>
                </a:solidFill>
                <a:latin typeface="Meiryo UI" pitchFamily="34" charset="0"/>
                <a:ea typeface="Meiryo UI" pitchFamily="34" charset="-122"/>
                <a:cs typeface="Meiryo UI" pitchFamily="34" charset="-120"/>
              </a:rPr>
              <a:t>事前に絞ると落ちる情報が多すぎる</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論点：Airtableの操作をきっかけにエージェントを動かし、結果を書き戻せるか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結論：実現は可能。ただし標準機能だけでは完結せず、HTTP連携（Premium）とトークンの管理が前提になる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43</a:t>
            </a:r>
            <a:endParaRPr lang="en-US" sz="900" dirty="0"/>
          </a:p>
        </p:txBody>
      </p:sp>
      <p:sp>
        <p:nvSpPr>
          <p:cNvPr id="6" name="Shape 4"/>
          <p:cNvSpPr/>
          <p:nvPr/>
        </p:nvSpPr>
        <p:spPr>
          <a:xfrm>
            <a:off x="548640" y="1463040"/>
            <a:ext cx="3566160" cy="3246120"/>
          </a:xfrm>
          <a:prstGeom prst="roundRect">
            <a:avLst>
              <a:gd name="adj" fmla="val 1690"/>
            </a:avLst>
          </a:prstGeom>
          <a:solidFill>
            <a:srgbClr val="F3F5F8"/>
          </a:solidFill>
          <a:ln/>
        </p:spPr>
      </p:sp>
      <p:sp>
        <p:nvSpPr>
          <p:cNvPr id="7" name="Shape 5"/>
          <p:cNvSpPr/>
          <p:nvPr/>
        </p:nvSpPr>
        <p:spPr>
          <a:xfrm>
            <a:off x="713232" y="1600200"/>
            <a:ext cx="502920" cy="50292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13816" y="1700784"/>
            <a:ext cx="301752" cy="301752"/>
          </a:xfrm>
          <a:prstGeom prst="rect">
            <a:avLst/>
          </a:prstGeom>
        </p:spPr>
      </p:pic>
      <p:sp>
        <p:nvSpPr>
          <p:cNvPr id="9" name="Text 6"/>
          <p:cNvSpPr txBox="1"/>
          <p:nvPr/>
        </p:nvSpPr>
        <p:spPr>
          <a:xfrm>
            <a:off x="1325880" y="1572768"/>
            <a:ext cx="2651760" cy="329184"/>
          </a:xfrm>
          <a:prstGeom prst="rect">
            <a:avLst/>
          </a:prstGeom>
          <a:noFill/>
          <a:ln/>
        </p:spPr>
        <p:txBody>
          <a:bodyPr wrap="square" lIns="508" tIns="508" rIns="508" bIns="508" rtlCol="0" anchor="ctr"/>
          <a:lstStyle/>
          <a:p>
            <a:pPr indent="0" marL="0">
              <a:buNone/>
            </a:pPr>
            <a:r>
              <a:rPr lang="en-US" sz="1600" b="1" dirty="0">
                <a:solidFill>
                  <a:srgbClr val="1B2A49"/>
                </a:solidFill>
                <a:latin typeface="Meiryo UI" pitchFamily="34" charset="0"/>
                <a:ea typeface="Meiryo UI" pitchFamily="34" charset="-122"/>
                <a:cs typeface="Meiryo UI" pitchFamily="34" charset="-120"/>
              </a:rPr>
              <a:t>① 起動</a:t>
            </a:r>
            <a:endParaRPr lang="en-US" sz="1600" dirty="0"/>
          </a:p>
        </p:txBody>
      </p:sp>
      <p:sp>
        <p:nvSpPr>
          <p:cNvPr id="10" name="Text 7"/>
          <p:cNvSpPr txBox="1"/>
          <p:nvPr/>
        </p:nvSpPr>
        <p:spPr>
          <a:xfrm>
            <a:off x="1325880" y="1883664"/>
            <a:ext cx="2651760" cy="274320"/>
          </a:xfrm>
          <a:prstGeom prst="rect">
            <a:avLst/>
          </a:prstGeom>
          <a:noFill/>
          <a:ln/>
        </p:spPr>
        <p:txBody>
          <a:bodyPr wrap="square" lIns="508" tIns="508" rIns="508" bIns="508" rtlCol="0" anchor="ctr"/>
          <a:lstStyle/>
          <a:p>
            <a:pPr indent="0" marL="0">
              <a:buNone/>
            </a:pPr>
            <a:r>
              <a:rPr lang="en-US" sz="1050" dirty="0">
                <a:solidFill>
                  <a:srgbClr val="6B7280"/>
                </a:solidFill>
                <a:latin typeface="Meiryo UI" pitchFamily="34" charset="0"/>
                <a:ea typeface="Meiryo UI" pitchFamily="34" charset="-122"/>
                <a:cs typeface="Meiryo UI" pitchFamily="34" charset="-120"/>
              </a:rPr>
              <a:t>処理を始めるきっかけを作る</a:t>
            </a:r>
            <a:endParaRPr lang="en-US" sz="1050" dirty="0"/>
          </a:p>
        </p:txBody>
      </p:sp>
      <p:sp>
        <p:nvSpPr>
          <p:cNvPr id="11" name="Text 8"/>
          <p:cNvSpPr txBox="1"/>
          <p:nvPr/>
        </p:nvSpPr>
        <p:spPr>
          <a:xfrm>
            <a:off x="731520" y="2286000"/>
            <a:ext cx="3246120" cy="237744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Airtableから知らせる：オートメーション（レコード作成・条件一致・ボタンなど）の「スクリプト実行」で外部へHTTP送信（待ち時間は30秒が上限）</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M365側から見に行く：Power Automateの定期実行が、Airtableの「起案待ち」のカードを探す（ポーリング。O1）</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Webhooks APIは「変更があった」通知のみ。7日で失効するため更新が必要</a:t>
            </a:r>
            <a:endParaRPr lang="en-US" sz="1100" dirty="0"/>
          </a:p>
        </p:txBody>
      </p:sp>
      <p:sp>
        <p:nvSpPr>
          <p:cNvPr id="12" name="Shape 9"/>
          <p:cNvSpPr/>
          <p:nvPr/>
        </p:nvSpPr>
        <p:spPr>
          <a:xfrm>
            <a:off x="4123944" y="3063240"/>
            <a:ext cx="164592" cy="0"/>
          </a:xfrm>
          <a:prstGeom prst="line">
            <a:avLst/>
          </a:prstGeom>
          <a:noFill/>
          <a:ln w="31750">
            <a:solidFill>
              <a:srgbClr val="1B2A49"/>
            </a:solidFill>
            <a:prstDash val="solid"/>
            <a:tailEnd type="triangle"/>
          </a:ln>
        </p:spPr>
      </p:sp>
      <p:sp>
        <p:nvSpPr>
          <p:cNvPr id="13" name="Shape 10"/>
          <p:cNvSpPr/>
          <p:nvPr/>
        </p:nvSpPr>
        <p:spPr>
          <a:xfrm>
            <a:off x="4297680" y="1463040"/>
            <a:ext cx="3566160" cy="3246120"/>
          </a:xfrm>
          <a:prstGeom prst="roundRect">
            <a:avLst>
              <a:gd name="adj" fmla="val 1690"/>
            </a:avLst>
          </a:prstGeom>
          <a:solidFill>
            <a:srgbClr val="F3F5F8"/>
          </a:solidFill>
          <a:ln/>
        </p:spPr>
      </p:sp>
      <p:sp>
        <p:nvSpPr>
          <p:cNvPr id="14" name="Shape 11"/>
          <p:cNvSpPr/>
          <p:nvPr/>
        </p:nvSpPr>
        <p:spPr>
          <a:xfrm>
            <a:off x="4462272" y="1600200"/>
            <a:ext cx="502920" cy="502920"/>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4562856" y="1700784"/>
            <a:ext cx="301752" cy="301752"/>
          </a:xfrm>
          <a:prstGeom prst="rect">
            <a:avLst/>
          </a:prstGeom>
        </p:spPr>
      </p:pic>
      <p:sp>
        <p:nvSpPr>
          <p:cNvPr id="16" name="Text 12"/>
          <p:cNvSpPr txBox="1"/>
          <p:nvPr/>
        </p:nvSpPr>
        <p:spPr>
          <a:xfrm>
            <a:off x="5074920" y="1572768"/>
            <a:ext cx="2651760" cy="329184"/>
          </a:xfrm>
          <a:prstGeom prst="rect">
            <a:avLst/>
          </a:prstGeom>
          <a:noFill/>
          <a:ln/>
        </p:spPr>
        <p:txBody>
          <a:bodyPr wrap="square" lIns="508" tIns="508" rIns="508" bIns="508" rtlCol="0" anchor="ctr"/>
          <a:lstStyle/>
          <a:p>
            <a:pPr indent="0" marL="0">
              <a:buNone/>
            </a:pPr>
            <a:r>
              <a:rPr lang="en-US" sz="1600" b="1" dirty="0">
                <a:solidFill>
                  <a:srgbClr val="1B2A49"/>
                </a:solidFill>
                <a:latin typeface="Meiryo UI" pitchFamily="34" charset="0"/>
                <a:ea typeface="Meiryo UI" pitchFamily="34" charset="-122"/>
                <a:cs typeface="Meiryo UI" pitchFamily="34" charset="-120"/>
              </a:rPr>
              <a:t>② 実行</a:t>
            </a:r>
            <a:endParaRPr lang="en-US" sz="1600" dirty="0"/>
          </a:p>
        </p:txBody>
      </p:sp>
      <p:sp>
        <p:nvSpPr>
          <p:cNvPr id="17" name="Text 13"/>
          <p:cNvSpPr txBox="1"/>
          <p:nvPr/>
        </p:nvSpPr>
        <p:spPr>
          <a:xfrm>
            <a:off x="5074920" y="1883664"/>
            <a:ext cx="2651760" cy="274320"/>
          </a:xfrm>
          <a:prstGeom prst="rect">
            <a:avLst/>
          </a:prstGeom>
          <a:noFill/>
          <a:ln/>
        </p:spPr>
        <p:txBody>
          <a:bodyPr wrap="square" lIns="508" tIns="508" rIns="508" bIns="508" rtlCol="0" anchor="ctr"/>
          <a:lstStyle/>
          <a:p>
            <a:pPr indent="0" marL="0">
              <a:buNone/>
            </a:pPr>
            <a:r>
              <a:rPr lang="en-US" sz="1050" dirty="0">
                <a:solidFill>
                  <a:srgbClr val="6B7280"/>
                </a:solidFill>
                <a:latin typeface="Meiryo UI" pitchFamily="34" charset="0"/>
                <a:ea typeface="Meiryo UI" pitchFamily="34" charset="-122"/>
                <a:cs typeface="Meiryo UI" pitchFamily="34" charset="-120"/>
              </a:rPr>
              <a:t>エージェントを動かす</a:t>
            </a:r>
            <a:endParaRPr lang="en-US" sz="1050" dirty="0"/>
          </a:p>
        </p:txBody>
      </p:sp>
      <p:sp>
        <p:nvSpPr>
          <p:cNvPr id="18" name="Text 14"/>
          <p:cNvSpPr txBox="1"/>
          <p:nvPr/>
        </p:nvSpPr>
        <p:spPr>
          <a:xfrm>
            <a:off x="4480560" y="2286000"/>
            <a:ext cx="3246120" cy="237744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フローが主役：Power Automateが「Execute Agent and wait」でエージェントに依頼し、応答を受け取る（フローが書き込む）</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エージェントが主役：イベントトリガーで自律エージェントが起動し、取得・書き込みまで自分で行う</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Direct Line APIで直接呼ぶこともできる（手順が多い）</a:t>
            </a:r>
            <a:endParaRPr lang="en-US" sz="1100" dirty="0"/>
          </a:p>
        </p:txBody>
      </p:sp>
      <p:sp>
        <p:nvSpPr>
          <p:cNvPr id="19" name="Shape 15"/>
          <p:cNvSpPr/>
          <p:nvPr/>
        </p:nvSpPr>
        <p:spPr>
          <a:xfrm>
            <a:off x="7872984" y="3063240"/>
            <a:ext cx="164592" cy="0"/>
          </a:xfrm>
          <a:prstGeom prst="line">
            <a:avLst/>
          </a:prstGeom>
          <a:noFill/>
          <a:ln w="31750">
            <a:solidFill>
              <a:srgbClr val="1B2A49"/>
            </a:solidFill>
            <a:prstDash val="solid"/>
            <a:tailEnd type="triangle"/>
          </a:ln>
        </p:spPr>
      </p:sp>
      <p:sp>
        <p:nvSpPr>
          <p:cNvPr id="20" name="Shape 16"/>
          <p:cNvSpPr/>
          <p:nvPr/>
        </p:nvSpPr>
        <p:spPr>
          <a:xfrm>
            <a:off x="8046720" y="1463040"/>
            <a:ext cx="3566160" cy="3246120"/>
          </a:xfrm>
          <a:prstGeom prst="roundRect">
            <a:avLst>
              <a:gd name="adj" fmla="val 1690"/>
            </a:avLst>
          </a:prstGeom>
          <a:solidFill>
            <a:srgbClr val="F3F5F8"/>
          </a:solidFill>
          <a:ln/>
        </p:spPr>
      </p:sp>
      <p:sp>
        <p:nvSpPr>
          <p:cNvPr id="21" name="Shape 17"/>
          <p:cNvSpPr/>
          <p:nvPr/>
        </p:nvSpPr>
        <p:spPr>
          <a:xfrm>
            <a:off x="8211312" y="1600200"/>
            <a:ext cx="502920" cy="502920"/>
          </a:xfrm>
          <a:prstGeom prst="ellipse">
            <a:avLst/>
          </a:prstGeom>
          <a:solidFill>
            <a:srgbClr val="FFFFFF"/>
          </a:solidFill>
          <a:ln/>
        </p:spPr>
      </p:sp>
      <p:pic>
        <p:nvPicPr>
          <p:cNvPr id="22" name="Image 2" descr="preencoded.png">    </p:cNvPr>
          <p:cNvPicPr>
            <a:picLocks noChangeAspect="1"/>
          </p:cNvPicPr>
          <p:nvPr/>
        </p:nvPicPr>
        <p:blipFill>
          <a:blip r:embed="rId3"/>
          <a:stretch>
            <a:fillRect/>
          </a:stretch>
        </p:blipFill>
        <p:spPr>
          <a:xfrm>
            <a:off x="8311896" y="1700784"/>
            <a:ext cx="301752" cy="301752"/>
          </a:xfrm>
          <a:prstGeom prst="rect">
            <a:avLst/>
          </a:prstGeom>
        </p:spPr>
      </p:pic>
      <p:sp>
        <p:nvSpPr>
          <p:cNvPr id="23" name="Text 18"/>
          <p:cNvSpPr txBox="1"/>
          <p:nvPr/>
        </p:nvSpPr>
        <p:spPr>
          <a:xfrm>
            <a:off x="8823960" y="1572768"/>
            <a:ext cx="2651760" cy="329184"/>
          </a:xfrm>
          <a:prstGeom prst="rect">
            <a:avLst/>
          </a:prstGeom>
          <a:noFill/>
          <a:ln/>
        </p:spPr>
        <p:txBody>
          <a:bodyPr wrap="square" lIns="508" tIns="508" rIns="508" bIns="508" rtlCol="0" anchor="ctr"/>
          <a:lstStyle/>
          <a:p>
            <a:pPr indent="0" marL="0">
              <a:buNone/>
            </a:pPr>
            <a:r>
              <a:rPr lang="en-US" sz="1600" b="1" dirty="0">
                <a:solidFill>
                  <a:srgbClr val="1B2A49"/>
                </a:solidFill>
                <a:latin typeface="Meiryo UI" pitchFamily="34" charset="0"/>
                <a:ea typeface="Meiryo UI" pitchFamily="34" charset="-122"/>
                <a:cs typeface="Meiryo UI" pitchFamily="34" charset="-120"/>
              </a:rPr>
              <a:t>③ 書き戻し</a:t>
            </a:r>
            <a:endParaRPr lang="en-US" sz="1600" dirty="0"/>
          </a:p>
        </p:txBody>
      </p:sp>
      <p:sp>
        <p:nvSpPr>
          <p:cNvPr id="24" name="Text 19"/>
          <p:cNvSpPr txBox="1"/>
          <p:nvPr/>
        </p:nvSpPr>
        <p:spPr>
          <a:xfrm>
            <a:off x="8823960" y="1883664"/>
            <a:ext cx="2651760" cy="274320"/>
          </a:xfrm>
          <a:prstGeom prst="rect">
            <a:avLst/>
          </a:prstGeom>
          <a:noFill/>
          <a:ln/>
        </p:spPr>
        <p:txBody>
          <a:bodyPr wrap="square" lIns="508" tIns="508" rIns="508" bIns="508" rtlCol="0" anchor="ctr"/>
          <a:lstStyle/>
          <a:p>
            <a:pPr indent="0" marL="0">
              <a:buNone/>
            </a:pPr>
            <a:r>
              <a:rPr lang="en-US" sz="1050" dirty="0">
                <a:solidFill>
                  <a:srgbClr val="6B7280"/>
                </a:solidFill>
                <a:latin typeface="Meiryo UI" pitchFamily="34" charset="0"/>
                <a:ea typeface="Meiryo UI" pitchFamily="34" charset="-122"/>
                <a:cs typeface="Meiryo UI" pitchFamily="34" charset="-120"/>
              </a:rPr>
              <a:t>結果をAirtableに返す</a:t>
            </a:r>
            <a:endParaRPr lang="en-US" sz="1050" dirty="0"/>
          </a:p>
        </p:txBody>
      </p:sp>
      <p:sp>
        <p:nvSpPr>
          <p:cNvPr id="25" name="Text 20"/>
          <p:cNvSpPr txBox="1"/>
          <p:nvPr/>
        </p:nvSpPr>
        <p:spPr>
          <a:xfrm>
            <a:off x="8229600" y="2286000"/>
            <a:ext cx="3246120" cy="237744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Power AutomateのAirtableコネクタは非推奨（廃止済みのAPIキー認証）</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HTTPアクションで、AirtableのREST APIを個人アクセストークン（PAT）で呼ぶ</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またはカスタムコネクタを作って再利用する</a:t>
            </a:r>
            <a:endParaRPr lang="en-US" sz="1100" dirty="0"/>
          </a:p>
        </p:txBody>
      </p:sp>
      <p:sp>
        <p:nvSpPr>
          <p:cNvPr id="26" name="Text 21"/>
          <p:cNvSpPr txBox="1"/>
          <p:nvPr/>
        </p:nvSpPr>
        <p:spPr>
          <a:xfrm>
            <a:off x="548640" y="4846320"/>
            <a:ext cx="4572000" cy="32004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共通の設計ポイント</a:t>
            </a:r>
            <a:endParaRPr lang="en-US" sz="1300" dirty="0"/>
          </a:p>
        </p:txBody>
      </p:sp>
      <p:sp>
        <p:nvSpPr>
          <p:cNvPr id="27" name="Shape 22"/>
          <p:cNvSpPr/>
          <p:nvPr/>
        </p:nvSpPr>
        <p:spPr>
          <a:xfrm>
            <a:off x="548640" y="5212080"/>
            <a:ext cx="2651760" cy="1097280"/>
          </a:xfrm>
          <a:prstGeom prst="roundRect">
            <a:avLst>
              <a:gd name="adj" fmla="val 5000"/>
            </a:avLst>
          </a:prstGeom>
          <a:solidFill>
            <a:srgbClr val="D9F2F1"/>
          </a:solidFill>
          <a:ln/>
        </p:spPr>
      </p:sp>
      <p:pic>
        <p:nvPicPr>
          <p:cNvPr id="28" name="Image 3" descr="preencoded.png">    </p:cNvPr>
          <p:cNvPicPr>
            <a:picLocks noChangeAspect="1"/>
          </p:cNvPicPr>
          <p:nvPr/>
        </p:nvPicPr>
        <p:blipFill>
          <a:blip r:embed="rId4"/>
          <a:stretch>
            <a:fillRect/>
          </a:stretch>
        </p:blipFill>
        <p:spPr>
          <a:xfrm>
            <a:off x="685800" y="5321808"/>
            <a:ext cx="310896" cy="310896"/>
          </a:xfrm>
          <a:prstGeom prst="rect">
            <a:avLst/>
          </a:prstGeom>
        </p:spPr>
      </p:pic>
      <p:sp>
        <p:nvSpPr>
          <p:cNvPr id="29" name="Text 23"/>
          <p:cNvSpPr txBox="1"/>
          <p:nvPr/>
        </p:nvSpPr>
        <p:spPr>
          <a:xfrm>
            <a:off x="1078992" y="5303520"/>
            <a:ext cx="2057400" cy="347472"/>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状態管理</a:t>
            </a:r>
            <a:endParaRPr lang="en-US" sz="1150" dirty="0"/>
          </a:p>
        </p:txBody>
      </p:sp>
      <p:sp>
        <p:nvSpPr>
          <p:cNvPr id="30" name="Text 24"/>
          <p:cNvSpPr txBox="1"/>
          <p:nvPr/>
        </p:nvSpPr>
        <p:spPr>
          <a:xfrm>
            <a:off x="685800" y="5669280"/>
            <a:ext cx="2423160" cy="603504"/>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ステータス列（起案待ち→起案中→下書きあり／エラー）で二重実行を防ぐ</a:t>
            </a:r>
            <a:endParaRPr lang="en-US" sz="950" dirty="0"/>
          </a:p>
        </p:txBody>
      </p:sp>
      <p:sp>
        <p:nvSpPr>
          <p:cNvPr id="31" name="Shape 25"/>
          <p:cNvSpPr/>
          <p:nvPr/>
        </p:nvSpPr>
        <p:spPr>
          <a:xfrm>
            <a:off x="3346704" y="5212080"/>
            <a:ext cx="2651760" cy="1097280"/>
          </a:xfrm>
          <a:prstGeom prst="roundRect">
            <a:avLst>
              <a:gd name="adj" fmla="val 5000"/>
            </a:avLst>
          </a:prstGeom>
          <a:solidFill>
            <a:srgbClr val="D9F2F1"/>
          </a:solidFill>
          <a:ln/>
        </p:spPr>
      </p:sp>
      <p:pic>
        <p:nvPicPr>
          <p:cNvPr id="32" name="Image 4" descr="preencoded.png">    </p:cNvPr>
          <p:cNvPicPr>
            <a:picLocks noChangeAspect="1"/>
          </p:cNvPicPr>
          <p:nvPr/>
        </p:nvPicPr>
        <p:blipFill>
          <a:blip r:embed="rId5"/>
          <a:stretch>
            <a:fillRect/>
          </a:stretch>
        </p:blipFill>
        <p:spPr>
          <a:xfrm>
            <a:off x="3483864" y="5321808"/>
            <a:ext cx="310896" cy="310896"/>
          </a:xfrm>
          <a:prstGeom prst="rect">
            <a:avLst/>
          </a:prstGeom>
        </p:spPr>
      </p:pic>
      <p:sp>
        <p:nvSpPr>
          <p:cNvPr id="33" name="Text 26"/>
          <p:cNvSpPr txBox="1"/>
          <p:nvPr/>
        </p:nvSpPr>
        <p:spPr>
          <a:xfrm>
            <a:off x="3877056" y="5303520"/>
            <a:ext cx="2057400" cy="347472"/>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認証情報</a:t>
            </a:r>
            <a:endParaRPr lang="en-US" sz="1150" dirty="0"/>
          </a:p>
        </p:txBody>
      </p:sp>
      <p:sp>
        <p:nvSpPr>
          <p:cNvPr id="34" name="Text 27"/>
          <p:cNvSpPr txBox="1"/>
          <p:nvPr/>
        </p:nvSpPr>
        <p:spPr>
          <a:xfrm>
            <a:off x="3483864" y="5669280"/>
            <a:ext cx="2423160" cy="603504"/>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PATは対象ベース・書き込み権限だけに絞る。フローのURLも秘密情報として扱う</a:t>
            </a:r>
            <a:endParaRPr lang="en-US" sz="950" dirty="0"/>
          </a:p>
        </p:txBody>
      </p:sp>
      <p:sp>
        <p:nvSpPr>
          <p:cNvPr id="35" name="Shape 28"/>
          <p:cNvSpPr/>
          <p:nvPr/>
        </p:nvSpPr>
        <p:spPr>
          <a:xfrm>
            <a:off x="6144768" y="5212080"/>
            <a:ext cx="2651760" cy="1097280"/>
          </a:xfrm>
          <a:prstGeom prst="roundRect">
            <a:avLst>
              <a:gd name="adj" fmla="val 5000"/>
            </a:avLst>
          </a:prstGeom>
          <a:solidFill>
            <a:srgbClr val="D9F2F1"/>
          </a:solidFill>
          <a:ln/>
        </p:spPr>
      </p:sp>
      <p:pic>
        <p:nvPicPr>
          <p:cNvPr id="36" name="Image 5" descr="preencoded.png">    </p:cNvPr>
          <p:cNvPicPr>
            <a:picLocks noChangeAspect="1"/>
          </p:cNvPicPr>
          <p:nvPr/>
        </p:nvPicPr>
        <p:blipFill>
          <a:blip r:embed="rId6"/>
          <a:stretch>
            <a:fillRect/>
          </a:stretch>
        </p:blipFill>
        <p:spPr>
          <a:xfrm>
            <a:off x="6281928" y="5321808"/>
            <a:ext cx="310896" cy="310896"/>
          </a:xfrm>
          <a:prstGeom prst="rect">
            <a:avLst/>
          </a:prstGeom>
        </p:spPr>
      </p:pic>
      <p:sp>
        <p:nvSpPr>
          <p:cNvPr id="37" name="Text 29"/>
          <p:cNvSpPr txBox="1"/>
          <p:nvPr/>
        </p:nvSpPr>
        <p:spPr>
          <a:xfrm>
            <a:off x="6675120" y="5303520"/>
            <a:ext cx="2057400" cy="347472"/>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時間とエラー</a:t>
            </a:r>
            <a:endParaRPr lang="en-US" sz="1150" dirty="0"/>
          </a:p>
        </p:txBody>
      </p:sp>
      <p:sp>
        <p:nvSpPr>
          <p:cNvPr id="38" name="Text 30"/>
          <p:cNvSpPr txBox="1"/>
          <p:nvPr/>
        </p:nvSpPr>
        <p:spPr>
          <a:xfrm>
            <a:off x="6281928" y="5669280"/>
            <a:ext cx="2423160" cy="603504"/>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30秒制限を避けるため非同期で処理。失敗時はTeamsに通知</a:t>
            </a:r>
            <a:endParaRPr lang="en-US" sz="950" dirty="0"/>
          </a:p>
        </p:txBody>
      </p:sp>
      <p:sp>
        <p:nvSpPr>
          <p:cNvPr id="39" name="Shape 31"/>
          <p:cNvSpPr/>
          <p:nvPr/>
        </p:nvSpPr>
        <p:spPr>
          <a:xfrm>
            <a:off x="8942832" y="5212080"/>
            <a:ext cx="2651760" cy="1097280"/>
          </a:xfrm>
          <a:prstGeom prst="roundRect">
            <a:avLst>
              <a:gd name="adj" fmla="val 5000"/>
            </a:avLst>
          </a:prstGeom>
          <a:solidFill>
            <a:srgbClr val="D9F2F1"/>
          </a:solidFill>
          <a:ln/>
        </p:spPr>
      </p:sp>
      <p:pic>
        <p:nvPicPr>
          <p:cNvPr id="40" name="Image 6" descr="preencoded.png">    </p:cNvPr>
          <p:cNvPicPr>
            <a:picLocks noChangeAspect="1"/>
          </p:cNvPicPr>
          <p:nvPr/>
        </p:nvPicPr>
        <p:blipFill>
          <a:blip r:embed="rId7"/>
          <a:stretch>
            <a:fillRect/>
          </a:stretch>
        </p:blipFill>
        <p:spPr>
          <a:xfrm>
            <a:off x="9079992" y="5321808"/>
            <a:ext cx="310896" cy="310896"/>
          </a:xfrm>
          <a:prstGeom prst="rect">
            <a:avLst/>
          </a:prstGeom>
        </p:spPr>
      </p:pic>
      <p:sp>
        <p:nvSpPr>
          <p:cNvPr id="41" name="Text 32"/>
          <p:cNvSpPr txBox="1"/>
          <p:nvPr/>
        </p:nvSpPr>
        <p:spPr>
          <a:xfrm>
            <a:off x="9473184" y="5303520"/>
            <a:ext cx="2057400" cy="347472"/>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上限</a:t>
            </a:r>
            <a:endParaRPr lang="en-US" sz="1150" dirty="0"/>
          </a:p>
        </p:txBody>
      </p:sp>
      <p:sp>
        <p:nvSpPr>
          <p:cNvPr id="42" name="Text 33"/>
          <p:cNvSpPr txBox="1"/>
          <p:nvPr/>
        </p:nvSpPr>
        <p:spPr>
          <a:xfrm>
            <a:off x="9079992" y="5669280"/>
            <a:ext cx="2423160" cy="603504"/>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AirtableのAPIは1ベースあたり毎秒5リクエストまで</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Airtable起点でエージェントを動かす方式の比較</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起動のしかた（定期確認か、即時送信か）と、エージェントの呼び方の組み合わせで7つの方式がある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44</a:t>
            </a:r>
            <a:endParaRPr lang="en-US" sz="900" dirty="0"/>
          </a:p>
        </p:txBody>
      </p:sp>
      <p:sp>
        <p:nvSpPr>
          <p:cNvPr id="6" name="Shape 4"/>
          <p:cNvSpPr/>
          <p:nvPr/>
        </p:nvSpPr>
        <p:spPr>
          <a:xfrm>
            <a:off x="548640" y="1371600"/>
            <a:ext cx="2331720" cy="329184"/>
          </a:xfrm>
          <a:prstGeom prst="roundRect">
            <a:avLst>
              <a:gd name="adj" fmla="val 11111"/>
            </a:avLst>
          </a:prstGeom>
          <a:solidFill>
            <a:srgbClr val="1B2A49"/>
          </a:solidFill>
          <a:ln/>
        </p:spPr>
      </p:sp>
      <p:sp>
        <p:nvSpPr>
          <p:cNvPr id="7" name="Text 5"/>
          <p:cNvSpPr txBox="1"/>
          <p:nvPr/>
        </p:nvSpPr>
        <p:spPr>
          <a:xfrm>
            <a:off x="548640" y="1371600"/>
            <a:ext cx="233172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方式</a:t>
            </a:r>
            <a:endParaRPr lang="en-US" sz="1050" dirty="0"/>
          </a:p>
        </p:txBody>
      </p:sp>
      <p:sp>
        <p:nvSpPr>
          <p:cNvPr id="8" name="Shape 6"/>
          <p:cNvSpPr/>
          <p:nvPr/>
        </p:nvSpPr>
        <p:spPr>
          <a:xfrm>
            <a:off x="2926080" y="1371600"/>
            <a:ext cx="3977640" cy="329184"/>
          </a:xfrm>
          <a:prstGeom prst="roundRect">
            <a:avLst>
              <a:gd name="adj" fmla="val 11111"/>
            </a:avLst>
          </a:prstGeom>
          <a:solidFill>
            <a:srgbClr val="1B2A49"/>
          </a:solidFill>
          <a:ln/>
        </p:spPr>
      </p:sp>
      <p:sp>
        <p:nvSpPr>
          <p:cNvPr id="9" name="Text 7"/>
          <p:cNvSpPr txBox="1"/>
          <p:nvPr/>
        </p:nvSpPr>
        <p:spPr>
          <a:xfrm>
            <a:off x="2926080" y="1371600"/>
            <a:ext cx="397764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流れ</a:t>
            </a:r>
            <a:endParaRPr lang="en-US" sz="1050" dirty="0"/>
          </a:p>
        </p:txBody>
      </p:sp>
      <p:sp>
        <p:nvSpPr>
          <p:cNvPr id="10" name="Shape 8"/>
          <p:cNvSpPr/>
          <p:nvPr/>
        </p:nvSpPr>
        <p:spPr>
          <a:xfrm>
            <a:off x="6949440" y="1371600"/>
            <a:ext cx="1417320" cy="329184"/>
          </a:xfrm>
          <a:prstGeom prst="roundRect">
            <a:avLst>
              <a:gd name="adj" fmla="val 11111"/>
            </a:avLst>
          </a:prstGeom>
          <a:solidFill>
            <a:srgbClr val="1B2A49"/>
          </a:solidFill>
          <a:ln/>
        </p:spPr>
      </p:sp>
      <p:sp>
        <p:nvSpPr>
          <p:cNvPr id="11" name="Text 9"/>
          <p:cNvSpPr txBox="1"/>
          <p:nvPr/>
        </p:nvSpPr>
        <p:spPr>
          <a:xfrm>
            <a:off x="6949440" y="1371600"/>
            <a:ext cx="141732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即時性</a:t>
            </a:r>
            <a:endParaRPr lang="en-US" sz="1050" dirty="0"/>
          </a:p>
        </p:txBody>
      </p:sp>
      <p:sp>
        <p:nvSpPr>
          <p:cNvPr id="12" name="Shape 10"/>
          <p:cNvSpPr/>
          <p:nvPr/>
        </p:nvSpPr>
        <p:spPr>
          <a:xfrm>
            <a:off x="8412480" y="1371600"/>
            <a:ext cx="1005840" cy="329184"/>
          </a:xfrm>
          <a:prstGeom prst="roundRect">
            <a:avLst>
              <a:gd name="adj" fmla="val 11111"/>
            </a:avLst>
          </a:prstGeom>
          <a:solidFill>
            <a:srgbClr val="1B2A49"/>
          </a:solidFill>
          <a:ln/>
        </p:spPr>
      </p:sp>
      <p:sp>
        <p:nvSpPr>
          <p:cNvPr id="13" name="Text 11"/>
          <p:cNvSpPr txBox="1"/>
          <p:nvPr/>
        </p:nvSpPr>
        <p:spPr>
          <a:xfrm>
            <a:off x="8412480" y="1371600"/>
            <a:ext cx="100584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難易度</a:t>
            </a:r>
            <a:endParaRPr lang="en-US" sz="1050" dirty="0"/>
          </a:p>
        </p:txBody>
      </p:sp>
      <p:sp>
        <p:nvSpPr>
          <p:cNvPr id="14" name="Shape 12"/>
          <p:cNvSpPr/>
          <p:nvPr/>
        </p:nvSpPr>
        <p:spPr>
          <a:xfrm>
            <a:off x="9464040" y="1371600"/>
            <a:ext cx="2148840" cy="329184"/>
          </a:xfrm>
          <a:prstGeom prst="roundRect">
            <a:avLst>
              <a:gd name="adj" fmla="val 11111"/>
            </a:avLst>
          </a:prstGeom>
          <a:solidFill>
            <a:srgbClr val="1B2A49"/>
          </a:solidFill>
          <a:ln/>
        </p:spPr>
      </p:sp>
      <p:sp>
        <p:nvSpPr>
          <p:cNvPr id="15" name="Text 13"/>
          <p:cNvSpPr txBox="1"/>
          <p:nvPr/>
        </p:nvSpPr>
        <p:spPr>
          <a:xfrm>
            <a:off x="9464040" y="1371600"/>
            <a:ext cx="214884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特徴・留意点</a:t>
            </a:r>
            <a:endParaRPr lang="en-US" sz="1050" dirty="0"/>
          </a:p>
        </p:txBody>
      </p:sp>
      <p:sp>
        <p:nvSpPr>
          <p:cNvPr id="16" name="Shape 14"/>
          <p:cNvSpPr/>
          <p:nvPr/>
        </p:nvSpPr>
        <p:spPr>
          <a:xfrm>
            <a:off x="548640" y="1783080"/>
            <a:ext cx="11064240" cy="585216"/>
          </a:xfrm>
          <a:prstGeom prst="roundRect">
            <a:avLst>
              <a:gd name="adj" fmla="val 7813"/>
            </a:avLst>
          </a:prstGeom>
          <a:solidFill>
            <a:srgbClr val="F3F5F8"/>
          </a:solidFill>
          <a:ln/>
        </p:spPr>
      </p:sp>
      <p:sp>
        <p:nvSpPr>
          <p:cNvPr id="17" name="Shape 15"/>
          <p:cNvSpPr/>
          <p:nvPr/>
        </p:nvSpPr>
        <p:spPr>
          <a:xfrm>
            <a:off x="640080" y="1892808"/>
            <a:ext cx="365760" cy="365760"/>
          </a:xfrm>
          <a:prstGeom prst="ellipse">
            <a:avLst/>
          </a:prstGeom>
          <a:solidFill>
            <a:srgbClr val="0E9F9A"/>
          </a:solidFill>
          <a:ln/>
        </p:spPr>
      </p:sp>
      <p:sp>
        <p:nvSpPr>
          <p:cNvPr id="18" name="Text 16"/>
          <p:cNvSpPr txBox="1"/>
          <p:nvPr/>
        </p:nvSpPr>
        <p:spPr>
          <a:xfrm>
            <a:off x="640080" y="189280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O1</a:t>
            </a:r>
            <a:endParaRPr lang="en-US" sz="1100" dirty="0"/>
          </a:p>
        </p:txBody>
      </p:sp>
      <p:sp>
        <p:nvSpPr>
          <p:cNvPr id="19" name="Text 17"/>
          <p:cNvSpPr txBox="1"/>
          <p:nvPr/>
        </p:nvSpPr>
        <p:spPr>
          <a:xfrm>
            <a:off x="1097280" y="178308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定期確認（ポーリング）</a:t>
            </a:r>
            <a:endParaRPr lang="en-US" sz="1050" dirty="0"/>
          </a:p>
        </p:txBody>
      </p:sp>
      <p:pic>
        <p:nvPicPr>
          <p:cNvPr id="20" name="Image 0" descr="preencoded.png">    </p:cNvPr>
          <p:cNvPicPr>
            <a:picLocks noChangeAspect="1"/>
          </p:cNvPicPr>
          <p:nvPr/>
        </p:nvPicPr>
        <p:blipFill>
          <a:blip r:embed="rId1"/>
          <a:stretch>
            <a:fillRect/>
          </a:stretch>
        </p:blipFill>
        <p:spPr>
          <a:xfrm>
            <a:off x="3319272" y="1810512"/>
            <a:ext cx="219456" cy="219456"/>
          </a:xfrm>
          <a:prstGeom prst="rect">
            <a:avLst/>
          </a:prstGeom>
        </p:spPr>
      </p:pic>
      <p:sp>
        <p:nvSpPr>
          <p:cNvPr id="21" name="Text 18"/>
          <p:cNvSpPr txBox="1"/>
          <p:nvPr/>
        </p:nvSpPr>
        <p:spPr>
          <a:xfrm>
            <a:off x="2944368" y="203911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Power Automate</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定期実行</a:t>
            </a:r>
            <a:endParaRPr lang="en-US" sz="650" dirty="0"/>
          </a:p>
        </p:txBody>
      </p:sp>
      <p:sp>
        <p:nvSpPr>
          <p:cNvPr id="22" name="Shape 19"/>
          <p:cNvSpPr/>
          <p:nvPr/>
        </p:nvSpPr>
        <p:spPr>
          <a:xfrm>
            <a:off x="3621024" y="1920240"/>
            <a:ext cx="585216" cy="0"/>
          </a:xfrm>
          <a:prstGeom prst="line">
            <a:avLst/>
          </a:prstGeom>
          <a:noFill/>
          <a:ln w="15875">
            <a:solidFill>
              <a:srgbClr val="9AA5B4"/>
            </a:solidFill>
            <a:prstDash val="solid"/>
            <a:tailEnd type="triangle"/>
          </a:ln>
        </p:spPr>
      </p:sp>
      <p:pic>
        <p:nvPicPr>
          <p:cNvPr id="23" name="Image 1" descr="preencoded.png">    </p:cNvPr>
          <p:cNvPicPr>
            <a:picLocks noChangeAspect="1"/>
          </p:cNvPicPr>
          <p:nvPr/>
        </p:nvPicPr>
        <p:blipFill>
          <a:blip r:embed="rId2"/>
          <a:stretch>
            <a:fillRect/>
          </a:stretch>
        </p:blipFill>
        <p:spPr>
          <a:xfrm>
            <a:off x="4306824" y="1810512"/>
            <a:ext cx="219456" cy="219456"/>
          </a:xfrm>
          <a:prstGeom prst="rect">
            <a:avLst/>
          </a:prstGeom>
        </p:spPr>
      </p:pic>
      <p:sp>
        <p:nvSpPr>
          <p:cNvPr id="24" name="Text 20"/>
          <p:cNvSpPr txBox="1"/>
          <p:nvPr/>
        </p:nvSpPr>
        <p:spPr>
          <a:xfrm>
            <a:off x="3931920" y="203911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Airtable</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起案待ちを取得</a:t>
            </a:r>
            <a:endParaRPr lang="en-US" sz="650" dirty="0"/>
          </a:p>
        </p:txBody>
      </p:sp>
      <p:sp>
        <p:nvSpPr>
          <p:cNvPr id="25" name="Shape 21"/>
          <p:cNvSpPr/>
          <p:nvPr/>
        </p:nvSpPr>
        <p:spPr>
          <a:xfrm>
            <a:off x="4608576" y="1920240"/>
            <a:ext cx="585216" cy="0"/>
          </a:xfrm>
          <a:prstGeom prst="line">
            <a:avLst/>
          </a:prstGeom>
          <a:noFill/>
          <a:ln w="15875">
            <a:solidFill>
              <a:srgbClr val="9AA5B4"/>
            </a:solidFill>
            <a:prstDash val="solid"/>
            <a:tailEnd type="triangle"/>
          </a:ln>
        </p:spPr>
      </p:sp>
      <p:pic>
        <p:nvPicPr>
          <p:cNvPr id="26" name="Image 2" descr="preencoded.png">    </p:cNvPr>
          <p:cNvPicPr>
            <a:picLocks noChangeAspect="1"/>
          </p:cNvPicPr>
          <p:nvPr/>
        </p:nvPicPr>
        <p:blipFill>
          <a:blip r:embed="rId3"/>
          <a:stretch>
            <a:fillRect/>
          </a:stretch>
        </p:blipFill>
        <p:spPr>
          <a:xfrm>
            <a:off x="5294376" y="1810512"/>
            <a:ext cx="219456" cy="219456"/>
          </a:xfrm>
          <a:prstGeom prst="rect">
            <a:avLst/>
          </a:prstGeom>
        </p:spPr>
      </p:pic>
      <p:sp>
        <p:nvSpPr>
          <p:cNvPr id="27" name="Text 22"/>
          <p:cNvSpPr txBox="1"/>
          <p:nvPr/>
        </p:nvSpPr>
        <p:spPr>
          <a:xfrm>
            <a:off x="4919472" y="203911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Copilot Studio</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Execute Agent</a:t>
            </a:r>
            <a:endParaRPr lang="en-US" sz="650" dirty="0"/>
          </a:p>
        </p:txBody>
      </p:sp>
      <p:sp>
        <p:nvSpPr>
          <p:cNvPr id="28" name="Shape 23"/>
          <p:cNvSpPr/>
          <p:nvPr/>
        </p:nvSpPr>
        <p:spPr>
          <a:xfrm>
            <a:off x="5596128" y="1920240"/>
            <a:ext cx="585216" cy="0"/>
          </a:xfrm>
          <a:prstGeom prst="line">
            <a:avLst/>
          </a:prstGeom>
          <a:noFill/>
          <a:ln w="15875">
            <a:solidFill>
              <a:srgbClr val="9AA5B4"/>
            </a:solidFill>
            <a:prstDash val="solid"/>
            <a:tailEnd type="triangle"/>
          </a:ln>
        </p:spPr>
      </p:sp>
      <p:pic>
        <p:nvPicPr>
          <p:cNvPr id="29" name="Image 3" descr="preencoded.png">    </p:cNvPr>
          <p:cNvPicPr>
            <a:picLocks noChangeAspect="1"/>
          </p:cNvPicPr>
          <p:nvPr/>
        </p:nvPicPr>
        <p:blipFill>
          <a:blip r:embed="rId4"/>
          <a:stretch>
            <a:fillRect/>
          </a:stretch>
        </p:blipFill>
        <p:spPr>
          <a:xfrm>
            <a:off x="6281928" y="1810512"/>
            <a:ext cx="219456" cy="219456"/>
          </a:xfrm>
          <a:prstGeom prst="rect">
            <a:avLst/>
          </a:prstGeom>
        </p:spPr>
      </p:pic>
      <p:sp>
        <p:nvSpPr>
          <p:cNvPr id="30" name="Text 24"/>
          <p:cNvSpPr txBox="1"/>
          <p:nvPr/>
        </p:nvSpPr>
        <p:spPr>
          <a:xfrm>
            <a:off x="5907024" y="203911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Airtable</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下書きに書込</a:t>
            </a:r>
            <a:endParaRPr lang="en-US" sz="650" dirty="0"/>
          </a:p>
        </p:txBody>
      </p:sp>
      <p:sp>
        <p:nvSpPr>
          <p:cNvPr id="31" name="Text 25"/>
          <p:cNvSpPr txBox="1"/>
          <p:nvPr/>
        </p:nvSpPr>
        <p:spPr>
          <a:xfrm>
            <a:off x="6949440" y="178308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数分（実行間隔による）</a:t>
            </a:r>
            <a:endParaRPr lang="en-US" sz="950" dirty="0"/>
          </a:p>
        </p:txBody>
      </p:sp>
      <p:sp>
        <p:nvSpPr>
          <p:cNvPr id="32" name="Text 26"/>
          <p:cNvSpPr txBox="1"/>
          <p:nvPr/>
        </p:nvSpPr>
        <p:spPr>
          <a:xfrm>
            <a:off x="8412480" y="178308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33" name="Text 27"/>
          <p:cNvSpPr txBox="1"/>
          <p:nvPr/>
        </p:nvSpPr>
        <p:spPr>
          <a:xfrm>
            <a:off x="9509760" y="178308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外部に受け口を公開しないため安全で壊れにくい。即時性は低い（次ページ）</a:t>
            </a:r>
            <a:endParaRPr lang="en-US" sz="900" dirty="0"/>
          </a:p>
        </p:txBody>
      </p:sp>
      <p:sp>
        <p:nvSpPr>
          <p:cNvPr id="34" name="Shape 28"/>
          <p:cNvSpPr/>
          <p:nvPr/>
        </p:nvSpPr>
        <p:spPr>
          <a:xfrm>
            <a:off x="548640" y="2423160"/>
            <a:ext cx="11064240" cy="585216"/>
          </a:xfrm>
          <a:prstGeom prst="roundRect">
            <a:avLst>
              <a:gd name="adj" fmla="val 7813"/>
            </a:avLst>
          </a:prstGeom>
          <a:solidFill>
            <a:srgbClr val="FFFFFF"/>
          </a:solidFill>
          <a:ln/>
        </p:spPr>
      </p:sp>
      <p:sp>
        <p:nvSpPr>
          <p:cNvPr id="35" name="Shape 29"/>
          <p:cNvSpPr/>
          <p:nvPr/>
        </p:nvSpPr>
        <p:spPr>
          <a:xfrm>
            <a:off x="640080" y="2532888"/>
            <a:ext cx="365760" cy="365760"/>
          </a:xfrm>
          <a:prstGeom prst="ellipse">
            <a:avLst/>
          </a:prstGeom>
          <a:solidFill>
            <a:srgbClr val="0E9F9A"/>
          </a:solidFill>
          <a:ln/>
        </p:spPr>
      </p:sp>
      <p:sp>
        <p:nvSpPr>
          <p:cNvPr id="36" name="Text 30"/>
          <p:cNvSpPr txBox="1"/>
          <p:nvPr/>
        </p:nvSpPr>
        <p:spPr>
          <a:xfrm>
            <a:off x="640080" y="253288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O2</a:t>
            </a:r>
            <a:endParaRPr lang="en-US" sz="1100" dirty="0"/>
          </a:p>
        </p:txBody>
      </p:sp>
      <p:sp>
        <p:nvSpPr>
          <p:cNvPr id="37" name="Text 31"/>
          <p:cNvSpPr txBox="1"/>
          <p:nvPr/>
        </p:nvSpPr>
        <p:spPr>
          <a:xfrm>
            <a:off x="1097280" y="242316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スクリプトでフローを起動</a:t>
            </a:r>
            <a:endParaRPr lang="en-US" sz="1050" dirty="0"/>
          </a:p>
        </p:txBody>
      </p:sp>
      <p:pic>
        <p:nvPicPr>
          <p:cNvPr id="38" name="Image 4" descr="preencoded.png">    </p:cNvPr>
          <p:cNvPicPr>
            <a:picLocks noChangeAspect="1"/>
          </p:cNvPicPr>
          <p:nvPr/>
        </p:nvPicPr>
        <p:blipFill>
          <a:blip r:embed="rId5"/>
          <a:stretch>
            <a:fillRect/>
          </a:stretch>
        </p:blipFill>
        <p:spPr>
          <a:xfrm>
            <a:off x="3319272" y="2450592"/>
            <a:ext cx="219456" cy="219456"/>
          </a:xfrm>
          <a:prstGeom prst="rect">
            <a:avLst/>
          </a:prstGeom>
        </p:spPr>
      </p:pic>
      <p:sp>
        <p:nvSpPr>
          <p:cNvPr id="39" name="Text 32"/>
          <p:cNvSpPr txBox="1"/>
          <p:nvPr/>
        </p:nvSpPr>
        <p:spPr>
          <a:xfrm>
            <a:off x="2944368" y="267919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Airtable</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スクリプト</a:t>
            </a:r>
            <a:endParaRPr lang="en-US" sz="650" dirty="0"/>
          </a:p>
        </p:txBody>
      </p:sp>
      <p:sp>
        <p:nvSpPr>
          <p:cNvPr id="40" name="Shape 33"/>
          <p:cNvSpPr/>
          <p:nvPr/>
        </p:nvSpPr>
        <p:spPr>
          <a:xfrm>
            <a:off x="3621024" y="2560320"/>
            <a:ext cx="585216" cy="0"/>
          </a:xfrm>
          <a:prstGeom prst="line">
            <a:avLst/>
          </a:prstGeom>
          <a:noFill/>
          <a:ln w="15875">
            <a:solidFill>
              <a:srgbClr val="9AA5B4"/>
            </a:solidFill>
            <a:prstDash val="solid"/>
            <a:tailEnd type="triangle"/>
          </a:ln>
        </p:spPr>
      </p:sp>
      <p:pic>
        <p:nvPicPr>
          <p:cNvPr id="41" name="Image 5" descr="preencoded.png">    </p:cNvPr>
          <p:cNvPicPr>
            <a:picLocks noChangeAspect="1"/>
          </p:cNvPicPr>
          <p:nvPr/>
        </p:nvPicPr>
        <p:blipFill>
          <a:blip r:embed="rId6"/>
          <a:stretch>
            <a:fillRect/>
          </a:stretch>
        </p:blipFill>
        <p:spPr>
          <a:xfrm>
            <a:off x="4306824" y="2450592"/>
            <a:ext cx="219456" cy="219456"/>
          </a:xfrm>
          <a:prstGeom prst="rect">
            <a:avLst/>
          </a:prstGeom>
        </p:spPr>
      </p:pic>
      <p:sp>
        <p:nvSpPr>
          <p:cNvPr id="42" name="Text 34"/>
          <p:cNvSpPr txBox="1"/>
          <p:nvPr/>
        </p:nvSpPr>
        <p:spPr>
          <a:xfrm>
            <a:off x="3931920" y="267919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Power Automate</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HTTPトリガー</a:t>
            </a:r>
            <a:endParaRPr lang="en-US" sz="650" dirty="0"/>
          </a:p>
        </p:txBody>
      </p:sp>
      <p:sp>
        <p:nvSpPr>
          <p:cNvPr id="43" name="Shape 35"/>
          <p:cNvSpPr/>
          <p:nvPr/>
        </p:nvSpPr>
        <p:spPr>
          <a:xfrm>
            <a:off x="4608576" y="2560320"/>
            <a:ext cx="585216" cy="0"/>
          </a:xfrm>
          <a:prstGeom prst="line">
            <a:avLst/>
          </a:prstGeom>
          <a:noFill/>
          <a:ln w="15875">
            <a:solidFill>
              <a:srgbClr val="9AA5B4"/>
            </a:solidFill>
            <a:prstDash val="solid"/>
            <a:tailEnd type="triangle"/>
          </a:ln>
        </p:spPr>
      </p:sp>
      <p:pic>
        <p:nvPicPr>
          <p:cNvPr id="44" name="Image 6" descr="preencoded.png">    </p:cNvPr>
          <p:cNvPicPr>
            <a:picLocks noChangeAspect="1"/>
          </p:cNvPicPr>
          <p:nvPr/>
        </p:nvPicPr>
        <p:blipFill>
          <a:blip r:embed="rId7"/>
          <a:stretch>
            <a:fillRect/>
          </a:stretch>
        </p:blipFill>
        <p:spPr>
          <a:xfrm>
            <a:off x="5294376" y="2450592"/>
            <a:ext cx="219456" cy="219456"/>
          </a:xfrm>
          <a:prstGeom prst="rect">
            <a:avLst/>
          </a:prstGeom>
        </p:spPr>
      </p:pic>
      <p:sp>
        <p:nvSpPr>
          <p:cNvPr id="45" name="Text 36"/>
          <p:cNvSpPr txBox="1"/>
          <p:nvPr/>
        </p:nvSpPr>
        <p:spPr>
          <a:xfrm>
            <a:off x="4919472" y="267919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Copilot Studio</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Execute Agent</a:t>
            </a:r>
            <a:endParaRPr lang="en-US" sz="650" dirty="0"/>
          </a:p>
        </p:txBody>
      </p:sp>
      <p:sp>
        <p:nvSpPr>
          <p:cNvPr id="46" name="Shape 37"/>
          <p:cNvSpPr/>
          <p:nvPr/>
        </p:nvSpPr>
        <p:spPr>
          <a:xfrm>
            <a:off x="5596128" y="2560320"/>
            <a:ext cx="585216" cy="0"/>
          </a:xfrm>
          <a:prstGeom prst="line">
            <a:avLst/>
          </a:prstGeom>
          <a:noFill/>
          <a:ln w="15875">
            <a:solidFill>
              <a:srgbClr val="9AA5B4"/>
            </a:solidFill>
            <a:prstDash val="solid"/>
            <a:tailEnd type="triangle"/>
          </a:ln>
        </p:spPr>
      </p:sp>
      <p:pic>
        <p:nvPicPr>
          <p:cNvPr id="47" name="Image 7" descr="preencoded.png">    </p:cNvPr>
          <p:cNvPicPr>
            <a:picLocks noChangeAspect="1"/>
          </p:cNvPicPr>
          <p:nvPr/>
        </p:nvPicPr>
        <p:blipFill>
          <a:blip r:embed="rId8"/>
          <a:stretch>
            <a:fillRect/>
          </a:stretch>
        </p:blipFill>
        <p:spPr>
          <a:xfrm>
            <a:off x="6281928" y="2450592"/>
            <a:ext cx="219456" cy="219456"/>
          </a:xfrm>
          <a:prstGeom prst="rect">
            <a:avLst/>
          </a:prstGeom>
        </p:spPr>
      </p:pic>
      <p:sp>
        <p:nvSpPr>
          <p:cNvPr id="48" name="Text 38"/>
          <p:cNvSpPr txBox="1"/>
          <p:nvPr/>
        </p:nvSpPr>
        <p:spPr>
          <a:xfrm>
            <a:off x="5907024" y="267919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Airtable</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下書きに書込</a:t>
            </a:r>
            <a:endParaRPr lang="en-US" sz="650" dirty="0"/>
          </a:p>
        </p:txBody>
      </p:sp>
      <p:sp>
        <p:nvSpPr>
          <p:cNvPr id="49" name="Text 39"/>
          <p:cNvSpPr txBox="1"/>
          <p:nvPr/>
        </p:nvSpPr>
        <p:spPr>
          <a:xfrm>
            <a:off x="6949440" y="242316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数十秒〜数分</a:t>
            </a:r>
            <a:endParaRPr lang="en-US" sz="950" dirty="0"/>
          </a:p>
        </p:txBody>
      </p:sp>
      <p:sp>
        <p:nvSpPr>
          <p:cNvPr id="50" name="Text 40"/>
          <p:cNvSpPr txBox="1"/>
          <p:nvPr/>
        </p:nvSpPr>
        <p:spPr>
          <a:xfrm>
            <a:off x="8412480" y="242316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51" name="Text 41"/>
          <p:cNvSpPr txBox="1"/>
          <p:nvPr/>
        </p:nvSpPr>
        <p:spPr>
          <a:xfrm>
            <a:off x="9509760" y="242316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即時性と確実さのバランスが良い。外部から呼べる設定が前提</a:t>
            </a:r>
            <a:endParaRPr lang="en-US" sz="900" dirty="0"/>
          </a:p>
        </p:txBody>
      </p:sp>
      <p:sp>
        <p:nvSpPr>
          <p:cNvPr id="52" name="Shape 42"/>
          <p:cNvSpPr/>
          <p:nvPr/>
        </p:nvSpPr>
        <p:spPr>
          <a:xfrm>
            <a:off x="548640" y="3063240"/>
            <a:ext cx="11064240" cy="585216"/>
          </a:xfrm>
          <a:prstGeom prst="roundRect">
            <a:avLst>
              <a:gd name="adj" fmla="val 7813"/>
            </a:avLst>
          </a:prstGeom>
          <a:solidFill>
            <a:srgbClr val="F3F5F8"/>
          </a:solidFill>
          <a:ln/>
        </p:spPr>
      </p:sp>
      <p:sp>
        <p:nvSpPr>
          <p:cNvPr id="53" name="Shape 43"/>
          <p:cNvSpPr/>
          <p:nvPr/>
        </p:nvSpPr>
        <p:spPr>
          <a:xfrm>
            <a:off x="640080" y="3172968"/>
            <a:ext cx="365760" cy="365760"/>
          </a:xfrm>
          <a:prstGeom prst="ellipse">
            <a:avLst/>
          </a:prstGeom>
          <a:solidFill>
            <a:srgbClr val="0E9F9A"/>
          </a:solidFill>
          <a:ln/>
        </p:spPr>
      </p:sp>
      <p:sp>
        <p:nvSpPr>
          <p:cNvPr id="54" name="Text 44"/>
          <p:cNvSpPr txBox="1"/>
          <p:nvPr/>
        </p:nvSpPr>
        <p:spPr>
          <a:xfrm>
            <a:off x="640080" y="317296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O3</a:t>
            </a:r>
            <a:endParaRPr lang="en-US" sz="1100" dirty="0"/>
          </a:p>
        </p:txBody>
      </p:sp>
      <p:sp>
        <p:nvSpPr>
          <p:cNvPr id="55" name="Text 45"/>
          <p:cNvSpPr txBox="1"/>
          <p:nvPr/>
        </p:nvSpPr>
        <p:spPr>
          <a:xfrm>
            <a:off x="1097280" y="306324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エージェントのイベントトリガー</a:t>
            </a:r>
            <a:endParaRPr lang="en-US" sz="1050" dirty="0"/>
          </a:p>
        </p:txBody>
      </p:sp>
      <p:pic>
        <p:nvPicPr>
          <p:cNvPr id="56" name="Image 8" descr="preencoded.png">    </p:cNvPr>
          <p:cNvPicPr>
            <a:picLocks noChangeAspect="1"/>
          </p:cNvPicPr>
          <p:nvPr/>
        </p:nvPicPr>
        <p:blipFill>
          <a:blip r:embed="rId9"/>
          <a:stretch>
            <a:fillRect/>
          </a:stretch>
        </p:blipFill>
        <p:spPr>
          <a:xfrm>
            <a:off x="3319272" y="3090672"/>
            <a:ext cx="219456" cy="219456"/>
          </a:xfrm>
          <a:prstGeom prst="rect">
            <a:avLst/>
          </a:prstGeom>
        </p:spPr>
      </p:pic>
      <p:sp>
        <p:nvSpPr>
          <p:cNvPr id="57" name="Text 46"/>
          <p:cNvSpPr txBox="1"/>
          <p:nvPr/>
        </p:nvSpPr>
        <p:spPr>
          <a:xfrm>
            <a:off x="2944368" y="331927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Airtable</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スクリプト</a:t>
            </a:r>
            <a:endParaRPr lang="en-US" sz="650" dirty="0"/>
          </a:p>
        </p:txBody>
      </p:sp>
      <p:sp>
        <p:nvSpPr>
          <p:cNvPr id="58" name="Shape 47"/>
          <p:cNvSpPr/>
          <p:nvPr/>
        </p:nvSpPr>
        <p:spPr>
          <a:xfrm>
            <a:off x="3621024" y="3200400"/>
            <a:ext cx="585216" cy="0"/>
          </a:xfrm>
          <a:prstGeom prst="line">
            <a:avLst/>
          </a:prstGeom>
          <a:noFill/>
          <a:ln w="15875">
            <a:solidFill>
              <a:srgbClr val="9AA5B4"/>
            </a:solidFill>
            <a:prstDash val="solid"/>
            <a:tailEnd type="triangle"/>
          </a:ln>
        </p:spPr>
      </p:sp>
      <p:pic>
        <p:nvPicPr>
          <p:cNvPr id="59" name="Image 9" descr="preencoded.png">    </p:cNvPr>
          <p:cNvPicPr>
            <a:picLocks noChangeAspect="1"/>
          </p:cNvPicPr>
          <p:nvPr/>
        </p:nvPicPr>
        <p:blipFill>
          <a:blip r:embed="rId10"/>
          <a:stretch>
            <a:fillRect/>
          </a:stretch>
        </p:blipFill>
        <p:spPr>
          <a:xfrm>
            <a:off x="4306824" y="3090672"/>
            <a:ext cx="219456" cy="219456"/>
          </a:xfrm>
          <a:prstGeom prst="rect">
            <a:avLst/>
          </a:prstGeom>
        </p:spPr>
      </p:pic>
      <p:sp>
        <p:nvSpPr>
          <p:cNvPr id="60" name="Text 48"/>
          <p:cNvSpPr txBox="1"/>
          <p:nvPr/>
        </p:nvSpPr>
        <p:spPr>
          <a:xfrm>
            <a:off x="3931920" y="331927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Power Automate</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HTTPトリガー</a:t>
            </a:r>
            <a:endParaRPr lang="en-US" sz="650" dirty="0"/>
          </a:p>
        </p:txBody>
      </p:sp>
      <p:sp>
        <p:nvSpPr>
          <p:cNvPr id="61" name="Shape 49"/>
          <p:cNvSpPr/>
          <p:nvPr/>
        </p:nvSpPr>
        <p:spPr>
          <a:xfrm>
            <a:off x="4608576" y="3200400"/>
            <a:ext cx="585216" cy="0"/>
          </a:xfrm>
          <a:prstGeom prst="line">
            <a:avLst/>
          </a:prstGeom>
          <a:noFill/>
          <a:ln w="15875">
            <a:solidFill>
              <a:srgbClr val="9AA5B4"/>
            </a:solidFill>
            <a:prstDash val="solid"/>
            <a:tailEnd type="triangle"/>
          </a:ln>
        </p:spPr>
      </p:sp>
      <p:pic>
        <p:nvPicPr>
          <p:cNvPr id="62" name="Image 10" descr="preencoded.png">    </p:cNvPr>
          <p:cNvPicPr>
            <a:picLocks noChangeAspect="1"/>
          </p:cNvPicPr>
          <p:nvPr/>
        </p:nvPicPr>
        <p:blipFill>
          <a:blip r:embed="rId11"/>
          <a:stretch>
            <a:fillRect/>
          </a:stretch>
        </p:blipFill>
        <p:spPr>
          <a:xfrm>
            <a:off x="5294376" y="3090672"/>
            <a:ext cx="219456" cy="219456"/>
          </a:xfrm>
          <a:prstGeom prst="rect">
            <a:avLst/>
          </a:prstGeom>
        </p:spPr>
      </p:pic>
      <p:sp>
        <p:nvSpPr>
          <p:cNvPr id="63" name="Text 50"/>
          <p:cNvSpPr txBox="1"/>
          <p:nvPr/>
        </p:nvSpPr>
        <p:spPr>
          <a:xfrm>
            <a:off x="4919472" y="331927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Copilot Studio</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自律エージェント</a:t>
            </a:r>
            <a:endParaRPr lang="en-US" sz="650" dirty="0"/>
          </a:p>
        </p:txBody>
      </p:sp>
      <p:sp>
        <p:nvSpPr>
          <p:cNvPr id="64" name="Shape 51"/>
          <p:cNvSpPr/>
          <p:nvPr/>
        </p:nvSpPr>
        <p:spPr>
          <a:xfrm>
            <a:off x="5596128" y="3200400"/>
            <a:ext cx="585216" cy="0"/>
          </a:xfrm>
          <a:prstGeom prst="line">
            <a:avLst/>
          </a:prstGeom>
          <a:noFill/>
          <a:ln w="15875">
            <a:solidFill>
              <a:srgbClr val="9AA5B4"/>
            </a:solidFill>
            <a:prstDash val="solid"/>
            <a:tailEnd type="triangle"/>
          </a:ln>
        </p:spPr>
      </p:sp>
      <p:pic>
        <p:nvPicPr>
          <p:cNvPr id="65" name="Image 11" descr="preencoded.png">    </p:cNvPr>
          <p:cNvPicPr>
            <a:picLocks noChangeAspect="1"/>
          </p:cNvPicPr>
          <p:nvPr/>
        </p:nvPicPr>
        <p:blipFill>
          <a:blip r:embed="rId12"/>
          <a:stretch>
            <a:fillRect/>
          </a:stretch>
        </p:blipFill>
        <p:spPr>
          <a:xfrm>
            <a:off x="6281928" y="3090672"/>
            <a:ext cx="219456" cy="219456"/>
          </a:xfrm>
          <a:prstGeom prst="rect">
            <a:avLst/>
          </a:prstGeom>
        </p:spPr>
      </p:pic>
      <p:sp>
        <p:nvSpPr>
          <p:cNvPr id="66" name="Text 52"/>
          <p:cNvSpPr txBox="1"/>
          <p:nvPr/>
        </p:nvSpPr>
        <p:spPr>
          <a:xfrm>
            <a:off x="5907024" y="331927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エージェント</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ツールで書込</a:t>
            </a:r>
            <a:endParaRPr lang="en-US" sz="650" dirty="0"/>
          </a:p>
        </p:txBody>
      </p:sp>
      <p:sp>
        <p:nvSpPr>
          <p:cNvPr id="67" name="Text 53"/>
          <p:cNvSpPr txBox="1"/>
          <p:nvPr/>
        </p:nvSpPr>
        <p:spPr>
          <a:xfrm>
            <a:off x="6949440" y="306324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数十秒〜数分</a:t>
            </a:r>
            <a:endParaRPr lang="en-US" sz="950" dirty="0"/>
          </a:p>
        </p:txBody>
      </p:sp>
      <p:sp>
        <p:nvSpPr>
          <p:cNvPr id="68" name="Text 54"/>
          <p:cNvSpPr txBox="1"/>
          <p:nvPr/>
        </p:nvSpPr>
        <p:spPr>
          <a:xfrm>
            <a:off x="8412480" y="306324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69" name="Text 55"/>
          <p:cNvSpPr txBox="1"/>
          <p:nvPr/>
        </p:nvSpPr>
        <p:spPr>
          <a:xfrm>
            <a:off x="9509760" y="306324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エージェントが自律的に処理。書き込みの確実さはフローより制御しにくい</a:t>
            </a:r>
            <a:endParaRPr lang="en-US" sz="900" dirty="0"/>
          </a:p>
        </p:txBody>
      </p:sp>
      <p:sp>
        <p:nvSpPr>
          <p:cNvPr id="70" name="Shape 56"/>
          <p:cNvSpPr/>
          <p:nvPr/>
        </p:nvSpPr>
        <p:spPr>
          <a:xfrm>
            <a:off x="548640" y="3703320"/>
            <a:ext cx="11064240" cy="585216"/>
          </a:xfrm>
          <a:prstGeom prst="roundRect">
            <a:avLst>
              <a:gd name="adj" fmla="val 7813"/>
            </a:avLst>
          </a:prstGeom>
          <a:solidFill>
            <a:srgbClr val="FFFFFF"/>
          </a:solidFill>
          <a:ln/>
        </p:spPr>
      </p:sp>
      <p:sp>
        <p:nvSpPr>
          <p:cNvPr id="71" name="Shape 57"/>
          <p:cNvSpPr/>
          <p:nvPr/>
        </p:nvSpPr>
        <p:spPr>
          <a:xfrm>
            <a:off x="640080" y="3813048"/>
            <a:ext cx="365760" cy="365760"/>
          </a:xfrm>
          <a:prstGeom prst="ellipse">
            <a:avLst/>
          </a:prstGeom>
          <a:solidFill>
            <a:srgbClr val="0E9F9A"/>
          </a:solidFill>
          <a:ln/>
        </p:spPr>
      </p:sp>
      <p:sp>
        <p:nvSpPr>
          <p:cNvPr id="72" name="Text 58"/>
          <p:cNvSpPr txBox="1"/>
          <p:nvPr/>
        </p:nvSpPr>
        <p:spPr>
          <a:xfrm>
            <a:off x="640080" y="381304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O4</a:t>
            </a:r>
            <a:endParaRPr lang="en-US" sz="1100" dirty="0"/>
          </a:p>
        </p:txBody>
      </p:sp>
      <p:sp>
        <p:nvSpPr>
          <p:cNvPr id="73" name="Text 59"/>
          <p:cNvSpPr txBox="1"/>
          <p:nvPr/>
        </p:nvSpPr>
        <p:spPr>
          <a:xfrm>
            <a:off x="1097280" y="370332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Direct Lineで直接呼ぶ</a:t>
            </a:r>
            <a:endParaRPr lang="en-US" sz="1050" dirty="0"/>
          </a:p>
        </p:txBody>
      </p:sp>
      <p:pic>
        <p:nvPicPr>
          <p:cNvPr id="74" name="Image 12" descr="preencoded.png">    </p:cNvPr>
          <p:cNvPicPr>
            <a:picLocks noChangeAspect="1"/>
          </p:cNvPicPr>
          <p:nvPr/>
        </p:nvPicPr>
        <p:blipFill>
          <a:blip r:embed="rId13"/>
          <a:stretch>
            <a:fillRect/>
          </a:stretch>
        </p:blipFill>
        <p:spPr>
          <a:xfrm>
            <a:off x="3319272" y="3730752"/>
            <a:ext cx="219456" cy="219456"/>
          </a:xfrm>
          <a:prstGeom prst="rect">
            <a:avLst/>
          </a:prstGeom>
        </p:spPr>
      </p:pic>
      <p:sp>
        <p:nvSpPr>
          <p:cNvPr id="75" name="Text 60"/>
          <p:cNvSpPr txBox="1"/>
          <p:nvPr/>
        </p:nvSpPr>
        <p:spPr>
          <a:xfrm>
            <a:off x="2944368" y="395935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Airtable</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スクリプト</a:t>
            </a:r>
            <a:endParaRPr lang="en-US" sz="650" dirty="0"/>
          </a:p>
        </p:txBody>
      </p:sp>
      <p:sp>
        <p:nvSpPr>
          <p:cNvPr id="76" name="Shape 61"/>
          <p:cNvSpPr/>
          <p:nvPr/>
        </p:nvSpPr>
        <p:spPr>
          <a:xfrm>
            <a:off x="3621024" y="3840480"/>
            <a:ext cx="585216" cy="0"/>
          </a:xfrm>
          <a:prstGeom prst="line">
            <a:avLst/>
          </a:prstGeom>
          <a:noFill/>
          <a:ln w="15875">
            <a:solidFill>
              <a:srgbClr val="9AA5B4"/>
            </a:solidFill>
            <a:prstDash val="solid"/>
            <a:tailEnd type="triangle"/>
          </a:ln>
        </p:spPr>
      </p:sp>
      <p:pic>
        <p:nvPicPr>
          <p:cNvPr id="77" name="Image 13" descr="preencoded.png">    </p:cNvPr>
          <p:cNvPicPr>
            <a:picLocks noChangeAspect="1"/>
          </p:cNvPicPr>
          <p:nvPr/>
        </p:nvPicPr>
        <p:blipFill>
          <a:blip r:embed="rId14"/>
          <a:stretch>
            <a:fillRect/>
          </a:stretch>
        </p:blipFill>
        <p:spPr>
          <a:xfrm>
            <a:off x="4306824" y="3730752"/>
            <a:ext cx="219456" cy="219456"/>
          </a:xfrm>
          <a:prstGeom prst="rect">
            <a:avLst/>
          </a:prstGeom>
        </p:spPr>
      </p:pic>
      <p:sp>
        <p:nvSpPr>
          <p:cNvPr id="78" name="Text 62"/>
          <p:cNvSpPr txBox="1"/>
          <p:nvPr/>
        </p:nvSpPr>
        <p:spPr>
          <a:xfrm>
            <a:off x="3931920" y="395935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Copilot Studio</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Direct Line</a:t>
            </a:r>
            <a:endParaRPr lang="en-US" sz="650" dirty="0"/>
          </a:p>
        </p:txBody>
      </p:sp>
      <p:sp>
        <p:nvSpPr>
          <p:cNvPr id="79" name="Shape 63"/>
          <p:cNvSpPr/>
          <p:nvPr/>
        </p:nvSpPr>
        <p:spPr>
          <a:xfrm>
            <a:off x="4608576" y="3840480"/>
            <a:ext cx="585216" cy="0"/>
          </a:xfrm>
          <a:prstGeom prst="line">
            <a:avLst/>
          </a:prstGeom>
          <a:noFill/>
          <a:ln w="15875">
            <a:solidFill>
              <a:srgbClr val="9AA5B4"/>
            </a:solidFill>
            <a:prstDash val="solid"/>
            <a:tailEnd type="triangle"/>
          </a:ln>
        </p:spPr>
      </p:sp>
      <p:pic>
        <p:nvPicPr>
          <p:cNvPr id="80" name="Image 14" descr="preencoded.png">    </p:cNvPr>
          <p:cNvPicPr>
            <a:picLocks noChangeAspect="1"/>
          </p:cNvPicPr>
          <p:nvPr/>
        </p:nvPicPr>
        <p:blipFill>
          <a:blip r:embed="rId15"/>
          <a:stretch>
            <a:fillRect/>
          </a:stretch>
        </p:blipFill>
        <p:spPr>
          <a:xfrm>
            <a:off x="5294376" y="3730752"/>
            <a:ext cx="219456" cy="219456"/>
          </a:xfrm>
          <a:prstGeom prst="rect">
            <a:avLst/>
          </a:prstGeom>
        </p:spPr>
      </p:pic>
      <p:sp>
        <p:nvSpPr>
          <p:cNvPr id="81" name="Text 64"/>
          <p:cNvSpPr txBox="1"/>
          <p:nvPr/>
        </p:nvSpPr>
        <p:spPr>
          <a:xfrm>
            <a:off x="4919472" y="395935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Airtable</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同期で更新</a:t>
            </a:r>
            <a:endParaRPr lang="en-US" sz="650" dirty="0"/>
          </a:p>
        </p:txBody>
      </p:sp>
      <p:sp>
        <p:nvSpPr>
          <p:cNvPr id="82" name="Text 65"/>
          <p:cNvSpPr txBox="1"/>
          <p:nvPr/>
        </p:nvSpPr>
        <p:spPr>
          <a:xfrm>
            <a:off x="6949440" y="370332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即時（30秒以内に終わる場合）</a:t>
            </a:r>
            <a:endParaRPr lang="en-US" sz="950" dirty="0"/>
          </a:p>
        </p:txBody>
      </p:sp>
      <p:sp>
        <p:nvSpPr>
          <p:cNvPr id="83" name="Text 66"/>
          <p:cNvSpPr txBox="1"/>
          <p:nvPr/>
        </p:nvSpPr>
        <p:spPr>
          <a:xfrm>
            <a:off x="8412480" y="370332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84" name="Text 67"/>
          <p:cNvSpPr txBox="1"/>
          <p:nvPr/>
        </p:nvSpPr>
        <p:spPr>
          <a:xfrm>
            <a:off x="9509760" y="370332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4段階のAPI呼び出しと秘密鍵の管理が必要。時間制限に当たりやすい</a:t>
            </a:r>
            <a:endParaRPr lang="en-US" sz="900" dirty="0"/>
          </a:p>
        </p:txBody>
      </p:sp>
      <p:sp>
        <p:nvSpPr>
          <p:cNvPr id="85" name="Shape 68"/>
          <p:cNvSpPr/>
          <p:nvPr/>
        </p:nvSpPr>
        <p:spPr>
          <a:xfrm>
            <a:off x="548640" y="4343400"/>
            <a:ext cx="11064240" cy="585216"/>
          </a:xfrm>
          <a:prstGeom prst="roundRect">
            <a:avLst>
              <a:gd name="adj" fmla="val 7813"/>
            </a:avLst>
          </a:prstGeom>
          <a:solidFill>
            <a:srgbClr val="F3F5F8"/>
          </a:solidFill>
          <a:ln/>
        </p:spPr>
      </p:sp>
      <p:sp>
        <p:nvSpPr>
          <p:cNvPr id="86" name="Shape 69"/>
          <p:cNvSpPr/>
          <p:nvPr/>
        </p:nvSpPr>
        <p:spPr>
          <a:xfrm>
            <a:off x="640080" y="4453128"/>
            <a:ext cx="365760" cy="365760"/>
          </a:xfrm>
          <a:prstGeom prst="ellipse">
            <a:avLst/>
          </a:prstGeom>
          <a:solidFill>
            <a:srgbClr val="0E9F9A"/>
          </a:solidFill>
          <a:ln/>
        </p:spPr>
      </p:sp>
      <p:sp>
        <p:nvSpPr>
          <p:cNvPr id="87" name="Text 70"/>
          <p:cNvSpPr txBox="1"/>
          <p:nvPr/>
        </p:nvSpPr>
        <p:spPr>
          <a:xfrm>
            <a:off x="640080" y="44531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O5</a:t>
            </a:r>
            <a:endParaRPr lang="en-US" sz="1100" dirty="0"/>
          </a:p>
        </p:txBody>
      </p:sp>
      <p:sp>
        <p:nvSpPr>
          <p:cNvPr id="88" name="Text 71"/>
          <p:cNvSpPr txBox="1"/>
          <p:nvPr/>
        </p:nvSpPr>
        <p:spPr>
          <a:xfrm>
            <a:off x="1097280" y="434340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Webhooks APIで通知</a:t>
            </a:r>
            <a:endParaRPr lang="en-US" sz="1050" dirty="0"/>
          </a:p>
        </p:txBody>
      </p:sp>
      <p:pic>
        <p:nvPicPr>
          <p:cNvPr id="89" name="Image 15" descr="preencoded.png">    </p:cNvPr>
          <p:cNvPicPr>
            <a:picLocks noChangeAspect="1"/>
          </p:cNvPicPr>
          <p:nvPr/>
        </p:nvPicPr>
        <p:blipFill>
          <a:blip r:embed="rId16"/>
          <a:stretch>
            <a:fillRect/>
          </a:stretch>
        </p:blipFill>
        <p:spPr>
          <a:xfrm>
            <a:off x="3319272" y="4370832"/>
            <a:ext cx="219456" cy="219456"/>
          </a:xfrm>
          <a:prstGeom prst="rect">
            <a:avLst/>
          </a:prstGeom>
        </p:spPr>
      </p:pic>
      <p:sp>
        <p:nvSpPr>
          <p:cNvPr id="90" name="Text 72"/>
          <p:cNvSpPr txBox="1"/>
          <p:nvPr/>
        </p:nvSpPr>
        <p:spPr>
          <a:xfrm>
            <a:off x="2944368" y="459943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Airtable</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Webhook通知</a:t>
            </a:r>
            <a:endParaRPr lang="en-US" sz="650" dirty="0"/>
          </a:p>
        </p:txBody>
      </p:sp>
      <p:sp>
        <p:nvSpPr>
          <p:cNvPr id="91" name="Shape 73"/>
          <p:cNvSpPr/>
          <p:nvPr/>
        </p:nvSpPr>
        <p:spPr>
          <a:xfrm>
            <a:off x="3621024" y="4480560"/>
            <a:ext cx="585216" cy="0"/>
          </a:xfrm>
          <a:prstGeom prst="line">
            <a:avLst/>
          </a:prstGeom>
          <a:noFill/>
          <a:ln w="15875">
            <a:solidFill>
              <a:srgbClr val="9AA5B4"/>
            </a:solidFill>
            <a:prstDash val="solid"/>
            <a:tailEnd type="triangle"/>
          </a:ln>
        </p:spPr>
      </p:sp>
      <p:pic>
        <p:nvPicPr>
          <p:cNvPr id="92" name="Image 16" descr="preencoded.png">    </p:cNvPr>
          <p:cNvPicPr>
            <a:picLocks noChangeAspect="1"/>
          </p:cNvPicPr>
          <p:nvPr/>
        </p:nvPicPr>
        <p:blipFill>
          <a:blip r:embed="rId17"/>
          <a:stretch>
            <a:fillRect/>
          </a:stretch>
        </p:blipFill>
        <p:spPr>
          <a:xfrm>
            <a:off x="4306824" y="4370832"/>
            <a:ext cx="219456" cy="219456"/>
          </a:xfrm>
          <a:prstGeom prst="rect">
            <a:avLst/>
          </a:prstGeom>
        </p:spPr>
      </p:pic>
      <p:sp>
        <p:nvSpPr>
          <p:cNvPr id="93" name="Text 74"/>
          <p:cNvSpPr txBox="1"/>
          <p:nvPr/>
        </p:nvSpPr>
        <p:spPr>
          <a:xfrm>
            <a:off x="3931920" y="459943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Power Automate</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差分を取得</a:t>
            </a:r>
            <a:endParaRPr lang="en-US" sz="650" dirty="0"/>
          </a:p>
        </p:txBody>
      </p:sp>
      <p:sp>
        <p:nvSpPr>
          <p:cNvPr id="94" name="Shape 75"/>
          <p:cNvSpPr/>
          <p:nvPr/>
        </p:nvSpPr>
        <p:spPr>
          <a:xfrm>
            <a:off x="4608576" y="4480560"/>
            <a:ext cx="585216" cy="0"/>
          </a:xfrm>
          <a:prstGeom prst="line">
            <a:avLst/>
          </a:prstGeom>
          <a:noFill/>
          <a:ln w="15875">
            <a:solidFill>
              <a:srgbClr val="9AA5B4"/>
            </a:solidFill>
            <a:prstDash val="solid"/>
            <a:tailEnd type="triangle"/>
          </a:ln>
        </p:spPr>
      </p:sp>
      <p:pic>
        <p:nvPicPr>
          <p:cNvPr id="95" name="Image 17" descr="preencoded.png">    </p:cNvPr>
          <p:cNvPicPr>
            <a:picLocks noChangeAspect="1"/>
          </p:cNvPicPr>
          <p:nvPr/>
        </p:nvPicPr>
        <p:blipFill>
          <a:blip r:embed="rId18"/>
          <a:stretch>
            <a:fillRect/>
          </a:stretch>
        </p:blipFill>
        <p:spPr>
          <a:xfrm>
            <a:off x="5294376" y="4370832"/>
            <a:ext cx="219456" cy="219456"/>
          </a:xfrm>
          <a:prstGeom prst="rect">
            <a:avLst/>
          </a:prstGeom>
        </p:spPr>
      </p:pic>
      <p:sp>
        <p:nvSpPr>
          <p:cNvPr id="96" name="Text 76"/>
          <p:cNvSpPr txBox="1"/>
          <p:nvPr/>
        </p:nvSpPr>
        <p:spPr>
          <a:xfrm>
            <a:off x="4919472" y="459943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Copilot Studio</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Execute Agent</a:t>
            </a:r>
            <a:endParaRPr lang="en-US" sz="650" dirty="0"/>
          </a:p>
        </p:txBody>
      </p:sp>
      <p:sp>
        <p:nvSpPr>
          <p:cNvPr id="97" name="Shape 77"/>
          <p:cNvSpPr/>
          <p:nvPr/>
        </p:nvSpPr>
        <p:spPr>
          <a:xfrm>
            <a:off x="5596128" y="4480560"/>
            <a:ext cx="585216" cy="0"/>
          </a:xfrm>
          <a:prstGeom prst="line">
            <a:avLst/>
          </a:prstGeom>
          <a:noFill/>
          <a:ln w="15875">
            <a:solidFill>
              <a:srgbClr val="9AA5B4"/>
            </a:solidFill>
            <a:prstDash val="solid"/>
            <a:tailEnd type="triangle"/>
          </a:ln>
        </p:spPr>
      </p:sp>
      <p:pic>
        <p:nvPicPr>
          <p:cNvPr id="98" name="Image 18" descr="preencoded.png">    </p:cNvPr>
          <p:cNvPicPr>
            <a:picLocks noChangeAspect="1"/>
          </p:cNvPicPr>
          <p:nvPr/>
        </p:nvPicPr>
        <p:blipFill>
          <a:blip r:embed="rId19"/>
          <a:stretch>
            <a:fillRect/>
          </a:stretch>
        </p:blipFill>
        <p:spPr>
          <a:xfrm>
            <a:off x="6281928" y="4370832"/>
            <a:ext cx="219456" cy="219456"/>
          </a:xfrm>
          <a:prstGeom prst="rect">
            <a:avLst/>
          </a:prstGeom>
        </p:spPr>
      </p:pic>
      <p:sp>
        <p:nvSpPr>
          <p:cNvPr id="99" name="Text 78"/>
          <p:cNvSpPr txBox="1"/>
          <p:nvPr/>
        </p:nvSpPr>
        <p:spPr>
          <a:xfrm>
            <a:off x="5907024" y="459943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Airtable</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下書きに書込</a:t>
            </a:r>
            <a:endParaRPr lang="en-US" sz="650" dirty="0"/>
          </a:p>
        </p:txBody>
      </p:sp>
      <p:sp>
        <p:nvSpPr>
          <p:cNvPr id="100" name="Text 79"/>
          <p:cNvSpPr txBox="1"/>
          <p:nvPr/>
        </p:nvSpPr>
        <p:spPr>
          <a:xfrm>
            <a:off x="6949440" y="434340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数十秒〜数分</a:t>
            </a:r>
            <a:endParaRPr lang="en-US" sz="950" dirty="0"/>
          </a:p>
        </p:txBody>
      </p:sp>
      <p:sp>
        <p:nvSpPr>
          <p:cNvPr id="101" name="Text 80"/>
          <p:cNvSpPr txBox="1"/>
          <p:nvPr/>
        </p:nvSpPr>
        <p:spPr>
          <a:xfrm>
            <a:off x="8412480" y="434340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102" name="Text 81"/>
          <p:cNvSpPr txBox="1"/>
          <p:nvPr/>
        </p:nvSpPr>
        <p:spPr>
          <a:xfrm>
            <a:off x="9509760" y="434340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通知には中身がなく差分の取得が必要。7日ごとの更新も必要</a:t>
            </a:r>
            <a:endParaRPr lang="en-US" sz="900" dirty="0"/>
          </a:p>
        </p:txBody>
      </p:sp>
      <p:sp>
        <p:nvSpPr>
          <p:cNvPr id="103" name="Shape 82"/>
          <p:cNvSpPr/>
          <p:nvPr/>
        </p:nvSpPr>
        <p:spPr>
          <a:xfrm>
            <a:off x="548640" y="4983480"/>
            <a:ext cx="11064240" cy="585216"/>
          </a:xfrm>
          <a:prstGeom prst="roundRect">
            <a:avLst>
              <a:gd name="adj" fmla="val 7813"/>
            </a:avLst>
          </a:prstGeom>
          <a:solidFill>
            <a:srgbClr val="FFFFFF"/>
          </a:solidFill>
          <a:ln/>
        </p:spPr>
      </p:sp>
      <p:sp>
        <p:nvSpPr>
          <p:cNvPr id="104" name="Shape 83"/>
          <p:cNvSpPr/>
          <p:nvPr/>
        </p:nvSpPr>
        <p:spPr>
          <a:xfrm>
            <a:off x="640080" y="5093208"/>
            <a:ext cx="365760" cy="365760"/>
          </a:xfrm>
          <a:prstGeom prst="ellipse">
            <a:avLst/>
          </a:prstGeom>
          <a:solidFill>
            <a:srgbClr val="0E9F9A"/>
          </a:solidFill>
          <a:ln/>
        </p:spPr>
      </p:sp>
      <p:sp>
        <p:nvSpPr>
          <p:cNvPr id="105" name="Text 84"/>
          <p:cNvSpPr txBox="1"/>
          <p:nvPr/>
        </p:nvSpPr>
        <p:spPr>
          <a:xfrm>
            <a:off x="640080" y="509320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O6</a:t>
            </a:r>
            <a:endParaRPr lang="en-US" sz="1100" dirty="0"/>
          </a:p>
        </p:txBody>
      </p:sp>
      <p:sp>
        <p:nvSpPr>
          <p:cNvPr id="106" name="Text 85"/>
          <p:cNvSpPr txBox="1"/>
          <p:nvPr/>
        </p:nvSpPr>
        <p:spPr>
          <a:xfrm>
            <a:off x="1097280" y="498348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iPaaS（Make・Zapierなど）</a:t>
            </a:r>
            <a:endParaRPr lang="en-US" sz="1050" dirty="0"/>
          </a:p>
        </p:txBody>
      </p:sp>
      <p:pic>
        <p:nvPicPr>
          <p:cNvPr id="107" name="Image 19" descr="preencoded.png">    </p:cNvPr>
          <p:cNvPicPr>
            <a:picLocks noChangeAspect="1"/>
          </p:cNvPicPr>
          <p:nvPr/>
        </p:nvPicPr>
        <p:blipFill>
          <a:blip r:embed="rId20"/>
          <a:stretch>
            <a:fillRect/>
          </a:stretch>
        </p:blipFill>
        <p:spPr>
          <a:xfrm>
            <a:off x="3319272" y="5010912"/>
            <a:ext cx="219456" cy="219456"/>
          </a:xfrm>
          <a:prstGeom prst="rect">
            <a:avLst/>
          </a:prstGeom>
        </p:spPr>
      </p:pic>
      <p:sp>
        <p:nvSpPr>
          <p:cNvPr id="108" name="Text 86"/>
          <p:cNvSpPr txBox="1"/>
          <p:nvPr/>
        </p:nvSpPr>
        <p:spPr>
          <a:xfrm>
            <a:off x="2944368" y="523951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Airtable</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標準トリガー</a:t>
            </a:r>
            <a:endParaRPr lang="en-US" sz="650" dirty="0"/>
          </a:p>
        </p:txBody>
      </p:sp>
      <p:sp>
        <p:nvSpPr>
          <p:cNvPr id="109" name="Shape 87"/>
          <p:cNvSpPr/>
          <p:nvPr/>
        </p:nvSpPr>
        <p:spPr>
          <a:xfrm>
            <a:off x="3621024" y="5120640"/>
            <a:ext cx="585216" cy="0"/>
          </a:xfrm>
          <a:prstGeom prst="line">
            <a:avLst/>
          </a:prstGeom>
          <a:noFill/>
          <a:ln w="15875">
            <a:solidFill>
              <a:srgbClr val="9AA5B4"/>
            </a:solidFill>
            <a:prstDash val="solid"/>
            <a:tailEnd type="triangle"/>
          </a:ln>
        </p:spPr>
      </p:sp>
      <p:pic>
        <p:nvPicPr>
          <p:cNvPr id="110" name="Image 20" descr="preencoded.png">    </p:cNvPr>
          <p:cNvPicPr>
            <a:picLocks noChangeAspect="1"/>
          </p:cNvPicPr>
          <p:nvPr/>
        </p:nvPicPr>
        <p:blipFill>
          <a:blip r:embed="rId21"/>
          <a:stretch>
            <a:fillRect/>
          </a:stretch>
        </p:blipFill>
        <p:spPr>
          <a:xfrm>
            <a:off x="4306824" y="5010912"/>
            <a:ext cx="219456" cy="219456"/>
          </a:xfrm>
          <a:prstGeom prst="rect">
            <a:avLst/>
          </a:prstGeom>
        </p:spPr>
      </p:pic>
      <p:sp>
        <p:nvSpPr>
          <p:cNvPr id="111" name="Text 88"/>
          <p:cNvSpPr txBox="1"/>
          <p:nvPr/>
        </p:nvSpPr>
        <p:spPr>
          <a:xfrm>
            <a:off x="3931920" y="523951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iPaaS</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Make・Zapier</a:t>
            </a:r>
            <a:endParaRPr lang="en-US" sz="650" dirty="0"/>
          </a:p>
        </p:txBody>
      </p:sp>
      <p:sp>
        <p:nvSpPr>
          <p:cNvPr id="112" name="Shape 89"/>
          <p:cNvSpPr/>
          <p:nvPr/>
        </p:nvSpPr>
        <p:spPr>
          <a:xfrm>
            <a:off x="4608576" y="5120640"/>
            <a:ext cx="585216" cy="0"/>
          </a:xfrm>
          <a:prstGeom prst="line">
            <a:avLst/>
          </a:prstGeom>
          <a:noFill/>
          <a:ln w="15875">
            <a:solidFill>
              <a:srgbClr val="9AA5B4"/>
            </a:solidFill>
            <a:prstDash val="solid"/>
            <a:tailEnd type="triangle"/>
          </a:ln>
        </p:spPr>
      </p:sp>
      <p:pic>
        <p:nvPicPr>
          <p:cNvPr id="113" name="Image 21" descr="preencoded.png">    </p:cNvPr>
          <p:cNvPicPr>
            <a:picLocks noChangeAspect="1"/>
          </p:cNvPicPr>
          <p:nvPr/>
        </p:nvPicPr>
        <p:blipFill>
          <a:blip r:embed="rId22"/>
          <a:stretch>
            <a:fillRect/>
          </a:stretch>
        </p:blipFill>
        <p:spPr>
          <a:xfrm>
            <a:off x="5294376" y="5010912"/>
            <a:ext cx="219456" cy="219456"/>
          </a:xfrm>
          <a:prstGeom prst="rect">
            <a:avLst/>
          </a:prstGeom>
        </p:spPr>
      </p:pic>
      <p:sp>
        <p:nvSpPr>
          <p:cNvPr id="114" name="Text 90"/>
          <p:cNvSpPr txBox="1"/>
          <p:nvPr/>
        </p:nvSpPr>
        <p:spPr>
          <a:xfrm>
            <a:off x="4919472" y="523951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LLM</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APIで生成</a:t>
            </a:r>
            <a:endParaRPr lang="en-US" sz="650" dirty="0"/>
          </a:p>
        </p:txBody>
      </p:sp>
      <p:sp>
        <p:nvSpPr>
          <p:cNvPr id="115" name="Shape 91"/>
          <p:cNvSpPr/>
          <p:nvPr/>
        </p:nvSpPr>
        <p:spPr>
          <a:xfrm>
            <a:off x="5596128" y="5120640"/>
            <a:ext cx="585216" cy="0"/>
          </a:xfrm>
          <a:prstGeom prst="line">
            <a:avLst/>
          </a:prstGeom>
          <a:noFill/>
          <a:ln w="15875">
            <a:solidFill>
              <a:srgbClr val="9AA5B4"/>
            </a:solidFill>
            <a:prstDash val="solid"/>
            <a:tailEnd type="triangle"/>
          </a:ln>
        </p:spPr>
      </p:sp>
      <p:pic>
        <p:nvPicPr>
          <p:cNvPr id="116" name="Image 22" descr="preencoded.png">    </p:cNvPr>
          <p:cNvPicPr>
            <a:picLocks noChangeAspect="1"/>
          </p:cNvPicPr>
          <p:nvPr/>
        </p:nvPicPr>
        <p:blipFill>
          <a:blip r:embed="rId23"/>
          <a:stretch>
            <a:fillRect/>
          </a:stretch>
        </p:blipFill>
        <p:spPr>
          <a:xfrm>
            <a:off x="6281928" y="5010912"/>
            <a:ext cx="219456" cy="219456"/>
          </a:xfrm>
          <a:prstGeom prst="rect">
            <a:avLst/>
          </a:prstGeom>
        </p:spPr>
      </p:pic>
      <p:sp>
        <p:nvSpPr>
          <p:cNvPr id="117" name="Text 92"/>
          <p:cNvSpPr txBox="1"/>
          <p:nvPr/>
        </p:nvSpPr>
        <p:spPr>
          <a:xfrm>
            <a:off x="5907024" y="523951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Airtable</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下書きに書込</a:t>
            </a:r>
            <a:endParaRPr lang="en-US" sz="650" dirty="0"/>
          </a:p>
        </p:txBody>
      </p:sp>
      <p:sp>
        <p:nvSpPr>
          <p:cNvPr id="118" name="Text 93"/>
          <p:cNvSpPr txBox="1"/>
          <p:nvPr/>
        </p:nvSpPr>
        <p:spPr>
          <a:xfrm>
            <a:off x="6949440" y="498348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数十秒〜数分</a:t>
            </a:r>
            <a:endParaRPr lang="en-US" sz="950" dirty="0"/>
          </a:p>
        </p:txBody>
      </p:sp>
      <p:sp>
        <p:nvSpPr>
          <p:cNvPr id="119" name="Text 94"/>
          <p:cNvSpPr txBox="1"/>
          <p:nvPr/>
        </p:nvSpPr>
        <p:spPr>
          <a:xfrm>
            <a:off x="8412480" y="498348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120" name="Text 95"/>
          <p:cNvSpPr txBox="1"/>
          <p:nvPr/>
        </p:nvSpPr>
        <p:spPr>
          <a:xfrm>
            <a:off x="9509760" y="498348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Airtableの変更を標準機能で検知できる。新たな外部SaaSの契約・審査が必要。Copilot Studioは直接呼べない</a:t>
            </a:r>
            <a:endParaRPr lang="en-US" sz="900" dirty="0"/>
          </a:p>
        </p:txBody>
      </p:sp>
      <p:sp>
        <p:nvSpPr>
          <p:cNvPr id="121" name="Shape 96"/>
          <p:cNvSpPr/>
          <p:nvPr/>
        </p:nvSpPr>
        <p:spPr>
          <a:xfrm>
            <a:off x="548640" y="5623560"/>
            <a:ext cx="11064240" cy="585216"/>
          </a:xfrm>
          <a:prstGeom prst="roundRect">
            <a:avLst>
              <a:gd name="adj" fmla="val 7813"/>
            </a:avLst>
          </a:prstGeom>
          <a:solidFill>
            <a:srgbClr val="FFFFFF"/>
          </a:solidFill>
          <a:ln w="12700">
            <a:solidFill>
              <a:srgbClr val="D5DBE3"/>
            </a:solidFill>
            <a:prstDash val="dash"/>
          </a:ln>
        </p:spPr>
      </p:sp>
      <p:sp>
        <p:nvSpPr>
          <p:cNvPr id="122" name="Shape 97"/>
          <p:cNvSpPr/>
          <p:nvPr/>
        </p:nvSpPr>
        <p:spPr>
          <a:xfrm>
            <a:off x="640080" y="5733288"/>
            <a:ext cx="365760" cy="365760"/>
          </a:xfrm>
          <a:prstGeom prst="ellipse">
            <a:avLst/>
          </a:prstGeom>
          <a:solidFill>
            <a:srgbClr val="9AA5B4"/>
          </a:solidFill>
          <a:ln/>
        </p:spPr>
      </p:sp>
      <p:sp>
        <p:nvSpPr>
          <p:cNvPr id="123" name="Text 98"/>
          <p:cNvSpPr txBox="1"/>
          <p:nvPr/>
        </p:nvSpPr>
        <p:spPr>
          <a:xfrm>
            <a:off x="640080" y="573328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O7</a:t>
            </a:r>
            <a:endParaRPr lang="en-US" sz="1100" dirty="0"/>
          </a:p>
        </p:txBody>
      </p:sp>
      <p:sp>
        <p:nvSpPr>
          <p:cNvPr id="124" name="Text 99"/>
          <p:cNvSpPr txBox="1"/>
          <p:nvPr/>
        </p:nvSpPr>
        <p:spPr>
          <a:xfrm>
            <a:off x="1097280" y="562356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参考：エージェントの代わりにAI Builder</a:t>
            </a:r>
            <a:endParaRPr lang="en-US" sz="1050" dirty="0"/>
          </a:p>
        </p:txBody>
      </p:sp>
      <p:pic>
        <p:nvPicPr>
          <p:cNvPr id="125" name="Image 23" descr="preencoded.png">    </p:cNvPr>
          <p:cNvPicPr>
            <a:picLocks noChangeAspect="1"/>
          </p:cNvPicPr>
          <p:nvPr/>
        </p:nvPicPr>
        <p:blipFill>
          <a:blip r:embed="rId24"/>
          <a:stretch>
            <a:fillRect/>
          </a:stretch>
        </p:blipFill>
        <p:spPr>
          <a:xfrm>
            <a:off x="3319272" y="5650992"/>
            <a:ext cx="219456" cy="219456"/>
          </a:xfrm>
          <a:prstGeom prst="rect">
            <a:avLst/>
          </a:prstGeom>
        </p:spPr>
      </p:pic>
      <p:sp>
        <p:nvSpPr>
          <p:cNvPr id="126" name="Text 100"/>
          <p:cNvSpPr txBox="1"/>
          <p:nvPr/>
        </p:nvSpPr>
        <p:spPr>
          <a:xfrm>
            <a:off x="2944368" y="587959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Power Automate</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O1／O2で起動</a:t>
            </a:r>
            <a:endParaRPr lang="en-US" sz="650" dirty="0"/>
          </a:p>
        </p:txBody>
      </p:sp>
      <p:sp>
        <p:nvSpPr>
          <p:cNvPr id="127" name="Shape 101"/>
          <p:cNvSpPr/>
          <p:nvPr/>
        </p:nvSpPr>
        <p:spPr>
          <a:xfrm>
            <a:off x="3621024" y="5760720"/>
            <a:ext cx="585216" cy="0"/>
          </a:xfrm>
          <a:prstGeom prst="line">
            <a:avLst/>
          </a:prstGeom>
          <a:noFill/>
          <a:ln w="15875">
            <a:solidFill>
              <a:srgbClr val="9AA5B4"/>
            </a:solidFill>
            <a:prstDash val="solid"/>
            <a:tailEnd type="triangle"/>
          </a:ln>
        </p:spPr>
      </p:sp>
      <p:pic>
        <p:nvPicPr>
          <p:cNvPr id="128" name="Image 24" descr="preencoded.png">    </p:cNvPr>
          <p:cNvPicPr>
            <a:picLocks noChangeAspect="1"/>
          </p:cNvPicPr>
          <p:nvPr/>
        </p:nvPicPr>
        <p:blipFill>
          <a:blip r:embed="rId25"/>
          <a:stretch>
            <a:fillRect/>
          </a:stretch>
        </p:blipFill>
        <p:spPr>
          <a:xfrm>
            <a:off x="4306824" y="5650992"/>
            <a:ext cx="219456" cy="219456"/>
          </a:xfrm>
          <a:prstGeom prst="rect">
            <a:avLst/>
          </a:prstGeom>
        </p:spPr>
      </p:pic>
      <p:sp>
        <p:nvSpPr>
          <p:cNvPr id="129" name="Text 102"/>
          <p:cNvSpPr txBox="1"/>
          <p:nvPr/>
        </p:nvSpPr>
        <p:spPr>
          <a:xfrm>
            <a:off x="3931920" y="587959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AI Builder</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プロンプト</a:t>
            </a:r>
            <a:endParaRPr lang="en-US" sz="650" dirty="0"/>
          </a:p>
        </p:txBody>
      </p:sp>
      <p:sp>
        <p:nvSpPr>
          <p:cNvPr id="130" name="Shape 103"/>
          <p:cNvSpPr/>
          <p:nvPr/>
        </p:nvSpPr>
        <p:spPr>
          <a:xfrm>
            <a:off x="4608576" y="5760720"/>
            <a:ext cx="585216" cy="0"/>
          </a:xfrm>
          <a:prstGeom prst="line">
            <a:avLst/>
          </a:prstGeom>
          <a:noFill/>
          <a:ln w="15875">
            <a:solidFill>
              <a:srgbClr val="9AA5B4"/>
            </a:solidFill>
            <a:prstDash val="solid"/>
            <a:tailEnd type="triangle"/>
          </a:ln>
        </p:spPr>
      </p:sp>
      <p:pic>
        <p:nvPicPr>
          <p:cNvPr id="131" name="Image 25" descr="preencoded.png">    </p:cNvPr>
          <p:cNvPicPr>
            <a:picLocks noChangeAspect="1"/>
          </p:cNvPicPr>
          <p:nvPr/>
        </p:nvPicPr>
        <p:blipFill>
          <a:blip r:embed="rId26"/>
          <a:stretch>
            <a:fillRect/>
          </a:stretch>
        </p:blipFill>
        <p:spPr>
          <a:xfrm>
            <a:off x="5294376" y="5650992"/>
            <a:ext cx="219456" cy="219456"/>
          </a:xfrm>
          <a:prstGeom prst="rect">
            <a:avLst/>
          </a:prstGeom>
        </p:spPr>
      </p:pic>
      <p:sp>
        <p:nvSpPr>
          <p:cNvPr id="132" name="Text 104"/>
          <p:cNvSpPr txBox="1"/>
          <p:nvPr/>
        </p:nvSpPr>
        <p:spPr>
          <a:xfrm>
            <a:off x="4919472" y="5879592"/>
            <a:ext cx="969264" cy="310896"/>
          </a:xfrm>
          <a:prstGeom prst="rect">
            <a:avLst/>
          </a:prstGeom>
          <a:noFill/>
          <a:ln/>
        </p:spPr>
        <p:txBody>
          <a:bodyPr wrap="square" lIns="0" tIns="0" rIns="0" bIns="0" rtlCol="0" anchor="t"/>
          <a:lstStyle/>
          <a:p>
            <a:pPr algn="ctr" indent="0" marL="0">
              <a:buNone/>
            </a:pPr>
            <a:r>
              <a:rPr lang="en-US" sz="650" b="1" dirty="0">
                <a:solidFill>
                  <a:srgbClr val="1B2A49"/>
                </a:solidFill>
                <a:latin typeface="Meiryo UI" pitchFamily="34" charset="0"/>
                <a:ea typeface="Meiryo UI" pitchFamily="34" charset="-122"/>
                <a:cs typeface="Meiryo UI" pitchFamily="34" charset="-120"/>
              </a:rPr>
              <a:t>Airtable</a:t>
            </a:r>
            <a:endParaRPr lang="en-US" sz="650" dirty="0"/>
          </a:p>
          <a:p>
            <a:pPr algn="ctr" indent="0" marL="0">
              <a:buNone/>
            </a:pPr>
            <a:r>
              <a:rPr lang="en-US" sz="650" dirty="0">
                <a:solidFill>
                  <a:srgbClr val="6B7280"/>
                </a:solidFill>
                <a:latin typeface="Meiryo UI" pitchFamily="34" charset="0"/>
                <a:ea typeface="Meiryo UI" pitchFamily="34" charset="-122"/>
                <a:cs typeface="Meiryo UI" pitchFamily="34" charset="-120"/>
              </a:rPr>
              <a:t>下書きに書込</a:t>
            </a:r>
            <a:endParaRPr lang="en-US" sz="650" dirty="0"/>
          </a:p>
        </p:txBody>
      </p:sp>
      <p:sp>
        <p:nvSpPr>
          <p:cNvPr id="133" name="Text 105"/>
          <p:cNvSpPr txBox="1"/>
          <p:nvPr/>
        </p:nvSpPr>
        <p:spPr>
          <a:xfrm>
            <a:off x="6949440" y="562356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O1／O2と同じ</a:t>
            </a:r>
            <a:endParaRPr lang="en-US" sz="950" dirty="0"/>
          </a:p>
        </p:txBody>
      </p:sp>
      <p:sp>
        <p:nvSpPr>
          <p:cNvPr id="134" name="Text 106"/>
          <p:cNvSpPr txBox="1"/>
          <p:nvPr/>
        </p:nvSpPr>
        <p:spPr>
          <a:xfrm>
            <a:off x="8412480" y="562356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135" name="Text 107"/>
          <p:cNvSpPr txBox="1"/>
          <p:nvPr/>
        </p:nvSpPr>
        <p:spPr>
          <a:xfrm>
            <a:off x="9509760" y="562356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出力の形式を固定しやすい。会話型の判断や複数ツールの利用はできない</a:t>
            </a:r>
            <a:endParaRPr lang="en-US" sz="900" dirty="0"/>
          </a:p>
        </p:txBody>
      </p:sp>
      <p:sp>
        <p:nvSpPr>
          <p:cNvPr id="136" name="Text 108"/>
          <p:cNvSpPr txBox="1"/>
          <p:nvPr/>
        </p:nvSpPr>
        <p:spPr>
          <a:xfrm>
            <a:off x="548640" y="6355080"/>
            <a:ext cx="11064240" cy="274320"/>
          </a:xfrm>
          <a:prstGeom prst="rect">
            <a:avLst/>
          </a:prstGeom>
          <a:noFill/>
          <a:ln/>
        </p:spPr>
        <p:txBody>
          <a:bodyPr wrap="square" lIns="0" tIns="0" rIns="0" bIns="0" rtlCol="0" anchor="t"/>
          <a:lstStyle/>
          <a:p>
            <a:pPr indent="0" marL="0">
              <a:buNone/>
            </a:pPr>
            <a:r>
              <a:rPr lang="en-US" sz="950" dirty="0">
                <a:solidFill>
                  <a:srgbClr val="6B7280"/>
                </a:solidFill>
                <a:latin typeface="Meiryo UI" pitchFamily="34" charset="0"/>
                <a:ea typeface="Meiryo UI" pitchFamily="34" charset="-122"/>
                <a:cs typeface="Meiryo UI" pitchFamily="34" charset="-120"/>
              </a:rPr>
              <a:t>書き込み先はすべて下書き欄（確定は人）。書き込みはHTTPアクション＋PATが前提（Power AutomateのAirtableコネクタは非推奨）。O1とO2は起動部分だけが違うため、併用や切り替えがしやすい</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O1（定期確認）の処理の流れ</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Power Automateが定期的にAirtableにアクセスし、「起案待ち」のカードを検索・取得して、1件ずつ順番に推論させる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45</a:t>
            </a:r>
            <a:endParaRPr lang="en-US" sz="900" dirty="0"/>
          </a:p>
        </p:txBody>
      </p:sp>
      <p:sp>
        <p:nvSpPr>
          <p:cNvPr id="6" name="Shape 4"/>
          <p:cNvSpPr/>
          <p:nvPr/>
        </p:nvSpPr>
        <p:spPr>
          <a:xfrm>
            <a:off x="548640" y="1417320"/>
            <a:ext cx="11064240" cy="777240"/>
          </a:xfrm>
          <a:prstGeom prst="roundRect">
            <a:avLst>
              <a:gd name="adj" fmla="val 4706"/>
            </a:avLst>
          </a:prstGeom>
          <a:solidFill>
            <a:srgbClr val="FDEBD3"/>
          </a:solidFill>
          <a:ln/>
        </p:spPr>
      </p:sp>
      <p:sp>
        <p:nvSpPr>
          <p:cNvPr id="7" name="Shape 5"/>
          <p:cNvSpPr/>
          <p:nvPr/>
        </p:nvSpPr>
        <p:spPr>
          <a:xfrm>
            <a:off x="658368" y="1600200"/>
            <a:ext cx="402336" cy="402336"/>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38835" y="1680667"/>
            <a:ext cx="241402" cy="241402"/>
          </a:xfrm>
          <a:prstGeom prst="rect">
            <a:avLst/>
          </a:prstGeom>
        </p:spPr>
      </p:pic>
      <p:sp>
        <p:nvSpPr>
          <p:cNvPr id="9" name="Text 6"/>
          <p:cNvSpPr txBox="1"/>
          <p:nvPr/>
        </p:nvSpPr>
        <p:spPr>
          <a:xfrm>
            <a:off x="1097280" y="1417320"/>
            <a:ext cx="914400" cy="77724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マーケター</a:t>
            </a:r>
            <a:endParaRPr lang="en-US" sz="900" dirty="0"/>
          </a:p>
        </p:txBody>
      </p:sp>
      <p:sp>
        <p:nvSpPr>
          <p:cNvPr id="10" name="Shape 7"/>
          <p:cNvSpPr/>
          <p:nvPr/>
        </p:nvSpPr>
        <p:spPr>
          <a:xfrm>
            <a:off x="548640" y="2286000"/>
            <a:ext cx="11064240" cy="777240"/>
          </a:xfrm>
          <a:prstGeom prst="roundRect">
            <a:avLst>
              <a:gd name="adj" fmla="val 4706"/>
            </a:avLst>
          </a:prstGeom>
          <a:solidFill>
            <a:srgbClr val="E3EAF5"/>
          </a:solidFill>
          <a:ln/>
        </p:spPr>
      </p:sp>
      <p:sp>
        <p:nvSpPr>
          <p:cNvPr id="11" name="Shape 8"/>
          <p:cNvSpPr/>
          <p:nvPr/>
        </p:nvSpPr>
        <p:spPr>
          <a:xfrm>
            <a:off x="658368" y="2468880"/>
            <a:ext cx="402336" cy="402336"/>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738835" y="2549347"/>
            <a:ext cx="241402" cy="241402"/>
          </a:xfrm>
          <a:prstGeom prst="rect">
            <a:avLst/>
          </a:prstGeom>
        </p:spPr>
      </p:pic>
      <p:sp>
        <p:nvSpPr>
          <p:cNvPr id="13" name="Text 9"/>
          <p:cNvSpPr txBox="1"/>
          <p:nvPr/>
        </p:nvSpPr>
        <p:spPr>
          <a:xfrm>
            <a:off x="1097280" y="2286000"/>
            <a:ext cx="914400" cy="77724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Airtable</a:t>
            </a:r>
            <a:endParaRPr lang="en-US" sz="900" dirty="0"/>
          </a:p>
        </p:txBody>
      </p:sp>
      <p:sp>
        <p:nvSpPr>
          <p:cNvPr id="14" name="Shape 10"/>
          <p:cNvSpPr/>
          <p:nvPr/>
        </p:nvSpPr>
        <p:spPr>
          <a:xfrm>
            <a:off x="548640" y="3154680"/>
            <a:ext cx="11064240" cy="777240"/>
          </a:xfrm>
          <a:prstGeom prst="roundRect">
            <a:avLst>
              <a:gd name="adj" fmla="val 4706"/>
            </a:avLst>
          </a:prstGeom>
          <a:solidFill>
            <a:srgbClr val="D9F2F1"/>
          </a:solidFill>
          <a:ln/>
        </p:spPr>
      </p:sp>
      <p:sp>
        <p:nvSpPr>
          <p:cNvPr id="15" name="Shape 11"/>
          <p:cNvSpPr/>
          <p:nvPr/>
        </p:nvSpPr>
        <p:spPr>
          <a:xfrm>
            <a:off x="658368" y="3337560"/>
            <a:ext cx="402336" cy="402336"/>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738835" y="3418027"/>
            <a:ext cx="241402" cy="241402"/>
          </a:xfrm>
          <a:prstGeom prst="rect">
            <a:avLst/>
          </a:prstGeom>
        </p:spPr>
      </p:pic>
      <p:sp>
        <p:nvSpPr>
          <p:cNvPr id="17" name="Text 12"/>
          <p:cNvSpPr txBox="1"/>
          <p:nvPr/>
        </p:nvSpPr>
        <p:spPr>
          <a:xfrm>
            <a:off x="1097280" y="3154680"/>
            <a:ext cx="914400" cy="77724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Power Automate</a:t>
            </a:r>
            <a:endParaRPr lang="en-US" sz="900" dirty="0"/>
          </a:p>
        </p:txBody>
      </p:sp>
      <p:sp>
        <p:nvSpPr>
          <p:cNvPr id="18" name="Shape 13"/>
          <p:cNvSpPr/>
          <p:nvPr/>
        </p:nvSpPr>
        <p:spPr>
          <a:xfrm>
            <a:off x="548640" y="4023360"/>
            <a:ext cx="11064240" cy="777240"/>
          </a:xfrm>
          <a:prstGeom prst="roundRect">
            <a:avLst>
              <a:gd name="adj" fmla="val 4706"/>
            </a:avLst>
          </a:prstGeom>
          <a:solidFill>
            <a:srgbClr val="EEEAF8"/>
          </a:solidFill>
          <a:ln/>
        </p:spPr>
      </p:sp>
      <p:sp>
        <p:nvSpPr>
          <p:cNvPr id="19" name="Shape 14"/>
          <p:cNvSpPr/>
          <p:nvPr/>
        </p:nvSpPr>
        <p:spPr>
          <a:xfrm>
            <a:off x="658368" y="4206240"/>
            <a:ext cx="402336" cy="402336"/>
          </a:xfrm>
          <a:prstGeom prst="ellipse">
            <a:avLst/>
          </a:prstGeom>
          <a:solidFill>
            <a:srgbClr val="FFFFFF"/>
          </a:solidFill>
          <a:ln/>
        </p:spPr>
      </p:sp>
      <p:pic>
        <p:nvPicPr>
          <p:cNvPr id="20" name="Image 3" descr="preencoded.png">    </p:cNvPr>
          <p:cNvPicPr>
            <a:picLocks noChangeAspect="1"/>
          </p:cNvPicPr>
          <p:nvPr/>
        </p:nvPicPr>
        <p:blipFill>
          <a:blip r:embed="rId4"/>
          <a:stretch>
            <a:fillRect/>
          </a:stretch>
        </p:blipFill>
        <p:spPr>
          <a:xfrm>
            <a:off x="738835" y="4286707"/>
            <a:ext cx="241402" cy="241402"/>
          </a:xfrm>
          <a:prstGeom prst="rect">
            <a:avLst/>
          </a:prstGeom>
        </p:spPr>
      </p:pic>
      <p:sp>
        <p:nvSpPr>
          <p:cNvPr id="21" name="Text 15"/>
          <p:cNvSpPr txBox="1"/>
          <p:nvPr/>
        </p:nvSpPr>
        <p:spPr>
          <a:xfrm>
            <a:off x="1097280" y="4023360"/>
            <a:ext cx="914400" cy="77724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Copilot Studio</a:t>
            </a:r>
            <a:endParaRPr lang="en-US" sz="900" dirty="0"/>
          </a:p>
        </p:txBody>
      </p:sp>
      <p:sp>
        <p:nvSpPr>
          <p:cNvPr id="22" name="Shape 16"/>
          <p:cNvSpPr/>
          <p:nvPr/>
        </p:nvSpPr>
        <p:spPr>
          <a:xfrm>
            <a:off x="2011680" y="1490472"/>
            <a:ext cx="1261872" cy="630936"/>
          </a:xfrm>
          <a:prstGeom prst="roundRect">
            <a:avLst>
              <a:gd name="adj" fmla="val 8696"/>
            </a:avLst>
          </a:prstGeom>
          <a:solidFill>
            <a:srgbClr val="FFFFFF"/>
          </a:solidFill>
          <a:ln w="12700">
            <a:solidFill>
              <a:srgbClr val="D5DBE3"/>
            </a:solidFill>
            <a:prstDash val="solid"/>
          </a:ln>
        </p:spPr>
      </p:sp>
      <p:sp>
        <p:nvSpPr>
          <p:cNvPr id="23" name="Shape 17"/>
          <p:cNvSpPr/>
          <p:nvPr/>
        </p:nvSpPr>
        <p:spPr>
          <a:xfrm>
            <a:off x="2057400" y="1536192"/>
            <a:ext cx="237744" cy="237744"/>
          </a:xfrm>
          <a:prstGeom prst="ellipse">
            <a:avLst/>
          </a:prstGeom>
          <a:solidFill>
            <a:srgbClr val="0E9F9A"/>
          </a:solidFill>
          <a:ln/>
        </p:spPr>
      </p:sp>
      <p:sp>
        <p:nvSpPr>
          <p:cNvPr id="24" name="Text 18"/>
          <p:cNvSpPr txBox="1"/>
          <p:nvPr/>
        </p:nvSpPr>
        <p:spPr>
          <a:xfrm>
            <a:off x="2057400" y="153619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0</a:t>
            </a:r>
            <a:endParaRPr lang="en-US" sz="1100" dirty="0"/>
          </a:p>
        </p:txBody>
      </p:sp>
      <p:sp>
        <p:nvSpPr>
          <p:cNvPr id="25" name="Text 19"/>
          <p:cNvSpPr txBox="1"/>
          <p:nvPr/>
        </p:nvSpPr>
        <p:spPr>
          <a:xfrm>
            <a:off x="2322576" y="150876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カードを起案待ちに</a:t>
            </a:r>
            <a:endParaRPr lang="en-US" sz="800" dirty="0"/>
          </a:p>
        </p:txBody>
      </p:sp>
      <p:sp>
        <p:nvSpPr>
          <p:cNvPr id="26" name="Text 20"/>
          <p:cNvSpPr txBox="1"/>
          <p:nvPr/>
        </p:nvSpPr>
        <p:spPr>
          <a:xfrm>
            <a:off x="2066544" y="180136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配信日ごとのカードで、ステータスを「起案待ち」にする</a:t>
            </a:r>
            <a:endParaRPr lang="en-US" sz="650" dirty="0"/>
          </a:p>
        </p:txBody>
      </p:sp>
      <p:sp>
        <p:nvSpPr>
          <p:cNvPr id="27" name="Shape 21"/>
          <p:cNvSpPr/>
          <p:nvPr/>
        </p:nvSpPr>
        <p:spPr>
          <a:xfrm>
            <a:off x="3383280" y="3227832"/>
            <a:ext cx="1261872" cy="630936"/>
          </a:xfrm>
          <a:prstGeom prst="roundRect">
            <a:avLst>
              <a:gd name="adj" fmla="val 8696"/>
            </a:avLst>
          </a:prstGeom>
          <a:solidFill>
            <a:srgbClr val="FFFFFF"/>
          </a:solidFill>
          <a:ln w="12700">
            <a:solidFill>
              <a:srgbClr val="D5DBE3"/>
            </a:solidFill>
            <a:prstDash val="solid"/>
          </a:ln>
        </p:spPr>
      </p:sp>
      <p:sp>
        <p:nvSpPr>
          <p:cNvPr id="28" name="Shape 22"/>
          <p:cNvSpPr/>
          <p:nvPr/>
        </p:nvSpPr>
        <p:spPr>
          <a:xfrm>
            <a:off x="3429000" y="3273552"/>
            <a:ext cx="237744" cy="237744"/>
          </a:xfrm>
          <a:prstGeom prst="ellipse">
            <a:avLst/>
          </a:prstGeom>
          <a:solidFill>
            <a:srgbClr val="0E9F9A"/>
          </a:solidFill>
          <a:ln/>
        </p:spPr>
      </p:sp>
      <p:sp>
        <p:nvSpPr>
          <p:cNvPr id="29" name="Text 23"/>
          <p:cNvSpPr txBox="1"/>
          <p:nvPr/>
        </p:nvSpPr>
        <p:spPr>
          <a:xfrm>
            <a:off x="3429000" y="327355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30" name="Text 24"/>
          <p:cNvSpPr txBox="1"/>
          <p:nvPr/>
        </p:nvSpPr>
        <p:spPr>
          <a:xfrm>
            <a:off x="3694176" y="324612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定期実行</a:t>
            </a:r>
            <a:endParaRPr lang="en-US" sz="800" dirty="0"/>
          </a:p>
        </p:txBody>
      </p:sp>
      <p:sp>
        <p:nvSpPr>
          <p:cNvPr id="31" name="Text 25"/>
          <p:cNvSpPr txBox="1"/>
          <p:nvPr/>
        </p:nvSpPr>
        <p:spPr>
          <a:xfrm>
            <a:off x="3438144" y="353872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例：15分ごとにフローが自動で動く（スケジュール）</a:t>
            </a:r>
            <a:endParaRPr lang="en-US" sz="650" dirty="0"/>
          </a:p>
        </p:txBody>
      </p:sp>
      <p:sp>
        <p:nvSpPr>
          <p:cNvPr id="32" name="Shape 26"/>
          <p:cNvSpPr/>
          <p:nvPr/>
        </p:nvSpPr>
        <p:spPr>
          <a:xfrm>
            <a:off x="4754880" y="2359152"/>
            <a:ext cx="1261872" cy="630936"/>
          </a:xfrm>
          <a:prstGeom prst="roundRect">
            <a:avLst>
              <a:gd name="adj" fmla="val 8696"/>
            </a:avLst>
          </a:prstGeom>
          <a:solidFill>
            <a:srgbClr val="FFFFFF"/>
          </a:solidFill>
          <a:ln w="12700">
            <a:solidFill>
              <a:srgbClr val="D5DBE3"/>
            </a:solidFill>
            <a:prstDash val="solid"/>
          </a:ln>
        </p:spPr>
      </p:sp>
      <p:sp>
        <p:nvSpPr>
          <p:cNvPr id="33" name="Shape 27"/>
          <p:cNvSpPr/>
          <p:nvPr/>
        </p:nvSpPr>
        <p:spPr>
          <a:xfrm>
            <a:off x="4800600" y="2404872"/>
            <a:ext cx="237744" cy="237744"/>
          </a:xfrm>
          <a:prstGeom prst="ellipse">
            <a:avLst/>
          </a:prstGeom>
          <a:solidFill>
            <a:srgbClr val="0E9F9A"/>
          </a:solidFill>
          <a:ln/>
        </p:spPr>
      </p:sp>
      <p:sp>
        <p:nvSpPr>
          <p:cNvPr id="34" name="Text 28"/>
          <p:cNvSpPr txBox="1"/>
          <p:nvPr/>
        </p:nvSpPr>
        <p:spPr>
          <a:xfrm>
            <a:off x="4800600" y="240487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35" name="Text 29"/>
          <p:cNvSpPr txBox="1"/>
          <p:nvPr/>
        </p:nvSpPr>
        <p:spPr>
          <a:xfrm>
            <a:off x="5065776" y="237744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起案待ちを取得</a:t>
            </a:r>
            <a:endParaRPr lang="en-US" sz="800" dirty="0"/>
          </a:p>
        </p:txBody>
      </p:sp>
      <p:sp>
        <p:nvSpPr>
          <p:cNvPr id="36" name="Text 30"/>
          <p:cNvSpPr txBox="1"/>
          <p:nvPr/>
        </p:nvSpPr>
        <p:spPr>
          <a:xfrm>
            <a:off x="4809744" y="267004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REST APIで「ステータス＝起案待ち」のカードを検索</a:t>
            </a:r>
            <a:endParaRPr lang="en-US" sz="650" dirty="0"/>
          </a:p>
        </p:txBody>
      </p:sp>
      <p:sp>
        <p:nvSpPr>
          <p:cNvPr id="37" name="Shape 31"/>
          <p:cNvSpPr/>
          <p:nvPr/>
        </p:nvSpPr>
        <p:spPr>
          <a:xfrm>
            <a:off x="6126480" y="2359152"/>
            <a:ext cx="1261872" cy="630936"/>
          </a:xfrm>
          <a:prstGeom prst="roundRect">
            <a:avLst>
              <a:gd name="adj" fmla="val 8696"/>
            </a:avLst>
          </a:prstGeom>
          <a:solidFill>
            <a:srgbClr val="FFFFFF"/>
          </a:solidFill>
          <a:ln w="12700">
            <a:solidFill>
              <a:srgbClr val="D5DBE3"/>
            </a:solidFill>
            <a:prstDash val="solid"/>
          </a:ln>
        </p:spPr>
      </p:sp>
      <p:sp>
        <p:nvSpPr>
          <p:cNvPr id="38" name="Shape 32"/>
          <p:cNvSpPr/>
          <p:nvPr/>
        </p:nvSpPr>
        <p:spPr>
          <a:xfrm>
            <a:off x="6172200" y="2404872"/>
            <a:ext cx="237744" cy="237744"/>
          </a:xfrm>
          <a:prstGeom prst="ellipse">
            <a:avLst/>
          </a:prstGeom>
          <a:solidFill>
            <a:srgbClr val="0E9F9A"/>
          </a:solidFill>
          <a:ln/>
        </p:spPr>
      </p:sp>
      <p:sp>
        <p:nvSpPr>
          <p:cNvPr id="39" name="Text 33"/>
          <p:cNvSpPr txBox="1"/>
          <p:nvPr/>
        </p:nvSpPr>
        <p:spPr>
          <a:xfrm>
            <a:off x="6172200" y="240487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40" name="Text 34"/>
          <p:cNvSpPr txBox="1"/>
          <p:nvPr/>
        </p:nvSpPr>
        <p:spPr>
          <a:xfrm>
            <a:off x="6437376" y="237744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起案中に更新</a:t>
            </a:r>
            <a:endParaRPr lang="en-US" sz="800" dirty="0"/>
          </a:p>
        </p:txBody>
      </p:sp>
      <p:sp>
        <p:nvSpPr>
          <p:cNvPr id="41" name="Text 35"/>
          <p:cNvSpPr txBox="1"/>
          <p:nvPr/>
        </p:nvSpPr>
        <p:spPr>
          <a:xfrm>
            <a:off x="6181344" y="267004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二重実行を防ぐため、先にステータスを変える</a:t>
            </a:r>
            <a:endParaRPr lang="en-US" sz="650" dirty="0"/>
          </a:p>
        </p:txBody>
      </p:sp>
      <p:sp>
        <p:nvSpPr>
          <p:cNvPr id="42" name="Shape 36"/>
          <p:cNvSpPr/>
          <p:nvPr/>
        </p:nvSpPr>
        <p:spPr>
          <a:xfrm>
            <a:off x="7498080" y="4096512"/>
            <a:ext cx="1261872" cy="630936"/>
          </a:xfrm>
          <a:prstGeom prst="roundRect">
            <a:avLst>
              <a:gd name="adj" fmla="val 8696"/>
            </a:avLst>
          </a:prstGeom>
          <a:solidFill>
            <a:srgbClr val="FFFFFF"/>
          </a:solidFill>
          <a:ln w="12700">
            <a:solidFill>
              <a:srgbClr val="D5DBE3"/>
            </a:solidFill>
            <a:prstDash val="solid"/>
          </a:ln>
        </p:spPr>
      </p:sp>
      <p:sp>
        <p:nvSpPr>
          <p:cNvPr id="43" name="Shape 37"/>
          <p:cNvSpPr/>
          <p:nvPr/>
        </p:nvSpPr>
        <p:spPr>
          <a:xfrm>
            <a:off x="7543800" y="4142232"/>
            <a:ext cx="237744" cy="237744"/>
          </a:xfrm>
          <a:prstGeom prst="ellipse">
            <a:avLst/>
          </a:prstGeom>
          <a:solidFill>
            <a:srgbClr val="0E9F9A"/>
          </a:solidFill>
          <a:ln/>
        </p:spPr>
      </p:sp>
      <p:sp>
        <p:nvSpPr>
          <p:cNvPr id="44" name="Text 38"/>
          <p:cNvSpPr txBox="1"/>
          <p:nvPr/>
        </p:nvSpPr>
        <p:spPr>
          <a:xfrm>
            <a:off x="7543800" y="414223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4</a:t>
            </a:r>
            <a:endParaRPr lang="en-US" sz="1100" dirty="0"/>
          </a:p>
        </p:txBody>
      </p:sp>
      <p:sp>
        <p:nvSpPr>
          <p:cNvPr id="45" name="Text 39"/>
          <p:cNvSpPr txBox="1"/>
          <p:nvPr/>
        </p:nvSpPr>
        <p:spPr>
          <a:xfrm>
            <a:off x="7808976" y="411480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下書きを生成</a:t>
            </a:r>
            <a:endParaRPr lang="en-US" sz="800" dirty="0"/>
          </a:p>
        </p:txBody>
      </p:sp>
      <p:sp>
        <p:nvSpPr>
          <p:cNvPr id="46" name="Text 40"/>
          <p:cNvSpPr txBox="1"/>
          <p:nvPr/>
        </p:nvSpPr>
        <p:spPr>
          <a:xfrm>
            <a:off x="7552944" y="440740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取得したカードを1件ずつ順番に、Execute Agent and waitで依頼</a:t>
            </a:r>
            <a:endParaRPr lang="en-US" sz="650" dirty="0"/>
          </a:p>
        </p:txBody>
      </p:sp>
      <p:sp>
        <p:nvSpPr>
          <p:cNvPr id="47" name="Shape 41"/>
          <p:cNvSpPr/>
          <p:nvPr/>
        </p:nvSpPr>
        <p:spPr>
          <a:xfrm>
            <a:off x="8869680" y="2359152"/>
            <a:ext cx="1261872" cy="630936"/>
          </a:xfrm>
          <a:prstGeom prst="roundRect">
            <a:avLst>
              <a:gd name="adj" fmla="val 8696"/>
            </a:avLst>
          </a:prstGeom>
          <a:solidFill>
            <a:srgbClr val="FFFFFF"/>
          </a:solidFill>
          <a:ln w="12700">
            <a:solidFill>
              <a:srgbClr val="D5DBE3"/>
            </a:solidFill>
            <a:prstDash val="solid"/>
          </a:ln>
        </p:spPr>
      </p:sp>
      <p:sp>
        <p:nvSpPr>
          <p:cNvPr id="48" name="Shape 42"/>
          <p:cNvSpPr/>
          <p:nvPr/>
        </p:nvSpPr>
        <p:spPr>
          <a:xfrm>
            <a:off x="8915400" y="2404872"/>
            <a:ext cx="237744" cy="237744"/>
          </a:xfrm>
          <a:prstGeom prst="ellipse">
            <a:avLst/>
          </a:prstGeom>
          <a:solidFill>
            <a:srgbClr val="0E9F9A"/>
          </a:solidFill>
          <a:ln/>
        </p:spPr>
      </p:sp>
      <p:sp>
        <p:nvSpPr>
          <p:cNvPr id="49" name="Text 43"/>
          <p:cNvSpPr txBox="1"/>
          <p:nvPr/>
        </p:nvSpPr>
        <p:spPr>
          <a:xfrm>
            <a:off x="8915400" y="240487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5</a:t>
            </a:r>
            <a:endParaRPr lang="en-US" sz="1100" dirty="0"/>
          </a:p>
        </p:txBody>
      </p:sp>
      <p:sp>
        <p:nvSpPr>
          <p:cNvPr id="50" name="Text 44"/>
          <p:cNvSpPr txBox="1"/>
          <p:nvPr/>
        </p:nvSpPr>
        <p:spPr>
          <a:xfrm>
            <a:off x="9180576" y="237744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下書きに書込</a:t>
            </a:r>
            <a:endParaRPr lang="en-US" sz="800" dirty="0"/>
          </a:p>
        </p:txBody>
      </p:sp>
      <p:sp>
        <p:nvSpPr>
          <p:cNvPr id="51" name="Text 45"/>
          <p:cNvSpPr txBox="1"/>
          <p:nvPr/>
        </p:nvSpPr>
        <p:spPr>
          <a:xfrm>
            <a:off x="8924544" y="267004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下書き欄に書き、ステータスを「下書きあり」に</a:t>
            </a:r>
            <a:endParaRPr lang="en-US" sz="650" dirty="0"/>
          </a:p>
        </p:txBody>
      </p:sp>
      <p:sp>
        <p:nvSpPr>
          <p:cNvPr id="52" name="Shape 46"/>
          <p:cNvSpPr/>
          <p:nvPr/>
        </p:nvSpPr>
        <p:spPr>
          <a:xfrm>
            <a:off x="10241280" y="1490472"/>
            <a:ext cx="1261872" cy="630936"/>
          </a:xfrm>
          <a:prstGeom prst="roundRect">
            <a:avLst>
              <a:gd name="adj" fmla="val 8696"/>
            </a:avLst>
          </a:prstGeom>
          <a:solidFill>
            <a:srgbClr val="FFFFFF"/>
          </a:solidFill>
          <a:ln w="12700">
            <a:solidFill>
              <a:srgbClr val="D5DBE3"/>
            </a:solidFill>
            <a:prstDash val="solid"/>
          </a:ln>
        </p:spPr>
      </p:sp>
      <p:sp>
        <p:nvSpPr>
          <p:cNvPr id="53" name="Shape 47"/>
          <p:cNvSpPr/>
          <p:nvPr/>
        </p:nvSpPr>
        <p:spPr>
          <a:xfrm>
            <a:off x="10287000" y="1536192"/>
            <a:ext cx="237744" cy="237744"/>
          </a:xfrm>
          <a:prstGeom prst="ellipse">
            <a:avLst/>
          </a:prstGeom>
          <a:solidFill>
            <a:srgbClr val="0E9F9A"/>
          </a:solidFill>
          <a:ln/>
        </p:spPr>
      </p:sp>
      <p:sp>
        <p:nvSpPr>
          <p:cNvPr id="54" name="Text 48"/>
          <p:cNvSpPr txBox="1"/>
          <p:nvPr/>
        </p:nvSpPr>
        <p:spPr>
          <a:xfrm>
            <a:off x="10287000" y="153619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6</a:t>
            </a:r>
            <a:endParaRPr lang="en-US" sz="1100" dirty="0"/>
          </a:p>
        </p:txBody>
      </p:sp>
      <p:sp>
        <p:nvSpPr>
          <p:cNvPr id="55" name="Text 49"/>
          <p:cNvSpPr txBox="1"/>
          <p:nvPr/>
        </p:nvSpPr>
        <p:spPr>
          <a:xfrm>
            <a:off x="10552176" y="150876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確認・確定</a:t>
            </a:r>
            <a:endParaRPr lang="en-US" sz="800" dirty="0"/>
          </a:p>
        </p:txBody>
      </p:sp>
      <p:sp>
        <p:nvSpPr>
          <p:cNvPr id="56" name="Text 50"/>
          <p:cNvSpPr txBox="1"/>
          <p:nvPr/>
        </p:nvSpPr>
        <p:spPr>
          <a:xfrm>
            <a:off x="10296144" y="180136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下書きを確認し、必要なら修正して人が確定</a:t>
            </a:r>
            <a:endParaRPr lang="en-US" sz="650" dirty="0"/>
          </a:p>
        </p:txBody>
      </p:sp>
      <p:sp>
        <p:nvSpPr>
          <p:cNvPr id="57" name="Shape 51"/>
          <p:cNvSpPr/>
          <p:nvPr/>
        </p:nvSpPr>
        <p:spPr>
          <a:xfrm>
            <a:off x="3273552" y="1805940"/>
            <a:ext cx="109728" cy="1737360"/>
          </a:xfrm>
          <a:prstGeom prst="line">
            <a:avLst/>
          </a:prstGeom>
          <a:noFill/>
          <a:ln w="19050">
            <a:solidFill>
              <a:srgbClr val="1B2A49"/>
            </a:solidFill>
            <a:prstDash val="solid"/>
            <a:tailEnd type="triangle"/>
          </a:ln>
        </p:spPr>
      </p:sp>
      <p:sp>
        <p:nvSpPr>
          <p:cNvPr id="58" name="Shape 52"/>
          <p:cNvSpPr/>
          <p:nvPr/>
        </p:nvSpPr>
        <p:spPr>
          <a:xfrm flipV="1">
            <a:off x="4645152" y="2674620"/>
            <a:ext cx="109728" cy="868680"/>
          </a:xfrm>
          <a:prstGeom prst="line">
            <a:avLst/>
          </a:prstGeom>
          <a:noFill/>
          <a:ln w="19050">
            <a:solidFill>
              <a:srgbClr val="1B2A49"/>
            </a:solidFill>
            <a:prstDash val="solid"/>
            <a:tailEnd type="triangle"/>
          </a:ln>
        </p:spPr>
      </p:sp>
      <p:sp>
        <p:nvSpPr>
          <p:cNvPr id="59" name="Shape 53"/>
          <p:cNvSpPr/>
          <p:nvPr/>
        </p:nvSpPr>
        <p:spPr>
          <a:xfrm>
            <a:off x="6016752" y="2674620"/>
            <a:ext cx="109728" cy="0"/>
          </a:xfrm>
          <a:prstGeom prst="line">
            <a:avLst/>
          </a:prstGeom>
          <a:noFill/>
          <a:ln w="19050">
            <a:solidFill>
              <a:srgbClr val="1B2A49"/>
            </a:solidFill>
            <a:prstDash val="solid"/>
            <a:tailEnd type="triangle"/>
          </a:ln>
        </p:spPr>
      </p:sp>
      <p:sp>
        <p:nvSpPr>
          <p:cNvPr id="60" name="Shape 54"/>
          <p:cNvSpPr/>
          <p:nvPr/>
        </p:nvSpPr>
        <p:spPr>
          <a:xfrm>
            <a:off x="7388352" y="2674620"/>
            <a:ext cx="109728" cy="1737360"/>
          </a:xfrm>
          <a:prstGeom prst="line">
            <a:avLst/>
          </a:prstGeom>
          <a:noFill/>
          <a:ln w="19050">
            <a:solidFill>
              <a:srgbClr val="1B2A49"/>
            </a:solidFill>
            <a:prstDash val="solid"/>
            <a:tailEnd type="triangle"/>
          </a:ln>
        </p:spPr>
      </p:sp>
      <p:sp>
        <p:nvSpPr>
          <p:cNvPr id="61" name="Shape 55"/>
          <p:cNvSpPr/>
          <p:nvPr/>
        </p:nvSpPr>
        <p:spPr>
          <a:xfrm flipV="1">
            <a:off x="8759952" y="2674620"/>
            <a:ext cx="109728" cy="1737360"/>
          </a:xfrm>
          <a:prstGeom prst="line">
            <a:avLst/>
          </a:prstGeom>
          <a:noFill/>
          <a:ln w="19050">
            <a:solidFill>
              <a:srgbClr val="1B2A49"/>
            </a:solidFill>
            <a:prstDash val="solid"/>
            <a:tailEnd type="triangle"/>
          </a:ln>
        </p:spPr>
      </p:sp>
      <p:sp>
        <p:nvSpPr>
          <p:cNvPr id="62" name="Shape 56"/>
          <p:cNvSpPr/>
          <p:nvPr/>
        </p:nvSpPr>
        <p:spPr>
          <a:xfrm flipV="1">
            <a:off x="10131552" y="1805940"/>
            <a:ext cx="109728" cy="868680"/>
          </a:xfrm>
          <a:prstGeom prst="line">
            <a:avLst/>
          </a:prstGeom>
          <a:noFill/>
          <a:ln w="19050">
            <a:solidFill>
              <a:srgbClr val="1B2A49"/>
            </a:solidFill>
            <a:prstDash val="solid"/>
            <a:tailEnd type="triangle"/>
          </a:ln>
        </p:spPr>
      </p:sp>
      <p:sp>
        <p:nvSpPr>
          <p:cNvPr id="63" name="Text 57"/>
          <p:cNvSpPr txBox="1"/>
          <p:nvPr/>
        </p:nvSpPr>
        <p:spPr>
          <a:xfrm>
            <a:off x="5760720" y="3611880"/>
            <a:ext cx="1691640" cy="274320"/>
          </a:xfrm>
          <a:prstGeom prst="rect">
            <a:avLst/>
          </a:prstGeom>
          <a:noFill/>
          <a:ln/>
        </p:spPr>
        <p:txBody>
          <a:bodyPr wrap="square" lIns="0" tIns="0" rIns="0" bIns="0" rtlCol="0" anchor="t"/>
          <a:lstStyle/>
          <a:p>
            <a:pPr indent="0" marL="0">
              <a:buNone/>
            </a:pPr>
            <a:r>
              <a:rPr lang="en-US" sz="700" b="1" dirty="0">
                <a:solidFill>
                  <a:srgbClr val="D64545"/>
                </a:solidFill>
                <a:latin typeface="Meiryo UI" pitchFamily="34" charset="0"/>
                <a:ea typeface="Meiryo UI" pitchFamily="34" charset="-122"/>
                <a:cs typeface="Meiryo UI" pitchFamily="34" charset="-120"/>
              </a:rPr>
              <a:t>エラー時はステータスを「エラー」にし、Teamsに通知</a:t>
            </a:r>
            <a:endParaRPr lang="en-US" sz="700" dirty="0"/>
          </a:p>
        </p:txBody>
      </p:sp>
      <p:sp>
        <p:nvSpPr>
          <p:cNvPr id="64" name="Shape 58"/>
          <p:cNvSpPr/>
          <p:nvPr/>
        </p:nvSpPr>
        <p:spPr>
          <a:xfrm>
            <a:off x="548640" y="4983480"/>
            <a:ext cx="5486400" cy="1371600"/>
          </a:xfrm>
          <a:prstGeom prst="roundRect">
            <a:avLst>
              <a:gd name="adj" fmla="val 4000"/>
            </a:avLst>
          </a:prstGeom>
          <a:solidFill>
            <a:srgbClr val="F3F5F8"/>
          </a:solidFill>
          <a:ln/>
        </p:spPr>
      </p:sp>
      <p:sp>
        <p:nvSpPr>
          <p:cNvPr id="65" name="Shape 59"/>
          <p:cNvSpPr/>
          <p:nvPr/>
        </p:nvSpPr>
        <p:spPr>
          <a:xfrm>
            <a:off x="685800" y="5102352"/>
            <a:ext cx="384048" cy="384048"/>
          </a:xfrm>
          <a:prstGeom prst="ellipse">
            <a:avLst/>
          </a:prstGeom>
          <a:solidFill>
            <a:srgbClr val="FFFFFF"/>
          </a:solidFill>
          <a:ln/>
        </p:spPr>
      </p:sp>
      <p:pic>
        <p:nvPicPr>
          <p:cNvPr id="66" name="Image 4" descr="preencoded.png">    </p:cNvPr>
          <p:cNvPicPr>
            <a:picLocks noChangeAspect="1"/>
          </p:cNvPicPr>
          <p:nvPr/>
        </p:nvPicPr>
        <p:blipFill>
          <a:blip r:embed="rId5"/>
          <a:stretch>
            <a:fillRect/>
          </a:stretch>
        </p:blipFill>
        <p:spPr>
          <a:xfrm>
            <a:off x="762610" y="5179162"/>
            <a:ext cx="230429" cy="230429"/>
          </a:xfrm>
          <a:prstGeom prst="rect">
            <a:avLst/>
          </a:prstGeom>
        </p:spPr>
      </p:pic>
      <p:sp>
        <p:nvSpPr>
          <p:cNvPr id="67" name="Text 60"/>
          <p:cNvSpPr txBox="1"/>
          <p:nvPr/>
        </p:nvSpPr>
        <p:spPr>
          <a:xfrm>
            <a:off x="1143000" y="5102352"/>
            <a:ext cx="4800600" cy="384048"/>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定期実行を担える候補</a:t>
            </a:r>
            <a:endParaRPr lang="en-US" sz="1100" dirty="0"/>
          </a:p>
        </p:txBody>
      </p:sp>
      <p:sp>
        <p:nvSpPr>
          <p:cNvPr id="68" name="Text 61"/>
          <p:cNvSpPr txBox="1"/>
          <p:nvPr/>
        </p:nvSpPr>
        <p:spPr>
          <a:xfrm>
            <a:off x="731520" y="5586984"/>
            <a:ext cx="5166360" cy="676656"/>
          </a:xfrm>
          <a:prstGeom prst="rect">
            <a:avLst/>
          </a:prstGeom>
          <a:noFill/>
          <a:ln/>
        </p:spPr>
        <p:txBody>
          <a:bodyPr wrap="square" lIns="254" tIns="254" rIns="254" bIns="254" rtlCol="0" anchor="t"/>
          <a:lstStyle/>
          <a:p>
            <a:pPr marL="152400" indent="-152400">
              <a:spcAft>
                <a:spcPts val="200"/>
              </a:spcAft>
              <a:buSzPct val="100000"/>
              <a:buChar char="•"/>
            </a:pPr>
            <a:r>
              <a:rPr lang="en-US" sz="950" dirty="0">
                <a:solidFill>
                  <a:srgbClr val="2B2B2B"/>
                </a:solidFill>
                <a:latin typeface="Meiryo UI" pitchFamily="34" charset="0"/>
                <a:ea typeface="Meiryo UI" pitchFamily="34" charset="-122"/>
                <a:cs typeface="Meiryo UI" pitchFamily="34" charset="-120"/>
              </a:rPr>
              <a:t>Power Automateのスケジュール済みクラウドフロー（M365側。今回の想定）</a:t>
            </a:r>
            <a:endParaRPr lang="en-US" sz="950" dirty="0"/>
          </a:p>
          <a:p>
            <a:pPr marL="152400" indent="-152400">
              <a:spcAft>
                <a:spcPts val="200"/>
              </a:spcAft>
              <a:buSzPct val="100000"/>
              <a:buChar char="•"/>
            </a:pPr>
            <a:r>
              <a:rPr lang="en-US" sz="950" dirty="0">
                <a:solidFill>
                  <a:srgbClr val="2B2B2B"/>
                </a:solidFill>
                <a:latin typeface="Meiryo UI" pitchFamily="34" charset="0"/>
                <a:ea typeface="Meiryo UI" pitchFamily="34" charset="-122"/>
                <a:cs typeface="Meiryo UI" pitchFamily="34" charset="-120"/>
              </a:rPr>
              <a:t>Airtableのオートメーション（定時トリガー）、GCPのCloud Scheduler、iPaaSなども仕組み上は可能</a:t>
            </a:r>
            <a:endParaRPr lang="en-US" sz="950" dirty="0"/>
          </a:p>
        </p:txBody>
      </p:sp>
      <p:sp>
        <p:nvSpPr>
          <p:cNvPr id="69" name="Shape 62"/>
          <p:cNvSpPr/>
          <p:nvPr/>
        </p:nvSpPr>
        <p:spPr>
          <a:xfrm>
            <a:off x="6172200" y="4983480"/>
            <a:ext cx="5440680" cy="1371600"/>
          </a:xfrm>
          <a:prstGeom prst="roundRect">
            <a:avLst>
              <a:gd name="adj" fmla="val 4000"/>
            </a:avLst>
          </a:prstGeom>
          <a:solidFill>
            <a:srgbClr val="F3F5F8"/>
          </a:solidFill>
          <a:ln/>
        </p:spPr>
      </p:sp>
      <p:sp>
        <p:nvSpPr>
          <p:cNvPr id="70" name="Shape 63"/>
          <p:cNvSpPr/>
          <p:nvPr/>
        </p:nvSpPr>
        <p:spPr>
          <a:xfrm>
            <a:off x="6309360" y="5102352"/>
            <a:ext cx="384048" cy="384048"/>
          </a:xfrm>
          <a:prstGeom prst="ellipse">
            <a:avLst/>
          </a:prstGeom>
          <a:solidFill>
            <a:srgbClr val="FFFFFF"/>
          </a:solidFill>
          <a:ln/>
        </p:spPr>
      </p:sp>
      <p:pic>
        <p:nvPicPr>
          <p:cNvPr id="71" name="Image 5" descr="preencoded.png">    </p:cNvPr>
          <p:cNvPicPr>
            <a:picLocks noChangeAspect="1"/>
          </p:cNvPicPr>
          <p:nvPr/>
        </p:nvPicPr>
        <p:blipFill>
          <a:blip r:embed="rId6"/>
          <a:stretch>
            <a:fillRect/>
          </a:stretch>
        </p:blipFill>
        <p:spPr>
          <a:xfrm>
            <a:off x="6386170" y="5179162"/>
            <a:ext cx="230429" cy="230429"/>
          </a:xfrm>
          <a:prstGeom prst="rect">
            <a:avLst/>
          </a:prstGeom>
        </p:spPr>
      </p:pic>
      <p:sp>
        <p:nvSpPr>
          <p:cNvPr id="72" name="Text 64"/>
          <p:cNvSpPr txBox="1"/>
          <p:nvPr/>
        </p:nvSpPr>
        <p:spPr>
          <a:xfrm>
            <a:off x="6766560" y="5102352"/>
            <a:ext cx="4754880" cy="384048"/>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「起案待ちを取得」とは</a:t>
            </a:r>
            <a:endParaRPr lang="en-US" sz="1100" dirty="0"/>
          </a:p>
        </p:txBody>
      </p:sp>
      <p:sp>
        <p:nvSpPr>
          <p:cNvPr id="73" name="Text 65"/>
          <p:cNvSpPr txBox="1"/>
          <p:nvPr/>
        </p:nvSpPr>
        <p:spPr>
          <a:xfrm>
            <a:off x="6355080" y="5586984"/>
            <a:ext cx="5120640" cy="676656"/>
          </a:xfrm>
          <a:prstGeom prst="rect">
            <a:avLst/>
          </a:prstGeom>
          <a:noFill/>
          <a:ln/>
        </p:spPr>
        <p:txBody>
          <a:bodyPr wrap="square" lIns="254" tIns="254" rIns="254" bIns="254" rtlCol="0" anchor="t"/>
          <a:lstStyle/>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Airtableのカードのうち、ステータス欄が「起案待ち」のものだけをAPIで検索して取り出すこと</a:t>
            </a:r>
            <a:endParaRPr lang="en-US" sz="900" dirty="0"/>
          </a:p>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起案待ちにするのは人（またはカード作成時の初期値）。実行間隔の分だけ待ち時間が出る</a:t>
            </a:r>
            <a:endParaRPr lang="en-US" sz="900" dirty="0"/>
          </a:p>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1回の実行で処理する件数の上限を決めておく（APIは1ベースあたり毎秒5リクエストまで）</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エージェントの呼び出し方の違い：Execute Agent と 自律エージェント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処理の主役がフローか、エージェントかの違い。表の「Execute Agent」と「自律エージェント」はこの2つを指す</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46</a:t>
            </a:r>
            <a:endParaRPr lang="en-US" sz="900" dirty="0"/>
          </a:p>
        </p:txBody>
      </p:sp>
      <p:sp>
        <p:nvSpPr>
          <p:cNvPr id="6" name="Shape 4"/>
          <p:cNvSpPr/>
          <p:nvPr/>
        </p:nvSpPr>
        <p:spPr>
          <a:xfrm>
            <a:off x="548640" y="1371600"/>
            <a:ext cx="5440680" cy="4937760"/>
          </a:xfrm>
          <a:prstGeom prst="roundRect">
            <a:avLst>
              <a:gd name="adj" fmla="val 1111"/>
            </a:avLst>
          </a:prstGeom>
          <a:solidFill>
            <a:srgbClr val="D9F2F1"/>
          </a:solidFill>
          <a:ln/>
        </p:spPr>
      </p:sp>
      <p:sp>
        <p:nvSpPr>
          <p:cNvPr id="7" name="Shape 5"/>
          <p:cNvSpPr/>
          <p:nvPr/>
        </p:nvSpPr>
        <p:spPr>
          <a:xfrm>
            <a:off x="731520" y="1508760"/>
            <a:ext cx="1463040" cy="310896"/>
          </a:xfrm>
          <a:prstGeom prst="roundRect">
            <a:avLst>
              <a:gd name="adj" fmla="val 50000"/>
            </a:avLst>
          </a:prstGeom>
          <a:solidFill>
            <a:srgbClr val="1B2A49"/>
          </a:solidFill>
          <a:ln/>
        </p:spPr>
      </p:sp>
      <p:sp>
        <p:nvSpPr>
          <p:cNvPr id="8" name="Text 6"/>
          <p:cNvSpPr txBox="1"/>
          <p:nvPr/>
        </p:nvSpPr>
        <p:spPr>
          <a:xfrm>
            <a:off x="731520" y="1508760"/>
            <a:ext cx="1463040" cy="310896"/>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Execute Agent</a:t>
            </a:r>
            <a:endParaRPr lang="en-US" sz="1000" dirty="0"/>
          </a:p>
        </p:txBody>
      </p:sp>
      <p:sp>
        <p:nvSpPr>
          <p:cNvPr id="9" name="Text 7"/>
          <p:cNvSpPr txBox="1"/>
          <p:nvPr/>
        </p:nvSpPr>
        <p:spPr>
          <a:xfrm>
            <a:off x="2331720" y="1481328"/>
            <a:ext cx="3566160" cy="365760"/>
          </a:xfrm>
          <a:prstGeom prst="rect">
            <a:avLst/>
          </a:prstGeom>
          <a:noFill/>
          <a:ln/>
        </p:spPr>
        <p:txBody>
          <a:bodyPr wrap="square" lIns="508" tIns="508" rIns="508" bIns="508"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フローが主役</a:t>
            </a:r>
            <a:endParaRPr lang="en-US" sz="1250" dirty="0"/>
          </a:p>
        </p:txBody>
      </p:sp>
      <p:sp>
        <p:nvSpPr>
          <p:cNvPr id="10" name="Shape 8"/>
          <p:cNvSpPr/>
          <p:nvPr/>
        </p:nvSpPr>
        <p:spPr>
          <a:xfrm>
            <a:off x="731520" y="1965960"/>
            <a:ext cx="5074920" cy="1325880"/>
          </a:xfrm>
          <a:prstGeom prst="roundRect">
            <a:avLst>
              <a:gd name="adj" fmla="val 4138"/>
            </a:avLst>
          </a:prstGeom>
          <a:solidFill>
            <a:srgbClr val="FFFFFF"/>
          </a:solidFill>
          <a:ln w="12700">
            <a:solidFill>
              <a:srgbClr val="D5DBE3"/>
            </a:solidFill>
            <a:prstDash val="solid"/>
          </a:ln>
        </p:spPr>
      </p:sp>
      <p:sp>
        <p:nvSpPr>
          <p:cNvPr id="11" name="Shape 9"/>
          <p:cNvSpPr/>
          <p:nvPr/>
        </p:nvSpPr>
        <p:spPr>
          <a:xfrm>
            <a:off x="822960" y="2194560"/>
            <a:ext cx="1463040" cy="868680"/>
          </a:xfrm>
          <a:prstGeom prst="roundRect">
            <a:avLst>
              <a:gd name="adj" fmla="val 8421"/>
            </a:avLst>
          </a:prstGeom>
          <a:solidFill>
            <a:srgbClr val="FFFFFF"/>
          </a:solidFill>
          <a:ln w="12700">
            <a:solidFill>
              <a:srgbClr val="D5DBE3"/>
            </a:solidFill>
            <a:prstDash val="solid"/>
          </a:ln>
        </p:spPr>
      </p:sp>
      <p:pic>
        <p:nvPicPr>
          <p:cNvPr id="12" name="Image 0" descr="preencoded.png">    </p:cNvPr>
          <p:cNvPicPr>
            <a:picLocks noChangeAspect="1"/>
          </p:cNvPicPr>
          <p:nvPr/>
        </p:nvPicPr>
        <p:blipFill>
          <a:blip r:embed="rId1"/>
          <a:stretch>
            <a:fillRect/>
          </a:stretch>
        </p:blipFill>
        <p:spPr>
          <a:xfrm>
            <a:off x="932688" y="2491740"/>
            <a:ext cx="274320" cy="274320"/>
          </a:xfrm>
          <a:prstGeom prst="rect">
            <a:avLst/>
          </a:prstGeom>
        </p:spPr>
      </p:pic>
      <p:sp>
        <p:nvSpPr>
          <p:cNvPr id="13" name="Text 10"/>
          <p:cNvSpPr txBox="1"/>
          <p:nvPr/>
        </p:nvSpPr>
        <p:spPr>
          <a:xfrm>
            <a:off x="1298448" y="2194560"/>
            <a:ext cx="941832" cy="8686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フロー</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カードを取得</a:t>
            </a:r>
            <a:endParaRPr lang="en-US" sz="950" dirty="0"/>
          </a:p>
        </p:txBody>
      </p:sp>
      <p:sp>
        <p:nvSpPr>
          <p:cNvPr id="14" name="Shape 11"/>
          <p:cNvSpPr/>
          <p:nvPr/>
        </p:nvSpPr>
        <p:spPr>
          <a:xfrm>
            <a:off x="2313432" y="2624328"/>
            <a:ext cx="155448" cy="0"/>
          </a:xfrm>
          <a:prstGeom prst="line">
            <a:avLst/>
          </a:prstGeom>
          <a:noFill/>
          <a:ln w="19050">
            <a:solidFill>
              <a:srgbClr val="1B2A49"/>
            </a:solidFill>
            <a:prstDash val="solid"/>
            <a:tailEnd type="triangle"/>
          </a:ln>
        </p:spPr>
      </p:sp>
      <p:sp>
        <p:nvSpPr>
          <p:cNvPr id="15" name="Shape 12"/>
          <p:cNvSpPr/>
          <p:nvPr/>
        </p:nvSpPr>
        <p:spPr>
          <a:xfrm>
            <a:off x="2496312" y="2194560"/>
            <a:ext cx="1463040" cy="868680"/>
          </a:xfrm>
          <a:prstGeom prst="roundRect">
            <a:avLst>
              <a:gd name="adj" fmla="val 8421"/>
            </a:avLst>
          </a:prstGeom>
          <a:solidFill>
            <a:srgbClr val="0E9F9A"/>
          </a:solidFill>
          <a:ln/>
        </p:spPr>
      </p:sp>
      <p:sp>
        <p:nvSpPr>
          <p:cNvPr id="16" name="Shape 13"/>
          <p:cNvSpPr/>
          <p:nvPr/>
        </p:nvSpPr>
        <p:spPr>
          <a:xfrm>
            <a:off x="2569464" y="2436876"/>
            <a:ext cx="384048" cy="384048"/>
          </a:xfrm>
          <a:prstGeom prst="ellipse">
            <a:avLst/>
          </a:prstGeom>
          <a:solidFill>
            <a:srgbClr val="FFFFFF"/>
          </a:solidFill>
          <a:ln/>
        </p:spPr>
      </p:sp>
      <p:pic>
        <p:nvPicPr>
          <p:cNvPr id="17" name="Image 1" descr="preencoded.png">    </p:cNvPr>
          <p:cNvPicPr>
            <a:picLocks noChangeAspect="1"/>
          </p:cNvPicPr>
          <p:nvPr/>
        </p:nvPicPr>
        <p:blipFill>
          <a:blip r:embed="rId2"/>
          <a:stretch>
            <a:fillRect/>
          </a:stretch>
        </p:blipFill>
        <p:spPr>
          <a:xfrm>
            <a:off x="2624328" y="2491740"/>
            <a:ext cx="274320" cy="274320"/>
          </a:xfrm>
          <a:prstGeom prst="rect">
            <a:avLst/>
          </a:prstGeom>
        </p:spPr>
      </p:pic>
      <p:sp>
        <p:nvSpPr>
          <p:cNvPr id="18" name="Text 14"/>
          <p:cNvSpPr txBox="1"/>
          <p:nvPr/>
        </p:nvSpPr>
        <p:spPr>
          <a:xfrm>
            <a:off x="3095244" y="2194560"/>
            <a:ext cx="818388" cy="868680"/>
          </a:xfrm>
          <a:prstGeom prst="rect">
            <a:avLst/>
          </a:prstGeom>
          <a:noFill/>
          <a:ln/>
        </p:spPr>
        <p:txBody>
          <a:bodyPr wrap="square" lIns="0" tIns="0" rIns="0" bIns="0" rtlCol="0" anchor="ctr"/>
          <a:lstStyle/>
          <a:p>
            <a:pPr algn="l" indent="0" marL="0">
              <a:buNone/>
            </a:pPr>
            <a:r>
              <a:rPr lang="en-US" sz="950" b="1" dirty="0">
                <a:solidFill>
                  <a:srgbClr val="FFFFFF"/>
                </a:solidFill>
                <a:latin typeface="Meiryo UI" pitchFamily="34" charset="0"/>
                <a:ea typeface="Meiryo UI" pitchFamily="34" charset="-122"/>
                <a:cs typeface="Meiryo UI" pitchFamily="34" charset="-120"/>
              </a:rPr>
              <a:t>エージェント</a:t>
            </a:r>
            <a:endParaRPr lang="en-US" sz="950" dirty="0"/>
          </a:p>
          <a:p>
            <a:pPr algn="l" indent="0" marL="0">
              <a:buNone/>
            </a:pPr>
            <a:r>
              <a:rPr lang="en-US" sz="750" dirty="0">
                <a:solidFill>
                  <a:srgbClr val="E6F2F2"/>
                </a:solidFill>
                <a:latin typeface="Meiryo UI" pitchFamily="34" charset="0"/>
                <a:ea typeface="Meiryo UI" pitchFamily="34" charset="-122"/>
                <a:cs typeface="Meiryo UI" pitchFamily="34" charset="-120"/>
              </a:rPr>
              <a:t>下書きを生成して返す</a:t>
            </a:r>
            <a:endParaRPr lang="en-US" sz="950" dirty="0"/>
          </a:p>
        </p:txBody>
      </p:sp>
      <p:sp>
        <p:nvSpPr>
          <p:cNvPr id="19" name="Shape 15"/>
          <p:cNvSpPr/>
          <p:nvPr/>
        </p:nvSpPr>
        <p:spPr>
          <a:xfrm>
            <a:off x="3986784" y="2624328"/>
            <a:ext cx="155448" cy="0"/>
          </a:xfrm>
          <a:prstGeom prst="line">
            <a:avLst/>
          </a:prstGeom>
          <a:noFill/>
          <a:ln w="19050">
            <a:solidFill>
              <a:srgbClr val="1B2A49"/>
            </a:solidFill>
            <a:prstDash val="solid"/>
            <a:tailEnd type="triangle"/>
          </a:ln>
        </p:spPr>
      </p:sp>
      <p:sp>
        <p:nvSpPr>
          <p:cNvPr id="20" name="Shape 16"/>
          <p:cNvSpPr/>
          <p:nvPr/>
        </p:nvSpPr>
        <p:spPr>
          <a:xfrm>
            <a:off x="4169664" y="2194560"/>
            <a:ext cx="1463040" cy="868680"/>
          </a:xfrm>
          <a:prstGeom prst="roundRect">
            <a:avLst>
              <a:gd name="adj" fmla="val 8421"/>
            </a:avLst>
          </a:prstGeom>
          <a:solidFill>
            <a:srgbClr val="FFFFFF"/>
          </a:solidFill>
          <a:ln w="12700">
            <a:solidFill>
              <a:srgbClr val="D5DBE3"/>
            </a:solidFill>
            <a:prstDash val="solid"/>
          </a:ln>
        </p:spPr>
      </p:sp>
      <p:pic>
        <p:nvPicPr>
          <p:cNvPr id="21" name="Image 2" descr="preencoded.png">    </p:cNvPr>
          <p:cNvPicPr>
            <a:picLocks noChangeAspect="1"/>
          </p:cNvPicPr>
          <p:nvPr/>
        </p:nvPicPr>
        <p:blipFill>
          <a:blip r:embed="rId3"/>
          <a:stretch>
            <a:fillRect/>
          </a:stretch>
        </p:blipFill>
        <p:spPr>
          <a:xfrm>
            <a:off x="4279392" y="2491740"/>
            <a:ext cx="274320" cy="274320"/>
          </a:xfrm>
          <a:prstGeom prst="rect">
            <a:avLst/>
          </a:prstGeom>
        </p:spPr>
      </p:pic>
      <p:sp>
        <p:nvSpPr>
          <p:cNvPr id="22" name="Text 17"/>
          <p:cNvSpPr txBox="1"/>
          <p:nvPr/>
        </p:nvSpPr>
        <p:spPr>
          <a:xfrm>
            <a:off x="4645152" y="2194560"/>
            <a:ext cx="941832" cy="8686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フロー</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Airtableに書き込む</a:t>
            </a:r>
            <a:endParaRPr lang="en-US" sz="9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731520" y="3429000"/>
          <a:ext cx="5074920" cy="914400"/>
        </p:xfrm>
        <a:graphic>
          <a:graphicData uri="http://schemas.openxmlformats.org/drawingml/2006/table">
            <a:tbl>
              <a:tblPr/>
              <a:tblGrid>
                <a:gridCol w="1371600"/>
                <a:gridCol w="3703320"/>
              </a:tblGrid>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仕組み</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Power Automateの「Execute Agent and wait」で、エージェントに依頼して応答を待つ。関数を呼ぶような使い方</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エージェントの役割</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生成だけ（取得・書き込み・エラー処理はフローが行う）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確実さ</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書き込みの手順がフローで決まっているため、制御しやすい</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該当する方式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O1・O2・O5</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4" name="Shape 18"/>
          <p:cNvSpPr/>
          <p:nvPr/>
        </p:nvSpPr>
        <p:spPr>
          <a:xfrm>
            <a:off x="6172200" y="1371600"/>
            <a:ext cx="5440680" cy="4937760"/>
          </a:xfrm>
          <a:prstGeom prst="roundRect">
            <a:avLst>
              <a:gd name="adj" fmla="val 1111"/>
            </a:avLst>
          </a:prstGeom>
          <a:solidFill>
            <a:srgbClr val="EEEAF8"/>
          </a:solidFill>
          <a:ln/>
        </p:spPr>
      </p:sp>
      <p:sp>
        <p:nvSpPr>
          <p:cNvPr id="25" name="Shape 19"/>
          <p:cNvSpPr/>
          <p:nvPr/>
        </p:nvSpPr>
        <p:spPr>
          <a:xfrm>
            <a:off x="6355080" y="1508760"/>
            <a:ext cx="1463040" cy="310896"/>
          </a:xfrm>
          <a:prstGeom prst="roundRect">
            <a:avLst>
              <a:gd name="adj" fmla="val 50000"/>
            </a:avLst>
          </a:prstGeom>
          <a:solidFill>
            <a:srgbClr val="1B2A49"/>
          </a:solidFill>
          <a:ln/>
        </p:spPr>
      </p:sp>
      <p:sp>
        <p:nvSpPr>
          <p:cNvPr id="26" name="Text 20"/>
          <p:cNvSpPr txBox="1"/>
          <p:nvPr/>
        </p:nvSpPr>
        <p:spPr>
          <a:xfrm>
            <a:off x="6355080" y="1508760"/>
            <a:ext cx="1463040" cy="310896"/>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自律エージェント</a:t>
            </a:r>
            <a:endParaRPr lang="en-US" sz="1000" dirty="0"/>
          </a:p>
        </p:txBody>
      </p:sp>
      <p:sp>
        <p:nvSpPr>
          <p:cNvPr id="27" name="Text 21"/>
          <p:cNvSpPr txBox="1"/>
          <p:nvPr/>
        </p:nvSpPr>
        <p:spPr>
          <a:xfrm>
            <a:off x="7955280" y="1481328"/>
            <a:ext cx="3566160" cy="365760"/>
          </a:xfrm>
          <a:prstGeom prst="rect">
            <a:avLst/>
          </a:prstGeom>
          <a:noFill/>
          <a:ln/>
        </p:spPr>
        <p:txBody>
          <a:bodyPr wrap="square" lIns="508" tIns="508" rIns="508" bIns="508"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エージェントが主役</a:t>
            </a:r>
            <a:endParaRPr lang="en-US" sz="1250" dirty="0"/>
          </a:p>
        </p:txBody>
      </p:sp>
      <p:sp>
        <p:nvSpPr>
          <p:cNvPr id="28" name="Shape 22"/>
          <p:cNvSpPr/>
          <p:nvPr/>
        </p:nvSpPr>
        <p:spPr>
          <a:xfrm>
            <a:off x="6355080" y="1965960"/>
            <a:ext cx="5074920" cy="1325880"/>
          </a:xfrm>
          <a:prstGeom prst="roundRect">
            <a:avLst>
              <a:gd name="adj" fmla="val 4138"/>
            </a:avLst>
          </a:prstGeom>
          <a:solidFill>
            <a:srgbClr val="FFFFFF"/>
          </a:solidFill>
          <a:ln w="12700">
            <a:solidFill>
              <a:srgbClr val="D5DBE3"/>
            </a:solidFill>
            <a:prstDash val="solid"/>
          </a:ln>
        </p:spPr>
      </p:sp>
      <p:sp>
        <p:nvSpPr>
          <p:cNvPr id="29" name="Shape 23"/>
          <p:cNvSpPr/>
          <p:nvPr/>
        </p:nvSpPr>
        <p:spPr>
          <a:xfrm>
            <a:off x="6446520" y="2194560"/>
            <a:ext cx="1463040" cy="868680"/>
          </a:xfrm>
          <a:prstGeom prst="roundRect">
            <a:avLst>
              <a:gd name="adj" fmla="val 8421"/>
            </a:avLst>
          </a:prstGeom>
          <a:solidFill>
            <a:srgbClr val="FFFFFF"/>
          </a:solidFill>
          <a:ln w="12700">
            <a:solidFill>
              <a:srgbClr val="D5DBE3"/>
            </a:solidFill>
            <a:prstDash val="solid"/>
          </a:ln>
        </p:spPr>
      </p:sp>
      <p:pic>
        <p:nvPicPr>
          <p:cNvPr id="30" name="Image 3" descr="preencoded.png">    </p:cNvPr>
          <p:cNvPicPr>
            <a:picLocks noChangeAspect="1"/>
          </p:cNvPicPr>
          <p:nvPr/>
        </p:nvPicPr>
        <p:blipFill>
          <a:blip r:embed="rId4"/>
          <a:stretch>
            <a:fillRect/>
          </a:stretch>
        </p:blipFill>
        <p:spPr>
          <a:xfrm>
            <a:off x="6556248" y="2491740"/>
            <a:ext cx="274320" cy="274320"/>
          </a:xfrm>
          <a:prstGeom prst="rect">
            <a:avLst/>
          </a:prstGeom>
        </p:spPr>
      </p:pic>
      <p:sp>
        <p:nvSpPr>
          <p:cNvPr id="31" name="Text 24"/>
          <p:cNvSpPr txBox="1"/>
          <p:nvPr/>
        </p:nvSpPr>
        <p:spPr>
          <a:xfrm>
            <a:off x="6922008" y="2194560"/>
            <a:ext cx="941832" cy="8686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トリガー</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イベントを渡す</a:t>
            </a:r>
            <a:endParaRPr lang="en-US" sz="950" dirty="0"/>
          </a:p>
        </p:txBody>
      </p:sp>
      <p:sp>
        <p:nvSpPr>
          <p:cNvPr id="32" name="Shape 25"/>
          <p:cNvSpPr/>
          <p:nvPr/>
        </p:nvSpPr>
        <p:spPr>
          <a:xfrm>
            <a:off x="7936992" y="2624328"/>
            <a:ext cx="155448" cy="0"/>
          </a:xfrm>
          <a:prstGeom prst="line">
            <a:avLst/>
          </a:prstGeom>
          <a:noFill/>
          <a:ln w="19050">
            <a:solidFill>
              <a:srgbClr val="1B2A49"/>
            </a:solidFill>
            <a:prstDash val="solid"/>
            <a:tailEnd type="triangle"/>
          </a:ln>
        </p:spPr>
      </p:sp>
      <p:sp>
        <p:nvSpPr>
          <p:cNvPr id="33" name="Shape 26"/>
          <p:cNvSpPr/>
          <p:nvPr/>
        </p:nvSpPr>
        <p:spPr>
          <a:xfrm>
            <a:off x="8119872" y="2194560"/>
            <a:ext cx="1463040" cy="868680"/>
          </a:xfrm>
          <a:prstGeom prst="roundRect">
            <a:avLst>
              <a:gd name="adj" fmla="val 8421"/>
            </a:avLst>
          </a:prstGeom>
          <a:solidFill>
            <a:srgbClr val="6B4FBB"/>
          </a:solidFill>
          <a:ln/>
        </p:spPr>
      </p:sp>
      <p:sp>
        <p:nvSpPr>
          <p:cNvPr id="34" name="Shape 27"/>
          <p:cNvSpPr/>
          <p:nvPr/>
        </p:nvSpPr>
        <p:spPr>
          <a:xfrm>
            <a:off x="8193024" y="2436876"/>
            <a:ext cx="384048" cy="384048"/>
          </a:xfrm>
          <a:prstGeom prst="ellipse">
            <a:avLst/>
          </a:prstGeom>
          <a:solidFill>
            <a:srgbClr val="FFFFFF"/>
          </a:solidFill>
          <a:ln/>
        </p:spPr>
      </p:sp>
      <p:pic>
        <p:nvPicPr>
          <p:cNvPr id="35" name="Image 4" descr="preencoded.png">    </p:cNvPr>
          <p:cNvPicPr>
            <a:picLocks noChangeAspect="1"/>
          </p:cNvPicPr>
          <p:nvPr/>
        </p:nvPicPr>
        <p:blipFill>
          <a:blip r:embed="rId5"/>
          <a:stretch>
            <a:fillRect/>
          </a:stretch>
        </p:blipFill>
        <p:spPr>
          <a:xfrm>
            <a:off x="8247888" y="2491740"/>
            <a:ext cx="274320" cy="274320"/>
          </a:xfrm>
          <a:prstGeom prst="rect">
            <a:avLst/>
          </a:prstGeom>
        </p:spPr>
      </p:pic>
      <p:sp>
        <p:nvSpPr>
          <p:cNvPr id="36" name="Text 28"/>
          <p:cNvSpPr txBox="1"/>
          <p:nvPr/>
        </p:nvSpPr>
        <p:spPr>
          <a:xfrm>
            <a:off x="8718804" y="2194560"/>
            <a:ext cx="818388" cy="868680"/>
          </a:xfrm>
          <a:prstGeom prst="rect">
            <a:avLst/>
          </a:prstGeom>
          <a:noFill/>
          <a:ln/>
        </p:spPr>
        <p:txBody>
          <a:bodyPr wrap="square" lIns="0" tIns="0" rIns="0" bIns="0" rtlCol="0" anchor="ctr"/>
          <a:lstStyle/>
          <a:p>
            <a:pPr algn="l" indent="0" marL="0">
              <a:buNone/>
            </a:pPr>
            <a:r>
              <a:rPr lang="en-US" sz="950" b="1" dirty="0">
                <a:solidFill>
                  <a:srgbClr val="FFFFFF"/>
                </a:solidFill>
                <a:latin typeface="Meiryo UI" pitchFamily="34" charset="0"/>
                <a:ea typeface="Meiryo UI" pitchFamily="34" charset="-122"/>
                <a:cs typeface="Meiryo UI" pitchFamily="34" charset="-120"/>
              </a:rPr>
              <a:t>エージェント</a:t>
            </a:r>
            <a:endParaRPr lang="en-US" sz="950" dirty="0"/>
          </a:p>
          <a:p>
            <a:pPr algn="l" indent="0" marL="0">
              <a:buNone/>
            </a:pPr>
            <a:r>
              <a:rPr lang="en-US" sz="750" dirty="0">
                <a:solidFill>
                  <a:srgbClr val="E6F2F2"/>
                </a:solidFill>
                <a:latin typeface="Meiryo UI" pitchFamily="34" charset="0"/>
                <a:ea typeface="Meiryo UI" pitchFamily="34" charset="-122"/>
                <a:cs typeface="Meiryo UI" pitchFamily="34" charset="-120"/>
              </a:rPr>
              <a:t>自分で判断して取得・生成</a:t>
            </a:r>
            <a:endParaRPr lang="en-US" sz="950" dirty="0"/>
          </a:p>
        </p:txBody>
      </p:sp>
      <p:sp>
        <p:nvSpPr>
          <p:cNvPr id="37" name="Shape 29"/>
          <p:cNvSpPr/>
          <p:nvPr/>
        </p:nvSpPr>
        <p:spPr>
          <a:xfrm>
            <a:off x="9610344" y="2624328"/>
            <a:ext cx="155448" cy="0"/>
          </a:xfrm>
          <a:prstGeom prst="line">
            <a:avLst/>
          </a:prstGeom>
          <a:noFill/>
          <a:ln w="19050">
            <a:solidFill>
              <a:srgbClr val="1B2A49"/>
            </a:solidFill>
            <a:prstDash val="solid"/>
            <a:tailEnd type="triangle"/>
          </a:ln>
        </p:spPr>
      </p:sp>
      <p:sp>
        <p:nvSpPr>
          <p:cNvPr id="38" name="Shape 30"/>
          <p:cNvSpPr/>
          <p:nvPr/>
        </p:nvSpPr>
        <p:spPr>
          <a:xfrm>
            <a:off x="9793224" y="2194560"/>
            <a:ext cx="1463040" cy="868680"/>
          </a:xfrm>
          <a:prstGeom prst="roundRect">
            <a:avLst>
              <a:gd name="adj" fmla="val 8421"/>
            </a:avLst>
          </a:prstGeom>
          <a:solidFill>
            <a:srgbClr val="FFFFFF"/>
          </a:solidFill>
          <a:ln w="12700">
            <a:solidFill>
              <a:srgbClr val="D5DBE3"/>
            </a:solidFill>
            <a:prstDash val="solid"/>
          </a:ln>
        </p:spPr>
      </p:sp>
      <p:pic>
        <p:nvPicPr>
          <p:cNvPr id="39" name="Image 5" descr="preencoded.png">    </p:cNvPr>
          <p:cNvPicPr>
            <a:picLocks noChangeAspect="1"/>
          </p:cNvPicPr>
          <p:nvPr/>
        </p:nvPicPr>
        <p:blipFill>
          <a:blip r:embed="rId6"/>
          <a:stretch>
            <a:fillRect/>
          </a:stretch>
        </p:blipFill>
        <p:spPr>
          <a:xfrm>
            <a:off x="9902952" y="2491740"/>
            <a:ext cx="274320" cy="274320"/>
          </a:xfrm>
          <a:prstGeom prst="rect">
            <a:avLst/>
          </a:prstGeom>
        </p:spPr>
      </p:pic>
      <p:sp>
        <p:nvSpPr>
          <p:cNvPr id="40" name="Text 31"/>
          <p:cNvSpPr txBox="1"/>
          <p:nvPr/>
        </p:nvSpPr>
        <p:spPr>
          <a:xfrm>
            <a:off x="10268712" y="2194560"/>
            <a:ext cx="941832" cy="8686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エージェントのツール</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Airtableに書き込む</a:t>
            </a:r>
            <a:endParaRPr lang="en-US" sz="950" dirty="0"/>
          </a:p>
        </p:txBody>
      </p:sp>
      <p:graphicFrame>
        <p:nvGraphicFramePr>
          <p:cNvPr id="93" name="Table 1"/>
          <p:cNvGraphicFramePr>
            <a:graphicFrameLocks noGrp="1"/>
          </p:cNvGraphicFramePr>
          <p:nvPr>
            <p:extLst>
              <p:ext uri="{D42A27DB-BD31-4B8C-83A1-F6EECF244321}">
                <p14:modId xmlns:p14="http://schemas.microsoft.com/office/powerpoint/2010/main" val="1579011935"/>
              </p:ext>
            </p:extLst>
          </p:nvPr>
        </p:nvGraphicFramePr>
        <p:xfrm>
          <a:off x="6355080" y="3429000"/>
          <a:ext cx="5074920" cy="914400"/>
        </p:xfrm>
        <a:graphic>
          <a:graphicData uri="http://schemas.openxmlformats.org/drawingml/2006/table">
            <a:tbl>
              <a:tblPr/>
              <a:tblGrid>
                <a:gridCol w="1371600"/>
                <a:gridCol w="3703320"/>
              </a:tblGrid>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仕組み</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Copilot Studioのイベントトリガーで、エージェントが自動で起動する（人が話しかけなくても動く）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エージェントの役割</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取得・生成・書き込みまで、手順を自分で判断して実行</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確実さ</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書き込むかどうかもエージェントの判断に依存するため、制御しにくい</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該当する方式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O3</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O2の前提：外部（Airtable）から社内のPower Automateを呼べるか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技術的には呼べる。ただしフローの設定・管理者のポリシー・ライセンスの3点次第</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47</a:t>
            </a:r>
            <a:endParaRPr lang="en-US" sz="900" dirty="0"/>
          </a:p>
        </p:txBody>
      </p:sp>
      <p:sp>
        <p:nvSpPr>
          <p:cNvPr id="6" name="Shape 4"/>
          <p:cNvSpPr/>
          <p:nvPr/>
        </p:nvSpPr>
        <p:spPr>
          <a:xfrm>
            <a:off x="548640" y="1417320"/>
            <a:ext cx="3566160" cy="2240280"/>
          </a:xfrm>
          <a:prstGeom prst="roundRect">
            <a:avLst>
              <a:gd name="adj" fmla="val 2449"/>
            </a:avLst>
          </a:prstGeom>
          <a:solidFill>
            <a:srgbClr val="F3F5F8"/>
          </a:solidFill>
          <a:ln/>
        </p:spPr>
      </p:sp>
      <p:sp>
        <p:nvSpPr>
          <p:cNvPr id="7" name="Shape 5"/>
          <p:cNvSpPr/>
          <p:nvPr/>
        </p:nvSpPr>
        <p:spPr>
          <a:xfrm>
            <a:off x="713232" y="1536192"/>
            <a:ext cx="438912" cy="438912"/>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01014" y="1623974"/>
            <a:ext cx="263347" cy="263347"/>
          </a:xfrm>
          <a:prstGeom prst="rect">
            <a:avLst/>
          </a:prstGeom>
        </p:spPr>
      </p:pic>
      <p:sp>
        <p:nvSpPr>
          <p:cNvPr id="9" name="Text 6"/>
          <p:cNvSpPr txBox="1"/>
          <p:nvPr/>
        </p:nvSpPr>
        <p:spPr>
          <a:xfrm>
            <a:off x="1234440" y="1517904"/>
            <a:ext cx="2788920" cy="27432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① 誰が起動できるか</a:t>
            </a:r>
            <a:endParaRPr lang="en-US" sz="1300" dirty="0"/>
          </a:p>
        </p:txBody>
      </p:sp>
      <p:sp>
        <p:nvSpPr>
          <p:cNvPr id="10" name="Text 7"/>
          <p:cNvSpPr txBox="1"/>
          <p:nvPr/>
        </p:nvSpPr>
        <p:spPr>
          <a:xfrm>
            <a:off x="1234440" y="1792224"/>
            <a:ext cx="2788920" cy="237744"/>
          </a:xfrm>
          <a:prstGeom prst="rect">
            <a:avLst/>
          </a:prstGeom>
          <a:noFill/>
          <a:ln/>
        </p:spPr>
        <p:txBody>
          <a:bodyPr wrap="square" lIns="508" tIns="508" rIns="508" bIns="508"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トリガーの「フローをトリガーできるユーザー」設定</a:t>
            </a:r>
            <a:endParaRPr lang="en-US" sz="900" dirty="0"/>
          </a:p>
        </p:txBody>
      </p:sp>
      <p:sp>
        <p:nvSpPr>
          <p:cNvPr id="11" name="Text 8"/>
          <p:cNvSpPr txBox="1"/>
          <p:nvPr/>
        </p:nvSpPr>
        <p:spPr>
          <a:xfrm>
            <a:off x="731520" y="2148840"/>
            <a:ext cx="3246120" cy="1463040"/>
          </a:xfrm>
          <a:prstGeom prst="rect">
            <a:avLst/>
          </a:prstGeom>
          <a:noFill/>
          <a:ln/>
        </p:spPr>
        <p:txBody>
          <a:bodyPr wrap="square" lIns="254" tIns="254" rIns="254" bIns="254" rtlCol="0" anchor="t"/>
          <a:lstStyle/>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Anyone：URLの署名（SAS）だけで誰でも呼べる</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テナント内の任意のユーザー：新規フローの既定。Entraのトークンが必要</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特定のユーザー：ユーザーやサービスプリンシパルを指定</a:t>
            </a:r>
            <a:endParaRPr lang="en-US" sz="1150" dirty="0"/>
          </a:p>
        </p:txBody>
      </p:sp>
      <p:sp>
        <p:nvSpPr>
          <p:cNvPr id="12" name="Shape 9"/>
          <p:cNvSpPr/>
          <p:nvPr/>
        </p:nvSpPr>
        <p:spPr>
          <a:xfrm>
            <a:off x="4297680" y="1417320"/>
            <a:ext cx="3566160" cy="2240280"/>
          </a:xfrm>
          <a:prstGeom prst="roundRect">
            <a:avLst>
              <a:gd name="adj" fmla="val 2449"/>
            </a:avLst>
          </a:prstGeom>
          <a:solidFill>
            <a:srgbClr val="F3F5F8"/>
          </a:solidFill>
          <a:ln/>
        </p:spPr>
      </p:sp>
      <p:sp>
        <p:nvSpPr>
          <p:cNvPr id="13" name="Shape 10"/>
          <p:cNvSpPr/>
          <p:nvPr/>
        </p:nvSpPr>
        <p:spPr>
          <a:xfrm>
            <a:off x="4462272" y="1536192"/>
            <a:ext cx="438912" cy="438912"/>
          </a:xfrm>
          <a:prstGeom prst="ellipse">
            <a:avLst/>
          </a:prstGeom>
          <a:solidFill>
            <a:srgbClr val="FFFFFF"/>
          </a:solidFill>
          <a:ln/>
        </p:spPr>
      </p:sp>
      <p:pic>
        <p:nvPicPr>
          <p:cNvPr id="14" name="Image 1" descr="preencoded.png">    </p:cNvPr>
          <p:cNvPicPr>
            <a:picLocks noChangeAspect="1"/>
          </p:cNvPicPr>
          <p:nvPr/>
        </p:nvPicPr>
        <p:blipFill>
          <a:blip r:embed="rId2"/>
          <a:stretch>
            <a:fillRect/>
          </a:stretch>
        </p:blipFill>
        <p:spPr>
          <a:xfrm>
            <a:off x="4550054" y="1623974"/>
            <a:ext cx="263347" cy="263347"/>
          </a:xfrm>
          <a:prstGeom prst="rect">
            <a:avLst/>
          </a:prstGeom>
        </p:spPr>
      </p:pic>
      <p:sp>
        <p:nvSpPr>
          <p:cNvPr id="15" name="Text 11"/>
          <p:cNvSpPr txBox="1"/>
          <p:nvPr/>
        </p:nvSpPr>
        <p:spPr>
          <a:xfrm>
            <a:off x="4983480" y="1517904"/>
            <a:ext cx="2788920" cy="27432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② 管理者のポリシー</a:t>
            </a:r>
            <a:endParaRPr lang="en-US" sz="1300" dirty="0"/>
          </a:p>
        </p:txBody>
      </p:sp>
      <p:sp>
        <p:nvSpPr>
          <p:cNvPr id="16" name="Text 12"/>
          <p:cNvSpPr txBox="1"/>
          <p:nvPr/>
        </p:nvSpPr>
        <p:spPr>
          <a:xfrm>
            <a:off x="4983480" y="1792224"/>
            <a:ext cx="2788920" cy="237744"/>
          </a:xfrm>
          <a:prstGeom prst="rect">
            <a:avLst/>
          </a:prstGeom>
          <a:noFill/>
          <a:ln/>
        </p:spPr>
        <p:txBody>
          <a:bodyPr wrap="square" lIns="508" tIns="508" rIns="508" bIns="508"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Power PlatformのDLPポリシー</a:t>
            </a:r>
            <a:endParaRPr lang="en-US" sz="900" dirty="0"/>
          </a:p>
        </p:txBody>
      </p:sp>
      <p:sp>
        <p:nvSpPr>
          <p:cNvPr id="17" name="Text 13"/>
          <p:cNvSpPr txBox="1"/>
          <p:nvPr/>
        </p:nvSpPr>
        <p:spPr>
          <a:xfrm>
            <a:off x="4480560" y="2148840"/>
            <a:ext cx="3246120" cy="1463040"/>
          </a:xfrm>
          <a:prstGeom prst="rect">
            <a:avLst/>
          </a:prstGeom>
          <a:noFill/>
          <a:ln/>
        </p:spPr>
        <p:txBody>
          <a:bodyPr wrap="square" lIns="254" tIns="254" rIns="254" bIns="254" rtlCol="0" anchor="t"/>
          <a:lstStyle/>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HTTPトリガーがブロックされていると、フローは停止し起動しない</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「Anyone」の利用を組織として認めるかは情シスの判断</a:t>
            </a:r>
            <a:endParaRPr lang="en-US" sz="1150" dirty="0"/>
          </a:p>
        </p:txBody>
      </p:sp>
      <p:sp>
        <p:nvSpPr>
          <p:cNvPr id="18" name="Shape 14"/>
          <p:cNvSpPr/>
          <p:nvPr/>
        </p:nvSpPr>
        <p:spPr>
          <a:xfrm>
            <a:off x="8046720" y="1417320"/>
            <a:ext cx="3566160" cy="2240280"/>
          </a:xfrm>
          <a:prstGeom prst="roundRect">
            <a:avLst>
              <a:gd name="adj" fmla="val 2449"/>
            </a:avLst>
          </a:prstGeom>
          <a:solidFill>
            <a:srgbClr val="F3F5F8"/>
          </a:solidFill>
          <a:ln/>
        </p:spPr>
      </p:sp>
      <p:sp>
        <p:nvSpPr>
          <p:cNvPr id="19" name="Shape 15"/>
          <p:cNvSpPr/>
          <p:nvPr/>
        </p:nvSpPr>
        <p:spPr>
          <a:xfrm>
            <a:off x="8211312" y="1536192"/>
            <a:ext cx="438912" cy="438912"/>
          </a:xfrm>
          <a:prstGeom prst="ellipse">
            <a:avLst/>
          </a:prstGeom>
          <a:solidFill>
            <a:srgbClr val="FFFFFF"/>
          </a:solidFill>
          <a:ln/>
        </p:spPr>
      </p:sp>
      <p:pic>
        <p:nvPicPr>
          <p:cNvPr id="20" name="Image 2" descr="preencoded.png">    </p:cNvPr>
          <p:cNvPicPr>
            <a:picLocks noChangeAspect="1"/>
          </p:cNvPicPr>
          <p:nvPr/>
        </p:nvPicPr>
        <p:blipFill>
          <a:blip r:embed="rId3"/>
          <a:stretch>
            <a:fillRect/>
          </a:stretch>
        </p:blipFill>
        <p:spPr>
          <a:xfrm>
            <a:off x="8299094" y="1623974"/>
            <a:ext cx="263347" cy="263347"/>
          </a:xfrm>
          <a:prstGeom prst="rect">
            <a:avLst/>
          </a:prstGeom>
        </p:spPr>
      </p:pic>
      <p:sp>
        <p:nvSpPr>
          <p:cNvPr id="21" name="Text 16"/>
          <p:cNvSpPr txBox="1"/>
          <p:nvPr/>
        </p:nvSpPr>
        <p:spPr>
          <a:xfrm>
            <a:off x="8732520" y="1517904"/>
            <a:ext cx="2788920" cy="27432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③ ライセンスとURL</a:t>
            </a:r>
            <a:endParaRPr lang="en-US" sz="1300" dirty="0"/>
          </a:p>
        </p:txBody>
      </p:sp>
      <p:sp>
        <p:nvSpPr>
          <p:cNvPr id="22" name="Text 17"/>
          <p:cNvSpPr txBox="1"/>
          <p:nvPr/>
        </p:nvSpPr>
        <p:spPr>
          <a:xfrm>
            <a:off x="8732520" y="1792224"/>
            <a:ext cx="2788920" cy="237744"/>
          </a:xfrm>
          <a:prstGeom prst="rect">
            <a:avLst/>
          </a:prstGeom>
          <a:noFill/>
          <a:ln/>
        </p:spPr>
        <p:txBody>
          <a:bodyPr wrap="square" lIns="508" tIns="508" rIns="508" bIns="508"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Premiumと新しいURL</a:t>
            </a:r>
            <a:endParaRPr lang="en-US" sz="900" dirty="0"/>
          </a:p>
        </p:txBody>
      </p:sp>
      <p:sp>
        <p:nvSpPr>
          <p:cNvPr id="23" name="Text 18"/>
          <p:cNvSpPr txBox="1"/>
          <p:nvPr/>
        </p:nvSpPr>
        <p:spPr>
          <a:xfrm>
            <a:off x="8229600" y="2148840"/>
            <a:ext cx="3246120" cy="1463040"/>
          </a:xfrm>
          <a:prstGeom prst="rect">
            <a:avLst/>
          </a:prstGeom>
          <a:noFill/>
          <a:ln/>
        </p:spPr>
        <p:txBody>
          <a:bodyPr wrap="square" lIns="254" tIns="254" rIns="254" bIns="254" rtlCol="0" anchor="t"/>
          <a:lstStyle/>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HTTPトリガーはPremium</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2025年11月末からURLはapi.powerplatform.comに移行（旧URLは動かない）</a:t>
            </a:r>
            <a:endParaRPr lang="en-US" sz="1150" dirty="0"/>
          </a:p>
        </p:txBody>
      </p:sp>
      <p:sp>
        <p:nvSpPr>
          <p:cNvPr id="24" name="Text 19"/>
          <p:cNvSpPr txBox="1"/>
          <p:nvPr/>
        </p:nvSpPr>
        <p:spPr>
          <a:xfrm>
            <a:off x="548640" y="3767328"/>
            <a:ext cx="5486400" cy="32004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Airtableから呼ぶ場合の選択肢</a:t>
            </a:r>
            <a:endParaRPr lang="en-US" sz="1300" dirty="0"/>
          </a:p>
        </p:txBody>
      </p:sp>
      <p:sp>
        <p:nvSpPr>
          <p:cNvPr id="25" name="Shape 20"/>
          <p:cNvSpPr/>
          <p:nvPr/>
        </p:nvSpPr>
        <p:spPr>
          <a:xfrm>
            <a:off x="548640" y="4133088"/>
            <a:ext cx="11064240" cy="658368"/>
          </a:xfrm>
          <a:prstGeom prst="roundRect">
            <a:avLst>
              <a:gd name="adj" fmla="val 6944"/>
            </a:avLst>
          </a:prstGeom>
          <a:solidFill>
            <a:srgbClr val="F3F5F8"/>
          </a:solidFill>
          <a:ln/>
        </p:spPr>
      </p:sp>
      <p:sp>
        <p:nvSpPr>
          <p:cNvPr id="26" name="Shape 21"/>
          <p:cNvSpPr/>
          <p:nvPr/>
        </p:nvSpPr>
        <p:spPr>
          <a:xfrm>
            <a:off x="640080" y="4270248"/>
            <a:ext cx="384048" cy="384048"/>
          </a:xfrm>
          <a:prstGeom prst="ellipse">
            <a:avLst/>
          </a:prstGeom>
          <a:solidFill>
            <a:srgbClr val="0F6CBD"/>
          </a:solidFill>
          <a:ln/>
        </p:spPr>
      </p:sp>
      <p:sp>
        <p:nvSpPr>
          <p:cNvPr id="27" name="Text 22"/>
          <p:cNvSpPr txBox="1"/>
          <p:nvPr/>
        </p:nvSpPr>
        <p:spPr>
          <a:xfrm>
            <a:off x="640080" y="427024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a:t>
            </a:r>
            <a:endParaRPr lang="en-US" sz="1100" dirty="0"/>
          </a:p>
        </p:txBody>
      </p:sp>
      <p:sp>
        <p:nvSpPr>
          <p:cNvPr id="28" name="Text 23"/>
          <p:cNvSpPr txBox="1"/>
          <p:nvPr/>
        </p:nvSpPr>
        <p:spPr>
          <a:xfrm>
            <a:off x="1097280" y="4133088"/>
            <a:ext cx="2103120" cy="65836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Anyone＋URLの署名</a:t>
            </a:r>
            <a:endParaRPr lang="en-US" sz="1100" dirty="0"/>
          </a:p>
        </p:txBody>
      </p:sp>
      <p:sp>
        <p:nvSpPr>
          <p:cNvPr id="29" name="Text 24"/>
          <p:cNvSpPr txBox="1"/>
          <p:nvPr/>
        </p:nvSpPr>
        <p:spPr>
          <a:xfrm>
            <a:off x="3200400" y="4133088"/>
            <a:ext cx="329184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Airtableのスクリプトから、URLにPOSTするだけ</a:t>
            </a:r>
            <a:endParaRPr lang="en-US" sz="950" dirty="0"/>
          </a:p>
        </p:txBody>
      </p:sp>
      <p:sp>
        <p:nvSpPr>
          <p:cNvPr id="30" name="Text 25"/>
          <p:cNvSpPr txBox="1"/>
          <p:nvPr/>
        </p:nvSpPr>
        <p:spPr>
          <a:xfrm>
            <a:off x="6492240" y="4133088"/>
            <a:ext cx="1463040" cy="658368"/>
          </a:xfrm>
          <a:prstGeom prst="rect">
            <a:avLst/>
          </a:prstGeom>
          <a:noFill/>
          <a:ln/>
        </p:spPr>
        <p:txBody>
          <a:bodyPr wrap="square" lIns="508" tIns="508" rIns="508" bIns="508" rtlCol="0" anchor="ctr"/>
          <a:lstStyle/>
          <a:p>
            <a:pPr algn="ct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sp>
        <p:nvSpPr>
          <p:cNvPr id="31" name="Text 26"/>
          <p:cNvSpPr txBox="1"/>
          <p:nvPr/>
        </p:nvSpPr>
        <p:spPr>
          <a:xfrm>
            <a:off x="7955280" y="4133088"/>
            <a:ext cx="3566160" cy="658368"/>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URLが漏れると誰でも起動できる。フロー側で共有キーのヘッダーを検証するなどの対策と、情シスの許可が必要</a:t>
            </a:r>
            <a:endParaRPr lang="en-US" sz="900" dirty="0"/>
          </a:p>
        </p:txBody>
      </p:sp>
      <p:sp>
        <p:nvSpPr>
          <p:cNvPr id="32" name="Shape 27"/>
          <p:cNvSpPr/>
          <p:nvPr/>
        </p:nvSpPr>
        <p:spPr>
          <a:xfrm>
            <a:off x="548640" y="4864608"/>
            <a:ext cx="11064240" cy="658368"/>
          </a:xfrm>
          <a:prstGeom prst="roundRect">
            <a:avLst>
              <a:gd name="adj" fmla="val 6944"/>
            </a:avLst>
          </a:prstGeom>
          <a:solidFill>
            <a:srgbClr val="FFFFFF"/>
          </a:solidFill>
          <a:ln w="12700">
            <a:solidFill>
              <a:srgbClr val="D5DBE3"/>
            </a:solidFill>
            <a:prstDash val="solid"/>
          </a:ln>
        </p:spPr>
      </p:sp>
      <p:sp>
        <p:nvSpPr>
          <p:cNvPr id="33" name="Shape 28"/>
          <p:cNvSpPr/>
          <p:nvPr/>
        </p:nvSpPr>
        <p:spPr>
          <a:xfrm>
            <a:off x="640080" y="5001768"/>
            <a:ext cx="384048" cy="384048"/>
          </a:xfrm>
          <a:prstGeom prst="ellipse">
            <a:avLst/>
          </a:prstGeom>
          <a:solidFill>
            <a:srgbClr val="0F6CBD"/>
          </a:solidFill>
          <a:ln/>
        </p:spPr>
      </p:sp>
      <p:sp>
        <p:nvSpPr>
          <p:cNvPr id="34" name="Text 29"/>
          <p:cNvSpPr txBox="1"/>
          <p:nvPr/>
        </p:nvSpPr>
        <p:spPr>
          <a:xfrm>
            <a:off x="640080" y="50017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a:t>
            </a:r>
            <a:endParaRPr lang="en-US" sz="1100" dirty="0"/>
          </a:p>
        </p:txBody>
      </p:sp>
      <p:sp>
        <p:nvSpPr>
          <p:cNvPr id="35" name="Text 30"/>
          <p:cNvSpPr txBox="1"/>
          <p:nvPr/>
        </p:nvSpPr>
        <p:spPr>
          <a:xfrm>
            <a:off x="1097280" y="4864608"/>
            <a:ext cx="2103120" cy="65836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テナント限定＋OAuth</a:t>
            </a:r>
            <a:endParaRPr lang="en-US" sz="1100" dirty="0"/>
          </a:p>
        </p:txBody>
      </p:sp>
      <p:sp>
        <p:nvSpPr>
          <p:cNvPr id="36" name="Text 31"/>
          <p:cNvSpPr txBox="1"/>
          <p:nvPr/>
        </p:nvSpPr>
        <p:spPr>
          <a:xfrm>
            <a:off x="3200400" y="4864608"/>
            <a:ext cx="329184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スクリプトでEntraのトークン（クライアント資格情報）を取得してから呼ぶ</a:t>
            </a:r>
            <a:endParaRPr lang="en-US" sz="950" dirty="0"/>
          </a:p>
        </p:txBody>
      </p:sp>
      <p:sp>
        <p:nvSpPr>
          <p:cNvPr id="37" name="Text 32"/>
          <p:cNvSpPr txBox="1"/>
          <p:nvPr/>
        </p:nvSpPr>
        <p:spPr>
          <a:xfrm>
            <a:off x="6492240" y="4864608"/>
            <a:ext cx="1463040" cy="658368"/>
          </a:xfrm>
          <a:prstGeom prst="rect">
            <a:avLst/>
          </a:prstGeom>
          <a:noFill/>
          <a:ln/>
        </p:spPr>
        <p:txBody>
          <a:bodyPr wrap="square" lIns="508" tIns="508" rIns="508" bIns="508" rtlCol="0" anchor="ctr"/>
          <a:lstStyle/>
          <a:p>
            <a:pPr algn="ct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sp>
        <p:nvSpPr>
          <p:cNvPr id="38" name="Text 33"/>
          <p:cNvSpPr txBox="1"/>
          <p:nvPr/>
        </p:nvSpPr>
        <p:spPr>
          <a:xfrm>
            <a:off x="7955280" y="4864608"/>
            <a:ext cx="3566160" cy="658368"/>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Entraのアプリ登録が必要。クライアントシークレットをAirtable側に置くことになる</a:t>
            </a:r>
            <a:endParaRPr lang="en-US" sz="900" dirty="0"/>
          </a:p>
        </p:txBody>
      </p:sp>
      <p:sp>
        <p:nvSpPr>
          <p:cNvPr id="39" name="Shape 34"/>
          <p:cNvSpPr/>
          <p:nvPr/>
        </p:nvSpPr>
        <p:spPr>
          <a:xfrm>
            <a:off x="548640" y="5596128"/>
            <a:ext cx="11064240" cy="658368"/>
          </a:xfrm>
          <a:prstGeom prst="roundRect">
            <a:avLst>
              <a:gd name="adj" fmla="val 6944"/>
            </a:avLst>
          </a:prstGeom>
          <a:solidFill>
            <a:srgbClr val="F3F5F8"/>
          </a:solidFill>
          <a:ln/>
        </p:spPr>
      </p:sp>
      <p:sp>
        <p:nvSpPr>
          <p:cNvPr id="40" name="Shape 35"/>
          <p:cNvSpPr/>
          <p:nvPr/>
        </p:nvSpPr>
        <p:spPr>
          <a:xfrm>
            <a:off x="640080" y="5733288"/>
            <a:ext cx="384048" cy="384048"/>
          </a:xfrm>
          <a:prstGeom prst="ellipse">
            <a:avLst/>
          </a:prstGeom>
          <a:solidFill>
            <a:srgbClr val="0E9F9A"/>
          </a:solidFill>
          <a:ln/>
        </p:spPr>
      </p:sp>
      <p:sp>
        <p:nvSpPr>
          <p:cNvPr id="41" name="Text 36"/>
          <p:cNvSpPr txBox="1"/>
          <p:nvPr/>
        </p:nvSpPr>
        <p:spPr>
          <a:xfrm>
            <a:off x="640080" y="573328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c</a:t>
            </a:r>
            <a:endParaRPr lang="en-US" sz="1100" dirty="0"/>
          </a:p>
        </p:txBody>
      </p:sp>
      <p:sp>
        <p:nvSpPr>
          <p:cNvPr id="42" name="Text 37"/>
          <p:cNvSpPr txBox="1"/>
          <p:nvPr/>
        </p:nvSpPr>
        <p:spPr>
          <a:xfrm>
            <a:off x="1097280" y="5596128"/>
            <a:ext cx="2103120" cy="65836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外部から呼ばない（O1）</a:t>
            </a:r>
            <a:endParaRPr lang="en-US" sz="1100" dirty="0"/>
          </a:p>
        </p:txBody>
      </p:sp>
      <p:sp>
        <p:nvSpPr>
          <p:cNvPr id="43" name="Text 38"/>
          <p:cNvSpPr txBox="1"/>
          <p:nvPr/>
        </p:nvSpPr>
        <p:spPr>
          <a:xfrm>
            <a:off x="3200400" y="5596128"/>
            <a:ext cx="329184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Power Automateが定期的にAirtableを見に行く（外向きの通信だけ）</a:t>
            </a:r>
            <a:endParaRPr lang="en-US" sz="950" dirty="0"/>
          </a:p>
        </p:txBody>
      </p:sp>
      <p:sp>
        <p:nvSpPr>
          <p:cNvPr id="44" name="Text 39"/>
          <p:cNvSpPr txBox="1"/>
          <p:nvPr/>
        </p:nvSpPr>
        <p:spPr>
          <a:xfrm>
            <a:off x="6492240" y="5596128"/>
            <a:ext cx="1463040" cy="658368"/>
          </a:xfrm>
          <a:prstGeom prst="rect">
            <a:avLst/>
          </a:prstGeom>
          <a:noFill/>
          <a:ln/>
        </p:spPr>
        <p:txBody>
          <a:bodyPr wrap="square" lIns="508" tIns="508" rIns="508" bIns="508" rtlCol="0" anchor="ctr"/>
          <a:lstStyle/>
          <a:p>
            <a:pPr algn="ct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sp>
        <p:nvSpPr>
          <p:cNvPr id="45" name="Text 40"/>
          <p:cNvSpPr txBox="1"/>
          <p:nvPr/>
        </p:nvSpPr>
        <p:spPr>
          <a:xfrm>
            <a:off x="7955280" y="5596128"/>
            <a:ext cx="3566160" cy="658368"/>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受け口を公開しないため最も安全。即時性は数分</a:t>
            </a:r>
            <a:endParaRPr lang="en-US" sz="900" dirty="0"/>
          </a:p>
        </p:txBody>
      </p:sp>
      <p:sp>
        <p:nvSpPr>
          <p:cNvPr id="46" name="Text 41"/>
          <p:cNvSpPr txBox="1"/>
          <p:nvPr/>
        </p:nvSpPr>
        <p:spPr>
          <a:xfrm>
            <a:off x="548640" y="6355080"/>
            <a:ext cx="11064240" cy="256032"/>
          </a:xfrm>
          <a:prstGeom prst="rect">
            <a:avLst/>
          </a:prstGeom>
          <a:noFill/>
          <a:ln/>
        </p:spPr>
        <p:txBody>
          <a:bodyPr wrap="square" lIns="0" tIns="0" rIns="0" bIns="0" rtlCol="0" anchor="t"/>
          <a:lstStyle/>
          <a:p>
            <a:pPr indent="0" marL="0">
              <a:buNone/>
            </a:pPr>
            <a:r>
              <a:rPr lang="en-US" sz="950" dirty="0">
                <a:solidFill>
                  <a:srgbClr val="6B7280"/>
                </a:solidFill>
                <a:latin typeface="Meiryo UI" pitchFamily="34" charset="0"/>
                <a:ea typeface="Meiryo UI" pitchFamily="34" charset="-122"/>
                <a:cs typeface="Meiryo UI" pitchFamily="34" charset="-120"/>
              </a:rPr>
              <a:t>情シスが「Anyone」を認めない場合、O1（定期確認）が現実的な選択肢になる</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参考：Power Apps code appsとは</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TypeScript・Reactで書いたWebアプリを、Power Platformの管理下で動かす仕組み（2026年2月にGA）</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48</a:t>
            </a:r>
            <a:endParaRPr lang="en-US" sz="900" dirty="0"/>
          </a:p>
        </p:txBody>
      </p:sp>
      <p:sp>
        <p:nvSpPr>
          <p:cNvPr id="6" name="Shape 4"/>
          <p:cNvSpPr/>
          <p:nvPr/>
        </p:nvSpPr>
        <p:spPr>
          <a:xfrm>
            <a:off x="548640" y="1417320"/>
            <a:ext cx="6675120" cy="3017520"/>
          </a:xfrm>
          <a:prstGeom prst="roundRect">
            <a:avLst>
              <a:gd name="adj" fmla="val 1818"/>
            </a:avLst>
          </a:prstGeom>
          <a:solidFill>
            <a:srgbClr val="F3F5F8"/>
          </a:solidFill>
          <a:ln/>
        </p:spPr>
      </p:sp>
      <p:sp>
        <p:nvSpPr>
          <p:cNvPr id="7" name="Shape 5"/>
          <p:cNvSpPr/>
          <p:nvPr/>
        </p:nvSpPr>
        <p:spPr>
          <a:xfrm>
            <a:off x="731520" y="1645920"/>
            <a:ext cx="1737360" cy="1097280"/>
          </a:xfrm>
          <a:prstGeom prst="roundRect">
            <a:avLst>
              <a:gd name="adj" fmla="val 6667"/>
            </a:avLst>
          </a:prstGeom>
          <a:solidFill>
            <a:srgbClr val="FFFFFF"/>
          </a:solidFill>
          <a:ln w="12700">
            <a:solidFill>
              <a:srgbClr val="D5DBE3"/>
            </a:solidFill>
            <a:prstDash val="solid"/>
          </a:ln>
        </p:spPr>
      </p:sp>
      <p:pic>
        <p:nvPicPr>
          <p:cNvPr id="8" name="Image 0" descr="preencoded.png">    </p:cNvPr>
          <p:cNvPicPr>
            <a:picLocks noChangeAspect="1"/>
          </p:cNvPicPr>
          <p:nvPr/>
        </p:nvPicPr>
        <p:blipFill>
          <a:blip r:embed="rId1"/>
          <a:stretch>
            <a:fillRect/>
          </a:stretch>
        </p:blipFill>
        <p:spPr>
          <a:xfrm>
            <a:off x="1402690" y="1773936"/>
            <a:ext cx="395021" cy="395021"/>
          </a:xfrm>
          <a:prstGeom prst="rect">
            <a:avLst/>
          </a:prstGeom>
        </p:spPr>
      </p:pic>
      <p:sp>
        <p:nvSpPr>
          <p:cNvPr id="9" name="Text 6"/>
          <p:cNvSpPr txBox="1"/>
          <p:nvPr/>
        </p:nvSpPr>
        <p:spPr>
          <a:xfrm>
            <a:off x="777240" y="2200558"/>
            <a:ext cx="1645920" cy="487778"/>
          </a:xfrm>
          <a:prstGeom prst="rect">
            <a:avLst/>
          </a:prstGeom>
          <a:noFill/>
          <a:ln/>
        </p:spPr>
        <p:txBody>
          <a:bodyPr wrap="square" lIns="0" tIns="0" rIns="0" bIns="0" rtlCol="0" anchor="ctr"/>
          <a:lstStyle/>
          <a:p>
            <a:pPr algn="ctr" indent="0" marL="0">
              <a:buNone/>
            </a:pPr>
            <a:r>
              <a:rPr lang="en-US" sz="1050" b="1" dirty="0">
                <a:solidFill>
                  <a:srgbClr val="1B2A49"/>
                </a:solidFill>
                <a:latin typeface="Meiryo UI" pitchFamily="34" charset="0"/>
                <a:ea typeface="Meiryo UI" pitchFamily="34" charset="-122"/>
                <a:cs typeface="Meiryo UI" pitchFamily="34" charset="-120"/>
              </a:rPr>
              <a:t>開発者</a:t>
            </a:r>
            <a:endParaRPr lang="en-US" sz="1050" dirty="0"/>
          </a:p>
          <a:p>
            <a:pPr algn="ctr" indent="0" marL="0">
              <a:buNone/>
            </a:pPr>
            <a:r>
              <a:rPr lang="en-US" sz="850" dirty="0">
                <a:solidFill>
                  <a:srgbClr val="6B7280"/>
                </a:solidFill>
                <a:latin typeface="Meiryo UI" pitchFamily="34" charset="0"/>
                <a:ea typeface="Meiryo UI" pitchFamily="34" charset="-122"/>
                <a:cs typeface="Meiryo UI" pitchFamily="34" charset="-120"/>
              </a:rPr>
              <a:t>VS Code・Node.js</a:t>
            </a:r>
            <a:endParaRPr lang="en-US" sz="1050" dirty="0"/>
          </a:p>
          <a:p>
            <a:pPr algn="ctr" indent="0" marL="0">
              <a:buNone/>
            </a:pPr>
            <a:r>
              <a:rPr lang="en-US" sz="850" dirty="0">
                <a:solidFill>
                  <a:srgbClr val="6B7280"/>
                </a:solidFill>
                <a:latin typeface="Meiryo UI" pitchFamily="34" charset="0"/>
                <a:ea typeface="Meiryo UI" pitchFamily="34" charset="-122"/>
                <a:cs typeface="Meiryo UI" pitchFamily="34" charset="-120"/>
              </a:rPr>
              <a:t>React／TypeScript</a:t>
            </a:r>
            <a:endParaRPr lang="en-US" sz="1050" dirty="0"/>
          </a:p>
        </p:txBody>
      </p:sp>
      <p:sp>
        <p:nvSpPr>
          <p:cNvPr id="10" name="Shape 7"/>
          <p:cNvSpPr/>
          <p:nvPr/>
        </p:nvSpPr>
        <p:spPr>
          <a:xfrm>
            <a:off x="2514600" y="2194560"/>
            <a:ext cx="320040" cy="0"/>
          </a:xfrm>
          <a:prstGeom prst="line">
            <a:avLst/>
          </a:prstGeom>
          <a:noFill/>
          <a:ln w="22225">
            <a:solidFill>
              <a:srgbClr val="9AA5B4"/>
            </a:solidFill>
            <a:prstDash val="solid"/>
            <a:tailEnd type="triangle"/>
          </a:ln>
        </p:spPr>
      </p:sp>
      <p:sp>
        <p:nvSpPr>
          <p:cNvPr id="11" name="Text 8"/>
          <p:cNvSpPr txBox="1"/>
          <p:nvPr/>
        </p:nvSpPr>
        <p:spPr>
          <a:xfrm>
            <a:off x="2487168" y="2286000"/>
            <a:ext cx="411480" cy="411480"/>
          </a:xfrm>
          <a:prstGeom prst="rect">
            <a:avLst/>
          </a:prstGeom>
          <a:noFill/>
          <a:ln/>
        </p:spPr>
        <p:txBody>
          <a:bodyPr wrap="square" lIns="0" tIns="0" rIns="0" bIns="0" rtlCol="0" anchor="t"/>
          <a:lstStyle/>
          <a:p>
            <a:pPr algn="ctr" indent="0" marL="0">
              <a:buNone/>
            </a:pPr>
            <a:r>
              <a:rPr lang="en-US" sz="800" dirty="0">
                <a:solidFill>
                  <a:srgbClr val="6B7280"/>
                </a:solidFill>
                <a:latin typeface="Meiryo UI" pitchFamily="34" charset="0"/>
                <a:ea typeface="Meiryo UI" pitchFamily="34" charset="-122"/>
                <a:cs typeface="Meiryo UI" pitchFamily="34" charset="-120"/>
              </a:rPr>
              <a:t>CLIで</a:t>
            </a:r>
            <a:endParaRPr lang="en-US" sz="800" dirty="0"/>
          </a:p>
          <a:p>
            <a:pPr algn="ctr" indent="0" marL="0">
              <a:buNone/>
            </a:pPr>
            <a:r>
              <a:rPr lang="en-US" sz="800" dirty="0">
                <a:solidFill>
                  <a:srgbClr val="6B7280"/>
                </a:solidFill>
                <a:latin typeface="Meiryo UI" pitchFamily="34" charset="0"/>
                <a:ea typeface="Meiryo UI" pitchFamily="34" charset="-122"/>
                <a:cs typeface="Meiryo UI" pitchFamily="34" charset="-120"/>
              </a:rPr>
              <a:t>公開</a:t>
            </a:r>
            <a:endParaRPr lang="en-US" sz="800" dirty="0"/>
          </a:p>
        </p:txBody>
      </p:sp>
      <p:sp>
        <p:nvSpPr>
          <p:cNvPr id="12" name="Shape 9"/>
          <p:cNvSpPr/>
          <p:nvPr/>
        </p:nvSpPr>
        <p:spPr>
          <a:xfrm>
            <a:off x="2880360" y="1554480"/>
            <a:ext cx="4206240" cy="2148840"/>
          </a:xfrm>
          <a:prstGeom prst="roundRect">
            <a:avLst>
              <a:gd name="adj" fmla="val 2128"/>
            </a:avLst>
          </a:prstGeom>
          <a:solidFill>
            <a:srgbClr val="FFFFFF"/>
          </a:solidFill>
          <a:ln w="12700">
            <a:solidFill>
              <a:srgbClr val="0F6CBD"/>
            </a:solidFill>
            <a:prstDash val="dash"/>
          </a:ln>
        </p:spPr>
      </p:sp>
      <p:sp>
        <p:nvSpPr>
          <p:cNvPr id="13" name="Text 10"/>
          <p:cNvSpPr txBox="1"/>
          <p:nvPr/>
        </p:nvSpPr>
        <p:spPr>
          <a:xfrm>
            <a:off x="2953512" y="1572768"/>
            <a:ext cx="1828800" cy="237744"/>
          </a:xfrm>
          <a:prstGeom prst="rect">
            <a:avLst/>
          </a:prstGeom>
          <a:noFill/>
          <a:ln/>
        </p:spPr>
        <p:txBody>
          <a:bodyPr wrap="square" lIns="0" tIns="0" rIns="0" bIns="0" rtlCol="0" anchor="ctr"/>
          <a:lstStyle/>
          <a:p>
            <a:pPr indent="0" marL="0">
              <a:buNone/>
            </a:pPr>
            <a:r>
              <a:rPr lang="en-US" sz="900" b="1" dirty="0">
                <a:solidFill>
                  <a:srgbClr val="0F6CBD"/>
                </a:solidFill>
                <a:latin typeface="Meiryo UI" pitchFamily="34" charset="0"/>
                <a:ea typeface="Meiryo UI" pitchFamily="34" charset="-122"/>
                <a:cs typeface="Meiryo UI" pitchFamily="34" charset="-120"/>
              </a:rPr>
              <a:t>Power Platform環境</a:t>
            </a:r>
            <a:endParaRPr lang="en-US" sz="900" dirty="0"/>
          </a:p>
        </p:txBody>
      </p:sp>
      <p:sp>
        <p:nvSpPr>
          <p:cNvPr id="14" name="Shape 11"/>
          <p:cNvSpPr/>
          <p:nvPr/>
        </p:nvSpPr>
        <p:spPr>
          <a:xfrm>
            <a:off x="3017520" y="1874520"/>
            <a:ext cx="1920240" cy="731520"/>
          </a:xfrm>
          <a:prstGeom prst="roundRect">
            <a:avLst>
              <a:gd name="adj" fmla="val 10000"/>
            </a:avLst>
          </a:prstGeom>
          <a:solidFill>
            <a:srgbClr val="FDEBD3"/>
          </a:solidFill>
          <a:ln/>
        </p:spPr>
      </p:sp>
      <p:pic>
        <p:nvPicPr>
          <p:cNvPr id="15" name="Image 1" descr="preencoded.png">    </p:cNvPr>
          <p:cNvPicPr>
            <a:picLocks noChangeAspect="1"/>
          </p:cNvPicPr>
          <p:nvPr/>
        </p:nvPicPr>
        <p:blipFill>
          <a:blip r:embed="rId2"/>
          <a:stretch>
            <a:fillRect/>
          </a:stretch>
        </p:blipFill>
        <p:spPr>
          <a:xfrm>
            <a:off x="3127248" y="2057400"/>
            <a:ext cx="365760" cy="365760"/>
          </a:xfrm>
          <a:prstGeom prst="rect">
            <a:avLst/>
          </a:prstGeom>
        </p:spPr>
      </p:pic>
      <p:sp>
        <p:nvSpPr>
          <p:cNvPr id="16" name="Text 12"/>
          <p:cNvSpPr txBox="1"/>
          <p:nvPr/>
        </p:nvSpPr>
        <p:spPr>
          <a:xfrm>
            <a:off x="3584448" y="1874520"/>
            <a:ext cx="130759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ホスティング</a:t>
            </a:r>
            <a:endParaRPr lang="en-US" sz="1050" dirty="0"/>
          </a:p>
        </p:txBody>
      </p:sp>
      <p:sp>
        <p:nvSpPr>
          <p:cNvPr id="17" name="Shape 13"/>
          <p:cNvSpPr/>
          <p:nvPr/>
        </p:nvSpPr>
        <p:spPr>
          <a:xfrm>
            <a:off x="5074920" y="1874520"/>
            <a:ext cx="1874520" cy="731520"/>
          </a:xfrm>
          <a:prstGeom prst="roundRect">
            <a:avLst>
              <a:gd name="adj" fmla="val 10000"/>
            </a:avLst>
          </a:prstGeom>
          <a:solidFill>
            <a:srgbClr val="E3EAF5"/>
          </a:solidFill>
          <a:ln/>
        </p:spPr>
      </p:sp>
      <p:pic>
        <p:nvPicPr>
          <p:cNvPr id="18" name="Image 2" descr="preencoded.png">    </p:cNvPr>
          <p:cNvPicPr>
            <a:picLocks noChangeAspect="1"/>
          </p:cNvPicPr>
          <p:nvPr/>
        </p:nvPicPr>
        <p:blipFill>
          <a:blip r:embed="rId3"/>
          <a:stretch>
            <a:fillRect/>
          </a:stretch>
        </p:blipFill>
        <p:spPr>
          <a:xfrm>
            <a:off x="5184648" y="2057400"/>
            <a:ext cx="365760" cy="365760"/>
          </a:xfrm>
          <a:prstGeom prst="rect">
            <a:avLst/>
          </a:prstGeom>
        </p:spPr>
      </p:pic>
      <p:sp>
        <p:nvSpPr>
          <p:cNvPr id="19" name="Text 14"/>
          <p:cNvSpPr txBox="1"/>
          <p:nvPr/>
        </p:nvSpPr>
        <p:spPr>
          <a:xfrm>
            <a:off x="5641848" y="1874520"/>
            <a:ext cx="12618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管理機能</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Entra認証・DLP</a:t>
            </a:r>
            <a:endParaRPr lang="en-US" sz="1050" dirty="0"/>
          </a:p>
        </p:txBody>
      </p:sp>
      <p:sp>
        <p:nvSpPr>
          <p:cNvPr id="20" name="Shape 15"/>
          <p:cNvSpPr/>
          <p:nvPr/>
        </p:nvSpPr>
        <p:spPr>
          <a:xfrm>
            <a:off x="3017520" y="2788920"/>
            <a:ext cx="3931920" cy="731520"/>
          </a:xfrm>
          <a:prstGeom prst="roundRect">
            <a:avLst>
              <a:gd name="adj" fmla="val 10000"/>
            </a:avLst>
          </a:prstGeom>
          <a:solidFill>
            <a:srgbClr val="D9F2F1"/>
          </a:solidFill>
          <a:ln/>
        </p:spPr>
      </p:sp>
      <p:pic>
        <p:nvPicPr>
          <p:cNvPr id="21" name="Image 3" descr="preencoded.png">    </p:cNvPr>
          <p:cNvPicPr>
            <a:picLocks noChangeAspect="1"/>
          </p:cNvPicPr>
          <p:nvPr/>
        </p:nvPicPr>
        <p:blipFill>
          <a:blip r:embed="rId4"/>
          <a:stretch>
            <a:fillRect/>
          </a:stretch>
        </p:blipFill>
        <p:spPr>
          <a:xfrm>
            <a:off x="3127248" y="2971800"/>
            <a:ext cx="365760" cy="365760"/>
          </a:xfrm>
          <a:prstGeom prst="rect">
            <a:avLst/>
          </a:prstGeom>
        </p:spPr>
      </p:pic>
      <p:sp>
        <p:nvSpPr>
          <p:cNvPr id="22" name="Text 16"/>
          <p:cNvSpPr txBox="1"/>
          <p:nvPr/>
        </p:nvSpPr>
        <p:spPr>
          <a:xfrm>
            <a:off x="3584448" y="2788920"/>
            <a:ext cx="33192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コネクタ（1,500以上）</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SharePoint・Lists／Dataverse／Office 365／Copilot Studio／カスタム（Cloud Run APIなど）</a:t>
            </a:r>
            <a:endParaRPr lang="en-US" sz="1050" dirty="0"/>
          </a:p>
        </p:txBody>
      </p:sp>
      <p:sp>
        <p:nvSpPr>
          <p:cNvPr id="23" name="Shape 17"/>
          <p:cNvSpPr/>
          <p:nvPr/>
        </p:nvSpPr>
        <p:spPr>
          <a:xfrm>
            <a:off x="731520" y="3017520"/>
            <a:ext cx="1737360" cy="1188720"/>
          </a:xfrm>
          <a:prstGeom prst="roundRect">
            <a:avLst>
              <a:gd name="adj" fmla="val 6154"/>
            </a:avLst>
          </a:prstGeom>
          <a:solidFill>
            <a:srgbClr val="FFFFFF"/>
          </a:solidFill>
          <a:ln w="12700">
            <a:solidFill>
              <a:srgbClr val="D5DBE3"/>
            </a:solidFill>
            <a:prstDash val="solid"/>
          </a:ln>
        </p:spPr>
      </p:sp>
      <p:pic>
        <p:nvPicPr>
          <p:cNvPr id="24" name="Image 4" descr="preencoded.png">    </p:cNvPr>
          <p:cNvPicPr>
            <a:picLocks noChangeAspect="1"/>
          </p:cNvPicPr>
          <p:nvPr/>
        </p:nvPicPr>
        <p:blipFill>
          <a:blip r:embed="rId5"/>
          <a:stretch>
            <a:fillRect/>
          </a:stretch>
        </p:blipFill>
        <p:spPr>
          <a:xfrm>
            <a:off x="1386230" y="3145536"/>
            <a:ext cx="427939" cy="427939"/>
          </a:xfrm>
          <a:prstGeom prst="rect">
            <a:avLst/>
          </a:prstGeom>
        </p:spPr>
      </p:pic>
      <p:sp>
        <p:nvSpPr>
          <p:cNvPr id="25" name="Text 18"/>
          <p:cNvSpPr txBox="1"/>
          <p:nvPr/>
        </p:nvSpPr>
        <p:spPr>
          <a:xfrm>
            <a:off x="777240" y="3607710"/>
            <a:ext cx="1645920" cy="543666"/>
          </a:xfrm>
          <a:prstGeom prst="rect">
            <a:avLst/>
          </a:prstGeom>
          <a:noFill/>
          <a:ln/>
        </p:spPr>
        <p:txBody>
          <a:bodyPr wrap="square" lIns="0" tIns="0" rIns="0" bIns="0" rtlCol="0" anchor="ctr"/>
          <a:lstStyle/>
          <a:p>
            <a:pPr algn="ctr" indent="0" marL="0">
              <a:buNone/>
            </a:pPr>
            <a:r>
              <a:rPr lang="en-US" sz="1050" b="1" dirty="0">
                <a:solidFill>
                  <a:srgbClr val="1B2A49"/>
                </a:solidFill>
                <a:latin typeface="Meiryo UI" pitchFamily="34" charset="0"/>
                <a:ea typeface="Meiryo UI" pitchFamily="34" charset="-122"/>
                <a:cs typeface="Meiryo UI" pitchFamily="34" charset="-120"/>
              </a:rPr>
              <a:t>利用者</a:t>
            </a:r>
            <a:endParaRPr lang="en-US" sz="1050" dirty="0"/>
          </a:p>
          <a:p>
            <a:pPr algn="ctr" indent="0" marL="0">
              <a:buNone/>
            </a:pPr>
            <a:r>
              <a:rPr lang="en-US" sz="850" dirty="0">
                <a:solidFill>
                  <a:srgbClr val="6B7280"/>
                </a:solidFill>
                <a:latin typeface="Meiryo UI" pitchFamily="34" charset="0"/>
                <a:ea typeface="Meiryo UI" pitchFamily="34" charset="-122"/>
                <a:cs typeface="Meiryo UI" pitchFamily="34" charset="-120"/>
              </a:rPr>
              <a:t>ブラウザで利用</a:t>
            </a:r>
            <a:endParaRPr lang="en-US" sz="1050" dirty="0"/>
          </a:p>
          <a:p>
            <a:pPr algn="ctr" indent="0" marL="0">
              <a:buNone/>
            </a:pPr>
            <a:r>
              <a:rPr lang="en-US" sz="850" dirty="0">
                <a:solidFill>
                  <a:srgbClr val="6B7280"/>
                </a:solidFill>
                <a:latin typeface="Meiryo UI" pitchFamily="34" charset="0"/>
                <a:ea typeface="Meiryo UI" pitchFamily="34" charset="-122"/>
                <a:cs typeface="Meiryo UI" pitchFamily="34" charset="-120"/>
              </a:rPr>
              <a:t>（Premium）</a:t>
            </a:r>
            <a:endParaRPr lang="en-US" sz="1050" dirty="0"/>
          </a:p>
        </p:txBody>
      </p:sp>
      <p:sp>
        <p:nvSpPr>
          <p:cNvPr id="26" name="Shape 19"/>
          <p:cNvSpPr/>
          <p:nvPr/>
        </p:nvSpPr>
        <p:spPr>
          <a:xfrm flipV="1">
            <a:off x="2514600" y="2377440"/>
            <a:ext cx="457200" cy="1234440"/>
          </a:xfrm>
          <a:prstGeom prst="line">
            <a:avLst/>
          </a:prstGeom>
          <a:noFill/>
          <a:ln w="22225">
            <a:solidFill>
              <a:srgbClr val="9AA5B4"/>
            </a:solidFill>
            <a:prstDash val="solid"/>
            <a:tailEnd type="triangle"/>
          </a:ln>
        </p:spPr>
      </p:sp>
      <p:sp>
        <p:nvSpPr>
          <p:cNvPr id="27" name="Shape 20"/>
          <p:cNvSpPr/>
          <p:nvPr/>
        </p:nvSpPr>
        <p:spPr>
          <a:xfrm>
            <a:off x="7406640" y="1417320"/>
            <a:ext cx="4206240" cy="1463040"/>
          </a:xfrm>
          <a:prstGeom prst="roundRect">
            <a:avLst>
              <a:gd name="adj" fmla="val 3750"/>
            </a:avLst>
          </a:prstGeom>
          <a:solidFill>
            <a:srgbClr val="D9F2F1"/>
          </a:solidFill>
          <a:ln/>
        </p:spPr>
      </p:sp>
      <p:sp>
        <p:nvSpPr>
          <p:cNvPr id="28" name="Shape 21"/>
          <p:cNvSpPr/>
          <p:nvPr/>
        </p:nvSpPr>
        <p:spPr>
          <a:xfrm>
            <a:off x="7543800" y="1536192"/>
            <a:ext cx="384048" cy="384048"/>
          </a:xfrm>
          <a:prstGeom prst="ellipse">
            <a:avLst/>
          </a:prstGeom>
          <a:solidFill>
            <a:srgbClr val="FFFFFF"/>
          </a:solidFill>
          <a:ln/>
        </p:spPr>
      </p:sp>
      <p:pic>
        <p:nvPicPr>
          <p:cNvPr id="29" name="Image 5" descr="preencoded.png">    </p:cNvPr>
          <p:cNvPicPr>
            <a:picLocks noChangeAspect="1"/>
          </p:cNvPicPr>
          <p:nvPr/>
        </p:nvPicPr>
        <p:blipFill>
          <a:blip r:embed="rId6"/>
          <a:stretch>
            <a:fillRect/>
          </a:stretch>
        </p:blipFill>
        <p:spPr>
          <a:xfrm>
            <a:off x="7620610" y="1613002"/>
            <a:ext cx="230429" cy="230429"/>
          </a:xfrm>
          <a:prstGeom prst="rect">
            <a:avLst/>
          </a:prstGeom>
        </p:spPr>
      </p:pic>
      <p:sp>
        <p:nvSpPr>
          <p:cNvPr id="30" name="Text 22"/>
          <p:cNvSpPr txBox="1"/>
          <p:nvPr/>
        </p:nvSpPr>
        <p:spPr>
          <a:xfrm>
            <a:off x="8001000" y="1536192"/>
            <a:ext cx="352044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できること</a:t>
            </a:r>
            <a:endParaRPr lang="en-US" sz="1300" dirty="0"/>
          </a:p>
        </p:txBody>
      </p:sp>
      <p:sp>
        <p:nvSpPr>
          <p:cNvPr id="31" name="Text 23"/>
          <p:cNvSpPr txBox="1"/>
          <p:nvPr/>
        </p:nvSpPr>
        <p:spPr>
          <a:xfrm>
            <a:off x="7589520" y="2020824"/>
            <a:ext cx="3886200" cy="768096"/>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React・Vueなどで画面を自由に作れる</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コネクタをTypeScriptから型付きで呼べる</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共有・DLP・条件付きアクセスが効く</a:t>
            </a:r>
            <a:endParaRPr lang="en-US" sz="1000" dirty="0"/>
          </a:p>
        </p:txBody>
      </p:sp>
      <p:sp>
        <p:nvSpPr>
          <p:cNvPr id="32" name="Shape 24"/>
          <p:cNvSpPr/>
          <p:nvPr/>
        </p:nvSpPr>
        <p:spPr>
          <a:xfrm>
            <a:off x="7406640" y="2971800"/>
            <a:ext cx="4206240" cy="1463040"/>
          </a:xfrm>
          <a:prstGeom prst="roundRect">
            <a:avLst>
              <a:gd name="adj" fmla="val 3750"/>
            </a:avLst>
          </a:prstGeom>
          <a:solidFill>
            <a:srgbClr val="E3EAF5"/>
          </a:solidFill>
          <a:ln/>
        </p:spPr>
      </p:sp>
      <p:sp>
        <p:nvSpPr>
          <p:cNvPr id="33" name="Shape 25"/>
          <p:cNvSpPr/>
          <p:nvPr/>
        </p:nvSpPr>
        <p:spPr>
          <a:xfrm>
            <a:off x="7543800" y="3090672"/>
            <a:ext cx="384048" cy="384048"/>
          </a:xfrm>
          <a:prstGeom prst="ellipse">
            <a:avLst/>
          </a:prstGeom>
          <a:solidFill>
            <a:srgbClr val="FFFFFF"/>
          </a:solidFill>
          <a:ln/>
        </p:spPr>
      </p:sp>
      <p:pic>
        <p:nvPicPr>
          <p:cNvPr id="34" name="Image 6" descr="preencoded.png">    </p:cNvPr>
          <p:cNvPicPr>
            <a:picLocks noChangeAspect="1"/>
          </p:cNvPicPr>
          <p:nvPr/>
        </p:nvPicPr>
        <p:blipFill>
          <a:blip r:embed="rId7"/>
          <a:stretch>
            <a:fillRect/>
          </a:stretch>
        </p:blipFill>
        <p:spPr>
          <a:xfrm>
            <a:off x="7620610" y="3167482"/>
            <a:ext cx="230429" cy="230429"/>
          </a:xfrm>
          <a:prstGeom prst="rect">
            <a:avLst/>
          </a:prstGeom>
        </p:spPr>
      </p:pic>
      <p:sp>
        <p:nvSpPr>
          <p:cNvPr id="35" name="Text 26"/>
          <p:cNvSpPr txBox="1"/>
          <p:nvPr/>
        </p:nvSpPr>
        <p:spPr>
          <a:xfrm>
            <a:off x="8001000" y="3090672"/>
            <a:ext cx="352044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必要なもの</a:t>
            </a:r>
            <a:endParaRPr lang="en-US" sz="1300" dirty="0"/>
          </a:p>
        </p:txBody>
      </p:sp>
      <p:sp>
        <p:nvSpPr>
          <p:cNvPr id="36" name="Text 27"/>
          <p:cNvSpPr txBox="1"/>
          <p:nvPr/>
        </p:nvSpPr>
        <p:spPr>
          <a:xfrm>
            <a:off x="7589520" y="3575304"/>
            <a:ext cx="3886200" cy="768096"/>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開発環境：VS Code、Node.js、Git、Power Apps CLI</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管理者による環境での有効化</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利用者：Power Apps Premium（または従量課金・App Pass）</a:t>
            </a:r>
            <a:endParaRPr lang="en-US" sz="1000" dirty="0"/>
          </a:p>
        </p:txBody>
      </p:sp>
      <p:sp>
        <p:nvSpPr>
          <p:cNvPr id="37" name="Shape 28"/>
          <p:cNvSpPr/>
          <p:nvPr/>
        </p:nvSpPr>
        <p:spPr>
          <a:xfrm>
            <a:off x="548640" y="4572000"/>
            <a:ext cx="4206240" cy="1737360"/>
          </a:xfrm>
          <a:prstGeom prst="roundRect">
            <a:avLst>
              <a:gd name="adj" fmla="val 3158"/>
            </a:avLst>
          </a:prstGeom>
          <a:solidFill>
            <a:srgbClr val="FBE3E3"/>
          </a:solidFill>
          <a:ln/>
        </p:spPr>
      </p:sp>
      <p:sp>
        <p:nvSpPr>
          <p:cNvPr id="38" name="Shape 29"/>
          <p:cNvSpPr/>
          <p:nvPr/>
        </p:nvSpPr>
        <p:spPr>
          <a:xfrm>
            <a:off x="685800" y="4690872"/>
            <a:ext cx="384048" cy="384048"/>
          </a:xfrm>
          <a:prstGeom prst="ellipse">
            <a:avLst/>
          </a:prstGeom>
          <a:solidFill>
            <a:srgbClr val="FFFFFF"/>
          </a:solidFill>
          <a:ln/>
        </p:spPr>
      </p:sp>
      <p:pic>
        <p:nvPicPr>
          <p:cNvPr id="39"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0" name="Text 30"/>
          <p:cNvSpPr txBox="1"/>
          <p:nvPr/>
        </p:nvSpPr>
        <p:spPr>
          <a:xfrm>
            <a:off x="1143000" y="4690872"/>
            <a:ext cx="352044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現時点の制約</a:t>
            </a:r>
            <a:endParaRPr lang="en-US" sz="1300" dirty="0"/>
          </a:p>
        </p:txBody>
      </p:sp>
      <p:sp>
        <p:nvSpPr>
          <p:cNvPr id="41" name="Text 31"/>
          <p:cNvSpPr txBox="1"/>
          <p:nvPr/>
        </p:nvSpPr>
        <p:spPr>
          <a:xfrm>
            <a:off x="731520" y="5175504"/>
            <a:ext cx="3886200" cy="1042416"/>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IPアドレスでのアクセス制限は不可（条件付きアクセスで代替）</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Power PlatformのGit統合に非対応</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Power Apps for Windows、SharePointフォーム統合に非対応</a:t>
            </a:r>
            <a:endParaRPr lang="en-US" sz="1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937760" y="4572000"/>
          <a:ext cx="6675120" cy="914400"/>
        </p:xfrm>
        <a:graphic>
          <a:graphicData uri="http://schemas.openxmlformats.org/drawingml/2006/table">
            <a:tbl>
              <a:tblPr/>
              <a:tblGrid>
                <a:gridCol w="1737360"/>
                <a:gridCol w="1645920"/>
                <a:gridCol w="1645920"/>
                <a:gridCol w="1645920"/>
              </a:tblGrid>
              <a:tr h="329184">
                <a:tc>
                  <a:txBody>
                    <a:bodyPr/>
                    <a:lstStyle/>
                    <a:p>
                      <a:pPr algn="ctr" indent="0" marL="0">
                        <a:buNone/>
                      </a:pP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キャンバス</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code apps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Cloud Run</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329184">
                <a:tc>
                  <a:txBody>
                    <a:bodyPr/>
                    <a:lstStyle/>
                    <a:p>
                      <a:pPr algn="l" indent="0" marL="0">
                        <a:buNone/>
                      </a:pPr>
                      <a:r>
                        <a:rPr lang="en-US" sz="950" b="1" dirty="0">
                          <a:solidFill>
                            <a:srgbClr val="1B2A49"/>
                          </a:solidFill>
                          <a:latin typeface="Meiryo UI" pitchFamily="34" charset="0"/>
                          <a:ea typeface="Meiryo UI" pitchFamily="34" charset="-122"/>
                          <a:cs typeface="Meiryo UI" pitchFamily="34" charset="-120"/>
                        </a:rPr>
                        <a:t>画面の自由度</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低（ローコード）</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高（TS）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0FAF9"/>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高（TS）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B2A49"/>
                          </a:solidFill>
                          <a:latin typeface="Meiryo UI" pitchFamily="34" charset="0"/>
                          <a:ea typeface="Meiryo UI" pitchFamily="34" charset="-122"/>
                          <a:cs typeface="Meiryo UI" pitchFamily="34" charset="-120"/>
                        </a:rPr>
                        <a:t>認証・ホスティング</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標準</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標準（Entra）</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0FAF9"/>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自前で用意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B2A49"/>
                          </a:solidFill>
                          <a:latin typeface="Meiryo UI" pitchFamily="34" charset="0"/>
                          <a:ea typeface="Meiryo UI" pitchFamily="34" charset="-122"/>
                          <a:cs typeface="Meiryo UI" pitchFamily="34" charset="-120"/>
                        </a:rPr>
                        <a:t>利用者ライセンス</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標準〜Premium</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Premium</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0FAF9"/>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不要（GCP料金）</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B2A49"/>
                          </a:solidFill>
                          <a:latin typeface="Meiryo UI" pitchFamily="34" charset="0"/>
                          <a:ea typeface="Meiryo UI" pitchFamily="34" charset="-122"/>
                          <a:cs typeface="Meiryo UI" pitchFamily="34" charset="-120"/>
                        </a:rPr>
                        <a:t>BigQuery直接参照</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不可</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カスタムコネクタ経由</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0FAF9"/>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可</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参考：Gemini Enterpriseの最新動向（2026年9月時点）</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B1〜B3の前提となるGoogle側の製品構成が、2026年に再編されている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49</a:t>
            </a:r>
            <a:endParaRPr lang="en-US" sz="900" dirty="0"/>
          </a:p>
        </p:txBody>
      </p:sp>
      <p:sp>
        <p:nvSpPr>
          <p:cNvPr id="6" name="Shape 4"/>
          <p:cNvSpPr/>
          <p:nvPr/>
        </p:nvSpPr>
        <p:spPr>
          <a:xfrm>
            <a:off x="548640" y="1417320"/>
            <a:ext cx="4846320" cy="4160520"/>
          </a:xfrm>
          <a:prstGeom prst="roundRect">
            <a:avLst>
              <a:gd name="adj" fmla="val 1319"/>
            </a:avLst>
          </a:prstGeom>
          <a:solidFill>
            <a:srgbClr val="E8F0FE"/>
          </a:solidFill>
          <a:ln/>
        </p:spPr>
      </p:sp>
      <p:sp>
        <p:nvSpPr>
          <p:cNvPr id="7" name="Shape 5"/>
          <p:cNvSpPr/>
          <p:nvPr/>
        </p:nvSpPr>
        <p:spPr>
          <a:xfrm>
            <a:off x="777240" y="1645920"/>
            <a:ext cx="4389120" cy="960120"/>
          </a:xfrm>
          <a:prstGeom prst="roundRect">
            <a:avLst>
              <a:gd name="adj" fmla="val 7619"/>
            </a:avLst>
          </a:prstGeom>
          <a:solidFill>
            <a:srgbClr val="FFFFFF"/>
          </a:solidFill>
          <a:ln w="12700">
            <a:solidFill>
              <a:srgbClr val="D5DBE3"/>
            </a:solidFill>
            <a:prstDash val="solid"/>
          </a:ln>
        </p:spPr>
      </p:sp>
      <p:pic>
        <p:nvPicPr>
          <p:cNvPr id="8" name="Image 0" descr="preencoded.png">    </p:cNvPr>
          <p:cNvPicPr>
            <a:picLocks noChangeAspect="1"/>
          </p:cNvPicPr>
          <p:nvPr/>
        </p:nvPicPr>
        <p:blipFill>
          <a:blip r:embed="rId1"/>
          <a:stretch>
            <a:fillRect/>
          </a:stretch>
        </p:blipFill>
        <p:spPr>
          <a:xfrm>
            <a:off x="886968" y="1943100"/>
            <a:ext cx="365760" cy="365760"/>
          </a:xfrm>
          <a:prstGeom prst="rect">
            <a:avLst/>
          </a:prstGeom>
        </p:spPr>
      </p:pic>
      <p:sp>
        <p:nvSpPr>
          <p:cNvPr id="9" name="Text 6"/>
          <p:cNvSpPr txBox="1"/>
          <p:nvPr/>
        </p:nvSpPr>
        <p:spPr>
          <a:xfrm>
            <a:off x="1344168" y="1645920"/>
            <a:ext cx="3776472" cy="9601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Gemini Enterprise（アプリ）</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利用者向け：社内データの検索・アシスタント・エージェントの利用</a:t>
            </a:r>
            <a:endParaRPr lang="en-US" sz="1050" dirty="0"/>
          </a:p>
        </p:txBody>
      </p:sp>
      <p:sp>
        <p:nvSpPr>
          <p:cNvPr id="10" name="Shape 7"/>
          <p:cNvSpPr/>
          <p:nvPr/>
        </p:nvSpPr>
        <p:spPr>
          <a:xfrm flipV="1">
            <a:off x="2971800" y="2670048"/>
            <a:ext cx="0" cy="484632"/>
          </a:xfrm>
          <a:prstGeom prst="line">
            <a:avLst/>
          </a:prstGeom>
          <a:noFill/>
          <a:ln w="25400">
            <a:solidFill>
              <a:srgbClr val="4285F4"/>
            </a:solidFill>
            <a:prstDash val="solid"/>
            <a:tailEnd type="triangle"/>
          </a:ln>
        </p:spPr>
      </p:sp>
      <p:sp>
        <p:nvSpPr>
          <p:cNvPr id="11" name="Text 8"/>
          <p:cNvSpPr txBox="1"/>
          <p:nvPr/>
        </p:nvSpPr>
        <p:spPr>
          <a:xfrm>
            <a:off x="3063240" y="2743200"/>
            <a:ext cx="2194560" cy="365760"/>
          </a:xfrm>
          <a:prstGeom prst="rect">
            <a:avLst/>
          </a:prstGeom>
          <a:noFill/>
          <a:ln/>
        </p:spPr>
        <p:txBody>
          <a:bodyPr wrap="square" lIns="508" tIns="508" rIns="508" bIns="508" rtlCol="0" anchor="ctr"/>
          <a:lstStyle/>
          <a:p>
            <a:pPr indent="0" marL="0">
              <a:buNone/>
            </a:pPr>
            <a:r>
              <a:rPr lang="en-US" sz="900" b="1" dirty="0">
                <a:solidFill>
                  <a:srgbClr val="4285F4"/>
                </a:solidFill>
                <a:latin typeface="Meiryo UI" pitchFamily="34" charset="0"/>
                <a:ea typeface="Meiryo UI" pitchFamily="34" charset="-122"/>
                <a:cs typeface="Meiryo UI" pitchFamily="34" charset="-120"/>
              </a:rPr>
              <a:t>作ったエージェントを公開</a:t>
            </a:r>
            <a:endParaRPr lang="en-US" sz="900" dirty="0"/>
          </a:p>
        </p:txBody>
      </p:sp>
      <p:sp>
        <p:nvSpPr>
          <p:cNvPr id="12" name="Shape 9"/>
          <p:cNvSpPr/>
          <p:nvPr/>
        </p:nvSpPr>
        <p:spPr>
          <a:xfrm>
            <a:off x="777240" y="3200400"/>
            <a:ext cx="4389120" cy="960120"/>
          </a:xfrm>
          <a:prstGeom prst="roundRect">
            <a:avLst>
              <a:gd name="adj" fmla="val 7619"/>
            </a:avLst>
          </a:prstGeom>
          <a:solidFill>
            <a:srgbClr val="FFFFFF"/>
          </a:solidFill>
          <a:ln w="12700">
            <a:solidFill>
              <a:srgbClr val="D5DBE3"/>
            </a:solidFill>
            <a:prstDash val="solid"/>
          </a:ln>
        </p:spPr>
      </p:sp>
      <p:pic>
        <p:nvPicPr>
          <p:cNvPr id="13" name="Image 1" descr="preencoded.png">    </p:cNvPr>
          <p:cNvPicPr>
            <a:picLocks noChangeAspect="1"/>
          </p:cNvPicPr>
          <p:nvPr/>
        </p:nvPicPr>
        <p:blipFill>
          <a:blip r:embed="rId2"/>
          <a:stretch>
            <a:fillRect/>
          </a:stretch>
        </p:blipFill>
        <p:spPr>
          <a:xfrm>
            <a:off x="886968" y="3497580"/>
            <a:ext cx="365760" cy="365760"/>
          </a:xfrm>
          <a:prstGeom prst="rect">
            <a:avLst/>
          </a:prstGeom>
        </p:spPr>
      </p:pic>
      <p:sp>
        <p:nvSpPr>
          <p:cNvPr id="14" name="Text 10"/>
          <p:cNvSpPr txBox="1"/>
          <p:nvPr/>
        </p:nvSpPr>
        <p:spPr>
          <a:xfrm>
            <a:off x="1344168" y="3200400"/>
            <a:ext cx="3776472" cy="9601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Gemini Enterprise Agent Platform</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開発者向け：旧Vertex AI。エージェントの構築・実行・管理</a:t>
            </a:r>
            <a:endParaRPr lang="en-US" sz="1050" dirty="0"/>
          </a:p>
        </p:txBody>
      </p:sp>
      <p:sp>
        <p:nvSpPr>
          <p:cNvPr id="15" name="Text 11"/>
          <p:cNvSpPr txBox="1"/>
          <p:nvPr/>
        </p:nvSpPr>
        <p:spPr>
          <a:xfrm>
            <a:off x="777240" y="4315968"/>
            <a:ext cx="4389120" cy="274320"/>
          </a:xfrm>
          <a:prstGeom prst="rect">
            <a:avLst/>
          </a:prstGeom>
          <a:noFill/>
          <a:ln/>
        </p:spPr>
        <p:txBody>
          <a:bodyPr wrap="square" lIns="508" tIns="508" rIns="508" bIns="508" rtlCol="0" anchor="t"/>
          <a:lstStyle/>
          <a:p>
            <a:pPr indent="0" marL="0">
              <a:buNone/>
            </a:pPr>
            <a:r>
              <a:rPr lang="en-US" sz="1000" b="1" dirty="0">
                <a:solidFill>
                  <a:srgbClr val="1B2A49"/>
                </a:solidFill>
                <a:latin typeface="Meiryo UI" pitchFamily="34" charset="0"/>
                <a:ea typeface="Meiryo UI" pitchFamily="34" charset="-122"/>
                <a:cs typeface="Meiryo UI" pitchFamily="34" charset="-120"/>
              </a:rPr>
              <a:t>つながるデータ</a:t>
            </a:r>
            <a:endParaRPr lang="en-US" sz="1000" dirty="0"/>
          </a:p>
        </p:txBody>
      </p:sp>
      <p:pic>
        <p:nvPicPr>
          <p:cNvPr id="16" name="Image 2" descr="preencoded.png">    </p:cNvPr>
          <p:cNvPicPr>
            <a:picLocks noChangeAspect="1"/>
          </p:cNvPicPr>
          <p:nvPr/>
        </p:nvPicPr>
        <p:blipFill>
          <a:blip r:embed="rId3"/>
          <a:stretch>
            <a:fillRect/>
          </a:stretch>
        </p:blipFill>
        <p:spPr>
          <a:xfrm>
            <a:off x="914400" y="4645152"/>
            <a:ext cx="365760" cy="365760"/>
          </a:xfrm>
          <a:prstGeom prst="rect">
            <a:avLst/>
          </a:prstGeom>
        </p:spPr>
      </p:pic>
      <p:sp>
        <p:nvSpPr>
          <p:cNvPr id="17" name="Text 12"/>
          <p:cNvSpPr txBox="1"/>
          <p:nvPr/>
        </p:nvSpPr>
        <p:spPr>
          <a:xfrm>
            <a:off x="640080" y="5047488"/>
            <a:ext cx="914400" cy="274320"/>
          </a:xfrm>
          <a:prstGeom prst="rect">
            <a:avLst/>
          </a:prstGeom>
          <a:noFill/>
          <a:ln/>
        </p:spPr>
        <p:txBody>
          <a:bodyPr wrap="square" lIns="0" tIns="0" rIns="0" bIns="0" rtlCol="0" anchor="t"/>
          <a:lstStyle/>
          <a:p>
            <a:pPr algn="ctr" indent="0" marL="0">
              <a:buNone/>
            </a:pPr>
            <a:r>
              <a:rPr lang="en-US" sz="850" dirty="0">
                <a:solidFill>
                  <a:srgbClr val="6B7280"/>
                </a:solidFill>
                <a:latin typeface="Meiryo UI" pitchFamily="34" charset="0"/>
                <a:ea typeface="Meiryo UI" pitchFamily="34" charset="-122"/>
                <a:cs typeface="Meiryo UI" pitchFamily="34" charset="-120"/>
              </a:rPr>
              <a:t>SharePoint</a:t>
            </a:r>
            <a:endParaRPr lang="en-US" sz="850" dirty="0"/>
          </a:p>
        </p:txBody>
      </p:sp>
      <p:pic>
        <p:nvPicPr>
          <p:cNvPr id="18" name="Image 3" descr="preencoded.png">    </p:cNvPr>
          <p:cNvPicPr>
            <a:picLocks noChangeAspect="1"/>
          </p:cNvPicPr>
          <p:nvPr/>
        </p:nvPicPr>
        <p:blipFill>
          <a:blip r:embed="rId4"/>
          <a:stretch>
            <a:fillRect/>
          </a:stretch>
        </p:blipFill>
        <p:spPr>
          <a:xfrm>
            <a:off x="2011680" y="4645152"/>
            <a:ext cx="365760" cy="365760"/>
          </a:xfrm>
          <a:prstGeom prst="rect">
            <a:avLst/>
          </a:prstGeom>
        </p:spPr>
      </p:pic>
      <p:sp>
        <p:nvSpPr>
          <p:cNvPr id="19" name="Text 13"/>
          <p:cNvSpPr txBox="1"/>
          <p:nvPr/>
        </p:nvSpPr>
        <p:spPr>
          <a:xfrm>
            <a:off x="1737360" y="5047488"/>
            <a:ext cx="914400" cy="274320"/>
          </a:xfrm>
          <a:prstGeom prst="rect">
            <a:avLst/>
          </a:prstGeom>
          <a:noFill/>
          <a:ln/>
        </p:spPr>
        <p:txBody>
          <a:bodyPr wrap="square" lIns="0" tIns="0" rIns="0" bIns="0" rtlCol="0" anchor="t"/>
          <a:lstStyle/>
          <a:p>
            <a:pPr algn="ctr" indent="0" marL="0">
              <a:buNone/>
            </a:pPr>
            <a:r>
              <a:rPr lang="en-US" sz="850" dirty="0">
                <a:solidFill>
                  <a:srgbClr val="6B7280"/>
                </a:solidFill>
                <a:latin typeface="Meiryo UI" pitchFamily="34" charset="0"/>
                <a:ea typeface="Meiryo UI" pitchFamily="34" charset="-122"/>
                <a:cs typeface="Meiryo UI" pitchFamily="34" charset="-120"/>
              </a:rPr>
              <a:t>Teams</a:t>
            </a:r>
            <a:endParaRPr lang="en-US" sz="850" dirty="0"/>
          </a:p>
        </p:txBody>
      </p:sp>
      <p:pic>
        <p:nvPicPr>
          <p:cNvPr id="20" name="Image 4" descr="preencoded.png">    </p:cNvPr>
          <p:cNvPicPr>
            <a:picLocks noChangeAspect="1"/>
          </p:cNvPicPr>
          <p:nvPr/>
        </p:nvPicPr>
        <p:blipFill>
          <a:blip r:embed="rId5"/>
          <a:stretch>
            <a:fillRect/>
          </a:stretch>
        </p:blipFill>
        <p:spPr>
          <a:xfrm>
            <a:off x="3108960" y="4645152"/>
            <a:ext cx="365760" cy="365760"/>
          </a:xfrm>
          <a:prstGeom prst="rect">
            <a:avLst/>
          </a:prstGeom>
        </p:spPr>
      </p:pic>
      <p:sp>
        <p:nvSpPr>
          <p:cNvPr id="21" name="Text 14"/>
          <p:cNvSpPr txBox="1"/>
          <p:nvPr/>
        </p:nvSpPr>
        <p:spPr>
          <a:xfrm>
            <a:off x="2834640" y="5047488"/>
            <a:ext cx="914400" cy="274320"/>
          </a:xfrm>
          <a:prstGeom prst="rect">
            <a:avLst/>
          </a:prstGeom>
          <a:noFill/>
          <a:ln/>
        </p:spPr>
        <p:txBody>
          <a:bodyPr wrap="square" lIns="0" tIns="0" rIns="0" bIns="0" rtlCol="0" anchor="t"/>
          <a:lstStyle/>
          <a:p>
            <a:pPr algn="ctr" indent="0" marL="0">
              <a:buNone/>
            </a:pPr>
            <a:r>
              <a:rPr lang="en-US" sz="850" dirty="0">
                <a:solidFill>
                  <a:srgbClr val="6B7280"/>
                </a:solidFill>
                <a:latin typeface="Meiryo UI" pitchFamily="34" charset="0"/>
                <a:ea typeface="Meiryo UI" pitchFamily="34" charset="-122"/>
                <a:cs typeface="Meiryo UI" pitchFamily="34" charset="-120"/>
              </a:rPr>
              <a:t>OneDrive等</a:t>
            </a:r>
            <a:endParaRPr lang="en-US" sz="850" dirty="0"/>
          </a:p>
        </p:txBody>
      </p:sp>
      <p:pic>
        <p:nvPicPr>
          <p:cNvPr id="22" name="Image 5" descr="preencoded.png">    </p:cNvPr>
          <p:cNvPicPr>
            <a:picLocks noChangeAspect="1"/>
          </p:cNvPicPr>
          <p:nvPr/>
        </p:nvPicPr>
        <p:blipFill>
          <a:blip r:embed="rId6"/>
          <a:stretch>
            <a:fillRect/>
          </a:stretch>
        </p:blipFill>
        <p:spPr>
          <a:xfrm>
            <a:off x="4206240" y="4645152"/>
            <a:ext cx="365760" cy="365760"/>
          </a:xfrm>
          <a:prstGeom prst="rect">
            <a:avLst/>
          </a:prstGeom>
        </p:spPr>
      </p:pic>
      <p:sp>
        <p:nvSpPr>
          <p:cNvPr id="23" name="Text 15"/>
          <p:cNvSpPr txBox="1"/>
          <p:nvPr/>
        </p:nvSpPr>
        <p:spPr>
          <a:xfrm>
            <a:off x="3931920" y="5047488"/>
            <a:ext cx="914400" cy="274320"/>
          </a:xfrm>
          <a:prstGeom prst="rect">
            <a:avLst/>
          </a:prstGeom>
          <a:noFill/>
          <a:ln/>
        </p:spPr>
        <p:txBody>
          <a:bodyPr wrap="square" lIns="0" tIns="0" rIns="0" bIns="0" rtlCol="0" anchor="t"/>
          <a:lstStyle/>
          <a:p>
            <a:pPr algn="ctr" indent="0" marL="0">
              <a:buNone/>
            </a:pPr>
            <a:r>
              <a:rPr lang="en-US" sz="850" dirty="0">
                <a:solidFill>
                  <a:srgbClr val="6B7280"/>
                </a:solidFill>
                <a:latin typeface="Meiryo UI" pitchFamily="34" charset="0"/>
                <a:ea typeface="Meiryo UI" pitchFamily="34" charset="-122"/>
                <a:cs typeface="Meiryo UI" pitchFamily="34" charset="-120"/>
              </a:rPr>
              <a:t>BigQuery</a:t>
            </a:r>
            <a:endParaRPr lang="en-US" sz="850" dirty="0"/>
          </a:p>
        </p:txBody>
      </p:sp>
      <p:sp>
        <p:nvSpPr>
          <p:cNvPr id="24" name="Shape 16"/>
          <p:cNvSpPr/>
          <p:nvPr/>
        </p:nvSpPr>
        <p:spPr>
          <a:xfrm>
            <a:off x="5577840" y="1417320"/>
            <a:ext cx="6035040" cy="969264"/>
          </a:xfrm>
          <a:prstGeom prst="roundRect">
            <a:avLst>
              <a:gd name="adj" fmla="val 5660"/>
            </a:avLst>
          </a:prstGeom>
          <a:solidFill>
            <a:srgbClr val="F3F5F8"/>
          </a:solidFill>
          <a:ln/>
        </p:spPr>
      </p:sp>
      <p:sp>
        <p:nvSpPr>
          <p:cNvPr id="25" name="Shape 17"/>
          <p:cNvSpPr/>
          <p:nvPr/>
        </p:nvSpPr>
        <p:spPr>
          <a:xfrm>
            <a:off x="5687568" y="1527048"/>
            <a:ext cx="384048" cy="384048"/>
          </a:xfrm>
          <a:prstGeom prst="ellipse">
            <a:avLst/>
          </a:prstGeom>
          <a:solidFill>
            <a:srgbClr val="FFFFFF"/>
          </a:solidFill>
          <a:ln/>
        </p:spPr>
      </p:sp>
      <p:pic>
        <p:nvPicPr>
          <p:cNvPr id="26" name="Image 6" descr="preencoded.png">    </p:cNvPr>
          <p:cNvPicPr>
            <a:picLocks noChangeAspect="1"/>
          </p:cNvPicPr>
          <p:nvPr/>
        </p:nvPicPr>
        <p:blipFill>
          <a:blip r:embed="rId7"/>
          <a:stretch>
            <a:fillRect/>
          </a:stretch>
        </p:blipFill>
        <p:spPr>
          <a:xfrm>
            <a:off x="5764378" y="1603858"/>
            <a:ext cx="230429" cy="230429"/>
          </a:xfrm>
          <a:prstGeom prst="rect">
            <a:avLst/>
          </a:prstGeom>
        </p:spPr>
      </p:pic>
      <p:sp>
        <p:nvSpPr>
          <p:cNvPr id="27" name="Text 18"/>
          <p:cNvSpPr txBox="1"/>
          <p:nvPr/>
        </p:nvSpPr>
        <p:spPr>
          <a:xfrm>
            <a:off x="6144768" y="1508760"/>
            <a:ext cx="539496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Vertex AIの再編</a:t>
            </a:r>
            <a:endParaRPr lang="en-US" sz="1200" dirty="0"/>
          </a:p>
        </p:txBody>
      </p:sp>
      <p:sp>
        <p:nvSpPr>
          <p:cNvPr id="28" name="Text 19"/>
          <p:cNvSpPr txBox="1"/>
          <p:nvPr/>
        </p:nvSpPr>
        <p:spPr>
          <a:xfrm>
            <a:off x="6144768" y="1819656"/>
            <a:ext cx="5394960" cy="548640"/>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2026年4月（Google Cloud Next）に、Vertex AIがGemini Enterprise Agent Platformへ再編された。既存のAPI・SDKはそのまま使える</a:t>
            </a:r>
            <a:endParaRPr lang="en-US" sz="950" dirty="0"/>
          </a:p>
        </p:txBody>
      </p:sp>
      <p:sp>
        <p:nvSpPr>
          <p:cNvPr id="29" name="Shape 20"/>
          <p:cNvSpPr/>
          <p:nvPr/>
        </p:nvSpPr>
        <p:spPr>
          <a:xfrm>
            <a:off x="5577840" y="2478024"/>
            <a:ext cx="6035040" cy="969264"/>
          </a:xfrm>
          <a:prstGeom prst="roundRect">
            <a:avLst>
              <a:gd name="adj" fmla="val 5660"/>
            </a:avLst>
          </a:prstGeom>
          <a:solidFill>
            <a:srgbClr val="F3F5F8"/>
          </a:solidFill>
          <a:ln/>
        </p:spPr>
      </p:sp>
      <p:sp>
        <p:nvSpPr>
          <p:cNvPr id="30" name="Shape 21"/>
          <p:cNvSpPr/>
          <p:nvPr/>
        </p:nvSpPr>
        <p:spPr>
          <a:xfrm>
            <a:off x="5687568" y="2587752"/>
            <a:ext cx="384048" cy="384048"/>
          </a:xfrm>
          <a:prstGeom prst="ellipse">
            <a:avLst/>
          </a:prstGeom>
          <a:solidFill>
            <a:srgbClr val="FFFFFF"/>
          </a:solidFill>
          <a:ln/>
        </p:spPr>
      </p:sp>
      <p:pic>
        <p:nvPicPr>
          <p:cNvPr id="31" name="Image 7" descr="preencoded.png">    </p:cNvPr>
          <p:cNvPicPr>
            <a:picLocks noChangeAspect="1"/>
          </p:cNvPicPr>
          <p:nvPr/>
        </p:nvPicPr>
        <p:blipFill>
          <a:blip r:embed="rId8"/>
          <a:stretch>
            <a:fillRect/>
          </a:stretch>
        </p:blipFill>
        <p:spPr>
          <a:xfrm>
            <a:off x="5764378" y="2664562"/>
            <a:ext cx="230429" cy="230429"/>
          </a:xfrm>
          <a:prstGeom prst="rect">
            <a:avLst/>
          </a:prstGeom>
        </p:spPr>
      </p:pic>
      <p:sp>
        <p:nvSpPr>
          <p:cNvPr id="32" name="Text 22"/>
          <p:cNvSpPr txBox="1"/>
          <p:nvPr/>
        </p:nvSpPr>
        <p:spPr>
          <a:xfrm>
            <a:off x="6144768" y="2569464"/>
            <a:ext cx="539496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SharePointコネクタ（GA）</a:t>
            </a:r>
            <a:endParaRPr lang="en-US" sz="1200" dirty="0"/>
          </a:p>
        </p:txBody>
      </p:sp>
      <p:sp>
        <p:nvSpPr>
          <p:cNvPr id="33" name="Text 23"/>
          <p:cNvSpPr txBox="1"/>
          <p:nvPr/>
        </p:nvSpPr>
        <p:spPr>
          <a:xfrm>
            <a:off x="6144768" y="2880360"/>
            <a:ext cx="5394960" cy="548640"/>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「フェデレーション」（コピーせず、利用者の権限で都度検索）と「取り込み」（インデックス化、同期は3時間〜7日間隔）を選べる。Entraのアプリ登録が必要。リスト項目の作成・更新にも対応</a:t>
            </a:r>
            <a:endParaRPr lang="en-US" sz="950" dirty="0"/>
          </a:p>
        </p:txBody>
      </p:sp>
      <p:sp>
        <p:nvSpPr>
          <p:cNvPr id="34" name="Shape 24"/>
          <p:cNvSpPr/>
          <p:nvPr/>
        </p:nvSpPr>
        <p:spPr>
          <a:xfrm>
            <a:off x="5577840" y="3538728"/>
            <a:ext cx="6035040" cy="969264"/>
          </a:xfrm>
          <a:prstGeom prst="roundRect">
            <a:avLst>
              <a:gd name="adj" fmla="val 5660"/>
            </a:avLst>
          </a:prstGeom>
          <a:solidFill>
            <a:srgbClr val="F3F5F8"/>
          </a:solidFill>
          <a:ln/>
        </p:spPr>
      </p:sp>
      <p:sp>
        <p:nvSpPr>
          <p:cNvPr id="35" name="Shape 25"/>
          <p:cNvSpPr/>
          <p:nvPr/>
        </p:nvSpPr>
        <p:spPr>
          <a:xfrm>
            <a:off x="5687568" y="3648456"/>
            <a:ext cx="384048" cy="384048"/>
          </a:xfrm>
          <a:prstGeom prst="ellipse">
            <a:avLst/>
          </a:prstGeom>
          <a:solidFill>
            <a:srgbClr val="FFFFFF"/>
          </a:solidFill>
          <a:ln/>
        </p:spPr>
      </p:sp>
      <p:pic>
        <p:nvPicPr>
          <p:cNvPr id="36" name="Image 8" descr="preencoded.png">    </p:cNvPr>
          <p:cNvPicPr>
            <a:picLocks noChangeAspect="1"/>
          </p:cNvPicPr>
          <p:nvPr/>
        </p:nvPicPr>
        <p:blipFill>
          <a:blip r:embed="rId9"/>
          <a:stretch>
            <a:fillRect/>
          </a:stretch>
        </p:blipFill>
        <p:spPr>
          <a:xfrm>
            <a:off x="5764378" y="3725266"/>
            <a:ext cx="230429" cy="230429"/>
          </a:xfrm>
          <a:prstGeom prst="rect">
            <a:avLst/>
          </a:prstGeom>
        </p:spPr>
      </p:pic>
      <p:sp>
        <p:nvSpPr>
          <p:cNvPr id="37" name="Text 26"/>
          <p:cNvSpPr txBox="1"/>
          <p:nvPr/>
        </p:nvSpPr>
        <p:spPr>
          <a:xfrm>
            <a:off x="6144768" y="3630168"/>
            <a:ext cx="539496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BigQueryとの連携</a:t>
            </a:r>
            <a:endParaRPr lang="en-US" sz="1200" dirty="0"/>
          </a:p>
        </p:txBody>
      </p:sp>
      <p:sp>
        <p:nvSpPr>
          <p:cNvPr id="38" name="Text 27"/>
          <p:cNvSpPr txBox="1"/>
          <p:nvPr/>
        </p:nvSpPr>
        <p:spPr>
          <a:xfrm>
            <a:off x="6144768" y="3941064"/>
            <a:ext cx="5394960" cy="548640"/>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BigQueryの会話型分析（Conversational Analytics、GA）で作ったデータエージェントを、Gemini Enterpriseのアプリに公開できる</a:t>
            </a:r>
            <a:endParaRPr lang="en-US" sz="950" dirty="0"/>
          </a:p>
        </p:txBody>
      </p:sp>
      <p:sp>
        <p:nvSpPr>
          <p:cNvPr id="39" name="Shape 28"/>
          <p:cNvSpPr/>
          <p:nvPr/>
        </p:nvSpPr>
        <p:spPr>
          <a:xfrm>
            <a:off x="5577840" y="4599432"/>
            <a:ext cx="6035040" cy="969264"/>
          </a:xfrm>
          <a:prstGeom prst="roundRect">
            <a:avLst>
              <a:gd name="adj" fmla="val 5660"/>
            </a:avLst>
          </a:prstGeom>
          <a:solidFill>
            <a:srgbClr val="F3F5F8"/>
          </a:solidFill>
          <a:ln/>
        </p:spPr>
      </p:sp>
      <p:sp>
        <p:nvSpPr>
          <p:cNvPr id="40" name="Shape 29"/>
          <p:cNvSpPr/>
          <p:nvPr/>
        </p:nvSpPr>
        <p:spPr>
          <a:xfrm>
            <a:off x="5687568" y="4709160"/>
            <a:ext cx="384048" cy="384048"/>
          </a:xfrm>
          <a:prstGeom prst="ellipse">
            <a:avLst/>
          </a:prstGeom>
          <a:solidFill>
            <a:srgbClr val="FFFFFF"/>
          </a:solidFill>
          <a:ln/>
        </p:spPr>
      </p:sp>
      <p:pic>
        <p:nvPicPr>
          <p:cNvPr id="41" name="Image 9" descr="preencoded.png">    </p:cNvPr>
          <p:cNvPicPr>
            <a:picLocks noChangeAspect="1"/>
          </p:cNvPicPr>
          <p:nvPr/>
        </p:nvPicPr>
        <p:blipFill>
          <a:blip r:embed="rId10"/>
          <a:stretch>
            <a:fillRect/>
          </a:stretch>
        </p:blipFill>
        <p:spPr>
          <a:xfrm>
            <a:off x="5764378" y="4785970"/>
            <a:ext cx="230429" cy="230429"/>
          </a:xfrm>
          <a:prstGeom prst="rect">
            <a:avLst/>
          </a:prstGeom>
        </p:spPr>
      </p:pic>
      <p:sp>
        <p:nvSpPr>
          <p:cNvPr id="42" name="Text 30"/>
          <p:cNvSpPr txBox="1"/>
          <p:nvPr/>
        </p:nvSpPr>
        <p:spPr>
          <a:xfrm>
            <a:off x="6144768" y="4690872"/>
            <a:ext cx="539496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エディションと課金</a:t>
            </a:r>
            <a:endParaRPr lang="en-US" sz="1200" dirty="0"/>
          </a:p>
        </p:txBody>
      </p:sp>
      <p:sp>
        <p:nvSpPr>
          <p:cNvPr id="43" name="Text 31"/>
          <p:cNvSpPr txBox="1"/>
          <p:nvPr/>
        </p:nvSpPr>
        <p:spPr>
          <a:xfrm>
            <a:off x="6144768" y="5001768"/>
            <a:ext cx="5394960" cy="548640"/>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Business／Standard／Plus／従量課金／Frontline。Agent Platformでは2026年から一部機能の課金が始まる（Agent Gateway：7月、Memory Bank・Sessions：9月）</a:t>
            </a:r>
            <a:endParaRPr lang="en-US" sz="950" dirty="0"/>
          </a:p>
        </p:txBody>
      </p:sp>
      <p:sp>
        <p:nvSpPr>
          <p:cNvPr id="44" name="Shape 32"/>
          <p:cNvSpPr/>
          <p:nvPr/>
        </p:nvSpPr>
        <p:spPr>
          <a:xfrm>
            <a:off x="548640" y="5715000"/>
            <a:ext cx="11064240" cy="566928"/>
          </a:xfrm>
          <a:prstGeom prst="roundRect">
            <a:avLst>
              <a:gd name="adj" fmla="val 9677"/>
            </a:avLst>
          </a:prstGeom>
          <a:solidFill>
            <a:srgbClr val="FDEBD3"/>
          </a:solidFill>
          <a:ln/>
        </p:spPr>
      </p:sp>
      <p:sp>
        <p:nvSpPr>
          <p:cNvPr id="45" name="Text 33"/>
          <p:cNvSpPr txBox="1"/>
          <p:nvPr/>
        </p:nvSpPr>
        <p:spPr>
          <a:xfrm>
            <a:off x="731520" y="5715000"/>
            <a:ext cx="10789920" cy="566928"/>
          </a:xfrm>
          <a:prstGeom prst="rect">
            <a:avLst/>
          </a:prstGeom>
          <a:noFill/>
          <a:ln/>
        </p:spPr>
        <p:txBody>
          <a:bodyPr wrap="square" lIns="0" tIns="0" rIns="0" bIns="0" rtlCol="0" anchor="ctr"/>
          <a:lstStyle/>
          <a:p>
            <a:pPr indent="0" marL="0">
              <a:buNone/>
            </a:pPr>
            <a:r>
              <a:rPr lang="en-US" sz="1100" b="1" dirty="0">
                <a:solidFill>
                  <a:srgbClr val="E8912D"/>
                </a:solidFill>
                <a:latin typeface="Meiryo UI" pitchFamily="34" charset="0"/>
                <a:ea typeface="Meiryo UI" pitchFamily="34" charset="-122"/>
                <a:cs typeface="Meiryo UI" pitchFamily="34" charset="-120"/>
              </a:rPr>
              <a:t>本資料への反映：</a:t>
            </a:r>
            <a:pPr indent="0" marL="0">
              <a:buNone/>
            </a:pPr>
            <a:r>
              <a:rPr lang="en-US" sz="1100" dirty="0">
                <a:solidFill>
                  <a:srgbClr val="000000"/>
                </a:solidFill>
                <a:latin typeface="Meiryo UI" pitchFamily="34" charset="0"/>
                <a:ea typeface="Meiryo UI" pitchFamily="34" charset="-122"/>
                <a:cs typeface="Meiryo UI" pitchFamily="34" charset="-120"/>
              </a:rPr>
              <a:t>社内資料のGCP取り込みは可と確認済み（フェデレーションも選べる）。社内ではAgent Platformを使ったサンプルアプリの試作実績がある</a:t>
            </a:r>
            <a:endParaRPr lang="en-US" sz="1100" dirty="0"/>
          </a:p>
        </p:txBody>
      </p:sp>
      <p:sp>
        <p:nvSpPr>
          <p:cNvPr id="46" name="Text 34"/>
          <p:cNvSpPr txBox="1"/>
          <p:nvPr/>
        </p:nvSpPr>
        <p:spPr>
          <a:xfrm>
            <a:off x="548640" y="6327648"/>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出典：Google Cloud「What is Gemini Enterprise?」「SharePoint connector overview」「Gemini Enterprise Agent Platform」、各社報道（2026年4〜9月）</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参考：M365のデータに外部からアクセスする仕組み</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Entra ID・アプリ登録・Graph API、およびGemini Enterpriseのフェデレーション</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50</a:t>
            </a:r>
            <a:endParaRPr lang="en-US" sz="9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394960" cy="914400"/>
        </p:xfrm>
        <a:graphic>
          <a:graphicData uri="http://schemas.openxmlformats.org/drawingml/2006/table">
            <a:tbl>
              <a:tblPr/>
              <a:tblGrid>
                <a:gridCol w="1371600"/>
                <a:gridCol w="1828800"/>
                <a:gridCol w="2194560"/>
              </a:tblGrid>
              <a:tr h="329184">
                <a:tc>
                  <a:txBody>
                    <a:bodyPr/>
                    <a:lstStyle/>
                    <a:p>
                      <a:pPr algn="ctr" indent="0" marL="0">
                        <a:buNone/>
                      </a:pP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GCP</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Microsoft</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r>
              <a:tr h="38404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ID管理の土台</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Cloud Identity＋IAM</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Entra ID（旧Azure AD）</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プログラムのID</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サービスアカウント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アプリ登録（サービスプリンシパル）</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認証情報</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サービスアカウントの鍵</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クライアントシークレット、または証明書</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権限の付与</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IAMのロール付与</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APIの権限（例：Sites.Selected）＋管理者の同意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3429000"/>
            <a:ext cx="539496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Entra IDは、M365の利用者・グループ・サインインを管理する土台（M365を使っている時点で既にある）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アプリ登録は、プログラムにEntra上のIDを発行すること（GCPのサービスアカウントに近い）</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アプリケーションの権限＝プログラム自身として動く／委任された権限＝利用者本人の代わりに動く</a:t>
            </a:r>
            <a:endParaRPr lang="en-US" sz="1050" dirty="0"/>
          </a:p>
        </p:txBody>
      </p:sp>
      <p:sp>
        <p:nvSpPr>
          <p:cNvPr id="8" name="Shape 5"/>
          <p:cNvSpPr/>
          <p:nvPr/>
        </p:nvSpPr>
        <p:spPr>
          <a:xfrm>
            <a:off x="6172200" y="1371600"/>
            <a:ext cx="5440680" cy="3474720"/>
          </a:xfrm>
          <a:prstGeom prst="roundRect">
            <a:avLst>
              <a:gd name="adj" fmla="val 1579"/>
            </a:avLst>
          </a:prstGeom>
          <a:solidFill>
            <a:srgbClr val="F3F5F8"/>
          </a:solidFill>
          <a:ln/>
        </p:spPr>
      </p:sp>
      <p:sp>
        <p:nvSpPr>
          <p:cNvPr id="9" name="Text 6"/>
          <p:cNvSpPr txBox="1"/>
          <p:nvPr/>
        </p:nvSpPr>
        <p:spPr>
          <a:xfrm>
            <a:off x="6309360" y="1444752"/>
            <a:ext cx="5212080" cy="29260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GCPからSharePointにアクセスする流れ（Graph API）</a:t>
            </a:r>
            <a:endParaRPr lang="en-US" sz="1100" dirty="0"/>
          </a:p>
        </p:txBody>
      </p:sp>
      <p:sp>
        <p:nvSpPr>
          <p:cNvPr id="10" name="Shape 7"/>
          <p:cNvSpPr/>
          <p:nvPr/>
        </p:nvSpPr>
        <p:spPr>
          <a:xfrm>
            <a:off x="6355080" y="1874520"/>
            <a:ext cx="1554480" cy="731520"/>
          </a:xfrm>
          <a:prstGeom prst="roundRect">
            <a:avLst>
              <a:gd name="adj" fmla="val 10000"/>
            </a:avLst>
          </a:prstGeom>
          <a:solidFill>
            <a:srgbClr val="D9F2F1"/>
          </a:solidFill>
          <a:ln/>
        </p:spPr>
      </p:sp>
      <p:pic>
        <p:nvPicPr>
          <p:cNvPr id="11" name="Image 0" descr="preencoded.png">    </p:cNvPr>
          <p:cNvPicPr>
            <a:picLocks noChangeAspect="1"/>
          </p:cNvPicPr>
          <p:nvPr/>
        </p:nvPicPr>
        <p:blipFill>
          <a:blip r:embed="rId1"/>
          <a:stretch>
            <a:fillRect/>
          </a:stretch>
        </p:blipFill>
        <p:spPr>
          <a:xfrm>
            <a:off x="6464808" y="2057400"/>
            <a:ext cx="365760" cy="365760"/>
          </a:xfrm>
          <a:prstGeom prst="rect">
            <a:avLst/>
          </a:prstGeom>
        </p:spPr>
      </p:pic>
      <p:sp>
        <p:nvSpPr>
          <p:cNvPr id="12" name="Text 8"/>
          <p:cNvSpPr txBox="1"/>
          <p:nvPr/>
        </p:nvSpPr>
        <p:spPr>
          <a:xfrm>
            <a:off x="6922008" y="1874520"/>
            <a:ext cx="9418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Cloud Run</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プログラム</a:t>
            </a:r>
            <a:endParaRPr lang="en-US" sz="1050" dirty="0"/>
          </a:p>
        </p:txBody>
      </p:sp>
      <p:sp>
        <p:nvSpPr>
          <p:cNvPr id="13" name="Shape 9"/>
          <p:cNvSpPr/>
          <p:nvPr/>
        </p:nvSpPr>
        <p:spPr>
          <a:xfrm>
            <a:off x="7955280" y="2103120"/>
            <a:ext cx="457200" cy="0"/>
          </a:xfrm>
          <a:prstGeom prst="line">
            <a:avLst/>
          </a:prstGeom>
          <a:noFill/>
          <a:ln w="22225">
            <a:solidFill>
              <a:srgbClr val="9AA5B4"/>
            </a:solidFill>
            <a:prstDash val="solid"/>
            <a:tailEnd type="triangle"/>
          </a:ln>
        </p:spPr>
      </p:sp>
      <p:sp>
        <p:nvSpPr>
          <p:cNvPr id="14" name="Text 10"/>
          <p:cNvSpPr txBox="1"/>
          <p:nvPr/>
        </p:nvSpPr>
        <p:spPr>
          <a:xfrm>
            <a:off x="7818120" y="1810512"/>
            <a:ext cx="731520" cy="274320"/>
          </a:xfrm>
          <a:prstGeom prst="rect">
            <a:avLst/>
          </a:prstGeom>
          <a:noFill/>
          <a:ln/>
        </p:spPr>
        <p:txBody>
          <a:bodyPr wrap="square" lIns="0" tIns="0" rIns="0" bIns="0" rtlCol="0" anchor="t"/>
          <a:lstStyle/>
          <a:p>
            <a:pPr algn="ctr" indent="0" marL="0">
              <a:buNone/>
            </a:pPr>
            <a:r>
              <a:rPr lang="en-US" sz="700" dirty="0">
                <a:solidFill>
                  <a:srgbClr val="6B7280"/>
                </a:solidFill>
                <a:latin typeface="Meiryo UI" pitchFamily="34" charset="0"/>
                <a:ea typeface="Meiryo UI" pitchFamily="34" charset="-122"/>
                <a:cs typeface="Meiryo UI" pitchFamily="34" charset="-120"/>
              </a:rPr>
              <a:t>①トークンを要求</a:t>
            </a:r>
            <a:endParaRPr lang="en-US" sz="700" dirty="0"/>
          </a:p>
        </p:txBody>
      </p:sp>
      <p:sp>
        <p:nvSpPr>
          <p:cNvPr id="15" name="Shape 11"/>
          <p:cNvSpPr/>
          <p:nvPr/>
        </p:nvSpPr>
        <p:spPr>
          <a:xfrm>
            <a:off x="8458200" y="1874520"/>
            <a:ext cx="1371600" cy="731520"/>
          </a:xfrm>
          <a:prstGeom prst="roundRect">
            <a:avLst>
              <a:gd name="adj" fmla="val 10000"/>
            </a:avLst>
          </a:prstGeom>
          <a:solidFill>
            <a:srgbClr val="E3EAF5"/>
          </a:solidFill>
          <a:ln/>
        </p:spPr>
      </p:sp>
      <p:pic>
        <p:nvPicPr>
          <p:cNvPr id="16" name="Image 1" descr="preencoded.png">    </p:cNvPr>
          <p:cNvPicPr>
            <a:picLocks noChangeAspect="1"/>
          </p:cNvPicPr>
          <p:nvPr/>
        </p:nvPicPr>
        <p:blipFill>
          <a:blip r:embed="rId2"/>
          <a:stretch>
            <a:fillRect/>
          </a:stretch>
        </p:blipFill>
        <p:spPr>
          <a:xfrm>
            <a:off x="8567928" y="2057400"/>
            <a:ext cx="365760" cy="365760"/>
          </a:xfrm>
          <a:prstGeom prst="rect">
            <a:avLst/>
          </a:prstGeom>
        </p:spPr>
      </p:pic>
      <p:sp>
        <p:nvSpPr>
          <p:cNvPr id="17" name="Text 12"/>
          <p:cNvSpPr txBox="1"/>
          <p:nvPr/>
        </p:nvSpPr>
        <p:spPr>
          <a:xfrm>
            <a:off x="9025128" y="1874520"/>
            <a:ext cx="7589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Entra ID</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トークンを発行</a:t>
            </a:r>
            <a:endParaRPr lang="en-US" sz="1050" dirty="0"/>
          </a:p>
        </p:txBody>
      </p:sp>
      <p:sp>
        <p:nvSpPr>
          <p:cNvPr id="18" name="Shape 13"/>
          <p:cNvSpPr/>
          <p:nvPr/>
        </p:nvSpPr>
        <p:spPr>
          <a:xfrm flipH="1">
            <a:off x="7955280" y="2423160"/>
            <a:ext cx="457200" cy="0"/>
          </a:xfrm>
          <a:prstGeom prst="line">
            <a:avLst/>
          </a:prstGeom>
          <a:noFill/>
          <a:ln w="22225">
            <a:solidFill>
              <a:srgbClr val="9AA5B4"/>
            </a:solidFill>
            <a:prstDash val="solid"/>
            <a:tailEnd type="triangle"/>
          </a:ln>
        </p:spPr>
      </p:sp>
      <p:sp>
        <p:nvSpPr>
          <p:cNvPr id="19" name="Text 14"/>
          <p:cNvSpPr txBox="1"/>
          <p:nvPr/>
        </p:nvSpPr>
        <p:spPr>
          <a:xfrm>
            <a:off x="7863840" y="2450592"/>
            <a:ext cx="640080" cy="228600"/>
          </a:xfrm>
          <a:prstGeom prst="rect">
            <a:avLst/>
          </a:prstGeom>
          <a:noFill/>
          <a:ln/>
        </p:spPr>
        <p:txBody>
          <a:bodyPr wrap="square" lIns="0" tIns="0" rIns="0" bIns="0" rtlCol="0" anchor="t"/>
          <a:lstStyle/>
          <a:p>
            <a:pPr algn="ctr" indent="0" marL="0">
              <a:buNone/>
            </a:pPr>
            <a:r>
              <a:rPr lang="en-US" sz="700" dirty="0">
                <a:solidFill>
                  <a:srgbClr val="6B7280"/>
                </a:solidFill>
                <a:latin typeface="Meiryo UI" pitchFamily="34" charset="0"/>
                <a:ea typeface="Meiryo UI" pitchFamily="34" charset="-122"/>
                <a:cs typeface="Meiryo UI" pitchFamily="34" charset="-120"/>
              </a:rPr>
              <a:t>②トークン</a:t>
            </a:r>
            <a:endParaRPr lang="en-US" sz="700" dirty="0"/>
          </a:p>
        </p:txBody>
      </p:sp>
      <p:sp>
        <p:nvSpPr>
          <p:cNvPr id="20" name="Shape 15"/>
          <p:cNvSpPr/>
          <p:nvPr/>
        </p:nvSpPr>
        <p:spPr>
          <a:xfrm>
            <a:off x="9966960" y="1874520"/>
            <a:ext cx="1508760" cy="731520"/>
          </a:xfrm>
          <a:prstGeom prst="roundRect">
            <a:avLst>
              <a:gd name="adj" fmla="val 10000"/>
            </a:avLst>
          </a:prstGeom>
          <a:solidFill>
            <a:srgbClr val="E3EAF5"/>
          </a:solidFill>
          <a:ln/>
        </p:spPr>
      </p:sp>
      <p:pic>
        <p:nvPicPr>
          <p:cNvPr id="21" name="Image 2" descr="preencoded.png">    </p:cNvPr>
          <p:cNvPicPr>
            <a:picLocks noChangeAspect="1"/>
          </p:cNvPicPr>
          <p:nvPr/>
        </p:nvPicPr>
        <p:blipFill>
          <a:blip r:embed="rId3"/>
          <a:stretch>
            <a:fillRect/>
          </a:stretch>
        </p:blipFill>
        <p:spPr>
          <a:xfrm>
            <a:off x="10076688" y="2057400"/>
            <a:ext cx="365760" cy="365760"/>
          </a:xfrm>
          <a:prstGeom prst="rect">
            <a:avLst/>
          </a:prstGeom>
        </p:spPr>
      </p:pic>
      <p:sp>
        <p:nvSpPr>
          <p:cNvPr id="22" name="Text 16"/>
          <p:cNvSpPr txBox="1"/>
          <p:nvPr/>
        </p:nvSpPr>
        <p:spPr>
          <a:xfrm>
            <a:off x="10533888" y="1874520"/>
            <a:ext cx="8961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Graph API</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M365の入口</a:t>
            </a:r>
            <a:endParaRPr lang="en-US" sz="1050" dirty="0"/>
          </a:p>
        </p:txBody>
      </p:sp>
      <p:sp>
        <p:nvSpPr>
          <p:cNvPr id="23" name="Shape 17"/>
          <p:cNvSpPr/>
          <p:nvPr/>
        </p:nvSpPr>
        <p:spPr>
          <a:xfrm>
            <a:off x="7132320" y="2651760"/>
            <a:ext cx="0" cy="274320"/>
          </a:xfrm>
          <a:prstGeom prst="line">
            <a:avLst/>
          </a:prstGeom>
          <a:noFill/>
          <a:ln w="22225">
            <a:solidFill>
              <a:srgbClr val="9AA5B4"/>
            </a:solidFill>
            <a:prstDash val="solid"/>
            <a:tailEnd type="triangle"/>
          </a:ln>
        </p:spPr>
      </p:sp>
      <p:sp>
        <p:nvSpPr>
          <p:cNvPr id="24" name="Text 18"/>
          <p:cNvSpPr txBox="1"/>
          <p:nvPr/>
        </p:nvSpPr>
        <p:spPr>
          <a:xfrm>
            <a:off x="6355080" y="2944368"/>
            <a:ext cx="5120640" cy="274320"/>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③トークンを付けてGraph APIを呼ぶ → SharePointを読み書き</a:t>
            </a:r>
            <a:endParaRPr lang="en-US" sz="850" dirty="0"/>
          </a:p>
        </p:txBody>
      </p:sp>
      <p:sp>
        <p:nvSpPr>
          <p:cNvPr id="25" name="Text 19"/>
          <p:cNvSpPr txBox="1"/>
          <p:nvPr/>
        </p:nvSpPr>
        <p:spPr>
          <a:xfrm>
            <a:off x="6355080" y="3291840"/>
            <a:ext cx="5120640" cy="1508760"/>
          </a:xfrm>
          <a:prstGeom prst="rect">
            <a:avLst/>
          </a:prstGeom>
          <a:noFill/>
          <a:ln/>
        </p:spPr>
        <p:txBody>
          <a:bodyPr wrap="square" lIns="254" tIns="254" rIns="254" bIns="254" rtlCol="0" anchor="t"/>
          <a:lstStyle/>
          <a:p>
            <a:pPr marL="152400" indent="-152400">
              <a:spcAft>
                <a:spcPts val="300"/>
              </a:spcAft>
              <a:buSzPct val="100000"/>
              <a:buChar char="•"/>
            </a:pPr>
            <a:r>
              <a:rPr lang="en-US" sz="950" dirty="0">
                <a:solidFill>
                  <a:srgbClr val="000000"/>
                </a:solidFill>
                <a:latin typeface="Meiryo UI" pitchFamily="34" charset="0"/>
                <a:ea typeface="Meiryo UI" pitchFamily="34" charset="-122"/>
                <a:cs typeface="Meiryo UI" pitchFamily="34" charset="-120"/>
              </a:rPr>
              <a:t>シークレットを持たない方法：Entraに「Googleが発行したトークンを信頼する」設定（フェデレーション資格情報）をすれば、サービスアカウントのトークンでEntraのトークンを受け取れる（要検証）</a:t>
            </a:r>
            <a:endParaRPr lang="en-US" sz="950" dirty="0"/>
          </a:p>
          <a:p>
            <a:pPr marL="152400" indent="-152400">
              <a:spcAft>
                <a:spcPts val="300"/>
              </a:spcAft>
              <a:buSzPct val="100000"/>
              <a:buChar char="•"/>
            </a:pPr>
            <a:r>
              <a:rPr lang="en-US" sz="950" dirty="0">
                <a:solidFill>
                  <a:srgbClr val="000000"/>
                </a:solidFill>
                <a:latin typeface="Meiryo UI" pitchFamily="34" charset="0"/>
                <a:ea typeface="Meiryo UI" pitchFamily="34" charset="-122"/>
                <a:cs typeface="Meiryo UI" pitchFamily="34" charset="-120"/>
              </a:rPr>
              <a:t>VPC Service Controlsが守るのはGoogleのサービスへのアクセス。Graphへの外向き通信はファイアウォール・組織ポリシーの設定次第。境界内のデータを外部に出してよいかは社内ルールとして確認が必要</a:t>
            </a:r>
            <a:endParaRPr lang="en-US" sz="950" dirty="0"/>
          </a:p>
        </p:txBody>
      </p:sp>
      <p:sp>
        <p:nvSpPr>
          <p:cNvPr id="26" name="Shape 20"/>
          <p:cNvSpPr/>
          <p:nvPr/>
        </p:nvSpPr>
        <p:spPr>
          <a:xfrm>
            <a:off x="548640" y="4983480"/>
            <a:ext cx="11064240" cy="1371600"/>
          </a:xfrm>
          <a:prstGeom prst="roundRect">
            <a:avLst>
              <a:gd name="adj" fmla="val 4000"/>
            </a:avLst>
          </a:prstGeom>
          <a:solidFill>
            <a:srgbClr val="E8F0FE"/>
          </a:solidFill>
          <a:ln/>
        </p:spPr>
      </p:sp>
      <p:sp>
        <p:nvSpPr>
          <p:cNvPr id="27" name="Shape 21"/>
          <p:cNvSpPr/>
          <p:nvPr/>
        </p:nvSpPr>
        <p:spPr>
          <a:xfrm>
            <a:off x="685800" y="5138928"/>
            <a:ext cx="420624" cy="420624"/>
          </a:xfrm>
          <a:prstGeom prst="ellipse">
            <a:avLst/>
          </a:prstGeom>
          <a:solidFill>
            <a:srgbClr val="FFFFFF"/>
          </a:solidFill>
          <a:ln/>
        </p:spPr>
      </p:sp>
      <p:pic>
        <p:nvPicPr>
          <p:cNvPr id="28" name="Image 3" descr="preencoded.png">    </p:cNvPr>
          <p:cNvPicPr>
            <a:picLocks noChangeAspect="1"/>
          </p:cNvPicPr>
          <p:nvPr/>
        </p:nvPicPr>
        <p:blipFill>
          <a:blip r:embed="rId4"/>
          <a:stretch>
            <a:fillRect/>
          </a:stretch>
        </p:blipFill>
        <p:spPr>
          <a:xfrm>
            <a:off x="769925" y="5223053"/>
            <a:ext cx="252374" cy="252374"/>
          </a:xfrm>
          <a:prstGeom prst="rect">
            <a:avLst/>
          </a:prstGeom>
        </p:spPr>
      </p:pic>
      <p:sp>
        <p:nvSpPr>
          <p:cNvPr id="29" name="Text 22"/>
          <p:cNvSpPr txBox="1"/>
          <p:nvPr/>
        </p:nvSpPr>
        <p:spPr>
          <a:xfrm>
            <a:off x="1188720" y="5120640"/>
            <a:ext cx="7315200" cy="457200"/>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Gemini EnterpriseがSharePointの資料を扱う2つの方法</a:t>
            </a:r>
            <a:endParaRPr lang="en-US" sz="1150" dirty="0"/>
          </a:p>
        </p:txBody>
      </p:sp>
      <p:sp>
        <p:nvSpPr>
          <p:cNvPr id="30" name="Text 23"/>
          <p:cNvSpPr txBox="1"/>
          <p:nvPr/>
        </p:nvSpPr>
        <p:spPr>
          <a:xfrm>
            <a:off x="731520" y="5577840"/>
            <a:ext cx="5303520" cy="237744"/>
          </a:xfrm>
          <a:prstGeom prst="rect">
            <a:avLst/>
          </a:prstGeom>
          <a:noFill/>
          <a:ln/>
        </p:spPr>
        <p:txBody>
          <a:bodyPr wrap="square" lIns="0" tIns="0" rIns="0" bIns="0" rtlCol="0" anchor="t"/>
          <a:lstStyle/>
          <a:p>
            <a:pPr indent="0" marL="0">
              <a:buNone/>
            </a:pPr>
            <a:r>
              <a:rPr lang="en-US" sz="1000" b="1" dirty="0">
                <a:solidFill>
                  <a:srgbClr val="4285F4"/>
                </a:solidFill>
                <a:latin typeface="Meiryo UI" pitchFamily="34" charset="0"/>
                <a:ea typeface="Meiryo UI" pitchFamily="34" charset="-122"/>
                <a:cs typeface="Meiryo UI" pitchFamily="34" charset="-120"/>
              </a:rPr>
              <a:t>フェデレーション</a:t>
            </a:r>
            <a:endParaRPr lang="en-US" sz="1000" dirty="0"/>
          </a:p>
        </p:txBody>
      </p:sp>
      <p:sp>
        <p:nvSpPr>
          <p:cNvPr id="31" name="Text 24"/>
          <p:cNvSpPr txBox="1"/>
          <p:nvPr/>
        </p:nvSpPr>
        <p:spPr>
          <a:xfrm>
            <a:off x="731520" y="5815584"/>
            <a:ext cx="5303520" cy="5029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質問のたびに、利用者本人の権限でSharePointの検索を呼び出し、結果を回答に使う。資料をGoogle側にコピーしない。常に最新だが、検索の精度・速度はSharePoint側に左右される</a:t>
            </a:r>
            <a:endParaRPr lang="en-US" sz="850" dirty="0"/>
          </a:p>
        </p:txBody>
      </p:sp>
      <p:sp>
        <p:nvSpPr>
          <p:cNvPr id="32" name="Text 25"/>
          <p:cNvSpPr txBox="1"/>
          <p:nvPr/>
        </p:nvSpPr>
        <p:spPr>
          <a:xfrm>
            <a:off x="6217920" y="5577840"/>
            <a:ext cx="5303520" cy="237744"/>
          </a:xfrm>
          <a:prstGeom prst="rect">
            <a:avLst/>
          </a:prstGeom>
          <a:noFill/>
          <a:ln/>
        </p:spPr>
        <p:txBody>
          <a:bodyPr wrap="square" lIns="0" tIns="0" rIns="0" bIns="0" rtlCol="0" anchor="t"/>
          <a:lstStyle/>
          <a:p>
            <a:pPr indent="0" marL="0">
              <a:buNone/>
            </a:pPr>
            <a:r>
              <a:rPr lang="en-US" sz="1000" b="1" dirty="0">
                <a:solidFill>
                  <a:srgbClr val="4285F4"/>
                </a:solidFill>
                <a:latin typeface="Meiryo UI" pitchFamily="34" charset="0"/>
                <a:ea typeface="Meiryo UI" pitchFamily="34" charset="-122"/>
                <a:cs typeface="Meiryo UI" pitchFamily="34" charset="-120"/>
              </a:rPr>
              <a:t>取り込み（インジェスト）</a:t>
            </a:r>
            <a:endParaRPr lang="en-US" sz="1000" dirty="0"/>
          </a:p>
        </p:txBody>
      </p:sp>
      <p:sp>
        <p:nvSpPr>
          <p:cNvPr id="33" name="Text 26"/>
          <p:cNvSpPr txBox="1"/>
          <p:nvPr/>
        </p:nvSpPr>
        <p:spPr>
          <a:xfrm>
            <a:off x="6217920" y="5815584"/>
            <a:ext cx="5303520" cy="5029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資料をGoogle側の索引にコピーする（同期は3時間〜7日ごと）。検索の精度を出しやすい反面、反映に時間差がある。広い範囲の権限付与と、権限の対応付けが必要</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判断に必要な要件（確認すべきこと）</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以下の要件が明らかになると、選択肢を絞り込みやすくなる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6. 判断材料</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51</a:t>
            </a:r>
            <a:endParaRPr lang="en-US" sz="900" dirty="0"/>
          </a:p>
        </p:txBody>
      </p:sp>
      <p:sp>
        <p:nvSpPr>
          <p:cNvPr id="6" name="Shape 4"/>
          <p:cNvSpPr/>
          <p:nvPr/>
        </p:nvSpPr>
        <p:spPr>
          <a:xfrm>
            <a:off x="548640" y="1417320"/>
            <a:ext cx="3566160" cy="2331720"/>
          </a:xfrm>
          <a:prstGeom prst="roundRect">
            <a:avLst>
              <a:gd name="adj" fmla="val 2353"/>
            </a:avLst>
          </a:prstGeom>
          <a:solidFill>
            <a:srgbClr val="F3F5F8"/>
          </a:solidFill>
          <a:ln/>
        </p:spPr>
      </p:sp>
      <p:sp>
        <p:nvSpPr>
          <p:cNvPr id="7" name="Shape 5"/>
          <p:cNvSpPr/>
          <p:nvPr/>
        </p:nvSpPr>
        <p:spPr>
          <a:xfrm>
            <a:off x="713232" y="1554480"/>
            <a:ext cx="457200" cy="4572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04672" y="1645920"/>
            <a:ext cx="274320" cy="274320"/>
          </a:xfrm>
          <a:prstGeom prst="rect">
            <a:avLst/>
          </a:prstGeom>
        </p:spPr>
      </p:pic>
      <p:sp>
        <p:nvSpPr>
          <p:cNvPr id="9" name="Text 6"/>
          <p:cNvSpPr txBox="1"/>
          <p:nvPr/>
        </p:nvSpPr>
        <p:spPr>
          <a:xfrm>
            <a:off x="1261872" y="1554480"/>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セキュリティ・ガバナンス</a:t>
            </a:r>
            <a:endParaRPr lang="en-US" sz="1350" dirty="0"/>
          </a:p>
        </p:txBody>
      </p:sp>
      <p:sp>
        <p:nvSpPr>
          <p:cNvPr id="10" name="Shape 7"/>
          <p:cNvSpPr/>
          <p:nvPr/>
        </p:nvSpPr>
        <p:spPr>
          <a:xfrm>
            <a:off x="3154680" y="1636776"/>
            <a:ext cx="822960" cy="292608"/>
          </a:xfrm>
          <a:prstGeom prst="roundRect">
            <a:avLst>
              <a:gd name="adj" fmla="val 50000"/>
            </a:avLst>
          </a:prstGeom>
          <a:solidFill>
            <a:srgbClr val="1B2A49"/>
          </a:solidFill>
          <a:ln/>
        </p:spPr>
      </p:sp>
      <p:sp>
        <p:nvSpPr>
          <p:cNvPr id="11" name="Text 8"/>
          <p:cNvSpPr txBox="1"/>
          <p:nvPr/>
        </p:nvSpPr>
        <p:spPr>
          <a:xfrm>
            <a:off x="3154680" y="1636776"/>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軸1</a:t>
            </a:r>
            <a:endParaRPr lang="en-US" sz="900" dirty="0"/>
          </a:p>
        </p:txBody>
      </p:sp>
      <p:sp>
        <p:nvSpPr>
          <p:cNvPr id="12" name="Text 9"/>
          <p:cNvSpPr txBox="1"/>
          <p:nvPr/>
        </p:nvSpPr>
        <p:spPr>
          <a:xfrm>
            <a:off x="73152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 社内資料のGCP取り込み：可（確認済み）</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Entraのアプリ登録・Graph APIの権限を付与できるか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Power PlatformのDLPポリシーで外部連携は可能か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Airtable標準のAIに社内情報を渡してよいか（C1）</a:t>
            </a:r>
            <a:endParaRPr lang="en-US" sz="1150" dirty="0"/>
          </a:p>
        </p:txBody>
      </p:sp>
      <p:sp>
        <p:nvSpPr>
          <p:cNvPr id="13" name="Shape 10"/>
          <p:cNvSpPr/>
          <p:nvPr/>
        </p:nvSpPr>
        <p:spPr>
          <a:xfrm>
            <a:off x="4297680" y="1417320"/>
            <a:ext cx="3566160" cy="2331720"/>
          </a:xfrm>
          <a:prstGeom prst="roundRect">
            <a:avLst>
              <a:gd name="adj" fmla="val 2353"/>
            </a:avLst>
          </a:prstGeom>
          <a:solidFill>
            <a:srgbClr val="F3F5F8"/>
          </a:solidFill>
          <a:ln/>
        </p:spPr>
      </p:sp>
      <p:sp>
        <p:nvSpPr>
          <p:cNvPr id="14" name="Shape 11"/>
          <p:cNvSpPr/>
          <p:nvPr/>
        </p:nvSpPr>
        <p:spPr>
          <a:xfrm>
            <a:off x="4462272" y="1554480"/>
            <a:ext cx="457200" cy="457200"/>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4553712" y="1645920"/>
            <a:ext cx="274320" cy="274320"/>
          </a:xfrm>
          <a:prstGeom prst="rect">
            <a:avLst/>
          </a:prstGeom>
        </p:spPr>
      </p:pic>
      <p:sp>
        <p:nvSpPr>
          <p:cNvPr id="16" name="Text 12"/>
          <p:cNvSpPr txBox="1"/>
          <p:nvPr/>
        </p:nvSpPr>
        <p:spPr>
          <a:xfrm>
            <a:off x="5010912" y="1554480"/>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データ要件</a:t>
            </a:r>
            <a:endParaRPr lang="en-US" sz="1350" dirty="0"/>
          </a:p>
        </p:txBody>
      </p:sp>
      <p:sp>
        <p:nvSpPr>
          <p:cNvPr id="17" name="Shape 13"/>
          <p:cNvSpPr/>
          <p:nvPr/>
        </p:nvSpPr>
        <p:spPr>
          <a:xfrm>
            <a:off x="6903720" y="1636776"/>
            <a:ext cx="822960" cy="292608"/>
          </a:xfrm>
          <a:prstGeom prst="roundRect">
            <a:avLst>
              <a:gd name="adj" fmla="val 50000"/>
            </a:avLst>
          </a:prstGeom>
          <a:solidFill>
            <a:srgbClr val="1B2A49"/>
          </a:solidFill>
          <a:ln/>
        </p:spPr>
      </p:sp>
      <p:sp>
        <p:nvSpPr>
          <p:cNvPr id="18" name="Text 14"/>
          <p:cNvSpPr txBox="1"/>
          <p:nvPr/>
        </p:nvSpPr>
        <p:spPr>
          <a:xfrm>
            <a:off x="6903720" y="1636776"/>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軸1</a:t>
            </a:r>
            <a:endParaRPr lang="en-US" sz="900" dirty="0"/>
          </a:p>
        </p:txBody>
      </p:sp>
      <p:sp>
        <p:nvSpPr>
          <p:cNvPr id="19" name="Text 15"/>
          <p:cNvSpPr txBox="1"/>
          <p:nvPr/>
        </p:nvSpPr>
        <p:spPr>
          <a:xfrm>
            <a:off x="448056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数値データに必要な鮮度・粒度はどの程度か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商品マスタとポリシー（SharePoint）をBigQueryに取り込めるか（取り込めればSQLだけで前処理が完結）</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対話の中で想定外の数値の問いを投げる必要があるか</a:t>
            </a:r>
            <a:endParaRPr lang="en-US" sz="1150" dirty="0"/>
          </a:p>
        </p:txBody>
      </p:sp>
      <p:sp>
        <p:nvSpPr>
          <p:cNvPr id="20" name="Shape 16"/>
          <p:cNvSpPr/>
          <p:nvPr/>
        </p:nvSpPr>
        <p:spPr>
          <a:xfrm>
            <a:off x="8046720" y="1417320"/>
            <a:ext cx="3566160" cy="2331720"/>
          </a:xfrm>
          <a:prstGeom prst="roundRect">
            <a:avLst>
              <a:gd name="adj" fmla="val 2353"/>
            </a:avLst>
          </a:prstGeom>
          <a:solidFill>
            <a:srgbClr val="F3F5F8"/>
          </a:solidFill>
          <a:ln/>
        </p:spPr>
      </p:sp>
      <p:sp>
        <p:nvSpPr>
          <p:cNvPr id="21" name="Shape 17"/>
          <p:cNvSpPr/>
          <p:nvPr/>
        </p:nvSpPr>
        <p:spPr>
          <a:xfrm>
            <a:off x="8211312" y="1554480"/>
            <a:ext cx="457200" cy="457200"/>
          </a:xfrm>
          <a:prstGeom prst="ellipse">
            <a:avLst/>
          </a:prstGeom>
          <a:solidFill>
            <a:srgbClr val="FFFFFF"/>
          </a:solidFill>
          <a:ln/>
        </p:spPr>
      </p:sp>
      <p:pic>
        <p:nvPicPr>
          <p:cNvPr id="22" name="Image 2" descr="preencoded.png">    </p:cNvPr>
          <p:cNvPicPr>
            <a:picLocks noChangeAspect="1"/>
          </p:cNvPicPr>
          <p:nvPr/>
        </p:nvPicPr>
        <p:blipFill>
          <a:blip r:embed="rId3"/>
          <a:stretch>
            <a:fillRect/>
          </a:stretch>
        </p:blipFill>
        <p:spPr>
          <a:xfrm>
            <a:off x="8302752" y="1645920"/>
            <a:ext cx="274320" cy="274320"/>
          </a:xfrm>
          <a:prstGeom prst="rect">
            <a:avLst/>
          </a:prstGeom>
        </p:spPr>
      </p:pic>
      <p:sp>
        <p:nvSpPr>
          <p:cNvPr id="23" name="Text 18"/>
          <p:cNvSpPr txBox="1"/>
          <p:nvPr/>
        </p:nvSpPr>
        <p:spPr>
          <a:xfrm>
            <a:off x="8759952" y="1554480"/>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業務要件</a:t>
            </a:r>
            <a:endParaRPr lang="en-US" sz="1350" dirty="0"/>
          </a:p>
        </p:txBody>
      </p:sp>
      <p:sp>
        <p:nvSpPr>
          <p:cNvPr id="24" name="Shape 19"/>
          <p:cNvSpPr/>
          <p:nvPr/>
        </p:nvSpPr>
        <p:spPr>
          <a:xfrm>
            <a:off x="10652760" y="1636776"/>
            <a:ext cx="822960" cy="292608"/>
          </a:xfrm>
          <a:prstGeom prst="roundRect">
            <a:avLst>
              <a:gd name="adj" fmla="val 50000"/>
            </a:avLst>
          </a:prstGeom>
          <a:solidFill>
            <a:srgbClr val="1B2A49"/>
          </a:solidFill>
          <a:ln/>
        </p:spPr>
      </p:sp>
      <p:sp>
        <p:nvSpPr>
          <p:cNvPr id="25" name="Text 20"/>
          <p:cNvSpPr txBox="1"/>
          <p:nvPr/>
        </p:nvSpPr>
        <p:spPr>
          <a:xfrm>
            <a:off x="10652760" y="1636776"/>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軸2・軸3</a:t>
            </a:r>
            <a:endParaRPr lang="en-US" sz="900" dirty="0"/>
          </a:p>
        </p:txBody>
      </p:sp>
      <p:sp>
        <p:nvSpPr>
          <p:cNvPr id="26" name="Text 21"/>
          <p:cNvSpPr txBox="1"/>
          <p:nvPr/>
        </p:nvSpPr>
        <p:spPr>
          <a:xfrm>
            <a:off x="822960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どこまでAIに起案させたいか（対話か、自動起案か）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レビュー・承認のフローと責任者</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Airtable相当の操作性（カレンダー・ボード）がどこまで必要か</a:t>
            </a:r>
            <a:endParaRPr lang="en-US" sz="1150" dirty="0"/>
          </a:p>
        </p:txBody>
      </p:sp>
      <p:sp>
        <p:nvSpPr>
          <p:cNvPr id="27" name="Shape 22"/>
          <p:cNvSpPr/>
          <p:nvPr/>
        </p:nvSpPr>
        <p:spPr>
          <a:xfrm>
            <a:off x="548640" y="3904488"/>
            <a:ext cx="3566160" cy="2331720"/>
          </a:xfrm>
          <a:prstGeom prst="roundRect">
            <a:avLst>
              <a:gd name="adj" fmla="val 2353"/>
            </a:avLst>
          </a:prstGeom>
          <a:solidFill>
            <a:srgbClr val="F3F5F8"/>
          </a:solidFill>
          <a:ln/>
        </p:spPr>
      </p:sp>
      <p:sp>
        <p:nvSpPr>
          <p:cNvPr id="28" name="Shape 23"/>
          <p:cNvSpPr/>
          <p:nvPr/>
        </p:nvSpPr>
        <p:spPr>
          <a:xfrm>
            <a:off x="713232" y="4041648"/>
            <a:ext cx="457200" cy="457200"/>
          </a:xfrm>
          <a:prstGeom prst="ellipse">
            <a:avLst/>
          </a:prstGeom>
          <a:solidFill>
            <a:srgbClr val="FFFFFF"/>
          </a:solidFill>
          <a:ln/>
        </p:spPr>
      </p:sp>
      <p:pic>
        <p:nvPicPr>
          <p:cNvPr id="29" name="Image 3" descr="preencoded.png">    </p:cNvPr>
          <p:cNvPicPr>
            <a:picLocks noChangeAspect="1"/>
          </p:cNvPicPr>
          <p:nvPr/>
        </p:nvPicPr>
        <p:blipFill>
          <a:blip r:embed="rId4"/>
          <a:stretch>
            <a:fillRect/>
          </a:stretch>
        </p:blipFill>
        <p:spPr>
          <a:xfrm>
            <a:off x="804672" y="4133088"/>
            <a:ext cx="274320" cy="274320"/>
          </a:xfrm>
          <a:prstGeom prst="rect">
            <a:avLst/>
          </a:prstGeom>
        </p:spPr>
      </p:pic>
      <p:sp>
        <p:nvSpPr>
          <p:cNvPr id="30" name="Text 24"/>
          <p:cNvSpPr txBox="1"/>
          <p:nvPr/>
        </p:nvSpPr>
        <p:spPr>
          <a:xfrm>
            <a:off x="1261872" y="4041648"/>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体制・スキル</a:t>
            </a:r>
            <a:endParaRPr lang="en-US" sz="1350" dirty="0"/>
          </a:p>
        </p:txBody>
      </p:sp>
      <p:sp>
        <p:nvSpPr>
          <p:cNvPr id="31" name="Shape 25"/>
          <p:cNvSpPr/>
          <p:nvPr/>
        </p:nvSpPr>
        <p:spPr>
          <a:xfrm>
            <a:off x="3154680" y="4123944"/>
            <a:ext cx="822960" cy="292608"/>
          </a:xfrm>
          <a:prstGeom prst="roundRect">
            <a:avLst>
              <a:gd name="adj" fmla="val 50000"/>
            </a:avLst>
          </a:prstGeom>
          <a:solidFill>
            <a:srgbClr val="1B2A49"/>
          </a:solidFill>
          <a:ln/>
        </p:spPr>
      </p:sp>
      <p:sp>
        <p:nvSpPr>
          <p:cNvPr id="32" name="Text 26"/>
          <p:cNvSpPr txBox="1"/>
          <p:nvPr/>
        </p:nvSpPr>
        <p:spPr>
          <a:xfrm>
            <a:off x="3154680" y="4123944"/>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軸1・軸2</a:t>
            </a:r>
            <a:endParaRPr lang="en-US" sz="900" dirty="0"/>
          </a:p>
        </p:txBody>
      </p:sp>
      <p:sp>
        <p:nvSpPr>
          <p:cNvPr id="33" name="Text 27"/>
          <p:cNvSpPr txBox="1"/>
          <p:nvPr/>
        </p:nvSpPr>
        <p:spPr>
          <a:xfrm>
            <a:off x="73152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構築・保守を担うのは業務部門か、IT部門か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内製か外注か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Power PlatformとGCPのどちらのスキルがあるか</a:t>
            </a:r>
            <a:endParaRPr lang="en-US" sz="1150" dirty="0"/>
          </a:p>
        </p:txBody>
      </p:sp>
      <p:sp>
        <p:nvSpPr>
          <p:cNvPr id="34" name="Shape 28"/>
          <p:cNvSpPr/>
          <p:nvPr/>
        </p:nvSpPr>
        <p:spPr>
          <a:xfrm>
            <a:off x="4297680" y="3904488"/>
            <a:ext cx="3566160" cy="2331720"/>
          </a:xfrm>
          <a:prstGeom prst="roundRect">
            <a:avLst>
              <a:gd name="adj" fmla="val 2353"/>
            </a:avLst>
          </a:prstGeom>
          <a:solidFill>
            <a:srgbClr val="F3F5F8"/>
          </a:solidFill>
          <a:ln/>
        </p:spPr>
      </p:sp>
      <p:sp>
        <p:nvSpPr>
          <p:cNvPr id="35" name="Shape 29"/>
          <p:cNvSpPr/>
          <p:nvPr/>
        </p:nvSpPr>
        <p:spPr>
          <a:xfrm>
            <a:off x="4462272" y="4041648"/>
            <a:ext cx="457200" cy="457200"/>
          </a:xfrm>
          <a:prstGeom prst="ellipse">
            <a:avLst/>
          </a:prstGeom>
          <a:solidFill>
            <a:srgbClr val="FFFFFF"/>
          </a:solidFill>
          <a:ln/>
        </p:spPr>
      </p:sp>
      <p:pic>
        <p:nvPicPr>
          <p:cNvPr id="36" name="Image 4" descr="preencoded.png">    </p:cNvPr>
          <p:cNvPicPr>
            <a:picLocks noChangeAspect="1"/>
          </p:cNvPicPr>
          <p:nvPr/>
        </p:nvPicPr>
        <p:blipFill>
          <a:blip r:embed="rId5"/>
          <a:stretch>
            <a:fillRect/>
          </a:stretch>
        </p:blipFill>
        <p:spPr>
          <a:xfrm>
            <a:off x="4553712" y="4133088"/>
            <a:ext cx="274320" cy="274320"/>
          </a:xfrm>
          <a:prstGeom prst="rect">
            <a:avLst/>
          </a:prstGeom>
        </p:spPr>
      </p:pic>
      <p:sp>
        <p:nvSpPr>
          <p:cNvPr id="37" name="Text 30"/>
          <p:cNvSpPr txBox="1"/>
          <p:nvPr/>
        </p:nvSpPr>
        <p:spPr>
          <a:xfrm>
            <a:off x="5010912" y="4041648"/>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コスト</a:t>
            </a:r>
            <a:endParaRPr lang="en-US" sz="1350" dirty="0"/>
          </a:p>
        </p:txBody>
      </p:sp>
      <p:sp>
        <p:nvSpPr>
          <p:cNvPr id="38" name="Shape 31"/>
          <p:cNvSpPr/>
          <p:nvPr/>
        </p:nvSpPr>
        <p:spPr>
          <a:xfrm>
            <a:off x="6903720" y="4123944"/>
            <a:ext cx="822960" cy="292608"/>
          </a:xfrm>
          <a:prstGeom prst="roundRect">
            <a:avLst>
              <a:gd name="adj" fmla="val 50000"/>
            </a:avLst>
          </a:prstGeom>
          <a:solidFill>
            <a:srgbClr val="1B2A49"/>
          </a:solidFill>
          <a:ln/>
        </p:spPr>
      </p:sp>
      <p:sp>
        <p:nvSpPr>
          <p:cNvPr id="39" name="Text 32"/>
          <p:cNvSpPr txBox="1"/>
          <p:nvPr/>
        </p:nvSpPr>
        <p:spPr>
          <a:xfrm>
            <a:off x="6903720" y="4123944"/>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全体</a:t>
            </a:r>
            <a:endParaRPr lang="en-US" sz="900" dirty="0"/>
          </a:p>
        </p:txBody>
      </p:sp>
      <p:sp>
        <p:nvSpPr>
          <p:cNvPr id="40" name="Text 33"/>
          <p:cNvSpPr txBox="1"/>
          <p:nvPr/>
        </p:nvSpPr>
        <p:spPr>
          <a:xfrm>
            <a:off x="448056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Power Apps Premium（code apps・Dataverse）、Copilot Studio、Gemini Enterprise</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GCP・Agent Platformの利用料（2026年から一部課金開始）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開発・保守にかかる人件費</a:t>
            </a:r>
            <a:endParaRPr lang="en-US" sz="1150" dirty="0"/>
          </a:p>
        </p:txBody>
      </p:sp>
      <p:sp>
        <p:nvSpPr>
          <p:cNvPr id="41" name="Shape 34"/>
          <p:cNvSpPr/>
          <p:nvPr/>
        </p:nvSpPr>
        <p:spPr>
          <a:xfrm>
            <a:off x="8046720" y="3904488"/>
            <a:ext cx="3566160" cy="2331720"/>
          </a:xfrm>
          <a:prstGeom prst="roundRect">
            <a:avLst>
              <a:gd name="adj" fmla="val 2353"/>
            </a:avLst>
          </a:prstGeom>
          <a:solidFill>
            <a:srgbClr val="F3F5F8"/>
          </a:solidFill>
          <a:ln/>
        </p:spPr>
      </p:sp>
      <p:sp>
        <p:nvSpPr>
          <p:cNvPr id="42" name="Shape 35"/>
          <p:cNvSpPr/>
          <p:nvPr/>
        </p:nvSpPr>
        <p:spPr>
          <a:xfrm>
            <a:off x="8211312" y="4041648"/>
            <a:ext cx="457200" cy="457200"/>
          </a:xfrm>
          <a:prstGeom prst="ellipse">
            <a:avLst/>
          </a:prstGeom>
          <a:solidFill>
            <a:srgbClr val="FFFFFF"/>
          </a:solidFill>
          <a:ln/>
        </p:spPr>
      </p:sp>
      <p:pic>
        <p:nvPicPr>
          <p:cNvPr id="43" name="Image 5" descr="preencoded.png">    </p:cNvPr>
          <p:cNvPicPr>
            <a:picLocks noChangeAspect="1"/>
          </p:cNvPicPr>
          <p:nvPr/>
        </p:nvPicPr>
        <p:blipFill>
          <a:blip r:embed="rId6"/>
          <a:stretch>
            <a:fillRect/>
          </a:stretch>
        </p:blipFill>
        <p:spPr>
          <a:xfrm>
            <a:off x="8302752" y="4133088"/>
            <a:ext cx="274320" cy="274320"/>
          </a:xfrm>
          <a:prstGeom prst="rect">
            <a:avLst/>
          </a:prstGeom>
        </p:spPr>
      </p:pic>
      <p:sp>
        <p:nvSpPr>
          <p:cNvPr id="44" name="Text 36"/>
          <p:cNvSpPr txBox="1"/>
          <p:nvPr/>
        </p:nvSpPr>
        <p:spPr>
          <a:xfrm>
            <a:off x="8759952" y="4041648"/>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将来の拡張</a:t>
            </a:r>
            <a:endParaRPr lang="en-US" sz="1350" dirty="0"/>
          </a:p>
        </p:txBody>
      </p:sp>
      <p:sp>
        <p:nvSpPr>
          <p:cNvPr id="45" name="Shape 37"/>
          <p:cNvSpPr/>
          <p:nvPr/>
        </p:nvSpPr>
        <p:spPr>
          <a:xfrm>
            <a:off x="10652760" y="4123944"/>
            <a:ext cx="822960" cy="292608"/>
          </a:xfrm>
          <a:prstGeom prst="roundRect">
            <a:avLst>
              <a:gd name="adj" fmla="val 50000"/>
            </a:avLst>
          </a:prstGeom>
          <a:solidFill>
            <a:srgbClr val="1B2A49"/>
          </a:solidFill>
          <a:ln/>
        </p:spPr>
      </p:sp>
      <p:sp>
        <p:nvSpPr>
          <p:cNvPr id="46" name="Text 38"/>
          <p:cNvSpPr txBox="1"/>
          <p:nvPr/>
        </p:nvSpPr>
        <p:spPr>
          <a:xfrm>
            <a:off x="10652760" y="4123944"/>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軸2〜4</a:t>
            </a:r>
            <a:endParaRPr lang="en-US" sz="900" dirty="0"/>
          </a:p>
        </p:txBody>
      </p:sp>
      <p:sp>
        <p:nvSpPr>
          <p:cNvPr id="47" name="Text 39"/>
          <p:cNvSpPr txBox="1"/>
          <p:nvPr/>
        </p:nvSpPr>
        <p:spPr>
          <a:xfrm>
            <a:off x="822960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配信実績をフィードバックして改善したいか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国ごとに作るか、共通の仕組みにするか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他国の事例を参照したいか（好事例ライブラリを持つか）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Airtableを中長期的に使い続けるか</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検証で確かめられること（PoCの候補）</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構成を選ぶ前に、判断を分ける論点を小さく試すことができる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6. 判断材料</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52</a:t>
            </a:r>
            <a:endParaRPr lang="en-US" sz="9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548640"/>
                <a:gridCol w="2194560"/>
                <a:gridCol w="6766560"/>
                <a:gridCol w="1554480"/>
              </a:tblGrid>
              <a:tr h="365760">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テーマ</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内容</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関係する軸</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530352">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V0</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情報システム部門への確認</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Graph APIの権限、Premium・Copilot Studio・Gemini Enterpriseの利用、DLPポリシー</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軸1・全体</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30352">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V1</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生成品質</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過去の配信カード20〜30件について、CopilotとGeminiそれぞれの生成案を実際のカードと比較評価</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軸1・全体</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V2</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商品選定の方式</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スコア方式とAI単独方式で、選定結果の妥当性と安定性を比較</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全パターン</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30352">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V3</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加工済みデータの渡し方</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加工済みデータをプロンプトに直接渡す方式と、ナレッジ検索に任せる方式で精度を比較</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全パターン</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V4</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データの受け渡し</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GCP→M365の転送と、SharePoint→GCP（同期／Gemini Enterpriseのフェデレーション検索）を試す</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軸1</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V5</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ルールの遵守</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NG表現を含むテストケースで、「常に指示に含める」方式とRAG方式を比較</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全パターン</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V6</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操作性</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Airtable、Listsのカレンダービュー、code apps（TS）の画面モックをマーケターが評価</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軸2</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V7</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Airtable起点の連携</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O1（定期確認）とO2（スクリプトでフロー起動）を試作し、所要時間と失敗時の挙動を確認</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A4・H1</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V8</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Agent Builderのデモ評価</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作成済みのデモを使い、生成品質とナレッジ参照の精度をマーケターと確認</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A2</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pic>
        <p:nvPicPr>
          <p:cNvPr id="7" name="Image 0" descr="preencoded.png">    </p:cNvPr>
          <p:cNvPicPr>
            <a:picLocks noChangeAspect="1"/>
          </p:cNvPicPr>
          <p:nvPr/>
        </p:nvPicPr>
        <p:blipFill>
          <a:blip r:embed="rId1"/>
          <a:stretch>
            <a:fillRect/>
          </a:stretch>
        </p:blipFill>
        <p:spPr>
          <a:xfrm>
            <a:off x="11109960" y="411480"/>
            <a:ext cx="457200" cy="4572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参考：用語集</a:t>
            </a:r>
            <a:endParaRPr lang="en-US" sz="2600" dirty="0"/>
          </a:p>
        </p:txBody>
      </p:sp>
      <p:sp>
        <p:nvSpPr>
          <p:cNvPr id="3" name="Text 1"/>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付録</a:t>
            </a:r>
            <a:endParaRPr lang="en-US" sz="900" dirty="0"/>
          </a:p>
        </p:txBody>
      </p:sp>
      <p:sp>
        <p:nvSpPr>
          <p:cNvPr id="4" name="Text 2"/>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53</a:t>
            </a:r>
            <a:endParaRPr lang="en-US" sz="900" dirty="0"/>
          </a:p>
        </p:txBody>
      </p:sp>
      <p:sp>
        <p:nvSpPr>
          <p:cNvPr id="5" name="Shape 3"/>
          <p:cNvSpPr/>
          <p:nvPr/>
        </p:nvSpPr>
        <p:spPr>
          <a:xfrm>
            <a:off x="548640" y="1097280"/>
            <a:ext cx="11064240" cy="310896"/>
          </a:xfrm>
          <a:prstGeom prst="roundRect">
            <a:avLst>
              <a:gd name="adj" fmla="val 11765"/>
            </a:avLst>
          </a:prstGeom>
          <a:solidFill>
            <a:srgbClr val="F3F5F8"/>
          </a:solidFill>
          <a:ln/>
        </p:spPr>
      </p:sp>
      <p:pic>
        <p:nvPicPr>
          <p:cNvPr id="6" name="Image 0" descr="preencoded.png">    </p:cNvPr>
          <p:cNvPicPr>
            <a:picLocks noChangeAspect="1"/>
          </p:cNvPicPr>
          <p:nvPr/>
        </p:nvPicPr>
        <p:blipFill>
          <a:blip r:embed="rId1"/>
          <a:stretch>
            <a:fillRect/>
          </a:stretch>
        </p:blipFill>
        <p:spPr>
          <a:xfrm>
            <a:off x="658368" y="1133856"/>
            <a:ext cx="237744" cy="237744"/>
          </a:xfrm>
          <a:prstGeom prst="rect">
            <a:avLst/>
          </a:prstGeom>
        </p:spPr>
      </p:pic>
      <p:sp>
        <p:nvSpPr>
          <p:cNvPr id="7" name="Text 4"/>
          <p:cNvSpPr txBox="1"/>
          <p:nvPr/>
        </p:nvSpPr>
        <p:spPr>
          <a:xfrm>
            <a:off x="1097280" y="1097280"/>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Agent Builder</a:t>
            </a:r>
            <a:endParaRPr lang="en-US" sz="1050" dirty="0"/>
          </a:p>
        </p:txBody>
      </p:sp>
      <p:sp>
        <p:nvSpPr>
          <p:cNvPr id="8" name="Text 5"/>
          <p:cNvSpPr txBox="1"/>
          <p:nvPr/>
        </p:nvSpPr>
        <p:spPr>
          <a:xfrm>
            <a:off x="4206240" y="1097280"/>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M365 Copilotに含まれる簡易エージェント作成機能。指示とナレッジを固定したQ&amp;A型のエージェントを作れる</a:t>
            </a:r>
            <a:endParaRPr lang="en-US" sz="1000" dirty="0"/>
          </a:p>
        </p:txBody>
      </p:sp>
      <p:sp>
        <p:nvSpPr>
          <p:cNvPr id="9" name="Shape 6"/>
          <p:cNvSpPr/>
          <p:nvPr/>
        </p:nvSpPr>
        <p:spPr>
          <a:xfrm>
            <a:off x="548640" y="1435608"/>
            <a:ext cx="11064240" cy="310896"/>
          </a:xfrm>
          <a:prstGeom prst="roundRect">
            <a:avLst>
              <a:gd name="adj" fmla="val 11765"/>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658368" y="1472184"/>
            <a:ext cx="237744" cy="237744"/>
          </a:xfrm>
          <a:prstGeom prst="rect">
            <a:avLst/>
          </a:prstGeom>
        </p:spPr>
      </p:pic>
      <p:sp>
        <p:nvSpPr>
          <p:cNvPr id="11" name="Text 7"/>
          <p:cNvSpPr txBox="1"/>
          <p:nvPr/>
        </p:nvSpPr>
        <p:spPr>
          <a:xfrm>
            <a:off x="1097280" y="1435608"/>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Copilot Studio</a:t>
            </a:r>
            <a:endParaRPr lang="en-US" sz="1050" dirty="0"/>
          </a:p>
        </p:txBody>
      </p:sp>
      <p:sp>
        <p:nvSpPr>
          <p:cNvPr id="12" name="Text 8"/>
          <p:cNvSpPr txBox="1"/>
          <p:nvPr/>
        </p:nvSpPr>
        <p:spPr>
          <a:xfrm>
            <a:off x="4206240" y="1435608"/>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社内データを参照する独自のAIエージェントを、ノーコードで作成・公開できるMicrosoftのツール。アクションやワークフローも扱える</a:t>
            </a:r>
            <a:endParaRPr lang="en-US" sz="1000" dirty="0"/>
          </a:p>
        </p:txBody>
      </p:sp>
      <p:sp>
        <p:nvSpPr>
          <p:cNvPr id="13" name="Shape 9"/>
          <p:cNvSpPr/>
          <p:nvPr/>
        </p:nvSpPr>
        <p:spPr>
          <a:xfrm>
            <a:off x="548640" y="1773936"/>
            <a:ext cx="11064240" cy="310896"/>
          </a:xfrm>
          <a:prstGeom prst="roundRect">
            <a:avLst>
              <a:gd name="adj" fmla="val 11765"/>
            </a:avLst>
          </a:prstGeom>
          <a:solidFill>
            <a:srgbClr val="F3F5F8"/>
          </a:solidFill>
          <a:ln/>
        </p:spPr>
      </p:sp>
      <p:pic>
        <p:nvPicPr>
          <p:cNvPr id="14" name="Image 2" descr="preencoded.png">    </p:cNvPr>
          <p:cNvPicPr>
            <a:picLocks noChangeAspect="1"/>
          </p:cNvPicPr>
          <p:nvPr/>
        </p:nvPicPr>
        <p:blipFill>
          <a:blip r:embed="rId3"/>
          <a:stretch>
            <a:fillRect/>
          </a:stretch>
        </p:blipFill>
        <p:spPr>
          <a:xfrm>
            <a:off x="658368" y="1810512"/>
            <a:ext cx="237744" cy="237744"/>
          </a:xfrm>
          <a:prstGeom prst="rect">
            <a:avLst/>
          </a:prstGeom>
        </p:spPr>
      </p:pic>
      <p:sp>
        <p:nvSpPr>
          <p:cNvPr id="15" name="Text 10"/>
          <p:cNvSpPr txBox="1"/>
          <p:nvPr/>
        </p:nvSpPr>
        <p:spPr>
          <a:xfrm>
            <a:off x="1097280" y="1773936"/>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Power Automate（Premium）</a:t>
            </a:r>
            <a:endParaRPr lang="en-US" sz="1050" dirty="0"/>
          </a:p>
        </p:txBody>
      </p:sp>
      <p:sp>
        <p:nvSpPr>
          <p:cNvPr id="16" name="Text 11"/>
          <p:cNvSpPr txBox="1"/>
          <p:nvPr/>
        </p:nvSpPr>
        <p:spPr>
          <a:xfrm>
            <a:off x="4206240" y="1773936"/>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業務の自動化ツール。外部サービスとのHTTP連携などにはPremiumライセンスが必要</a:t>
            </a:r>
            <a:endParaRPr lang="en-US" sz="1000" dirty="0"/>
          </a:p>
        </p:txBody>
      </p:sp>
      <p:sp>
        <p:nvSpPr>
          <p:cNvPr id="17" name="Shape 12"/>
          <p:cNvSpPr/>
          <p:nvPr/>
        </p:nvSpPr>
        <p:spPr>
          <a:xfrm>
            <a:off x="548640" y="2112264"/>
            <a:ext cx="11064240" cy="310896"/>
          </a:xfrm>
          <a:prstGeom prst="roundRect">
            <a:avLst>
              <a:gd name="adj" fmla="val 11765"/>
            </a:avLst>
          </a:prstGeom>
          <a:solidFill>
            <a:srgbClr val="FFFFFF"/>
          </a:solidFill>
          <a:ln/>
        </p:spPr>
      </p:sp>
      <p:pic>
        <p:nvPicPr>
          <p:cNvPr id="18" name="Image 3" descr="preencoded.png">    </p:cNvPr>
          <p:cNvPicPr>
            <a:picLocks noChangeAspect="1"/>
          </p:cNvPicPr>
          <p:nvPr/>
        </p:nvPicPr>
        <p:blipFill>
          <a:blip r:embed="rId4"/>
          <a:stretch>
            <a:fillRect/>
          </a:stretch>
        </p:blipFill>
        <p:spPr>
          <a:xfrm>
            <a:off x="658368" y="2148840"/>
            <a:ext cx="237744" cy="237744"/>
          </a:xfrm>
          <a:prstGeom prst="rect">
            <a:avLst/>
          </a:prstGeom>
        </p:spPr>
      </p:pic>
      <p:sp>
        <p:nvSpPr>
          <p:cNvPr id="19" name="Text 13"/>
          <p:cNvSpPr txBox="1"/>
          <p:nvPr/>
        </p:nvSpPr>
        <p:spPr>
          <a:xfrm>
            <a:off x="1097280" y="2112264"/>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Dataverse</a:t>
            </a:r>
            <a:endParaRPr lang="en-US" sz="1050" dirty="0"/>
          </a:p>
        </p:txBody>
      </p:sp>
      <p:sp>
        <p:nvSpPr>
          <p:cNvPr id="20" name="Text 14"/>
          <p:cNvSpPr txBox="1"/>
          <p:nvPr/>
        </p:nvSpPr>
        <p:spPr>
          <a:xfrm>
            <a:off x="4206240" y="2112264"/>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Power Platformの標準データベース。権限管理や他ツールとの連携に優れる</a:t>
            </a:r>
            <a:endParaRPr lang="en-US" sz="1000" dirty="0"/>
          </a:p>
        </p:txBody>
      </p:sp>
      <p:sp>
        <p:nvSpPr>
          <p:cNvPr id="21" name="Shape 15"/>
          <p:cNvSpPr/>
          <p:nvPr/>
        </p:nvSpPr>
        <p:spPr>
          <a:xfrm>
            <a:off x="548640" y="2450592"/>
            <a:ext cx="11064240" cy="310896"/>
          </a:xfrm>
          <a:prstGeom prst="roundRect">
            <a:avLst>
              <a:gd name="adj" fmla="val 11765"/>
            </a:avLst>
          </a:prstGeom>
          <a:solidFill>
            <a:srgbClr val="F3F5F8"/>
          </a:solidFill>
          <a:ln/>
        </p:spPr>
      </p:sp>
      <p:pic>
        <p:nvPicPr>
          <p:cNvPr id="22" name="Image 4" descr="preencoded.png">    </p:cNvPr>
          <p:cNvPicPr>
            <a:picLocks noChangeAspect="1"/>
          </p:cNvPicPr>
          <p:nvPr/>
        </p:nvPicPr>
        <p:blipFill>
          <a:blip r:embed="rId5"/>
          <a:stretch>
            <a:fillRect/>
          </a:stretch>
        </p:blipFill>
        <p:spPr>
          <a:xfrm>
            <a:off x="658368" y="2487168"/>
            <a:ext cx="237744" cy="237744"/>
          </a:xfrm>
          <a:prstGeom prst="rect">
            <a:avLst/>
          </a:prstGeom>
        </p:spPr>
      </p:pic>
      <p:sp>
        <p:nvSpPr>
          <p:cNvPr id="23" name="Text 16"/>
          <p:cNvSpPr txBox="1"/>
          <p:nvPr/>
        </p:nvSpPr>
        <p:spPr>
          <a:xfrm>
            <a:off x="1097280" y="2450592"/>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AI Builder（プロンプト）</a:t>
            </a:r>
            <a:endParaRPr lang="en-US" sz="1050" dirty="0"/>
          </a:p>
        </p:txBody>
      </p:sp>
      <p:sp>
        <p:nvSpPr>
          <p:cNvPr id="24" name="Text 17"/>
          <p:cNvSpPr txBox="1"/>
          <p:nvPr/>
        </p:nvSpPr>
        <p:spPr>
          <a:xfrm>
            <a:off x="4206240" y="2450592"/>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Power Automateなどから、定型の指示でAIによる文章生成を呼び出せる機能</a:t>
            </a:r>
            <a:endParaRPr lang="en-US" sz="1000" dirty="0"/>
          </a:p>
        </p:txBody>
      </p:sp>
      <p:sp>
        <p:nvSpPr>
          <p:cNvPr id="25" name="Shape 18"/>
          <p:cNvSpPr/>
          <p:nvPr/>
        </p:nvSpPr>
        <p:spPr>
          <a:xfrm>
            <a:off x="548640" y="2788920"/>
            <a:ext cx="11064240" cy="310896"/>
          </a:xfrm>
          <a:prstGeom prst="roundRect">
            <a:avLst>
              <a:gd name="adj" fmla="val 11765"/>
            </a:avLst>
          </a:prstGeom>
          <a:solidFill>
            <a:srgbClr val="FFFFFF"/>
          </a:solidFill>
          <a:ln/>
        </p:spPr>
      </p:sp>
      <p:pic>
        <p:nvPicPr>
          <p:cNvPr id="26" name="Image 5" descr="preencoded.png">    </p:cNvPr>
          <p:cNvPicPr>
            <a:picLocks noChangeAspect="1"/>
          </p:cNvPicPr>
          <p:nvPr/>
        </p:nvPicPr>
        <p:blipFill>
          <a:blip r:embed="rId6"/>
          <a:stretch>
            <a:fillRect/>
          </a:stretch>
        </p:blipFill>
        <p:spPr>
          <a:xfrm>
            <a:off x="658368" y="2825496"/>
            <a:ext cx="237744" cy="237744"/>
          </a:xfrm>
          <a:prstGeom prst="rect">
            <a:avLst/>
          </a:prstGeom>
        </p:spPr>
      </p:pic>
      <p:sp>
        <p:nvSpPr>
          <p:cNvPr id="27" name="Text 19"/>
          <p:cNvSpPr txBox="1"/>
          <p:nvPr/>
        </p:nvSpPr>
        <p:spPr>
          <a:xfrm>
            <a:off x="1097280" y="2788920"/>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カスタムコネクタ</a:t>
            </a:r>
            <a:endParaRPr lang="en-US" sz="1050" dirty="0"/>
          </a:p>
        </p:txBody>
      </p:sp>
      <p:sp>
        <p:nvSpPr>
          <p:cNvPr id="28" name="Text 20"/>
          <p:cNvSpPr txBox="1"/>
          <p:nvPr/>
        </p:nvSpPr>
        <p:spPr>
          <a:xfrm>
            <a:off x="4206240" y="2788920"/>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Power PlatformやCopilot Studioから、独自のAPI（例：Cloud Run）を呼び出すための設定</a:t>
            </a:r>
            <a:endParaRPr lang="en-US" sz="1000" dirty="0"/>
          </a:p>
        </p:txBody>
      </p:sp>
      <p:sp>
        <p:nvSpPr>
          <p:cNvPr id="29" name="Shape 21"/>
          <p:cNvSpPr/>
          <p:nvPr/>
        </p:nvSpPr>
        <p:spPr>
          <a:xfrm>
            <a:off x="548640" y="3127248"/>
            <a:ext cx="11064240" cy="310896"/>
          </a:xfrm>
          <a:prstGeom prst="roundRect">
            <a:avLst>
              <a:gd name="adj" fmla="val 11765"/>
            </a:avLst>
          </a:prstGeom>
          <a:solidFill>
            <a:srgbClr val="F3F5F8"/>
          </a:solidFill>
          <a:ln/>
        </p:spPr>
      </p:sp>
      <p:pic>
        <p:nvPicPr>
          <p:cNvPr id="30" name="Image 6" descr="preencoded.png">    </p:cNvPr>
          <p:cNvPicPr>
            <a:picLocks noChangeAspect="1"/>
          </p:cNvPicPr>
          <p:nvPr/>
        </p:nvPicPr>
        <p:blipFill>
          <a:blip r:embed="rId7"/>
          <a:stretch>
            <a:fillRect/>
          </a:stretch>
        </p:blipFill>
        <p:spPr>
          <a:xfrm>
            <a:off x="658368" y="3163824"/>
            <a:ext cx="237744" cy="237744"/>
          </a:xfrm>
          <a:prstGeom prst="rect">
            <a:avLst/>
          </a:prstGeom>
        </p:spPr>
      </p:pic>
      <p:sp>
        <p:nvSpPr>
          <p:cNvPr id="31" name="Text 22"/>
          <p:cNvSpPr txBox="1"/>
          <p:nvPr/>
        </p:nvSpPr>
        <p:spPr>
          <a:xfrm>
            <a:off x="1097280" y="3127248"/>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Graph API</a:t>
            </a:r>
            <a:endParaRPr lang="en-US" sz="1050" dirty="0"/>
          </a:p>
        </p:txBody>
      </p:sp>
      <p:sp>
        <p:nvSpPr>
          <p:cNvPr id="32" name="Text 23"/>
          <p:cNvSpPr txBox="1"/>
          <p:nvPr/>
        </p:nvSpPr>
        <p:spPr>
          <a:xfrm>
            <a:off x="4206240" y="3127248"/>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SharePointなどのM365データに、プログラムからアクセスするための仕組み</a:t>
            </a:r>
            <a:endParaRPr lang="en-US" sz="1000" dirty="0"/>
          </a:p>
        </p:txBody>
      </p:sp>
      <p:sp>
        <p:nvSpPr>
          <p:cNvPr id="33" name="Shape 24"/>
          <p:cNvSpPr/>
          <p:nvPr/>
        </p:nvSpPr>
        <p:spPr>
          <a:xfrm>
            <a:off x="548640" y="3465576"/>
            <a:ext cx="11064240" cy="310896"/>
          </a:xfrm>
          <a:prstGeom prst="roundRect">
            <a:avLst>
              <a:gd name="adj" fmla="val 11765"/>
            </a:avLst>
          </a:prstGeom>
          <a:solidFill>
            <a:srgbClr val="FFFFFF"/>
          </a:solidFill>
          <a:ln/>
        </p:spPr>
      </p:sp>
      <p:pic>
        <p:nvPicPr>
          <p:cNvPr id="34" name="Image 7" descr="preencoded.png">    </p:cNvPr>
          <p:cNvPicPr>
            <a:picLocks noChangeAspect="1"/>
          </p:cNvPicPr>
          <p:nvPr/>
        </p:nvPicPr>
        <p:blipFill>
          <a:blip r:embed="rId8"/>
          <a:stretch>
            <a:fillRect/>
          </a:stretch>
        </p:blipFill>
        <p:spPr>
          <a:xfrm>
            <a:off x="658368" y="3502152"/>
            <a:ext cx="237744" cy="237744"/>
          </a:xfrm>
          <a:prstGeom prst="rect">
            <a:avLst/>
          </a:prstGeom>
        </p:spPr>
      </p:pic>
      <p:sp>
        <p:nvSpPr>
          <p:cNvPr id="35" name="Text 25"/>
          <p:cNvSpPr txBox="1"/>
          <p:nvPr/>
        </p:nvSpPr>
        <p:spPr>
          <a:xfrm>
            <a:off x="1097280" y="3465576"/>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Gemini Enterprise</a:t>
            </a:r>
            <a:endParaRPr lang="en-US" sz="1050" dirty="0"/>
          </a:p>
        </p:txBody>
      </p:sp>
      <p:sp>
        <p:nvSpPr>
          <p:cNvPr id="36" name="Text 26"/>
          <p:cNvSpPr txBox="1"/>
          <p:nvPr/>
        </p:nvSpPr>
        <p:spPr>
          <a:xfrm>
            <a:off x="4206240" y="3465576"/>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Googleの企業向けAIアプリ（旧Agentspace）。社内データの検索・分析、エージェントの利用ができる</a:t>
            </a:r>
            <a:endParaRPr lang="en-US" sz="1000" dirty="0"/>
          </a:p>
        </p:txBody>
      </p:sp>
      <p:sp>
        <p:nvSpPr>
          <p:cNvPr id="37" name="Shape 27"/>
          <p:cNvSpPr/>
          <p:nvPr/>
        </p:nvSpPr>
        <p:spPr>
          <a:xfrm>
            <a:off x="548640" y="3803904"/>
            <a:ext cx="11064240" cy="310896"/>
          </a:xfrm>
          <a:prstGeom prst="roundRect">
            <a:avLst>
              <a:gd name="adj" fmla="val 11765"/>
            </a:avLst>
          </a:prstGeom>
          <a:solidFill>
            <a:srgbClr val="F3F5F8"/>
          </a:solidFill>
          <a:ln/>
        </p:spPr>
      </p:sp>
      <p:pic>
        <p:nvPicPr>
          <p:cNvPr id="38" name="Image 8" descr="preencoded.png">    </p:cNvPr>
          <p:cNvPicPr>
            <a:picLocks noChangeAspect="1"/>
          </p:cNvPicPr>
          <p:nvPr/>
        </p:nvPicPr>
        <p:blipFill>
          <a:blip r:embed="rId9"/>
          <a:stretch>
            <a:fillRect/>
          </a:stretch>
        </p:blipFill>
        <p:spPr>
          <a:xfrm>
            <a:off x="658368" y="3840480"/>
            <a:ext cx="237744" cy="237744"/>
          </a:xfrm>
          <a:prstGeom prst="rect">
            <a:avLst/>
          </a:prstGeom>
        </p:spPr>
      </p:pic>
      <p:sp>
        <p:nvSpPr>
          <p:cNvPr id="39" name="Text 28"/>
          <p:cNvSpPr txBox="1"/>
          <p:nvPr/>
        </p:nvSpPr>
        <p:spPr>
          <a:xfrm>
            <a:off x="1097280" y="3803904"/>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Gemini Enterprise Agent Platform</a:t>
            </a:r>
            <a:endParaRPr lang="en-US" sz="1050" dirty="0"/>
          </a:p>
        </p:txBody>
      </p:sp>
      <p:sp>
        <p:nvSpPr>
          <p:cNvPr id="40" name="Text 29"/>
          <p:cNvSpPr txBox="1"/>
          <p:nvPr/>
        </p:nvSpPr>
        <p:spPr>
          <a:xfrm>
            <a:off x="4206240" y="3803904"/>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旧Vertex AI（2026年4月に再編）。エージェントの構築・実行・管理と、検索・RAG機能を持つ</a:t>
            </a:r>
            <a:endParaRPr lang="en-US" sz="1000" dirty="0"/>
          </a:p>
        </p:txBody>
      </p:sp>
      <p:sp>
        <p:nvSpPr>
          <p:cNvPr id="41" name="Shape 30"/>
          <p:cNvSpPr/>
          <p:nvPr/>
        </p:nvSpPr>
        <p:spPr>
          <a:xfrm>
            <a:off x="548640" y="4142232"/>
            <a:ext cx="11064240" cy="310896"/>
          </a:xfrm>
          <a:prstGeom prst="roundRect">
            <a:avLst>
              <a:gd name="adj" fmla="val 11765"/>
            </a:avLst>
          </a:prstGeom>
          <a:solidFill>
            <a:srgbClr val="FFFFFF"/>
          </a:solidFill>
          <a:ln/>
        </p:spPr>
      </p:sp>
      <p:pic>
        <p:nvPicPr>
          <p:cNvPr id="42" name="Image 9" descr="preencoded.png">    </p:cNvPr>
          <p:cNvPicPr>
            <a:picLocks noChangeAspect="1"/>
          </p:cNvPicPr>
          <p:nvPr/>
        </p:nvPicPr>
        <p:blipFill>
          <a:blip r:embed="rId10"/>
          <a:stretch>
            <a:fillRect/>
          </a:stretch>
        </p:blipFill>
        <p:spPr>
          <a:xfrm>
            <a:off x="658368" y="4178808"/>
            <a:ext cx="237744" cy="237744"/>
          </a:xfrm>
          <a:prstGeom prst="rect">
            <a:avLst/>
          </a:prstGeom>
        </p:spPr>
      </p:pic>
      <p:sp>
        <p:nvSpPr>
          <p:cNvPr id="43" name="Text 31"/>
          <p:cNvSpPr txBox="1"/>
          <p:nvPr/>
        </p:nvSpPr>
        <p:spPr>
          <a:xfrm>
            <a:off x="1097280" y="4142232"/>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Microsoft Lists</a:t>
            </a:r>
            <a:endParaRPr lang="en-US" sz="1050" dirty="0"/>
          </a:p>
        </p:txBody>
      </p:sp>
      <p:sp>
        <p:nvSpPr>
          <p:cNvPr id="44" name="Text 32"/>
          <p:cNvSpPr txBox="1"/>
          <p:nvPr/>
        </p:nvSpPr>
        <p:spPr>
          <a:xfrm>
            <a:off x="4206240" y="4142232"/>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M365標準のリスト機能。カレンダー・ボード・グリッドで表示でき、Teamsにも表示できる</a:t>
            </a:r>
            <a:endParaRPr lang="en-US" sz="1000" dirty="0"/>
          </a:p>
        </p:txBody>
      </p:sp>
      <p:sp>
        <p:nvSpPr>
          <p:cNvPr id="45" name="Shape 33"/>
          <p:cNvSpPr/>
          <p:nvPr/>
        </p:nvSpPr>
        <p:spPr>
          <a:xfrm>
            <a:off x="548640" y="4480560"/>
            <a:ext cx="11064240" cy="310896"/>
          </a:xfrm>
          <a:prstGeom prst="roundRect">
            <a:avLst>
              <a:gd name="adj" fmla="val 11765"/>
            </a:avLst>
          </a:prstGeom>
          <a:solidFill>
            <a:srgbClr val="F3F5F8"/>
          </a:solidFill>
          <a:ln/>
        </p:spPr>
      </p:sp>
      <p:pic>
        <p:nvPicPr>
          <p:cNvPr id="46" name="Image 10" descr="preencoded.png">    </p:cNvPr>
          <p:cNvPicPr>
            <a:picLocks noChangeAspect="1"/>
          </p:cNvPicPr>
          <p:nvPr/>
        </p:nvPicPr>
        <p:blipFill>
          <a:blip r:embed="rId11"/>
          <a:stretch>
            <a:fillRect/>
          </a:stretch>
        </p:blipFill>
        <p:spPr>
          <a:xfrm>
            <a:off x="658368" y="4517136"/>
            <a:ext cx="237744" cy="237744"/>
          </a:xfrm>
          <a:prstGeom prst="rect">
            <a:avLst/>
          </a:prstGeom>
        </p:spPr>
      </p:pic>
      <p:sp>
        <p:nvSpPr>
          <p:cNvPr id="47" name="Text 34"/>
          <p:cNvSpPr txBox="1"/>
          <p:nvPr/>
        </p:nvSpPr>
        <p:spPr>
          <a:xfrm>
            <a:off x="1097280" y="4480560"/>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Power Apps code apps</a:t>
            </a:r>
            <a:endParaRPr lang="en-US" sz="1050" dirty="0"/>
          </a:p>
        </p:txBody>
      </p:sp>
      <p:sp>
        <p:nvSpPr>
          <p:cNvPr id="48" name="Text 35"/>
          <p:cNvSpPr txBox="1"/>
          <p:nvPr/>
        </p:nvSpPr>
        <p:spPr>
          <a:xfrm>
            <a:off x="4206240" y="4480560"/>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React・TypeScriptで作ったアプリをPower Platform上で動かす仕組み（2026年2月GA）</a:t>
            </a:r>
            <a:endParaRPr lang="en-US" sz="1000" dirty="0"/>
          </a:p>
        </p:txBody>
      </p:sp>
      <p:sp>
        <p:nvSpPr>
          <p:cNvPr id="49" name="Shape 36"/>
          <p:cNvSpPr/>
          <p:nvPr/>
        </p:nvSpPr>
        <p:spPr>
          <a:xfrm>
            <a:off x="548640" y="4818888"/>
            <a:ext cx="11064240" cy="310896"/>
          </a:xfrm>
          <a:prstGeom prst="roundRect">
            <a:avLst>
              <a:gd name="adj" fmla="val 11765"/>
            </a:avLst>
          </a:prstGeom>
          <a:solidFill>
            <a:srgbClr val="FFFFFF"/>
          </a:solidFill>
          <a:ln/>
        </p:spPr>
      </p:sp>
      <p:pic>
        <p:nvPicPr>
          <p:cNvPr id="50" name="Image 11" descr="preencoded.png">    </p:cNvPr>
          <p:cNvPicPr>
            <a:picLocks noChangeAspect="1"/>
          </p:cNvPicPr>
          <p:nvPr/>
        </p:nvPicPr>
        <p:blipFill>
          <a:blip r:embed="rId12"/>
          <a:stretch>
            <a:fillRect/>
          </a:stretch>
        </p:blipFill>
        <p:spPr>
          <a:xfrm>
            <a:off x="658368" y="4855464"/>
            <a:ext cx="237744" cy="237744"/>
          </a:xfrm>
          <a:prstGeom prst="rect">
            <a:avLst/>
          </a:prstGeom>
        </p:spPr>
      </p:pic>
      <p:sp>
        <p:nvSpPr>
          <p:cNvPr id="51" name="Text 37"/>
          <p:cNvSpPr txBox="1"/>
          <p:nvPr/>
        </p:nvSpPr>
        <p:spPr>
          <a:xfrm>
            <a:off x="1097280" y="4818888"/>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Cloud Run</a:t>
            </a:r>
            <a:endParaRPr lang="en-US" sz="1050" dirty="0"/>
          </a:p>
        </p:txBody>
      </p:sp>
      <p:sp>
        <p:nvSpPr>
          <p:cNvPr id="52" name="Text 38"/>
          <p:cNvSpPr txBox="1"/>
          <p:nvPr/>
        </p:nvSpPr>
        <p:spPr>
          <a:xfrm>
            <a:off x="4206240" y="4818888"/>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GCPのプログラム実行基盤。APIや定期処理を動かす</a:t>
            </a:r>
            <a:endParaRPr lang="en-US" sz="1000" dirty="0"/>
          </a:p>
        </p:txBody>
      </p:sp>
      <p:sp>
        <p:nvSpPr>
          <p:cNvPr id="53" name="Shape 39"/>
          <p:cNvSpPr/>
          <p:nvPr/>
        </p:nvSpPr>
        <p:spPr>
          <a:xfrm>
            <a:off x="548640" y="5157216"/>
            <a:ext cx="11064240" cy="310896"/>
          </a:xfrm>
          <a:prstGeom prst="roundRect">
            <a:avLst>
              <a:gd name="adj" fmla="val 11765"/>
            </a:avLst>
          </a:prstGeom>
          <a:solidFill>
            <a:srgbClr val="F3F5F8"/>
          </a:solidFill>
          <a:ln/>
        </p:spPr>
      </p:sp>
      <p:pic>
        <p:nvPicPr>
          <p:cNvPr id="54" name="Image 12" descr="preencoded.png">    </p:cNvPr>
          <p:cNvPicPr>
            <a:picLocks noChangeAspect="1"/>
          </p:cNvPicPr>
          <p:nvPr/>
        </p:nvPicPr>
        <p:blipFill>
          <a:blip r:embed="rId13"/>
          <a:stretch>
            <a:fillRect/>
          </a:stretch>
        </p:blipFill>
        <p:spPr>
          <a:xfrm>
            <a:off x="658368" y="5193792"/>
            <a:ext cx="237744" cy="237744"/>
          </a:xfrm>
          <a:prstGeom prst="rect">
            <a:avLst/>
          </a:prstGeom>
        </p:spPr>
      </p:pic>
      <p:sp>
        <p:nvSpPr>
          <p:cNvPr id="55" name="Text 40"/>
          <p:cNvSpPr txBox="1"/>
          <p:nvPr/>
        </p:nvSpPr>
        <p:spPr>
          <a:xfrm>
            <a:off x="1097280" y="5157216"/>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Airtable AI（Field Agents）</a:t>
            </a:r>
            <a:endParaRPr lang="en-US" sz="1050" dirty="0"/>
          </a:p>
        </p:txBody>
      </p:sp>
      <p:sp>
        <p:nvSpPr>
          <p:cNvPr id="56" name="Text 41"/>
          <p:cNvSpPr txBox="1"/>
          <p:nvPr/>
        </p:nvSpPr>
        <p:spPr>
          <a:xfrm>
            <a:off x="4206240" y="5157216"/>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Airtableの標準AI機能。レコードの追加・更新をきっかけに項目を自動生成できる（AIクレジット制）</a:t>
            </a:r>
            <a:endParaRPr lang="en-US" sz="1000" dirty="0"/>
          </a:p>
        </p:txBody>
      </p:sp>
      <p:sp>
        <p:nvSpPr>
          <p:cNvPr id="57" name="Shape 42"/>
          <p:cNvSpPr/>
          <p:nvPr/>
        </p:nvSpPr>
        <p:spPr>
          <a:xfrm>
            <a:off x="548640" y="5495544"/>
            <a:ext cx="11064240" cy="310896"/>
          </a:xfrm>
          <a:prstGeom prst="roundRect">
            <a:avLst>
              <a:gd name="adj" fmla="val 11765"/>
            </a:avLst>
          </a:prstGeom>
          <a:solidFill>
            <a:srgbClr val="FFFFFF"/>
          </a:solidFill>
          <a:ln/>
        </p:spPr>
      </p:sp>
      <p:pic>
        <p:nvPicPr>
          <p:cNvPr id="58" name="Image 13" descr="preencoded.png">    </p:cNvPr>
          <p:cNvPicPr>
            <a:picLocks noChangeAspect="1"/>
          </p:cNvPicPr>
          <p:nvPr/>
        </p:nvPicPr>
        <p:blipFill>
          <a:blip r:embed="rId14"/>
          <a:stretch>
            <a:fillRect/>
          </a:stretch>
        </p:blipFill>
        <p:spPr>
          <a:xfrm>
            <a:off x="658368" y="5532120"/>
            <a:ext cx="237744" cy="237744"/>
          </a:xfrm>
          <a:prstGeom prst="rect">
            <a:avLst/>
          </a:prstGeom>
        </p:spPr>
      </p:pic>
      <p:sp>
        <p:nvSpPr>
          <p:cNvPr id="59" name="Text 43"/>
          <p:cNvSpPr txBox="1"/>
          <p:nvPr/>
        </p:nvSpPr>
        <p:spPr>
          <a:xfrm>
            <a:off x="1097280" y="5495544"/>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iPaaS</a:t>
            </a:r>
            <a:endParaRPr lang="en-US" sz="1050" dirty="0"/>
          </a:p>
        </p:txBody>
      </p:sp>
      <p:sp>
        <p:nvSpPr>
          <p:cNvPr id="60" name="Text 44"/>
          <p:cNvSpPr txBox="1"/>
          <p:nvPr/>
        </p:nvSpPr>
        <p:spPr>
          <a:xfrm>
            <a:off x="4206240" y="5495544"/>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Make・Zapierなど、SaaS同士をつなぐ連携サービス。Airtableの変更を標準で検知できる</a:t>
            </a:r>
            <a:endParaRPr lang="en-US" sz="1000" dirty="0"/>
          </a:p>
        </p:txBody>
      </p:sp>
      <p:sp>
        <p:nvSpPr>
          <p:cNvPr id="61" name="Shape 45"/>
          <p:cNvSpPr/>
          <p:nvPr/>
        </p:nvSpPr>
        <p:spPr>
          <a:xfrm>
            <a:off x="548640" y="5833872"/>
            <a:ext cx="11064240" cy="310896"/>
          </a:xfrm>
          <a:prstGeom prst="roundRect">
            <a:avLst>
              <a:gd name="adj" fmla="val 11765"/>
            </a:avLst>
          </a:prstGeom>
          <a:solidFill>
            <a:srgbClr val="F3F5F8"/>
          </a:solidFill>
          <a:ln/>
        </p:spPr>
      </p:sp>
      <p:pic>
        <p:nvPicPr>
          <p:cNvPr id="62" name="Image 14" descr="preencoded.png">    </p:cNvPr>
          <p:cNvPicPr>
            <a:picLocks noChangeAspect="1"/>
          </p:cNvPicPr>
          <p:nvPr/>
        </p:nvPicPr>
        <p:blipFill>
          <a:blip r:embed="rId15"/>
          <a:stretch>
            <a:fillRect/>
          </a:stretch>
        </p:blipFill>
        <p:spPr>
          <a:xfrm>
            <a:off x="658368" y="5870448"/>
            <a:ext cx="237744" cy="237744"/>
          </a:xfrm>
          <a:prstGeom prst="rect">
            <a:avLst/>
          </a:prstGeom>
        </p:spPr>
      </p:pic>
      <p:sp>
        <p:nvSpPr>
          <p:cNvPr id="63" name="Text 46"/>
          <p:cNvSpPr txBox="1"/>
          <p:nvPr/>
        </p:nvSpPr>
        <p:spPr>
          <a:xfrm>
            <a:off x="1097280" y="5833872"/>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RAG</a:t>
            </a:r>
            <a:endParaRPr lang="en-US" sz="1050" dirty="0"/>
          </a:p>
        </p:txBody>
      </p:sp>
      <p:sp>
        <p:nvSpPr>
          <p:cNvPr id="64" name="Text 47"/>
          <p:cNvSpPr txBox="1"/>
          <p:nvPr/>
        </p:nvSpPr>
        <p:spPr>
          <a:xfrm>
            <a:off x="4206240" y="5833872"/>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AIが回答する際に、関連する資料を検索して参照させる方式</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配信コンテンツ制作へのAI活用 構成の選択肢と検討ポイント</dc:title>
  <dc:subject>PptxGenJS Presentation</dc:subject>
  <dc:creator>PptxGenJS</dc:creator>
  <cp:lastModifiedBy>PptxGenJS</cp:lastModifiedBy>
  <cp:revision>1</cp:revision>
  <dcterms:created xsi:type="dcterms:W3CDTF">2026-09-28T06:42:17Z</dcterms:created>
  <dcterms:modified xsi:type="dcterms:W3CDTF">2026-09-28T06:42:17Z</dcterms:modified>
</cp:coreProperties>
</file>