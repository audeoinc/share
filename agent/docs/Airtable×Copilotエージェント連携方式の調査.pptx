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Copilotのエージェントが推論した結果を、Airtableの配信カードの項目（テーマ・掲載商品・コピー・制作指示など）に設定する方法を整理した調査資料です。特定の方式を推奨するものではありません。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起案待ちを取得」とは、Airtableのカードのうち、ステータス欄が「起案待ち」のものだけをAPIで検索して取り出すこと。起案待ちにするのは人（またはカード作成時の初期値）。実行間隔の分だけ待ち時間が出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slideLayout" Target="../slideLayouts/slideLayout1.xml"/><Relationship Id="rId10"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slideLayout" Target="../slideLayouts/slideLayout1.xml"/><Relationship Id="rId11"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slideLayout" Target="../slideLayouts/slideLayout1.xml"/><Relationship Id="rId11"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slideLayout" Target="../slideLayouts/slideLayout1.xml"/><Relationship Id="rId1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slideLayout" Target="../slideLayouts/slideLayout1.xml"/><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image" Target="../media/image-15-9.png"/><Relationship Id="rId10" Type="http://schemas.openxmlformats.org/officeDocument/2006/relationships/image" Target="../media/image-15-10.png"/><Relationship Id="rId11" Type="http://schemas.openxmlformats.org/officeDocument/2006/relationships/image" Target="../media/image-15-11.png"/><Relationship Id="rId12" Type="http://schemas.openxmlformats.org/officeDocument/2006/relationships/image" Target="../media/image-15-12.png"/><Relationship Id="rId13" Type="http://schemas.openxmlformats.org/officeDocument/2006/relationships/slideLayout" Target="../slideLayouts/slideLayout1.xml"/><Relationship Id="rId1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image" Target="../media/image-16-9.png"/><Relationship Id="rId10" Type="http://schemas.openxmlformats.org/officeDocument/2006/relationships/image" Target="../media/image-16-10.png"/><Relationship Id="rId11" Type="http://schemas.openxmlformats.org/officeDocument/2006/relationships/image" Target="../media/image-16-11.png"/><Relationship Id="rId12" Type="http://schemas.openxmlformats.org/officeDocument/2006/relationships/slideLayout" Target="../slideLayouts/slideLayout1.xml"/><Relationship Id="rId1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1.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image" Target="../media/image-20-9.png"/><Relationship Id="rId10" Type="http://schemas.openxmlformats.org/officeDocument/2006/relationships/image" Target="../media/image-20-10.png"/><Relationship Id="rId11" Type="http://schemas.openxmlformats.org/officeDocument/2006/relationships/slideLayout" Target="../slideLayouts/slideLayout1.xml"/><Relationship Id="rId1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image" Target="../media/image-21-8.png"/><Relationship Id="rId9" Type="http://schemas.openxmlformats.org/officeDocument/2006/relationships/image" Target="../media/image-21-9.png"/><Relationship Id="rId10" Type="http://schemas.openxmlformats.org/officeDocument/2006/relationships/image" Target="../media/image-21-10.png"/><Relationship Id="rId11" Type="http://schemas.openxmlformats.org/officeDocument/2006/relationships/slideLayout" Target="../slideLayouts/slideLayout1.xml"/><Relationship Id="rId1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image" Target="../media/image-23-8.png"/><Relationship Id="rId9" Type="http://schemas.openxmlformats.org/officeDocument/2006/relationships/image" Target="../media/image-23-9.png"/><Relationship Id="rId10" Type="http://schemas.openxmlformats.org/officeDocument/2006/relationships/image" Target="../media/image-23-10.png"/><Relationship Id="rId11" Type="http://schemas.openxmlformats.org/officeDocument/2006/relationships/image" Target="../media/image-23-11.png"/><Relationship Id="rId12" Type="http://schemas.openxmlformats.org/officeDocument/2006/relationships/image" Target="../media/image-23-12.png"/><Relationship Id="rId13" Type="http://schemas.openxmlformats.org/officeDocument/2006/relationships/slideLayout" Target="../slideLayouts/slideLayout1.xml"/><Relationship Id="rId1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1.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slideLayout" Target="../slideLayouts/slideLayout1.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1.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2" Type="http://schemas.openxmlformats.org/officeDocument/2006/relationships/hyperlink" Target="https://learn.microsoft.com/en-us/power-automate/call-copilot-studio-agent" TargetMode="External"/><Relationship Id="rId3" Type="http://schemas.openxmlformats.org/officeDocument/2006/relationships/hyperlink" Target="https://learn.microsoft.com/en-us/microsoft-copilot-studio/authoring-triggers-about" TargetMode="External"/><Relationship Id="rId4" Type="http://schemas.openxmlformats.org/officeDocument/2006/relationships/hyperlink" Target="https://learn.microsoft.com/en-us/microsoft-copilot-studio/mcp-add-existing-server-to-agent" TargetMode="External"/><Relationship Id="rId5" Type="http://schemas.openxmlformats.org/officeDocument/2006/relationships/hyperlink" Target="https://www.microsoft.com/en-us/copilot/blog/copilot-studio/model-context-protocol-mcp-is-now-generally-available-in-microsoft-copilot-studio/" TargetMode="External"/><Relationship Id="rId6" Type="http://schemas.openxmlformats.org/officeDocument/2006/relationships/hyperlink" Target="https://learn.microsoft.com/en-us/microsoft-365/copilot/extensibility/agent-builder" TargetMode="External"/><Relationship Id="rId7" Type="http://schemas.openxmlformats.org/officeDocument/2006/relationships/hyperlink" Target="https://learn.microsoft.com/en-us/connectors/airtable/" TargetMode="External"/><Relationship Id="rId8" Type="http://schemas.openxmlformats.org/officeDocument/2006/relationships/hyperlink" Target="https://learn.microsoft.com/en-us/power-automate/oauth-authentication" TargetMode="External"/><Relationship Id="rId9" Type="http://schemas.openxmlformats.org/officeDocument/2006/relationships/hyperlink" Target="https://microsoft.github.io/mcscatblog/posts/triggering-copilot-studio-http/" TargetMode="External"/><Relationship Id="rId10" Type="http://schemas.openxmlformats.org/officeDocument/2006/relationships/hyperlink" Target="https://learn.microsoft.com/en-us/connectors/microsoftcopilotstudio/" TargetMode="External"/><Relationship Id="rId11" Type="http://schemas.openxmlformats.org/officeDocument/2006/relationships/hyperlink" Target="https://learn.microsoft.com/en-us/power-automate/limits-and-config" TargetMode="External"/><Relationship Id="rId12" Type="http://schemas.openxmlformats.org/officeDocument/2006/relationships/hyperlink" Target="https://learn.microsoft.com/en-us/microsoft-copilot-studio/configure-web-security" TargetMode="External"/><Relationship Id="rId13" Type="http://schemas.openxmlformats.org/officeDocument/2006/relationships/hyperlink" Target="https://learn.microsoft.com/en-us/microsoft-copilot-studio/knowledge-add-sharepoint" TargetMode="External"/><Relationship Id="rId14" Type="http://schemas.openxmlformats.org/officeDocument/2006/relationships/hyperlink" Target="https://learn.microsoft.com/en-us/microsoft-copilot-studio/requirements-messages-management" TargetMode="External"/><Relationship Id="rId15" Type="http://schemas.openxmlformats.org/officeDocument/2006/relationships/hyperlink" Target="https://learn.microsoft.com/en-us/microsoft-365/copilot/connectors/airtable-overview" TargetMode="External"/><Relationship Id="rId17" Type="http://schemas.openxmlformats.org/officeDocument/2006/relationships/hyperlink" Target="https://support.airtable.com/docs/using-the-airtable-mcp-server" TargetMode="External"/><Relationship Id="rId18" Type="http://schemas.openxmlformats.org/officeDocument/2006/relationships/hyperlink" Target="https://support.airtable.com/docs/airtable-sync-integration-sync-api" TargetMode="External"/><Relationship Id="rId19" Type="http://schemas.openxmlformats.org/officeDocument/2006/relationships/hyperlink" Target="https://support.airtable.com/articles/3067164948-csv-import-extension" TargetMode="External"/><Relationship Id="rId20" Type="http://schemas.openxmlformats.org/officeDocument/2006/relationships/hyperlink" Target="https://support.airtable.com/docs/run-a-script-action" TargetMode="External"/><Relationship Id="rId21" Type="http://schemas.openxmlformats.org/officeDocument/2006/relationships/hyperlink" Target="https://hookdeck.com/webhooks/platforms/guide-to-airtable-webhooks-features-and-best-practices" TargetMode="External"/><Relationship Id="rId22" Type="http://schemas.openxmlformats.org/officeDocument/2006/relationships/hyperlink" Target="https://support.airtable.com/articles/8052242094-using-airtable-ai-in-fields" TargetMode="External"/><Relationship Id="rId23" Type="http://schemas.openxmlformats.org/officeDocument/2006/relationships/hyperlink" Target="https://support.airtable.com/articles/2099494420-using-buttons-in-interfaces" TargetMode="External"/><Relationship Id="rId24" Type="http://schemas.openxmlformats.org/officeDocument/2006/relationships/hyperlink" Target="https://support.airtable.com/articles/4600140573-airtable-automation-trigger-when-a-button-is-clicked" TargetMode="External"/><Relationship Id="rId25" Type="http://schemas.openxmlformats.org/officeDocument/2006/relationships/hyperlink" Target="https://community.airtable.com/announcements-6/new-interface-extensions-sdk-releasing-to-open-beta-46375" TargetMode="External"/><Relationship Id="rId26" Type="http://schemas.openxmlformats.org/officeDocument/2006/relationships/hyperlink" Target="https://support.airtable.com/docs/airtable-extensions-overview" TargetMode="External"/><Relationship Id="rId1" Type="http://schemas.openxmlformats.org/officeDocument/2006/relationships/image" Target="../media/image-27-1.png"/><Relationship Id="rId16" Type="http://schemas.openxmlformats.org/officeDocument/2006/relationships/image" Target="../media/image-27-2.png"/><Relationship Id="rId27" Type="http://schemas.openxmlformats.org/officeDocument/2006/relationships/slideLayout" Target="../slideLayouts/slideLayout1.xml"/><Relationship Id="rId28"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9"/>
        </a:solidFill>
      </p:bgPr>
    </p:bg>
    <p:spTree>
      <p:nvGrpSpPr>
        <p:cNvPr id="1" name=""/>
        <p:cNvGrpSpPr/>
        <p:nvPr/>
      </p:nvGrpSpPr>
      <p:grpSpPr>
        <a:xfrm>
          <a:off x="0" y="0"/>
          <a:ext cx="0" cy="0"/>
          <a:chOff x="0" y="0"/>
          <a:chExt cx="0" cy="0"/>
        </a:xfrm>
      </p:grpSpPr>
      <p:sp>
        <p:nvSpPr>
          <p:cNvPr id="2" name="Text 0"/>
          <p:cNvSpPr txBox="1"/>
          <p:nvPr/>
        </p:nvSpPr>
        <p:spPr>
          <a:xfrm>
            <a:off x="822960" y="1463040"/>
            <a:ext cx="10515600" cy="548640"/>
          </a:xfrm>
          <a:prstGeom prst="rect">
            <a:avLst/>
          </a:prstGeom>
          <a:noFill/>
          <a:ln/>
        </p:spPr>
        <p:txBody>
          <a:bodyPr wrap="square" lIns="0" tIns="0" rIns="0" bIns="0" rtlCol="0" anchor="t"/>
          <a:lstStyle/>
          <a:p>
            <a:pPr indent="0" marL="0">
              <a:buNone/>
            </a:pPr>
            <a:r>
              <a:rPr lang="en-US" sz="2400" dirty="0">
                <a:solidFill>
                  <a:srgbClr val="8FD3CF"/>
                </a:solidFill>
                <a:latin typeface="Meiryo UI" pitchFamily="34" charset="0"/>
                <a:ea typeface="Meiryo UI" pitchFamily="34" charset="-122"/>
                <a:cs typeface="Meiryo UI" pitchFamily="34" charset="-120"/>
              </a:rPr>
              <a:t>配信カードへのAI活用</a:t>
            </a:r>
            <a:endParaRPr lang="en-US" sz="2400" dirty="0"/>
          </a:p>
        </p:txBody>
      </p:sp>
      <p:sp>
        <p:nvSpPr>
          <p:cNvPr id="3" name="Text 1"/>
          <p:cNvSpPr txBox="1"/>
          <p:nvPr/>
        </p:nvSpPr>
        <p:spPr>
          <a:xfrm>
            <a:off x="822960" y="2011680"/>
            <a:ext cx="10789920" cy="914400"/>
          </a:xfrm>
          <a:prstGeom prst="rect">
            <a:avLst/>
          </a:prstGeom>
          <a:noFill/>
          <a:ln/>
        </p:spPr>
        <p:txBody>
          <a:bodyPr wrap="square" lIns="0" tIns="0" rIns="0" bIns="0" rtlCol="0" anchor="t"/>
          <a:lstStyle/>
          <a:p>
            <a:pPr indent="0" marL="0">
              <a:buNone/>
            </a:pPr>
            <a:r>
              <a:rPr lang="en-US" sz="3800" b="1" dirty="0">
                <a:solidFill>
                  <a:srgbClr val="FFFFFF"/>
                </a:solidFill>
                <a:latin typeface="Meiryo UI" pitchFamily="34" charset="0"/>
                <a:ea typeface="Meiryo UI" pitchFamily="34" charset="-122"/>
                <a:cs typeface="Meiryo UI" pitchFamily="34" charset="-120"/>
              </a:rPr>
              <a:t>Airtable × Copilotエージェント 連携方式の調査</a:t>
            </a:r>
            <a:endParaRPr lang="en-US" sz="3800" dirty="0"/>
          </a:p>
        </p:txBody>
      </p:sp>
      <p:sp>
        <p:nvSpPr>
          <p:cNvPr id="4" name="Text 2"/>
          <p:cNvSpPr txBox="1"/>
          <p:nvPr/>
        </p:nvSpPr>
        <p:spPr>
          <a:xfrm>
            <a:off x="822960" y="3017520"/>
            <a:ext cx="10515600" cy="457200"/>
          </a:xfrm>
          <a:prstGeom prst="rect">
            <a:avLst/>
          </a:prstGeom>
          <a:noFill/>
          <a:ln/>
        </p:spPr>
        <p:txBody>
          <a:bodyPr wrap="square" lIns="0" tIns="0" rIns="0" bIns="0" rtlCol="0" anchor="t"/>
          <a:lstStyle/>
          <a:p>
            <a:pPr indent="0" marL="0">
              <a:buNone/>
            </a:pPr>
            <a:r>
              <a:rPr lang="en-US" sz="1600" dirty="0">
                <a:solidFill>
                  <a:srgbClr val="FFFFFF"/>
                </a:solidFill>
                <a:latin typeface="Meiryo UI" pitchFamily="34" charset="0"/>
                <a:ea typeface="Meiryo UI" pitchFamily="34" charset="-122"/>
                <a:cs typeface="Meiryo UI" pitchFamily="34" charset="-120"/>
              </a:rPr>
              <a:t>エージェントの推論結果をAirtableの配信カードに設定する方法を、取りうる選択肢としてフラットに整理</a:t>
            </a:r>
            <a:endParaRPr lang="en-US" sz="1600" dirty="0"/>
          </a:p>
        </p:txBody>
      </p:sp>
      <p:sp>
        <p:nvSpPr>
          <p:cNvPr id="5" name="Shape 3"/>
          <p:cNvSpPr/>
          <p:nvPr/>
        </p:nvSpPr>
        <p:spPr>
          <a:xfrm>
            <a:off x="822960" y="4114800"/>
            <a:ext cx="548640" cy="548640"/>
          </a:xfrm>
          <a:prstGeom prst="ellipse">
            <a:avLst/>
          </a:prstGeom>
          <a:solidFill>
            <a:srgbClr val="FFFFFF"/>
          </a:solidFill>
          <a:ln/>
        </p:spPr>
      </p:sp>
      <p:pic>
        <p:nvPicPr>
          <p:cNvPr id="6" name="Image 0" descr="preencoded.png">    </p:cNvPr>
          <p:cNvPicPr>
            <a:picLocks noChangeAspect="1"/>
          </p:cNvPicPr>
          <p:nvPr/>
        </p:nvPicPr>
        <p:blipFill>
          <a:blip r:embed="rId1"/>
          <a:stretch>
            <a:fillRect/>
          </a:stretch>
        </p:blipFill>
        <p:spPr>
          <a:xfrm>
            <a:off x="932688" y="4224528"/>
            <a:ext cx="329184" cy="329184"/>
          </a:xfrm>
          <a:prstGeom prst="rect">
            <a:avLst/>
          </a:prstGeom>
        </p:spPr>
      </p:pic>
      <p:sp>
        <p:nvSpPr>
          <p:cNvPr id="7" name="Text 4"/>
          <p:cNvSpPr txBox="1"/>
          <p:nvPr/>
        </p:nvSpPr>
        <p:spPr>
          <a:xfrm>
            <a:off x="749808" y="4709160"/>
            <a:ext cx="694944" cy="292608"/>
          </a:xfrm>
          <a:prstGeom prst="rect">
            <a:avLst/>
          </a:prstGeom>
          <a:noFill/>
          <a:ln/>
        </p:spPr>
        <p:txBody>
          <a:bodyPr wrap="square" lIns="0" tIns="0" rIns="0" bIns="0" rtlCol="0" anchor="t"/>
          <a:lstStyle/>
          <a:p>
            <a:pPr algn="ctr" indent="0" marL="0">
              <a:buNone/>
            </a:pPr>
            <a:r>
              <a:rPr lang="en-US" sz="700" dirty="0">
                <a:solidFill>
                  <a:srgbClr val="B8C7D9"/>
                </a:solidFill>
                <a:latin typeface="Meiryo UI" pitchFamily="34" charset="0"/>
                <a:ea typeface="Meiryo UI" pitchFamily="34" charset="-122"/>
                <a:cs typeface="Meiryo UI" pitchFamily="34" charset="-120"/>
              </a:rPr>
              <a:t>Airtable</a:t>
            </a:r>
            <a:endParaRPr lang="en-US" sz="700" dirty="0"/>
          </a:p>
        </p:txBody>
      </p:sp>
      <p:sp>
        <p:nvSpPr>
          <p:cNvPr id="8" name="Shape 5"/>
          <p:cNvSpPr/>
          <p:nvPr/>
        </p:nvSpPr>
        <p:spPr>
          <a:xfrm>
            <a:off x="1536192" y="4114800"/>
            <a:ext cx="548640" cy="548640"/>
          </a:xfrm>
          <a:prstGeom prst="ellipse">
            <a:avLst/>
          </a:prstGeom>
          <a:solidFill>
            <a:srgbClr val="FFFFFF"/>
          </a:solidFill>
          <a:ln/>
        </p:spPr>
      </p:sp>
      <p:pic>
        <p:nvPicPr>
          <p:cNvPr id="9" name="Image 1" descr="preencoded.png">    </p:cNvPr>
          <p:cNvPicPr>
            <a:picLocks noChangeAspect="1"/>
          </p:cNvPicPr>
          <p:nvPr/>
        </p:nvPicPr>
        <p:blipFill>
          <a:blip r:embed="rId2"/>
          <a:stretch>
            <a:fillRect/>
          </a:stretch>
        </p:blipFill>
        <p:spPr>
          <a:xfrm>
            <a:off x="1645920" y="4224528"/>
            <a:ext cx="329184" cy="329184"/>
          </a:xfrm>
          <a:prstGeom prst="rect">
            <a:avLst/>
          </a:prstGeom>
        </p:spPr>
      </p:pic>
      <p:sp>
        <p:nvSpPr>
          <p:cNvPr id="10" name="Text 6"/>
          <p:cNvSpPr txBox="1"/>
          <p:nvPr/>
        </p:nvSpPr>
        <p:spPr>
          <a:xfrm>
            <a:off x="1463040" y="4709160"/>
            <a:ext cx="694944" cy="292608"/>
          </a:xfrm>
          <a:prstGeom prst="rect">
            <a:avLst/>
          </a:prstGeom>
          <a:noFill/>
          <a:ln/>
        </p:spPr>
        <p:txBody>
          <a:bodyPr wrap="square" lIns="0" tIns="0" rIns="0" bIns="0" rtlCol="0" anchor="t"/>
          <a:lstStyle/>
          <a:p>
            <a:pPr algn="ctr" indent="0" marL="0">
              <a:buNone/>
            </a:pPr>
            <a:r>
              <a:rPr lang="en-US" sz="700" dirty="0">
                <a:solidFill>
                  <a:srgbClr val="B8C7D9"/>
                </a:solidFill>
                <a:latin typeface="Meiryo UI" pitchFamily="34" charset="0"/>
                <a:ea typeface="Meiryo UI" pitchFamily="34" charset="-122"/>
                <a:cs typeface="Meiryo UI" pitchFamily="34" charset="-120"/>
              </a:rPr>
              <a:t>M365 Copilot</a:t>
            </a:r>
            <a:endParaRPr lang="en-US" sz="700" dirty="0"/>
          </a:p>
        </p:txBody>
      </p:sp>
      <p:sp>
        <p:nvSpPr>
          <p:cNvPr id="11" name="Shape 7"/>
          <p:cNvSpPr/>
          <p:nvPr/>
        </p:nvSpPr>
        <p:spPr>
          <a:xfrm>
            <a:off x="2249424" y="4114800"/>
            <a:ext cx="548640" cy="548640"/>
          </a:xfrm>
          <a:prstGeom prst="ellipse">
            <a:avLst/>
          </a:prstGeom>
          <a:solidFill>
            <a:srgbClr val="FFFFFF"/>
          </a:solidFill>
          <a:ln/>
        </p:spPr>
      </p:sp>
      <p:pic>
        <p:nvPicPr>
          <p:cNvPr id="12" name="Image 2" descr="preencoded.png">    </p:cNvPr>
          <p:cNvPicPr>
            <a:picLocks noChangeAspect="1"/>
          </p:cNvPicPr>
          <p:nvPr/>
        </p:nvPicPr>
        <p:blipFill>
          <a:blip r:embed="rId3"/>
          <a:stretch>
            <a:fillRect/>
          </a:stretch>
        </p:blipFill>
        <p:spPr>
          <a:xfrm>
            <a:off x="2359152" y="4224528"/>
            <a:ext cx="329184" cy="329184"/>
          </a:xfrm>
          <a:prstGeom prst="rect">
            <a:avLst/>
          </a:prstGeom>
        </p:spPr>
      </p:pic>
      <p:sp>
        <p:nvSpPr>
          <p:cNvPr id="13" name="Text 8"/>
          <p:cNvSpPr txBox="1"/>
          <p:nvPr/>
        </p:nvSpPr>
        <p:spPr>
          <a:xfrm>
            <a:off x="2176272" y="4709160"/>
            <a:ext cx="694944" cy="292608"/>
          </a:xfrm>
          <a:prstGeom prst="rect">
            <a:avLst/>
          </a:prstGeom>
          <a:noFill/>
          <a:ln/>
        </p:spPr>
        <p:txBody>
          <a:bodyPr wrap="square" lIns="0" tIns="0" rIns="0" bIns="0" rtlCol="0" anchor="t"/>
          <a:lstStyle/>
          <a:p>
            <a:pPr algn="ctr" indent="0" marL="0">
              <a:buNone/>
            </a:pPr>
            <a:r>
              <a:rPr lang="en-US" sz="700" dirty="0">
                <a:solidFill>
                  <a:srgbClr val="B8C7D9"/>
                </a:solidFill>
                <a:latin typeface="Meiryo UI" pitchFamily="34" charset="0"/>
                <a:ea typeface="Meiryo UI" pitchFamily="34" charset="-122"/>
                <a:cs typeface="Meiryo UI" pitchFamily="34" charset="-120"/>
              </a:rPr>
              <a:t>Copilot Studio</a:t>
            </a:r>
            <a:endParaRPr lang="en-US" sz="700" dirty="0"/>
          </a:p>
        </p:txBody>
      </p:sp>
      <p:sp>
        <p:nvSpPr>
          <p:cNvPr id="14" name="Shape 9"/>
          <p:cNvSpPr/>
          <p:nvPr/>
        </p:nvSpPr>
        <p:spPr>
          <a:xfrm>
            <a:off x="2962656" y="4114800"/>
            <a:ext cx="548640" cy="548640"/>
          </a:xfrm>
          <a:prstGeom prst="ellipse">
            <a:avLst/>
          </a:prstGeom>
          <a:solidFill>
            <a:srgbClr val="FFFFFF"/>
          </a:solidFill>
          <a:ln/>
        </p:spPr>
      </p:sp>
      <p:pic>
        <p:nvPicPr>
          <p:cNvPr id="15" name="Image 3" descr="preencoded.png">    </p:cNvPr>
          <p:cNvPicPr>
            <a:picLocks noChangeAspect="1"/>
          </p:cNvPicPr>
          <p:nvPr/>
        </p:nvPicPr>
        <p:blipFill>
          <a:blip r:embed="rId4"/>
          <a:stretch>
            <a:fillRect/>
          </a:stretch>
        </p:blipFill>
        <p:spPr>
          <a:xfrm>
            <a:off x="3072384" y="4224528"/>
            <a:ext cx="329184" cy="329184"/>
          </a:xfrm>
          <a:prstGeom prst="rect">
            <a:avLst/>
          </a:prstGeom>
        </p:spPr>
      </p:pic>
      <p:sp>
        <p:nvSpPr>
          <p:cNvPr id="16" name="Text 10"/>
          <p:cNvSpPr txBox="1"/>
          <p:nvPr/>
        </p:nvSpPr>
        <p:spPr>
          <a:xfrm>
            <a:off x="2889504" y="4709160"/>
            <a:ext cx="694944" cy="292608"/>
          </a:xfrm>
          <a:prstGeom prst="rect">
            <a:avLst/>
          </a:prstGeom>
          <a:noFill/>
          <a:ln/>
        </p:spPr>
        <p:txBody>
          <a:bodyPr wrap="square" lIns="0" tIns="0" rIns="0" bIns="0" rtlCol="0" anchor="t"/>
          <a:lstStyle/>
          <a:p>
            <a:pPr algn="ctr" indent="0" marL="0">
              <a:buNone/>
            </a:pPr>
            <a:r>
              <a:rPr lang="en-US" sz="700" dirty="0">
                <a:solidFill>
                  <a:srgbClr val="B8C7D9"/>
                </a:solidFill>
                <a:latin typeface="Meiryo UI" pitchFamily="34" charset="0"/>
                <a:ea typeface="Meiryo UI" pitchFamily="34" charset="-122"/>
                <a:cs typeface="Meiryo UI" pitchFamily="34" charset="-120"/>
              </a:rPr>
              <a:t>Power Automate</a:t>
            </a:r>
            <a:endParaRPr lang="en-US" sz="700" dirty="0"/>
          </a:p>
        </p:txBody>
      </p:sp>
      <p:sp>
        <p:nvSpPr>
          <p:cNvPr id="17" name="Shape 11"/>
          <p:cNvSpPr/>
          <p:nvPr/>
        </p:nvSpPr>
        <p:spPr>
          <a:xfrm>
            <a:off x="3675888" y="4114800"/>
            <a:ext cx="548640" cy="548640"/>
          </a:xfrm>
          <a:prstGeom prst="ellipse">
            <a:avLst/>
          </a:prstGeom>
          <a:solidFill>
            <a:srgbClr val="FFFFFF"/>
          </a:solidFill>
          <a:ln/>
        </p:spPr>
      </p:sp>
      <p:pic>
        <p:nvPicPr>
          <p:cNvPr id="18" name="Image 4" descr="preencoded.png">    </p:cNvPr>
          <p:cNvPicPr>
            <a:picLocks noChangeAspect="1"/>
          </p:cNvPicPr>
          <p:nvPr/>
        </p:nvPicPr>
        <p:blipFill>
          <a:blip r:embed="rId5"/>
          <a:stretch>
            <a:fillRect/>
          </a:stretch>
        </p:blipFill>
        <p:spPr>
          <a:xfrm>
            <a:off x="3785616" y="4224528"/>
            <a:ext cx="329184" cy="329184"/>
          </a:xfrm>
          <a:prstGeom prst="rect">
            <a:avLst/>
          </a:prstGeom>
        </p:spPr>
      </p:pic>
      <p:sp>
        <p:nvSpPr>
          <p:cNvPr id="19" name="Text 12"/>
          <p:cNvSpPr txBox="1"/>
          <p:nvPr/>
        </p:nvSpPr>
        <p:spPr>
          <a:xfrm>
            <a:off x="3602736" y="4709160"/>
            <a:ext cx="694944" cy="292608"/>
          </a:xfrm>
          <a:prstGeom prst="rect">
            <a:avLst/>
          </a:prstGeom>
          <a:noFill/>
          <a:ln/>
        </p:spPr>
        <p:txBody>
          <a:bodyPr wrap="square" lIns="0" tIns="0" rIns="0" bIns="0" rtlCol="0" anchor="t"/>
          <a:lstStyle/>
          <a:p>
            <a:pPr algn="ctr" indent="0" marL="0">
              <a:buNone/>
            </a:pPr>
            <a:r>
              <a:rPr lang="en-US" sz="700" dirty="0">
                <a:solidFill>
                  <a:srgbClr val="B8C7D9"/>
                </a:solidFill>
                <a:latin typeface="Meiryo UI" pitchFamily="34" charset="0"/>
                <a:ea typeface="Meiryo UI" pitchFamily="34" charset="-122"/>
                <a:cs typeface="Meiryo UI" pitchFamily="34" charset="-120"/>
              </a:rPr>
              <a:t>Teams</a:t>
            </a:r>
            <a:endParaRPr lang="en-US" sz="700" dirty="0"/>
          </a:p>
        </p:txBody>
      </p:sp>
      <p:sp>
        <p:nvSpPr>
          <p:cNvPr id="20" name="Shape 13"/>
          <p:cNvSpPr/>
          <p:nvPr/>
        </p:nvSpPr>
        <p:spPr>
          <a:xfrm>
            <a:off x="4389120" y="4114800"/>
            <a:ext cx="548640" cy="548640"/>
          </a:xfrm>
          <a:prstGeom prst="ellipse">
            <a:avLst/>
          </a:prstGeom>
          <a:solidFill>
            <a:srgbClr val="FFFFFF"/>
          </a:solidFill>
          <a:ln/>
        </p:spPr>
      </p:sp>
      <p:pic>
        <p:nvPicPr>
          <p:cNvPr id="21" name="Image 5" descr="preencoded.png">    </p:cNvPr>
          <p:cNvPicPr>
            <a:picLocks noChangeAspect="1"/>
          </p:cNvPicPr>
          <p:nvPr/>
        </p:nvPicPr>
        <p:blipFill>
          <a:blip r:embed="rId6"/>
          <a:stretch>
            <a:fillRect/>
          </a:stretch>
        </p:blipFill>
        <p:spPr>
          <a:xfrm>
            <a:off x="4498848" y="4224528"/>
            <a:ext cx="329184" cy="329184"/>
          </a:xfrm>
          <a:prstGeom prst="rect">
            <a:avLst/>
          </a:prstGeom>
        </p:spPr>
      </p:pic>
      <p:sp>
        <p:nvSpPr>
          <p:cNvPr id="22" name="Text 14"/>
          <p:cNvSpPr txBox="1"/>
          <p:nvPr/>
        </p:nvSpPr>
        <p:spPr>
          <a:xfrm>
            <a:off x="4315968" y="4709160"/>
            <a:ext cx="694944" cy="292608"/>
          </a:xfrm>
          <a:prstGeom prst="rect">
            <a:avLst/>
          </a:prstGeom>
          <a:noFill/>
          <a:ln/>
        </p:spPr>
        <p:txBody>
          <a:bodyPr wrap="square" lIns="0" tIns="0" rIns="0" bIns="0" rtlCol="0" anchor="t"/>
          <a:lstStyle/>
          <a:p>
            <a:pPr algn="ctr" indent="0" marL="0">
              <a:buNone/>
            </a:pPr>
            <a:r>
              <a:rPr lang="en-US" sz="700" dirty="0">
                <a:solidFill>
                  <a:srgbClr val="B8C7D9"/>
                </a:solidFill>
                <a:latin typeface="Meiryo UI" pitchFamily="34" charset="0"/>
                <a:ea typeface="Meiryo UI" pitchFamily="34" charset="-122"/>
                <a:cs typeface="Meiryo UI" pitchFamily="34" charset="-120"/>
              </a:rPr>
              <a:t>SharePoint</a:t>
            </a:r>
            <a:endParaRPr lang="en-US" sz="700" dirty="0"/>
          </a:p>
        </p:txBody>
      </p:sp>
      <p:sp>
        <p:nvSpPr>
          <p:cNvPr id="23" name="Shape 15"/>
          <p:cNvSpPr/>
          <p:nvPr/>
        </p:nvSpPr>
        <p:spPr>
          <a:xfrm>
            <a:off x="5102352" y="4114800"/>
            <a:ext cx="548640" cy="548640"/>
          </a:xfrm>
          <a:prstGeom prst="ellipse">
            <a:avLst/>
          </a:prstGeom>
          <a:solidFill>
            <a:srgbClr val="FFFFFF"/>
          </a:solidFill>
          <a:ln/>
        </p:spPr>
      </p:sp>
      <p:pic>
        <p:nvPicPr>
          <p:cNvPr id="24" name="Image 6" descr="preencoded.png">    </p:cNvPr>
          <p:cNvPicPr>
            <a:picLocks noChangeAspect="1"/>
          </p:cNvPicPr>
          <p:nvPr/>
        </p:nvPicPr>
        <p:blipFill>
          <a:blip r:embed="rId7"/>
          <a:stretch>
            <a:fillRect/>
          </a:stretch>
        </p:blipFill>
        <p:spPr>
          <a:xfrm>
            <a:off x="5212080" y="4224528"/>
            <a:ext cx="329184" cy="329184"/>
          </a:xfrm>
          <a:prstGeom prst="rect">
            <a:avLst/>
          </a:prstGeom>
        </p:spPr>
      </p:pic>
      <p:sp>
        <p:nvSpPr>
          <p:cNvPr id="25" name="Text 16"/>
          <p:cNvSpPr txBox="1"/>
          <p:nvPr/>
        </p:nvSpPr>
        <p:spPr>
          <a:xfrm>
            <a:off x="5029200" y="4709160"/>
            <a:ext cx="694944" cy="292608"/>
          </a:xfrm>
          <a:prstGeom prst="rect">
            <a:avLst/>
          </a:prstGeom>
          <a:noFill/>
          <a:ln/>
        </p:spPr>
        <p:txBody>
          <a:bodyPr wrap="square" lIns="0" tIns="0" rIns="0" bIns="0" rtlCol="0" anchor="t"/>
          <a:lstStyle/>
          <a:p>
            <a:pPr algn="ctr" indent="0" marL="0">
              <a:buNone/>
            </a:pPr>
            <a:r>
              <a:rPr lang="en-US" sz="700" dirty="0">
                <a:solidFill>
                  <a:srgbClr val="B8C7D9"/>
                </a:solidFill>
                <a:latin typeface="Meiryo UI" pitchFamily="34" charset="0"/>
                <a:ea typeface="Meiryo UI" pitchFamily="34" charset="-122"/>
                <a:cs typeface="Meiryo UI" pitchFamily="34" charset="-120"/>
              </a:rPr>
              <a:t>code apps</a:t>
            </a:r>
            <a:endParaRPr lang="en-US" sz="700" dirty="0"/>
          </a:p>
        </p:txBody>
      </p:sp>
      <p:sp>
        <p:nvSpPr>
          <p:cNvPr id="26" name="Shape 17"/>
          <p:cNvSpPr/>
          <p:nvPr/>
        </p:nvSpPr>
        <p:spPr>
          <a:xfrm>
            <a:off x="5815584" y="4114800"/>
            <a:ext cx="548640" cy="548640"/>
          </a:xfrm>
          <a:prstGeom prst="ellipse">
            <a:avLst/>
          </a:prstGeom>
          <a:solidFill>
            <a:srgbClr val="FFFFFF"/>
          </a:solidFill>
          <a:ln/>
        </p:spPr>
      </p:sp>
      <p:pic>
        <p:nvPicPr>
          <p:cNvPr id="27" name="Image 7" descr="preencoded.png">    </p:cNvPr>
          <p:cNvPicPr>
            <a:picLocks noChangeAspect="1"/>
          </p:cNvPicPr>
          <p:nvPr/>
        </p:nvPicPr>
        <p:blipFill>
          <a:blip r:embed="rId8"/>
          <a:stretch>
            <a:fillRect/>
          </a:stretch>
        </p:blipFill>
        <p:spPr>
          <a:xfrm>
            <a:off x="5925312" y="4224528"/>
            <a:ext cx="329184" cy="329184"/>
          </a:xfrm>
          <a:prstGeom prst="rect">
            <a:avLst/>
          </a:prstGeom>
        </p:spPr>
      </p:pic>
      <p:sp>
        <p:nvSpPr>
          <p:cNvPr id="28" name="Text 18"/>
          <p:cNvSpPr txBox="1"/>
          <p:nvPr/>
        </p:nvSpPr>
        <p:spPr>
          <a:xfrm>
            <a:off x="5742432" y="4709160"/>
            <a:ext cx="694944" cy="292608"/>
          </a:xfrm>
          <a:prstGeom prst="rect">
            <a:avLst/>
          </a:prstGeom>
          <a:noFill/>
          <a:ln/>
        </p:spPr>
        <p:txBody>
          <a:bodyPr wrap="square" lIns="0" tIns="0" rIns="0" bIns="0" rtlCol="0" anchor="t"/>
          <a:lstStyle/>
          <a:p>
            <a:pPr algn="ctr" indent="0" marL="0">
              <a:buNone/>
            </a:pPr>
            <a:r>
              <a:rPr lang="en-US" sz="700" dirty="0">
                <a:solidFill>
                  <a:srgbClr val="B8C7D9"/>
                </a:solidFill>
                <a:latin typeface="Meiryo UI" pitchFamily="34" charset="0"/>
                <a:ea typeface="Meiryo UI" pitchFamily="34" charset="-122"/>
                <a:cs typeface="Meiryo UI" pitchFamily="34" charset="-120"/>
              </a:rPr>
              <a:t>コネクタ</a:t>
            </a:r>
            <a:endParaRPr lang="en-US" sz="700" dirty="0"/>
          </a:p>
        </p:txBody>
      </p:sp>
      <p:sp>
        <p:nvSpPr>
          <p:cNvPr id="29" name="Text 19"/>
          <p:cNvSpPr txBox="1"/>
          <p:nvPr/>
        </p:nvSpPr>
        <p:spPr>
          <a:xfrm>
            <a:off x="822960" y="5852160"/>
            <a:ext cx="9144000" cy="365760"/>
          </a:xfrm>
          <a:prstGeom prst="rect">
            <a:avLst/>
          </a:prstGeom>
          <a:noFill/>
          <a:ln/>
        </p:spPr>
        <p:txBody>
          <a:bodyPr wrap="square" lIns="0" tIns="0" rIns="0" bIns="0" rtlCol="0" anchor="t"/>
          <a:lstStyle/>
          <a:p>
            <a:pPr indent="0" marL="0">
              <a:buNone/>
            </a:pPr>
            <a:r>
              <a:rPr lang="en-US" sz="1200" dirty="0">
                <a:solidFill>
                  <a:srgbClr val="8FD3CF"/>
                </a:solidFill>
                <a:latin typeface="Meiryo UI" pitchFamily="34" charset="0"/>
                <a:ea typeface="Meiryo UI" pitchFamily="34" charset="-122"/>
                <a:cs typeface="Meiryo UI" pitchFamily="34" charset="-120"/>
              </a:rPr>
              <a:t>2026年9月｜調査資料（2026年9月時点の公開情報にもとづく）</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本資料について</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特定の方式を推奨するものではなく、取りうる選択肢と検討ポイントを並べて整理する</a:t>
            </a:r>
            <a:endParaRPr lang="en-US" sz="1400" dirty="0"/>
          </a:p>
        </p:txBody>
      </p:sp>
      <p:sp>
        <p:nvSpPr>
          <p:cNvPr id="4" name="Text 2"/>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2</a:t>
            </a:r>
            <a:endParaRPr lang="en-US" sz="900" dirty="0"/>
          </a:p>
        </p:txBody>
      </p:sp>
      <p:sp>
        <p:nvSpPr>
          <p:cNvPr id="5" name="Shape 3"/>
          <p:cNvSpPr/>
          <p:nvPr/>
        </p:nvSpPr>
        <p:spPr>
          <a:xfrm>
            <a:off x="548640" y="1463040"/>
            <a:ext cx="5486400" cy="2103120"/>
          </a:xfrm>
          <a:prstGeom prst="roundRect">
            <a:avLst>
              <a:gd name="adj" fmla="val 2609"/>
            </a:avLst>
          </a:prstGeom>
          <a:solidFill>
            <a:srgbClr val="D9F2F1"/>
          </a:solidFill>
          <a:ln/>
        </p:spPr>
      </p:sp>
      <p:sp>
        <p:nvSpPr>
          <p:cNvPr id="6" name="Shape 4"/>
          <p:cNvSpPr/>
          <p:nvPr/>
        </p:nvSpPr>
        <p:spPr>
          <a:xfrm>
            <a:off x="731520" y="1627632"/>
            <a:ext cx="457200" cy="457200"/>
          </a:xfrm>
          <a:prstGeom prst="ellipse">
            <a:avLst/>
          </a:prstGeom>
          <a:solidFill>
            <a:srgbClr val="FFFFFF"/>
          </a:solidFill>
          <a:ln/>
        </p:spPr>
      </p:sp>
      <p:pic>
        <p:nvPicPr>
          <p:cNvPr id="7" name="Image 0" descr="preencoded.png">    </p:cNvPr>
          <p:cNvPicPr>
            <a:picLocks noChangeAspect="1"/>
          </p:cNvPicPr>
          <p:nvPr/>
        </p:nvPicPr>
        <p:blipFill>
          <a:blip r:embed="rId1"/>
          <a:stretch>
            <a:fillRect/>
          </a:stretch>
        </p:blipFill>
        <p:spPr>
          <a:xfrm>
            <a:off x="822960" y="1719072"/>
            <a:ext cx="274320" cy="274320"/>
          </a:xfrm>
          <a:prstGeom prst="rect">
            <a:avLst/>
          </a:prstGeom>
        </p:spPr>
      </p:pic>
      <p:sp>
        <p:nvSpPr>
          <p:cNvPr id="8" name="Text 5"/>
          <p:cNvSpPr txBox="1"/>
          <p:nvPr/>
        </p:nvSpPr>
        <p:spPr>
          <a:xfrm>
            <a:off x="1280160" y="1627632"/>
            <a:ext cx="3657600" cy="457200"/>
          </a:xfrm>
          <a:prstGeom prst="rect">
            <a:avLst/>
          </a:prstGeom>
          <a:noFill/>
          <a:ln/>
        </p:spPr>
        <p:txBody>
          <a:bodyPr wrap="square" lIns="508" tIns="508" rIns="508" bIns="508" rtlCol="0" anchor="ctr"/>
          <a:lstStyle/>
          <a:p>
            <a:pPr indent="0" marL="0">
              <a:buNone/>
            </a:pPr>
            <a:r>
              <a:rPr lang="en-US" sz="1500" b="1" dirty="0">
                <a:solidFill>
                  <a:srgbClr val="1B2A49"/>
                </a:solidFill>
                <a:latin typeface="Meiryo UI" pitchFamily="34" charset="0"/>
                <a:ea typeface="Meiryo UI" pitchFamily="34" charset="-122"/>
                <a:cs typeface="Meiryo UI" pitchFamily="34" charset="-120"/>
              </a:rPr>
              <a:t>目的</a:t>
            </a:r>
            <a:endParaRPr lang="en-US" sz="1500" dirty="0"/>
          </a:p>
        </p:txBody>
      </p:sp>
      <p:sp>
        <p:nvSpPr>
          <p:cNvPr id="9" name="Text 6"/>
          <p:cNvSpPr txBox="1"/>
          <p:nvPr/>
        </p:nvSpPr>
        <p:spPr>
          <a:xfrm>
            <a:off x="731520" y="2194560"/>
            <a:ext cx="5120640" cy="1280160"/>
          </a:xfrm>
          <a:prstGeom prst="rect">
            <a:avLst/>
          </a:prstGeom>
          <a:noFill/>
          <a:ln/>
        </p:spPr>
        <p:txBody>
          <a:bodyPr wrap="square" lIns="508" tIns="508" rIns="508" bIns="508" rtlCol="0" anchor="t"/>
          <a:lstStyle/>
          <a:p>
            <a:pPr indent="0" marL="0">
              <a:buNone/>
            </a:pPr>
            <a:r>
              <a:rPr lang="en-US" sz="1250" dirty="0">
                <a:solidFill>
                  <a:srgbClr val="2B2B2B"/>
                </a:solidFill>
                <a:latin typeface="Meiryo UI" pitchFamily="34" charset="0"/>
                <a:ea typeface="Meiryo UI" pitchFamily="34" charset="-122"/>
                <a:cs typeface="Meiryo UI" pitchFamily="34" charset="-120"/>
              </a:rPr>
              <a:t>Copilotのエージェントが推論した結果を、Airtableの配信カードの項目（テーマ・掲載商品・コピー・制作指示など）に設定する方法を、取りうる選択肢としてフラットに洗い出す。</a:t>
            </a:r>
            <a:endParaRPr lang="en-US" sz="1250" dirty="0"/>
          </a:p>
        </p:txBody>
      </p:sp>
      <p:sp>
        <p:nvSpPr>
          <p:cNvPr id="10" name="Shape 7"/>
          <p:cNvSpPr/>
          <p:nvPr/>
        </p:nvSpPr>
        <p:spPr>
          <a:xfrm>
            <a:off x="548640" y="3749040"/>
            <a:ext cx="5486400" cy="2560320"/>
          </a:xfrm>
          <a:prstGeom prst="roundRect">
            <a:avLst>
              <a:gd name="adj" fmla="val 2143"/>
            </a:avLst>
          </a:prstGeom>
          <a:solidFill>
            <a:srgbClr val="F3F5F8"/>
          </a:solidFill>
          <a:ln/>
        </p:spPr>
      </p:sp>
      <p:sp>
        <p:nvSpPr>
          <p:cNvPr id="11" name="Text 8"/>
          <p:cNvSpPr txBox="1"/>
          <p:nvPr/>
        </p:nvSpPr>
        <p:spPr>
          <a:xfrm>
            <a:off x="731520" y="3858768"/>
            <a:ext cx="4572000" cy="365760"/>
          </a:xfrm>
          <a:prstGeom prst="rect">
            <a:avLst/>
          </a:prstGeom>
          <a:noFill/>
          <a:ln/>
        </p:spPr>
        <p:txBody>
          <a:bodyPr wrap="square" lIns="508" tIns="508" rIns="508" bIns="508" rtlCol="0" anchor="ctr"/>
          <a:lstStyle/>
          <a:p>
            <a:pPr indent="0" marL="0">
              <a:buNone/>
            </a:pPr>
            <a:r>
              <a:rPr lang="en-US" sz="1400" b="1" dirty="0">
                <a:solidFill>
                  <a:srgbClr val="1B2A49"/>
                </a:solidFill>
                <a:latin typeface="Meiryo UI" pitchFamily="34" charset="0"/>
                <a:ea typeface="Meiryo UI" pitchFamily="34" charset="-122"/>
                <a:cs typeface="Meiryo UI" pitchFamily="34" charset="-120"/>
              </a:rPr>
              <a:t>位置付け</a:t>
            </a:r>
            <a:endParaRPr lang="en-US" sz="1400" dirty="0"/>
          </a:p>
        </p:txBody>
      </p:sp>
      <p:sp>
        <p:nvSpPr>
          <p:cNvPr id="12" name="Shape 9"/>
          <p:cNvSpPr/>
          <p:nvPr/>
        </p:nvSpPr>
        <p:spPr>
          <a:xfrm>
            <a:off x="731520" y="4389120"/>
            <a:ext cx="457200" cy="457200"/>
          </a:xfrm>
          <a:prstGeom prst="ellipse">
            <a:avLst/>
          </a:prstGeom>
          <a:solidFill>
            <a:srgbClr val="FFFFFF"/>
          </a:solidFill>
          <a:ln/>
        </p:spPr>
      </p:sp>
      <p:pic>
        <p:nvPicPr>
          <p:cNvPr id="13" name="Image 1" descr="preencoded.png">    </p:cNvPr>
          <p:cNvPicPr>
            <a:picLocks noChangeAspect="1"/>
          </p:cNvPicPr>
          <p:nvPr/>
        </p:nvPicPr>
        <p:blipFill>
          <a:blip r:embed="rId2"/>
          <a:stretch>
            <a:fillRect/>
          </a:stretch>
        </p:blipFill>
        <p:spPr>
          <a:xfrm>
            <a:off x="822960" y="4480560"/>
            <a:ext cx="274320" cy="274320"/>
          </a:xfrm>
          <a:prstGeom prst="rect">
            <a:avLst/>
          </a:prstGeom>
        </p:spPr>
      </p:pic>
      <p:sp>
        <p:nvSpPr>
          <p:cNvPr id="14" name="Text 10"/>
          <p:cNvSpPr txBox="1"/>
          <p:nvPr/>
        </p:nvSpPr>
        <p:spPr>
          <a:xfrm>
            <a:off x="1325880" y="4389120"/>
            <a:ext cx="4572000" cy="457200"/>
          </a:xfrm>
          <a:prstGeom prst="rect">
            <a:avLst/>
          </a:prstGeom>
          <a:noFill/>
          <a:ln/>
        </p:spPr>
        <p:txBody>
          <a:bodyPr wrap="square" lIns="0" tIns="0" rIns="0" bIns="0" rtlCol="0" anchor="ctr"/>
          <a:lstStyle/>
          <a:p>
            <a:pPr indent="0" marL="0">
              <a:buNone/>
            </a:pPr>
            <a:r>
              <a:rPr lang="en-US" sz="1200" dirty="0">
                <a:solidFill>
                  <a:srgbClr val="2B2B2B"/>
                </a:solidFill>
                <a:latin typeface="Meiryo UI" pitchFamily="34" charset="0"/>
                <a:ea typeface="Meiryo UI" pitchFamily="34" charset="-122"/>
                <a:cs typeface="Meiryo UI" pitchFamily="34" charset="-120"/>
              </a:rPr>
              <a:t>調査結果の整理（特定の方式を推奨するものではない）</a:t>
            </a:r>
            <a:endParaRPr lang="en-US" sz="1200" dirty="0"/>
          </a:p>
        </p:txBody>
      </p:sp>
      <p:sp>
        <p:nvSpPr>
          <p:cNvPr id="15" name="Shape 11"/>
          <p:cNvSpPr/>
          <p:nvPr/>
        </p:nvSpPr>
        <p:spPr>
          <a:xfrm>
            <a:off x="731520" y="5010912"/>
            <a:ext cx="457200" cy="457200"/>
          </a:xfrm>
          <a:prstGeom prst="ellipse">
            <a:avLst/>
          </a:prstGeom>
          <a:solidFill>
            <a:srgbClr val="FFFFFF"/>
          </a:solidFill>
          <a:ln/>
        </p:spPr>
      </p:sp>
      <p:pic>
        <p:nvPicPr>
          <p:cNvPr id="16" name="Image 2" descr="preencoded.png">    </p:cNvPr>
          <p:cNvPicPr>
            <a:picLocks noChangeAspect="1"/>
          </p:cNvPicPr>
          <p:nvPr/>
        </p:nvPicPr>
        <p:blipFill>
          <a:blip r:embed="rId3"/>
          <a:stretch>
            <a:fillRect/>
          </a:stretch>
        </p:blipFill>
        <p:spPr>
          <a:xfrm>
            <a:off x="822960" y="5102352"/>
            <a:ext cx="274320" cy="274320"/>
          </a:xfrm>
          <a:prstGeom prst="rect">
            <a:avLst/>
          </a:prstGeom>
        </p:spPr>
      </p:pic>
      <p:sp>
        <p:nvSpPr>
          <p:cNvPr id="17" name="Text 12"/>
          <p:cNvSpPr txBox="1"/>
          <p:nvPr/>
        </p:nvSpPr>
        <p:spPr>
          <a:xfrm>
            <a:off x="1325880" y="5010912"/>
            <a:ext cx="4572000" cy="457200"/>
          </a:xfrm>
          <a:prstGeom prst="rect">
            <a:avLst/>
          </a:prstGeom>
          <a:noFill/>
          <a:ln/>
        </p:spPr>
        <p:txBody>
          <a:bodyPr wrap="square" lIns="0" tIns="0" rIns="0" bIns="0" rtlCol="0" anchor="ctr"/>
          <a:lstStyle/>
          <a:p>
            <a:pPr indent="0" marL="0">
              <a:buNone/>
            </a:pPr>
            <a:r>
              <a:rPr lang="en-US" sz="1200" dirty="0">
                <a:solidFill>
                  <a:srgbClr val="2B2B2B"/>
                </a:solidFill>
                <a:latin typeface="Meiryo UI" pitchFamily="34" charset="0"/>
                <a:ea typeface="Meiryo UI" pitchFamily="34" charset="-122"/>
                <a:cs typeface="Meiryo UI" pitchFamily="34" charset="-120"/>
              </a:rPr>
              <a:t>情報は2026年9月時点の公開情報にもとづく</a:t>
            </a:r>
            <a:endParaRPr lang="en-US" sz="1200" dirty="0"/>
          </a:p>
        </p:txBody>
      </p:sp>
      <p:sp>
        <p:nvSpPr>
          <p:cNvPr id="18" name="Shape 13"/>
          <p:cNvSpPr/>
          <p:nvPr/>
        </p:nvSpPr>
        <p:spPr>
          <a:xfrm>
            <a:off x="731520" y="5632704"/>
            <a:ext cx="457200" cy="457200"/>
          </a:xfrm>
          <a:prstGeom prst="ellipse">
            <a:avLst/>
          </a:prstGeom>
          <a:solidFill>
            <a:srgbClr val="FFFFFF"/>
          </a:solidFill>
          <a:ln/>
        </p:spPr>
      </p:sp>
      <p:pic>
        <p:nvPicPr>
          <p:cNvPr id="19" name="Image 3" descr="preencoded.png">    </p:cNvPr>
          <p:cNvPicPr>
            <a:picLocks noChangeAspect="1"/>
          </p:cNvPicPr>
          <p:nvPr/>
        </p:nvPicPr>
        <p:blipFill>
          <a:blip r:embed="rId4"/>
          <a:stretch>
            <a:fillRect/>
          </a:stretch>
        </p:blipFill>
        <p:spPr>
          <a:xfrm>
            <a:off x="822960" y="5724144"/>
            <a:ext cx="274320" cy="274320"/>
          </a:xfrm>
          <a:prstGeom prst="rect">
            <a:avLst/>
          </a:prstGeom>
        </p:spPr>
      </p:pic>
      <p:sp>
        <p:nvSpPr>
          <p:cNvPr id="20" name="Text 14"/>
          <p:cNvSpPr txBox="1"/>
          <p:nvPr/>
        </p:nvSpPr>
        <p:spPr>
          <a:xfrm>
            <a:off x="1325880" y="5632704"/>
            <a:ext cx="4572000" cy="457200"/>
          </a:xfrm>
          <a:prstGeom prst="rect">
            <a:avLst/>
          </a:prstGeom>
          <a:noFill/>
          <a:ln/>
        </p:spPr>
        <p:txBody>
          <a:bodyPr wrap="square" lIns="0" tIns="0" rIns="0" bIns="0" rtlCol="0" anchor="ctr"/>
          <a:lstStyle/>
          <a:p>
            <a:pPr indent="0" marL="0">
              <a:buNone/>
            </a:pPr>
            <a:r>
              <a:rPr lang="en-US" sz="1200" dirty="0">
                <a:solidFill>
                  <a:srgbClr val="2B2B2B"/>
                </a:solidFill>
                <a:latin typeface="Meiryo UI" pitchFamily="34" charset="0"/>
                <a:ea typeface="Meiryo UI" pitchFamily="34" charset="-122"/>
                <a:cs typeface="Meiryo UI" pitchFamily="34" charset="-120"/>
              </a:rPr>
              <a:t>AIの回答は「下書き」として扱う前提で整理（次章）</a:t>
            </a:r>
            <a:endParaRPr lang="en-US" sz="1200" dirty="0"/>
          </a:p>
        </p:txBody>
      </p:sp>
      <p:sp>
        <p:nvSpPr>
          <p:cNvPr id="21" name="Text 15"/>
          <p:cNvSpPr txBox="1"/>
          <p:nvPr/>
        </p:nvSpPr>
        <p:spPr>
          <a:xfrm>
            <a:off x="6400800" y="1463040"/>
            <a:ext cx="4572000" cy="365760"/>
          </a:xfrm>
          <a:prstGeom prst="rect">
            <a:avLst/>
          </a:prstGeom>
          <a:noFill/>
          <a:ln/>
        </p:spPr>
        <p:txBody>
          <a:bodyPr wrap="square" lIns="508" tIns="508" rIns="508" bIns="508" rtlCol="0" anchor="ctr"/>
          <a:lstStyle/>
          <a:p>
            <a:pPr indent="0" marL="0">
              <a:buNone/>
            </a:pPr>
            <a:r>
              <a:rPr lang="en-US" sz="1400" b="1" dirty="0">
                <a:solidFill>
                  <a:srgbClr val="1B2A49"/>
                </a:solidFill>
                <a:latin typeface="Meiryo UI" pitchFamily="34" charset="0"/>
                <a:ea typeface="Meiryo UI" pitchFamily="34" charset="-122"/>
                <a:cs typeface="Meiryo UI" pitchFamily="34" charset="-120"/>
              </a:rPr>
              <a:t>目次</a:t>
            </a:r>
            <a:endParaRPr lang="en-US" sz="1400" dirty="0"/>
          </a:p>
        </p:txBody>
      </p:sp>
      <p:sp>
        <p:nvSpPr>
          <p:cNvPr id="22" name="Shape 16"/>
          <p:cNvSpPr/>
          <p:nvPr/>
        </p:nvSpPr>
        <p:spPr>
          <a:xfrm>
            <a:off x="6400800" y="1920240"/>
            <a:ext cx="384048" cy="384048"/>
          </a:xfrm>
          <a:prstGeom prst="ellipse">
            <a:avLst/>
          </a:prstGeom>
          <a:solidFill>
            <a:srgbClr val="0E9F9A"/>
          </a:solidFill>
          <a:ln/>
        </p:spPr>
      </p:sp>
      <p:sp>
        <p:nvSpPr>
          <p:cNvPr id="23" name="Text 17"/>
          <p:cNvSpPr txBox="1"/>
          <p:nvPr/>
        </p:nvSpPr>
        <p:spPr>
          <a:xfrm>
            <a:off x="6400800" y="192024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0</a:t>
            </a:r>
            <a:endParaRPr lang="en-US" sz="1100" dirty="0"/>
          </a:p>
        </p:txBody>
      </p:sp>
      <p:sp>
        <p:nvSpPr>
          <p:cNvPr id="24" name="Text 18"/>
          <p:cNvSpPr txBox="1"/>
          <p:nvPr/>
        </p:nvSpPr>
        <p:spPr>
          <a:xfrm>
            <a:off x="6949440" y="1920240"/>
            <a:ext cx="4663440" cy="384048"/>
          </a:xfrm>
          <a:prstGeom prst="rect">
            <a:avLst/>
          </a:prstGeom>
          <a:noFill/>
          <a:ln/>
        </p:spPr>
        <p:txBody>
          <a:bodyPr wrap="square" lIns="508" tIns="508" rIns="508" bIns="508" rtlCol="0" anchor="ctr"/>
          <a:lstStyle/>
          <a:p>
            <a:pPr indent="0" marL="0">
              <a:buNone/>
            </a:pPr>
            <a:r>
              <a:rPr lang="en-US" sz="1250" dirty="0">
                <a:solidFill>
                  <a:srgbClr val="2B2B2B"/>
                </a:solidFill>
                <a:latin typeface="Meiryo UI" pitchFamily="34" charset="0"/>
                <a:ea typeface="Meiryo UI" pitchFamily="34" charset="-122"/>
                <a:cs typeface="Meiryo UI" pitchFamily="34" charset="-120"/>
              </a:rPr>
              <a:t>前提（下書き扱い、エージェントの種類、使える手段、呼び出し方）</a:t>
            </a:r>
            <a:endParaRPr lang="en-US" sz="1250" dirty="0"/>
          </a:p>
        </p:txBody>
      </p:sp>
      <p:sp>
        <p:nvSpPr>
          <p:cNvPr id="25" name="Shape 19"/>
          <p:cNvSpPr/>
          <p:nvPr/>
        </p:nvSpPr>
        <p:spPr>
          <a:xfrm>
            <a:off x="6400800" y="2523744"/>
            <a:ext cx="384048" cy="384048"/>
          </a:xfrm>
          <a:prstGeom prst="ellipse">
            <a:avLst/>
          </a:prstGeom>
          <a:solidFill>
            <a:srgbClr val="0E9F9A"/>
          </a:solidFill>
          <a:ln/>
        </p:spPr>
      </p:sp>
      <p:sp>
        <p:nvSpPr>
          <p:cNvPr id="26" name="Text 20"/>
          <p:cNvSpPr txBox="1"/>
          <p:nvPr/>
        </p:nvSpPr>
        <p:spPr>
          <a:xfrm>
            <a:off x="6400800" y="2523744"/>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1</a:t>
            </a:r>
            <a:endParaRPr lang="en-US" sz="1100" dirty="0"/>
          </a:p>
        </p:txBody>
      </p:sp>
      <p:sp>
        <p:nvSpPr>
          <p:cNvPr id="27" name="Text 21"/>
          <p:cNvSpPr txBox="1"/>
          <p:nvPr/>
        </p:nvSpPr>
        <p:spPr>
          <a:xfrm>
            <a:off x="6949440" y="2523744"/>
            <a:ext cx="4663440" cy="384048"/>
          </a:xfrm>
          <a:prstGeom prst="rect">
            <a:avLst/>
          </a:prstGeom>
          <a:noFill/>
          <a:ln/>
        </p:spPr>
        <p:txBody>
          <a:bodyPr wrap="square" lIns="508" tIns="508" rIns="508" bIns="508" rtlCol="0" anchor="ctr"/>
          <a:lstStyle/>
          <a:p>
            <a:pPr indent="0" marL="0">
              <a:buNone/>
            </a:pPr>
            <a:r>
              <a:rPr lang="en-US" sz="1250" dirty="0">
                <a:solidFill>
                  <a:srgbClr val="2B2B2B"/>
                </a:solidFill>
                <a:latin typeface="Meiryo UI" pitchFamily="34" charset="0"/>
                <a:ea typeface="Meiryo UI" pitchFamily="34" charset="-122"/>
                <a:cs typeface="Meiryo UI" pitchFamily="34" charset="-120"/>
              </a:rPr>
              <a:t>検討の観点（パターンを分ける12の軸）</a:t>
            </a:r>
            <a:endParaRPr lang="en-US" sz="1250" dirty="0"/>
          </a:p>
        </p:txBody>
      </p:sp>
      <p:sp>
        <p:nvSpPr>
          <p:cNvPr id="28" name="Shape 22"/>
          <p:cNvSpPr/>
          <p:nvPr/>
        </p:nvSpPr>
        <p:spPr>
          <a:xfrm>
            <a:off x="6400800" y="3127248"/>
            <a:ext cx="384048" cy="384048"/>
          </a:xfrm>
          <a:prstGeom prst="ellipse">
            <a:avLst/>
          </a:prstGeom>
          <a:solidFill>
            <a:srgbClr val="0E9F9A"/>
          </a:solidFill>
          <a:ln/>
        </p:spPr>
      </p:sp>
      <p:sp>
        <p:nvSpPr>
          <p:cNvPr id="29" name="Text 23"/>
          <p:cNvSpPr txBox="1"/>
          <p:nvPr/>
        </p:nvSpPr>
        <p:spPr>
          <a:xfrm>
            <a:off x="6400800" y="312724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2</a:t>
            </a:r>
            <a:endParaRPr lang="en-US" sz="1100" dirty="0"/>
          </a:p>
        </p:txBody>
      </p:sp>
      <p:sp>
        <p:nvSpPr>
          <p:cNvPr id="30" name="Text 24"/>
          <p:cNvSpPr txBox="1"/>
          <p:nvPr/>
        </p:nvSpPr>
        <p:spPr>
          <a:xfrm>
            <a:off x="6949440" y="3127248"/>
            <a:ext cx="4663440" cy="384048"/>
          </a:xfrm>
          <a:prstGeom prst="rect">
            <a:avLst/>
          </a:prstGeom>
          <a:noFill/>
          <a:ln/>
        </p:spPr>
        <p:txBody>
          <a:bodyPr wrap="square" lIns="508" tIns="508" rIns="508" bIns="508" rtlCol="0" anchor="ctr"/>
          <a:lstStyle/>
          <a:p>
            <a:pPr indent="0" marL="0">
              <a:buNone/>
            </a:pPr>
            <a:r>
              <a:rPr lang="en-US" sz="1250" dirty="0">
                <a:solidFill>
                  <a:srgbClr val="2B2B2B"/>
                </a:solidFill>
                <a:latin typeface="Meiryo UI" pitchFamily="34" charset="0"/>
                <a:ea typeface="Meiryo UI" pitchFamily="34" charset="-122"/>
                <a:cs typeface="Meiryo UI" pitchFamily="34" charset="-120"/>
              </a:rPr>
              <a:t>連携パターン一覧（P1〜P17、参考R1・R2）</a:t>
            </a:r>
            <a:endParaRPr lang="en-US" sz="1250" dirty="0"/>
          </a:p>
        </p:txBody>
      </p:sp>
      <p:sp>
        <p:nvSpPr>
          <p:cNvPr id="31" name="Shape 25"/>
          <p:cNvSpPr/>
          <p:nvPr/>
        </p:nvSpPr>
        <p:spPr>
          <a:xfrm>
            <a:off x="6400800" y="3730752"/>
            <a:ext cx="384048" cy="384048"/>
          </a:xfrm>
          <a:prstGeom prst="ellipse">
            <a:avLst/>
          </a:prstGeom>
          <a:solidFill>
            <a:srgbClr val="0E9F9A"/>
          </a:solidFill>
          <a:ln/>
        </p:spPr>
      </p:sp>
      <p:sp>
        <p:nvSpPr>
          <p:cNvPr id="32" name="Text 26"/>
          <p:cNvSpPr txBox="1"/>
          <p:nvPr/>
        </p:nvSpPr>
        <p:spPr>
          <a:xfrm>
            <a:off x="6400800" y="3730752"/>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3</a:t>
            </a:r>
            <a:endParaRPr lang="en-US" sz="1100" dirty="0"/>
          </a:p>
        </p:txBody>
      </p:sp>
      <p:sp>
        <p:nvSpPr>
          <p:cNvPr id="33" name="Text 27"/>
          <p:cNvSpPr txBox="1"/>
          <p:nvPr/>
        </p:nvSpPr>
        <p:spPr>
          <a:xfrm>
            <a:off x="6949440" y="3730752"/>
            <a:ext cx="4663440" cy="384048"/>
          </a:xfrm>
          <a:prstGeom prst="rect">
            <a:avLst/>
          </a:prstGeom>
          <a:noFill/>
          <a:ln/>
        </p:spPr>
        <p:txBody>
          <a:bodyPr wrap="square" lIns="508" tIns="508" rIns="508" bIns="508" rtlCol="0" anchor="ctr"/>
          <a:lstStyle/>
          <a:p>
            <a:pPr indent="0" marL="0">
              <a:buNone/>
            </a:pPr>
            <a:r>
              <a:rPr lang="en-US" sz="1250" dirty="0">
                <a:solidFill>
                  <a:srgbClr val="2B2B2B"/>
                </a:solidFill>
                <a:latin typeface="Meiryo UI" pitchFamily="34" charset="0"/>
                <a:ea typeface="Meiryo UI" pitchFamily="34" charset="-122"/>
                <a:cs typeface="Meiryo UI" pitchFamily="34" charset="-120"/>
              </a:rPr>
              <a:t>パターン別の詳細（レベル0〜5）</a:t>
            </a:r>
            <a:endParaRPr lang="en-US" sz="1250" dirty="0"/>
          </a:p>
        </p:txBody>
      </p:sp>
      <p:sp>
        <p:nvSpPr>
          <p:cNvPr id="34" name="Shape 28"/>
          <p:cNvSpPr/>
          <p:nvPr/>
        </p:nvSpPr>
        <p:spPr>
          <a:xfrm>
            <a:off x="6400800" y="4334256"/>
            <a:ext cx="384048" cy="384048"/>
          </a:xfrm>
          <a:prstGeom prst="ellipse">
            <a:avLst/>
          </a:prstGeom>
          <a:solidFill>
            <a:srgbClr val="0E9F9A"/>
          </a:solidFill>
          <a:ln/>
        </p:spPr>
      </p:sp>
      <p:sp>
        <p:nvSpPr>
          <p:cNvPr id="35" name="Text 29"/>
          <p:cNvSpPr txBox="1"/>
          <p:nvPr/>
        </p:nvSpPr>
        <p:spPr>
          <a:xfrm>
            <a:off x="6400800" y="4334256"/>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4</a:t>
            </a:r>
            <a:endParaRPr lang="en-US" sz="1100" dirty="0"/>
          </a:p>
        </p:txBody>
      </p:sp>
      <p:sp>
        <p:nvSpPr>
          <p:cNvPr id="36" name="Text 30"/>
          <p:cNvSpPr txBox="1"/>
          <p:nvPr/>
        </p:nvSpPr>
        <p:spPr>
          <a:xfrm>
            <a:off x="6949440" y="4334256"/>
            <a:ext cx="4663440" cy="384048"/>
          </a:xfrm>
          <a:prstGeom prst="rect">
            <a:avLst/>
          </a:prstGeom>
          <a:noFill/>
          <a:ln/>
        </p:spPr>
        <p:txBody>
          <a:bodyPr wrap="square" lIns="508" tIns="508" rIns="508" bIns="508" rtlCol="0" anchor="ctr"/>
          <a:lstStyle/>
          <a:p>
            <a:pPr indent="0" marL="0">
              <a:buNone/>
            </a:pPr>
            <a:r>
              <a:rPr lang="en-US" sz="1250" dirty="0">
                <a:solidFill>
                  <a:srgbClr val="2B2B2B"/>
                </a:solidFill>
                <a:latin typeface="Meiryo UI" pitchFamily="34" charset="0"/>
                <a:ea typeface="Meiryo UI" pitchFamily="34" charset="-122"/>
                <a:cs typeface="Meiryo UI" pitchFamily="34" charset="-120"/>
              </a:rPr>
              <a:t>修正指示のUI（U1〜U4）</a:t>
            </a:r>
            <a:endParaRPr lang="en-US" sz="1250" dirty="0"/>
          </a:p>
        </p:txBody>
      </p:sp>
      <p:sp>
        <p:nvSpPr>
          <p:cNvPr id="37" name="Shape 31"/>
          <p:cNvSpPr/>
          <p:nvPr/>
        </p:nvSpPr>
        <p:spPr>
          <a:xfrm>
            <a:off x="6400800" y="4937760"/>
            <a:ext cx="384048" cy="384048"/>
          </a:xfrm>
          <a:prstGeom prst="ellipse">
            <a:avLst/>
          </a:prstGeom>
          <a:solidFill>
            <a:srgbClr val="0E9F9A"/>
          </a:solidFill>
          <a:ln/>
        </p:spPr>
      </p:sp>
      <p:sp>
        <p:nvSpPr>
          <p:cNvPr id="38" name="Text 32"/>
          <p:cNvSpPr txBox="1"/>
          <p:nvPr/>
        </p:nvSpPr>
        <p:spPr>
          <a:xfrm>
            <a:off x="6400800" y="493776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5</a:t>
            </a:r>
            <a:endParaRPr lang="en-US" sz="1100" dirty="0"/>
          </a:p>
        </p:txBody>
      </p:sp>
      <p:sp>
        <p:nvSpPr>
          <p:cNvPr id="39" name="Text 33"/>
          <p:cNvSpPr txBox="1"/>
          <p:nvPr/>
        </p:nvSpPr>
        <p:spPr>
          <a:xfrm>
            <a:off x="6949440" y="4937760"/>
            <a:ext cx="4663440" cy="384048"/>
          </a:xfrm>
          <a:prstGeom prst="rect">
            <a:avLst/>
          </a:prstGeom>
          <a:noFill/>
          <a:ln/>
        </p:spPr>
        <p:txBody>
          <a:bodyPr wrap="square" lIns="508" tIns="508" rIns="508" bIns="508" rtlCol="0" anchor="ctr"/>
          <a:lstStyle/>
          <a:p>
            <a:pPr indent="0" marL="0">
              <a:buNone/>
            </a:pPr>
            <a:r>
              <a:rPr lang="en-US" sz="1250" dirty="0">
                <a:solidFill>
                  <a:srgbClr val="2B2B2B"/>
                </a:solidFill>
                <a:latin typeface="Meiryo UI" pitchFamily="34" charset="0"/>
                <a:ea typeface="Meiryo UI" pitchFamily="34" charset="-122"/>
                <a:cs typeface="Meiryo UI" pitchFamily="34" charset="-120"/>
              </a:rPr>
              <a:t>組み合わせ・段階的な進め方の例</a:t>
            </a:r>
            <a:endParaRPr lang="en-US" sz="1250" dirty="0"/>
          </a:p>
        </p:txBody>
      </p:sp>
      <p:sp>
        <p:nvSpPr>
          <p:cNvPr id="40" name="Shape 34"/>
          <p:cNvSpPr/>
          <p:nvPr/>
        </p:nvSpPr>
        <p:spPr>
          <a:xfrm>
            <a:off x="6400800" y="5541264"/>
            <a:ext cx="384048" cy="384048"/>
          </a:xfrm>
          <a:prstGeom prst="ellipse">
            <a:avLst/>
          </a:prstGeom>
          <a:solidFill>
            <a:srgbClr val="0E9F9A"/>
          </a:solidFill>
          <a:ln/>
        </p:spPr>
      </p:sp>
      <p:sp>
        <p:nvSpPr>
          <p:cNvPr id="41" name="Text 35"/>
          <p:cNvSpPr txBox="1"/>
          <p:nvPr/>
        </p:nvSpPr>
        <p:spPr>
          <a:xfrm>
            <a:off x="6400800" y="5541264"/>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6</a:t>
            </a:r>
            <a:endParaRPr lang="en-US" sz="1100" dirty="0"/>
          </a:p>
        </p:txBody>
      </p:sp>
      <p:sp>
        <p:nvSpPr>
          <p:cNvPr id="42" name="Text 36"/>
          <p:cNvSpPr txBox="1"/>
          <p:nvPr/>
        </p:nvSpPr>
        <p:spPr>
          <a:xfrm>
            <a:off x="6949440" y="5541264"/>
            <a:ext cx="4663440" cy="384048"/>
          </a:xfrm>
          <a:prstGeom prst="rect">
            <a:avLst/>
          </a:prstGeom>
          <a:noFill/>
          <a:ln/>
        </p:spPr>
        <p:txBody>
          <a:bodyPr wrap="square" lIns="508" tIns="508" rIns="508" bIns="508" rtlCol="0" anchor="ctr"/>
          <a:lstStyle/>
          <a:p>
            <a:pPr indent="0" marL="0">
              <a:buNone/>
            </a:pPr>
            <a:r>
              <a:rPr lang="en-US" sz="1250" dirty="0">
                <a:solidFill>
                  <a:srgbClr val="2B2B2B"/>
                </a:solidFill>
                <a:latin typeface="Meiryo UI" pitchFamily="34" charset="0"/>
                <a:ea typeface="Meiryo UI" pitchFamily="34" charset="-122"/>
                <a:cs typeface="Meiryo UI" pitchFamily="34" charset="-120"/>
              </a:rPr>
              <a:t>確認が必要な事項・参考</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業務側で決めた前提：AIの回答は「下書き」として扱う</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Airtableへの書き込み自体は可。ただし書き込み先は下書き用の欄とし、確定は必ず人が行う</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0. 前提</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3</a:t>
            </a:r>
            <a:endParaRPr lang="en-US" sz="900" dirty="0"/>
          </a:p>
        </p:txBody>
      </p:sp>
      <p:sp>
        <p:nvSpPr>
          <p:cNvPr id="6" name="Text 4"/>
          <p:cNvSpPr txBox="1"/>
          <p:nvPr/>
        </p:nvSpPr>
        <p:spPr>
          <a:xfrm>
            <a:off x="548640" y="1417320"/>
            <a:ext cx="7315200" cy="320040"/>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ステータス欄で状態を管理する（例）</a:t>
            </a:r>
            <a:endParaRPr lang="en-US" sz="1300" dirty="0"/>
          </a:p>
        </p:txBody>
      </p:sp>
      <p:sp>
        <p:nvSpPr>
          <p:cNvPr id="7" name="Shape 5"/>
          <p:cNvSpPr/>
          <p:nvPr/>
        </p:nvSpPr>
        <p:spPr>
          <a:xfrm>
            <a:off x="548640" y="1828800"/>
            <a:ext cx="2249424" cy="457200"/>
          </a:xfrm>
          <a:prstGeom prst="chevron">
            <a:avLst/>
          </a:prstGeom>
          <a:solidFill>
            <a:srgbClr val="9AA5B4"/>
          </a:solidFill>
          <a:ln/>
        </p:spPr>
      </p:sp>
      <p:sp>
        <p:nvSpPr>
          <p:cNvPr id="8" name="Text 6"/>
          <p:cNvSpPr txBox="1"/>
          <p:nvPr/>
        </p:nvSpPr>
        <p:spPr>
          <a:xfrm>
            <a:off x="685800" y="1828800"/>
            <a:ext cx="1975104"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Meiryo UI" pitchFamily="34" charset="0"/>
                <a:ea typeface="Meiryo UI" pitchFamily="34" charset="-122"/>
                <a:cs typeface="Meiryo UI" pitchFamily="34" charset="-120"/>
              </a:rPr>
              <a:t>起案待ち</a:t>
            </a:r>
            <a:endParaRPr lang="en-US" sz="1050" dirty="0"/>
          </a:p>
        </p:txBody>
      </p:sp>
      <p:sp>
        <p:nvSpPr>
          <p:cNvPr id="9" name="Shape 7"/>
          <p:cNvSpPr/>
          <p:nvPr/>
        </p:nvSpPr>
        <p:spPr>
          <a:xfrm>
            <a:off x="2752344" y="1828800"/>
            <a:ext cx="2249424" cy="457200"/>
          </a:xfrm>
          <a:prstGeom prst="chevron">
            <a:avLst/>
          </a:prstGeom>
          <a:solidFill>
            <a:srgbClr val="0E9F9A"/>
          </a:solidFill>
          <a:ln/>
        </p:spPr>
      </p:sp>
      <p:sp>
        <p:nvSpPr>
          <p:cNvPr id="10" name="Text 8"/>
          <p:cNvSpPr txBox="1"/>
          <p:nvPr/>
        </p:nvSpPr>
        <p:spPr>
          <a:xfrm>
            <a:off x="2889504" y="1828800"/>
            <a:ext cx="1975104"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Meiryo UI" pitchFamily="34" charset="0"/>
                <a:ea typeface="Meiryo UI" pitchFamily="34" charset="-122"/>
                <a:cs typeface="Meiryo UI" pitchFamily="34" charset="-120"/>
              </a:rPr>
              <a:t>起案中</a:t>
            </a:r>
            <a:endParaRPr lang="en-US" sz="1050" dirty="0"/>
          </a:p>
        </p:txBody>
      </p:sp>
      <p:sp>
        <p:nvSpPr>
          <p:cNvPr id="11" name="Shape 9"/>
          <p:cNvSpPr/>
          <p:nvPr/>
        </p:nvSpPr>
        <p:spPr>
          <a:xfrm>
            <a:off x="4956048" y="1828800"/>
            <a:ext cx="2249424" cy="457200"/>
          </a:xfrm>
          <a:prstGeom prst="chevron">
            <a:avLst/>
          </a:prstGeom>
          <a:solidFill>
            <a:srgbClr val="0E9F9A"/>
          </a:solidFill>
          <a:ln/>
        </p:spPr>
      </p:sp>
      <p:sp>
        <p:nvSpPr>
          <p:cNvPr id="12" name="Text 10"/>
          <p:cNvSpPr txBox="1"/>
          <p:nvPr/>
        </p:nvSpPr>
        <p:spPr>
          <a:xfrm>
            <a:off x="5093208" y="1828800"/>
            <a:ext cx="1975104"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Meiryo UI" pitchFamily="34" charset="0"/>
                <a:ea typeface="Meiryo UI" pitchFamily="34" charset="-122"/>
                <a:cs typeface="Meiryo UI" pitchFamily="34" charset="-120"/>
              </a:rPr>
              <a:t>下書きあり</a:t>
            </a:r>
            <a:endParaRPr lang="en-US" sz="1050" dirty="0"/>
          </a:p>
        </p:txBody>
      </p:sp>
      <p:sp>
        <p:nvSpPr>
          <p:cNvPr id="13" name="Shape 11"/>
          <p:cNvSpPr/>
          <p:nvPr/>
        </p:nvSpPr>
        <p:spPr>
          <a:xfrm>
            <a:off x="7159752" y="1828800"/>
            <a:ext cx="2249424" cy="457200"/>
          </a:xfrm>
          <a:prstGeom prst="chevron">
            <a:avLst/>
          </a:prstGeom>
          <a:solidFill>
            <a:srgbClr val="0E9F9A"/>
          </a:solidFill>
          <a:ln/>
        </p:spPr>
      </p:sp>
      <p:sp>
        <p:nvSpPr>
          <p:cNvPr id="14" name="Text 12"/>
          <p:cNvSpPr txBox="1"/>
          <p:nvPr/>
        </p:nvSpPr>
        <p:spPr>
          <a:xfrm>
            <a:off x="7296912" y="1828800"/>
            <a:ext cx="1975104"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Meiryo UI" pitchFamily="34" charset="0"/>
                <a:ea typeface="Meiryo UI" pitchFamily="34" charset="-122"/>
                <a:cs typeface="Meiryo UI" pitchFamily="34" charset="-120"/>
              </a:rPr>
              <a:t>修正依頼中</a:t>
            </a:r>
            <a:endParaRPr lang="en-US" sz="1050" dirty="0"/>
          </a:p>
        </p:txBody>
      </p:sp>
      <p:sp>
        <p:nvSpPr>
          <p:cNvPr id="15" name="Shape 13"/>
          <p:cNvSpPr/>
          <p:nvPr/>
        </p:nvSpPr>
        <p:spPr>
          <a:xfrm>
            <a:off x="9363456" y="1828800"/>
            <a:ext cx="2249424" cy="457200"/>
          </a:xfrm>
          <a:prstGeom prst="chevron">
            <a:avLst/>
          </a:prstGeom>
          <a:solidFill>
            <a:srgbClr val="E8912D"/>
          </a:solidFill>
          <a:ln/>
        </p:spPr>
      </p:sp>
      <p:sp>
        <p:nvSpPr>
          <p:cNvPr id="16" name="Text 14"/>
          <p:cNvSpPr txBox="1"/>
          <p:nvPr/>
        </p:nvSpPr>
        <p:spPr>
          <a:xfrm>
            <a:off x="9500616" y="1828800"/>
            <a:ext cx="1975104" cy="457200"/>
          </a:xfrm>
          <a:prstGeom prst="rect">
            <a:avLst/>
          </a:prstGeom>
          <a:noFill/>
          <a:ln/>
        </p:spPr>
        <p:txBody>
          <a:bodyPr wrap="square" lIns="0" tIns="0" rIns="0" bIns="0" rtlCol="0" anchor="ctr"/>
          <a:lstStyle/>
          <a:p>
            <a:pPr algn="ctr" indent="0" marL="0">
              <a:buNone/>
            </a:pPr>
            <a:r>
              <a:rPr lang="en-US" sz="1050" b="1" dirty="0">
                <a:solidFill>
                  <a:srgbClr val="FFFFFF"/>
                </a:solidFill>
                <a:latin typeface="Meiryo UI" pitchFamily="34" charset="0"/>
                <a:ea typeface="Meiryo UI" pitchFamily="34" charset="-122"/>
                <a:cs typeface="Meiryo UI" pitchFamily="34" charset="-120"/>
              </a:rPr>
              <a:t>確定</a:t>
            </a:r>
            <a:endParaRPr lang="en-US" sz="1050" dirty="0"/>
          </a:p>
        </p:txBody>
      </p:sp>
      <p:sp>
        <p:nvSpPr>
          <p:cNvPr id="17" name="Text 15"/>
          <p:cNvSpPr txBox="1"/>
          <p:nvPr/>
        </p:nvSpPr>
        <p:spPr>
          <a:xfrm>
            <a:off x="2743200" y="2331720"/>
            <a:ext cx="6675120" cy="256032"/>
          </a:xfrm>
          <a:prstGeom prst="rect">
            <a:avLst/>
          </a:prstGeom>
          <a:noFill/>
          <a:ln/>
        </p:spPr>
        <p:txBody>
          <a:bodyPr wrap="square" lIns="0" tIns="0" rIns="0" bIns="0" rtlCol="0" anchor="t"/>
          <a:lstStyle/>
          <a:p>
            <a:pPr algn="ctr" indent="0" marL="0">
              <a:buNone/>
            </a:pPr>
            <a:r>
              <a:rPr lang="en-US" sz="950" b="1" dirty="0">
                <a:solidFill>
                  <a:srgbClr val="0E9F9A"/>
                </a:solidFill>
                <a:latin typeface="Meiryo UI" pitchFamily="34" charset="0"/>
                <a:ea typeface="Meiryo UI" pitchFamily="34" charset="-122"/>
                <a:cs typeface="Meiryo UI" pitchFamily="34" charset="-120"/>
              </a:rPr>
              <a:t>AIが処理</a:t>
            </a:r>
            <a:endParaRPr lang="en-US" sz="950" dirty="0"/>
          </a:p>
        </p:txBody>
      </p:sp>
      <p:sp>
        <p:nvSpPr>
          <p:cNvPr id="18" name="Text 16"/>
          <p:cNvSpPr txBox="1"/>
          <p:nvPr/>
        </p:nvSpPr>
        <p:spPr>
          <a:xfrm>
            <a:off x="9509760" y="2331720"/>
            <a:ext cx="2103120" cy="256032"/>
          </a:xfrm>
          <a:prstGeom prst="rect">
            <a:avLst/>
          </a:prstGeom>
          <a:noFill/>
          <a:ln/>
        </p:spPr>
        <p:txBody>
          <a:bodyPr wrap="square" lIns="0" tIns="0" rIns="0" bIns="0" rtlCol="0" anchor="t"/>
          <a:lstStyle/>
          <a:p>
            <a:pPr algn="ctr" indent="0" marL="0">
              <a:buNone/>
            </a:pPr>
            <a:r>
              <a:rPr lang="en-US" sz="950" b="1" dirty="0">
                <a:solidFill>
                  <a:srgbClr val="E8912D"/>
                </a:solidFill>
                <a:latin typeface="Meiryo UI" pitchFamily="34" charset="0"/>
                <a:ea typeface="Meiryo UI" pitchFamily="34" charset="-122"/>
                <a:cs typeface="Meiryo UI" pitchFamily="34" charset="-120"/>
              </a:rPr>
              <a:t>人が操作</a:t>
            </a:r>
            <a:endParaRPr lang="en-US" sz="950" dirty="0"/>
          </a:p>
        </p:txBody>
      </p:sp>
      <p:sp>
        <p:nvSpPr>
          <p:cNvPr id="19" name="Shape 17"/>
          <p:cNvSpPr/>
          <p:nvPr/>
        </p:nvSpPr>
        <p:spPr>
          <a:xfrm>
            <a:off x="548640" y="2788920"/>
            <a:ext cx="6583680" cy="3520440"/>
          </a:xfrm>
          <a:prstGeom prst="roundRect">
            <a:avLst>
              <a:gd name="adj" fmla="val 1558"/>
            </a:avLst>
          </a:prstGeom>
          <a:solidFill>
            <a:srgbClr val="F3F5F8"/>
          </a:solidFill>
          <a:ln/>
        </p:spPr>
      </p:sp>
      <p:pic>
        <p:nvPicPr>
          <p:cNvPr id="20" name="Image 0" descr="preencoded.png">    </p:cNvPr>
          <p:cNvPicPr>
            <a:picLocks noChangeAspect="1"/>
          </p:cNvPicPr>
          <p:nvPr/>
        </p:nvPicPr>
        <p:blipFill>
          <a:blip r:embed="rId1"/>
          <a:stretch>
            <a:fillRect/>
          </a:stretch>
        </p:blipFill>
        <p:spPr>
          <a:xfrm>
            <a:off x="731520" y="2926080"/>
            <a:ext cx="365760" cy="365760"/>
          </a:xfrm>
          <a:prstGeom prst="rect">
            <a:avLst/>
          </a:prstGeom>
        </p:spPr>
      </p:pic>
      <p:sp>
        <p:nvSpPr>
          <p:cNvPr id="21" name="Text 18"/>
          <p:cNvSpPr txBox="1"/>
          <p:nvPr/>
        </p:nvSpPr>
        <p:spPr>
          <a:xfrm>
            <a:off x="1188720" y="2926080"/>
            <a:ext cx="4572000" cy="365760"/>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配信カードの欄の持ち方</a:t>
            </a:r>
            <a:endParaRPr lang="en-US" sz="1300" dirty="0"/>
          </a:p>
        </p:txBody>
      </p:sp>
      <p:sp>
        <p:nvSpPr>
          <p:cNvPr id="22" name="Shape 19"/>
          <p:cNvSpPr/>
          <p:nvPr/>
        </p:nvSpPr>
        <p:spPr>
          <a:xfrm>
            <a:off x="777240" y="3474720"/>
            <a:ext cx="2651760" cy="2651760"/>
          </a:xfrm>
          <a:prstGeom prst="roundRect">
            <a:avLst>
              <a:gd name="adj" fmla="val 2069"/>
            </a:avLst>
          </a:prstGeom>
          <a:solidFill>
            <a:srgbClr val="FFFFFF"/>
          </a:solidFill>
          <a:ln w="12700">
            <a:solidFill>
              <a:srgbClr val="0E9F9A"/>
            </a:solidFill>
            <a:prstDash val="solid"/>
          </a:ln>
        </p:spPr>
      </p:sp>
      <p:sp>
        <p:nvSpPr>
          <p:cNvPr id="23" name="Shape 20"/>
          <p:cNvSpPr/>
          <p:nvPr/>
        </p:nvSpPr>
        <p:spPr>
          <a:xfrm>
            <a:off x="777240" y="3474720"/>
            <a:ext cx="2651760" cy="384048"/>
          </a:xfrm>
          <a:prstGeom prst="roundRect">
            <a:avLst>
              <a:gd name="adj" fmla="val 14286"/>
            </a:avLst>
          </a:prstGeom>
          <a:solidFill>
            <a:srgbClr val="0E9F9A"/>
          </a:solidFill>
          <a:ln/>
        </p:spPr>
      </p:sp>
      <p:sp>
        <p:nvSpPr>
          <p:cNvPr id="24" name="Text 21"/>
          <p:cNvSpPr txBox="1"/>
          <p:nvPr/>
        </p:nvSpPr>
        <p:spPr>
          <a:xfrm>
            <a:off x="777240" y="3474720"/>
            <a:ext cx="2651760" cy="384048"/>
          </a:xfrm>
          <a:prstGeom prst="rect">
            <a:avLst/>
          </a:prstGeom>
          <a:noFill/>
          <a:ln/>
        </p:spPr>
        <p:txBody>
          <a:bodyPr wrap="square" lIns="762" tIns="762" rIns="762" bIns="762" rtlCol="0" anchor="ctr"/>
          <a:lstStyle/>
          <a:p>
            <a:pPr algn="ctr" indent="0" marL="0">
              <a:buNone/>
            </a:pPr>
            <a:r>
              <a:rPr lang="en-US" sz="1150" b="1" dirty="0">
                <a:solidFill>
                  <a:srgbClr val="FFFFFF"/>
                </a:solidFill>
                <a:latin typeface="Meiryo UI" pitchFamily="34" charset="0"/>
                <a:ea typeface="Meiryo UI" pitchFamily="34" charset="-122"/>
                <a:cs typeface="Meiryo UI" pitchFamily="34" charset="-120"/>
              </a:rPr>
              <a:t>下書き用の欄</a:t>
            </a:r>
            <a:endParaRPr lang="en-US" sz="1150" dirty="0"/>
          </a:p>
        </p:txBody>
      </p:sp>
      <p:sp>
        <p:nvSpPr>
          <p:cNvPr id="25" name="Text 22"/>
          <p:cNvSpPr txBox="1"/>
          <p:nvPr/>
        </p:nvSpPr>
        <p:spPr>
          <a:xfrm>
            <a:off x="960120" y="3977640"/>
            <a:ext cx="2377440" cy="292608"/>
          </a:xfrm>
          <a:prstGeom prst="rect">
            <a:avLst/>
          </a:prstGeom>
          <a:noFill/>
          <a:ln/>
        </p:spPr>
        <p:txBody>
          <a:bodyPr wrap="square" lIns="0" tIns="0" rIns="0" bIns="0" rtlCol="0" anchor="ctr"/>
          <a:lstStyle/>
          <a:p>
            <a:pPr indent="0" marL="0">
              <a:buNone/>
            </a:pPr>
            <a:r>
              <a:rPr lang="en-US" sz="1050" dirty="0">
                <a:solidFill>
                  <a:srgbClr val="2B2B2B"/>
                </a:solidFill>
                <a:latin typeface="Meiryo UI" pitchFamily="34" charset="0"/>
                <a:ea typeface="Meiryo UI" pitchFamily="34" charset="-122"/>
                <a:cs typeface="Meiryo UI" pitchFamily="34" charset="-120"/>
              </a:rPr>
              <a:t>・テーマ案</a:t>
            </a:r>
            <a:endParaRPr lang="en-US" sz="1050" dirty="0"/>
          </a:p>
        </p:txBody>
      </p:sp>
      <p:sp>
        <p:nvSpPr>
          <p:cNvPr id="26" name="Text 23"/>
          <p:cNvSpPr txBox="1"/>
          <p:nvPr/>
        </p:nvSpPr>
        <p:spPr>
          <a:xfrm>
            <a:off x="960120" y="4306824"/>
            <a:ext cx="2377440" cy="292608"/>
          </a:xfrm>
          <a:prstGeom prst="rect">
            <a:avLst/>
          </a:prstGeom>
          <a:noFill/>
          <a:ln/>
        </p:spPr>
        <p:txBody>
          <a:bodyPr wrap="square" lIns="0" tIns="0" rIns="0" bIns="0" rtlCol="0" anchor="ctr"/>
          <a:lstStyle/>
          <a:p>
            <a:pPr indent="0" marL="0">
              <a:buNone/>
            </a:pPr>
            <a:r>
              <a:rPr lang="en-US" sz="1050" dirty="0">
                <a:solidFill>
                  <a:srgbClr val="2B2B2B"/>
                </a:solidFill>
                <a:latin typeface="Meiryo UI" pitchFamily="34" charset="0"/>
                <a:ea typeface="Meiryo UI" pitchFamily="34" charset="-122"/>
                <a:cs typeface="Meiryo UI" pitchFamily="34" charset="-120"/>
              </a:rPr>
              <a:t>・商品案</a:t>
            </a:r>
            <a:endParaRPr lang="en-US" sz="1050" dirty="0"/>
          </a:p>
        </p:txBody>
      </p:sp>
      <p:sp>
        <p:nvSpPr>
          <p:cNvPr id="27" name="Text 24"/>
          <p:cNvSpPr txBox="1"/>
          <p:nvPr/>
        </p:nvSpPr>
        <p:spPr>
          <a:xfrm>
            <a:off x="960120" y="4636008"/>
            <a:ext cx="2377440" cy="292608"/>
          </a:xfrm>
          <a:prstGeom prst="rect">
            <a:avLst/>
          </a:prstGeom>
          <a:noFill/>
          <a:ln/>
        </p:spPr>
        <p:txBody>
          <a:bodyPr wrap="square" lIns="0" tIns="0" rIns="0" bIns="0" rtlCol="0" anchor="ctr"/>
          <a:lstStyle/>
          <a:p>
            <a:pPr indent="0" marL="0">
              <a:buNone/>
            </a:pPr>
            <a:r>
              <a:rPr lang="en-US" sz="1050" dirty="0">
                <a:solidFill>
                  <a:srgbClr val="2B2B2B"/>
                </a:solidFill>
                <a:latin typeface="Meiryo UI" pitchFamily="34" charset="0"/>
                <a:ea typeface="Meiryo UI" pitchFamily="34" charset="-122"/>
                <a:cs typeface="Meiryo UI" pitchFamily="34" charset="-120"/>
              </a:rPr>
              <a:t>・コピー案</a:t>
            </a:r>
            <a:endParaRPr lang="en-US" sz="1050" dirty="0"/>
          </a:p>
        </p:txBody>
      </p:sp>
      <p:sp>
        <p:nvSpPr>
          <p:cNvPr id="28" name="Text 25"/>
          <p:cNvSpPr txBox="1"/>
          <p:nvPr/>
        </p:nvSpPr>
        <p:spPr>
          <a:xfrm>
            <a:off x="960120" y="4965192"/>
            <a:ext cx="2377440" cy="292608"/>
          </a:xfrm>
          <a:prstGeom prst="rect">
            <a:avLst/>
          </a:prstGeom>
          <a:noFill/>
          <a:ln/>
        </p:spPr>
        <p:txBody>
          <a:bodyPr wrap="square" lIns="0" tIns="0" rIns="0" bIns="0" rtlCol="0" anchor="ctr"/>
          <a:lstStyle/>
          <a:p>
            <a:pPr indent="0" marL="0">
              <a:buNone/>
            </a:pPr>
            <a:r>
              <a:rPr lang="en-US" sz="1050" dirty="0">
                <a:solidFill>
                  <a:srgbClr val="2B2B2B"/>
                </a:solidFill>
                <a:latin typeface="Meiryo UI" pitchFamily="34" charset="0"/>
                <a:ea typeface="Meiryo UI" pitchFamily="34" charset="-122"/>
                <a:cs typeface="Meiryo UI" pitchFamily="34" charset="-120"/>
              </a:rPr>
              <a:t>・制作指示案</a:t>
            </a:r>
            <a:endParaRPr lang="en-US" sz="1050" dirty="0"/>
          </a:p>
        </p:txBody>
      </p:sp>
      <p:pic>
        <p:nvPicPr>
          <p:cNvPr id="29" name="Image 1" descr="preencoded.png">    </p:cNvPr>
          <p:cNvPicPr>
            <a:picLocks noChangeAspect="1"/>
          </p:cNvPicPr>
          <p:nvPr/>
        </p:nvPicPr>
        <p:blipFill>
          <a:blip r:embed="rId2"/>
          <a:stretch>
            <a:fillRect/>
          </a:stretch>
        </p:blipFill>
        <p:spPr>
          <a:xfrm>
            <a:off x="960120" y="5669280"/>
            <a:ext cx="274320" cy="274320"/>
          </a:xfrm>
          <a:prstGeom prst="rect">
            <a:avLst/>
          </a:prstGeom>
        </p:spPr>
      </p:pic>
      <p:sp>
        <p:nvSpPr>
          <p:cNvPr id="30" name="Text 26"/>
          <p:cNvSpPr txBox="1"/>
          <p:nvPr/>
        </p:nvSpPr>
        <p:spPr>
          <a:xfrm>
            <a:off x="1307592" y="5623560"/>
            <a:ext cx="2011680" cy="365760"/>
          </a:xfrm>
          <a:prstGeom prst="rect">
            <a:avLst/>
          </a:prstGeom>
          <a:noFill/>
          <a:ln/>
        </p:spPr>
        <p:txBody>
          <a:bodyPr wrap="square" lIns="0" tIns="0" rIns="0" bIns="0" rtlCol="0" anchor="ctr"/>
          <a:lstStyle/>
          <a:p>
            <a:pPr indent="0" marL="0">
              <a:buNone/>
            </a:pPr>
            <a:r>
              <a:rPr lang="en-US" sz="950" b="1" dirty="0">
                <a:solidFill>
                  <a:srgbClr val="0E9F9A"/>
                </a:solidFill>
                <a:latin typeface="Meiryo UI" pitchFamily="34" charset="0"/>
                <a:ea typeface="Meiryo UI" pitchFamily="34" charset="-122"/>
                <a:cs typeface="Meiryo UI" pitchFamily="34" charset="-120"/>
              </a:rPr>
              <a:t>AIが書き込む</a:t>
            </a:r>
            <a:endParaRPr lang="en-US" sz="950" dirty="0"/>
          </a:p>
        </p:txBody>
      </p:sp>
      <p:sp>
        <p:nvSpPr>
          <p:cNvPr id="31" name="Shape 27"/>
          <p:cNvSpPr/>
          <p:nvPr/>
        </p:nvSpPr>
        <p:spPr>
          <a:xfrm>
            <a:off x="3474720" y="4754880"/>
            <a:ext cx="731520" cy="0"/>
          </a:xfrm>
          <a:prstGeom prst="line">
            <a:avLst/>
          </a:prstGeom>
          <a:noFill/>
          <a:ln w="25400">
            <a:solidFill>
              <a:srgbClr val="E8912D"/>
            </a:solidFill>
            <a:prstDash val="solid"/>
            <a:tailEnd type="triangle"/>
          </a:ln>
        </p:spPr>
      </p:sp>
      <p:sp>
        <p:nvSpPr>
          <p:cNvPr id="32" name="Text 28"/>
          <p:cNvSpPr txBox="1"/>
          <p:nvPr/>
        </p:nvSpPr>
        <p:spPr>
          <a:xfrm>
            <a:off x="3108960" y="4462272"/>
            <a:ext cx="1463040" cy="237744"/>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確定操作</a:t>
            </a:r>
            <a:endParaRPr lang="en-US" sz="850" dirty="0"/>
          </a:p>
        </p:txBody>
      </p:sp>
      <p:sp>
        <p:nvSpPr>
          <p:cNvPr id="33" name="Shape 29"/>
          <p:cNvSpPr/>
          <p:nvPr/>
        </p:nvSpPr>
        <p:spPr>
          <a:xfrm>
            <a:off x="4251960" y="3474720"/>
            <a:ext cx="2651760" cy="2651760"/>
          </a:xfrm>
          <a:prstGeom prst="roundRect">
            <a:avLst>
              <a:gd name="adj" fmla="val 2069"/>
            </a:avLst>
          </a:prstGeom>
          <a:solidFill>
            <a:srgbClr val="FFFFFF"/>
          </a:solidFill>
          <a:ln w="12700">
            <a:solidFill>
              <a:srgbClr val="E8912D"/>
            </a:solidFill>
            <a:prstDash val="solid"/>
          </a:ln>
        </p:spPr>
      </p:sp>
      <p:sp>
        <p:nvSpPr>
          <p:cNvPr id="34" name="Shape 30"/>
          <p:cNvSpPr/>
          <p:nvPr/>
        </p:nvSpPr>
        <p:spPr>
          <a:xfrm>
            <a:off x="4251960" y="3474720"/>
            <a:ext cx="2651760" cy="384048"/>
          </a:xfrm>
          <a:prstGeom prst="roundRect">
            <a:avLst>
              <a:gd name="adj" fmla="val 14286"/>
            </a:avLst>
          </a:prstGeom>
          <a:solidFill>
            <a:srgbClr val="E8912D"/>
          </a:solidFill>
          <a:ln/>
        </p:spPr>
      </p:sp>
      <p:sp>
        <p:nvSpPr>
          <p:cNvPr id="35" name="Text 31"/>
          <p:cNvSpPr txBox="1"/>
          <p:nvPr/>
        </p:nvSpPr>
        <p:spPr>
          <a:xfrm>
            <a:off x="4251960" y="3474720"/>
            <a:ext cx="2651760" cy="384048"/>
          </a:xfrm>
          <a:prstGeom prst="rect">
            <a:avLst/>
          </a:prstGeom>
          <a:noFill/>
          <a:ln/>
        </p:spPr>
        <p:txBody>
          <a:bodyPr wrap="square" lIns="762" tIns="762" rIns="762" bIns="762" rtlCol="0" anchor="ctr"/>
          <a:lstStyle/>
          <a:p>
            <a:pPr algn="ctr" indent="0" marL="0">
              <a:buNone/>
            </a:pPr>
            <a:r>
              <a:rPr lang="en-US" sz="1150" b="1" dirty="0">
                <a:solidFill>
                  <a:srgbClr val="FFFFFF"/>
                </a:solidFill>
                <a:latin typeface="Meiryo UI" pitchFamily="34" charset="0"/>
                <a:ea typeface="Meiryo UI" pitchFamily="34" charset="-122"/>
                <a:cs typeface="Meiryo UI" pitchFamily="34" charset="-120"/>
              </a:rPr>
              <a:t>確定用の欄</a:t>
            </a:r>
            <a:endParaRPr lang="en-US" sz="1150" dirty="0"/>
          </a:p>
        </p:txBody>
      </p:sp>
      <p:sp>
        <p:nvSpPr>
          <p:cNvPr id="36" name="Text 32"/>
          <p:cNvSpPr txBox="1"/>
          <p:nvPr/>
        </p:nvSpPr>
        <p:spPr>
          <a:xfrm>
            <a:off x="4434840" y="3977640"/>
            <a:ext cx="2377440" cy="292608"/>
          </a:xfrm>
          <a:prstGeom prst="rect">
            <a:avLst/>
          </a:prstGeom>
          <a:noFill/>
          <a:ln/>
        </p:spPr>
        <p:txBody>
          <a:bodyPr wrap="square" lIns="0" tIns="0" rIns="0" bIns="0" rtlCol="0" anchor="ctr"/>
          <a:lstStyle/>
          <a:p>
            <a:pPr indent="0" marL="0">
              <a:buNone/>
            </a:pPr>
            <a:r>
              <a:rPr lang="en-US" sz="1050" dirty="0">
                <a:solidFill>
                  <a:srgbClr val="2B2B2B"/>
                </a:solidFill>
                <a:latin typeface="Meiryo UI" pitchFamily="34" charset="0"/>
                <a:ea typeface="Meiryo UI" pitchFamily="34" charset="-122"/>
                <a:cs typeface="Meiryo UI" pitchFamily="34" charset="-120"/>
              </a:rPr>
              <a:t>・テーマ</a:t>
            </a:r>
            <a:endParaRPr lang="en-US" sz="1050" dirty="0"/>
          </a:p>
        </p:txBody>
      </p:sp>
      <p:sp>
        <p:nvSpPr>
          <p:cNvPr id="37" name="Text 33"/>
          <p:cNvSpPr txBox="1"/>
          <p:nvPr/>
        </p:nvSpPr>
        <p:spPr>
          <a:xfrm>
            <a:off x="4434840" y="4306824"/>
            <a:ext cx="2377440" cy="292608"/>
          </a:xfrm>
          <a:prstGeom prst="rect">
            <a:avLst/>
          </a:prstGeom>
          <a:noFill/>
          <a:ln/>
        </p:spPr>
        <p:txBody>
          <a:bodyPr wrap="square" lIns="0" tIns="0" rIns="0" bIns="0" rtlCol="0" anchor="ctr"/>
          <a:lstStyle/>
          <a:p>
            <a:pPr indent="0" marL="0">
              <a:buNone/>
            </a:pPr>
            <a:r>
              <a:rPr lang="en-US" sz="1050" dirty="0">
                <a:solidFill>
                  <a:srgbClr val="2B2B2B"/>
                </a:solidFill>
                <a:latin typeface="Meiryo UI" pitchFamily="34" charset="0"/>
                <a:ea typeface="Meiryo UI" pitchFamily="34" charset="-122"/>
                <a:cs typeface="Meiryo UI" pitchFamily="34" charset="-120"/>
              </a:rPr>
              <a:t>・掲載商品</a:t>
            </a:r>
            <a:endParaRPr lang="en-US" sz="1050" dirty="0"/>
          </a:p>
        </p:txBody>
      </p:sp>
      <p:sp>
        <p:nvSpPr>
          <p:cNvPr id="38" name="Text 34"/>
          <p:cNvSpPr txBox="1"/>
          <p:nvPr/>
        </p:nvSpPr>
        <p:spPr>
          <a:xfrm>
            <a:off x="4434840" y="4636008"/>
            <a:ext cx="2377440" cy="292608"/>
          </a:xfrm>
          <a:prstGeom prst="rect">
            <a:avLst/>
          </a:prstGeom>
          <a:noFill/>
          <a:ln/>
        </p:spPr>
        <p:txBody>
          <a:bodyPr wrap="square" lIns="0" tIns="0" rIns="0" bIns="0" rtlCol="0" anchor="ctr"/>
          <a:lstStyle/>
          <a:p>
            <a:pPr indent="0" marL="0">
              <a:buNone/>
            </a:pPr>
            <a:r>
              <a:rPr lang="en-US" sz="1050" dirty="0">
                <a:solidFill>
                  <a:srgbClr val="2B2B2B"/>
                </a:solidFill>
                <a:latin typeface="Meiryo UI" pitchFamily="34" charset="0"/>
                <a:ea typeface="Meiryo UI" pitchFamily="34" charset="-122"/>
                <a:cs typeface="Meiryo UI" pitchFamily="34" charset="-120"/>
              </a:rPr>
              <a:t>・コピー</a:t>
            </a:r>
            <a:endParaRPr lang="en-US" sz="1050" dirty="0"/>
          </a:p>
        </p:txBody>
      </p:sp>
      <p:sp>
        <p:nvSpPr>
          <p:cNvPr id="39" name="Text 35"/>
          <p:cNvSpPr txBox="1"/>
          <p:nvPr/>
        </p:nvSpPr>
        <p:spPr>
          <a:xfrm>
            <a:off x="4434840" y="4965192"/>
            <a:ext cx="2377440" cy="292608"/>
          </a:xfrm>
          <a:prstGeom prst="rect">
            <a:avLst/>
          </a:prstGeom>
          <a:noFill/>
          <a:ln/>
        </p:spPr>
        <p:txBody>
          <a:bodyPr wrap="square" lIns="0" tIns="0" rIns="0" bIns="0" rtlCol="0" anchor="ctr"/>
          <a:lstStyle/>
          <a:p>
            <a:pPr indent="0" marL="0">
              <a:buNone/>
            </a:pPr>
            <a:r>
              <a:rPr lang="en-US" sz="1050" dirty="0">
                <a:solidFill>
                  <a:srgbClr val="2B2B2B"/>
                </a:solidFill>
                <a:latin typeface="Meiryo UI" pitchFamily="34" charset="0"/>
                <a:ea typeface="Meiryo UI" pitchFamily="34" charset="-122"/>
                <a:cs typeface="Meiryo UI" pitchFamily="34" charset="-120"/>
              </a:rPr>
              <a:t>・制作指示</a:t>
            </a:r>
            <a:endParaRPr lang="en-US" sz="1050" dirty="0"/>
          </a:p>
        </p:txBody>
      </p:sp>
      <p:pic>
        <p:nvPicPr>
          <p:cNvPr id="40" name="Image 2" descr="preencoded.png">    </p:cNvPr>
          <p:cNvPicPr>
            <a:picLocks noChangeAspect="1"/>
          </p:cNvPicPr>
          <p:nvPr/>
        </p:nvPicPr>
        <p:blipFill>
          <a:blip r:embed="rId3"/>
          <a:stretch>
            <a:fillRect/>
          </a:stretch>
        </p:blipFill>
        <p:spPr>
          <a:xfrm>
            <a:off x="4434840" y="5669280"/>
            <a:ext cx="274320" cy="274320"/>
          </a:xfrm>
          <a:prstGeom prst="rect">
            <a:avLst/>
          </a:prstGeom>
        </p:spPr>
      </p:pic>
      <p:sp>
        <p:nvSpPr>
          <p:cNvPr id="41" name="Text 36"/>
          <p:cNvSpPr txBox="1"/>
          <p:nvPr/>
        </p:nvSpPr>
        <p:spPr>
          <a:xfrm>
            <a:off x="4782312" y="5623560"/>
            <a:ext cx="2011680" cy="365760"/>
          </a:xfrm>
          <a:prstGeom prst="rect">
            <a:avLst/>
          </a:prstGeom>
          <a:noFill/>
          <a:ln/>
        </p:spPr>
        <p:txBody>
          <a:bodyPr wrap="square" lIns="0" tIns="0" rIns="0" bIns="0" rtlCol="0" anchor="ctr"/>
          <a:lstStyle/>
          <a:p>
            <a:pPr indent="0" marL="0">
              <a:buNone/>
            </a:pPr>
            <a:r>
              <a:rPr lang="en-US" sz="950" b="1" dirty="0">
                <a:solidFill>
                  <a:srgbClr val="E8912D"/>
                </a:solidFill>
                <a:latin typeface="Meiryo UI" pitchFamily="34" charset="0"/>
                <a:ea typeface="Meiryo UI" pitchFamily="34" charset="-122"/>
                <a:cs typeface="Meiryo UI" pitchFamily="34" charset="-120"/>
              </a:rPr>
              <a:t>人の操作でのみ反映</a:t>
            </a:r>
            <a:endParaRPr lang="en-US" sz="950" dirty="0"/>
          </a:p>
        </p:txBody>
      </p:sp>
      <p:sp>
        <p:nvSpPr>
          <p:cNvPr id="42" name="Shape 37"/>
          <p:cNvSpPr/>
          <p:nvPr/>
        </p:nvSpPr>
        <p:spPr>
          <a:xfrm>
            <a:off x="7315200" y="2788920"/>
            <a:ext cx="4297680" cy="3520440"/>
          </a:xfrm>
          <a:prstGeom prst="roundRect">
            <a:avLst>
              <a:gd name="adj" fmla="val 1558"/>
            </a:avLst>
          </a:prstGeom>
          <a:solidFill>
            <a:srgbClr val="FDEBD3"/>
          </a:solidFill>
          <a:ln/>
        </p:spPr>
      </p:sp>
      <p:sp>
        <p:nvSpPr>
          <p:cNvPr id="43" name="Shape 38"/>
          <p:cNvSpPr/>
          <p:nvPr/>
        </p:nvSpPr>
        <p:spPr>
          <a:xfrm>
            <a:off x="7452360" y="2907792"/>
            <a:ext cx="384048" cy="384048"/>
          </a:xfrm>
          <a:prstGeom prst="ellipse">
            <a:avLst/>
          </a:prstGeom>
          <a:solidFill>
            <a:srgbClr val="FFFFFF"/>
          </a:solidFill>
          <a:ln/>
        </p:spPr>
      </p:sp>
      <p:pic>
        <p:nvPicPr>
          <p:cNvPr id="44" name="Image 3" descr="preencoded.png">    </p:cNvPr>
          <p:cNvPicPr>
            <a:picLocks noChangeAspect="1"/>
          </p:cNvPicPr>
          <p:nvPr/>
        </p:nvPicPr>
        <p:blipFill>
          <a:blip r:embed="rId4"/>
          <a:stretch>
            <a:fillRect/>
          </a:stretch>
        </p:blipFill>
        <p:spPr>
          <a:xfrm>
            <a:off x="7529170" y="2984602"/>
            <a:ext cx="230429" cy="230429"/>
          </a:xfrm>
          <a:prstGeom prst="rect">
            <a:avLst/>
          </a:prstGeom>
        </p:spPr>
      </p:pic>
      <p:sp>
        <p:nvSpPr>
          <p:cNvPr id="45" name="Text 39"/>
          <p:cNvSpPr txBox="1"/>
          <p:nvPr/>
        </p:nvSpPr>
        <p:spPr>
          <a:xfrm>
            <a:off x="7909560" y="2907792"/>
            <a:ext cx="361188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以降のすべてのパターンの前提</a:t>
            </a:r>
            <a:endParaRPr lang="en-US" sz="1300" dirty="0"/>
          </a:p>
        </p:txBody>
      </p:sp>
      <p:sp>
        <p:nvSpPr>
          <p:cNvPr id="46" name="Text 40"/>
          <p:cNvSpPr txBox="1"/>
          <p:nvPr/>
        </p:nvSpPr>
        <p:spPr>
          <a:xfrm>
            <a:off x="7498080" y="3392424"/>
            <a:ext cx="3977640" cy="2825496"/>
          </a:xfrm>
          <a:prstGeom prst="rect">
            <a:avLst/>
          </a:prstGeom>
          <a:noFill/>
          <a:ln/>
        </p:spPr>
        <p:txBody>
          <a:bodyPr wrap="square" lIns="254" tIns="254" rIns="254" bIns="254" rtlCol="0" anchor="t"/>
          <a:lstStyle/>
          <a:p>
            <a:pPr marL="152400" indent="-152400">
              <a:spcAft>
                <a:spcPts val="800"/>
              </a:spcAft>
              <a:buSzPct val="100000"/>
              <a:buChar char="•"/>
            </a:pPr>
            <a:r>
              <a:rPr lang="en-US" sz="1150" dirty="0">
                <a:solidFill>
                  <a:srgbClr val="2B2B2B"/>
                </a:solidFill>
                <a:latin typeface="Meiryo UI" pitchFamily="34" charset="0"/>
                <a:ea typeface="Meiryo UI" pitchFamily="34" charset="-122"/>
                <a:cs typeface="Meiryo UI" pitchFamily="34" charset="-120"/>
              </a:rPr>
              <a:t>カードに下書き用の欄と確定用の欄を分けて持つ</a:t>
            </a:r>
            <a:endParaRPr lang="en-US" sz="1150" dirty="0"/>
          </a:p>
          <a:p>
            <a:pPr marL="152400" indent="-152400">
              <a:spcAft>
                <a:spcPts val="800"/>
              </a:spcAft>
              <a:buSzPct val="100000"/>
              <a:buChar char="•"/>
            </a:pPr>
            <a:r>
              <a:rPr lang="en-US" sz="1150" dirty="0">
                <a:solidFill>
                  <a:srgbClr val="2B2B2B"/>
                </a:solidFill>
                <a:latin typeface="Meiryo UI" pitchFamily="34" charset="0"/>
                <a:ea typeface="Meiryo UI" pitchFamily="34" charset="-122"/>
                <a:cs typeface="Meiryo UI" pitchFamily="34" charset="-120"/>
              </a:rPr>
              <a:t>ステータス欄で状態を管理する</a:t>
            </a:r>
            <a:endParaRPr lang="en-US" sz="1150" dirty="0"/>
          </a:p>
          <a:p>
            <a:pPr marL="152400" indent="-152400">
              <a:spcAft>
                <a:spcPts val="800"/>
              </a:spcAft>
              <a:buSzPct val="100000"/>
              <a:buChar char="•"/>
            </a:pPr>
            <a:r>
              <a:rPr lang="en-US" sz="1150" dirty="0">
                <a:solidFill>
                  <a:srgbClr val="2B2B2B"/>
                </a:solidFill>
                <a:latin typeface="Meiryo UI" pitchFamily="34" charset="0"/>
                <a:ea typeface="Meiryo UI" pitchFamily="34" charset="-122"/>
                <a:cs typeface="Meiryo UI" pitchFamily="34" charset="-120"/>
              </a:rPr>
              <a:t>下書きから確定欄への反映（確定操作）は、人の操作でのみ行う</a:t>
            </a:r>
            <a:endParaRPr lang="en-US" sz="1150" dirty="0"/>
          </a:p>
          <a:p>
            <a:pPr marL="152400" indent="-152400">
              <a:spcAft>
                <a:spcPts val="800"/>
              </a:spcAft>
              <a:buSzPct val="100000"/>
              <a:buChar char="•"/>
            </a:pPr>
            <a:r>
              <a:rPr lang="en-US" sz="1150" dirty="0">
                <a:solidFill>
                  <a:srgbClr val="2B2B2B"/>
                </a:solidFill>
                <a:latin typeface="Meiryo UI" pitchFamily="34" charset="0"/>
                <a:ea typeface="Meiryo UI" pitchFamily="34" charset="-122"/>
                <a:cs typeface="Meiryo UI" pitchFamily="34" charset="-120"/>
              </a:rPr>
              <a:t>AIの回答は確定情報とはしない</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Copilotのエージェントは2種類あり、できることが大きく違う</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Airtableへの自動書き込みや自動起動を伴う方式は、Copilot Studioのエージェントが前提になる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0. 前提</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a:t>
            </a:r>
            <a:endParaRPr lang="en-US" sz="900" dirty="0"/>
          </a:p>
        </p:txBody>
      </p:sp>
      <p:sp>
        <p:nvSpPr>
          <p:cNvPr id="6" name="Shape 4"/>
          <p:cNvSpPr/>
          <p:nvPr/>
        </p:nvSpPr>
        <p:spPr>
          <a:xfrm>
            <a:off x="2834640" y="1417320"/>
            <a:ext cx="4297680" cy="548640"/>
          </a:xfrm>
          <a:prstGeom prst="roundRect">
            <a:avLst>
              <a:gd name="adj" fmla="val 13333"/>
            </a:avLst>
          </a:prstGeom>
          <a:solidFill>
            <a:srgbClr val="E5F0FA"/>
          </a:solidFill>
          <a:ln/>
        </p:spPr>
      </p:sp>
      <p:pic>
        <p:nvPicPr>
          <p:cNvPr id="7" name="Image 0" descr="preencoded.png">    </p:cNvPr>
          <p:cNvPicPr>
            <a:picLocks noChangeAspect="1"/>
          </p:cNvPicPr>
          <p:nvPr/>
        </p:nvPicPr>
        <p:blipFill>
          <a:blip r:embed="rId1"/>
          <a:stretch>
            <a:fillRect/>
          </a:stretch>
        </p:blipFill>
        <p:spPr>
          <a:xfrm>
            <a:off x="2944368" y="1527048"/>
            <a:ext cx="329184" cy="329184"/>
          </a:xfrm>
          <a:prstGeom prst="rect">
            <a:avLst/>
          </a:prstGeom>
        </p:spPr>
      </p:pic>
      <p:sp>
        <p:nvSpPr>
          <p:cNvPr id="8" name="Text 5"/>
          <p:cNvSpPr txBox="1"/>
          <p:nvPr/>
        </p:nvSpPr>
        <p:spPr>
          <a:xfrm>
            <a:off x="3364992" y="1417320"/>
            <a:ext cx="3721608" cy="548640"/>
          </a:xfrm>
          <a:prstGeom prst="rect">
            <a:avLst/>
          </a:prstGeom>
          <a:noFill/>
          <a:ln/>
        </p:spPr>
        <p:txBody>
          <a:bodyPr wrap="square" lIns="0" tIns="0" rIns="0" bIns="0" rtlCol="0" anchor="ctr"/>
          <a:lstStyle/>
          <a:p>
            <a:pPr algn="l" indent="0" marL="0">
              <a:buNone/>
            </a:pPr>
            <a:r>
              <a:rPr lang="en-US" sz="1200" b="1" dirty="0">
                <a:solidFill>
                  <a:srgbClr val="1B2A49"/>
                </a:solidFill>
                <a:latin typeface="Meiryo UI" pitchFamily="34" charset="0"/>
                <a:ea typeface="Meiryo UI" pitchFamily="34" charset="-122"/>
                <a:cs typeface="Meiryo UI" pitchFamily="34" charset="-120"/>
              </a:rPr>
              <a:t>Agent Builder</a:t>
            </a:r>
            <a:endParaRPr lang="en-US" sz="1200" dirty="0"/>
          </a:p>
          <a:p>
            <a:pPr algn="l" indent="0" marL="0">
              <a:buNone/>
            </a:pPr>
            <a:r>
              <a:rPr lang="en-US" sz="900" dirty="0">
                <a:solidFill>
                  <a:srgbClr val="6B7280"/>
                </a:solidFill>
                <a:latin typeface="Meiryo UI" pitchFamily="34" charset="0"/>
                <a:ea typeface="Meiryo UI" pitchFamily="34" charset="-122"/>
                <a:cs typeface="Meiryo UI" pitchFamily="34" charset="-120"/>
              </a:rPr>
              <a:t>M365 Copilotに含まれる</a:t>
            </a:r>
            <a:endParaRPr lang="en-US" sz="1200" dirty="0"/>
          </a:p>
        </p:txBody>
      </p:sp>
      <p:sp>
        <p:nvSpPr>
          <p:cNvPr id="9" name="Shape 6"/>
          <p:cNvSpPr/>
          <p:nvPr/>
        </p:nvSpPr>
        <p:spPr>
          <a:xfrm>
            <a:off x="7269480" y="1417320"/>
            <a:ext cx="4343400" cy="548640"/>
          </a:xfrm>
          <a:prstGeom prst="roundRect">
            <a:avLst>
              <a:gd name="adj" fmla="val 13333"/>
            </a:avLst>
          </a:prstGeom>
          <a:solidFill>
            <a:srgbClr val="EEEAF8"/>
          </a:solidFill>
          <a:ln/>
        </p:spPr>
      </p:sp>
      <p:pic>
        <p:nvPicPr>
          <p:cNvPr id="10" name="Image 1" descr="preencoded.png">    </p:cNvPr>
          <p:cNvPicPr>
            <a:picLocks noChangeAspect="1"/>
          </p:cNvPicPr>
          <p:nvPr/>
        </p:nvPicPr>
        <p:blipFill>
          <a:blip r:embed="rId2"/>
          <a:stretch>
            <a:fillRect/>
          </a:stretch>
        </p:blipFill>
        <p:spPr>
          <a:xfrm>
            <a:off x="7379208" y="1527048"/>
            <a:ext cx="329184" cy="329184"/>
          </a:xfrm>
          <a:prstGeom prst="rect">
            <a:avLst/>
          </a:prstGeom>
        </p:spPr>
      </p:pic>
      <p:sp>
        <p:nvSpPr>
          <p:cNvPr id="11" name="Text 7"/>
          <p:cNvSpPr txBox="1"/>
          <p:nvPr/>
        </p:nvSpPr>
        <p:spPr>
          <a:xfrm>
            <a:off x="7799832" y="1417320"/>
            <a:ext cx="3767328" cy="548640"/>
          </a:xfrm>
          <a:prstGeom prst="rect">
            <a:avLst/>
          </a:prstGeom>
          <a:noFill/>
          <a:ln/>
        </p:spPr>
        <p:txBody>
          <a:bodyPr wrap="square" lIns="0" tIns="0" rIns="0" bIns="0" rtlCol="0" anchor="ctr"/>
          <a:lstStyle/>
          <a:p>
            <a:pPr algn="l" indent="0" marL="0">
              <a:buNone/>
            </a:pPr>
            <a:r>
              <a:rPr lang="en-US" sz="1200" b="1" dirty="0">
                <a:solidFill>
                  <a:srgbClr val="1B2A49"/>
                </a:solidFill>
                <a:latin typeface="Meiryo UI" pitchFamily="34" charset="0"/>
                <a:ea typeface="Meiryo UI" pitchFamily="34" charset="-122"/>
                <a:cs typeface="Meiryo UI" pitchFamily="34" charset="-120"/>
              </a:rPr>
              <a:t>Copilot Studio</a:t>
            </a:r>
            <a:endParaRPr lang="en-US" sz="1200" dirty="0"/>
          </a:p>
          <a:p>
            <a:pPr algn="l" indent="0" marL="0">
              <a:buNone/>
            </a:pPr>
            <a:r>
              <a:rPr lang="en-US" sz="900" dirty="0">
                <a:solidFill>
                  <a:srgbClr val="6B7280"/>
                </a:solidFill>
                <a:latin typeface="Meiryo UI" pitchFamily="34" charset="0"/>
                <a:ea typeface="Meiryo UI" pitchFamily="34" charset="-122"/>
                <a:cs typeface="Meiryo UI" pitchFamily="34" charset="-120"/>
              </a:rPr>
              <a:t>別製品（利用量に応じてCopilotクレジット）</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11064240" cy="914400"/>
        </p:xfrm>
        <a:graphic>
          <a:graphicData uri="http://schemas.openxmlformats.org/drawingml/2006/table">
            <a:tbl>
              <a:tblPr/>
              <a:tblGrid>
                <a:gridCol w="2286000"/>
                <a:gridCol w="4389120"/>
                <a:gridCol w="4389120"/>
              </a:tblGrid>
              <a:tr h="384048">
                <a:tc>
                  <a:txBody>
                    <a:bodyPr/>
                    <a:lstStyle/>
                    <a:p>
                      <a:pPr algn="ctr" indent="0" marL="0">
                        <a:buNone/>
                      </a:pPr>
                      <a:r>
                        <a:rPr lang="en-US" sz="1200" b="1" dirty="0">
                          <a:solidFill>
                            <a:srgbClr val="FFFFFF"/>
                          </a:solidFill>
                          <a:latin typeface="Meiryo UI" pitchFamily="34" charset="0"/>
                          <a:ea typeface="Meiryo UI" pitchFamily="34" charset="-122"/>
                          <a:cs typeface="Meiryo UI" pitchFamily="34" charset="-120"/>
                        </a:rPr>
                        <a:t>観点</a:t>
                      </a:r>
                      <a:endParaRPr lang="en-US" sz="12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algn="ctr" indent="0" marL="0">
                        <a:buNone/>
                      </a:pPr>
                      <a:r>
                        <a:rPr lang="en-US" sz="1200" b="1" dirty="0">
                          <a:solidFill>
                            <a:srgbClr val="FFFFFF"/>
                          </a:solidFill>
                          <a:latin typeface="Meiryo UI" pitchFamily="34" charset="0"/>
                          <a:ea typeface="Meiryo UI" pitchFamily="34" charset="-122"/>
                          <a:cs typeface="Meiryo UI" pitchFamily="34" charset="-120"/>
                        </a:rPr>
                        <a:t>Agent Builder</a:t>
                      </a:r>
                      <a:endParaRPr lang="en-US" sz="12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algn="ctr" indent="0" marL="0">
                        <a:buNone/>
                      </a:pPr>
                      <a:r>
                        <a:rPr lang="en-US" sz="1200" b="1" dirty="0">
                          <a:solidFill>
                            <a:srgbClr val="FFFFFF"/>
                          </a:solidFill>
                          <a:latin typeface="Meiryo UI" pitchFamily="34" charset="0"/>
                          <a:ea typeface="Meiryo UI" pitchFamily="34" charset="-122"/>
                          <a:cs typeface="Meiryo UI" pitchFamily="34" charset="-120"/>
                        </a:rPr>
                        <a:t>Copilot Studio</a:t>
                      </a:r>
                      <a:endParaRPr lang="en-US" sz="12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r>
              <a:tr h="566928">
                <a:tc>
                  <a:txBody>
                    <a:bodyPr/>
                    <a:lstStyle/>
                    <a:p>
                      <a:pPr indent="0" marL="0">
                        <a:buNone/>
                      </a:pPr>
                      <a:r>
                        <a:rPr lang="en-US" sz="1200" b="1" dirty="0">
                          <a:solidFill>
                            <a:srgbClr val="1B2A49"/>
                          </a:solidFill>
                          <a:latin typeface="Meiryo UI" pitchFamily="34" charset="0"/>
                          <a:ea typeface="Meiryo UI" pitchFamily="34" charset="-122"/>
                          <a:cs typeface="Meiryo UI" pitchFamily="34" charset="-120"/>
                        </a:rPr>
                        <a:t>主な用途</a:t>
                      </a:r>
                      <a:endParaRPr lang="en-US" sz="12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1200" dirty="0">
                          <a:solidFill>
                            <a:srgbClr val="2B2B2B"/>
                          </a:solidFill>
                          <a:latin typeface="Meiryo UI" pitchFamily="34" charset="0"/>
                          <a:ea typeface="Meiryo UI" pitchFamily="34" charset="-122"/>
                          <a:cs typeface="Meiryo UI" pitchFamily="34" charset="-120"/>
                        </a:rPr>
                        <a:t>指示とナレッジを固定したQ&amp;A・文章生成</a:t>
                      </a:r>
                      <a:endParaRPr lang="en-US" sz="12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200" dirty="0">
                          <a:solidFill>
                            <a:srgbClr val="2B2B2B"/>
                          </a:solidFill>
                          <a:latin typeface="Meiryo UI" pitchFamily="34" charset="0"/>
                          <a:ea typeface="Meiryo UI" pitchFamily="34" charset="-122"/>
                          <a:cs typeface="Meiryo UI" pitchFamily="34" charset="-120"/>
                        </a:rPr>
                        <a:t>Q&amp;Aに加え、外部システムの操作・ワークフロー</a:t>
                      </a:r>
                      <a:endParaRPr lang="en-US" sz="12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566928">
                <a:tc>
                  <a:txBody>
                    <a:bodyPr/>
                    <a:lstStyle/>
                    <a:p>
                      <a:pPr indent="0" marL="0">
                        <a:buNone/>
                      </a:pPr>
                      <a:r>
                        <a:rPr lang="en-US" sz="1200" b="1" dirty="0">
                          <a:solidFill>
                            <a:srgbClr val="1B2A49"/>
                          </a:solidFill>
                          <a:latin typeface="Meiryo UI" pitchFamily="34" charset="0"/>
                          <a:ea typeface="Meiryo UI" pitchFamily="34" charset="-122"/>
                          <a:cs typeface="Meiryo UI" pitchFamily="34" charset="-120"/>
                        </a:rPr>
                        <a:t>外部システムへの書き込み</a:t>
                      </a:r>
                      <a:endParaRPr lang="en-US" sz="12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1200" b="1" dirty="0">
                          <a:solidFill>
                            <a:srgbClr val="D64545"/>
                          </a:solidFill>
                          <a:latin typeface="Meiryo UI" pitchFamily="34" charset="0"/>
                          <a:ea typeface="Meiryo UI" pitchFamily="34" charset="-122"/>
                          <a:cs typeface="Meiryo UI" pitchFamily="34" charset="-120"/>
                        </a:rPr>
                        <a:t>できない</a:t>
                      </a:r>
                      <a:endParaRPr lang="en-US" sz="12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200" dirty="0">
                          <a:solidFill>
                            <a:srgbClr val="2B2B2B"/>
                          </a:solidFill>
                          <a:latin typeface="Meiryo UI" pitchFamily="34" charset="0"/>
                          <a:ea typeface="Meiryo UI" pitchFamily="34" charset="-122"/>
                          <a:cs typeface="Meiryo UI" pitchFamily="34" charset="-120"/>
                        </a:rPr>
                        <a:t>できる（コネクタ、カスタムコネクタ、HTTP、MCP）</a:t>
                      </a:r>
                      <a:endParaRPr lang="en-US" sz="12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B2A49"/>
                          </a:solidFill>
                          <a:latin typeface="Meiryo UI" pitchFamily="34" charset="0"/>
                          <a:ea typeface="Meiryo UI" pitchFamily="34" charset="-122"/>
                          <a:cs typeface="Meiryo UI" pitchFamily="34" charset="-120"/>
                        </a:rPr>
                        <a:t>自動起動</a:t>
                      </a:r>
                      <a:endParaRPr lang="en-US" sz="12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1200" dirty="0">
                          <a:solidFill>
                            <a:srgbClr val="2B2B2B"/>
                          </a:solidFill>
                          <a:latin typeface="Meiryo UI" pitchFamily="34" charset="0"/>
                          <a:ea typeface="Meiryo UI" pitchFamily="34" charset="-122"/>
                          <a:cs typeface="Meiryo UI" pitchFamily="34" charset="-120"/>
                        </a:rPr>
                        <a:t>できない（人が話しかけて動く）</a:t>
                      </a:r>
                      <a:endParaRPr lang="en-US" sz="12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200" dirty="0">
                          <a:solidFill>
                            <a:srgbClr val="2B2B2B"/>
                          </a:solidFill>
                          <a:latin typeface="Meiryo UI" pitchFamily="34" charset="0"/>
                          <a:ea typeface="Meiryo UI" pitchFamily="34" charset="-122"/>
                          <a:cs typeface="Meiryo UI" pitchFamily="34" charset="-120"/>
                        </a:rPr>
                        <a:t>できる（イベントトリガー、Power Automateからの呼び出し）</a:t>
                      </a:r>
                      <a:endParaRPr lang="en-US" sz="12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566928">
                <a:tc>
                  <a:txBody>
                    <a:bodyPr/>
                    <a:lstStyle/>
                    <a:p>
                      <a:pPr indent="0" marL="0">
                        <a:buNone/>
                      </a:pPr>
                      <a:r>
                        <a:rPr lang="en-US" sz="1200" b="1" dirty="0">
                          <a:solidFill>
                            <a:srgbClr val="1B2A49"/>
                          </a:solidFill>
                          <a:latin typeface="Meiryo UI" pitchFamily="34" charset="0"/>
                          <a:ea typeface="Meiryo UI" pitchFamily="34" charset="-122"/>
                          <a:cs typeface="Meiryo UI" pitchFamily="34" charset="-120"/>
                        </a:rPr>
                        <a:t>追加費用</a:t>
                      </a:r>
                      <a:endParaRPr lang="en-US" sz="12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1200" dirty="0">
                          <a:solidFill>
                            <a:srgbClr val="2B2B2B"/>
                          </a:solidFill>
                          <a:latin typeface="Meiryo UI" pitchFamily="34" charset="0"/>
                          <a:ea typeface="Meiryo UI" pitchFamily="34" charset="-122"/>
                          <a:cs typeface="Meiryo UI" pitchFamily="34" charset="-120"/>
                        </a:rPr>
                        <a:t>なし（M365 Copilotのライセンスに含まれる）</a:t>
                      </a:r>
                      <a:endParaRPr lang="en-US" sz="12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200" dirty="0">
                          <a:solidFill>
                            <a:srgbClr val="2B2B2B"/>
                          </a:solidFill>
                          <a:latin typeface="Meiryo UI" pitchFamily="34" charset="0"/>
                          <a:ea typeface="Meiryo UI" pitchFamily="34" charset="-122"/>
                          <a:cs typeface="Meiryo UI" pitchFamily="34" charset="-120"/>
                        </a:rPr>
                        <a:t>利用量に応じてCopilotクレジット。M365 Copilotのライセンスを持つ本人がサインインした状態で動く場合は課金なし</a:t>
                      </a:r>
                      <a:endParaRPr lang="en-US" sz="12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
        <p:nvSpPr>
          <p:cNvPr id="13" name="Shape 8"/>
          <p:cNvSpPr/>
          <p:nvPr/>
        </p:nvSpPr>
        <p:spPr>
          <a:xfrm>
            <a:off x="548640" y="5166360"/>
            <a:ext cx="11064240" cy="1097280"/>
          </a:xfrm>
          <a:prstGeom prst="roundRect">
            <a:avLst>
              <a:gd name="adj" fmla="val 5000"/>
            </a:avLst>
          </a:prstGeom>
          <a:solidFill>
            <a:srgbClr val="D9F2F1"/>
          </a:solidFill>
          <a:ln/>
        </p:spPr>
      </p:sp>
      <p:sp>
        <p:nvSpPr>
          <p:cNvPr id="14" name="Shape 9"/>
          <p:cNvSpPr/>
          <p:nvPr/>
        </p:nvSpPr>
        <p:spPr>
          <a:xfrm>
            <a:off x="731520" y="5394960"/>
            <a:ext cx="548640" cy="548640"/>
          </a:xfrm>
          <a:prstGeom prst="ellipse">
            <a:avLst/>
          </a:prstGeom>
          <a:solidFill>
            <a:srgbClr val="FFFFFF"/>
          </a:solidFill>
          <a:ln/>
        </p:spPr>
      </p:sp>
      <p:pic>
        <p:nvPicPr>
          <p:cNvPr id="15" name="Image 2" descr="preencoded.png">    </p:cNvPr>
          <p:cNvPicPr>
            <a:picLocks noChangeAspect="1"/>
          </p:cNvPicPr>
          <p:nvPr/>
        </p:nvPicPr>
        <p:blipFill>
          <a:blip r:embed="rId3"/>
          <a:stretch>
            <a:fillRect/>
          </a:stretch>
        </p:blipFill>
        <p:spPr>
          <a:xfrm>
            <a:off x="841248" y="5504688"/>
            <a:ext cx="329184" cy="329184"/>
          </a:xfrm>
          <a:prstGeom prst="rect">
            <a:avLst/>
          </a:prstGeom>
        </p:spPr>
      </p:pic>
      <p:sp>
        <p:nvSpPr>
          <p:cNvPr id="16" name="Text 10"/>
          <p:cNvSpPr txBox="1"/>
          <p:nvPr/>
        </p:nvSpPr>
        <p:spPr>
          <a:xfrm>
            <a:off x="1463040" y="5166360"/>
            <a:ext cx="9966960" cy="1097280"/>
          </a:xfrm>
          <a:prstGeom prst="rect">
            <a:avLst/>
          </a:prstGeom>
          <a:noFill/>
          <a:ln/>
        </p:spPr>
        <p:txBody>
          <a:bodyPr wrap="square" lIns="0" tIns="0" rIns="0" bIns="0" rtlCol="0" anchor="ctr"/>
          <a:lstStyle/>
          <a:p>
            <a:pPr indent="0" marL="0">
              <a:buNone/>
            </a:pPr>
            <a:r>
              <a:rPr lang="en-US" sz="1250" b="1" dirty="0">
                <a:solidFill>
                  <a:srgbClr val="1B2A49"/>
                </a:solidFill>
                <a:latin typeface="Meiryo UI" pitchFamily="34" charset="0"/>
                <a:ea typeface="Meiryo UI" pitchFamily="34" charset="-122"/>
                <a:cs typeface="Meiryo UI" pitchFamily="34" charset="-120"/>
              </a:rPr>
              <a:t>Agent Builderで使えるのは、人が結果を運ぶ方式（P1・P2など）に限られる</a:t>
            </a:r>
            <a:endParaRPr lang="en-US" sz="1250" dirty="0"/>
          </a:p>
          <a:p>
            <a:pPr indent="0" marL="0">
              <a:buNone/>
            </a:pPr>
            <a:r>
              <a:rPr lang="en-US" sz="1100" dirty="0">
                <a:solidFill>
                  <a:srgbClr val="2B2B2B"/>
                </a:solidFill>
                <a:latin typeface="Meiryo UI" pitchFamily="34" charset="0"/>
                <a:ea typeface="Meiryo UI" pitchFamily="34" charset="-122"/>
                <a:cs typeface="Meiryo UI" pitchFamily="34" charset="-120"/>
              </a:rPr>
              <a:t>P3・P4はファイルを介して書き込むため、エージェント自体はAgent Builderでもよい。それ以外（P5〜P17）はCopilot Studioのエージェントが前提</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Airtable側で使える主な手段</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読み書きの基本はREST API。起動のきっかけにはオートメーションやWebhooksが使える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0. 前提</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5</a:t>
            </a:r>
            <a:endParaRPr lang="en-US" sz="900" dirty="0"/>
          </a:p>
        </p:txBody>
      </p:sp>
      <p:pic>
        <p:nvPicPr>
          <p:cNvPr id="6" name="Image 0" descr="preencoded.png">    </p:cNvPr>
          <p:cNvPicPr>
            <a:picLocks noChangeAspect="1"/>
          </p:cNvPicPr>
          <p:nvPr/>
        </p:nvPicPr>
        <p:blipFill>
          <a:blip r:embed="rId1"/>
          <a:stretch>
            <a:fillRect/>
          </a:stretch>
        </p:blipFill>
        <p:spPr>
          <a:xfrm>
            <a:off x="11155680" y="365760"/>
            <a:ext cx="457200" cy="457200"/>
          </a:xfrm>
          <a:prstGeom prst="rect">
            <a:avLst/>
          </a:prstGeom>
        </p:spPr>
      </p:pic>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2103120"/>
                <a:gridCol w="4572000"/>
                <a:gridCol w="4389120"/>
              </a:tblGrid>
              <a:tr h="384048">
                <a:tc>
                  <a:txBody>
                    <a:bodyPr/>
                    <a:lstStyle/>
                    <a:p>
                      <a:pPr algn="ctr" indent="0" marL="0">
                        <a:buNone/>
                      </a:pPr>
                      <a:r>
                        <a:rPr lang="en-US" sz="1150" b="1" dirty="0">
                          <a:solidFill>
                            <a:srgbClr val="FFFFFF"/>
                          </a:solidFill>
                          <a:latin typeface="Meiryo UI" pitchFamily="34" charset="0"/>
                          <a:ea typeface="Meiryo UI" pitchFamily="34" charset="-122"/>
                          <a:cs typeface="Meiryo UI" pitchFamily="34" charset="-120"/>
                        </a:rPr>
                        <a:t>手段</a:t>
                      </a:r>
                      <a:endParaRPr lang="en-US" sz="11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algn="ctr" indent="0" marL="0">
                        <a:buNone/>
                      </a:pPr>
                      <a:r>
                        <a:rPr lang="en-US" sz="1150" b="1" dirty="0">
                          <a:solidFill>
                            <a:srgbClr val="FFFFFF"/>
                          </a:solidFill>
                          <a:latin typeface="Meiryo UI" pitchFamily="34" charset="0"/>
                          <a:ea typeface="Meiryo UI" pitchFamily="34" charset="-122"/>
                          <a:cs typeface="Meiryo UI" pitchFamily="34" charset="-120"/>
                        </a:rPr>
                        <a:t>概要</a:t>
                      </a:r>
                      <a:endParaRPr lang="en-US" sz="11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algn="ctr" indent="0" marL="0">
                        <a:buNone/>
                      </a:pPr>
                      <a:r>
                        <a:rPr lang="en-US" sz="1150" b="1" dirty="0">
                          <a:solidFill>
                            <a:srgbClr val="FFFFFF"/>
                          </a:solidFill>
                          <a:latin typeface="Meiryo UI" pitchFamily="34" charset="0"/>
                          <a:ea typeface="Meiryo UI" pitchFamily="34" charset="-122"/>
                          <a:cs typeface="Meiryo UI" pitchFamily="34" charset="-120"/>
                        </a:rPr>
                        <a:t>主な制約</a:t>
                      </a:r>
                      <a:endParaRPr lang="en-US" sz="11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r>
              <a:tr h="658368">
                <a:tc>
                  <a:txBody>
                    <a:bodyPr/>
                    <a:lstStyle/>
                    <a:p>
                      <a:pPr indent="0" marL="0">
                        <a:buNone/>
                      </a:pPr>
                      <a:r>
                        <a:rPr lang="en-US" sz="1150" b="1" dirty="0">
                          <a:solidFill>
                            <a:srgbClr val="1B2A49"/>
                          </a:solidFill>
                          <a:latin typeface="Meiryo UI" pitchFamily="34" charset="0"/>
                          <a:ea typeface="Meiryo UI" pitchFamily="34" charset="-122"/>
                          <a:cs typeface="Meiryo UI" pitchFamily="34" charset="-120"/>
                        </a:rPr>
                        <a:t>REST API</a:t>
                      </a:r>
                      <a:endParaRPr lang="en-US" sz="11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1150" dirty="0">
                          <a:solidFill>
                            <a:srgbClr val="2B2B2B"/>
                          </a:solidFill>
                          <a:latin typeface="Meiryo UI" pitchFamily="34" charset="0"/>
                          <a:ea typeface="Meiryo UI" pitchFamily="34" charset="-122"/>
                          <a:cs typeface="Meiryo UI" pitchFamily="34" charset="-120"/>
                        </a:rPr>
                        <a:t>レコードの読み書き。個人アクセストークン（PAT）またはOAuthで認証</a:t>
                      </a:r>
                      <a:endParaRPr lang="en-US" sz="11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150" dirty="0">
                          <a:solidFill>
                            <a:srgbClr val="2B2B2B"/>
                          </a:solidFill>
                          <a:latin typeface="Meiryo UI" pitchFamily="34" charset="0"/>
                          <a:ea typeface="Meiryo UI" pitchFamily="34" charset="-122"/>
                          <a:cs typeface="Meiryo UI" pitchFamily="34" charset="-120"/>
                        </a:rPr>
                        <a:t>1ベースあたり毎秒5リクエストまで</a:t>
                      </a:r>
                      <a:endParaRPr lang="en-US" sz="11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658368">
                <a:tc>
                  <a:txBody>
                    <a:bodyPr/>
                    <a:lstStyle/>
                    <a:p>
                      <a:pPr indent="0" marL="0">
                        <a:buNone/>
                      </a:pPr>
                      <a:r>
                        <a:rPr lang="en-US" sz="1150" b="1" dirty="0">
                          <a:solidFill>
                            <a:srgbClr val="1B2A49"/>
                          </a:solidFill>
                          <a:latin typeface="Meiryo UI" pitchFamily="34" charset="0"/>
                          <a:ea typeface="Meiryo UI" pitchFamily="34" charset="-122"/>
                          <a:cs typeface="Meiryo UI" pitchFamily="34" charset="-120"/>
                        </a:rPr>
                        <a:t>オートメーション</a:t>
                      </a:r>
                      <a:endParaRPr lang="en-US" sz="11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1150" dirty="0">
                          <a:solidFill>
                            <a:srgbClr val="2B2B2B"/>
                          </a:solidFill>
                          <a:latin typeface="Meiryo UI" pitchFamily="34" charset="0"/>
                          <a:ea typeface="Meiryo UI" pitchFamily="34" charset="-122"/>
                          <a:cs typeface="Meiryo UI" pitchFamily="34" charset="-120"/>
                        </a:rPr>
                        <a:t>レコード作成・条件一致・ボタン・定時などをきっかけに処理を実行</a:t>
                      </a:r>
                      <a:endParaRPr lang="en-US" sz="11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150" dirty="0">
                          <a:solidFill>
                            <a:srgbClr val="2B2B2B"/>
                          </a:solidFill>
                          <a:latin typeface="Meiryo UI" pitchFamily="34" charset="0"/>
                          <a:ea typeface="Meiryo UI" pitchFamily="34" charset="-122"/>
                          <a:cs typeface="Meiryo UI" pitchFamily="34" charset="-120"/>
                        </a:rPr>
                        <a:t>スクリプトの外部通信は30秒が上限（暫定的に120秒へ緩和中）</a:t>
                      </a:r>
                      <a:endParaRPr lang="en-US" sz="11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658368">
                <a:tc>
                  <a:txBody>
                    <a:bodyPr/>
                    <a:lstStyle/>
                    <a:p>
                      <a:pPr indent="0" marL="0">
                        <a:buNone/>
                      </a:pPr>
                      <a:r>
                        <a:rPr lang="en-US" sz="1150" b="1" dirty="0">
                          <a:solidFill>
                            <a:srgbClr val="1B2A49"/>
                          </a:solidFill>
                          <a:latin typeface="Meiryo UI" pitchFamily="34" charset="0"/>
                          <a:ea typeface="Meiryo UI" pitchFamily="34" charset="-122"/>
                          <a:cs typeface="Meiryo UI" pitchFamily="34" charset="-120"/>
                        </a:rPr>
                        <a:t>Webhooks API</a:t>
                      </a:r>
                      <a:endParaRPr lang="en-US" sz="11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1150" dirty="0">
                          <a:solidFill>
                            <a:srgbClr val="2B2B2B"/>
                          </a:solidFill>
                          <a:latin typeface="Meiryo UI" pitchFamily="34" charset="0"/>
                          <a:ea typeface="Meiryo UI" pitchFamily="34" charset="-122"/>
                          <a:cs typeface="Meiryo UI" pitchFamily="34" charset="-120"/>
                        </a:rPr>
                        <a:t>変更を外部に通知する</a:t>
                      </a:r>
                      <a:endParaRPr lang="en-US" sz="11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150" dirty="0">
                          <a:solidFill>
                            <a:srgbClr val="2B2B2B"/>
                          </a:solidFill>
                          <a:latin typeface="Meiryo UI" pitchFamily="34" charset="0"/>
                          <a:ea typeface="Meiryo UI" pitchFamily="34" charset="-122"/>
                          <a:cs typeface="Meiryo UI" pitchFamily="34" charset="-120"/>
                        </a:rPr>
                        <a:t>通知は「変更があった」ことだけ。7日で失効するため定期的な更新が必要</a:t>
                      </a:r>
                      <a:endParaRPr lang="en-US" sz="11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658368">
                <a:tc>
                  <a:txBody>
                    <a:bodyPr/>
                    <a:lstStyle/>
                    <a:p>
                      <a:pPr indent="0" marL="0">
                        <a:buNone/>
                      </a:pPr>
                      <a:r>
                        <a:rPr lang="en-US" sz="1150" b="1" dirty="0">
                          <a:solidFill>
                            <a:srgbClr val="1B2A49"/>
                          </a:solidFill>
                          <a:latin typeface="Meiryo UI" pitchFamily="34" charset="0"/>
                          <a:ea typeface="Meiryo UI" pitchFamily="34" charset="-122"/>
                          <a:cs typeface="Meiryo UI" pitchFamily="34" charset="-120"/>
                        </a:rPr>
                        <a:t>公式MCPサーバー</a:t>
                      </a:r>
                      <a:endParaRPr lang="en-US" sz="11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1150" dirty="0">
                          <a:solidFill>
                            <a:srgbClr val="2B2B2B"/>
                          </a:solidFill>
                          <a:latin typeface="Meiryo UI" pitchFamily="34" charset="0"/>
                          <a:ea typeface="Meiryo UI" pitchFamily="34" charset="-122"/>
                          <a:cs typeface="Meiryo UI" pitchFamily="34" charset="-120"/>
                        </a:rPr>
                        <a:t>MCP対応のAIからレコードの読み書きができる。全プランで利用可</a:t>
                      </a:r>
                      <a:endParaRPr lang="en-US" sz="11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150" dirty="0">
                          <a:solidFill>
                            <a:srgbClr val="2B2B2B"/>
                          </a:solidFill>
                          <a:latin typeface="Meiryo UI" pitchFamily="34" charset="0"/>
                          <a:ea typeface="Meiryo UI" pitchFamily="34" charset="-122"/>
                          <a:cs typeface="Meiryo UI" pitchFamily="34" charset="-120"/>
                        </a:rPr>
                        <a:t>通常のAPIのレート制限が適用される。管理者が連携先を許可リストで制御できる</a:t>
                      </a:r>
                      <a:endParaRPr lang="en-US" sz="11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658368">
                <a:tc>
                  <a:txBody>
                    <a:bodyPr/>
                    <a:lstStyle/>
                    <a:p>
                      <a:pPr indent="0" marL="0">
                        <a:buNone/>
                      </a:pPr>
                      <a:r>
                        <a:rPr lang="en-US" sz="1150" b="1" dirty="0">
                          <a:solidFill>
                            <a:srgbClr val="1B2A49"/>
                          </a:solidFill>
                          <a:latin typeface="Meiryo UI" pitchFamily="34" charset="0"/>
                          <a:ea typeface="Meiryo UI" pitchFamily="34" charset="-122"/>
                          <a:cs typeface="Meiryo UI" pitchFamily="34" charset="-120"/>
                        </a:rPr>
                        <a:t>Sync API</a:t>
                      </a:r>
                      <a:endParaRPr lang="en-US" sz="11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1150" dirty="0">
                          <a:solidFill>
                            <a:srgbClr val="2B2B2B"/>
                          </a:solidFill>
                          <a:latin typeface="Meiryo UI" pitchFamily="34" charset="0"/>
                          <a:ea typeface="Meiryo UI" pitchFamily="34" charset="-122"/>
                          <a:cs typeface="Meiryo UI" pitchFamily="34" charset="-120"/>
                        </a:rPr>
                        <a:t>CSVをAPIで送り、同期テーブルに取り込む</a:t>
                      </a:r>
                      <a:endParaRPr lang="en-US" sz="11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150" dirty="0">
                          <a:solidFill>
                            <a:srgbClr val="2B2B2B"/>
                          </a:solidFill>
                          <a:latin typeface="Meiryo UI" pitchFamily="34" charset="0"/>
                          <a:ea typeface="Meiryo UI" pitchFamily="34" charset="-122"/>
                          <a:cs typeface="Meiryo UI" pitchFamily="34" charset="-120"/>
                        </a:rPr>
                        <a:t>Business／Enterprise Scaleのみ。同期テーブルは手で編集できない。一方向のみ</a:t>
                      </a:r>
                      <a:endParaRPr lang="en-US" sz="11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658368">
                <a:tc>
                  <a:txBody>
                    <a:bodyPr/>
                    <a:lstStyle/>
                    <a:p>
                      <a:pPr indent="0" marL="0">
                        <a:buNone/>
                      </a:pPr>
                      <a:r>
                        <a:rPr lang="en-US" sz="1150" b="1" dirty="0">
                          <a:solidFill>
                            <a:srgbClr val="1B2A49"/>
                          </a:solidFill>
                          <a:latin typeface="Meiryo UI" pitchFamily="34" charset="0"/>
                          <a:ea typeface="Meiryo UI" pitchFamily="34" charset="-122"/>
                          <a:cs typeface="Meiryo UI" pitchFamily="34" charset="-120"/>
                        </a:rPr>
                        <a:t>CSVインポート</a:t>
                      </a:r>
                      <a:endParaRPr lang="en-US" sz="11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1150" dirty="0">
                          <a:solidFill>
                            <a:srgbClr val="2B2B2B"/>
                          </a:solidFill>
                          <a:latin typeface="Meiryo UI" pitchFamily="34" charset="0"/>
                          <a:ea typeface="Meiryo UI" pitchFamily="34" charset="-122"/>
                          <a:cs typeface="Meiryo UI" pitchFamily="34" charset="-120"/>
                        </a:rPr>
                        <a:t>画面からCSVを取り込む</a:t>
                      </a:r>
                      <a:endParaRPr lang="en-US" sz="11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150" dirty="0">
                          <a:solidFill>
                            <a:srgbClr val="2B2B2B"/>
                          </a:solidFill>
                          <a:latin typeface="Meiryo UI" pitchFamily="34" charset="0"/>
                          <a:ea typeface="Meiryo UI" pitchFamily="34" charset="-122"/>
                          <a:cs typeface="Meiryo UI" pitchFamily="34" charset="-120"/>
                        </a:rPr>
                        <a:t>手作業</a:t>
                      </a:r>
                      <a:endParaRPr lang="en-US" sz="11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
        <p:nvSpPr>
          <p:cNvPr id="8" name="Text 4"/>
          <p:cNvSpPr txBox="1"/>
          <p:nvPr/>
        </p:nvSpPr>
        <p:spPr>
          <a:xfrm>
            <a:off x="548640" y="6172200"/>
            <a:ext cx="11064240" cy="274320"/>
          </a:xfrm>
          <a:prstGeom prst="rect">
            <a:avLst/>
          </a:prstGeom>
          <a:noFill/>
          <a:ln/>
        </p:spPr>
        <p:txBody>
          <a:bodyPr wrap="square" lIns="0" tIns="0" rIns="0" bIns="0" rtlCol="0" anchor="t"/>
          <a:lstStyle/>
          <a:p>
            <a:pPr indent="0" marL="0">
              <a:buNone/>
            </a:pPr>
            <a:r>
              <a:rPr lang="en-US" sz="1000" dirty="0">
                <a:solidFill>
                  <a:srgbClr val="6B7280"/>
                </a:solidFill>
                <a:latin typeface="Meiryo UI" pitchFamily="34" charset="0"/>
                <a:ea typeface="Meiryo UI" pitchFamily="34" charset="-122"/>
                <a:cs typeface="Meiryo UI" pitchFamily="34" charset="-120"/>
              </a:rPr>
              <a:t>PAT（Personal Access Token）：Airtableが発行するAPI用の鍵。対象のベースと権限（読み取り・書き込み）を絞って発行できる</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M365側で使える主な手段</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AirtableのPower Automateコネクタは非推奨のため、書き込みはHTTPアクション＋PATが基本</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0. 前提</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6</a:t>
            </a:r>
            <a:endParaRPr lang="en-US" sz="900" dirty="0"/>
          </a:p>
        </p:txBody>
      </p:sp>
      <p:pic>
        <p:nvPicPr>
          <p:cNvPr id="6" name="Image 0" descr="preencoded.png">    </p:cNvPr>
          <p:cNvPicPr>
            <a:picLocks noChangeAspect="1"/>
          </p:cNvPicPr>
          <p:nvPr/>
        </p:nvPicPr>
        <p:blipFill>
          <a:blip r:embed="rId1"/>
          <a:stretch>
            <a:fillRect/>
          </a:stretch>
        </p:blipFill>
        <p:spPr>
          <a:xfrm>
            <a:off x="11155680" y="365760"/>
            <a:ext cx="457200" cy="457200"/>
          </a:xfrm>
          <a:prstGeom prst="rect">
            <a:avLst/>
          </a:prstGeom>
        </p:spPr>
      </p:pic>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2926080"/>
                <a:gridCol w="4023360"/>
                <a:gridCol w="4114800"/>
              </a:tblGrid>
              <a:tr h="384048">
                <a:tc>
                  <a:txBody>
                    <a:bodyPr/>
                    <a:lstStyle/>
                    <a:p>
                      <a:pPr algn="ctr" indent="0" marL="0">
                        <a:buNone/>
                      </a:pPr>
                      <a:r>
                        <a:rPr lang="en-US" sz="1150" b="1" dirty="0">
                          <a:solidFill>
                            <a:srgbClr val="FFFFFF"/>
                          </a:solidFill>
                          <a:latin typeface="Meiryo UI" pitchFamily="34" charset="0"/>
                          <a:ea typeface="Meiryo UI" pitchFamily="34" charset="-122"/>
                          <a:cs typeface="Meiryo UI" pitchFamily="34" charset="-120"/>
                        </a:rPr>
                        <a:t>手段</a:t>
                      </a:r>
                      <a:endParaRPr lang="en-US" sz="11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algn="ctr" indent="0" marL="0">
                        <a:buNone/>
                      </a:pPr>
                      <a:r>
                        <a:rPr lang="en-US" sz="1150" b="1" dirty="0">
                          <a:solidFill>
                            <a:srgbClr val="FFFFFF"/>
                          </a:solidFill>
                          <a:latin typeface="Meiryo UI" pitchFamily="34" charset="0"/>
                          <a:ea typeface="Meiryo UI" pitchFamily="34" charset="-122"/>
                          <a:cs typeface="Meiryo UI" pitchFamily="34" charset="-120"/>
                        </a:rPr>
                        <a:t>概要</a:t>
                      </a:r>
                      <a:endParaRPr lang="en-US" sz="11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algn="ctr" indent="0" marL="0">
                        <a:buNone/>
                      </a:pPr>
                      <a:r>
                        <a:rPr lang="en-US" sz="1150" b="1" dirty="0">
                          <a:solidFill>
                            <a:srgbClr val="FFFFFF"/>
                          </a:solidFill>
                          <a:latin typeface="Meiryo UI" pitchFamily="34" charset="0"/>
                          <a:ea typeface="Meiryo UI" pitchFamily="34" charset="-122"/>
                          <a:cs typeface="Meiryo UI" pitchFamily="34" charset="-120"/>
                        </a:rPr>
                        <a:t>主な制約</a:t>
                      </a:r>
                      <a:endParaRPr lang="en-US" sz="11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r>
              <a:tr h="868680">
                <a:tc>
                  <a:txBody>
                    <a:bodyPr/>
                    <a:lstStyle/>
                    <a:p>
                      <a:pPr indent="0" marL="0">
                        <a:buNone/>
                      </a:pPr>
                      <a:r>
                        <a:rPr lang="en-US" sz="1150" b="1" dirty="0">
                          <a:solidFill>
                            <a:srgbClr val="1B2A49"/>
                          </a:solidFill>
                          <a:latin typeface="Meiryo UI" pitchFamily="34" charset="0"/>
                          <a:ea typeface="Meiryo UI" pitchFamily="34" charset="-122"/>
                          <a:cs typeface="Meiryo UI" pitchFamily="34" charset="-120"/>
                        </a:rPr>
                        <a:t>Power Automate</a:t>
                      </a:r>
                      <a:endParaRPr lang="en-US" sz="11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1150" dirty="0">
                          <a:solidFill>
                            <a:srgbClr val="2B2B2B"/>
                          </a:solidFill>
                          <a:latin typeface="Meiryo UI" pitchFamily="34" charset="0"/>
                          <a:ea typeface="Meiryo UI" pitchFamily="34" charset="-122"/>
                          <a:cs typeface="Meiryo UI" pitchFamily="34" charset="-120"/>
                        </a:rPr>
                        <a:t>定期実行、HTTP受信、ファイル作成などをきっかけに処理</a:t>
                      </a:r>
                      <a:endParaRPr lang="en-US" sz="11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150" dirty="0">
                          <a:solidFill>
                            <a:srgbClr val="2B2B2B"/>
                          </a:solidFill>
                          <a:latin typeface="Meiryo UI" pitchFamily="34" charset="0"/>
                          <a:ea typeface="Meiryo UI" pitchFamily="34" charset="-122"/>
                          <a:cs typeface="Meiryo UI" pitchFamily="34" charset="-120"/>
                        </a:rPr>
                        <a:t>HTTP受信トリガー・HTTPアクションはPremium。外部から呼ばれたら120秒以内に応答が必要（先に応答して処理を続けることは可）。Airtableコネクタは非推奨で、書き込みはHTTPアクション＋PATが基本</a:t>
                      </a:r>
                      <a:endParaRPr lang="en-US" sz="11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868680">
                <a:tc>
                  <a:txBody>
                    <a:bodyPr/>
                    <a:lstStyle/>
                    <a:p>
                      <a:pPr indent="0" marL="0">
                        <a:buNone/>
                      </a:pPr>
                      <a:r>
                        <a:rPr lang="en-US" sz="1150" b="1" dirty="0">
                          <a:solidFill>
                            <a:srgbClr val="1B2A49"/>
                          </a:solidFill>
                          <a:latin typeface="Meiryo UI" pitchFamily="34" charset="0"/>
                          <a:ea typeface="Meiryo UI" pitchFamily="34" charset="-122"/>
                          <a:cs typeface="Meiryo UI" pitchFamily="34" charset="-120"/>
                        </a:rPr>
                        <a:t>Copilot Studioコネクタ「Execute Agent and wait」</a:t>
                      </a:r>
                      <a:endParaRPr lang="en-US" sz="11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1150" dirty="0">
                          <a:solidFill>
                            <a:srgbClr val="2B2B2B"/>
                          </a:solidFill>
                          <a:latin typeface="Meiryo UI" pitchFamily="34" charset="0"/>
                          <a:ea typeface="Meiryo UI" pitchFamily="34" charset="-122"/>
                          <a:cs typeface="Meiryo UI" pitchFamily="34" charset="-120"/>
                        </a:rPr>
                        <a:t>Power Automateやcode appsからエージェントを呼び、応答（最後の返答・返答の一覧・会話ID）を受け取る。会話IDで続きの会話も可</a:t>
                      </a:r>
                      <a:endParaRPr lang="en-US" sz="11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150" dirty="0">
                          <a:solidFill>
                            <a:srgbClr val="2B2B2B"/>
                          </a:solidFill>
                          <a:latin typeface="Meiryo UI" pitchFamily="34" charset="0"/>
                          <a:ea typeface="Meiryo UI" pitchFamily="34" charset="-122"/>
                          <a:cs typeface="Meiryo UI" pitchFamily="34" charset="-120"/>
                        </a:rPr>
                        <a:t>コネクタはStandard（Premium不要）。呼べるのは公開済みのエージェントのみ。接続は共有できず、作った人のアカウントで動く</a:t>
                      </a:r>
                      <a:endParaRPr lang="en-US" sz="11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868680">
                <a:tc>
                  <a:txBody>
                    <a:bodyPr/>
                    <a:lstStyle/>
                    <a:p>
                      <a:pPr indent="0" marL="0">
                        <a:buNone/>
                      </a:pPr>
                      <a:r>
                        <a:rPr lang="en-US" sz="1150" b="1" dirty="0">
                          <a:solidFill>
                            <a:srgbClr val="1B2A49"/>
                          </a:solidFill>
                          <a:latin typeface="Meiryo UI" pitchFamily="34" charset="0"/>
                          <a:ea typeface="Meiryo UI" pitchFamily="34" charset="-122"/>
                          <a:cs typeface="Meiryo UI" pitchFamily="34" charset="-120"/>
                        </a:rPr>
                        <a:t>Copilot StudioのMCP対応（GA）</a:t>
                      </a:r>
                      <a:endParaRPr lang="en-US" sz="11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1150" dirty="0">
                          <a:solidFill>
                            <a:srgbClr val="2B2B2B"/>
                          </a:solidFill>
                          <a:latin typeface="Meiryo UI" pitchFamily="34" charset="0"/>
                          <a:ea typeface="Meiryo UI" pitchFamily="34" charset="-122"/>
                          <a:cs typeface="Meiryo UI" pitchFamily="34" charset="-120"/>
                        </a:rPr>
                        <a:t>エージェントにMCPサーバーのツールを持たせる</a:t>
                      </a:r>
                      <a:endParaRPr lang="en-US" sz="11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150" dirty="0">
                          <a:solidFill>
                            <a:srgbClr val="2B2B2B"/>
                          </a:solidFill>
                          <a:latin typeface="Meiryo UI" pitchFamily="34" charset="0"/>
                          <a:ea typeface="Meiryo UI" pitchFamily="34" charset="-122"/>
                          <a:cs typeface="Meiryo UI" pitchFamily="34" charset="-120"/>
                        </a:rPr>
                        <a:t>対応しているのはツールとリソースのみ</a:t>
                      </a:r>
                      <a:endParaRPr lang="en-US" sz="11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868680">
                <a:tc>
                  <a:txBody>
                    <a:bodyPr/>
                    <a:lstStyle/>
                    <a:p>
                      <a:pPr indent="0" marL="0">
                        <a:buNone/>
                      </a:pPr>
                      <a:r>
                        <a:rPr lang="en-US" sz="1150" b="1" dirty="0">
                          <a:solidFill>
                            <a:srgbClr val="1B2A49"/>
                          </a:solidFill>
                          <a:latin typeface="Meiryo UI" pitchFamily="34" charset="0"/>
                          <a:ea typeface="Meiryo UI" pitchFamily="34" charset="-122"/>
                          <a:cs typeface="Meiryo UI" pitchFamily="34" charset="-120"/>
                        </a:rPr>
                        <a:t>M365 Copilot connector（Airtable、プレビュー）</a:t>
                      </a:r>
                      <a:endParaRPr lang="en-US" sz="11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1150" dirty="0">
                          <a:solidFill>
                            <a:srgbClr val="2B2B2B"/>
                          </a:solidFill>
                          <a:latin typeface="Meiryo UI" pitchFamily="34" charset="0"/>
                          <a:ea typeface="Meiryo UI" pitchFamily="34" charset="-122"/>
                          <a:cs typeface="Meiryo UI" pitchFamily="34" charset="-120"/>
                        </a:rPr>
                        <a:t>Airtableのレコードを取り込み、Copilotから検索・参照できるようにする</a:t>
                      </a:r>
                      <a:endParaRPr lang="en-US" sz="11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150" b="1" dirty="0">
                          <a:solidFill>
                            <a:srgbClr val="2B2B2B"/>
                          </a:solidFill>
                          <a:latin typeface="Meiryo UI" pitchFamily="34" charset="0"/>
                          <a:ea typeface="Meiryo UI" pitchFamily="34" charset="-122"/>
                          <a:cs typeface="Meiryo UI" pitchFamily="34" charset="-120"/>
                        </a:rPr>
                        <a:t>読み取り専用。AirtableのEnterprise IDが必要</a:t>
                      </a:r>
                      <a:endParaRPr lang="en-US" sz="11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
        <p:nvSpPr>
          <p:cNvPr id="8" name="Shape 4"/>
          <p:cNvSpPr/>
          <p:nvPr/>
        </p:nvSpPr>
        <p:spPr>
          <a:xfrm>
            <a:off x="548640" y="5760720"/>
            <a:ext cx="2651760" cy="457200"/>
          </a:xfrm>
          <a:prstGeom prst="roundRect">
            <a:avLst>
              <a:gd name="adj" fmla="val 16000"/>
            </a:avLst>
          </a:prstGeom>
          <a:solidFill>
            <a:srgbClr val="FFFFFF"/>
          </a:solidFill>
          <a:ln w="12700">
            <a:solidFill>
              <a:srgbClr val="D5DBE3"/>
            </a:solidFill>
            <a:prstDash val="solid"/>
          </a:ln>
        </p:spPr>
      </p:sp>
      <p:pic>
        <p:nvPicPr>
          <p:cNvPr id="9" name="Image 1" descr="preencoded.png">    </p:cNvPr>
          <p:cNvPicPr>
            <a:picLocks noChangeAspect="1"/>
          </p:cNvPicPr>
          <p:nvPr/>
        </p:nvPicPr>
        <p:blipFill>
          <a:blip r:embed="rId2"/>
          <a:stretch>
            <a:fillRect/>
          </a:stretch>
        </p:blipFill>
        <p:spPr>
          <a:xfrm>
            <a:off x="658368" y="5852160"/>
            <a:ext cx="274320" cy="274320"/>
          </a:xfrm>
          <a:prstGeom prst="rect">
            <a:avLst/>
          </a:prstGeom>
        </p:spPr>
      </p:pic>
      <p:sp>
        <p:nvSpPr>
          <p:cNvPr id="10" name="Text 5"/>
          <p:cNvSpPr txBox="1"/>
          <p:nvPr/>
        </p:nvSpPr>
        <p:spPr>
          <a:xfrm>
            <a:off x="1024128" y="5760720"/>
            <a:ext cx="2130552" cy="45720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Power Automate</a:t>
            </a:r>
            <a:endParaRPr lang="en-US" sz="1050" dirty="0"/>
          </a:p>
        </p:txBody>
      </p:sp>
      <p:sp>
        <p:nvSpPr>
          <p:cNvPr id="11" name="Shape 6"/>
          <p:cNvSpPr/>
          <p:nvPr/>
        </p:nvSpPr>
        <p:spPr>
          <a:xfrm>
            <a:off x="3355848" y="5760720"/>
            <a:ext cx="2651760" cy="457200"/>
          </a:xfrm>
          <a:prstGeom prst="roundRect">
            <a:avLst>
              <a:gd name="adj" fmla="val 16000"/>
            </a:avLst>
          </a:prstGeom>
          <a:solidFill>
            <a:srgbClr val="FFFFFF"/>
          </a:solidFill>
          <a:ln w="12700">
            <a:solidFill>
              <a:srgbClr val="D5DBE3"/>
            </a:solidFill>
            <a:prstDash val="solid"/>
          </a:ln>
        </p:spPr>
      </p:sp>
      <p:pic>
        <p:nvPicPr>
          <p:cNvPr id="12" name="Image 2" descr="preencoded.png">    </p:cNvPr>
          <p:cNvPicPr>
            <a:picLocks noChangeAspect="1"/>
          </p:cNvPicPr>
          <p:nvPr/>
        </p:nvPicPr>
        <p:blipFill>
          <a:blip r:embed="rId3"/>
          <a:stretch>
            <a:fillRect/>
          </a:stretch>
        </p:blipFill>
        <p:spPr>
          <a:xfrm>
            <a:off x="3465576" y="5852160"/>
            <a:ext cx="274320" cy="274320"/>
          </a:xfrm>
          <a:prstGeom prst="rect">
            <a:avLst/>
          </a:prstGeom>
        </p:spPr>
      </p:pic>
      <p:sp>
        <p:nvSpPr>
          <p:cNvPr id="13" name="Text 7"/>
          <p:cNvSpPr txBox="1"/>
          <p:nvPr/>
        </p:nvSpPr>
        <p:spPr>
          <a:xfrm>
            <a:off x="3831336" y="5760720"/>
            <a:ext cx="2130552" cy="45720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Copilot Studio</a:t>
            </a:r>
            <a:endParaRPr lang="en-US" sz="1050" dirty="0"/>
          </a:p>
        </p:txBody>
      </p:sp>
      <p:sp>
        <p:nvSpPr>
          <p:cNvPr id="14" name="Shape 8"/>
          <p:cNvSpPr/>
          <p:nvPr/>
        </p:nvSpPr>
        <p:spPr>
          <a:xfrm>
            <a:off x="6163056" y="5760720"/>
            <a:ext cx="2651760" cy="457200"/>
          </a:xfrm>
          <a:prstGeom prst="roundRect">
            <a:avLst>
              <a:gd name="adj" fmla="val 16000"/>
            </a:avLst>
          </a:prstGeom>
          <a:solidFill>
            <a:srgbClr val="FFFFFF"/>
          </a:solidFill>
          <a:ln w="12700">
            <a:solidFill>
              <a:srgbClr val="D5DBE3"/>
            </a:solidFill>
            <a:prstDash val="solid"/>
          </a:ln>
        </p:spPr>
      </p:sp>
      <p:pic>
        <p:nvPicPr>
          <p:cNvPr id="15" name="Image 3" descr="preencoded.png">    </p:cNvPr>
          <p:cNvPicPr>
            <a:picLocks noChangeAspect="1"/>
          </p:cNvPicPr>
          <p:nvPr/>
        </p:nvPicPr>
        <p:blipFill>
          <a:blip r:embed="rId4"/>
          <a:stretch>
            <a:fillRect/>
          </a:stretch>
        </p:blipFill>
        <p:spPr>
          <a:xfrm>
            <a:off x="6272784" y="5852160"/>
            <a:ext cx="274320" cy="274320"/>
          </a:xfrm>
          <a:prstGeom prst="rect">
            <a:avLst/>
          </a:prstGeom>
        </p:spPr>
      </p:pic>
      <p:sp>
        <p:nvSpPr>
          <p:cNvPr id="16" name="Text 9"/>
          <p:cNvSpPr txBox="1"/>
          <p:nvPr/>
        </p:nvSpPr>
        <p:spPr>
          <a:xfrm>
            <a:off x="6638544" y="5760720"/>
            <a:ext cx="2130552" cy="45720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MCP</a:t>
            </a:r>
            <a:endParaRPr lang="en-US" sz="1050" dirty="0"/>
          </a:p>
        </p:txBody>
      </p:sp>
      <p:sp>
        <p:nvSpPr>
          <p:cNvPr id="17" name="Shape 10"/>
          <p:cNvSpPr/>
          <p:nvPr/>
        </p:nvSpPr>
        <p:spPr>
          <a:xfrm>
            <a:off x="8970264" y="5760720"/>
            <a:ext cx="2651760" cy="457200"/>
          </a:xfrm>
          <a:prstGeom prst="roundRect">
            <a:avLst>
              <a:gd name="adj" fmla="val 16000"/>
            </a:avLst>
          </a:prstGeom>
          <a:solidFill>
            <a:srgbClr val="FFFFFF"/>
          </a:solidFill>
          <a:ln w="12700">
            <a:solidFill>
              <a:srgbClr val="D5DBE3"/>
            </a:solidFill>
            <a:prstDash val="solid"/>
          </a:ln>
        </p:spPr>
      </p:sp>
      <p:pic>
        <p:nvPicPr>
          <p:cNvPr id="18" name="Image 4" descr="preencoded.png">    </p:cNvPr>
          <p:cNvPicPr>
            <a:picLocks noChangeAspect="1"/>
          </p:cNvPicPr>
          <p:nvPr/>
        </p:nvPicPr>
        <p:blipFill>
          <a:blip r:embed="rId5"/>
          <a:stretch>
            <a:fillRect/>
          </a:stretch>
        </p:blipFill>
        <p:spPr>
          <a:xfrm>
            <a:off x="9079992" y="5852160"/>
            <a:ext cx="274320" cy="274320"/>
          </a:xfrm>
          <a:prstGeom prst="rect">
            <a:avLst/>
          </a:prstGeom>
        </p:spPr>
      </p:pic>
      <p:sp>
        <p:nvSpPr>
          <p:cNvPr id="19" name="Text 11"/>
          <p:cNvSpPr txBox="1"/>
          <p:nvPr/>
        </p:nvSpPr>
        <p:spPr>
          <a:xfrm>
            <a:off x="9445752" y="5760720"/>
            <a:ext cx="2130552" cy="45720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M365 Copilot</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エージェントの呼び出し方：「フローが主役」と「エージェントが主役」</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どちらも同じCopilot Studioのエージェントを使うが、処理の主役が違う</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0. 前提</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7</a:t>
            </a:r>
            <a:endParaRPr lang="en-US" sz="900" dirty="0"/>
          </a:p>
        </p:txBody>
      </p:sp>
      <p:sp>
        <p:nvSpPr>
          <p:cNvPr id="6" name="Shape 4"/>
          <p:cNvSpPr/>
          <p:nvPr/>
        </p:nvSpPr>
        <p:spPr>
          <a:xfrm>
            <a:off x="548640" y="1371600"/>
            <a:ext cx="5440680" cy="4983480"/>
          </a:xfrm>
          <a:prstGeom prst="roundRect">
            <a:avLst>
              <a:gd name="adj" fmla="val 1101"/>
            </a:avLst>
          </a:prstGeom>
          <a:solidFill>
            <a:srgbClr val="D9F2F1"/>
          </a:solidFill>
          <a:ln/>
        </p:spPr>
      </p:sp>
      <p:sp>
        <p:nvSpPr>
          <p:cNvPr id="7" name="Shape 5"/>
          <p:cNvSpPr/>
          <p:nvPr/>
        </p:nvSpPr>
        <p:spPr>
          <a:xfrm>
            <a:off x="731520" y="1508760"/>
            <a:ext cx="1600200" cy="310896"/>
          </a:xfrm>
          <a:prstGeom prst="roundRect">
            <a:avLst>
              <a:gd name="adj" fmla="val 50000"/>
            </a:avLst>
          </a:prstGeom>
          <a:solidFill>
            <a:srgbClr val="1B2A49"/>
          </a:solidFill>
          <a:ln/>
        </p:spPr>
      </p:sp>
      <p:sp>
        <p:nvSpPr>
          <p:cNvPr id="8" name="Text 6"/>
          <p:cNvSpPr txBox="1"/>
          <p:nvPr/>
        </p:nvSpPr>
        <p:spPr>
          <a:xfrm>
            <a:off x="731520" y="1508760"/>
            <a:ext cx="1600200" cy="310896"/>
          </a:xfrm>
          <a:prstGeom prst="rect">
            <a:avLst/>
          </a:prstGeom>
          <a:noFill/>
          <a:ln/>
        </p:spPr>
        <p:txBody>
          <a:bodyPr wrap="square" lIns="762" tIns="762" rIns="762" bIns="762"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Execute Agent</a:t>
            </a:r>
            <a:endParaRPr lang="en-US" sz="1000" dirty="0"/>
          </a:p>
        </p:txBody>
      </p:sp>
      <p:sp>
        <p:nvSpPr>
          <p:cNvPr id="9" name="Text 7"/>
          <p:cNvSpPr txBox="1"/>
          <p:nvPr/>
        </p:nvSpPr>
        <p:spPr>
          <a:xfrm>
            <a:off x="2468880" y="1481328"/>
            <a:ext cx="3429000" cy="365760"/>
          </a:xfrm>
          <a:prstGeom prst="rect">
            <a:avLst/>
          </a:prstGeom>
          <a:noFill/>
          <a:ln/>
        </p:spPr>
        <p:txBody>
          <a:bodyPr wrap="square" lIns="508" tIns="508" rIns="508" bIns="508" rtlCol="0" anchor="ctr"/>
          <a:lstStyle/>
          <a:p>
            <a:pPr indent="0" marL="0">
              <a:buNone/>
            </a:pPr>
            <a:r>
              <a:rPr lang="en-US" sz="1250" b="1" dirty="0">
                <a:solidFill>
                  <a:srgbClr val="1B2A49"/>
                </a:solidFill>
                <a:latin typeface="Meiryo UI" pitchFamily="34" charset="0"/>
                <a:ea typeface="Meiryo UI" pitchFamily="34" charset="-122"/>
                <a:cs typeface="Meiryo UI" pitchFamily="34" charset="-120"/>
              </a:rPr>
              <a:t>フローが主役</a:t>
            </a:r>
            <a:endParaRPr lang="en-US" sz="1250" dirty="0"/>
          </a:p>
        </p:txBody>
      </p:sp>
      <p:sp>
        <p:nvSpPr>
          <p:cNvPr id="10" name="Shape 8"/>
          <p:cNvSpPr/>
          <p:nvPr/>
        </p:nvSpPr>
        <p:spPr>
          <a:xfrm>
            <a:off x="731520" y="1965960"/>
            <a:ext cx="5074920" cy="1188720"/>
          </a:xfrm>
          <a:prstGeom prst="roundRect">
            <a:avLst>
              <a:gd name="adj" fmla="val 4615"/>
            </a:avLst>
          </a:prstGeom>
          <a:solidFill>
            <a:srgbClr val="FFFFFF"/>
          </a:solidFill>
          <a:ln w="12700">
            <a:solidFill>
              <a:srgbClr val="D5DBE3"/>
            </a:solidFill>
            <a:prstDash val="solid"/>
          </a:ln>
        </p:spPr>
      </p:sp>
      <p:sp>
        <p:nvSpPr>
          <p:cNvPr id="11" name="Shape 9"/>
          <p:cNvSpPr/>
          <p:nvPr/>
        </p:nvSpPr>
        <p:spPr>
          <a:xfrm>
            <a:off x="822960" y="2103120"/>
            <a:ext cx="1463040" cy="868680"/>
          </a:xfrm>
          <a:prstGeom prst="roundRect">
            <a:avLst>
              <a:gd name="adj" fmla="val 8421"/>
            </a:avLst>
          </a:prstGeom>
          <a:solidFill>
            <a:srgbClr val="FFFFFF"/>
          </a:solidFill>
          <a:ln w="12700">
            <a:solidFill>
              <a:srgbClr val="D5DBE3"/>
            </a:solidFill>
            <a:prstDash val="solid"/>
          </a:ln>
        </p:spPr>
      </p:sp>
      <p:pic>
        <p:nvPicPr>
          <p:cNvPr id="12" name="Image 0" descr="preencoded.png">    </p:cNvPr>
          <p:cNvPicPr>
            <a:picLocks noChangeAspect="1"/>
          </p:cNvPicPr>
          <p:nvPr/>
        </p:nvPicPr>
        <p:blipFill>
          <a:blip r:embed="rId1"/>
          <a:stretch>
            <a:fillRect/>
          </a:stretch>
        </p:blipFill>
        <p:spPr>
          <a:xfrm>
            <a:off x="932688" y="2400300"/>
            <a:ext cx="274320" cy="274320"/>
          </a:xfrm>
          <a:prstGeom prst="rect">
            <a:avLst/>
          </a:prstGeom>
        </p:spPr>
      </p:pic>
      <p:sp>
        <p:nvSpPr>
          <p:cNvPr id="13" name="Text 10"/>
          <p:cNvSpPr txBox="1"/>
          <p:nvPr/>
        </p:nvSpPr>
        <p:spPr>
          <a:xfrm>
            <a:off x="1298448" y="2103120"/>
            <a:ext cx="941832" cy="868680"/>
          </a:xfrm>
          <a:prstGeom prst="rect">
            <a:avLst/>
          </a:prstGeom>
          <a:noFill/>
          <a:ln/>
        </p:spPr>
        <p:txBody>
          <a:bodyPr wrap="square" lIns="0" tIns="0" rIns="0" bIns="0" rtlCol="0" anchor="ctr"/>
          <a:lstStyle/>
          <a:p>
            <a:pPr algn="l" indent="0" marL="0">
              <a:buNone/>
            </a:pPr>
            <a:r>
              <a:rPr lang="en-US" sz="950" b="1" dirty="0">
                <a:solidFill>
                  <a:srgbClr val="1B2A49"/>
                </a:solidFill>
                <a:latin typeface="Meiryo UI" pitchFamily="34" charset="0"/>
                <a:ea typeface="Meiryo UI" pitchFamily="34" charset="-122"/>
                <a:cs typeface="Meiryo UI" pitchFamily="34" charset="-120"/>
              </a:rPr>
              <a:t>フロー</a:t>
            </a:r>
            <a:endParaRPr lang="en-US" sz="950" dirty="0"/>
          </a:p>
          <a:p>
            <a:pPr algn="l" indent="0" marL="0">
              <a:buNone/>
            </a:pPr>
            <a:r>
              <a:rPr lang="en-US" sz="750" dirty="0">
                <a:solidFill>
                  <a:srgbClr val="6B7280"/>
                </a:solidFill>
                <a:latin typeface="Meiryo UI" pitchFamily="34" charset="0"/>
                <a:ea typeface="Meiryo UI" pitchFamily="34" charset="-122"/>
                <a:cs typeface="Meiryo UI" pitchFamily="34" charset="-120"/>
              </a:rPr>
              <a:t>カードを取得</a:t>
            </a:r>
            <a:endParaRPr lang="en-US" sz="950" dirty="0"/>
          </a:p>
        </p:txBody>
      </p:sp>
      <p:sp>
        <p:nvSpPr>
          <p:cNvPr id="14" name="Shape 11"/>
          <p:cNvSpPr/>
          <p:nvPr/>
        </p:nvSpPr>
        <p:spPr>
          <a:xfrm>
            <a:off x="2313432" y="2532888"/>
            <a:ext cx="155448" cy="0"/>
          </a:xfrm>
          <a:prstGeom prst="line">
            <a:avLst/>
          </a:prstGeom>
          <a:noFill/>
          <a:ln w="19050">
            <a:solidFill>
              <a:srgbClr val="1B2A49"/>
            </a:solidFill>
            <a:prstDash val="solid"/>
            <a:tailEnd type="triangle"/>
          </a:ln>
        </p:spPr>
      </p:sp>
      <p:sp>
        <p:nvSpPr>
          <p:cNvPr id="15" name="Shape 12"/>
          <p:cNvSpPr/>
          <p:nvPr/>
        </p:nvSpPr>
        <p:spPr>
          <a:xfrm>
            <a:off x="2496312" y="2103120"/>
            <a:ext cx="1463040" cy="868680"/>
          </a:xfrm>
          <a:prstGeom prst="roundRect">
            <a:avLst>
              <a:gd name="adj" fmla="val 8421"/>
            </a:avLst>
          </a:prstGeom>
          <a:solidFill>
            <a:srgbClr val="0E9F9A"/>
          </a:solidFill>
          <a:ln/>
        </p:spPr>
      </p:sp>
      <p:sp>
        <p:nvSpPr>
          <p:cNvPr id="16" name="Shape 13"/>
          <p:cNvSpPr/>
          <p:nvPr/>
        </p:nvSpPr>
        <p:spPr>
          <a:xfrm>
            <a:off x="2569464" y="2345436"/>
            <a:ext cx="384048" cy="384048"/>
          </a:xfrm>
          <a:prstGeom prst="ellipse">
            <a:avLst/>
          </a:prstGeom>
          <a:solidFill>
            <a:srgbClr val="FFFFFF"/>
          </a:solidFill>
          <a:ln/>
        </p:spPr>
      </p:sp>
      <p:pic>
        <p:nvPicPr>
          <p:cNvPr id="17" name="Image 1" descr="preencoded.png">    </p:cNvPr>
          <p:cNvPicPr>
            <a:picLocks noChangeAspect="1"/>
          </p:cNvPicPr>
          <p:nvPr/>
        </p:nvPicPr>
        <p:blipFill>
          <a:blip r:embed="rId2"/>
          <a:stretch>
            <a:fillRect/>
          </a:stretch>
        </p:blipFill>
        <p:spPr>
          <a:xfrm>
            <a:off x="2624328" y="2400300"/>
            <a:ext cx="274320" cy="274320"/>
          </a:xfrm>
          <a:prstGeom prst="rect">
            <a:avLst/>
          </a:prstGeom>
        </p:spPr>
      </p:pic>
      <p:sp>
        <p:nvSpPr>
          <p:cNvPr id="18" name="Text 14"/>
          <p:cNvSpPr txBox="1"/>
          <p:nvPr/>
        </p:nvSpPr>
        <p:spPr>
          <a:xfrm>
            <a:off x="3095244" y="2103120"/>
            <a:ext cx="818388" cy="868680"/>
          </a:xfrm>
          <a:prstGeom prst="rect">
            <a:avLst/>
          </a:prstGeom>
          <a:noFill/>
          <a:ln/>
        </p:spPr>
        <p:txBody>
          <a:bodyPr wrap="square" lIns="0" tIns="0" rIns="0" bIns="0" rtlCol="0" anchor="ctr"/>
          <a:lstStyle/>
          <a:p>
            <a:pPr algn="l" indent="0" marL="0">
              <a:buNone/>
            </a:pPr>
            <a:r>
              <a:rPr lang="en-US" sz="950" b="1" dirty="0">
                <a:solidFill>
                  <a:srgbClr val="FFFFFF"/>
                </a:solidFill>
                <a:latin typeface="Meiryo UI" pitchFamily="34" charset="0"/>
                <a:ea typeface="Meiryo UI" pitchFamily="34" charset="-122"/>
                <a:cs typeface="Meiryo UI" pitchFamily="34" charset="-120"/>
              </a:rPr>
              <a:t>エージェント</a:t>
            </a:r>
            <a:endParaRPr lang="en-US" sz="950" dirty="0"/>
          </a:p>
          <a:p>
            <a:pPr algn="l" indent="0" marL="0">
              <a:buNone/>
            </a:pPr>
            <a:r>
              <a:rPr lang="en-US" sz="750" dirty="0">
                <a:solidFill>
                  <a:srgbClr val="E6F2F2"/>
                </a:solidFill>
                <a:latin typeface="Meiryo UI" pitchFamily="34" charset="0"/>
                <a:ea typeface="Meiryo UI" pitchFamily="34" charset="-122"/>
                <a:cs typeface="Meiryo UI" pitchFamily="34" charset="-120"/>
              </a:rPr>
              <a:t>下書きを生成して返す</a:t>
            </a:r>
            <a:endParaRPr lang="en-US" sz="950" dirty="0"/>
          </a:p>
        </p:txBody>
      </p:sp>
      <p:sp>
        <p:nvSpPr>
          <p:cNvPr id="19" name="Shape 15"/>
          <p:cNvSpPr/>
          <p:nvPr/>
        </p:nvSpPr>
        <p:spPr>
          <a:xfrm>
            <a:off x="3986784" y="2532888"/>
            <a:ext cx="155448" cy="0"/>
          </a:xfrm>
          <a:prstGeom prst="line">
            <a:avLst/>
          </a:prstGeom>
          <a:noFill/>
          <a:ln w="19050">
            <a:solidFill>
              <a:srgbClr val="1B2A49"/>
            </a:solidFill>
            <a:prstDash val="solid"/>
            <a:tailEnd type="triangle"/>
          </a:ln>
        </p:spPr>
      </p:sp>
      <p:sp>
        <p:nvSpPr>
          <p:cNvPr id="20" name="Shape 16"/>
          <p:cNvSpPr/>
          <p:nvPr/>
        </p:nvSpPr>
        <p:spPr>
          <a:xfrm>
            <a:off x="4169664" y="2103120"/>
            <a:ext cx="1463040" cy="868680"/>
          </a:xfrm>
          <a:prstGeom prst="roundRect">
            <a:avLst>
              <a:gd name="adj" fmla="val 8421"/>
            </a:avLst>
          </a:prstGeom>
          <a:solidFill>
            <a:srgbClr val="FFFFFF"/>
          </a:solidFill>
          <a:ln w="12700">
            <a:solidFill>
              <a:srgbClr val="D5DBE3"/>
            </a:solidFill>
            <a:prstDash val="solid"/>
          </a:ln>
        </p:spPr>
      </p:sp>
      <p:pic>
        <p:nvPicPr>
          <p:cNvPr id="21" name="Image 2" descr="preencoded.png">    </p:cNvPr>
          <p:cNvPicPr>
            <a:picLocks noChangeAspect="1"/>
          </p:cNvPicPr>
          <p:nvPr/>
        </p:nvPicPr>
        <p:blipFill>
          <a:blip r:embed="rId3"/>
          <a:stretch>
            <a:fillRect/>
          </a:stretch>
        </p:blipFill>
        <p:spPr>
          <a:xfrm>
            <a:off x="4279392" y="2400300"/>
            <a:ext cx="274320" cy="274320"/>
          </a:xfrm>
          <a:prstGeom prst="rect">
            <a:avLst/>
          </a:prstGeom>
        </p:spPr>
      </p:pic>
      <p:sp>
        <p:nvSpPr>
          <p:cNvPr id="22" name="Text 17"/>
          <p:cNvSpPr txBox="1"/>
          <p:nvPr/>
        </p:nvSpPr>
        <p:spPr>
          <a:xfrm>
            <a:off x="4645152" y="2103120"/>
            <a:ext cx="941832" cy="868680"/>
          </a:xfrm>
          <a:prstGeom prst="rect">
            <a:avLst/>
          </a:prstGeom>
          <a:noFill/>
          <a:ln/>
        </p:spPr>
        <p:txBody>
          <a:bodyPr wrap="square" lIns="0" tIns="0" rIns="0" bIns="0" rtlCol="0" anchor="ctr"/>
          <a:lstStyle/>
          <a:p>
            <a:pPr algn="l" indent="0" marL="0">
              <a:buNone/>
            </a:pPr>
            <a:r>
              <a:rPr lang="en-US" sz="950" b="1" dirty="0">
                <a:solidFill>
                  <a:srgbClr val="1B2A49"/>
                </a:solidFill>
                <a:latin typeface="Meiryo UI" pitchFamily="34" charset="0"/>
                <a:ea typeface="Meiryo UI" pitchFamily="34" charset="-122"/>
                <a:cs typeface="Meiryo UI" pitchFamily="34" charset="-120"/>
              </a:rPr>
              <a:t>フロー</a:t>
            </a:r>
            <a:endParaRPr lang="en-US" sz="950" dirty="0"/>
          </a:p>
          <a:p>
            <a:pPr algn="l" indent="0" marL="0">
              <a:buNone/>
            </a:pPr>
            <a:r>
              <a:rPr lang="en-US" sz="750" dirty="0">
                <a:solidFill>
                  <a:srgbClr val="6B7280"/>
                </a:solidFill>
                <a:latin typeface="Meiryo UI" pitchFamily="34" charset="0"/>
                <a:ea typeface="Meiryo UI" pitchFamily="34" charset="-122"/>
                <a:cs typeface="Meiryo UI" pitchFamily="34" charset="-120"/>
              </a:rPr>
              <a:t>Airtableに書き込む</a:t>
            </a:r>
            <a:endParaRPr lang="en-US" sz="9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31520" y="3291840"/>
          <a:ext cx="5074920" cy="914400"/>
        </p:xfrm>
        <a:graphic>
          <a:graphicData uri="http://schemas.openxmlformats.org/drawingml/2006/table">
            <a:tbl>
              <a:tblPr/>
              <a:tblGrid>
                <a:gridCol w="1325880"/>
                <a:gridCol w="3749040"/>
              </a:tblGrid>
              <a:tr h="475488">
                <a:tc>
                  <a:txBody>
                    <a:bodyPr/>
                    <a:lstStyle/>
                    <a:p>
                      <a:pPr indent="0" marL="0">
                        <a:buNone/>
                      </a:pPr>
                      <a:r>
                        <a:rPr lang="en-US" sz="950" b="1" dirty="0">
                          <a:solidFill>
                            <a:srgbClr val="1B2A49"/>
                          </a:solidFill>
                          <a:latin typeface="Meiryo UI" pitchFamily="34" charset="0"/>
                          <a:ea typeface="Meiryo UI" pitchFamily="34" charset="-122"/>
                          <a:cs typeface="Meiryo UI" pitchFamily="34" charset="-120"/>
                        </a:rPr>
                        <a:t>仕組み</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Power Automateの「Execute Agent and wait」で、エージェントに依頼して応答を待つ。関数を呼ぶような使い方</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75488">
                <a:tc>
                  <a:txBody>
                    <a:bodyPr/>
                    <a:lstStyle/>
                    <a:p>
                      <a:pPr indent="0" marL="0">
                        <a:buNone/>
                      </a:pPr>
                      <a:r>
                        <a:rPr lang="en-US" sz="950" b="1" dirty="0">
                          <a:solidFill>
                            <a:srgbClr val="1B2A49"/>
                          </a:solidFill>
                          <a:latin typeface="Meiryo UI" pitchFamily="34" charset="0"/>
                          <a:ea typeface="Meiryo UI" pitchFamily="34" charset="-122"/>
                          <a:cs typeface="Meiryo UI" pitchFamily="34" charset="-120"/>
                        </a:rPr>
                        <a:t>エージェントの役割</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生成だけ（取得・書き込み・エラー処理はフローが行う）</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75488">
                <a:tc>
                  <a:txBody>
                    <a:bodyPr/>
                    <a:lstStyle/>
                    <a:p>
                      <a:pPr indent="0" marL="0">
                        <a:buNone/>
                      </a:pPr>
                      <a:r>
                        <a:rPr lang="en-US" sz="950" b="1" dirty="0">
                          <a:solidFill>
                            <a:srgbClr val="1B2A49"/>
                          </a:solidFill>
                          <a:latin typeface="Meiryo UI" pitchFamily="34" charset="0"/>
                          <a:ea typeface="Meiryo UI" pitchFamily="34" charset="-122"/>
                          <a:cs typeface="Meiryo UI" pitchFamily="34" charset="-120"/>
                        </a:rPr>
                        <a:t>確実さ</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書き込みの手順がフローで決まっているため、制御しやすい</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75488">
                <a:tc>
                  <a:txBody>
                    <a:bodyPr/>
                    <a:lstStyle/>
                    <a:p>
                      <a:pPr indent="0" marL="0">
                        <a:buNone/>
                      </a:pPr>
                      <a:r>
                        <a:rPr lang="en-US" sz="950" b="1" dirty="0">
                          <a:solidFill>
                            <a:srgbClr val="1B2A49"/>
                          </a:solidFill>
                          <a:latin typeface="Meiryo UI" pitchFamily="34" charset="0"/>
                          <a:ea typeface="Meiryo UI" pitchFamily="34" charset="-122"/>
                          <a:cs typeface="Meiryo UI" pitchFamily="34" charset="-120"/>
                        </a:rPr>
                        <a:t>費用</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エージェント分はCopilotクレジット。フローの実行はPower Automateのライセンス側</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75488">
                <a:tc>
                  <a:txBody>
                    <a:bodyPr/>
                    <a:lstStyle/>
                    <a:p>
                      <a:pPr indent="0" marL="0">
                        <a:buNone/>
                      </a:pPr>
                      <a:r>
                        <a:rPr lang="en-US" sz="950" b="1" dirty="0">
                          <a:solidFill>
                            <a:srgbClr val="1B2A49"/>
                          </a:solidFill>
                          <a:latin typeface="Meiryo UI" pitchFamily="34" charset="0"/>
                          <a:ea typeface="Meiryo UI" pitchFamily="34" charset="-122"/>
                          <a:cs typeface="Meiryo UI" pitchFamily="34" charset="-120"/>
                        </a:rPr>
                        <a:t>該当するパターン</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P7・P8・P9・P12・P14</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bl>
          </a:graphicData>
        </a:graphic>
      </p:graphicFrame>
      <p:sp>
        <p:nvSpPr>
          <p:cNvPr id="24" name="Shape 18"/>
          <p:cNvSpPr/>
          <p:nvPr/>
        </p:nvSpPr>
        <p:spPr>
          <a:xfrm>
            <a:off x="6172200" y="1371600"/>
            <a:ext cx="5440680" cy="4983480"/>
          </a:xfrm>
          <a:prstGeom prst="roundRect">
            <a:avLst>
              <a:gd name="adj" fmla="val 1101"/>
            </a:avLst>
          </a:prstGeom>
          <a:solidFill>
            <a:srgbClr val="EEEAF8"/>
          </a:solidFill>
          <a:ln/>
        </p:spPr>
      </p:sp>
      <p:sp>
        <p:nvSpPr>
          <p:cNvPr id="25" name="Shape 19"/>
          <p:cNvSpPr/>
          <p:nvPr/>
        </p:nvSpPr>
        <p:spPr>
          <a:xfrm>
            <a:off x="6355080" y="1508760"/>
            <a:ext cx="1600200" cy="310896"/>
          </a:xfrm>
          <a:prstGeom prst="roundRect">
            <a:avLst>
              <a:gd name="adj" fmla="val 50000"/>
            </a:avLst>
          </a:prstGeom>
          <a:solidFill>
            <a:srgbClr val="1B2A49"/>
          </a:solidFill>
          <a:ln/>
        </p:spPr>
      </p:sp>
      <p:sp>
        <p:nvSpPr>
          <p:cNvPr id="26" name="Text 20"/>
          <p:cNvSpPr txBox="1"/>
          <p:nvPr/>
        </p:nvSpPr>
        <p:spPr>
          <a:xfrm>
            <a:off x="6355080" y="1508760"/>
            <a:ext cx="1600200" cy="310896"/>
          </a:xfrm>
          <a:prstGeom prst="rect">
            <a:avLst/>
          </a:prstGeom>
          <a:noFill/>
          <a:ln/>
        </p:spPr>
        <p:txBody>
          <a:bodyPr wrap="square" lIns="762" tIns="762" rIns="762" bIns="762"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自律エージェント</a:t>
            </a:r>
            <a:endParaRPr lang="en-US" sz="1000" dirty="0"/>
          </a:p>
        </p:txBody>
      </p:sp>
      <p:sp>
        <p:nvSpPr>
          <p:cNvPr id="27" name="Text 21"/>
          <p:cNvSpPr txBox="1"/>
          <p:nvPr/>
        </p:nvSpPr>
        <p:spPr>
          <a:xfrm>
            <a:off x="8092440" y="1481328"/>
            <a:ext cx="3429000" cy="365760"/>
          </a:xfrm>
          <a:prstGeom prst="rect">
            <a:avLst/>
          </a:prstGeom>
          <a:noFill/>
          <a:ln/>
        </p:spPr>
        <p:txBody>
          <a:bodyPr wrap="square" lIns="508" tIns="508" rIns="508" bIns="508" rtlCol="0" anchor="ctr"/>
          <a:lstStyle/>
          <a:p>
            <a:pPr indent="0" marL="0">
              <a:buNone/>
            </a:pPr>
            <a:r>
              <a:rPr lang="en-US" sz="1250" b="1" dirty="0">
                <a:solidFill>
                  <a:srgbClr val="1B2A49"/>
                </a:solidFill>
                <a:latin typeface="Meiryo UI" pitchFamily="34" charset="0"/>
                <a:ea typeface="Meiryo UI" pitchFamily="34" charset="-122"/>
                <a:cs typeface="Meiryo UI" pitchFamily="34" charset="-120"/>
              </a:rPr>
              <a:t>エージェントが主役</a:t>
            </a:r>
            <a:endParaRPr lang="en-US" sz="1250" dirty="0"/>
          </a:p>
        </p:txBody>
      </p:sp>
      <p:sp>
        <p:nvSpPr>
          <p:cNvPr id="28" name="Shape 22"/>
          <p:cNvSpPr/>
          <p:nvPr/>
        </p:nvSpPr>
        <p:spPr>
          <a:xfrm>
            <a:off x="6355080" y="1965960"/>
            <a:ext cx="5074920" cy="1188720"/>
          </a:xfrm>
          <a:prstGeom prst="roundRect">
            <a:avLst>
              <a:gd name="adj" fmla="val 4615"/>
            </a:avLst>
          </a:prstGeom>
          <a:solidFill>
            <a:srgbClr val="FFFFFF"/>
          </a:solidFill>
          <a:ln w="12700">
            <a:solidFill>
              <a:srgbClr val="D5DBE3"/>
            </a:solidFill>
            <a:prstDash val="solid"/>
          </a:ln>
        </p:spPr>
      </p:sp>
      <p:sp>
        <p:nvSpPr>
          <p:cNvPr id="29" name="Shape 23"/>
          <p:cNvSpPr/>
          <p:nvPr/>
        </p:nvSpPr>
        <p:spPr>
          <a:xfrm>
            <a:off x="6446520" y="2103120"/>
            <a:ext cx="1463040" cy="868680"/>
          </a:xfrm>
          <a:prstGeom prst="roundRect">
            <a:avLst>
              <a:gd name="adj" fmla="val 8421"/>
            </a:avLst>
          </a:prstGeom>
          <a:solidFill>
            <a:srgbClr val="FFFFFF"/>
          </a:solidFill>
          <a:ln w="12700">
            <a:solidFill>
              <a:srgbClr val="D5DBE3"/>
            </a:solidFill>
            <a:prstDash val="solid"/>
          </a:ln>
        </p:spPr>
      </p:sp>
      <p:pic>
        <p:nvPicPr>
          <p:cNvPr id="30" name="Image 3" descr="preencoded.png">    </p:cNvPr>
          <p:cNvPicPr>
            <a:picLocks noChangeAspect="1"/>
          </p:cNvPicPr>
          <p:nvPr/>
        </p:nvPicPr>
        <p:blipFill>
          <a:blip r:embed="rId4"/>
          <a:stretch>
            <a:fillRect/>
          </a:stretch>
        </p:blipFill>
        <p:spPr>
          <a:xfrm>
            <a:off x="6556248" y="2400300"/>
            <a:ext cx="274320" cy="274320"/>
          </a:xfrm>
          <a:prstGeom prst="rect">
            <a:avLst/>
          </a:prstGeom>
        </p:spPr>
      </p:pic>
      <p:sp>
        <p:nvSpPr>
          <p:cNvPr id="31" name="Text 24"/>
          <p:cNvSpPr txBox="1"/>
          <p:nvPr/>
        </p:nvSpPr>
        <p:spPr>
          <a:xfrm>
            <a:off x="6922008" y="2103120"/>
            <a:ext cx="941832" cy="868680"/>
          </a:xfrm>
          <a:prstGeom prst="rect">
            <a:avLst/>
          </a:prstGeom>
          <a:noFill/>
          <a:ln/>
        </p:spPr>
        <p:txBody>
          <a:bodyPr wrap="square" lIns="0" tIns="0" rIns="0" bIns="0" rtlCol="0" anchor="ctr"/>
          <a:lstStyle/>
          <a:p>
            <a:pPr algn="l" indent="0" marL="0">
              <a:buNone/>
            </a:pPr>
            <a:r>
              <a:rPr lang="en-US" sz="950" b="1" dirty="0">
                <a:solidFill>
                  <a:srgbClr val="1B2A49"/>
                </a:solidFill>
                <a:latin typeface="Meiryo UI" pitchFamily="34" charset="0"/>
                <a:ea typeface="Meiryo UI" pitchFamily="34" charset="-122"/>
                <a:cs typeface="Meiryo UI" pitchFamily="34" charset="-120"/>
              </a:rPr>
              <a:t>トリガー</a:t>
            </a:r>
            <a:endParaRPr lang="en-US" sz="950" dirty="0"/>
          </a:p>
          <a:p>
            <a:pPr algn="l" indent="0" marL="0">
              <a:buNone/>
            </a:pPr>
            <a:r>
              <a:rPr lang="en-US" sz="750" dirty="0">
                <a:solidFill>
                  <a:srgbClr val="6B7280"/>
                </a:solidFill>
                <a:latin typeface="Meiryo UI" pitchFamily="34" charset="0"/>
                <a:ea typeface="Meiryo UI" pitchFamily="34" charset="-122"/>
                <a:cs typeface="Meiryo UI" pitchFamily="34" charset="-120"/>
              </a:rPr>
              <a:t>イベントを渡す</a:t>
            </a:r>
            <a:endParaRPr lang="en-US" sz="950" dirty="0"/>
          </a:p>
        </p:txBody>
      </p:sp>
      <p:sp>
        <p:nvSpPr>
          <p:cNvPr id="32" name="Shape 25"/>
          <p:cNvSpPr/>
          <p:nvPr/>
        </p:nvSpPr>
        <p:spPr>
          <a:xfrm>
            <a:off x="7936992" y="2532888"/>
            <a:ext cx="155448" cy="0"/>
          </a:xfrm>
          <a:prstGeom prst="line">
            <a:avLst/>
          </a:prstGeom>
          <a:noFill/>
          <a:ln w="19050">
            <a:solidFill>
              <a:srgbClr val="1B2A49"/>
            </a:solidFill>
            <a:prstDash val="solid"/>
            <a:tailEnd type="triangle"/>
          </a:ln>
        </p:spPr>
      </p:sp>
      <p:sp>
        <p:nvSpPr>
          <p:cNvPr id="33" name="Shape 26"/>
          <p:cNvSpPr/>
          <p:nvPr/>
        </p:nvSpPr>
        <p:spPr>
          <a:xfrm>
            <a:off x="8119872" y="2103120"/>
            <a:ext cx="1463040" cy="868680"/>
          </a:xfrm>
          <a:prstGeom prst="roundRect">
            <a:avLst>
              <a:gd name="adj" fmla="val 8421"/>
            </a:avLst>
          </a:prstGeom>
          <a:solidFill>
            <a:srgbClr val="6B4FBB"/>
          </a:solidFill>
          <a:ln/>
        </p:spPr>
      </p:sp>
      <p:sp>
        <p:nvSpPr>
          <p:cNvPr id="34" name="Shape 27"/>
          <p:cNvSpPr/>
          <p:nvPr/>
        </p:nvSpPr>
        <p:spPr>
          <a:xfrm>
            <a:off x="8193024" y="2345436"/>
            <a:ext cx="384048" cy="384048"/>
          </a:xfrm>
          <a:prstGeom prst="ellipse">
            <a:avLst/>
          </a:prstGeom>
          <a:solidFill>
            <a:srgbClr val="FFFFFF"/>
          </a:solidFill>
          <a:ln/>
        </p:spPr>
      </p:sp>
      <p:pic>
        <p:nvPicPr>
          <p:cNvPr id="35" name="Image 4" descr="preencoded.png">    </p:cNvPr>
          <p:cNvPicPr>
            <a:picLocks noChangeAspect="1"/>
          </p:cNvPicPr>
          <p:nvPr/>
        </p:nvPicPr>
        <p:blipFill>
          <a:blip r:embed="rId5"/>
          <a:stretch>
            <a:fillRect/>
          </a:stretch>
        </p:blipFill>
        <p:spPr>
          <a:xfrm>
            <a:off x="8247888" y="2400300"/>
            <a:ext cx="274320" cy="274320"/>
          </a:xfrm>
          <a:prstGeom prst="rect">
            <a:avLst/>
          </a:prstGeom>
        </p:spPr>
      </p:pic>
      <p:sp>
        <p:nvSpPr>
          <p:cNvPr id="36" name="Text 28"/>
          <p:cNvSpPr txBox="1"/>
          <p:nvPr/>
        </p:nvSpPr>
        <p:spPr>
          <a:xfrm>
            <a:off x="8718804" y="2103120"/>
            <a:ext cx="818388" cy="868680"/>
          </a:xfrm>
          <a:prstGeom prst="rect">
            <a:avLst/>
          </a:prstGeom>
          <a:noFill/>
          <a:ln/>
        </p:spPr>
        <p:txBody>
          <a:bodyPr wrap="square" lIns="0" tIns="0" rIns="0" bIns="0" rtlCol="0" anchor="ctr"/>
          <a:lstStyle/>
          <a:p>
            <a:pPr algn="l" indent="0" marL="0">
              <a:buNone/>
            </a:pPr>
            <a:r>
              <a:rPr lang="en-US" sz="950" b="1" dirty="0">
                <a:solidFill>
                  <a:srgbClr val="FFFFFF"/>
                </a:solidFill>
                <a:latin typeface="Meiryo UI" pitchFamily="34" charset="0"/>
                <a:ea typeface="Meiryo UI" pitchFamily="34" charset="-122"/>
                <a:cs typeface="Meiryo UI" pitchFamily="34" charset="-120"/>
              </a:rPr>
              <a:t>エージェント</a:t>
            </a:r>
            <a:endParaRPr lang="en-US" sz="950" dirty="0"/>
          </a:p>
          <a:p>
            <a:pPr algn="l" indent="0" marL="0">
              <a:buNone/>
            </a:pPr>
            <a:r>
              <a:rPr lang="en-US" sz="750" dirty="0">
                <a:solidFill>
                  <a:srgbClr val="E6F2F2"/>
                </a:solidFill>
                <a:latin typeface="Meiryo UI" pitchFamily="34" charset="0"/>
                <a:ea typeface="Meiryo UI" pitchFamily="34" charset="-122"/>
                <a:cs typeface="Meiryo UI" pitchFamily="34" charset="-120"/>
              </a:rPr>
              <a:t>自分で判断して取得・生成</a:t>
            </a:r>
            <a:endParaRPr lang="en-US" sz="950" dirty="0"/>
          </a:p>
        </p:txBody>
      </p:sp>
      <p:sp>
        <p:nvSpPr>
          <p:cNvPr id="37" name="Shape 29"/>
          <p:cNvSpPr/>
          <p:nvPr/>
        </p:nvSpPr>
        <p:spPr>
          <a:xfrm>
            <a:off x="9610344" y="2532888"/>
            <a:ext cx="155448" cy="0"/>
          </a:xfrm>
          <a:prstGeom prst="line">
            <a:avLst/>
          </a:prstGeom>
          <a:noFill/>
          <a:ln w="19050">
            <a:solidFill>
              <a:srgbClr val="1B2A49"/>
            </a:solidFill>
            <a:prstDash val="solid"/>
            <a:tailEnd type="triangle"/>
          </a:ln>
        </p:spPr>
      </p:sp>
      <p:sp>
        <p:nvSpPr>
          <p:cNvPr id="38" name="Shape 30"/>
          <p:cNvSpPr/>
          <p:nvPr/>
        </p:nvSpPr>
        <p:spPr>
          <a:xfrm>
            <a:off x="9793224" y="2103120"/>
            <a:ext cx="1463040" cy="868680"/>
          </a:xfrm>
          <a:prstGeom prst="roundRect">
            <a:avLst>
              <a:gd name="adj" fmla="val 8421"/>
            </a:avLst>
          </a:prstGeom>
          <a:solidFill>
            <a:srgbClr val="FFFFFF"/>
          </a:solidFill>
          <a:ln w="12700">
            <a:solidFill>
              <a:srgbClr val="D5DBE3"/>
            </a:solidFill>
            <a:prstDash val="solid"/>
          </a:ln>
        </p:spPr>
      </p:sp>
      <p:pic>
        <p:nvPicPr>
          <p:cNvPr id="39" name="Image 5" descr="preencoded.png">    </p:cNvPr>
          <p:cNvPicPr>
            <a:picLocks noChangeAspect="1"/>
          </p:cNvPicPr>
          <p:nvPr/>
        </p:nvPicPr>
        <p:blipFill>
          <a:blip r:embed="rId6"/>
          <a:stretch>
            <a:fillRect/>
          </a:stretch>
        </p:blipFill>
        <p:spPr>
          <a:xfrm>
            <a:off x="9902952" y="2400300"/>
            <a:ext cx="274320" cy="274320"/>
          </a:xfrm>
          <a:prstGeom prst="rect">
            <a:avLst/>
          </a:prstGeom>
        </p:spPr>
      </p:pic>
      <p:sp>
        <p:nvSpPr>
          <p:cNvPr id="40" name="Text 31"/>
          <p:cNvSpPr txBox="1"/>
          <p:nvPr/>
        </p:nvSpPr>
        <p:spPr>
          <a:xfrm>
            <a:off x="10268712" y="2103120"/>
            <a:ext cx="941832" cy="868680"/>
          </a:xfrm>
          <a:prstGeom prst="rect">
            <a:avLst/>
          </a:prstGeom>
          <a:noFill/>
          <a:ln/>
        </p:spPr>
        <p:txBody>
          <a:bodyPr wrap="square" lIns="0" tIns="0" rIns="0" bIns="0" rtlCol="0" anchor="ctr"/>
          <a:lstStyle/>
          <a:p>
            <a:pPr algn="l" indent="0" marL="0">
              <a:buNone/>
            </a:pPr>
            <a:r>
              <a:rPr lang="en-US" sz="950" b="1" dirty="0">
                <a:solidFill>
                  <a:srgbClr val="1B2A49"/>
                </a:solidFill>
                <a:latin typeface="Meiryo UI" pitchFamily="34" charset="0"/>
                <a:ea typeface="Meiryo UI" pitchFamily="34" charset="-122"/>
                <a:cs typeface="Meiryo UI" pitchFamily="34" charset="-120"/>
              </a:rPr>
              <a:t>エージェントのツール</a:t>
            </a:r>
            <a:endParaRPr lang="en-US" sz="950" dirty="0"/>
          </a:p>
          <a:p>
            <a:pPr algn="l" indent="0" marL="0">
              <a:buNone/>
            </a:pPr>
            <a:r>
              <a:rPr lang="en-US" sz="750" dirty="0">
                <a:solidFill>
                  <a:srgbClr val="6B7280"/>
                </a:solidFill>
                <a:latin typeface="Meiryo UI" pitchFamily="34" charset="0"/>
                <a:ea typeface="Meiryo UI" pitchFamily="34" charset="-122"/>
                <a:cs typeface="Meiryo UI" pitchFamily="34" charset="-120"/>
              </a:rPr>
              <a:t>Airtableに書き込む</a:t>
            </a:r>
            <a:endParaRPr lang="en-US" sz="950" dirty="0"/>
          </a:p>
        </p:txBody>
      </p:sp>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6355080" y="3291840"/>
          <a:ext cx="5074920" cy="914400"/>
        </p:xfrm>
        <a:graphic>
          <a:graphicData uri="http://schemas.openxmlformats.org/drawingml/2006/table">
            <a:tbl>
              <a:tblPr/>
              <a:tblGrid>
                <a:gridCol w="1325880"/>
                <a:gridCol w="3749040"/>
              </a:tblGrid>
              <a:tr h="475488">
                <a:tc>
                  <a:txBody>
                    <a:bodyPr/>
                    <a:lstStyle/>
                    <a:p>
                      <a:pPr indent="0" marL="0">
                        <a:buNone/>
                      </a:pPr>
                      <a:r>
                        <a:rPr lang="en-US" sz="950" b="1" dirty="0">
                          <a:solidFill>
                            <a:srgbClr val="1B2A49"/>
                          </a:solidFill>
                          <a:latin typeface="Meiryo UI" pitchFamily="34" charset="0"/>
                          <a:ea typeface="Meiryo UI" pitchFamily="34" charset="-122"/>
                          <a:cs typeface="Meiryo UI" pitchFamily="34" charset="-120"/>
                        </a:rPr>
                        <a:t>仕組み</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Copilot Studioのイベントトリガーで、エージェントが自動で起動する（人が話しかけなくても動く）</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75488">
                <a:tc>
                  <a:txBody>
                    <a:bodyPr/>
                    <a:lstStyle/>
                    <a:p>
                      <a:pPr indent="0" marL="0">
                        <a:buNone/>
                      </a:pPr>
                      <a:r>
                        <a:rPr lang="en-US" sz="950" b="1" dirty="0">
                          <a:solidFill>
                            <a:srgbClr val="1B2A49"/>
                          </a:solidFill>
                          <a:latin typeface="Meiryo UI" pitchFamily="34" charset="0"/>
                          <a:ea typeface="Meiryo UI" pitchFamily="34" charset="-122"/>
                          <a:cs typeface="Meiryo UI" pitchFamily="34" charset="-120"/>
                        </a:rPr>
                        <a:t>エージェントの役割</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取得・生成・書き込みまで、手順を自分で判断して実行</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75488">
                <a:tc>
                  <a:txBody>
                    <a:bodyPr/>
                    <a:lstStyle/>
                    <a:p>
                      <a:pPr indent="0" marL="0">
                        <a:buNone/>
                      </a:pPr>
                      <a:r>
                        <a:rPr lang="en-US" sz="950" b="1" dirty="0">
                          <a:solidFill>
                            <a:srgbClr val="1B2A49"/>
                          </a:solidFill>
                          <a:latin typeface="Meiryo UI" pitchFamily="34" charset="0"/>
                          <a:ea typeface="Meiryo UI" pitchFamily="34" charset="-122"/>
                          <a:cs typeface="Meiryo UI" pitchFamily="34" charset="-120"/>
                        </a:rPr>
                        <a:t>確実さ</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書き込むかどうかもエージェントの判断に依存するため、制御しにくい</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75488">
                <a:tc>
                  <a:txBody>
                    <a:bodyPr/>
                    <a:lstStyle/>
                    <a:p>
                      <a:pPr indent="0" marL="0">
                        <a:buNone/>
                      </a:pPr>
                      <a:r>
                        <a:rPr lang="en-US" sz="950" b="1" dirty="0">
                          <a:solidFill>
                            <a:srgbClr val="1B2A49"/>
                          </a:solidFill>
                          <a:latin typeface="Meiryo UI" pitchFamily="34" charset="0"/>
                          <a:ea typeface="Meiryo UI" pitchFamily="34" charset="-122"/>
                          <a:cs typeface="Meiryo UI" pitchFamily="34" charset="-120"/>
                        </a:rPr>
                        <a:t>費用</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自律実行もCopilotクレジットの消費対象</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75488">
                <a:tc>
                  <a:txBody>
                    <a:bodyPr/>
                    <a:lstStyle/>
                    <a:p>
                      <a:pPr indent="0" marL="0">
                        <a:buNone/>
                      </a:pPr>
                      <a:r>
                        <a:rPr lang="en-US" sz="950" b="1" dirty="0">
                          <a:solidFill>
                            <a:srgbClr val="1B2A49"/>
                          </a:solidFill>
                          <a:latin typeface="Meiryo UI" pitchFamily="34" charset="0"/>
                          <a:ea typeface="Meiryo UI" pitchFamily="34" charset="-122"/>
                          <a:cs typeface="Meiryo UI" pitchFamily="34" charset="-120"/>
                        </a:rPr>
                        <a:t>該当するパターン</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P10</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検討の観点（パターンを分ける軸）</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トリガー（手動／自動）とインターフェース（ファイル／APIなど）に加えて、次の観点で方式の性格が変わる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1. 検討の観点</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8</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457200"/>
                <a:gridCol w="2011680"/>
                <a:gridCol w="5486400"/>
                <a:gridCol w="3108960"/>
              </a:tblGrid>
              <a:tr h="384048">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観点</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主な選択肢</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何に影響するか</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r>
              <a:tr h="374904">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1</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トリガー</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手動（人がチャット・ボタン）／自動（レコード作成・条件一致・定時）</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自動化の度合い、即時性</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374904">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2</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インターフェース</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人の手／ファイル（CSV・Excel）／REST API／コネクタ／MCP／iPaaS</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難易度、保守性</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74904">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3</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起点（どちらが呼ぶか）</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Airtable → M365（押し込む）／M365 → Airtable（取りに行く）</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外部からの受け口を公開する必要があるか（セキュリティ）</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374904">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4</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エージェントの種類</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Agent Builder／Copilot Studio</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自動化できる範囲、費用</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74904">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5</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書き込み先と反映方法</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（前提により決定）下書き用の欄に書く。上書きか履歴を残すかは要検討</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DEBD3"/>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誤った内容が確定情報に混ざるリスク</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374904">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6</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人の確認・承認</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（前提により決定）書き込み後に人が確認し、人が確定する</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DEBD3"/>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品質の担保、運用の手間</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74904">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7</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修正指示の出し方</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Airtableの画面内（指示欄＋再生成ボタン／拡張機能）／Airtableから遷移する専用画面／Teams／Copilotのチャット</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使い勝手、実装量、作業の起点との一致</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374904">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8</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入力データの渡し方</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エージェントに探させる／呼び出し側がまとめて渡す</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推論の精度・再現性</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74904">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9</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処理時間の制約</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応答を待つ（同期）／待たない（非同期）</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Airtableスクリプトの30秒制限に当たるか</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374904">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10</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認証・ガバナンス</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PAT、OAuth、HTTPトリガーの公開範囲、DLP、MCPの許可リスト</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情シスの承認が必要か、秘密情報の管理</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74904">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11</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ライセンス・費用</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Copilot Studio、Power Automate Premium、Airtableのプラン、iPaaSの契約</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継続費用</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374904">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12</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運用</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エラー通知、再実行、二重実行の防止（ステータス欄）、レート制限、保守の担い手</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安定性、属人化</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548640" y="6355080"/>
            <a:ext cx="11064240" cy="256032"/>
          </a:xfrm>
          <a:prstGeom prst="rect">
            <a:avLst/>
          </a:prstGeom>
          <a:noFill/>
          <a:ln/>
        </p:spPr>
        <p:txBody>
          <a:bodyPr wrap="square" lIns="0" tIns="0" rIns="0" bIns="0" rtlCol="0" anchor="t"/>
          <a:lstStyle/>
          <a:p>
            <a:pPr indent="0" marL="0">
              <a:buNone/>
            </a:pPr>
            <a:r>
              <a:rPr lang="en-US" sz="950" dirty="0">
                <a:solidFill>
                  <a:srgbClr val="6B7280"/>
                </a:solidFill>
                <a:latin typeface="Meiryo UI" pitchFamily="34" charset="0"/>
                <a:ea typeface="Meiryo UI" pitchFamily="34" charset="-122"/>
                <a:cs typeface="Meiryo UI" pitchFamily="34" charset="-120"/>
              </a:rPr>
              <a:t>網掛けの観点は、前提（AIの回答は下書き・確定は人）によって決まっている</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連携パターン一覧（1/2）：P1〜P9</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難易度（★）は、開発量・必要なスキル・関係する部署やシステムの数から見た相対的な目安</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2. 連携パターン一覧</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9</a:t>
            </a:r>
            <a:endParaRPr lang="en-US" sz="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502920"/>
                <a:gridCol w="3474720"/>
                <a:gridCol w="1508760"/>
                <a:gridCol w="1600200"/>
                <a:gridCol w="1188720"/>
                <a:gridCol w="1097280"/>
                <a:gridCol w="1051560"/>
                <a:gridCol w="640080"/>
              </a:tblGrid>
              <a:tr h="384048">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ID</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パターン</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トリガー</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インターフェース</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起点</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エージェント</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修正指示</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難易度</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r>
              <a:tr h="475488">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P1</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9F9A"/>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チャットで生成し、人が転記</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手動</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人の手</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Builder／Studio</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チャット</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950" b="1" dirty="0">
                          <a:solidFill>
                            <a:srgbClr val="E8912D"/>
                          </a:solidFill>
                          <a:latin typeface="Meiryo UI" pitchFamily="34" charset="0"/>
                          <a:ea typeface="Meiryo UI" pitchFamily="34" charset="-122"/>
                          <a:cs typeface="Meiryo UI" pitchFamily="34" charset="-120"/>
                        </a:rPr>
                        <a:t>★</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75488">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P2</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9F9A"/>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カードの一覧をCSVで渡し、エージェントが下書きをCSVで出力して、Airtableに取り込む</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手動</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ファイル（CSVインポート）</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Builder／Studio</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チャット</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E8912D"/>
                          </a:solidFill>
                          <a:latin typeface="Meiryo UI" pitchFamily="34" charset="0"/>
                          <a:ea typeface="Meiryo UI" pitchFamily="34" charset="-122"/>
                          <a:cs typeface="Meiryo UI" pitchFamily="34" charset="-120"/>
                        </a:rPr>
                        <a:t>★</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75488">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P3</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9F9A"/>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ファイルをSharePointに置き、Power AutomateがAirtableに書き込む</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半自動</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ファイル＋API</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M365→Airtable</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Builder／Studio</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チャット</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950" b="1" dirty="0">
                          <a:solidFill>
                            <a:srgbClr val="E8912D"/>
                          </a:solidFill>
                          <a:latin typeface="Meiryo UI" pitchFamily="34" charset="0"/>
                          <a:ea typeface="Meiryo UI" pitchFamily="34" charset="-122"/>
                          <a:cs typeface="Meiryo UI" pitchFamily="34" charset="-120"/>
                        </a:rPr>
                        <a:t>★★</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75488">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P4</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9F9A"/>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ファイルをAirtableのSync APIで同期テーブルに取り込む</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半自動</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ファイル＋Sync API</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M365→Airtable</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Builder／Studio</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チャット</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E8912D"/>
                          </a:solidFill>
                          <a:latin typeface="Meiryo UI" pitchFamily="34" charset="0"/>
                          <a:ea typeface="Meiryo UI" pitchFamily="34" charset="-122"/>
                          <a:cs typeface="Meiryo UI" pitchFamily="34" charset="-120"/>
                        </a:rPr>
                        <a:t>★★</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75488">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P5</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9F9A"/>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エージェントに対話で依頼し、エージェント自身がAirtableに書き込む</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手動</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API（カスタムコネクタ・HTTP）</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M365→Airtable</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Studio</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チャット</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950" b="1" dirty="0">
                          <a:solidFill>
                            <a:srgbClr val="E8912D"/>
                          </a:solidFill>
                          <a:latin typeface="Meiryo UI" pitchFamily="34" charset="0"/>
                          <a:ea typeface="Meiryo UI" pitchFamily="34" charset="-122"/>
                          <a:cs typeface="Meiryo UI" pitchFamily="34" charset="-120"/>
                        </a:rPr>
                        <a:t>★★</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75488">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P6</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9F9A"/>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P5のツールとしてAirtable公式MCPサーバーを使う</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手動</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MCP</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M365→Airtable</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Studio</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チャット</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E8912D"/>
                          </a:solidFill>
                          <a:latin typeface="Meiryo UI" pitchFamily="34" charset="0"/>
                          <a:ea typeface="Meiryo UI" pitchFamily="34" charset="-122"/>
                          <a:cs typeface="Meiryo UI" pitchFamily="34" charset="-120"/>
                        </a:rPr>
                        <a:t>★★</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75488">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P7</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9F9A"/>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Power Automateが定期的にAirtableを確認し、未起案のカードを起案して書き戻す</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自動（定時）</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API</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M365→Airtable</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Studio</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—（P14などと組み合わせる）</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950" b="1" dirty="0">
                          <a:solidFill>
                            <a:srgbClr val="E8912D"/>
                          </a:solidFill>
                          <a:latin typeface="Meiryo UI" pitchFamily="34" charset="0"/>
                          <a:ea typeface="Meiryo UI" pitchFamily="34" charset="-122"/>
                          <a:cs typeface="Meiryo UI" pitchFamily="34" charset="-120"/>
                        </a:rPr>
                        <a:t>★★</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75488">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P8</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9F9A"/>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P7に、Teamsでの確認・承認を挟む</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自動（定時）</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API＋Teams</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M365→Airtable</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Studio</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Teams</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E8912D"/>
                          </a:solidFill>
                          <a:latin typeface="Meiryo UI" pitchFamily="34" charset="0"/>
                          <a:ea typeface="Meiryo UI" pitchFamily="34" charset="-122"/>
                          <a:cs typeface="Meiryo UI" pitchFamily="34" charset="-120"/>
                        </a:rPr>
                        <a:t>★★★</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75488">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P9</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9F9A"/>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Airtableのボタン・オートメーションから、Power Automateを呼んで起案・書き戻し</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自動（Airtable起点）</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API（HTTPトリガー）</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Airtable→M365</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Studio</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—（P14などと組み合わせる）</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950" b="1" dirty="0">
                          <a:solidFill>
                            <a:srgbClr val="E8912D"/>
                          </a:solidFill>
                          <a:latin typeface="Meiryo UI" pitchFamily="34" charset="0"/>
                          <a:ea typeface="Meiryo UI" pitchFamily="34" charset="-122"/>
                          <a:cs typeface="Meiryo UI" pitchFamily="34" charset="-120"/>
                        </a:rPr>
                        <a:t>★★★</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bl>
          </a:graphicData>
        </a:graphic>
      </p:graphicFrame>
      <p:sp>
        <p:nvSpPr>
          <p:cNvPr id="7" name="Text 4"/>
          <p:cNvSpPr txBox="1"/>
          <p:nvPr/>
        </p:nvSpPr>
        <p:spPr>
          <a:xfrm>
            <a:off x="548640" y="6263640"/>
            <a:ext cx="11064240" cy="274320"/>
          </a:xfrm>
          <a:prstGeom prst="rect">
            <a:avLst/>
          </a:prstGeom>
          <a:noFill/>
          <a:ln/>
        </p:spPr>
        <p:txBody>
          <a:bodyPr wrap="square" lIns="0" tIns="0" rIns="0" bIns="0" rtlCol="0" anchor="t"/>
          <a:lstStyle/>
          <a:p>
            <a:pPr indent="0" marL="0">
              <a:buNone/>
            </a:pPr>
            <a:r>
              <a:rPr lang="en-US" sz="950" dirty="0">
                <a:solidFill>
                  <a:srgbClr val="6B7280"/>
                </a:solidFill>
                <a:latin typeface="Meiryo UI" pitchFamily="34" charset="0"/>
                <a:ea typeface="Meiryo UI" pitchFamily="34" charset="-122"/>
                <a:cs typeface="Meiryo UI" pitchFamily="34" charset="-120"/>
              </a:rPr>
              <a:t>※前提により、どのパターンも書き込み先は下書き用の欄とし、確定は人が行う。「Builder」はAgent Builder、「Studio」はCopilot Studioのエージェント</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連携パターン一覧（2/2）：P10〜P17、参考</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P10〜P13は自動起動のバリエーション、P14〜P17は修正指示の受け付け方のバリエーション</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2. 連携パターン一覧</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10</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502920"/>
                <a:gridCol w="3474720"/>
                <a:gridCol w="1508760"/>
                <a:gridCol w="1600200"/>
                <a:gridCol w="1188720"/>
                <a:gridCol w="1097280"/>
                <a:gridCol w="1051560"/>
                <a:gridCol w="640080"/>
              </a:tblGrid>
              <a:tr h="329184">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ID</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パターン</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トリガー</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インターフェース</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起点</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エージェント</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修正指示</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難易度</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r>
              <a:tr h="402336">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P10</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9F9A"/>
                    </a:solidFill>
                  </a:tcPr>
                </a:tc>
                <a:tc>
                  <a:txBody>
                    <a:bodyPr/>
                    <a:lstStyle/>
                    <a:p>
                      <a:pPr indent="0" marL="0">
                        <a:buNone/>
                      </a:pPr>
                      <a:r>
                        <a:rPr lang="en-US" sz="900" dirty="0">
                          <a:solidFill>
                            <a:srgbClr val="2B2B2B"/>
                          </a:solidFill>
                          <a:latin typeface="Meiryo UI" pitchFamily="34" charset="0"/>
                          <a:ea typeface="Meiryo UI" pitchFamily="34" charset="-122"/>
                          <a:cs typeface="Meiryo UI" pitchFamily="34" charset="-120"/>
                        </a:rPr>
                        <a:t>Airtableから、Copilot Studioのエージェントを自律的に起動し、エージェントが書き戻す</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900" dirty="0">
                          <a:solidFill>
                            <a:srgbClr val="2B2B2B"/>
                          </a:solidFill>
                          <a:latin typeface="Meiryo UI" pitchFamily="34" charset="0"/>
                          <a:ea typeface="Meiryo UI" pitchFamily="34" charset="-122"/>
                          <a:cs typeface="Meiryo UI" pitchFamily="34" charset="-120"/>
                        </a:rPr>
                        <a:t>自動（Airtable起点）</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900" dirty="0">
                          <a:solidFill>
                            <a:srgbClr val="2B2B2B"/>
                          </a:solidFill>
                          <a:latin typeface="Meiryo UI" pitchFamily="34" charset="0"/>
                          <a:ea typeface="Meiryo UI" pitchFamily="34" charset="-122"/>
                          <a:cs typeface="Meiryo UI" pitchFamily="34" charset="-120"/>
                        </a:rPr>
                        <a:t>API（イベントトリガー）＋ツール／MCP</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900" dirty="0">
                          <a:solidFill>
                            <a:srgbClr val="2B2B2B"/>
                          </a:solidFill>
                          <a:latin typeface="Meiryo UI" pitchFamily="34" charset="0"/>
                          <a:ea typeface="Meiryo UI" pitchFamily="34" charset="-122"/>
                          <a:cs typeface="Meiryo UI" pitchFamily="34" charset="-120"/>
                        </a:rPr>
                        <a:t>Airtable→M365</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900" dirty="0">
                          <a:solidFill>
                            <a:srgbClr val="2B2B2B"/>
                          </a:solidFill>
                          <a:latin typeface="Meiryo UI" pitchFamily="34" charset="0"/>
                          <a:ea typeface="Meiryo UI" pitchFamily="34" charset="-122"/>
                          <a:cs typeface="Meiryo UI" pitchFamily="34" charset="-120"/>
                        </a:rPr>
                        <a:t>Studio</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900" dirty="0">
                          <a:solidFill>
                            <a:srgbClr val="2B2B2B"/>
                          </a:solidFill>
                          <a:latin typeface="Meiryo UI" pitchFamily="34" charset="0"/>
                          <a:ea typeface="Meiryo UI" pitchFamily="34" charset="-122"/>
                          <a:cs typeface="Meiryo UI" pitchFamily="34" charset="-120"/>
                        </a:rPr>
                        <a:t>—</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900" b="1" dirty="0">
                          <a:solidFill>
                            <a:srgbClr val="E8912D"/>
                          </a:solidFill>
                          <a:latin typeface="Meiryo UI" pitchFamily="34" charset="0"/>
                          <a:ea typeface="Meiryo UI" pitchFamily="34" charset="-122"/>
                          <a:cs typeface="Meiryo UI" pitchFamily="34" charset="-120"/>
                        </a:rPr>
                        <a:t>★★★</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02336">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P11</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9F9A"/>
                    </a:solidFill>
                  </a:tcPr>
                </a:tc>
                <a:tc>
                  <a:txBody>
                    <a:bodyPr/>
                    <a:lstStyle/>
                    <a:p>
                      <a:pPr indent="0" marL="0">
                        <a:buNone/>
                      </a:pPr>
                      <a:r>
                        <a:rPr lang="en-US" sz="900" dirty="0">
                          <a:solidFill>
                            <a:srgbClr val="2B2B2B"/>
                          </a:solidFill>
                          <a:latin typeface="Meiryo UI" pitchFamily="34" charset="0"/>
                          <a:ea typeface="Meiryo UI" pitchFamily="34" charset="-122"/>
                          <a:cs typeface="Meiryo UI" pitchFamily="34" charset="-120"/>
                        </a:rPr>
                        <a:t>Airtableのスクリプトから、Direct Lineでエージェントを直接呼ぶ</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Meiryo UI" pitchFamily="34" charset="0"/>
                          <a:ea typeface="Meiryo UI" pitchFamily="34" charset="-122"/>
                          <a:cs typeface="Meiryo UI" pitchFamily="34" charset="-120"/>
                        </a:rPr>
                        <a:t>自動（Airtable起点）</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Meiryo UI" pitchFamily="34" charset="0"/>
                          <a:ea typeface="Meiryo UI" pitchFamily="34" charset="-122"/>
                          <a:cs typeface="Meiryo UI" pitchFamily="34" charset="-120"/>
                        </a:rPr>
                        <a:t>API（Direct Line）</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Meiryo UI" pitchFamily="34" charset="0"/>
                          <a:ea typeface="Meiryo UI" pitchFamily="34" charset="-122"/>
                          <a:cs typeface="Meiryo UI" pitchFamily="34" charset="-120"/>
                        </a:rPr>
                        <a:t>Airtable→M365</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Meiryo UI" pitchFamily="34" charset="0"/>
                          <a:ea typeface="Meiryo UI" pitchFamily="34" charset="-122"/>
                          <a:cs typeface="Meiryo UI" pitchFamily="34" charset="-120"/>
                        </a:rPr>
                        <a:t>Studio</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Meiryo UI" pitchFamily="34" charset="0"/>
                          <a:ea typeface="Meiryo UI" pitchFamily="34" charset="-122"/>
                          <a:cs typeface="Meiryo UI" pitchFamily="34" charset="-120"/>
                        </a:rPr>
                        <a:t>—</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E8912D"/>
                          </a:solidFill>
                          <a:latin typeface="Meiryo UI" pitchFamily="34" charset="0"/>
                          <a:ea typeface="Meiryo UI" pitchFamily="34" charset="-122"/>
                          <a:cs typeface="Meiryo UI" pitchFamily="34" charset="-120"/>
                        </a:rPr>
                        <a:t>★★★★</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02336">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P12</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9F9A"/>
                    </a:solidFill>
                  </a:tcPr>
                </a:tc>
                <a:tc>
                  <a:txBody>
                    <a:bodyPr/>
                    <a:lstStyle/>
                    <a:p>
                      <a:pPr indent="0" marL="0">
                        <a:buNone/>
                      </a:pPr>
                      <a:r>
                        <a:rPr lang="en-US" sz="900" dirty="0">
                          <a:solidFill>
                            <a:srgbClr val="2B2B2B"/>
                          </a:solidFill>
                          <a:latin typeface="Meiryo UI" pitchFamily="34" charset="0"/>
                          <a:ea typeface="Meiryo UI" pitchFamily="34" charset="-122"/>
                          <a:cs typeface="Meiryo UI" pitchFamily="34" charset="-120"/>
                        </a:rPr>
                        <a:t>AirtableのWebhooks APIで変更を通知し、Power Automateが処理する</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900" dirty="0">
                          <a:solidFill>
                            <a:srgbClr val="2B2B2B"/>
                          </a:solidFill>
                          <a:latin typeface="Meiryo UI" pitchFamily="34" charset="0"/>
                          <a:ea typeface="Meiryo UI" pitchFamily="34" charset="-122"/>
                          <a:cs typeface="Meiryo UI" pitchFamily="34" charset="-120"/>
                        </a:rPr>
                        <a:t>自動（Airtable起点）</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900" dirty="0">
                          <a:solidFill>
                            <a:srgbClr val="2B2B2B"/>
                          </a:solidFill>
                          <a:latin typeface="Meiryo UI" pitchFamily="34" charset="0"/>
                          <a:ea typeface="Meiryo UI" pitchFamily="34" charset="-122"/>
                          <a:cs typeface="Meiryo UI" pitchFamily="34" charset="-120"/>
                        </a:rPr>
                        <a:t>Webhook＋API</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900" dirty="0">
                          <a:solidFill>
                            <a:srgbClr val="2B2B2B"/>
                          </a:solidFill>
                          <a:latin typeface="Meiryo UI" pitchFamily="34" charset="0"/>
                          <a:ea typeface="Meiryo UI" pitchFamily="34" charset="-122"/>
                          <a:cs typeface="Meiryo UI" pitchFamily="34" charset="-120"/>
                        </a:rPr>
                        <a:t>Airtable→M365</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900" dirty="0">
                          <a:solidFill>
                            <a:srgbClr val="2B2B2B"/>
                          </a:solidFill>
                          <a:latin typeface="Meiryo UI" pitchFamily="34" charset="0"/>
                          <a:ea typeface="Meiryo UI" pitchFamily="34" charset="-122"/>
                          <a:cs typeface="Meiryo UI" pitchFamily="34" charset="-120"/>
                        </a:rPr>
                        <a:t>Studio</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900" dirty="0">
                          <a:solidFill>
                            <a:srgbClr val="2B2B2B"/>
                          </a:solidFill>
                          <a:latin typeface="Meiryo UI" pitchFamily="34" charset="0"/>
                          <a:ea typeface="Meiryo UI" pitchFamily="34" charset="-122"/>
                          <a:cs typeface="Meiryo UI" pitchFamily="34" charset="-120"/>
                        </a:rPr>
                        <a:t>—</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900" b="1" dirty="0">
                          <a:solidFill>
                            <a:srgbClr val="E8912D"/>
                          </a:solidFill>
                          <a:latin typeface="Meiryo UI" pitchFamily="34" charset="0"/>
                          <a:ea typeface="Meiryo UI" pitchFamily="34" charset="-122"/>
                          <a:cs typeface="Meiryo UI" pitchFamily="34" charset="-120"/>
                        </a:rPr>
                        <a:t>★★★★</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02336">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P13</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9F9A"/>
                    </a:solidFill>
                  </a:tcPr>
                </a:tc>
                <a:tc>
                  <a:txBody>
                    <a:bodyPr/>
                    <a:lstStyle/>
                    <a:p>
                      <a:pPr indent="0" marL="0">
                        <a:buNone/>
                      </a:pPr>
                      <a:r>
                        <a:rPr lang="en-US" sz="900" dirty="0">
                          <a:solidFill>
                            <a:srgbClr val="2B2B2B"/>
                          </a:solidFill>
                          <a:latin typeface="Meiryo UI" pitchFamily="34" charset="0"/>
                          <a:ea typeface="Meiryo UI" pitchFamily="34" charset="-122"/>
                          <a:cs typeface="Meiryo UI" pitchFamily="34" charset="-120"/>
                        </a:rPr>
                        <a:t>iPaaS（Make・Zapierなど）でAirtableの変更を検知して処理する</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Meiryo UI" pitchFamily="34" charset="0"/>
                          <a:ea typeface="Meiryo UI" pitchFamily="34" charset="-122"/>
                          <a:cs typeface="Meiryo UI" pitchFamily="34" charset="-120"/>
                        </a:rPr>
                        <a:t>自動（Airtable起点）</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Meiryo UI" pitchFamily="34" charset="0"/>
                          <a:ea typeface="Meiryo UI" pitchFamily="34" charset="-122"/>
                          <a:cs typeface="Meiryo UI" pitchFamily="34" charset="-120"/>
                        </a:rPr>
                        <a:t>iPaaS</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Meiryo UI" pitchFamily="34" charset="0"/>
                          <a:ea typeface="Meiryo UI" pitchFamily="34" charset="-122"/>
                          <a:cs typeface="Meiryo UI" pitchFamily="34" charset="-120"/>
                        </a:rPr>
                        <a:t>外部サービス経由</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Meiryo UI" pitchFamily="34" charset="0"/>
                          <a:ea typeface="Meiryo UI" pitchFamily="34" charset="-122"/>
                          <a:cs typeface="Meiryo UI" pitchFamily="34" charset="-120"/>
                        </a:rPr>
                        <a:t>Studio（またはLLMのAPI）</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Meiryo UI" pitchFamily="34" charset="0"/>
                          <a:ea typeface="Meiryo UI" pitchFamily="34" charset="-122"/>
                          <a:cs typeface="Meiryo UI" pitchFamily="34" charset="-120"/>
                        </a:rPr>
                        <a:t>—</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E8912D"/>
                          </a:solidFill>
                          <a:latin typeface="Meiryo UI" pitchFamily="34" charset="0"/>
                          <a:ea typeface="Meiryo UI" pitchFamily="34" charset="-122"/>
                          <a:cs typeface="Meiryo UI" pitchFamily="34" charset="-120"/>
                        </a:rPr>
                        <a:t>★★</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02336">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P14</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9F9A"/>
                    </a:solidFill>
                  </a:tcPr>
                </a:tc>
                <a:tc>
                  <a:txBody>
                    <a:bodyPr/>
                    <a:lstStyle/>
                    <a:p>
                      <a:pPr indent="0" marL="0">
                        <a:buNone/>
                      </a:pPr>
                      <a:r>
                        <a:rPr lang="en-US" sz="900" dirty="0">
                          <a:solidFill>
                            <a:srgbClr val="2B2B2B"/>
                          </a:solidFill>
                          <a:latin typeface="Meiryo UI" pitchFamily="34" charset="0"/>
                          <a:ea typeface="Meiryo UI" pitchFamily="34" charset="-122"/>
                          <a:cs typeface="Meiryo UI" pitchFamily="34" charset="-120"/>
                        </a:rPr>
                        <a:t>Airtable上の「修正指示」欄と再実行ボタンで、再推論して上書きする</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900" dirty="0">
                          <a:solidFill>
                            <a:srgbClr val="2B2B2B"/>
                          </a:solidFill>
                          <a:latin typeface="Meiryo UI" pitchFamily="34" charset="0"/>
                          <a:ea typeface="Meiryo UI" pitchFamily="34" charset="-122"/>
                          <a:cs typeface="Meiryo UI" pitchFamily="34" charset="-120"/>
                        </a:rPr>
                        <a:t>自動＋手動</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900" dirty="0">
                          <a:solidFill>
                            <a:srgbClr val="2B2B2B"/>
                          </a:solidFill>
                          <a:latin typeface="Meiryo UI" pitchFamily="34" charset="0"/>
                          <a:ea typeface="Meiryo UI" pitchFamily="34" charset="-122"/>
                          <a:cs typeface="Meiryo UI" pitchFamily="34" charset="-120"/>
                        </a:rPr>
                        <a:t>API</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900" dirty="0">
                          <a:solidFill>
                            <a:srgbClr val="2B2B2B"/>
                          </a:solidFill>
                          <a:latin typeface="Meiryo UI" pitchFamily="34" charset="0"/>
                          <a:ea typeface="Meiryo UI" pitchFamily="34" charset="-122"/>
                          <a:cs typeface="Meiryo UI" pitchFamily="34" charset="-120"/>
                        </a:rPr>
                        <a:t>どちらも可</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900" dirty="0">
                          <a:solidFill>
                            <a:srgbClr val="2B2B2B"/>
                          </a:solidFill>
                          <a:latin typeface="Meiryo UI" pitchFamily="34" charset="0"/>
                          <a:ea typeface="Meiryo UI" pitchFamily="34" charset="-122"/>
                          <a:cs typeface="Meiryo UI" pitchFamily="34" charset="-120"/>
                        </a:rPr>
                        <a:t>Studio</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900" dirty="0">
                          <a:solidFill>
                            <a:srgbClr val="2B2B2B"/>
                          </a:solidFill>
                          <a:latin typeface="Meiryo UI" pitchFamily="34" charset="0"/>
                          <a:ea typeface="Meiryo UI" pitchFamily="34" charset="-122"/>
                          <a:cs typeface="Meiryo UI" pitchFamily="34" charset="-120"/>
                        </a:rPr>
                        <a:t>Airtable</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900" b="1" dirty="0">
                          <a:solidFill>
                            <a:srgbClr val="E8912D"/>
                          </a:solidFill>
                          <a:latin typeface="Meiryo UI" pitchFamily="34" charset="0"/>
                          <a:ea typeface="Meiryo UI" pitchFamily="34" charset="-122"/>
                          <a:cs typeface="Meiryo UI" pitchFamily="34" charset="-120"/>
                        </a:rPr>
                        <a:t>★★★</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02336">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P15</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9F9A"/>
                    </a:solidFill>
                  </a:tcPr>
                </a:tc>
                <a:tc>
                  <a:txBody>
                    <a:bodyPr/>
                    <a:lstStyle/>
                    <a:p>
                      <a:pPr indent="0" marL="0">
                        <a:buNone/>
                      </a:pPr>
                      <a:r>
                        <a:rPr lang="en-US" sz="900" dirty="0">
                          <a:solidFill>
                            <a:srgbClr val="2B2B2B"/>
                          </a:solidFill>
                          <a:latin typeface="Meiryo UI" pitchFamily="34" charset="0"/>
                          <a:ea typeface="Meiryo UI" pitchFamily="34" charset="-122"/>
                          <a:cs typeface="Meiryo UI" pitchFamily="34" charset="-120"/>
                        </a:rPr>
                        <a:t>Teamsで下書きを確認し、チャットやカードで修正指示を出す</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Meiryo UI" pitchFamily="34" charset="0"/>
                          <a:ea typeface="Meiryo UI" pitchFamily="34" charset="-122"/>
                          <a:cs typeface="Meiryo UI" pitchFamily="34" charset="-120"/>
                        </a:rPr>
                        <a:t>自動＋手動</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Meiryo UI" pitchFamily="34" charset="0"/>
                          <a:ea typeface="Meiryo UI" pitchFamily="34" charset="-122"/>
                          <a:cs typeface="Meiryo UI" pitchFamily="34" charset="-120"/>
                        </a:rPr>
                        <a:t>API＋Teams</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Meiryo UI" pitchFamily="34" charset="0"/>
                          <a:ea typeface="Meiryo UI" pitchFamily="34" charset="-122"/>
                          <a:cs typeface="Meiryo UI" pitchFamily="34" charset="-120"/>
                        </a:rPr>
                        <a:t>M365→Airtable</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Meiryo UI" pitchFamily="34" charset="0"/>
                          <a:ea typeface="Meiryo UI" pitchFamily="34" charset="-122"/>
                          <a:cs typeface="Meiryo UI" pitchFamily="34" charset="-120"/>
                        </a:rPr>
                        <a:t>Studio</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Meiryo UI" pitchFamily="34" charset="0"/>
                          <a:ea typeface="Meiryo UI" pitchFamily="34" charset="-122"/>
                          <a:cs typeface="Meiryo UI" pitchFamily="34" charset="-120"/>
                        </a:rPr>
                        <a:t>Teams</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E8912D"/>
                          </a:solidFill>
                          <a:latin typeface="Meiryo UI" pitchFamily="34" charset="0"/>
                          <a:ea typeface="Meiryo UI" pitchFamily="34" charset="-122"/>
                          <a:cs typeface="Meiryo UI" pitchFamily="34" charset="-120"/>
                        </a:rPr>
                        <a:t>★★★★</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02336">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P16</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9F9A"/>
                    </a:solidFill>
                  </a:tcPr>
                </a:tc>
                <a:tc>
                  <a:txBody>
                    <a:bodyPr/>
                    <a:lstStyle/>
                    <a:p>
                      <a:pPr indent="0" marL="0">
                        <a:buNone/>
                      </a:pPr>
                      <a:r>
                        <a:rPr lang="en-US" sz="900" dirty="0">
                          <a:solidFill>
                            <a:srgbClr val="2B2B2B"/>
                          </a:solidFill>
                          <a:latin typeface="Meiryo UI" pitchFamily="34" charset="0"/>
                          <a:ea typeface="Meiryo UI" pitchFamily="34" charset="-122"/>
                          <a:cs typeface="Meiryo UI" pitchFamily="34" charset="-120"/>
                        </a:rPr>
                        <a:t>専用画面（Power Apps code apps）で対話しながら修正し、確定時にAirtableへ書き込む</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900" dirty="0">
                          <a:solidFill>
                            <a:srgbClr val="2B2B2B"/>
                          </a:solidFill>
                          <a:latin typeface="Meiryo UI" pitchFamily="34" charset="0"/>
                          <a:ea typeface="Meiryo UI" pitchFamily="34" charset="-122"/>
                          <a:cs typeface="Meiryo UI" pitchFamily="34" charset="-120"/>
                        </a:rPr>
                        <a:t>手動（画面）</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900" dirty="0">
                          <a:solidFill>
                            <a:srgbClr val="2B2B2B"/>
                          </a:solidFill>
                          <a:latin typeface="Meiryo UI" pitchFamily="34" charset="0"/>
                          <a:ea typeface="Meiryo UI" pitchFamily="34" charset="-122"/>
                          <a:cs typeface="Meiryo UI" pitchFamily="34" charset="-120"/>
                        </a:rPr>
                        <a:t>API</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900" dirty="0">
                          <a:solidFill>
                            <a:srgbClr val="2B2B2B"/>
                          </a:solidFill>
                          <a:latin typeface="Meiryo UI" pitchFamily="34" charset="0"/>
                          <a:ea typeface="Meiryo UI" pitchFamily="34" charset="-122"/>
                          <a:cs typeface="Meiryo UI" pitchFamily="34" charset="-120"/>
                        </a:rPr>
                        <a:t>M365→Airtable</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900" dirty="0">
                          <a:solidFill>
                            <a:srgbClr val="2B2B2B"/>
                          </a:solidFill>
                          <a:latin typeface="Meiryo UI" pitchFamily="34" charset="0"/>
                          <a:ea typeface="Meiryo UI" pitchFamily="34" charset="-122"/>
                          <a:cs typeface="Meiryo UI" pitchFamily="34" charset="-120"/>
                        </a:rPr>
                        <a:t>Studio</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900" dirty="0">
                          <a:solidFill>
                            <a:srgbClr val="2B2B2B"/>
                          </a:solidFill>
                          <a:latin typeface="Meiryo UI" pitchFamily="34" charset="0"/>
                          <a:ea typeface="Meiryo UI" pitchFamily="34" charset="-122"/>
                          <a:cs typeface="Meiryo UI" pitchFamily="34" charset="-120"/>
                        </a:rPr>
                        <a:t>専用画面</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900" b="1" dirty="0">
                          <a:solidFill>
                            <a:srgbClr val="E8912D"/>
                          </a:solidFill>
                          <a:latin typeface="Meiryo UI" pitchFamily="34" charset="0"/>
                          <a:ea typeface="Meiryo UI" pitchFamily="34" charset="-122"/>
                          <a:cs typeface="Meiryo UI" pitchFamily="34" charset="-120"/>
                        </a:rPr>
                        <a:t>★★★★</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02336">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P17</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9F9A"/>
                    </a:solidFill>
                  </a:tcPr>
                </a:tc>
                <a:tc>
                  <a:txBody>
                    <a:bodyPr/>
                    <a:lstStyle/>
                    <a:p>
                      <a:pPr indent="0" marL="0">
                        <a:buNone/>
                      </a:pPr>
                      <a:r>
                        <a:rPr lang="en-US" sz="900" dirty="0">
                          <a:solidFill>
                            <a:srgbClr val="2B2B2B"/>
                          </a:solidFill>
                          <a:latin typeface="Meiryo UI" pitchFamily="34" charset="0"/>
                          <a:ea typeface="Meiryo UI" pitchFamily="34" charset="-122"/>
                          <a:cs typeface="Meiryo UI" pitchFamily="34" charset="-120"/>
                        </a:rPr>
                        <a:t>Airtableの画面内に、拡張機能（Interface Extensions）で修正用のパネルを組み込む</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Meiryo UI" pitchFamily="34" charset="0"/>
                          <a:ea typeface="Meiryo UI" pitchFamily="34" charset="-122"/>
                          <a:cs typeface="Meiryo UI" pitchFamily="34" charset="-120"/>
                        </a:rPr>
                        <a:t>手動（Airtable画面）</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Meiryo UI" pitchFamily="34" charset="0"/>
                          <a:ea typeface="Meiryo UI" pitchFamily="34" charset="-122"/>
                          <a:cs typeface="Meiryo UI" pitchFamily="34" charset="-120"/>
                        </a:rPr>
                        <a:t>API</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Meiryo UI" pitchFamily="34" charset="0"/>
                          <a:ea typeface="Meiryo UI" pitchFamily="34" charset="-122"/>
                          <a:cs typeface="Meiryo UI" pitchFamily="34" charset="-120"/>
                        </a:rPr>
                        <a:t>Airtable→M365</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Meiryo UI" pitchFamily="34" charset="0"/>
                          <a:ea typeface="Meiryo UI" pitchFamily="34" charset="-122"/>
                          <a:cs typeface="Meiryo UI" pitchFamily="34" charset="-120"/>
                        </a:rPr>
                        <a:t>Studio</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B2B2B"/>
                          </a:solidFill>
                          <a:latin typeface="Meiryo UI" pitchFamily="34" charset="0"/>
                          <a:ea typeface="Meiryo UI" pitchFamily="34" charset="-122"/>
                          <a:cs typeface="Meiryo UI" pitchFamily="34" charset="-120"/>
                        </a:rPr>
                        <a:t>Airtable画面内</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E8912D"/>
                          </a:solidFill>
                          <a:latin typeface="Meiryo UI" pitchFamily="34" charset="0"/>
                          <a:ea typeface="Meiryo UI" pitchFamily="34" charset="-122"/>
                          <a:cs typeface="Meiryo UI" pitchFamily="34" charset="-120"/>
                        </a:rPr>
                        <a:t>★★★★</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548640" y="5047488"/>
            <a:ext cx="7315200" cy="274320"/>
          </a:xfrm>
          <a:prstGeom prst="rect">
            <a:avLst/>
          </a:prstGeom>
          <a:noFill/>
          <a:ln/>
        </p:spPr>
        <p:txBody>
          <a:bodyPr wrap="square" lIns="0" tIns="0" rIns="0" bIns="0" rtlCol="0" anchor="ctr"/>
          <a:lstStyle/>
          <a:p>
            <a:pPr indent="0" marL="0">
              <a:buNone/>
            </a:pPr>
            <a:r>
              <a:rPr lang="en-US" sz="1100" b="1" dirty="0">
                <a:solidFill>
                  <a:srgbClr val="1B2A49"/>
                </a:solidFill>
                <a:latin typeface="Meiryo UI" pitchFamily="34" charset="0"/>
                <a:ea typeface="Meiryo UI" pitchFamily="34" charset="-122"/>
                <a:cs typeface="Meiryo UI" pitchFamily="34" charset="-120"/>
              </a:rPr>
              <a:t>参考：Copilotを使わない、または読み取りだけの選択肢</a:t>
            </a:r>
            <a:endParaRPr lang="en-US" sz="1100" dirty="0"/>
          </a:p>
        </p:txBody>
      </p:sp>
      <p:graphicFrame>
        <p:nvGraphicFramePr>
          <p:cNvPr id="21" name="Table 1"/>
          <p:cNvGraphicFramePr>
            <a:graphicFrameLocks noGrp="1"/>
          </p:cNvGraphicFramePr>
          <p:nvPr>
            <p:extLst>
              <p:ext uri="{D42A27DB-BD31-4B8C-83A1-F6EECF244321}">
                <p14:modId xmlns:p14="http://schemas.microsoft.com/office/powerpoint/2010/main" val="1579011935"/>
              </p:ext>
            </p:extLst>
          </p:nvPr>
        </p:nvGraphicFramePr>
        <p:xfrm>
          <a:off x="548640" y="5358384"/>
          <a:ext cx="11064240" cy="914400"/>
        </p:xfrm>
        <a:graphic>
          <a:graphicData uri="http://schemas.openxmlformats.org/drawingml/2006/table">
            <a:tbl>
              <a:tblPr/>
              <a:tblGrid>
                <a:gridCol w="502920"/>
                <a:gridCol w="2651760"/>
                <a:gridCol w="4572000"/>
                <a:gridCol w="3337560"/>
              </a:tblGrid>
              <a:tr h="292608">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ID</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選択肢</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概要</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位置付け</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r>
              <a:tr h="347472">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R1</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9AA5B4"/>
                    </a:solidFill>
                  </a:tcPr>
                </a:tc>
                <a:tc>
                  <a:txBody>
                    <a:bodyPr/>
                    <a:lstStyle/>
                    <a:p>
                      <a:pPr indent="0" marL="0">
                        <a:buNone/>
                      </a:pPr>
                      <a:r>
                        <a:rPr lang="en-US" sz="900" dirty="0">
                          <a:solidFill>
                            <a:srgbClr val="2B2B2B"/>
                          </a:solidFill>
                          <a:latin typeface="Meiryo UI" pitchFamily="34" charset="0"/>
                          <a:ea typeface="Meiryo UI" pitchFamily="34" charset="-122"/>
                          <a:cs typeface="Meiryo UI" pitchFamily="34" charset="-120"/>
                        </a:rPr>
                        <a:t>Airtable標準のAI（Field Agents）</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900" dirty="0">
                          <a:solidFill>
                            <a:srgbClr val="2B2B2B"/>
                          </a:solidFill>
                          <a:latin typeface="Meiryo UI" pitchFamily="34" charset="0"/>
                          <a:ea typeface="Meiryo UI" pitchFamily="34" charset="-122"/>
                          <a:cs typeface="Meiryo UI" pitchFamily="34" charset="-120"/>
                        </a:rPr>
                        <a:t>Airtable内で、レコードの追加・更新をきっかけに項目を自動生成する（AIクレジット制）</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900" dirty="0">
                          <a:solidFill>
                            <a:srgbClr val="2B2B2B"/>
                          </a:solidFill>
                          <a:latin typeface="Meiryo UI" pitchFamily="34" charset="0"/>
                          <a:ea typeface="Meiryo UI" pitchFamily="34" charset="-122"/>
                          <a:cs typeface="Meiryo UI" pitchFamily="34" charset="-120"/>
                        </a:rPr>
                        <a:t>Copilotを使わない代替案</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347472">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R2</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9AA5B4"/>
                    </a:solidFill>
                  </a:tcPr>
                </a:tc>
                <a:tc>
                  <a:txBody>
                    <a:bodyPr/>
                    <a:lstStyle/>
                    <a:p>
                      <a:pPr indent="0" marL="0">
                        <a:buNone/>
                      </a:pPr>
                      <a:r>
                        <a:rPr lang="en-US" sz="900" dirty="0">
                          <a:solidFill>
                            <a:srgbClr val="2B2B2B"/>
                          </a:solidFill>
                          <a:latin typeface="Meiryo UI" pitchFamily="34" charset="0"/>
                          <a:ea typeface="Meiryo UI" pitchFamily="34" charset="-122"/>
                          <a:cs typeface="Meiryo UI" pitchFamily="34" charset="-120"/>
                        </a:rPr>
                        <a:t>M365 Copilot connector（Airtable）</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00" dirty="0">
                          <a:solidFill>
                            <a:srgbClr val="2B2B2B"/>
                          </a:solidFill>
                          <a:latin typeface="Meiryo UI" pitchFamily="34" charset="0"/>
                          <a:ea typeface="Meiryo UI" pitchFamily="34" charset="-122"/>
                          <a:cs typeface="Meiryo UI" pitchFamily="34" charset="-120"/>
                        </a:rPr>
                        <a:t>Airtableのレコードを取り込み、Copilotから検索・参照できるようにする</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00" dirty="0">
                          <a:solidFill>
                            <a:srgbClr val="2B2B2B"/>
                          </a:solidFill>
                          <a:latin typeface="Meiryo UI" pitchFamily="34" charset="0"/>
                          <a:ea typeface="Meiryo UI" pitchFamily="34" charset="-122"/>
                          <a:cs typeface="Meiryo UI" pitchFamily="34" charset="-120"/>
                        </a:rPr>
                        <a:t>読み取り専用。エージェントがAirtableの内容を参照するための補助手段</a:t>
                      </a:r>
                      <a:endParaRPr lang="en-US" sz="9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レベル0〜1：手作業・ファイル経由（1/2）</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エージェントはAgent Builderでもよい。P2以降は、カードを先に作り、カードIDでAIの出力を紐づける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3. パターン別の詳細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11</a:t>
            </a:r>
            <a:endParaRPr lang="en-US" sz="900" dirty="0"/>
          </a:p>
        </p:txBody>
      </p:sp>
      <p:sp>
        <p:nvSpPr>
          <p:cNvPr id="6" name="Shape 4"/>
          <p:cNvSpPr/>
          <p:nvPr/>
        </p:nvSpPr>
        <p:spPr>
          <a:xfrm>
            <a:off x="548640" y="1371600"/>
            <a:ext cx="5440680" cy="4983480"/>
          </a:xfrm>
          <a:prstGeom prst="roundRect">
            <a:avLst>
              <a:gd name="adj" fmla="val 917"/>
            </a:avLst>
          </a:prstGeom>
          <a:solidFill>
            <a:srgbClr val="F3F5F8"/>
          </a:solidFill>
          <a:ln/>
        </p:spPr>
      </p:sp>
      <p:sp>
        <p:nvSpPr>
          <p:cNvPr id="7" name="Shape 5"/>
          <p:cNvSpPr/>
          <p:nvPr/>
        </p:nvSpPr>
        <p:spPr>
          <a:xfrm>
            <a:off x="658368" y="1481328"/>
            <a:ext cx="457200" cy="457200"/>
          </a:xfrm>
          <a:prstGeom prst="ellipse">
            <a:avLst/>
          </a:prstGeom>
          <a:solidFill>
            <a:srgbClr val="0E9F9A"/>
          </a:solidFill>
          <a:ln/>
        </p:spPr>
      </p:sp>
      <p:sp>
        <p:nvSpPr>
          <p:cNvPr id="8" name="Text 6"/>
          <p:cNvSpPr txBox="1"/>
          <p:nvPr/>
        </p:nvSpPr>
        <p:spPr>
          <a:xfrm>
            <a:off x="658368" y="1481328"/>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P1</a:t>
            </a:r>
            <a:endParaRPr lang="en-US" sz="1100" dirty="0"/>
          </a:p>
        </p:txBody>
      </p:sp>
      <p:sp>
        <p:nvSpPr>
          <p:cNvPr id="9" name="Text 7"/>
          <p:cNvSpPr txBox="1"/>
          <p:nvPr/>
        </p:nvSpPr>
        <p:spPr>
          <a:xfrm>
            <a:off x="1188720" y="1426464"/>
            <a:ext cx="4709160" cy="512064"/>
          </a:xfrm>
          <a:prstGeom prst="rect">
            <a:avLst/>
          </a:prstGeom>
          <a:noFill/>
          <a:ln/>
        </p:spPr>
        <p:txBody>
          <a:bodyPr wrap="square" lIns="0" tIns="0" rIns="0" bIns="0" rtlCol="0" anchor="ctr"/>
          <a:lstStyle/>
          <a:p>
            <a:pPr indent="0" marL="0">
              <a:buNone/>
            </a:pPr>
            <a:r>
              <a:rPr lang="en-US" sz="1200" b="1" dirty="0">
                <a:solidFill>
                  <a:srgbClr val="1B2A49"/>
                </a:solidFill>
                <a:latin typeface="Meiryo UI" pitchFamily="34" charset="0"/>
                <a:ea typeface="Meiryo UI" pitchFamily="34" charset="-122"/>
                <a:cs typeface="Meiryo UI" pitchFamily="34" charset="-120"/>
              </a:rPr>
              <a:t>チャットで生成し、人が転記</a:t>
            </a:r>
            <a:endParaRPr lang="en-US" sz="1200" dirty="0"/>
          </a:p>
        </p:txBody>
      </p:sp>
      <p:sp>
        <p:nvSpPr>
          <p:cNvPr id="10" name="Text 8"/>
          <p:cNvSpPr txBox="1"/>
          <p:nvPr/>
        </p:nvSpPr>
        <p:spPr>
          <a:xfrm>
            <a:off x="1188720" y="1938528"/>
            <a:ext cx="4709160" cy="219456"/>
          </a:xfrm>
          <a:prstGeom prst="rect">
            <a:avLst/>
          </a:prstGeom>
          <a:noFill/>
          <a:ln/>
        </p:spPr>
        <p:txBody>
          <a:bodyPr wrap="square" lIns="0" tIns="0" rIns="0" bIns="0" rtlCol="0" anchor="ctr"/>
          <a:lstStyle/>
          <a:p>
            <a:pPr indent="0" marL="0">
              <a:buNone/>
            </a:pPr>
            <a:r>
              <a:rPr lang="en-US" sz="850" dirty="0">
                <a:solidFill>
                  <a:srgbClr val="6B7280"/>
                </a:solidFill>
                <a:latin typeface="Meiryo UI" pitchFamily="34" charset="0"/>
                <a:ea typeface="Meiryo UI" pitchFamily="34" charset="-122"/>
                <a:cs typeface="Meiryo UI" pitchFamily="34" charset="-120"/>
              </a:rPr>
              <a:t>レベル0：手作業　難易度 </a:t>
            </a:r>
            <a:pPr indent="0" marL="0">
              <a:buNone/>
            </a:pPr>
            <a:r>
              <a:rPr lang="en-US" sz="850" b="1" dirty="0">
                <a:solidFill>
                  <a:srgbClr val="E8912D"/>
                </a:solidFill>
                <a:latin typeface="Meiryo UI" pitchFamily="34" charset="0"/>
                <a:ea typeface="Meiryo UI" pitchFamily="34" charset="-122"/>
                <a:cs typeface="Meiryo UI" pitchFamily="34" charset="-120"/>
              </a:rPr>
              <a:t>★</a:t>
            </a:r>
            <a:endParaRPr lang="en-US" sz="850" dirty="0"/>
          </a:p>
        </p:txBody>
      </p:sp>
      <p:sp>
        <p:nvSpPr>
          <p:cNvPr id="11" name="Shape 9"/>
          <p:cNvSpPr/>
          <p:nvPr/>
        </p:nvSpPr>
        <p:spPr>
          <a:xfrm>
            <a:off x="658368" y="2231136"/>
            <a:ext cx="5221224" cy="868680"/>
          </a:xfrm>
          <a:prstGeom prst="roundRect">
            <a:avLst>
              <a:gd name="adj" fmla="val 5263"/>
            </a:avLst>
          </a:prstGeom>
          <a:solidFill>
            <a:srgbClr val="FFFFFF"/>
          </a:solidFill>
          <a:ln w="12700">
            <a:solidFill>
              <a:srgbClr val="D5DBE3"/>
            </a:solidFill>
            <a:prstDash val="solid"/>
          </a:ln>
        </p:spPr>
      </p:sp>
      <p:pic>
        <p:nvPicPr>
          <p:cNvPr id="12" name="Image 0" descr="preencoded.png">    </p:cNvPr>
          <p:cNvPicPr>
            <a:picLocks noChangeAspect="1"/>
          </p:cNvPicPr>
          <p:nvPr/>
        </p:nvPicPr>
        <p:blipFill>
          <a:blip r:embed="rId1"/>
          <a:stretch>
            <a:fillRect/>
          </a:stretch>
        </p:blipFill>
        <p:spPr>
          <a:xfrm>
            <a:off x="1176147" y="2304288"/>
            <a:ext cx="310896" cy="310896"/>
          </a:xfrm>
          <a:prstGeom prst="rect">
            <a:avLst/>
          </a:prstGeom>
        </p:spPr>
      </p:pic>
      <p:sp>
        <p:nvSpPr>
          <p:cNvPr id="13" name="Text 10"/>
          <p:cNvSpPr txBox="1"/>
          <p:nvPr/>
        </p:nvSpPr>
        <p:spPr>
          <a:xfrm>
            <a:off x="713232" y="2642616"/>
            <a:ext cx="1236726" cy="402336"/>
          </a:xfrm>
          <a:prstGeom prst="rect">
            <a:avLst/>
          </a:prstGeom>
          <a:noFill/>
          <a:ln/>
        </p:spPr>
        <p:txBody>
          <a:bodyPr wrap="square" lIns="0" tIns="0" rIns="0" bIns="0" rtlCol="0" anchor="t"/>
          <a:lstStyle/>
          <a:p>
            <a:pPr algn="ctr" indent="0" marL="0">
              <a:buNone/>
            </a:pPr>
            <a:r>
              <a:rPr lang="en-US" sz="650" b="1" dirty="0">
                <a:solidFill>
                  <a:srgbClr val="6B7280"/>
                </a:solidFill>
                <a:latin typeface="Meiryo UI" pitchFamily="34" charset="0"/>
                <a:ea typeface="Meiryo UI" pitchFamily="34" charset="-122"/>
                <a:cs typeface="Meiryo UI" pitchFamily="34" charset="-120"/>
              </a:rPr>
              <a:t>マーケター</a:t>
            </a:r>
            <a:endParaRPr lang="en-US" sz="650" dirty="0"/>
          </a:p>
          <a:p>
            <a:pPr algn="ctr" indent="0" marL="0">
              <a:buNone/>
            </a:pPr>
            <a:r>
              <a:rPr lang="en-US" sz="600" dirty="0">
                <a:solidFill>
                  <a:srgbClr val="8C95A3"/>
                </a:solidFill>
                <a:latin typeface="Meiryo UI" pitchFamily="34" charset="0"/>
                <a:ea typeface="Meiryo UI" pitchFamily="34" charset="-122"/>
                <a:cs typeface="Meiryo UI" pitchFamily="34" charset="-120"/>
              </a:rPr>
              <a:t>依頼</a:t>
            </a:r>
            <a:endParaRPr lang="en-US" sz="650" dirty="0"/>
          </a:p>
        </p:txBody>
      </p:sp>
      <p:sp>
        <p:nvSpPr>
          <p:cNvPr id="14" name="Shape 11"/>
          <p:cNvSpPr/>
          <p:nvPr/>
        </p:nvSpPr>
        <p:spPr>
          <a:xfrm>
            <a:off x="1560195" y="2459736"/>
            <a:ext cx="834390" cy="0"/>
          </a:xfrm>
          <a:prstGeom prst="line">
            <a:avLst/>
          </a:prstGeom>
          <a:noFill/>
          <a:ln w="15875">
            <a:solidFill>
              <a:srgbClr val="1B2A49"/>
            </a:solidFill>
            <a:prstDash val="solid"/>
            <a:tailEnd type="triangle"/>
          </a:ln>
        </p:spPr>
      </p:sp>
      <p:pic>
        <p:nvPicPr>
          <p:cNvPr id="15" name="Image 1" descr="preencoded.png">    </p:cNvPr>
          <p:cNvPicPr>
            <a:picLocks noChangeAspect="1"/>
          </p:cNvPicPr>
          <p:nvPr/>
        </p:nvPicPr>
        <p:blipFill>
          <a:blip r:embed="rId2"/>
          <a:stretch>
            <a:fillRect/>
          </a:stretch>
        </p:blipFill>
        <p:spPr>
          <a:xfrm>
            <a:off x="2467737" y="2304288"/>
            <a:ext cx="310896" cy="310896"/>
          </a:xfrm>
          <a:prstGeom prst="rect">
            <a:avLst/>
          </a:prstGeom>
        </p:spPr>
      </p:pic>
      <p:sp>
        <p:nvSpPr>
          <p:cNvPr id="16" name="Text 12"/>
          <p:cNvSpPr txBox="1"/>
          <p:nvPr/>
        </p:nvSpPr>
        <p:spPr>
          <a:xfrm>
            <a:off x="2004822" y="2642616"/>
            <a:ext cx="1236726" cy="402336"/>
          </a:xfrm>
          <a:prstGeom prst="rect">
            <a:avLst/>
          </a:prstGeom>
          <a:noFill/>
          <a:ln/>
        </p:spPr>
        <p:txBody>
          <a:bodyPr wrap="square" lIns="0" tIns="0" rIns="0" bIns="0" rtlCol="0" anchor="t"/>
          <a:lstStyle/>
          <a:p>
            <a:pPr algn="ctr" indent="0" marL="0">
              <a:buNone/>
            </a:pPr>
            <a:r>
              <a:rPr lang="en-US" sz="650" b="1" dirty="0">
                <a:solidFill>
                  <a:srgbClr val="6B7280"/>
                </a:solidFill>
                <a:latin typeface="Meiryo UI" pitchFamily="34" charset="0"/>
                <a:ea typeface="Meiryo UI" pitchFamily="34" charset="-122"/>
                <a:cs typeface="Meiryo UI" pitchFamily="34" charset="-120"/>
              </a:rPr>
              <a:t>Copilot</a:t>
            </a:r>
            <a:endParaRPr lang="en-US" sz="650" dirty="0"/>
          </a:p>
          <a:p>
            <a:pPr algn="ctr" indent="0" marL="0">
              <a:buNone/>
            </a:pPr>
            <a:r>
              <a:rPr lang="en-US" sz="600" dirty="0">
                <a:solidFill>
                  <a:srgbClr val="8C95A3"/>
                </a:solidFill>
                <a:latin typeface="Meiryo UI" pitchFamily="34" charset="0"/>
                <a:ea typeface="Meiryo UI" pitchFamily="34" charset="-122"/>
                <a:cs typeface="Meiryo UI" pitchFamily="34" charset="-120"/>
              </a:rPr>
              <a:t>Agent Builderなど</a:t>
            </a:r>
            <a:endParaRPr lang="en-US" sz="650" dirty="0"/>
          </a:p>
        </p:txBody>
      </p:sp>
      <p:sp>
        <p:nvSpPr>
          <p:cNvPr id="17" name="Shape 13"/>
          <p:cNvSpPr/>
          <p:nvPr/>
        </p:nvSpPr>
        <p:spPr>
          <a:xfrm>
            <a:off x="2851785" y="2459736"/>
            <a:ext cx="834390" cy="0"/>
          </a:xfrm>
          <a:prstGeom prst="line">
            <a:avLst/>
          </a:prstGeom>
          <a:noFill/>
          <a:ln w="15875">
            <a:solidFill>
              <a:srgbClr val="1B2A49"/>
            </a:solidFill>
            <a:prstDash val="solid"/>
            <a:tailEnd type="triangle"/>
          </a:ln>
        </p:spPr>
      </p:sp>
      <p:pic>
        <p:nvPicPr>
          <p:cNvPr id="18" name="Image 2" descr="preencoded.png">    </p:cNvPr>
          <p:cNvPicPr>
            <a:picLocks noChangeAspect="1"/>
          </p:cNvPicPr>
          <p:nvPr/>
        </p:nvPicPr>
        <p:blipFill>
          <a:blip r:embed="rId3"/>
          <a:stretch>
            <a:fillRect/>
          </a:stretch>
        </p:blipFill>
        <p:spPr>
          <a:xfrm>
            <a:off x="3759327" y="2304288"/>
            <a:ext cx="310896" cy="310896"/>
          </a:xfrm>
          <a:prstGeom prst="rect">
            <a:avLst/>
          </a:prstGeom>
        </p:spPr>
      </p:pic>
      <p:sp>
        <p:nvSpPr>
          <p:cNvPr id="19" name="Text 14"/>
          <p:cNvSpPr txBox="1"/>
          <p:nvPr/>
        </p:nvSpPr>
        <p:spPr>
          <a:xfrm>
            <a:off x="3296412" y="2642616"/>
            <a:ext cx="1236726" cy="402336"/>
          </a:xfrm>
          <a:prstGeom prst="rect">
            <a:avLst/>
          </a:prstGeom>
          <a:noFill/>
          <a:ln/>
        </p:spPr>
        <p:txBody>
          <a:bodyPr wrap="square" lIns="0" tIns="0" rIns="0" bIns="0" rtlCol="0" anchor="t"/>
          <a:lstStyle/>
          <a:p>
            <a:pPr algn="ctr" indent="0" marL="0">
              <a:buNone/>
            </a:pPr>
            <a:r>
              <a:rPr lang="en-US" sz="650" b="1" dirty="0">
                <a:solidFill>
                  <a:srgbClr val="6B7280"/>
                </a:solidFill>
                <a:latin typeface="Meiryo UI" pitchFamily="34" charset="0"/>
                <a:ea typeface="Meiryo UI" pitchFamily="34" charset="-122"/>
                <a:cs typeface="Meiryo UI" pitchFamily="34" charset="-120"/>
              </a:rPr>
              <a:t>マーケター</a:t>
            </a:r>
            <a:endParaRPr lang="en-US" sz="650" dirty="0"/>
          </a:p>
          <a:p>
            <a:pPr algn="ctr" indent="0" marL="0">
              <a:buNone/>
            </a:pPr>
            <a:r>
              <a:rPr lang="en-US" sz="600" dirty="0">
                <a:solidFill>
                  <a:srgbClr val="8C95A3"/>
                </a:solidFill>
                <a:latin typeface="Meiryo UI" pitchFamily="34" charset="0"/>
                <a:ea typeface="Meiryo UI" pitchFamily="34" charset="-122"/>
                <a:cs typeface="Meiryo UI" pitchFamily="34" charset="-120"/>
              </a:rPr>
              <a:t>確認・転記</a:t>
            </a:r>
            <a:endParaRPr lang="en-US" sz="650" dirty="0"/>
          </a:p>
        </p:txBody>
      </p:sp>
      <p:sp>
        <p:nvSpPr>
          <p:cNvPr id="20" name="Shape 15"/>
          <p:cNvSpPr/>
          <p:nvPr/>
        </p:nvSpPr>
        <p:spPr>
          <a:xfrm>
            <a:off x="4143375" y="2459736"/>
            <a:ext cx="834390" cy="0"/>
          </a:xfrm>
          <a:prstGeom prst="line">
            <a:avLst/>
          </a:prstGeom>
          <a:noFill/>
          <a:ln w="15875">
            <a:solidFill>
              <a:srgbClr val="1B2A49"/>
            </a:solidFill>
            <a:prstDash val="solid"/>
            <a:tailEnd type="triangle"/>
          </a:ln>
        </p:spPr>
      </p:sp>
      <p:pic>
        <p:nvPicPr>
          <p:cNvPr id="21" name="Image 3" descr="preencoded.png">    </p:cNvPr>
          <p:cNvPicPr>
            <a:picLocks noChangeAspect="1"/>
          </p:cNvPicPr>
          <p:nvPr/>
        </p:nvPicPr>
        <p:blipFill>
          <a:blip r:embed="rId4"/>
          <a:stretch>
            <a:fillRect/>
          </a:stretch>
        </p:blipFill>
        <p:spPr>
          <a:xfrm>
            <a:off x="5050917" y="2304288"/>
            <a:ext cx="310896" cy="310896"/>
          </a:xfrm>
          <a:prstGeom prst="rect">
            <a:avLst/>
          </a:prstGeom>
        </p:spPr>
      </p:pic>
      <p:sp>
        <p:nvSpPr>
          <p:cNvPr id="22" name="Text 16"/>
          <p:cNvSpPr txBox="1"/>
          <p:nvPr/>
        </p:nvSpPr>
        <p:spPr>
          <a:xfrm>
            <a:off x="4588002" y="2642616"/>
            <a:ext cx="1236726" cy="402336"/>
          </a:xfrm>
          <a:prstGeom prst="rect">
            <a:avLst/>
          </a:prstGeom>
          <a:noFill/>
          <a:ln/>
        </p:spPr>
        <p:txBody>
          <a:bodyPr wrap="square" lIns="0" tIns="0" rIns="0" bIns="0" rtlCol="0" anchor="t"/>
          <a:lstStyle/>
          <a:p>
            <a:pPr algn="ctr" indent="0" marL="0">
              <a:buNone/>
            </a:pPr>
            <a:r>
              <a:rPr lang="en-US" sz="650" b="1" dirty="0">
                <a:solidFill>
                  <a:srgbClr val="6B7280"/>
                </a:solidFill>
                <a:latin typeface="Meiryo UI" pitchFamily="34" charset="0"/>
                <a:ea typeface="Meiryo UI" pitchFamily="34" charset="-122"/>
                <a:cs typeface="Meiryo UI" pitchFamily="34" charset="-120"/>
              </a:rPr>
              <a:t>Airtable</a:t>
            </a:r>
            <a:endParaRPr lang="en-US" sz="650" dirty="0"/>
          </a:p>
          <a:p>
            <a:pPr algn="ctr" indent="0" marL="0">
              <a:buNone/>
            </a:pPr>
            <a:r>
              <a:rPr lang="en-US" sz="600" dirty="0">
                <a:solidFill>
                  <a:srgbClr val="8C95A3"/>
                </a:solidFill>
                <a:latin typeface="Meiryo UI" pitchFamily="34" charset="0"/>
                <a:ea typeface="Meiryo UI" pitchFamily="34" charset="-122"/>
                <a:cs typeface="Meiryo UI" pitchFamily="34" charset="-120"/>
              </a:rPr>
              <a:t>項目に貼付</a:t>
            </a:r>
            <a:endParaRPr lang="en-US" sz="650" dirty="0"/>
          </a:p>
        </p:txBody>
      </p:sp>
      <p:sp>
        <p:nvSpPr>
          <p:cNvPr id="23" name="Text 17"/>
          <p:cNvSpPr txBox="1"/>
          <p:nvPr/>
        </p:nvSpPr>
        <p:spPr>
          <a:xfrm>
            <a:off x="685800" y="3200400"/>
            <a:ext cx="5166360" cy="3081528"/>
          </a:xfrm>
          <a:prstGeom prst="rect">
            <a:avLst/>
          </a:prstGeom>
          <a:noFill/>
          <a:ln/>
        </p:spPr>
        <p:txBody>
          <a:bodyPr wrap="square" lIns="254" tIns="254" rIns="254" bIns="254" rtlCol="0" anchor="t"/>
          <a:lstStyle/>
          <a:p>
            <a:pPr indent="0" marL="0">
              <a:buNone/>
            </a:pPr>
            <a:r>
              <a:rPr lang="en-US" sz="1050" b="1" dirty="0">
                <a:solidFill>
                  <a:srgbClr val="0E9F9A"/>
                </a:solidFill>
                <a:latin typeface="Meiryo UI" pitchFamily="34" charset="0"/>
                <a:ea typeface="Meiryo UI" pitchFamily="34" charset="-122"/>
                <a:cs typeface="Meiryo UI" pitchFamily="34" charset="-120"/>
              </a:rPr>
              <a:t>流れ</a:t>
            </a:r>
            <a:endParaRPr lang="en-US" sz="1050" dirty="0"/>
          </a:p>
          <a:p>
            <a:pPr indent="0" marL="0">
              <a:spcAft>
                <a:spcPts val="700"/>
              </a:spcAft>
              <a:buNone/>
            </a:pPr>
            <a:r>
              <a:rPr lang="en-US" sz="1050" dirty="0">
                <a:solidFill>
                  <a:srgbClr val="2B2B2B"/>
                </a:solidFill>
                <a:latin typeface="Meiryo UI" pitchFamily="34" charset="0"/>
                <a:ea typeface="Meiryo UI" pitchFamily="34" charset="-122"/>
                <a:cs typeface="Meiryo UI" pitchFamily="34" charset="-120"/>
              </a:rPr>
              <a:t>マーケターがCopilot（Agent Builderのエージェントなど）に依頼 → 生成結果を確認 → Airtableの項目にコピー＆ペースト</a:t>
            </a:r>
            <a:endParaRPr lang="en-US" sz="1050" dirty="0"/>
          </a:p>
          <a:p>
            <a:pPr indent="0" marL="0">
              <a:buNone/>
            </a:pPr>
            <a:r>
              <a:rPr lang="en-US" sz="1050" b="1" dirty="0">
                <a:solidFill>
                  <a:srgbClr val="0E9F9A"/>
                </a:solidFill>
                <a:latin typeface="Meiryo UI" pitchFamily="34" charset="0"/>
                <a:ea typeface="Meiryo UI" pitchFamily="34" charset="-122"/>
                <a:cs typeface="Meiryo UI" pitchFamily="34" charset="-120"/>
              </a:rPr>
              <a:t>必要なもの</a:t>
            </a:r>
            <a:endParaRPr lang="en-US" sz="1050" dirty="0"/>
          </a:p>
          <a:p>
            <a:pPr indent="0" marL="0">
              <a:spcAft>
                <a:spcPts val="700"/>
              </a:spcAft>
              <a:buNone/>
            </a:pPr>
            <a:r>
              <a:rPr lang="en-US" sz="1050" dirty="0">
                <a:solidFill>
                  <a:srgbClr val="2B2B2B"/>
                </a:solidFill>
                <a:latin typeface="Meiryo UI" pitchFamily="34" charset="0"/>
                <a:ea typeface="Meiryo UI" pitchFamily="34" charset="-122"/>
                <a:cs typeface="Meiryo UI" pitchFamily="34" charset="-120"/>
              </a:rPr>
              <a:t>M365 Copilot（導入済み）</a:t>
            </a:r>
            <a:endParaRPr lang="en-US" sz="1050" dirty="0"/>
          </a:p>
          <a:p>
            <a:pPr indent="0" marL="0">
              <a:buNone/>
            </a:pPr>
            <a:r>
              <a:rPr lang="en-US" sz="1050" b="1" dirty="0">
                <a:solidFill>
                  <a:srgbClr val="0E9F9A"/>
                </a:solidFill>
                <a:latin typeface="Meiryo UI" pitchFamily="34" charset="0"/>
                <a:ea typeface="Meiryo UI" pitchFamily="34" charset="-122"/>
                <a:cs typeface="Meiryo UI" pitchFamily="34" charset="-120"/>
              </a:rPr>
              <a:t>長所</a:t>
            </a:r>
            <a:endParaRPr lang="en-US" sz="1050" dirty="0"/>
          </a:p>
          <a:p>
            <a:pPr indent="0" marL="0">
              <a:spcAft>
                <a:spcPts val="700"/>
              </a:spcAft>
              <a:buNone/>
            </a:pPr>
            <a:r>
              <a:rPr lang="en-US" sz="1050" dirty="0">
                <a:solidFill>
                  <a:srgbClr val="2B2B2B"/>
                </a:solidFill>
                <a:latin typeface="Meiryo UI" pitchFamily="34" charset="0"/>
                <a:ea typeface="Meiryo UI" pitchFamily="34" charset="-122"/>
                <a:cs typeface="Meiryo UI" pitchFamily="34" charset="-120"/>
              </a:rPr>
              <a:t>追加の開発・費用がない。すぐに始められる</a:t>
            </a:r>
            <a:endParaRPr lang="en-US" sz="1050" dirty="0"/>
          </a:p>
          <a:p>
            <a:pPr indent="0" marL="0">
              <a:buNone/>
            </a:pPr>
            <a:r>
              <a:rPr lang="en-US" sz="1050" b="1" dirty="0">
                <a:solidFill>
                  <a:srgbClr val="0E9F9A"/>
                </a:solidFill>
                <a:latin typeface="Meiryo UI" pitchFamily="34" charset="0"/>
                <a:ea typeface="Meiryo UI" pitchFamily="34" charset="-122"/>
                <a:cs typeface="Meiryo UI" pitchFamily="34" charset="-120"/>
              </a:rPr>
              <a:t>制約・留意点</a:t>
            </a:r>
            <a:endParaRPr lang="en-US" sz="1050" dirty="0"/>
          </a:p>
          <a:p>
            <a:pPr indent="0" marL="0">
              <a:spcAft>
                <a:spcPts val="700"/>
              </a:spcAft>
              <a:buNone/>
            </a:pPr>
            <a:r>
              <a:rPr lang="en-US" sz="1050" dirty="0">
                <a:solidFill>
                  <a:srgbClr val="2B2B2B"/>
                </a:solidFill>
                <a:latin typeface="Meiryo UI" pitchFamily="34" charset="0"/>
                <a:ea typeface="Meiryo UI" pitchFamily="34" charset="-122"/>
                <a:cs typeface="Meiryo UI" pitchFamily="34" charset="-120"/>
              </a:rPr>
              <a:t>転記の手間と転記ミス。件数が増えると負担になる</a:t>
            </a:r>
            <a:endParaRPr lang="en-US" sz="1050" dirty="0"/>
          </a:p>
        </p:txBody>
      </p:sp>
      <p:sp>
        <p:nvSpPr>
          <p:cNvPr id="24" name="Shape 18"/>
          <p:cNvSpPr/>
          <p:nvPr/>
        </p:nvSpPr>
        <p:spPr>
          <a:xfrm>
            <a:off x="6172200" y="1371600"/>
            <a:ext cx="5440680" cy="4983480"/>
          </a:xfrm>
          <a:prstGeom prst="roundRect">
            <a:avLst>
              <a:gd name="adj" fmla="val 917"/>
            </a:avLst>
          </a:prstGeom>
          <a:solidFill>
            <a:srgbClr val="F3F5F8"/>
          </a:solidFill>
          <a:ln/>
        </p:spPr>
      </p:sp>
      <p:sp>
        <p:nvSpPr>
          <p:cNvPr id="25" name="Shape 19"/>
          <p:cNvSpPr/>
          <p:nvPr/>
        </p:nvSpPr>
        <p:spPr>
          <a:xfrm>
            <a:off x="6281928" y="1481328"/>
            <a:ext cx="457200" cy="457200"/>
          </a:xfrm>
          <a:prstGeom prst="ellipse">
            <a:avLst/>
          </a:prstGeom>
          <a:solidFill>
            <a:srgbClr val="0E9F9A"/>
          </a:solidFill>
          <a:ln/>
        </p:spPr>
      </p:sp>
      <p:sp>
        <p:nvSpPr>
          <p:cNvPr id="26" name="Text 20"/>
          <p:cNvSpPr txBox="1"/>
          <p:nvPr/>
        </p:nvSpPr>
        <p:spPr>
          <a:xfrm>
            <a:off x="6281928" y="1481328"/>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P2</a:t>
            </a:r>
            <a:endParaRPr lang="en-US" sz="1100" dirty="0"/>
          </a:p>
        </p:txBody>
      </p:sp>
      <p:sp>
        <p:nvSpPr>
          <p:cNvPr id="27" name="Text 21"/>
          <p:cNvSpPr txBox="1"/>
          <p:nvPr/>
        </p:nvSpPr>
        <p:spPr>
          <a:xfrm>
            <a:off x="6812280" y="1426464"/>
            <a:ext cx="4709160" cy="512064"/>
          </a:xfrm>
          <a:prstGeom prst="rect">
            <a:avLst/>
          </a:prstGeom>
          <a:noFill/>
          <a:ln/>
        </p:spPr>
        <p:txBody>
          <a:bodyPr wrap="square" lIns="0" tIns="0" rIns="0" bIns="0" rtlCol="0" anchor="ctr"/>
          <a:lstStyle/>
          <a:p>
            <a:pPr indent="0" marL="0">
              <a:buNone/>
            </a:pPr>
            <a:r>
              <a:rPr lang="en-US" sz="1200" b="1" dirty="0">
                <a:solidFill>
                  <a:srgbClr val="1B2A49"/>
                </a:solidFill>
                <a:latin typeface="Meiryo UI" pitchFamily="34" charset="0"/>
                <a:ea typeface="Meiryo UI" pitchFamily="34" charset="-122"/>
                <a:cs typeface="Meiryo UI" pitchFamily="34" charset="-120"/>
              </a:rPr>
              <a:t>カードの一覧をCSVで渡し、エージェントが下書きをCSVで出力して、Airtableに取り込む</a:t>
            </a:r>
            <a:endParaRPr lang="en-US" sz="1200" dirty="0"/>
          </a:p>
        </p:txBody>
      </p:sp>
      <p:sp>
        <p:nvSpPr>
          <p:cNvPr id="28" name="Text 22"/>
          <p:cNvSpPr txBox="1"/>
          <p:nvPr/>
        </p:nvSpPr>
        <p:spPr>
          <a:xfrm>
            <a:off x="6812280" y="1938528"/>
            <a:ext cx="4709160" cy="219456"/>
          </a:xfrm>
          <a:prstGeom prst="rect">
            <a:avLst/>
          </a:prstGeom>
          <a:noFill/>
          <a:ln/>
        </p:spPr>
        <p:txBody>
          <a:bodyPr wrap="square" lIns="0" tIns="0" rIns="0" bIns="0" rtlCol="0" anchor="ctr"/>
          <a:lstStyle/>
          <a:p>
            <a:pPr indent="0" marL="0">
              <a:buNone/>
            </a:pPr>
            <a:r>
              <a:rPr lang="en-US" sz="850" dirty="0">
                <a:solidFill>
                  <a:srgbClr val="6B7280"/>
                </a:solidFill>
                <a:latin typeface="Meiryo UI" pitchFamily="34" charset="0"/>
                <a:ea typeface="Meiryo UI" pitchFamily="34" charset="-122"/>
                <a:cs typeface="Meiryo UI" pitchFamily="34" charset="-120"/>
              </a:rPr>
              <a:t>レベル1：ファイル経由　難易度 </a:t>
            </a:r>
            <a:pPr indent="0" marL="0">
              <a:buNone/>
            </a:pPr>
            <a:r>
              <a:rPr lang="en-US" sz="850" b="1" dirty="0">
                <a:solidFill>
                  <a:srgbClr val="E8912D"/>
                </a:solidFill>
                <a:latin typeface="Meiryo UI" pitchFamily="34" charset="0"/>
                <a:ea typeface="Meiryo UI" pitchFamily="34" charset="-122"/>
                <a:cs typeface="Meiryo UI" pitchFamily="34" charset="-120"/>
              </a:rPr>
              <a:t>★</a:t>
            </a:r>
            <a:endParaRPr lang="en-US" sz="850" dirty="0"/>
          </a:p>
        </p:txBody>
      </p:sp>
      <p:sp>
        <p:nvSpPr>
          <p:cNvPr id="29" name="Shape 23"/>
          <p:cNvSpPr/>
          <p:nvPr/>
        </p:nvSpPr>
        <p:spPr>
          <a:xfrm>
            <a:off x="6281928" y="2231136"/>
            <a:ext cx="5221224" cy="868680"/>
          </a:xfrm>
          <a:prstGeom prst="roundRect">
            <a:avLst>
              <a:gd name="adj" fmla="val 5263"/>
            </a:avLst>
          </a:prstGeom>
          <a:solidFill>
            <a:srgbClr val="FFFFFF"/>
          </a:solidFill>
          <a:ln w="12700">
            <a:solidFill>
              <a:srgbClr val="D5DBE3"/>
            </a:solidFill>
            <a:prstDash val="solid"/>
          </a:ln>
        </p:spPr>
      </p:sp>
      <p:pic>
        <p:nvPicPr>
          <p:cNvPr id="30" name="Image 4" descr="preencoded.png">    </p:cNvPr>
          <p:cNvPicPr>
            <a:picLocks noChangeAspect="1"/>
          </p:cNvPicPr>
          <p:nvPr/>
        </p:nvPicPr>
        <p:blipFill>
          <a:blip r:embed="rId5"/>
          <a:stretch>
            <a:fillRect/>
          </a:stretch>
        </p:blipFill>
        <p:spPr>
          <a:xfrm>
            <a:off x="6670548" y="2304288"/>
            <a:ext cx="310896" cy="310896"/>
          </a:xfrm>
          <a:prstGeom prst="rect">
            <a:avLst/>
          </a:prstGeom>
        </p:spPr>
      </p:pic>
      <p:sp>
        <p:nvSpPr>
          <p:cNvPr id="31" name="Text 24"/>
          <p:cNvSpPr txBox="1"/>
          <p:nvPr/>
        </p:nvSpPr>
        <p:spPr>
          <a:xfrm>
            <a:off x="6336792" y="2642616"/>
            <a:ext cx="978408" cy="402336"/>
          </a:xfrm>
          <a:prstGeom prst="rect">
            <a:avLst/>
          </a:prstGeom>
          <a:noFill/>
          <a:ln/>
        </p:spPr>
        <p:txBody>
          <a:bodyPr wrap="square" lIns="0" tIns="0" rIns="0" bIns="0" rtlCol="0" anchor="t"/>
          <a:lstStyle/>
          <a:p>
            <a:pPr algn="ctr" indent="0" marL="0">
              <a:buNone/>
            </a:pPr>
            <a:r>
              <a:rPr lang="en-US" sz="650" b="1" dirty="0">
                <a:solidFill>
                  <a:srgbClr val="6B7280"/>
                </a:solidFill>
                <a:latin typeface="Meiryo UI" pitchFamily="34" charset="0"/>
                <a:ea typeface="Meiryo UI" pitchFamily="34" charset="-122"/>
                <a:cs typeface="Meiryo UI" pitchFamily="34" charset="-120"/>
              </a:rPr>
              <a:t>Airtable</a:t>
            </a:r>
            <a:endParaRPr lang="en-US" sz="650" dirty="0"/>
          </a:p>
          <a:p>
            <a:pPr algn="ctr" indent="0" marL="0">
              <a:buNone/>
            </a:pPr>
            <a:r>
              <a:rPr lang="en-US" sz="600" dirty="0">
                <a:solidFill>
                  <a:srgbClr val="8C95A3"/>
                </a:solidFill>
                <a:latin typeface="Meiryo UI" pitchFamily="34" charset="0"/>
                <a:ea typeface="Meiryo UI" pitchFamily="34" charset="-122"/>
                <a:cs typeface="Meiryo UI" pitchFamily="34" charset="-120"/>
              </a:rPr>
              <a:t>カードを先に作成</a:t>
            </a:r>
            <a:endParaRPr lang="en-US" sz="650" dirty="0"/>
          </a:p>
        </p:txBody>
      </p:sp>
      <p:sp>
        <p:nvSpPr>
          <p:cNvPr id="32" name="Shape 25"/>
          <p:cNvSpPr/>
          <p:nvPr/>
        </p:nvSpPr>
        <p:spPr>
          <a:xfrm>
            <a:off x="7054596" y="2459736"/>
            <a:ext cx="576072" cy="0"/>
          </a:xfrm>
          <a:prstGeom prst="line">
            <a:avLst/>
          </a:prstGeom>
          <a:noFill/>
          <a:ln w="15875">
            <a:solidFill>
              <a:srgbClr val="1B2A49"/>
            </a:solidFill>
            <a:prstDash val="solid"/>
            <a:tailEnd type="triangle"/>
          </a:ln>
        </p:spPr>
      </p:sp>
      <p:pic>
        <p:nvPicPr>
          <p:cNvPr id="33" name="Image 5" descr="preencoded.png">    </p:cNvPr>
          <p:cNvPicPr>
            <a:picLocks noChangeAspect="1"/>
          </p:cNvPicPr>
          <p:nvPr/>
        </p:nvPicPr>
        <p:blipFill>
          <a:blip r:embed="rId6"/>
          <a:stretch>
            <a:fillRect/>
          </a:stretch>
        </p:blipFill>
        <p:spPr>
          <a:xfrm>
            <a:off x="7703820" y="2304288"/>
            <a:ext cx="310896" cy="310896"/>
          </a:xfrm>
          <a:prstGeom prst="rect">
            <a:avLst/>
          </a:prstGeom>
        </p:spPr>
      </p:pic>
      <p:sp>
        <p:nvSpPr>
          <p:cNvPr id="34" name="Text 26"/>
          <p:cNvSpPr txBox="1"/>
          <p:nvPr/>
        </p:nvSpPr>
        <p:spPr>
          <a:xfrm>
            <a:off x="7370064" y="2642616"/>
            <a:ext cx="978408" cy="402336"/>
          </a:xfrm>
          <a:prstGeom prst="rect">
            <a:avLst/>
          </a:prstGeom>
          <a:noFill/>
          <a:ln/>
        </p:spPr>
        <p:txBody>
          <a:bodyPr wrap="square" lIns="0" tIns="0" rIns="0" bIns="0" rtlCol="0" anchor="t"/>
          <a:lstStyle/>
          <a:p>
            <a:pPr algn="ctr" indent="0" marL="0">
              <a:buNone/>
            </a:pPr>
            <a:r>
              <a:rPr lang="en-US" sz="650" b="1" dirty="0">
                <a:solidFill>
                  <a:srgbClr val="6B7280"/>
                </a:solidFill>
                <a:latin typeface="Meiryo UI" pitchFamily="34" charset="0"/>
                <a:ea typeface="Meiryo UI" pitchFamily="34" charset="-122"/>
                <a:cs typeface="Meiryo UI" pitchFamily="34" charset="-120"/>
              </a:rPr>
              <a:t>CSV</a:t>
            </a:r>
            <a:endParaRPr lang="en-US" sz="650" dirty="0"/>
          </a:p>
          <a:p>
            <a:pPr algn="ctr" indent="0" marL="0">
              <a:buNone/>
            </a:pPr>
            <a:r>
              <a:rPr lang="en-US" sz="600" dirty="0">
                <a:solidFill>
                  <a:srgbClr val="8C95A3"/>
                </a:solidFill>
                <a:latin typeface="Meiryo UI" pitchFamily="34" charset="0"/>
                <a:ea typeface="Meiryo UI" pitchFamily="34" charset="-122"/>
                <a:cs typeface="Meiryo UI" pitchFamily="34" charset="-120"/>
              </a:rPr>
              <a:t>カードIDつきで出力</a:t>
            </a:r>
            <a:endParaRPr lang="en-US" sz="650" dirty="0"/>
          </a:p>
        </p:txBody>
      </p:sp>
      <p:sp>
        <p:nvSpPr>
          <p:cNvPr id="35" name="Shape 27"/>
          <p:cNvSpPr/>
          <p:nvPr/>
        </p:nvSpPr>
        <p:spPr>
          <a:xfrm>
            <a:off x="8087868" y="2459736"/>
            <a:ext cx="576072" cy="0"/>
          </a:xfrm>
          <a:prstGeom prst="line">
            <a:avLst/>
          </a:prstGeom>
          <a:noFill/>
          <a:ln w="15875">
            <a:solidFill>
              <a:srgbClr val="1B2A49"/>
            </a:solidFill>
            <a:prstDash val="solid"/>
            <a:tailEnd type="triangle"/>
          </a:ln>
        </p:spPr>
      </p:sp>
      <p:pic>
        <p:nvPicPr>
          <p:cNvPr id="36" name="Image 6" descr="preencoded.png">    </p:cNvPr>
          <p:cNvPicPr>
            <a:picLocks noChangeAspect="1"/>
          </p:cNvPicPr>
          <p:nvPr/>
        </p:nvPicPr>
        <p:blipFill>
          <a:blip r:embed="rId7"/>
          <a:stretch>
            <a:fillRect/>
          </a:stretch>
        </p:blipFill>
        <p:spPr>
          <a:xfrm>
            <a:off x="8737092" y="2304288"/>
            <a:ext cx="310896" cy="310896"/>
          </a:xfrm>
          <a:prstGeom prst="rect">
            <a:avLst/>
          </a:prstGeom>
        </p:spPr>
      </p:pic>
      <p:sp>
        <p:nvSpPr>
          <p:cNvPr id="37" name="Text 28"/>
          <p:cNvSpPr txBox="1"/>
          <p:nvPr/>
        </p:nvSpPr>
        <p:spPr>
          <a:xfrm>
            <a:off x="8403336" y="2642616"/>
            <a:ext cx="978408" cy="402336"/>
          </a:xfrm>
          <a:prstGeom prst="rect">
            <a:avLst/>
          </a:prstGeom>
          <a:noFill/>
          <a:ln/>
        </p:spPr>
        <p:txBody>
          <a:bodyPr wrap="square" lIns="0" tIns="0" rIns="0" bIns="0" rtlCol="0" anchor="t"/>
          <a:lstStyle/>
          <a:p>
            <a:pPr algn="ctr" indent="0" marL="0">
              <a:buNone/>
            </a:pPr>
            <a:r>
              <a:rPr lang="en-US" sz="650" b="1" dirty="0">
                <a:solidFill>
                  <a:srgbClr val="6B7280"/>
                </a:solidFill>
                <a:latin typeface="Meiryo UI" pitchFamily="34" charset="0"/>
                <a:ea typeface="Meiryo UI" pitchFamily="34" charset="-122"/>
                <a:cs typeface="Meiryo UI" pitchFamily="34" charset="-120"/>
              </a:rPr>
              <a:t>Copilot</a:t>
            </a:r>
            <a:endParaRPr lang="en-US" sz="650" dirty="0"/>
          </a:p>
          <a:p>
            <a:pPr algn="ctr" indent="0" marL="0">
              <a:buNone/>
            </a:pPr>
            <a:r>
              <a:rPr lang="en-US" sz="600" dirty="0">
                <a:solidFill>
                  <a:srgbClr val="8C95A3"/>
                </a:solidFill>
                <a:latin typeface="Meiryo UI" pitchFamily="34" charset="0"/>
                <a:ea typeface="Meiryo UI" pitchFamily="34" charset="-122"/>
                <a:cs typeface="Meiryo UI" pitchFamily="34" charset="-120"/>
              </a:rPr>
              <a:t>カードごとに下書き</a:t>
            </a:r>
            <a:endParaRPr lang="en-US" sz="650" dirty="0"/>
          </a:p>
        </p:txBody>
      </p:sp>
      <p:sp>
        <p:nvSpPr>
          <p:cNvPr id="38" name="Shape 29"/>
          <p:cNvSpPr/>
          <p:nvPr/>
        </p:nvSpPr>
        <p:spPr>
          <a:xfrm>
            <a:off x="9121140" y="2459736"/>
            <a:ext cx="576072" cy="0"/>
          </a:xfrm>
          <a:prstGeom prst="line">
            <a:avLst/>
          </a:prstGeom>
          <a:noFill/>
          <a:ln w="15875">
            <a:solidFill>
              <a:srgbClr val="1B2A49"/>
            </a:solidFill>
            <a:prstDash val="solid"/>
            <a:tailEnd type="triangle"/>
          </a:ln>
        </p:spPr>
      </p:sp>
      <p:pic>
        <p:nvPicPr>
          <p:cNvPr id="39" name="Image 7" descr="preencoded.png">    </p:cNvPr>
          <p:cNvPicPr>
            <a:picLocks noChangeAspect="1"/>
          </p:cNvPicPr>
          <p:nvPr/>
        </p:nvPicPr>
        <p:blipFill>
          <a:blip r:embed="rId8"/>
          <a:stretch>
            <a:fillRect/>
          </a:stretch>
        </p:blipFill>
        <p:spPr>
          <a:xfrm>
            <a:off x="9770364" y="2304288"/>
            <a:ext cx="310896" cy="310896"/>
          </a:xfrm>
          <a:prstGeom prst="rect">
            <a:avLst/>
          </a:prstGeom>
        </p:spPr>
      </p:pic>
      <p:sp>
        <p:nvSpPr>
          <p:cNvPr id="40" name="Text 30"/>
          <p:cNvSpPr txBox="1"/>
          <p:nvPr/>
        </p:nvSpPr>
        <p:spPr>
          <a:xfrm>
            <a:off x="9436608" y="2642616"/>
            <a:ext cx="978408" cy="402336"/>
          </a:xfrm>
          <a:prstGeom prst="rect">
            <a:avLst/>
          </a:prstGeom>
          <a:noFill/>
          <a:ln/>
        </p:spPr>
        <p:txBody>
          <a:bodyPr wrap="square" lIns="0" tIns="0" rIns="0" bIns="0" rtlCol="0" anchor="t"/>
          <a:lstStyle/>
          <a:p>
            <a:pPr algn="ctr" indent="0" marL="0">
              <a:buNone/>
            </a:pPr>
            <a:r>
              <a:rPr lang="en-US" sz="650" b="1" dirty="0">
                <a:solidFill>
                  <a:srgbClr val="6B7280"/>
                </a:solidFill>
                <a:latin typeface="Meiryo UI" pitchFamily="34" charset="0"/>
                <a:ea typeface="Meiryo UI" pitchFamily="34" charset="-122"/>
                <a:cs typeface="Meiryo UI" pitchFamily="34" charset="-120"/>
              </a:rPr>
              <a:t>CSV</a:t>
            </a:r>
            <a:endParaRPr lang="en-US" sz="650" dirty="0"/>
          </a:p>
          <a:p>
            <a:pPr algn="ctr" indent="0" marL="0">
              <a:buNone/>
            </a:pPr>
            <a:r>
              <a:rPr lang="en-US" sz="600" dirty="0">
                <a:solidFill>
                  <a:srgbClr val="8C95A3"/>
                </a:solidFill>
                <a:latin typeface="Meiryo UI" pitchFamily="34" charset="0"/>
                <a:ea typeface="Meiryo UI" pitchFamily="34" charset="-122"/>
                <a:cs typeface="Meiryo UI" pitchFamily="34" charset="-120"/>
              </a:rPr>
              <a:t>カードIDを残す</a:t>
            </a:r>
            <a:endParaRPr lang="en-US" sz="650" dirty="0"/>
          </a:p>
        </p:txBody>
      </p:sp>
      <p:sp>
        <p:nvSpPr>
          <p:cNvPr id="41" name="Shape 31"/>
          <p:cNvSpPr/>
          <p:nvPr/>
        </p:nvSpPr>
        <p:spPr>
          <a:xfrm>
            <a:off x="10154412" y="2459736"/>
            <a:ext cx="576072" cy="0"/>
          </a:xfrm>
          <a:prstGeom prst="line">
            <a:avLst/>
          </a:prstGeom>
          <a:noFill/>
          <a:ln w="15875">
            <a:solidFill>
              <a:srgbClr val="1B2A49"/>
            </a:solidFill>
            <a:prstDash val="solid"/>
            <a:tailEnd type="triangle"/>
          </a:ln>
        </p:spPr>
      </p:sp>
      <p:pic>
        <p:nvPicPr>
          <p:cNvPr id="42" name="Image 8" descr="preencoded.png">    </p:cNvPr>
          <p:cNvPicPr>
            <a:picLocks noChangeAspect="1"/>
          </p:cNvPicPr>
          <p:nvPr/>
        </p:nvPicPr>
        <p:blipFill>
          <a:blip r:embed="rId9"/>
          <a:stretch>
            <a:fillRect/>
          </a:stretch>
        </p:blipFill>
        <p:spPr>
          <a:xfrm>
            <a:off x="10803636" y="2304288"/>
            <a:ext cx="310896" cy="310896"/>
          </a:xfrm>
          <a:prstGeom prst="rect">
            <a:avLst/>
          </a:prstGeom>
        </p:spPr>
      </p:pic>
      <p:sp>
        <p:nvSpPr>
          <p:cNvPr id="43" name="Text 32"/>
          <p:cNvSpPr txBox="1"/>
          <p:nvPr/>
        </p:nvSpPr>
        <p:spPr>
          <a:xfrm>
            <a:off x="10469880" y="2642616"/>
            <a:ext cx="978408" cy="402336"/>
          </a:xfrm>
          <a:prstGeom prst="rect">
            <a:avLst/>
          </a:prstGeom>
          <a:noFill/>
          <a:ln/>
        </p:spPr>
        <p:txBody>
          <a:bodyPr wrap="square" lIns="0" tIns="0" rIns="0" bIns="0" rtlCol="0" anchor="t"/>
          <a:lstStyle/>
          <a:p>
            <a:pPr algn="ctr" indent="0" marL="0">
              <a:buNone/>
            </a:pPr>
            <a:r>
              <a:rPr lang="en-US" sz="650" b="1" dirty="0">
                <a:solidFill>
                  <a:srgbClr val="6B7280"/>
                </a:solidFill>
                <a:latin typeface="Meiryo UI" pitchFamily="34" charset="0"/>
                <a:ea typeface="Meiryo UI" pitchFamily="34" charset="-122"/>
                <a:cs typeface="Meiryo UI" pitchFamily="34" charset="-120"/>
              </a:rPr>
              <a:t>Airtable</a:t>
            </a:r>
            <a:endParaRPr lang="en-US" sz="650" dirty="0"/>
          </a:p>
          <a:p>
            <a:pPr algn="ctr" indent="0" marL="0">
              <a:buNone/>
            </a:pPr>
            <a:r>
              <a:rPr lang="en-US" sz="600" dirty="0">
                <a:solidFill>
                  <a:srgbClr val="8C95A3"/>
                </a:solidFill>
                <a:latin typeface="Meiryo UI" pitchFamily="34" charset="0"/>
                <a:ea typeface="Meiryo UI" pitchFamily="34" charset="-122"/>
                <a:cs typeface="Meiryo UI" pitchFamily="34" charset="-120"/>
              </a:rPr>
              <a:t>Mergeで取り込み</a:t>
            </a:r>
            <a:endParaRPr lang="en-US" sz="650" dirty="0"/>
          </a:p>
        </p:txBody>
      </p:sp>
      <p:sp>
        <p:nvSpPr>
          <p:cNvPr id="44" name="Text 33"/>
          <p:cNvSpPr txBox="1"/>
          <p:nvPr/>
        </p:nvSpPr>
        <p:spPr>
          <a:xfrm>
            <a:off x="6309360" y="3200400"/>
            <a:ext cx="5166360" cy="3081528"/>
          </a:xfrm>
          <a:prstGeom prst="rect">
            <a:avLst/>
          </a:prstGeom>
          <a:noFill/>
          <a:ln/>
        </p:spPr>
        <p:txBody>
          <a:bodyPr wrap="square" lIns="254" tIns="254" rIns="254" bIns="254" rtlCol="0" anchor="t"/>
          <a:lstStyle/>
          <a:p>
            <a:pPr indent="0" marL="0">
              <a:buNone/>
            </a:pPr>
            <a:r>
              <a:rPr lang="en-US" sz="950" b="1" dirty="0">
                <a:solidFill>
                  <a:srgbClr val="0E9F9A"/>
                </a:solidFill>
                <a:latin typeface="Meiryo UI" pitchFamily="34" charset="0"/>
                <a:ea typeface="Meiryo UI" pitchFamily="34" charset="-122"/>
                <a:cs typeface="Meiryo UI" pitchFamily="34" charset="-120"/>
              </a:rPr>
              <a:t>前提</a:t>
            </a:r>
            <a:endParaRPr lang="en-US" sz="950" dirty="0"/>
          </a:p>
          <a:p>
            <a:pPr indent="0" marL="0">
              <a:spcAft>
                <a:spcPts val="700"/>
              </a:spcAft>
              <a:buNone/>
            </a:pPr>
            <a:r>
              <a:rPr lang="en-US" sz="950" dirty="0">
                <a:solidFill>
                  <a:srgbClr val="2B2B2B"/>
                </a:solidFill>
                <a:latin typeface="Meiryo UI" pitchFamily="34" charset="0"/>
                <a:ea typeface="Meiryo UI" pitchFamily="34" charset="-122"/>
                <a:cs typeface="Meiryo UI" pitchFamily="34" charset="-120"/>
              </a:rPr>
              <a:t>生成した内容を正しいカードに紐づけるため、カードを先に作り、カードを特定するキー（カードID）をエージェントに渡す。キーがないと新しいカードとして作られてしまう</a:t>
            </a:r>
            <a:endParaRPr lang="en-US" sz="950" dirty="0"/>
          </a:p>
          <a:p>
            <a:pPr indent="0" marL="0">
              <a:buNone/>
            </a:pPr>
            <a:r>
              <a:rPr lang="en-US" sz="950" b="1" dirty="0">
                <a:solidFill>
                  <a:srgbClr val="0E9F9A"/>
                </a:solidFill>
                <a:latin typeface="Meiryo UI" pitchFamily="34" charset="0"/>
                <a:ea typeface="Meiryo UI" pitchFamily="34" charset="-122"/>
                <a:cs typeface="Meiryo UI" pitchFamily="34" charset="-120"/>
              </a:rPr>
              <a:t>流れ</a:t>
            </a:r>
            <a:endParaRPr lang="en-US" sz="950" dirty="0"/>
          </a:p>
          <a:p>
            <a:pPr indent="0" marL="0">
              <a:spcAft>
                <a:spcPts val="700"/>
              </a:spcAft>
              <a:buNone/>
            </a:pPr>
            <a:r>
              <a:rPr lang="en-US" sz="950" dirty="0">
                <a:solidFill>
                  <a:srgbClr val="2B2B2B"/>
                </a:solidFill>
                <a:latin typeface="Meiryo UI" pitchFamily="34" charset="0"/>
                <a:ea typeface="Meiryo UI" pitchFamily="34" charset="-122"/>
                <a:cs typeface="Meiryo UI" pitchFamily="34" charset="-120"/>
              </a:rPr>
              <a:t>カードを作る → 起案待ちのカードをCSVでダウンロード → Copilotに渡して下書きを作らせる（カードIDの列は残す）→ CSVインポートの「Merge with existing records」でカードIDを指定して取り込む → 人が確認・確定</a:t>
            </a:r>
            <a:endParaRPr lang="en-US" sz="950" dirty="0"/>
          </a:p>
          <a:p>
            <a:pPr indent="0" marL="0">
              <a:buNone/>
            </a:pPr>
            <a:r>
              <a:rPr lang="en-US" sz="950" b="1" dirty="0">
                <a:solidFill>
                  <a:srgbClr val="0E9F9A"/>
                </a:solidFill>
                <a:latin typeface="Meiryo UI" pitchFamily="34" charset="0"/>
                <a:ea typeface="Meiryo UI" pitchFamily="34" charset="-122"/>
                <a:cs typeface="Meiryo UI" pitchFamily="34" charset="-120"/>
              </a:rPr>
              <a:t>長所</a:t>
            </a:r>
            <a:endParaRPr lang="en-US" sz="950" dirty="0"/>
          </a:p>
          <a:p>
            <a:pPr indent="0" marL="0">
              <a:spcAft>
                <a:spcPts val="700"/>
              </a:spcAft>
              <a:buNone/>
            </a:pPr>
            <a:r>
              <a:rPr lang="en-US" sz="950" dirty="0">
                <a:solidFill>
                  <a:srgbClr val="2B2B2B"/>
                </a:solidFill>
                <a:latin typeface="Meiryo UI" pitchFamily="34" charset="0"/>
                <a:ea typeface="Meiryo UI" pitchFamily="34" charset="-122"/>
                <a:cs typeface="Meiryo UI" pitchFamily="34" charset="-120"/>
              </a:rPr>
              <a:t>複数カードを一括で反映できる。開発はほぼ不要</a:t>
            </a:r>
            <a:endParaRPr lang="en-US" sz="950" dirty="0"/>
          </a:p>
          <a:p>
            <a:pPr indent="0" marL="0">
              <a:buNone/>
            </a:pPr>
            <a:r>
              <a:rPr lang="en-US" sz="950" b="1" dirty="0">
                <a:solidFill>
                  <a:srgbClr val="0E9F9A"/>
                </a:solidFill>
                <a:latin typeface="Meiryo UI" pitchFamily="34" charset="0"/>
                <a:ea typeface="Meiryo UI" pitchFamily="34" charset="-122"/>
                <a:cs typeface="Meiryo UI" pitchFamily="34" charset="-120"/>
              </a:rPr>
              <a:t>制約・留意点</a:t>
            </a:r>
            <a:endParaRPr lang="en-US" sz="950" dirty="0"/>
          </a:p>
          <a:p>
            <a:pPr indent="0" marL="0">
              <a:spcAft>
                <a:spcPts val="200"/>
              </a:spcAft>
              <a:buNone/>
            </a:pPr>
            <a:r>
              <a:rPr lang="en-US" sz="950" dirty="0">
                <a:solidFill>
                  <a:srgbClr val="2B2B2B"/>
                </a:solidFill>
                <a:latin typeface="Meiryo UI" pitchFamily="34" charset="0"/>
                <a:ea typeface="Meiryo UI" pitchFamily="34" charset="-122"/>
                <a:cs typeface="Meiryo UI" pitchFamily="34" charset="-120"/>
              </a:rPr>
              <a:t>・取り込みは手作業。カードIDは数式の列（RECORD_ID()）で持たせると重複しない</a:t>
            </a:r>
            <a:endParaRPr lang="en-US" sz="950" dirty="0"/>
          </a:p>
          <a:p>
            <a:pPr indent="0" marL="0">
              <a:spcAft>
                <a:spcPts val="200"/>
              </a:spcAft>
              <a:buNone/>
            </a:pPr>
            <a:r>
              <a:rPr lang="en-US" sz="950" dirty="0">
                <a:solidFill>
                  <a:srgbClr val="2B2B2B"/>
                </a:solidFill>
                <a:latin typeface="Meiryo UI" pitchFamily="34" charset="0"/>
                <a:ea typeface="Meiryo UI" pitchFamily="34" charset="-122"/>
                <a:cs typeface="Meiryo UI" pitchFamily="34" charset="-120"/>
              </a:rPr>
              <a:t>・エージェントにカードIDを変えさせない（一致しない行やIDが空の行は新しいカードになる）</a:t>
            </a:r>
            <a:endParaRPr lang="en-US" sz="950" dirty="0"/>
          </a:p>
          <a:p>
            <a:pPr indent="0" marL="0">
              <a:spcAft>
                <a:spcPts val="200"/>
              </a:spcAft>
              <a:buNone/>
            </a:pPr>
            <a:r>
              <a:rPr lang="en-US" sz="950" dirty="0">
                <a:solidFill>
                  <a:srgbClr val="2B2B2B"/>
                </a:solidFill>
                <a:latin typeface="Meiryo UI" pitchFamily="34" charset="0"/>
                <a:ea typeface="Meiryo UI" pitchFamily="34" charset="-122"/>
                <a:cs typeface="Meiryo UI" pitchFamily="34" charset="-120"/>
              </a:rPr>
              <a:t>・取り込む列は下書き欄だけにし、「Skip blank or invalid CSV values」で空の上書きを防ぐ</a:t>
            </a:r>
            <a:endParaRPr lang="en-US" sz="950" dirty="0"/>
          </a:p>
          <a:p>
            <a:pPr indent="0" marL="0">
              <a:spcAft>
                <a:spcPts val="700"/>
              </a:spcAft>
              <a:buNone/>
            </a:pPr>
            <a:r>
              <a:rPr lang="en-US" sz="950" dirty="0">
                <a:solidFill>
                  <a:srgbClr val="2B2B2B"/>
                </a:solidFill>
                <a:latin typeface="Meiryo UI" pitchFamily="34" charset="0"/>
                <a:ea typeface="Meiryo UI" pitchFamily="34" charset="-122"/>
                <a:cs typeface="Meiryo UI" pitchFamily="34" charset="-120"/>
              </a:rPr>
              <a:t>・商品の欄がリンクの場合は、Airtable側の表記と一致させる</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レベル1：ファイル経由（2/2）</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ファイルを介してAirtableに書き込む。どちらもカードIDつきの出力が前提</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3. パターン別の詳細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12</a:t>
            </a:r>
            <a:endParaRPr lang="en-US" sz="900" dirty="0"/>
          </a:p>
        </p:txBody>
      </p:sp>
      <p:sp>
        <p:nvSpPr>
          <p:cNvPr id="6" name="Shape 4"/>
          <p:cNvSpPr/>
          <p:nvPr/>
        </p:nvSpPr>
        <p:spPr>
          <a:xfrm>
            <a:off x="548640" y="1371600"/>
            <a:ext cx="5440680" cy="4983480"/>
          </a:xfrm>
          <a:prstGeom prst="roundRect">
            <a:avLst>
              <a:gd name="adj" fmla="val 917"/>
            </a:avLst>
          </a:prstGeom>
          <a:solidFill>
            <a:srgbClr val="F3F5F8"/>
          </a:solidFill>
          <a:ln/>
        </p:spPr>
      </p:sp>
      <p:sp>
        <p:nvSpPr>
          <p:cNvPr id="7" name="Shape 5"/>
          <p:cNvSpPr/>
          <p:nvPr/>
        </p:nvSpPr>
        <p:spPr>
          <a:xfrm>
            <a:off x="658368" y="1481328"/>
            <a:ext cx="457200" cy="457200"/>
          </a:xfrm>
          <a:prstGeom prst="ellipse">
            <a:avLst/>
          </a:prstGeom>
          <a:solidFill>
            <a:srgbClr val="0E9F9A"/>
          </a:solidFill>
          <a:ln/>
        </p:spPr>
      </p:sp>
      <p:sp>
        <p:nvSpPr>
          <p:cNvPr id="8" name="Text 6"/>
          <p:cNvSpPr txBox="1"/>
          <p:nvPr/>
        </p:nvSpPr>
        <p:spPr>
          <a:xfrm>
            <a:off x="658368" y="1481328"/>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P3</a:t>
            </a:r>
            <a:endParaRPr lang="en-US" sz="1100" dirty="0"/>
          </a:p>
        </p:txBody>
      </p:sp>
      <p:sp>
        <p:nvSpPr>
          <p:cNvPr id="9" name="Text 7"/>
          <p:cNvSpPr txBox="1"/>
          <p:nvPr/>
        </p:nvSpPr>
        <p:spPr>
          <a:xfrm>
            <a:off x="1188720" y="1426464"/>
            <a:ext cx="4709160" cy="512064"/>
          </a:xfrm>
          <a:prstGeom prst="rect">
            <a:avLst/>
          </a:prstGeom>
          <a:noFill/>
          <a:ln/>
        </p:spPr>
        <p:txBody>
          <a:bodyPr wrap="square" lIns="0" tIns="0" rIns="0" bIns="0" rtlCol="0" anchor="ctr"/>
          <a:lstStyle/>
          <a:p>
            <a:pPr indent="0" marL="0">
              <a:buNone/>
            </a:pPr>
            <a:r>
              <a:rPr lang="en-US" sz="1200" b="1" dirty="0">
                <a:solidFill>
                  <a:srgbClr val="1B2A49"/>
                </a:solidFill>
                <a:latin typeface="Meiryo UI" pitchFamily="34" charset="0"/>
                <a:ea typeface="Meiryo UI" pitchFamily="34" charset="-122"/>
                <a:cs typeface="Meiryo UI" pitchFamily="34" charset="-120"/>
              </a:rPr>
              <a:t>ファイルをSharePointに置き、Power AutomateがAirtableに書き込む</a:t>
            </a:r>
            <a:endParaRPr lang="en-US" sz="1200" dirty="0"/>
          </a:p>
        </p:txBody>
      </p:sp>
      <p:sp>
        <p:nvSpPr>
          <p:cNvPr id="10" name="Text 8"/>
          <p:cNvSpPr txBox="1"/>
          <p:nvPr/>
        </p:nvSpPr>
        <p:spPr>
          <a:xfrm>
            <a:off x="1188720" y="1938528"/>
            <a:ext cx="4709160" cy="219456"/>
          </a:xfrm>
          <a:prstGeom prst="rect">
            <a:avLst/>
          </a:prstGeom>
          <a:noFill/>
          <a:ln/>
        </p:spPr>
        <p:txBody>
          <a:bodyPr wrap="square" lIns="0" tIns="0" rIns="0" bIns="0" rtlCol="0" anchor="ctr"/>
          <a:lstStyle/>
          <a:p>
            <a:pPr indent="0" marL="0">
              <a:buNone/>
            </a:pPr>
            <a:r>
              <a:rPr lang="en-US" sz="850" dirty="0">
                <a:solidFill>
                  <a:srgbClr val="6B7280"/>
                </a:solidFill>
                <a:latin typeface="Meiryo UI" pitchFamily="34" charset="0"/>
                <a:ea typeface="Meiryo UI" pitchFamily="34" charset="-122"/>
                <a:cs typeface="Meiryo UI" pitchFamily="34" charset="-120"/>
              </a:rPr>
              <a:t>レベル1：ファイル経由　難易度 </a:t>
            </a:r>
            <a:pPr indent="0" marL="0">
              <a:buNone/>
            </a:pPr>
            <a:r>
              <a:rPr lang="en-US" sz="850" b="1" dirty="0">
                <a:solidFill>
                  <a:srgbClr val="E8912D"/>
                </a:solidFill>
                <a:latin typeface="Meiryo UI" pitchFamily="34" charset="0"/>
                <a:ea typeface="Meiryo UI" pitchFamily="34" charset="-122"/>
                <a:cs typeface="Meiryo UI" pitchFamily="34" charset="-120"/>
              </a:rPr>
              <a:t>★★</a:t>
            </a:r>
            <a:endParaRPr lang="en-US" sz="850" dirty="0"/>
          </a:p>
        </p:txBody>
      </p:sp>
      <p:sp>
        <p:nvSpPr>
          <p:cNvPr id="11" name="Shape 9"/>
          <p:cNvSpPr/>
          <p:nvPr/>
        </p:nvSpPr>
        <p:spPr>
          <a:xfrm>
            <a:off x="658368" y="2231136"/>
            <a:ext cx="5221224" cy="868680"/>
          </a:xfrm>
          <a:prstGeom prst="roundRect">
            <a:avLst>
              <a:gd name="adj" fmla="val 5263"/>
            </a:avLst>
          </a:prstGeom>
          <a:solidFill>
            <a:srgbClr val="FFFFFF"/>
          </a:solidFill>
          <a:ln w="12700">
            <a:solidFill>
              <a:srgbClr val="D5DBE3"/>
            </a:solidFill>
            <a:prstDash val="solid"/>
          </a:ln>
        </p:spPr>
      </p:sp>
      <p:pic>
        <p:nvPicPr>
          <p:cNvPr id="12" name="Image 0" descr="preencoded.png">    </p:cNvPr>
          <p:cNvPicPr>
            <a:picLocks noChangeAspect="1"/>
          </p:cNvPicPr>
          <p:nvPr/>
        </p:nvPicPr>
        <p:blipFill>
          <a:blip r:embed="rId1"/>
          <a:stretch>
            <a:fillRect/>
          </a:stretch>
        </p:blipFill>
        <p:spPr>
          <a:xfrm>
            <a:off x="1046988" y="2304288"/>
            <a:ext cx="310896" cy="310896"/>
          </a:xfrm>
          <a:prstGeom prst="rect">
            <a:avLst/>
          </a:prstGeom>
        </p:spPr>
      </p:pic>
      <p:sp>
        <p:nvSpPr>
          <p:cNvPr id="13" name="Text 10"/>
          <p:cNvSpPr txBox="1"/>
          <p:nvPr/>
        </p:nvSpPr>
        <p:spPr>
          <a:xfrm>
            <a:off x="713232" y="2642616"/>
            <a:ext cx="978408" cy="402336"/>
          </a:xfrm>
          <a:prstGeom prst="rect">
            <a:avLst/>
          </a:prstGeom>
          <a:noFill/>
          <a:ln/>
        </p:spPr>
        <p:txBody>
          <a:bodyPr wrap="square" lIns="0" tIns="0" rIns="0" bIns="0" rtlCol="0" anchor="t"/>
          <a:lstStyle/>
          <a:p>
            <a:pPr algn="ctr" indent="0" marL="0">
              <a:buNone/>
            </a:pPr>
            <a:r>
              <a:rPr lang="en-US" sz="650" b="1" dirty="0">
                <a:solidFill>
                  <a:srgbClr val="6B7280"/>
                </a:solidFill>
                <a:latin typeface="Meiryo UI" pitchFamily="34" charset="0"/>
                <a:ea typeface="Meiryo UI" pitchFamily="34" charset="-122"/>
                <a:cs typeface="Meiryo UI" pitchFamily="34" charset="-120"/>
              </a:rPr>
              <a:t>Airtable</a:t>
            </a:r>
            <a:endParaRPr lang="en-US" sz="650" dirty="0"/>
          </a:p>
          <a:p>
            <a:pPr algn="ctr" indent="0" marL="0">
              <a:buNone/>
            </a:pPr>
            <a:r>
              <a:rPr lang="en-US" sz="600" dirty="0">
                <a:solidFill>
                  <a:srgbClr val="8C95A3"/>
                </a:solidFill>
                <a:latin typeface="Meiryo UI" pitchFamily="34" charset="0"/>
                <a:ea typeface="Meiryo UI" pitchFamily="34" charset="-122"/>
                <a:cs typeface="Meiryo UI" pitchFamily="34" charset="-120"/>
              </a:rPr>
              <a:t>一覧をダウンロード</a:t>
            </a:r>
            <a:endParaRPr lang="en-US" sz="650" dirty="0"/>
          </a:p>
        </p:txBody>
      </p:sp>
      <p:sp>
        <p:nvSpPr>
          <p:cNvPr id="14" name="Shape 11"/>
          <p:cNvSpPr/>
          <p:nvPr/>
        </p:nvSpPr>
        <p:spPr>
          <a:xfrm>
            <a:off x="1431036" y="2459736"/>
            <a:ext cx="576072" cy="0"/>
          </a:xfrm>
          <a:prstGeom prst="line">
            <a:avLst/>
          </a:prstGeom>
          <a:noFill/>
          <a:ln w="15875">
            <a:solidFill>
              <a:srgbClr val="1B2A49"/>
            </a:solidFill>
            <a:prstDash val="solid"/>
            <a:tailEnd type="triangle"/>
          </a:ln>
        </p:spPr>
      </p:sp>
      <p:pic>
        <p:nvPicPr>
          <p:cNvPr id="15" name="Image 1" descr="preencoded.png">    </p:cNvPr>
          <p:cNvPicPr>
            <a:picLocks noChangeAspect="1"/>
          </p:cNvPicPr>
          <p:nvPr/>
        </p:nvPicPr>
        <p:blipFill>
          <a:blip r:embed="rId2"/>
          <a:stretch>
            <a:fillRect/>
          </a:stretch>
        </p:blipFill>
        <p:spPr>
          <a:xfrm>
            <a:off x="2080260" y="2304288"/>
            <a:ext cx="310896" cy="310896"/>
          </a:xfrm>
          <a:prstGeom prst="rect">
            <a:avLst/>
          </a:prstGeom>
        </p:spPr>
      </p:pic>
      <p:sp>
        <p:nvSpPr>
          <p:cNvPr id="16" name="Text 12"/>
          <p:cNvSpPr txBox="1"/>
          <p:nvPr/>
        </p:nvSpPr>
        <p:spPr>
          <a:xfrm>
            <a:off x="1746504" y="2642616"/>
            <a:ext cx="978408" cy="402336"/>
          </a:xfrm>
          <a:prstGeom prst="rect">
            <a:avLst/>
          </a:prstGeom>
          <a:noFill/>
          <a:ln/>
        </p:spPr>
        <p:txBody>
          <a:bodyPr wrap="square" lIns="0" tIns="0" rIns="0" bIns="0" rtlCol="0" anchor="t"/>
          <a:lstStyle/>
          <a:p>
            <a:pPr algn="ctr" indent="0" marL="0">
              <a:buNone/>
            </a:pPr>
            <a:r>
              <a:rPr lang="en-US" sz="650" b="1" dirty="0">
                <a:solidFill>
                  <a:srgbClr val="6B7280"/>
                </a:solidFill>
                <a:latin typeface="Meiryo UI" pitchFamily="34" charset="0"/>
                <a:ea typeface="Meiryo UI" pitchFamily="34" charset="-122"/>
                <a:cs typeface="Meiryo UI" pitchFamily="34" charset="-120"/>
              </a:rPr>
              <a:t>エージェント</a:t>
            </a:r>
            <a:endParaRPr lang="en-US" sz="650" dirty="0"/>
          </a:p>
          <a:p>
            <a:pPr algn="ctr" indent="0" marL="0">
              <a:buNone/>
            </a:pPr>
            <a:r>
              <a:rPr lang="en-US" sz="600" dirty="0">
                <a:solidFill>
                  <a:srgbClr val="8C95A3"/>
                </a:solidFill>
                <a:latin typeface="Meiryo UI" pitchFamily="34" charset="0"/>
                <a:ea typeface="Meiryo UI" pitchFamily="34" charset="-122"/>
                <a:cs typeface="Meiryo UI" pitchFamily="34" charset="-120"/>
              </a:rPr>
              <a:t>カードIDつきで出力</a:t>
            </a:r>
            <a:endParaRPr lang="en-US" sz="650" dirty="0"/>
          </a:p>
        </p:txBody>
      </p:sp>
      <p:sp>
        <p:nvSpPr>
          <p:cNvPr id="17" name="Shape 13"/>
          <p:cNvSpPr/>
          <p:nvPr/>
        </p:nvSpPr>
        <p:spPr>
          <a:xfrm>
            <a:off x="2464308" y="2459736"/>
            <a:ext cx="576072" cy="0"/>
          </a:xfrm>
          <a:prstGeom prst="line">
            <a:avLst/>
          </a:prstGeom>
          <a:noFill/>
          <a:ln w="15875">
            <a:solidFill>
              <a:srgbClr val="1B2A49"/>
            </a:solidFill>
            <a:prstDash val="solid"/>
            <a:tailEnd type="triangle"/>
          </a:ln>
        </p:spPr>
      </p:sp>
      <p:pic>
        <p:nvPicPr>
          <p:cNvPr id="18" name="Image 2" descr="preencoded.png">    </p:cNvPr>
          <p:cNvPicPr>
            <a:picLocks noChangeAspect="1"/>
          </p:cNvPicPr>
          <p:nvPr/>
        </p:nvPicPr>
        <p:blipFill>
          <a:blip r:embed="rId3"/>
          <a:stretch>
            <a:fillRect/>
          </a:stretch>
        </p:blipFill>
        <p:spPr>
          <a:xfrm>
            <a:off x="3113532" y="2304288"/>
            <a:ext cx="310896" cy="310896"/>
          </a:xfrm>
          <a:prstGeom prst="rect">
            <a:avLst/>
          </a:prstGeom>
        </p:spPr>
      </p:pic>
      <p:sp>
        <p:nvSpPr>
          <p:cNvPr id="19" name="Text 14"/>
          <p:cNvSpPr txBox="1"/>
          <p:nvPr/>
        </p:nvSpPr>
        <p:spPr>
          <a:xfrm>
            <a:off x="2779776" y="2642616"/>
            <a:ext cx="978408" cy="402336"/>
          </a:xfrm>
          <a:prstGeom prst="rect">
            <a:avLst/>
          </a:prstGeom>
          <a:noFill/>
          <a:ln/>
        </p:spPr>
        <p:txBody>
          <a:bodyPr wrap="square" lIns="0" tIns="0" rIns="0" bIns="0" rtlCol="0" anchor="t"/>
          <a:lstStyle/>
          <a:p>
            <a:pPr algn="ctr" indent="0" marL="0">
              <a:buNone/>
            </a:pPr>
            <a:r>
              <a:rPr lang="en-US" sz="650" b="1" dirty="0">
                <a:solidFill>
                  <a:srgbClr val="6B7280"/>
                </a:solidFill>
                <a:latin typeface="Meiryo UI" pitchFamily="34" charset="0"/>
                <a:ea typeface="Meiryo UI" pitchFamily="34" charset="-122"/>
                <a:cs typeface="Meiryo UI" pitchFamily="34" charset="-120"/>
              </a:rPr>
              <a:t>SharePoint</a:t>
            </a:r>
            <a:endParaRPr lang="en-US" sz="650" dirty="0"/>
          </a:p>
          <a:p>
            <a:pPr algn="ctr" indent="0" marL="0">
              <a:buNone/>
            </a:pPr>
            <a:r>
              <a:rPr lang="en-US" sz="600" dirty="0">
                <a:solidFill>
                  <a:srgbClr val="8C95A3"/>
                </a:solidFill>
                <a:latin typeface="Meiryo UI" pitchFamily="34" charset="0"/>
                <a:ea typeface="Meiryo UI" pitchFamily="34" charset="-122"/>
                <a:cs typeface="Meiryo UI" pitchFamily="34" charset="-120"/>
              </a:rPr>
              <a:t>人が保存</a:t>
            </a:r>
            <a:endParaRPr lang="en-US" sz="650" dirty="0"/>
          </a:p>
        </p:txBody>
      </p:sp>
      <p:sp>
        <p:nvSpPr>
          <p:cNvPr id="20" name="Shape 15"/>
          <p:cNvSpPr/>
          <p:nvPr/>
        </p:nvSpPr>
        <p:spPr>
          <a:xfrm>
            <a:off x="3497580" y="2459736"/>
            <a:ext cx="576072" cy="0"/>
          </a:xfrm>
          <a:prstGeom prst="line">
            <a:avLst/>
          </a:prstGeom>
          <a:noFill/>
          <a:ln w="15875">
            <a:solidFill>
              <a:srgbClr val="1B2A49"/>
            </a:solidFill>
            <a:prstDash val="solid"/>
            <a:tailEnd type="triangle"/>
          </a:ln>
        </p:spPr>
      </p:sp>
      <p:pic>
        <p:nvPicPr>
          <p:cNvPr id="21" name="Image 3" descr="preencoded.png">    </p:cNvPr>
          <p:cNvPicPr>
            <a:picLocks noChangeAspect="1"/>
          </p:cNvPicPr>
          <p:nvPr/>
        </p:nvPicPr>
        <p:blipFill>
          <a:blip r:embed="rId4"/>
          <a:stretch>
            <a:fillRect/>
          </a:stretch>
        </p:blipFill>
        <p:spPr>
          <a:xfrm>
            <a:off x="4146804" y="2304288"/>
            <a:ext cx="310896" cy="310896"/>
          </a:xfrm>
          <a:prstGeom prst="rect">
            <a:avLst/>
          </a:prstGeom>
        </p:spPr>
      </p:pic>
      <p:sp>
        <p:nvSpPr>
          <p:cNvPr id="22" name="Text 16"/>
          <p:cNvSpPr txBox="1"/>
          <p:nvPr/>
        </p:nvSpPr>
        <p:spPr>
          <a:xfrm>
            <a:off x="3813048" y="2642616"/>
            <a:ext cx="978408" cy="402336"/>
          </a:xfrm>
          <a:prstGeom prst="rect">
            <a:avLst/>
          </a:prstGeom>
          <a:noFill/>
          <a:ln/>
        </p:spPr>
        <p:txBody>
          <a:bodyPr wrap="square" lIns="0" tIns="0" rIns="0" bIns="0" rtlCol="0" anchor="t"/>
          <a:lstStyle/>
          <a:p>
            <a:pPr algn="ctr" indent="0" marL="0">
              <a:buNone/>
            </a:pPr>
            <a:r>
              <a:rPr lang="en-US" sz="650" b="1" dirty="0">
                <a:solidFill>
                  <a:srgbClr val="6B7280"/>
                </a:solidFill>
                <a:latin typeface="Meiryo UI" pitchFamily="34" charset="0"/>
                <a:ea typeface="Meiryo UI" pitchFamily="34" charset="-122"/>
                <a:cs typeface="Meiryo UI" pitchFamily="34" charset="-120"/>
              </a:rPr>
              <a:t>Power Automate</a:t>
            </a:r>
            <a:endParaRPr lang="en-US" sz="650" dirty="0"/>
          </a:p>
          <a:p>
            <a:pPr algn="ctr" indent="0" marL="0">
              <a:buNone/>
            </a:pPr>
            <a:r>
              <a:rPr lang="en-US" sz="600" dirty="0">
                <a:solidFill>
                  <a:srgbClr val="8C95A3"/>
                </a:solidFill>
                <a:latin typeface="Meiryo UI" pitchFamily="34" charset="0"/>
                <a:ea typeface="Meiryo UI" pitchFamily="34" charset="-122"/>
                <a:cs typeface="Meiryo UI" pitchFamily="34" charset="-120"/>
              </a:rPr>
              <a:t>検知・API</a:t>
            </a:r>
            <a:endParaRPr lang="en-US" sz="650" dirty="0"/>
          </a:p>
        </p:txBody>
      </p:sp>
      <p:sp>
        <p:nvSpPr>
          <p:cNvPr id="23" name="Shape 17"/>
          <p:cNvSpPr/>
          <p:nvPr/>
        </p:nvSpPr>
        <p:spPr>
          <a:xfrm>
            <a:off x="4530852" y="2459736"/>
            <a:ext cx="576072" cy="0"/>
          </a:xfrm>
          <a:prstGeom prst="line">
            <a:avLst/>
          </a:prstGeom>
          <a:noFill/>
          <a:ln w="15875">
            <a:solidFill>
              <a:srgbClr val="1B2A49"/>
            </a:solidFill>
            <a:prstDash val="solid"/>
            <a:tailEnd type="triangle"/>
          </a:ln>
        </p:spPr>
      </p:sp>
      <p:pic>
        <p:nvPicPr>
          <p:cNvPr id="24" name="Image 4" descr="preencoded.png">    </p:cNvPr>
          <p:cNvPicPr>
            <a:picLocks noChangeAspect="1"/>
          </p:cNvPicPr>
          <p:nvPr/>
        </p:nvPicPr>
        <p:blipFill>
          <a:blip r:embed="rId5"/>
          <a:stretch>
            <a:fillRect/>
          </a:stretch>
        </p:blipFill>
        <p:spPr>
          <a:xfrm>
            <a:off x="5180076" y="2304288"/>
            <a:ext cx="310896" cy="310896"/>
          </a:xfrm>
          <a:prstGeom prst="rect">
            <a:avLst/>
          </a:prstGeom>
        </p:spPr>
      </p:pic>
      <p:sp>
        <p:nvSpPr>
          <p:cNvPr id="25" name="Text 18"/>
          <p:cNvSpPr txBox="1"/>
          <p:nvPr/>
        </p:nvSpPr>
        <p:spPr>
          <a:xfrm>
            <a:off x="4846320" y="2642616"/>
            <a:ext cx="978408" cy="402336"/>
          </a:xfrm>
          <a:prstGeom prst="rect">
            <a:avLst/>
          </a:prstGeom>
          <a:noFill/>
          <a:ln/>
        </p:spPr>
        <p:txBody>
          <a:bodyPr wrap="square" lIns="0" tIns="0" rIns="0" bIns="0" rtlCol="0" anchor="t"/>
          <a:lstStyle/>
          <a:p>
            <a:pPr algn="ctr" indent="0" marL="0">
              <a:buNone/>
            </a:pPr>
            <a:r>
              <a:rPr lang="en-US" sz="650" b="1" dirty="0">
                <a:solidFill>
                  <a:srgbClr val="6B7280"/>
                </a:solidFill>
                <a:latin typeface="Meiryo UI" pitchFamily="34" charset="0"/>
                <a:ea typeface="Meiryo UI" pitchFamily="34" charset="-122"/>
                <a:cs typeface="Meiryo UI" pitchFamily="34" charset="-120"/>
              </a:rPr>
              <a:t>Airtable</a:t>
            </a:r>
            <a:endParaRPr lang="en-US" sz="650" dirty="0"/>
          </a:p>
          <a:p>
            <a:pPr algn="ctr" indent="0" marL="0">
              <a:buNone/>
            </a:pPr>
            <a:r>
              <a:rPr lang="en-US" sz="600" dirty="0">
                <a:solidFill>
                  <a:srgbClr val="8C95A3"/>
                </a:solidFill>
                <a:latin typeface="Meiryo UI" pitchFamily="34" charset="0"/>
                <a:ea typeface="Meiryo UI" pitchFamily="34" charset="-122"/>
                <a:cs typeface="Meiryo UI" pitchFamily="34" charset="-120"/>
              </a:rPr>
              <a:t>下書き欄を更新</a:t>
            </a:r>
            <a:endParaRPr lang="en-US" sz="650" dirty="0"/>
          </a:p>
        </p:txBody>
      </p:sp>
      <p:sp>
        <p:nvSpPr>
          <p:cNvPr id="26" name="Text 19"/>
          <p:cNvSpPr txBox="1"/>
          <p:nvPr/>
        </p:nvSpPr>
        <p:spPr>
          <a:xfrm>
            <a:off x="685800" y="3200400"/>
            <a:ext cx="5166360" cy="3081528"/>
          </a:xfrm>
          <a:prstGeom prst="rect">
            <a:avLst/>
          </a:prstGeom>
          <a:noFill/>
          <a:ln/>
        </p:spPr>
        <p:txBody>
          <a:bodyPr wrap="square" lIns="254" tIns="254" rIns="254" bIns="254" rtlCol="0" anchor="t"/>
          <a:lstStyle/>
          <a:p>
            <a:pPr indent="0" marL="0">
              <a:buNone/>
            </a:pPr>
            <a:r>
              <a:rPr lang="en-US" sz="1000" b="1" dirty="0">
                <a:solidFill>
                  <a:srgbClr val="0E9F9A"/>
                </a:solidFill>
                <a:latin typeface="Meiryo UI" pitchFamily="34" charset="0"/>
                <a:ea typeface="Meiryo UI" pitchFamily="34" charset="-122"/>
                <a:cs typeface="Meiryo UI" pitchFamily="34" charset="-120"/>
              </a:rPr>
              <a:t>前提</a:t>
            </a:r>
            <a:endParaRPr lang="en-US" sz="1000" dirty="0"/>
          </a:p>
          <a:p>
            <a:pPr indent="0" marL="0">
              <a:spcAft>
                <a:spcPts val="700"/>
              </a:spcAft>
              <a:buNone/>
            </a:pPr>
            <a:r>
              <a:rPr lang="en-US" sz="1000" dirty="0">
                <a:solidFill>
                  <a:srgbClr val="2B2B2B"/>
                </a:solidFill>
                <a:latin typeface="Meiryo UI" pitchFamily="34" charset="0"/>
                <a:ea typeface="Meiryo UI" pitchFamily="34" charset="-122"/>
                <a:cs typeface="Meiryo UI" pitchFamily="34" charset="-120"/>
              </a:rPr>
              <a:t>P2と同じく、カードを先に作り、カードの一覧（カードIDつき）をエージェントに渡す。REST APIで既存のカードを更新するにはレコードIDが必要なため</a:t>
            </a:r>
            <a:endParaRPr lang="en-US" sz="1000" dirty="0"/>
          </a:p>
          <a:p>
            <a:pPr indent="0" marL="0">
              <a:buNone/>
            </a:pPr>
            <a:r>
              <a:rPr lang="en-US" sz="1000" b="1" dirty="0">
                <a:solidFill>
                  <a:srgbClr val="0E9F9A"/>
                </a:solidFill>
                <a:latin typeface="Meiryo UI" pitchFamily="34" charset="0"/>
                <a:ea typeface="Meiryo UI" pitchFamily="34" charset="-122"/>
                <a:cs typeface="Meiryo UI" pitchFamily="34" charset="-120"/>
              </a:rPr>
              <a:t>流れ</a:t>
            </a:r>
            <a:endParaRPr lang="en-US" sz="1000" dirty="0"/>
          </a:p>
          <a:p>
            <a:pPr indent="0" marL="0">
              <a:spcAft>
                <a:spcPts val="700"/>
              </a:spcAft>
              <a:buNone/>
            </a:pPr>
            <a:r>
              <a:rPr lang="en-US" sz="1000" dirty="0">
                <a:solidFill>
                  <a:srgbClr val="2B2B2B"/>
                </a:solidFill>
                <a:latin typeface="Meiryo UI" pitchFamily="34" charset="0"/>
                <a:ea typeface="Meiryo UI" pitchFamily="34" charset="-122"/>
                <a:cs typeface="Meiryo UI" pitchFamily="34" charset="-120"/>
              </a:rPr>
              <a:t>カードの一覧をエージェントに渡す → 出力ファイル（Excel・CSV・JSON。カードIDの列を残す）をSharePointに保存 → Power Automateがファイル作成を検知 → カードIDを使ってREST APIで下書き欄を更新</a:t>
            </a:r>
            <a:endParaRPr lang="en-US" sz="1000" dirty="0"/>
          </a:p>
          <a:p>
            <a:pPr indent="0" marL="0">
              <a:buNone/>
            </a:pPr>
            <a:r>
              <a:rPr lang="en-US" sz="1000" b="1" dirty="0">
                <a:solidFill>
                  <a:srgbClr val="0E9F9A"/>
                </a:solidFill>
                <a:latin typeface="Meiryo UI" pitchFamily="34" charset="0"/>
                <a:ea typeface="Meiryo UI" pitchFamily="34" charset="-122"/>
                <a:cs typeface="Meiryo UI" pitchFamily="34" charset="-120"/>
              </a:rPr>
              <a:t>必要なもの</a:t>
            </a:r>
            <a:endParaRPr lang="en-US" sz="1000" dirty="0"/>
          </a:p>
          <a:p>
            <a:pPr indent="0" marL="0">
              <a:spcAft>
                <a:spcPts val="700"/>
              </a:spcAft>
              <a:buNone/>
            </a:pPr>
            <a:r>
              <a:rPr lang="en-US" sz="1000" dirty="0">
                <a:solidFill>
                  <a:srgbClr val="2B2B2B"/>
                </a:solidFill>
                <a:latin typeface="Meiryo UI" pitchFamily="34" charset="0"/>
                <a:ea typeface="Meiryo UI" pitchFamily="34" charset="-122"/>
                <a:cs typeface="Meiryo UI" pitchFamily="34" charset="-120"/>
              </a:rPr>
              <a:t>Power Automate Premium（HTTPアクション）、AirtableのPAT</a:t>
            </a:r>
            <a:endParaRPr lang="en-US" sz="1000" dirty="0"/>
          </a:p>
          <a:p>
            <a:pPr indent="0" marL="0">
              <a:buNone/>
            </a:pPr>
            <a:r>
              <a:rPr lang="en-US" sz="1000" b="1" dirty="0">
                <a:solidFill>
                  <a:srgbClr val="0E9F9A"/>
                </a:solidFill>
                <a:latin typeface="Meiryo UI" pitchFamily="34" charset="0"/>
                <a:ea typeface="Meiryo UI" pitchFamily="34" charset="-122"/>
                <a:cs typeface="Meiryo UI" pitchFamily="34" charset="-120"/>
              </a:rPr>
              <a:t>長所</a:t>
            </a:r>
            <a:endParaRPr lang="en-US" sz="1000" dirty="0"/>
          </a:p>
          <a:p>
            <a:pPr indent="0" marL="0">
              <a:spcAft>
                <a:spcPts val="700"/>
              </a:spcAft>
              <a:buNone/>
            </a:pPr>
            <a:r>
              <a:rPr lang="en-US" sz="1000" dirty="0">
                <a:solidFill>
                  <a:srgbClr val="2B2B2B"/>
                </a:solidFill>
                <a:latin typeface="Meiryo UI" pitchFamily="34" charset="0"/>
                <a:ea typeface="Meiryo UI" pitchFamily="34" charset="-122"/>
                <a:cs typeface="Meiryo UI" pitchFamily="34" charset="-120"/>
              </a:rPr>
              <a:t>エージェントはAgent Builderでもよい。書き込み処理を一元管理でき、書き込む欄をフロー側で下書き欄に限定できる</a:t>
            </a:r>
            <a:endParaRPr lang="en-US" sz="1000" dirty="0"/>
          </a:p>
          <a:p>
            <a:pPr indent="0" marL="0">
              <a:buNone/>
            </a:pPr>
            <a:r>
              <a:rPr lang="en-US" sz="1000" b="1" dirty="0">
                <a:solidFill>
                  <a:srgbClr val="0E9F9A"/>
                </a:solidFill>
                <a:latin typeface="Meiryo UI" pitchFamily="34" charset="0"/>
                <a:ea typeface="Meiryo UI" pitchFamily="34" charset="-122"/>
                <a:cs typeface="Meiryo UI" pitchFamily="34" charset="-120"/>
              </a:rPr>
              <a:t>制約・留意点</a:t>
            </a:r>
            <a:endParaRPr lang="en-US" sz="1000" dirty="0"/>
          </a:p>
          <a:p>
            <a:pPr indent="0" marL="0">
              <a:spcAft>
                <a:spcPts val="700"/>
              </a:spcAft>
              <a:buNone/>
            </a:pPr>
            <a:r>
              <a:rPr lang="en-US" sz="1000" dirty="0">
                <a:solidFill>
                  <a:srgbClr val="2B2B2B"/>
                </a:solidFill>
                <a:latin typeface="Meiryo UI" pitchFamily="34" charset="0"/>
                <a:ea typeface="Meiryo UI" pitchFamily="34" charset="-122"/>
                <a:cs typeface="Meiryo UI" pitchFamily="34" charset="-120"/>
              </a:rPr>
              <a:t>ファイルの形式を固定する必要がある。一覧を渡す作業とファイルを置く作業は人が行う。カードIDが見つからない行は書き込まずにエラーとして通知する</a:t>
            </a:r>
            <a:endParaRPr lang="en-US" sz="1000" dirty="0"/>
          </a:p>
        </p:txBody>
      </p:sp>
      <p:sp>
        <p:nvSpPr>
          <p:cNvPr id="27" name="Shape 20"/>
          <p:cNvSpPr/>
          <p:nvPr/>
        </p:nvSpPr>
        <p:spPr>
          <a:xfrm>
            <a:off x="6172200" y="1371600"/>
            <a:ext cx="5440680" cy="4983480"/>
          </a:xfrm>
          <a:prstGeom prst="roundRect">
            <a:avLst>
              <a:gd name="adj" fmla="val 917"/>
            </a:avLst>
          </a:prstGeom>
          <a:solidFill>
            <a:srgbClr val="F3F5F8"/>
          </a:solidFill>
          <a:ln/>
        </p:spPr>
      </p:sp>
      <p:sp>
        <p:nvSpPr>
          <p:cNvPr id="28" name="Shape 21"/>
          <p:cNvSpPr/>
          <p:nvPr/>
        </p:nvSpPr>
        <p:spPr>
          <a:xfrm>
            <a:off x="6281928" y="1481328"/>
            <a:ext cx="457200" cy="457200"/>
          </a:xfrm>
          <a:prstGeom prst="ellipse">
            <a:avLst/>
          </a:prstGeom>
          <a:solidFill>
            <a:srgbClr val="0E9F9A"/>
          </a:solidFill>
          <a:ln/>
        </p:spPr>
      </p:sp>
      <p:sp>
        <p:nvSpPr>
          <p:cNvPr id="29" name="Text 22"/>
          <p:cNvSpPr txBox="1"/>
          <p:nvPr/>
        </p:nvSpPr>
        <p:spPr>
          <a:xfrm>
            <a:off x="6281928" y="1481328"/>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P4</a:t>
            </a:r>
            <a:endParaRPr lang="en-US" sz="1100" dirty="0"/>
          </a:p>
        </p:txBody>
      </p:sp>
      <p:sp>
        <p:nvSpPr>
          <p:cNvPr id="30" name="Text 23"/>
          <p:cNvSpPr txBox="1"/>
          <p:nvPr/>
        </p:nvSpPr>
        <p:spPr>
          <a:xfrm>
            <a:off x="6812280" y="1426464"/>
            <a:ext cx="4709160" cy="512064"/>
          </a:xfrm>
          <a:prstGeom prst="rect">
            <a:avLst/>
          </a:prstGeom>
          <a:noFill/>
          <a:ln/>
        </p:spPr>
        <p:txBody>
          <a:bodyPr wrap="square" lIns="0" tIns="0" rIns="0" bIns="0" rtlCol="0" anchor="ctr"/>
          <a:lstStyle/>
          <a:p>
            <a:pPr indent="0" marL="0">
              <a:buNone/>
            </a:pPr>
            <a:r>
              <a:rPr lang="en-US" sz="1200" b="1" dirty="0">
                <a:solidFill>
                  <a:srgbClr val="1B2A49"/>
                </a:solidFill>
                <a:latin typeface="Meiryo UI" pitchFamily="34" charset="0"/>
                <a:ea typeface="Meiryo UI" pitchFamily="34" charset="-122"/>
                <a:cs typeface="Meiryo UI" pitchFamily="34" charset="-120"/>
              </a:rPr>
              <a:t>ファイルをAirtableのSync APIで同期テーブルに取り込む</a:t>
            </a:r>
            <a:endParaRPr lang="en-US" sz="1200" dirty="0"/>
          </a:p>
        </p:txBody>
      </p:sp>
      <p:sp>
        <p:nvSpPr>
          <p:cNvPr id="31" name="Text 24"/>
          <p:cNvSpPr txBox="1"/>
          <p:nvPr/>
        </p:nvSpPr>
        <p:spPr>
          <a:xfrm>
            <a:off x="6812280" y="1938528"/>
            <a:ext cx="4709160" cy="219456"/>
          </a:xfrm>
          <a:prstGeom prst="rect">
            <a:avLst/>
          </a:prstGeom>
          <a:noFill/>
          <a:ln/>
        </p:spPr>
        <p:txBody>
          <a:bodyPr wrap="square" lIns="0" tIns="0" rIns="0" bIns="0" rtlCol="0" anchor="ctr"/>
          <a:lstStyle/>
          <a:p>
            <a:pPr indent="0" marL="0">
              <a:buNone/>
            </a:pPr>
            <a:r>
              <a:rPr lang="en-US" sz="850" dirty="0">
                <a:solidFill>
                  <a:srgbClr val="6B7280"/>
                </a:solidFill>
                <a:latin typeface="Meiryo UI" pitchFamily="34" charset="0"/>
                <a:ea typeface="Meiryo UI" pitchFamily="34" charset="-122"/>
                <a:cs typeface="Meiryo UI" pitchFamily="34" charset="-120"/>
              </a:rPr>
              <a:t>レベル1：ファイル経由　難易度 </a:t>
            </a:r>
            <a:pPr indent="0" marL="0">
              <a:buNone/>
            </a:pPr>
            <a:r>
              <a:rPr lang="en-US" sz="850" b="1" dirty="0">
                <a:solidFill>
                  <a:srgbClr val="E8912D"/>
                </a:solidFill>
                <a:latin typeface="Meiryo UI" pitchFamily="34" charset="0"/>
                <a:ea typeface="Meiryo UI" pitchFamily="34" charset="-122"/>
                <a:cs typeface="Meiryo UI" pitchFamily="34" charset="-120"/>
              </a:rPr>
              <a:t>★★</a:t>
            </a:r>
            <a:endParaRPr lang="en-US" sz="850" dirty="0"/>
          </a:p>
        </p:txBody>
      </p:sp>
      <p:sp>
        <p:nvSpPr>
          <p:cNvPr id="32" name="Shape 25"/>
          <p:cNvSpPr/>
          <p:nvPr/>
        </p:nvSpPr>
        <p:spPr>
          <a:xfrm>
            <a:off x="6281928" y="2231136"/>
            <a:ext cx="5221224" cy="868680"/>
          </a:xfrm>
          <a:prstGeom prst="roundRect">
            <a:avLst>
              <a:gd name="adj" fmla="val 5263"/>
            </a:avLst>
          </a:prstGeom>
          <a:solidFill>
            <a:srgbClr val="FFFFFF"/>
          </a:solidFill>
          <a:ln w="12700">
            <a:solidFill>
              <a:srgbClr val="D5DBE3"/>
            </a:solidFill>
            <a:prstDash val="solid"/>
          </a:ln>
        </p:spPr>
      </p:sp>
      <p:pic>
        <p:nvPicPr>
          <p:cNvPr id="33" name="Image 5" descr="preencoded.png">    </p:cNvPr>
          <p:cNvPicPr>
            <a:picLocks noChangeAspect="1"/>
          </p:cNvPicPr>
          <p:nvPr/>
        </p:nvPicPr>
        <p:blipFill>
          <a:blip r:embed="rId6"/>
          <a:stretch>
            <a:fillRect/>
          </a:stretch>
        </p:blipFill>
        <p:spPr>
          <a:xfrm>
            <a:off x="6799707" y="2304288"/>
            <a:ext cx="310896" cy="310896"/>
          </a:xfrm>
          <a:prstGeom prst="rect">
            <a:avLst/>
          </a:prstGeom>
        </p:spPr>
      </p:pic>
      <p:sp>
        <p:nvSpPr>
          <p:cNvPr id="34" name="Text 26"/>
          <p:cNvSpPr txBox="1"/>
          <p:nvPr/>
        </p:nvSpPr>
        <p:spPr>
          <a:xfrm>
            <a:off x="6336792" y="2642616"/>
            <a:ext cx="1236726" cy="402336"/>
          </a:xfrm>
          <a:prstGeom prst="rect">
            <a:avLst/>
          </a:prstGeom>
          <a:noFill/>
          <a:ln/>
        </p:spPr>
        <p:txBody>
          <a:bodyPr wrap="square" lIns="0" tIns="0" rIns="0" bIns="0" rtlCol="0" anchor="t"/>
          <a:lstStyle/>
          <a:p>
            <a:pPr algn="ctr" indent="0" marL="0">
              <a:buNone/>
            </a:pPr>
            <a:r>
              <a:rPr lang="en-US" sz="650" b="1" dirty="0">
                <a:solidFill>
                  <a:srgbClr val="6B7280"/>
                </a:solidFill>
                <a:latin typeface="Meiryo UI" pitchFamily="34" charset="0"/>
                <a:ea typeface="Meiryo UI" pitchFamily="34" charset="-122"/>
                <a:cs typeface="Meiryo UI" pitchFamily="34" charset="-120"/>
              </a:rPr>
              <a:t>エージェント</a:t>
            </a:r>
            <a:endParaRPr lang="en-US" sz="650" dirty="0"/>
          </a:p>
          <a:p>
            <a:pPr algn="ctr" indent="0" marL="0">
              <a:buNone/>
            </a:pPr>
            <a:r>
              <a:rPr lang="en-US" sz="600" dirty="0">
                <a:solidFill>
                  <a:srgbClr val="8C95A3"/>
                </a:solidFill>
                <a:latin typeface="Meiryo UI" pitchFamily="34" charset="0"/>
                <a:ea typeface="Meiryo UI" pitchFamily="34" charset="-122"/>
                <a:cs typeface="Meiryo UI" pitchFamily="34" charset="-120"/>
              </a:rPr>
              <a:t>CSVを出力</a:t>
            </a:r>
            <a:endParaRPr lang="en-US" sz="650" dirty="0"/>
          </a:p>
        </p:txBody>
      </p:sp>
      <p:sp>
        <p:nvSpPr>
          <p:cNvPr id="35" name="Shape 27"/>
          <p:cNvSpPr/>
          <p:nvPr/>
        </p:nvSpPr>
        <p:spPr>
          <a:xfrm>
            <a:off x="7183755" y="2459736"/>
            <a:ext cx="834390" cy="0"/>
          </a:xfrm>
          <a:prstGeom prst="line">
            <a:avLst/>
          </a:prstGeom>
          <a:noFill/>
          <a:ln w="15875">
            <a:solidFill>
              <a:srgbClr val="1B2A49"/>
            </a:solidFill>
            <a:prstDash val="solid"/>
            <a:tailEnd type="triangle"/>
          </a:ln>
        </p:spPr>
      </p:sp>
      <p:pic>
        <p:nvPicPr>
          <p:cNvPr id="36" name="Image 6" descr="preencoded.png">    </p:cNvPr>
          <p:cNvPicPr>
            <a:picLocks noChangeAspect="1"/>
          </p:cNvPicPr>
          <p:nvPr/>
        </p:nvPicPr>
        <p:blipFill>
          <a:blip r:embed="rId7"/>
          <a:stretch>
            <a:fillRect/>
          </a:stretch>
        </p:blipFill>
        <p:spPr>
          <a:xfrm>
            <a:off x="8091297" y="2304288"/>
            <a:ext cx="310896" cy="310896"/>
          </a:xfrm>
          <a:prstGeom prst="rect">
            <a:avLst/>
          </a:prstGeom>
        </p:spPr>
      </p:pic>
      <p:sp>
        <p:nvSpPr>
          <p:cNvPr id="37" name="Text 28"/>
          <p:cNvSpPr txBox="1"/>
          <p:nvPr/>
        </p:nvSpPr>
        <p:spPr>
          <a:xfrm>
            <a:off x="7628382" y="2642616"/>
            <a:ext cx="1236726" cy="402336"/>
          </a:xfrm>
          <a:prstGeom prst="rect">
            <a:avLst/>
          </a:prstGeom>
          <a:noFill/>
          <a:ln/>
        </p:spPr>
        <p:txBody>
          <a:bodyPr wrap="square" lIns="0" tIns="0" rIns="0" bIns="0" rtlCol="0" anchor="t"/>
          <a:lstStyle/>
          <a:p>
            <a:pPr algn="ctr" indent="0" marL="0">
              <a:buNone/>
            </a:pPr>
            <a:r>
              <a:rPr lang="en-US" sz="650" b="1" dirty="0">
                <a:solidFill>
                  <a:srgbClr val="6B7280"/>
                </a:solidFill>
                <a:latin typeface="Meiryo UI" pitchFamily="34" charset="0"/>
                <a:ea typeface="Meiryo UI" pitchFamily="34" charset="-122"/>
                <a:cs typeface="Meiryo UI" pitchFamily="34" charset="-120"/>
              </a:rPr>
              <a:t>Power Automate</a:t>
            </a:r>
            <a:endParaRPr lang="en-US" sz="650" dirty="0"/>
          </a:p>
          <a:p>
            <a:pPr algn="ctr" indent="0" marL="0">
              <a:buNone/>
            </a:pPr>
            <a:r>
              <a:rPr lang="en-US" sz="600" dirty="0">
                <a:solidFill>
                  <a:srgbClr val="8C95A3"/>
                </a:solidFill>
                <a:latin typeface="Meiryo UI" pitchFamily="34" charset="0"/>
                <a:ea typeface="Meiryo UI" pitchFamily="34" charset="-122"/>
                <a:cs typeface="Meiryo UI" pitchFamily="34" charset="-120"/>
              </a:rPr>
              <a:t>Sync APIへ送信</a:t>
            </a:r>
            <a:endParaRPr lang="en-US" sz="650" dirty="0"/>
          </a:p>
        </p:txBody>
      </p:sp>
      <p:sp>
        <p:nvSpPr>
          <p:cNvPr id="38" name="Shape 29"/>
          <p:cNvSpPr/>
          <p:nvPr/>
        </p:nvSpPr>
        <p:spPr>
          <a:xfrm>
            <a:off x="8475345" y="2459736"/>
            <a:ext cx="834390" cy="0"/>
          </a:xfrm>
          <a:prstGeom prst="line">
            <a:avLst/>
          </a:prstGeom>
          <a:noFill/>
          <a:ln w="15875">
            <a:solidFill>
              <a:srgbClr val="1B2A49"/>
            </a:solidFill>
            <a:prstDash val="solid"/>
            <a:tailEnd type="triangle"/>
          </a:ln>
        </p:spPr>
      </p:sp>
      <p:pic>
        <p:nvPicPr>
          <p:cNvPr id="39" name="Image 7" descr="preencoded.png">    </p:cNvPr>
          <p:cNvPicPr>
            <a:picLocks noChangeAspect="1"/>
          </p:cNvPicPr>
          <p:nvPr/>
        </p:nvPicPr>
        <p:blipFill>
          <a:blip r:embed="rId8"/>
          <a:stretch>
            <a:fillRect/>
          </a:stretch>
        </p:blipFill>
        <p:spPr>
          <a:xfrm>
            <a:off x="9382887" y="2304288"/>
            <a:ext cx="310896" cy="310896"/>
          </a:xfrm>
          <a:prstGeom prst="rect">
            <a:avLst/>
          </a:prstGeom>
        </p:spPr>
      </p:pic>
      <p:sp>
        <p:nvSpPr>
          <p:cNvPr id="40" name="Text 30"/>
          <p:cNvSpPr txBox="1"/>
          <p:nvPr/>
        </p:nvSpPr>
        <p:spPr>
          <a:xfrm>
            <a:off x="8919972" y="2642616"/>
            <a:ext cx="1236726" cy="402336"/>
          </a:xfrm>
          <a:prstGeom prst="rect">
            <a:avLst/>
          </a:prstGeom>
          <a:noFill/>
          <a:ln/>
        </p:spPr>
        <p:txBody>
          <a:bodyPr wrap="square" lIns="0" tIns="0" rIns="0" bIns="0" rtlCol="0" anchor="t"/>
          <a:lstStyle/>
          <a:p>
            <a:pPr algn="ctr" indent="0" marL="0">
              <a:buNone/>
            </a:pPr>
            <a:r>
              <a:rPr lang="en-US" sz="650" b="1" dirty="0">
                <a:solidFill>
                  <a:srgbClr val="6B7280"/>
                </a:solidFill>
                <a:latin typeface="Meiryo UI" pitchFamily="34" charset="0"/>
                <a:ea typeface="Meiryo UI" pitchFamily="34" charset="-122"/>
                <a:cs typeface="Meiryo UI" pitchFamily="34" charset="-120"/>
              </a:rPr>
              <a:t>Airtable</a:t>
            </a:r>
            <a:endParaRPr lang="en-US" sz="650" dirty="0"/>
          </a:p>
          <a:p>
            <a:pPr algn="ctr" indent="0" marL="0">
              <a:buNone/>
            </a:pPr>
            <a:r>
              <a:rPr lang="en-US" sz="600" dirty="0">
                <a:solidFill>
                  <a:srgbClr val="8C95A3"/>
                </a:solidFill>
                <a:latin typeface="Meiryo UI" pitchFamily="34" charset="0"/>
                <a:ea typeface="Meiryo UI" pitchFamily="34" charset="-122"/>
                <a:cs typeface="Meiryo UI" pitchFamily="34" charset="-120"/>
              </a:rPr>
              <a:t>同期テーブル</a:t>
            </a:r>
            <a:endParaRPr lang="en-US" sz="650" dirty="0"/>
          </a:p>
        </p:txBody>
      </p:sp>
      <p:sp>
        <p:nvSpPr>
          <p:cNvPr id="41" name="Shape 31"/>
          <p:cNvSpPr/>
          <p:nvPr/>
        </p:nvSpPr>
        <p:spPr>
          <a:xfrm>
            <a:off x="9766935" y="2459736"/>
            <a:ext cx="834390" cy="0"/>
          </a:xfrm>
          <a:prstGeom prst="line">
            <a:avLst/>
          </a:prstGeom>
          <a:noFill/>
          <a:ln w="15875">
            <a:solidFill>
              <a:srgbClr val="1B2A49"/>
            </a:solidFill>
            <a:prstDash val="solid"/>
            <a:tailEnd type="triangle"/>
          </a:ln>
        </p:spPr>
      </p:sp>
      <p:pic>
        <p:nvPicPr>
          <p:cNvPr id="42" name="Image 8" descr="preencoded.png">    </p:cNvPr>
          <p:cNvPicPr>
            <a:picLocks noChangeAspect="1"/>
          </p:cNvPicPr>
          <p:nvPr/>
        </p:nvPicPr>
        <p:blipFill>
          <a:blip r:embed="rId9"/>
          <a:stretch>
            <a:fillRect/>
          </a:stretch>
        </p:blipFill>
        <p:spPr>
          <a:xfrm>
            <a:off x="10674477" y="2304288"/>
            <a:ext cx="310896" cy="310896"/>
          </a:xfrm>
          <a:prstGeom prst="rect">
            <a:avLst/>
          </a:prstGeom>
        </p:spPr>
      </p:pic>
      <p:sp>
        <p:nvSpPr>
          <p:cNvPr id="43" name="Text 32"/>
          <p:cNvSpPr txBox="1"/>
          <p:nvPr/>
        </p:nvSpPr>
        <p:spPr>
          <a:xfrm>
            <a:off x="10211562" y="2642616"/>
            <a:ext cx="1236726" cy="402336"/>
          </a:xfrm>
          <a:prstGeom prst="rect">
            <a:avLst/>
          </a:prstGeom>
          <a:noFill/>
          <a:ln/>
        </p:spPr>
        <p:txBody>
          <a:bodyPr wrap="square" lIns="0" tIns="0" rIns="0" bIns="0" rtlCol="0" anchor="t"/>
          <a:lstStyle/>
          <a:p>
            <a:pPr algn="ctr" indent="0" marL="0">
              <a:buNone/>
            </a:pPr>
            <a:r>
              <a:rPr lang="en-US" sz="650" b="1" dirty="0">
                <a:solidFill>
                  <a:srgbClr val="6B7280"/>
                </a:solidFill>
                <a:latin typeface="Meiryo UI" pitchFamily="34" charset="0"/>
                <a:ea typeface="Meiryo UI" pitchFamily="34" charset="-122"/>
                <a:cs typeface="Meiryo UI" pitchFamily="34" charset="-120"/>
              </a:rPr>
              <a:t>配信カード</a:t>
            </a:r>
            <a:endParaRPr lang="en-US" sz="650" dirty="0"/>
          </a:p>
          <a:p>
            <a:pPr algn="ctr" indent="0" marL="0">
              <a:buNone/>
            </a:pPr>
            <a:r>
              <a:rPr lang="en-US" sz="600" dirty="0">
                <a:solidFill>
                  <a:srgbClr val="8C95A3"/>
                </a:solidFill>
                <a:latin typeface="Meiryo UI" pitchFamily="34" charset="0"/>
                <a:ea typeface="Meiryo UI" pitchFamily="34" charset="-122"/>
                <a:cs typeface="Meiryo UI" pitchFamily="34" charset="-120"/>
              </a:rPr>
              <a:t>リンクで参照</a:t>
            </a:r>
            <a:endParaRPr lang="en-US" sz="650" dirty="0"/>
          </a:p>
        </p:txBody>
      </p:sp>
      <p:sp>
        <p:nvSpPr>
          <p:cNvPr id="44" name="Text 33"/>
          <p:cNvSpPr txBox="1"/>
          <p:nvPr/>
        </p:nvSpPr>
        <p:spPr>
          <a:xfrm>
            <a:off x="6309360" y="3200400"/>
            <a:ext cx="5166360" cy="3081528"/>
          </a:xfrm>
          <a:prstGeom prst="rect">
            <a:avLst/>
          </a:prstGeom>
          <a:noFill/>
          <a:ln/>
        </p:spPr>
        <p:txBody>
          <a:bodyPr wrap="square" lIns="254" tIns="254" rIns="254" bIns="254" rtlCol="0" anchor="t"/>
          <a:lstStyle/>
          <a:p>
            <a:pPr indent="0" marL="0">
              <a:buNone/>
            </a:pPr>
            <a:r>
              <a:rPr lang="en-US" sz="1050" b="1" dirty="0">
                <a:solidFill>
                  <a:srgbClr val="0E9F9A"/>
                </a:solidFill>
                <a:latin typeface="Meiryo UI" pitchFamily="34" charset="0"/>
                <a:ea typeface="Meiryo UI" pitchFamily="34" charset="-122"/>
                <a:cs typeface="Meiryo UI" pitchFamily="34" charset="-120"/>
              </a:rPr>
              <a:t>流れ</a:t>
            </a:r>
            <a:endParaRPr lang="en-US" sz="1050" dirty="0"/>
          </a:p>
          <a:p>
            <a:pPr indent="0" marL="0">
              <a:spcAft>
                <a:spcPts val="700"/>
              </a:spcAft>
              <a:buNone/>
            </a:pPr>
            <a:r>
              <a:rPr lang="en-US" sz="1050" dirty="0">
                <a:solidFill>
                  <a:srgbClr val="2B2B2B"/>
                </a:solidFill>
                <a:latin typeface="Meiryo UI" pitchFamily="34" charset="0"/>
                <a:ea typeface="Meiryo UI" pitchFamily="34" charset="-122"/>
                <a:cs typeface="Meiryo UI" pitchFamily="34" charset="-120"/>
              </a:rPr>
              <a:t>エージェントの出力をCSVにする → Power AutomateなどからSync APIへ送る → Airtableの「同期テーブル」に反映 → 配信カードからリンク・ルックアップで参照</a:t>
            </a:r>
            <a:endParaRPr lang="en-US" sz="1050" dirty="0"/>
          </a:p>
          <a:p>
            <a:pPr indent="0" marL="0">
              <a:buNone/>
            </a:pPr>
            <a:r>
              <a:rPr lang="en-US" sz="1050" b="1" dirty="0">
                <a:solidFill>
                  <a:srgbClr val="0E9F9A"/>
                </a:solidFill>
                <a:latin typeface="Meiryo UI" pitchFamily="34" charset="0"/>
                <a:ea typeface="Meiryo UI" pitchFamily="34" charset="-122"/>
                <a:cs typeface="Meiryo UI" pitchFamily="34" charset="-120"/>
              </a:rPr>
              <a:t>必要なもの</a:t>
            </a:r>
            <a:endParaRPr lang="en-US" sz="1050" dirty="0"/>
          </a:p>
          <a:p>
            <a:pPr indent="0" marL="0">
              <a:spcAft>
                <a:spcPts val="700"/>
              </a:spcAft>
              <a:buNone/>
            </a:pPr>
            <a:r>
              <a:rPr lang="en-US" sz="1050" dirty="0">
                <a:solidFill>
                  <a:srgbClr val="2B2B2B"/>
                </a:solidFill>
                <a:latin typeface="Meiryo UI" pitchFamily="34" charset="0"/>
                <a:ea typeface="Meiryo UI" pitchFamily="34" charset="-122"/>
                <a:cs typeface="Meiryo UI" pitchFamily="34" charset="-120"/>
              </a:rPr>
              <a:t>AirtableのBusiness／Enterprise Scaleプラン、PAT</a:t>
            </a:r>
            <a:endParaRPr lang="en-US" sz="1050" dirty="0"/>
          </a:p>
          <a:p>
            <a:pPr indent="0" marL="0">
              <a:buNone/>
            </a:pPr>
            <a:r>
              <a:rPr lang="en-US" sz="1050" b="1" dirty="0">
                <a:solidFill>
                  <a:srgbClr val="0E9F9A"/>
                </a:solidFill>
                <a:latin typeface="Meiryo UI" pitchFamily="34" charset="0"/>
                <a:ea typeface="Meiryo UI" pitchFamily="34" charset="-122"/>
                <a:cs typeface="Meiryo UI" pitchFamily="34" charset="-120"/>
              </a:rPr>
              <a:t>長所</a:t>
            </a:r>
            <a:endParaRPr lang="en-US" sz="1050" dirty="0"/>
          </a:p>
          <a:p>
            <a:pPr indent="0" marL="0">
              <a:spcAft>
                <a:spcPts val="700"/>
              </a:spcAft>
              <a:buNone/>
            </a:pPr>
            <a:r>
              <a:rPr lang="en-US" sz="1050" dirty="0">
                <a:solidFill>
                  <a:srgbClr val="2B2B2B"/>
                </a:solidFill>
                <a:latin typeface="Meiryo UI" pitchFamily="34" charset="0"/>
                <a:ea typeface="Meiryo UI" pitchFamily="34" charset="-122"/>
                <a:cs typeface="Meiryo UI" pitchFamily="34" charset="-120"/>
              </a:rPr>
              <a:t>Airtableの標準機能で取り込める</a:t>
            </a:r>
            <a:endParaRPr lang="en-US" sz="1050" dirty="0"/>
          </a:p>
          <a:p>
            <a:pPr indent="0" marL="0">
              <a:buNone/>
            </a:pPr>
            <a:r>
              <a:rPr lang="en-US" sz="1050" b="1" dirty="0">
                <a:solidFill>
                  <a:srgbClr val="0E9F9A"/>
                </a:solidFill>
                <a:latin typeface="Meiryo UI" pitchFamily="34" charset="0"/>
                <a:ea typeface="Meiryo UI" pitchFamily="34" charset="-122"/>
                <a:cs typeface="Meiryo UI" pitchFamily="34" charset="-120"/>
              </a:rPr>
              <a:t>制約・留意点</a:t>
            </a:r>
            <a:endParaRPr lang="en-US" sz="1050" dirty="0"/>
          </a:p>
          <a:p>
            <a:pPr indent="0" marL="0">
              <a:spcAft>
                <a:spcPts val="700"/>
              </a:spcAft>
              <a:buNone/>
            </a:pPr>
            <a:r>
              <a:rPr lang="en-US" sz="1050" dirty="0">
                <a:solidFill>
                  <a:srgbClr val="2B2B2B"/>
                </a:solidFill>
                <a:latin typeface="Meiryo UI" pitchFamily="34" charset="0"/>
                <a:ea typeface="Meiryo UI" pitchFamily="34" charset="-122"/>
                <a:cs typeface="Meiryo UI" pitchFamily="34" charset="-120"/>
              </a:rPr>
              <a:t>同期テーブルは手で編集できない一方向の同期。配信カード本体の項目に直接書き込む方式ではない。送信は1ベースあたり5分に20回まで</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レベル2：M365側から書き込む（人が起動）</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Copilot Studioのエージェントが、対話の中で自らAirtableに書き込む</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3. パターン別の詳細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13</a:t>
            </a:r>
            <a:endParaRPr lang="en-US" sz="900" dirty="0"/>
          </a:p>
        </p:txBody>
      </p:sp>
      <p:sp>
        <p:nvSpPr>
          <p:cNvPr id="6" name="Shape 4"/>
          <p:cNvSpPr/>
          <p:nvPr/>
        </p:nvSpPr>
        <p:spPr>
          <a:xfrm>
            <a:off x="548640" y="1371600"/>
            <a:ext cx="5440680" cy="4983480"/>
          </a:xfrm>
          <a:prstGeom prst="roundRect">
            <a:avLst>
              <a:gd name="adj" fmla="val 917"/>
            </a:avLst>
          </a:prstGeom>
          <a:solidFill>
            <a:srgbClr val="F3F5F8"/>
          </a:solidFill>
          <a:ln/>
        </p:spPr>
      </p:sp>
      <p:sp>
        <p:nvSpPr>
          <p:cNvPr id="7" name="Shape 5"/>
          <p:cNvSpPr/>
          <p:nvPr/>
        </p:nvSpPr>
        <p:spPr>
          <a:xfrm>
            <a:off x="658368" y="1481328"/>
            <a:ext cx="457200" cy="457200"/>
          </a:xfrm>
          <a:prstGeom prst="ellipse">
            <a:avLst/>
          </a:prstGeom>
          <a:solidFill>
            <a:srgbClr val="0E9F9A"/>
          </a:solidFill>
          <a:ln/>
        </p:spPr>
      </p:sp>
      <p:sp>
        <p:nvSpPr>
          <p:cNvPr id="8" name="Text 6"/>
          <p:cNvSpPr txBox="1"/>
          <p:nvPr/>
        </p:nvSpPr>
        <p:spPr>
          <a:xfrm>
            <a:off x="658368" y="1481328"/>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P5</a:t>
            </a:r>
            <a:endParaRPr lang="en-US" sz="1100" dirty="0"/>
          </a:p>
        </p:txBody>
      </p:sp>
      <p:sp>
        <p:nvSpPr>
          <p:cNvPr id="9" name="Text 7"/>
          <p:cNvSpPr txBox="1"/>
          <p:nvPr/>
        </p:nvSpPr>
        <p:spPr>
          <a:xfrm>
            <a:off x="1188720" y="1426464"/>
            <a:ext cx="4709160" cy="512064"/>
          </a:xfrm>
          <a:prstGeom prst="rect">
            <a:avLst/>
          </a:prstGeom>
          <a:noFill/>
          <a:ln/>
        </p:spPr>
        <p:txBody>
          <a:bodyPr wrap="square" lIns="0" tIns="0" rIns="0" bIns="0" rtlCol="0" anchor="ctr"/>
          <a:lstStyle/>
          <a:p>
            <a:pPr indent="0" marL="0">
              <a:buNone/>
            </a:pPr>
            <a:r>
              <a:rPr lang="en-US" sz="1200" b="1" dirty="0">
                <a:solidFill>
                  <a:srgbClr val="1B2A49"/>
                </a:solidFill>
                <a:latin typeface="Meiryo UI" pitchFamily="34" charset="0"/>
                <a:ea typeface="Meiryo UI" pitchFamily="34" charset="-122"/>
                <a:cs typeface="Meiryo UI" pitchFamily="34" charset="-120"/>
              </a:rPr>
              <a:t>エージェントに対話で依頼し、エージェント自身がAirtableに書き込む</a:t>
            </a:r>
            <a:endParaRPr lang="en-US" sz="1200" dirty="0"/>
          </a:p>
        </p:txBody>
      </p:sp>
      <p:sp>
        <p:nvSpPr>
          <p:cNvPr id="10" name="Text 8"/>
          <p:cNvSpPr txBox="1"/>
          <p:nvPr/>
        </p:nvSpPr>
        <p:spPr>
          <a:xfrm>
            <a:off x="1188720" y="1938528"/>
            <a:ext cx="4709160" cy="219456"/>
          </a:xfrm>
          <a:prstGeom prst="rect">
            <a:avLst/>
          </a:prstGeom>
          <a:noFill/>
          <a:ln/>
        </p:spPr>
        <p:txBody>
          <a:bodyPr wrap="square" lIns="0" tIns="0" rIns="0" bIns="0" rtlCol="0" anchor="ctr"/>
          <a:lstStyle/>
          <a:p>
            <a:pPr indent="0" marL="0">
              <a:buNone/>
            </a:pPr>
            <a:r>
              <a:rPr lang="en-US" sz="850" dirty="0">
                <a:solidFill>
                  <a:srgbClr val="6B7280"/>
                </a:solidFill>
                <a:latin typeface="Meiryo UI" pitchFamily="34" charset="0"/>
                <a:ea typeface="Meiryo UI" pitchFamily="34" charset="-122"/>
                <a:cs typeface="Meiryo UI" pitchFamily="34" charset="-120"/>
              </a:rPr>
              <a:t>レベル2：人が起動　難易度 </a:t>
            </a:r>
            <a:pPr indent="0" marL="0">
              <a:buNone/>
            </a:pPr>
            <a:r>
              <a:rPr lang="en-US" sz="850" b="1" dirty="0">
                <a:solidFill>
                  <a:srgbClr val="E8912D"/>
                </a:solidFill>
                <a:latin typeface="Meiryo UI" pitchFamily="34" charset="0"/>
                <a:ea typeface="Meiryo UI" pitchFamily="34" charset="-122"/>
                <a:cs typeface="Meiryo UI" pitchFamily="34" charset="-120"/>
              </a:rPr>
              <a:t>★★</a:t>
            </a:r>
            <a:endParaRPr lang="en-US" sz="850" dirty="0"/>
          </a:p>
        </p:txBody>
      </p:sp>
      <p:sp>
        <p:nvSpPr>
          <p:cNvPr id="11" name="Shape 9"/>
          <p:cNvSpPr/>
          <p:nvPr/>
        </p:nvSpPr>
        <p:spPr>
          <a:xfrm>
            <a:off x="658368" y="2231136"/>
            <a:ext cx="5221224" cy="868680"/>
          </a:xfrm>
          <a:prstGeom prst="roundRect">
            <a:avLst>
              <a:gd name="adj" fmla="val 5263"/>
            </a:avLst>
          </a:prstGeom>
          <a:solidFill>
            <a:srgbClr val="FFFFFF"/>
          </a:solidFill>
          <a:ln w="12700">
            <a:solidFill>
              <a:srgbClr val="D5DBE3"/>
            </a:solidFill>
            <a:prstDash val="solid"/>
          </a:ln>
        </p:spPr>
      </p:sp>
      <p:pic>
        <p:nvPicPr>
          <p:cNvPr id="12" name="Image 0" descr="preencoded.png">    </p:cNvPr>
          <p:cNvPicPr>
            <a:picLocks noChangeAspect="1"/>
          </p:cNvPicPr>
          <p:nvPr/>
        </p:nvPicPr>
        <p:blipFill>
          <a:blip r:embed="rId1"/>
          <a:stretch>
            <a:fillRect/>
          </a:stretch>
        </p:blipFill>
        <p:spPr>
          <a:xfrm>
            <a:off x="1176147" y="2304288"/>
            <a:ext cx="310896" cy="310896"/>
          </a:xfrm>
          <a:prstGeom prst="rect">
            <a:avLst/>
          </a:prstGeom>
        </p:spPr>
      </p:pic>
      <p:sp>
        <p:nvSpPr>
          <p:cNvPr id="13" name="Text 10"/>
          <p:cNvSpPr txBox="1"/>
          <p:nvPr/>
        </p:nvSpPr>
        <p:spPr>
          <a:xfrm>
            <a:off x="713232" y="2642616"/>
            <a:ext cx="1236726" cy="402336"/>
          </a:xfrm>
          <a:prstGeom prst="rect">
            <a:avLst/>
          </a:prstGeom>
          <a:noFill/>
          <a:ln/>
        </p:spPr>
        <p:txBody>
          <a:bodyPr wrap="square" lIns="0" tIns="0" rIns="0" bIns="0" rtlCol="0" anchor="t"/>
          <a:lstStyle/>
          <a:p>
            <a:pPr algn="ctr" indent="0" marL="0">
              <a:buNone/>
            </a:pPr>
            <a:r>
              <a:rPr lang="en-US" sz="650" b="1" dirty="0">
                <a:solidFill>
                  <a:srgbClr val="6B7280"/>
                </a:solidFill>
                <a:latin typeface="Meiryo UI" pitchFamily="34" charset="0"/>
                <a:ea typeface="Meiryo UI" pitchFamily="34" charset="-122"/>
                <a:cs typeface="Meiryo UI" pitchFamily="34" charset="-120"/>
              </a:rPr>
              <a:t>マーケター</a:t>
            </a:r>
            <a:endParaRPr lang="en-US" sz="650" dirty="0"/>
          </a:p>
          <a:p>
            <a:pPr algn="ctr" indent="0" marL="0">
              <a:buNone/>
            </a:pPr>
            <a:r>
              <a:rPr lang="en-US" sz="600" dirty="0">
                <a:solidFill>
                  <a:srgbClr val="8C95A3"/>
                </a:solidFill>
                <a:latin typeface="Meiryo UI" pitchFamily="34" charset="0"/>
                <a:ea typeface="Meiryo UI" pitchFamily="34" charset="-122"/>
                <a:cs typeface="Meiryo UI" pitchFamily="34" charset="-120"/>
              </a:rPr>
              <a:t>チャットで依頼</a:t>
            </a:r>
            <a:endParaRPr lang="en-US" sz="650" dirty="0"/>
          </a:p>
        </p:txBody>
      </p:sp>
      <p:sp>
        <p:nvSpPr>
          <p:cNvPr id="14" name="Shape 11"/>
          <p:cNvSpPr/>
          <p:nvPr/>
        </p:nvSpPr>
        <p:spPr>
          <a:xfrm>
            <a:off x="1560195" y="2459736"/>
            <a:ext cx="834390" cy="0"/>
          </a:xfrm>
          <a:prstGeom prst="line">
            <a:avLst/>
          </a:prstGeom>
          <a:noFill/>
          <a:ln w="15875">
            <a:solidFill>
              <a:srgbClr val="1B2A49"/>
            </a:solidFill>
            <a:prstDash val="solid"/>
            <a:tailEnd type="triangle"/>
          </a:ln>
        </p:spPr>
      </p:sp>
      <p:pic>
        <p:nvPicPr>
          <p:cNvPr id="15" name="Image 1" descr="preencoded.png">    </p:cNvPr>
          <p:cNvPicPr>
            <a:picLocks noChangeAspect="1"/>
          </p:cNvPicPr>
          <p:nvPr/>
        </p:nvPicPr>
        <p:blipFill>
          <a:blip r:embed="rId2"/>
          <a:stretch>
            <a:fillRect/>
          </a:stretch>
        </p:blipFill>
        <p:spPr>
          <a:xfrm>
            <a:off x="2467737" y="2304288"/>
            <a:ext cx="310896" cy="310896"/>
          </a:xfrm>
          <a:prstGeom prst="rect">
            <a:avLst/>
          </a:prstGeom>
        </p:spPr>
      </p:pic>
      <p:sp>
        <p:nvSpPr>
          <p:cNvPr id="16" name="Text 12"/>
          <p:cNvSpPr txBox="1"/>
          <p:nvPr/>
        </p:nvSpPr>
        <p:spPr>
          <a:xfrm>
            <a:off x="2004822" y="2642616"/>
            <a:ext cx="1236726" cy="402336"/>
          </a:xfrm>
          <a:prstGeom prst="rect">
            <a:avLst/>
          </a:prstGeom>
          <a:noFill/>
          <a:ln/>
        </p:spPr>
        <p:txBody>
          <a:bodyPr wrap="square" lIns="0" tIns="0" rIns="0" bIns="0" rtlCol="0" anchor="t"/>
          <a:lstStyle/>
          <a:p>
            <a:pPr algn="ctr" indent="0" marL="0">
              <a:buNone/>
            </a:pPr>
            <a:r>
              <a:rPr lang="en-US" sz="650" b="1" dirty="0">
                <a:solidFill>
                  <a:srgbClr val="6B7280"/>
                </a:solidFill>
                <a:latin typeface="Meiryo UI" pitchFamily="34" charset="0"/>
                <a:ea typeface="Meiryo UI" pitchFamily="34" charset="-122"/>
                <a:cs typeface="Meiryo UI" pitchFamily="34" charset="-120"/>
              </a:rPr>
              <a:t>Copilot Studio</a:t>
            </a:r>
            <a:endParaRPr lang="en-US" sz="650" dirty="0"/>
          </a:p>
          <a:p>
            <a:pPr algn="ctr" indent="0" marL="0">
              <a:buNone/>
            </a:pPr>
            <a:r>
              <a:rPr lang="en-US" sz="600" dirty="0">
                <a:solidFill>
                  <a:srgbClr val="8C95A3"/>
                </a:solidFill>
                <a:latin typeface="Meiryo UI" pitchFamily="34" charset="0"/>
                <a:ea typeface="Meiryo UI" pitchFamily="34" charset="-122"/>
                <a:cs typeface="Meiryo UI" pitchFamily="34" charset="-120"/>
              </a:rPr>
              <a:t>推論</a:t>
            </a:r>
            <a:endParaRPr lang="en-US" sz="650" dirty="0"/>
          </a:p>
        </p:txBody>
      </p:sp>
      <p:sp>
        <p:nvSpPr>
          <p:cNvPr id="17" name="Shape 13"/>
          <p:cNvSpPr/>
          <p:nvPr/>
        </p:nvSpPr>
        <p:spPr>
          <a:xfrm>
            <a:off x="2851785" y="2459736"/>
            <a:ext cx="834390" cy="0"/>
          </a:xfrm>
          <a:prstGeom prst="line">
            <a:avLst/>
          </a:prstGeom>
          <a:noFill/>
          <a:ln w="15875">
            <a:solidFill>
              <a:srgbClr val="1B2A49"/>
            </a:solidFill>
            <a:prstDash val="solid"/>
            <a:tailEnd type="triangle"/>
          </a:ln>
        </p:spPr>
      </p:sp>
      <p:pic>
        <p:nvPicPr>
          <p:cNvPr id="18" name="Image 2" descr="preencoded.png">    </p:cNvPr>
          <p:cNvPicPr>
            <a:picLocks noChangeAspect="1"/>
          </p:cNvPicPr>
          <p:nvPr/>
        </p:nvPicPr>
        <p:blipFill>
          <a:blip r:embed="rId3"/>
          <a:stretch>
            <a:fillRect/>
          </a:stretch>
        </p:blipFill>
        <p:spPr>
          <a:xfrm>
            <a:off x="3759327" y="2304288"/>
            <a:ext cx="310896" cy="310896"/>
          </a:xfrm>
          <a:prstGeom prst="rect">
            <a:avLst/>
          </a:prstGeom>
        </p:spPr>
      </p:pic>
      <p:sp>
        <p:nvSpPr>
          <p:cNvPr id="19" name="Text 14"/>
          <p:cNvSpPr txBox="1"/>
          <p:nvPr/>
        </p:nvSpPr>
        <p:spPr>
          <a:xfrm>
            <a:off x="3296412" y="2642616"/>
            <a:ext cx="1236726" cy="402336"/>
          </a:xfrm>
          <a:prstGeom prst="rect">
            <a:avLst/>
          </a:prstGeom>
          <a:noFill/>
          <a:ln/>
        </p:spPr>
        <p:txBody>
          <a:bodyPr wrap="square" lIns="0" tIns="0" rIns="0" bIns="0" rtlCol="0" anchor="t"/>
          <a:lstStyle/>
          <a:p>
            <a:pPr algn="ctr" indent="0" marL="0">
              <a:buNone/>
            </a:pPr>
            <a:r>
              <a:rPr lang="en-US" sz="650" b="1" dirty="0">
                <a:solidFill>
                  <a:srgbClr val="6B7280"/>
                </a:solidFill>
                <a:latin typeface="Meiryo UI" pitchFamily="34" charset="0"/>
                <a:ea typeface="Meiryo UI" pitchFamily="34" charset="-122"/>
                <a:cs typeface="Meiryo UI" pitchFamily="34" charset="-120"/>
              </a:rPr>
              <a:t>カスタムコネクタ</a:t>
            </a:r>
            <a:endParaRPr lang="en-US" sz="650" dirty="0"/>
          </a:p>
          <a:p>
            <a:pPr algn="ctr" indent="0" marL="0">
              <a:buNone/>
            </a:pPr>
            <a:r>
              <a:rPr lang="en-US" sz="600" dirty="0">
                <a:solidFill>
                  <a:srgbClr val="8C95A3"/>
                </a:solidFill>
                <a:latin typeface="Meiryo UI" pitchFamily="34" charset="0"/>
                <a:ea typeface="Meiryo UI" pitchFamily="34" charset="-122"/>
                <a:cs typeface="Meiryo UI" pitchFamily="34" charset="-120"/>
              </a:rPr>
              <a:t>またはHTTP</a:t>
            </a:r>
            <a:endParaRPr lang="en-US" sz="650" dirty="0"/>
          </a:p>
        </p:txBody>
      </p:sp>
      <p:sp>
        <p:nvSpPr>
          <p:cNvPr id="20" name="Shape 15"/>
          <p:cNvSpPr/>
          <p:nvPr/>
        </p:nvSpPr>
        <p:spPr>
          <a:xfrm>
            <a:off x="4143375" y="2459736"/>
            <a:ext cx="834390" cy="0"/>
          </a:xfrm>
          <a:prstGeom prst="line">
            <a:avLst/>
          </a:prstGeom>
          <a:noFill/>
          <a:ln w="15875">
            <a:solidFill>
              <a:srgbClr val="1B2A49"/>
            </a:solidFill>
            <a:prstDash val="solid"/>
            <a:tailEnd type="triangle"/>
          </a:ln>
        </p:spPr>
      </p:sp>
      <p:pic>
        <p:nvPicPr>
          <p:cNvPr id="21" name="Image 3" descr="preencoded.png">    </p:cNvPr>
          <p:cNvPicPr>
            <a:picLocks noChangeAspect="1"/>
          </p:cNvPicPr>
          <p:nvPr/>
        </p:nvPicPr>
        <p:blipFill>
          <a:blip r:embed="rId4"/>
          <a:stretch>
            <a:fillRect/>
          </a:stretch>
        </p:blipFill>
        <p:spPr>
          <a:xfrm>
            <a:off x="5050917" y="2304288"/>
            <a:ext cx="310896" cy="310896"/>
          </a:xfrm>
          <a:prstGeom prst="rect">
            <a:avLst/>
          </a:prstGeom>
        </p:spPr>
      </p:pic>
      <p:sp>
        <p:nvSpPr>
          <p:cNvPr id="22" name="Text 16"/>
          <p:cNvSpPr txBox="1"/>
          <p:nvPr/>
        </p:nvSpPr>
        <p:spPr>
          <a:xfrm>
            <a:off x="4588002" y="2642616"/>
            <a:ext cx="1236726" cy="402336"/>
          </a:xfrm>
          <a:prstGeom prst="rect">
            <a:avLst/>
          </a:prstGeom>
          <a:noFill/>
          <a:ln/>
        </p:spPr>
        <p:txBody>
          <a:bodyPr wrap="square" lIns="0" tIns="0" rIns="0" bIns="0" rtlCol="0" anchor="t"/>
          <a:lstStyle/>
          <a:p>
            <a:pPr algn="ctr" indent="0" marL="0">
              <a:buNone/>
            </a:pPr>
            <a:r>
              <a:rPr lang="en-US" sz="650" b="1" dirty="0">
                <a:solidFill>
                  <a:srgbClr val="6B7280"/>
                </a:solidFill>
                <a:latin typeface="Meiryo UI" pitchFamily="34" charset="0"/>
                <a:ea typeface="Meiryo UI" pitchFamily="34" charset="-122"/>
                <a:cs typeface="Meiryo UI" pitchFamily="34" charset="-120"/>
              </a:rPr>
              <a:t>Airtable</a:t>
            </a:r>
            <a:endParaRPr lang="en-US" sz="650" dirty="0"/>
          </a:p>
          <a:p>
            <a:pPr algn="ctr" indent="0" marL="0">
              <a:buNone/>
            </a:pPr>
            <a:r>
              <a:rPr lang="en-US" sz="600" dirty="0">
                <a:solidFill>
                  <a:srgbClr val="8C95A3"/>
                </a:solidFill>
                <a:latin typeface="Meiryo UI" pitchFamily="34" charset="0"/>
                <a:ea typeface="Meiryo UI" pitchFamily="34" charset="-122"/>
                <a:cs typeface="Meiryo UI" pitchFamily="34" charset="-120"/>
              </a:rPr>
              <a:t>下書きに書込</a:t>
            </a:r>
            <a:endParaRPr lang="en-US" sz="650" dirty="0"/>
          </a:p>
        </p:txBody>
      </p:sp>
      <p:sp>
        <p:nvSpPr>
          <p:cNvPr id="23" name="Text 17"/>
          <p:cNvSpPr txBox="1"/>
          <p:nvPr/>
        </p:nvSpPr>
        <p:spPr>
          <a:xfrm>
            <a:off x="685800" y="3200400"/>
            <a:ext cx="5166360" cy="3081528"/>
          </a:xfrm>
          <a:prstGeom prst="rect">
            <a:avLst/>
          </a:prstGeom>
          <a:noFill/>
          <a:ln/>
        </p:spPr>
        <p:txBody>
          <a:bodyPr wrap="square" lIns="254" tIns="254" rIns="254" bIns="254" rtlCol="0" anchor="t"/>
          <a:lstStyle/>
          <a:p>
            <a:pPr indent="0" marL="0">
              <a:buNone/>
            </a:pPr>
            <a:r>
              <a:rPr lang="en-US" sz="1050" b="1" dirty="0">
                <a:solidFill>
                  <a:srgbClr val="0E9F9A"/>
                </a:solidFill>
                <a:latin typeface="Meiryo UI" pitchFamily="34" charset="0"/>
                <a:ea typeface="Meiryo UI" pitchFamily="34" charset="-122"/>
                <a:cs typeface="Meiryo UI" pitchFamily="34" charset="-120"/>
              </a:rPr>
              <a:t>流れ</a:t>
            </a:r>
            <a:endParaRPr lang="en-US" sz="1050" dirty="0"/>
          </a:p>
          <a:p>
            <a:pPr indent="0" marL="0">
              <a:spcAft>
                <a:spcPts val="700"/>
              </a:spcAft>
              <a:buNone/>
            </a:pPr>
            <a:r>
              <a:rPr lang="en-US" sz="1050" dirty="0">
                <a:solidFill>
                  <a:srgbClr val="2B2B2B"/>
                </a:solidFill>
                <a:latin typeface="Meiryo UI" pitchFamily="34" charset="0"/>
                <a:ea typeface="Meiryo UI" pitchFamily="34" charset="-122"/>
                <a:cs typeface="Meiryo UI" pitchFamily="34" charset="-120"/>
              </a:rPr>
              <a:t>マーケターがCopilot Studioのエージェントに「10/5のカードを起案して」と依頼 → エージェントが推論 → ツール（カスタムコネクタやHTTP）でAirtableのカードを更新</a:t>
            </a:r>
            <a:endParaRPr lang="en-US" sz="1050" dirty="0"/>
          </a:p>
          <a:p>
            <a:pPr indent="0" marL="0">
              <a:buNone/>
            </a:pPr>
            <a:r>
              <a:rPr lang="en-US" sz="1050" b="1" dirty="0">
                <a:solidFill>
                  <a:srgbClr val="0E9F9A"/>
                </a:solidFill>
                <a:latin typeface="Meiryo UI" pitchFamily="34" charset="0"/>
                <a:ea typeface="Meiryo UI" pitchFamily="34" charset="-122"/>
                <a:cs typeface="Meiryo UI" pitchFamily="34" charset="-120"/>
              </a:rPr>
              <a:t>必要なもの</a:t>
            </a:r>
            <a:endParaRPr lang="en-US" sz="1050" dirty="0"/>
          </a:p>
          <a:p>
            <a:pPr indent="0" marL="0">
              <a:spcAft>
                <a:spcPts val="700"/>
              </a:spcAft>
              <a:buNone/>
            </a:pPr>
            <a:r>
              <a:rPr lang="en-US" sz="1050" dirty="0">
                <a:solidFill>
                  <a:srgbClr val="2B2B2B"/>
                </a:solidFill>
                <a:latin typeface="Meiryo UI" pitchFamily="34" charset="0"/>
                <a:ea typeface="Meiryo UI" pitchFamily="34" charset="-122"/>
                <a:cs typeface="Meiryo UI" pitchFamily="34" charset="-120"/>
              </a:rPr>
              <a:t>Copilot Studio、Airtable REST API用のカスタムコネクタ（またはPower Automateのフロー）、PAT</a:t>
            </a:r>
            <a:endParaRPr lang="en-US" sz="1050" dirty="0"/>
          </a:p>
          <a:p>
            <a:pPr indent="0" marL="0">
              <a:buNone/>
            </a:pPr>
            <a:r>
              <a:rPr lang="en-US" sz="1050" b="1" dirty="0">
                <a:solidFill>
                  <a:srgbClr val="0E9F9A"/>
                </a:solidFill>
                <a:latin typeface="Meiryo UI" pitchFamily="34" charset="0"/>
                <a:ea typeface="Meiryo UI" pitchFamily="34" charset="-122"/>
                <a:cs typeface="Meiryo UI" pitchFamily="34" charset="-120"/>
              </a:rPr>
              <a:t>長所</a:t>
            </a:r>
            <a:endParaRPr lang="en-US" sz="1050" dirty="0"/>
          </a:p>
          <a:p>
            <a:pPr indent="0" marL="0">
              <a:spcAft>
                <a:spcPts val="700"/>
              </a:spcAft>
              <a:buNone/>
            </a:pPr>
            <a:r>
              <a:rPr lang="en-US" sz="1050" dirty="0">
                <a:solidFill>
                  <a:srgbClr val="2B2B2B"/>
                </a:solidFill>
                <a:latin typeface="Meiryo UI" pitchFamily="34" charset="0"/>
                <a:ea typeface="Meiryo UI" pitchFamily="34" charset="-122"/>
                <a:cs typeface="Meiryo UI" pitchFamily="34" charset="-120"/>
              </a:rPr>
              <a:t>対話の中で修正し、納得した時点で書き込める</a:t>
            </a:r>
            <a:endParaRPr lang="en-US" sz="1050" dirty="0"/>
          </a:p>
          <a:p>
            <a:pPr indent="0" marL="0">
              <a:buNone/>
            </a:pPr>
            <a:r>
              <a:rPr lang="en-US" sz="1050" b="1" dirty="0">
                <a:solidFill>
                  <a:srgbClr val="0E9F9A"/>
                </a:solidFill>
                <a:latin typeface="Meiryo UI" pitchFamily="34" charset="0"/>
                <a:ea typeface="Meiryo UI" pitchFamily="34" charset="-122"/>
                <a:cs typeface="Meiryo UI" pitchFamily="34" charset="-120"/>
              </a:rPr>
              <a:t>制約・留意点</a:t>
            </a:r>
            <a:endParaRPr lang="en-US" sz="1050" dirty="0"/>
          </a:p>
          <a:p>
            <a:pPr indent="0" marL="0">
              <a:spcAft>
                <a:spcPts val="700"/>
              </a:spcAft>
              <a:buNone/>
            </a:pPr>
            <a:r>
              <a:rPr lang="en-US" sz="1050" dirty="0">
                <a:solidFill>
                  <a:srgbClr val="2B2B2B"/>
                </a:solidFill>
                <a:latin typeface="Meiryo UI" pitchFamily="34" charset="0"/>
                <a:ea typeface="Meiryo UI" pitchFamily="34" charset="-122"/>
                <a:cs typeface="Meiryo UI" pitchFamily="34" charset="-120"/>
              </a:rPr>
              <a:t>書き込むタイミングの判断をエージェントに任せる場合、誤った書き込みの防止策（確認の質問を挟む、下書き欄にだけ書くなど）が必要</a:t>
            </a:r>
            <a:endParaRPr lang="en-US" sz="1050" dirty="0"/>
          </a:p>
        </p:txBody>
      </p:sp>
      <p:sp>
        <p:nvSpPr>
          <p:cNvPr id="24" name="Shape 18"/>
          <p:cNvSpPr/>
          <p:nvPr/>
        </p:nvSpPr>
        <p:spPr>
          <a:xfrm>
            <a:off x="6172200" y="1371600"/>
            <a:ext cx="5440680" cy="4983480"/>
          </a:xfrm>
          <a:prstGeom prst="roundRect">
            <a:avLst>
              <a:gd name="adj" fmla="val 917"/>
            </a:avLst>
          </a:prstGeom>
          <a:solidFill>
            <a:srgbClr val="F3F5F8"/>
          </a:solidFill>
          <a:ln/>
        </p:spPr>
      </p:sp>
      <p:sp>
        <p:nvSpPr>
          <p:cNvPr id="25" name="Shape 19"/>
          <p:cNvSpPr/>
          <p:nvPr/>
        </p:nvSpPr>
        <p:spPr>
          <a:xfrm>
            <a:off x="6281928" y="1481328"/>
            <a:ext cx="457200" cy="457200"/>
          </a:xfrm>
          <a:prstGeom prst="ellipse">
            <a:avLst/>
          </a:prstGeom>
          <a:solidFill>
            <a:srgbClr val="0E9F9A"/>
          </a:solidFill>
          <a:ln/>
        </p:spPr>
      </p:sp>
      <p:sp>
        <p:nvSpPr>
          <p:cNvPr id="26" name="Text 20"/>
          <p:cNvSpPr txBox="1"/>
          <p:nvPr/>
        </p:nvSpPr>
        <p:spPr>
          <a:xfrm>
            <a:off x="6281928" y="1481328"/>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P6</a:t>
            </a:r>
            <a:endParaRPr lang="en-US" sz="1100" dirty="0"/>
          </a:p>
        </p:txBody>
      </p:sp>
      <p:sp>
        <p:nvSpPr>
          <p:cNvPr id="27" name="Text 21"/>
          <p:cNvSpPr txBox="1"/>
          <p:nvPr/>
        </p:nvSpPr>
        <p:spPr>
          <a:xfrm>
            <a:off x="6812280" y="1426464"/>
            <a:ext cx="4709160" cy="512064"/>
          </a:xfrm>
          <a:prstGeom prst="rect">
            <a:avLst/>
          </a:prstGeom>
          <a:noFill/>
          <a:ln/>
        </p:spPr>
        <p:txBody>
          <a:bodyPr wrap="square" lIns="0" tIns="0" rIns="0" bIns="0" rtlCol="0" anchor="ctr"/>
          <a:lstStyle/>
          <a:p>
            <a:pPr indent="0" marL="0">
              <a:buNone/>
            </a:pPr>
            <a:r>
              <a:rPr lang="en-US" sz="1200" b="1" dirty="0">
                <a:solidFill>
                  <a:srgbClr val="1B2A49"/>
                </a:solidFill>
                <a:latin typeface="Meiryo UI" pitchFamily="34" charset="0"/>
                <a:ea typeface="Meiryo UI" pitchFamily="34" charset="-122"/>
                <a:cs typeface="Meiryo UI" pitchFamily="34" charset="-120"/>
              </a:rPr>
              <a:t>P5のツールとして、Airtable公式MCPサーバーを使う</a:t>
            </a:r>
            <a:endParaRPr lang="en-US" sz="1200" dirty="0"/>
          </a:p>
        </p:txBody>
      </p:sp>
      <p:sp>
        <p:nvSpPr>
          <p:cNvPr id="28" name="Text 22"/>
          <p:cNvSpPr txBox="1"/>
          <p:nvPr/>
        </p:nvSpPr>
        <p:spPr>
          <a:xfrm>
            <a:off x="6812280" y="1938528"/>
            <a:ext cx="4709160" cy="219456"/>
          </a:xfrm>
          <a:prstGeom prst="rect">
            <a:avLst/>
          </a:prstGeom>
          <a:noFill/>
          <a:ln/>
        </p:spPr>
        <p:txBody>
          <a:bodyPr wrap="square" lIns="0" tIns="0" rIns="0" bIns="0" rtlCol="0" anchor="ctr"/>
          <a:lstStyle/>
          <a:p>
            <a:pPr indent="0" marL="0">
              <a:buNone/>
            </a:pPr>
            <a:r>
              <a:rPr lang="en-US" sz="850" dirty="0">
                <a:solidFill>
                  <a:srgbClr val="6B7280"/>
                </a:solidFill>
                <a:latin typeface="Meiryo UI" pitchFamily="34" charset="0"/>
                <a:ea typeface="Meiryo UI" pitchFamily="34" charset="-122"/>
                <a:cs typeface="Meiryo UI" pitchFamily="34" charset="-120"/>
              </a:rPr>
              <a:t>レベル2：人が起動　難易度 </a:t>
            </a:r>
            <a:pPr indent="0" marL="0">
              <a:buNone/>
            </a:pPr>
            <a:r>
              <a:rPr lang="en-US" sz="850" b="1" dirty="0">
                <a:solidFill>
                  <a:srgbClr val="E8912D"/>
                </a:solidFill>
                <a:latin typeface="Meiryo UI" pitchFamily="34" charset="0"/>
                <a:ea typeface="Meiryo UI" pitchFamily="34" charset="-122"/>
                <a:cs typeface="Meiryo UI" pitchFamily="34" charset="-120"/>
              </a:rPr>
              <a:t>★★</a:t>
            </a:r>
            <a:endParaRPr lang="en-US" sz="850" dirty="0"/>
          </a:p>
        </p:txBody>
      </p:sp>
      <p:sp>
        <p:nvSpPr>
          <p:cNvPr id="29" name="Shape 23"/>
          <p:cNvSpPr/>
          <p:nvPr/>
        </p:nvSpPr>
        <p:spPr>
          <a:xfrm>
            <a:off x="6281928" y="2231136"/>
            <a:ext cx="5221224" cy="868680"/>
          </a:xfrm>
          <a:prstGeom prst="roundRect">
            <a:avLst>
              <a:gd name="adj" fmla="val 5263"/>
            </a:avLst>
          </a:prstGeom>
          <a:solidFill>
            <a:srgbClr val="FFFFFF"/>
          </a:solidFill>
          <a:ln w="12700">
            <a:solidFill>
              <a:srgbClr val="D5DBE3"/>
            </a:solidFill>
            <a:prstDash val="solid"/>
          </a:ln>
        </p:spPr>
      </p:sp>
      <p:pic>
        <p:nvPicPr>
          <p:cNvPr id="30" name="Image 4" descr="preencoded.png">    </p:cNvPr>
          <p:cNvPicPr>
            <a:picLocks noChangeAspect="1"/>
          </p:cNvPicPr>
          <p:nvPr/>
        </p:nvPicPr>
        <p:blipFill>
          <a:blip r:embed="rId5"/>
          <a:stretch>
            <a:fillRect/>
          </a:stretch>
        </p:blipFill>
        <p:spPr>
          <a:xfrm>
            <a:off x="6799707" y="2304288"/>
            <a:ext cx="310896" cy="310896"/>
          </a:xfrm>
          <a:prstGeom prst="rect">
            <a:avLst/>
          </a:prstGeom>
        </p:spPr>
      </p:pic>
      <p:sp>
        <p:nvSpPr>
          <p:cNvPr id="31" name="Text 24"/>
          <p:cNvSpPr txBox="1"/>
          <p:nvPr/>
        </p:nvSpPr>
        <p:spPr>
          <a:xfrm>
            <a:off x="6336792" y="2642616"/>
            <a:ext cx="1236726" cy="402336"/>
          </a:xfrm>
          <a:prstGeom prst="rect">
            <a:avLst/>
          </a:prstGeom>
          <a:noFill/>
          <a:ln/>
        </p:spPr>
        <p:txBody>
          <a:bodyPr wrap="square" lIns="0" tIns="0" rIns="0" bIns="0" rtlCol="0" anchor="t"/>
          <a:lstStyle/>
          <a:p>
            <a:pPr algn="ctr" indent="0" marL="0">
              <a:buNone/>
            </a:pPr>
            <a:r>
              <a:rPr lang="en-US" sz="650" b="1" dirty="0">
                <a:solidFill>
                  <a:srgbClr val="6B7280"/>
                </a:solidFill>
                <a:latin typeface="Meiryo UI" pitchFamily="34" charset="0"/>
                <a:ea typeface="Meiryo UI" pitchFamily="34" charset="-122"/>
                <a:cs typeface="Meiryo UI" pitchFamily="34" charset="-120"/>
              </a:rPr>
              <a:t>マーケター</a:t>
            </a:r>
            <a:endParaRPr lang="en-US" sz="650" dirty="0"/>
          </a:p>
          <a:p>
            <a:pPr algn="ctr" indent="0" marL="0">
              <a:buNone/>
            </a:pPr>
            <a:r>
              <a:rPr lang="en-US" sz="600" dirty="0">
                <a:solidFill>
                  <a:srgbClr val="8C95A3"/>
                </a:solidFill>
                <a:latin typeface="Meiryo UI" pitchFamily="34" charset="0"/>
                <a:ea typeface="Meiryo UI" pitchFamily="34" charset="-122"/>
                <a:cs typeface="Meiryo UI" pitchFamily="34" charset="-120"/>
              </a:rPr>
              <a:t>チャットで依頼</a:t>
            </a:r>
            <a:endParaRPr lang="en-US" sz="650" dirty="0"/>
          </a:p>
        </p:txBody>
      </p:sp>
      <p:sp>
        <p:nvSpPr>
          <p:cNvPr id="32" name="Shape 25"/>
          <p:cNvSpPr/>
          <p:nvPr/>
        </p:nvSpPr>
        <p:spPr>
          <a:xfrm>
            <a:off x="7183755" y="2459736"/>
            <a:ext cx="834390" cy="0"/>
          </a:xfrm>
          <a:prstGeom prst="line">
            <a:avLst/>
          </a:prstGeom>
          <a:noFill/>
          <a:ln w="15875">
            <a:solidFill>
              <a:srgbClr val="1B2A49"/>
            </a:solidFill>
            <a:prstDash val="solid"/>
            <a:tailEnd type="triangle"/>
          </a:ln>
        </p:spPr>
      </p:sp>
      <p:pic>
        <p:nvPicPr>
          <p:cNvPr id="33" name="Image 5" descr="preencoded.png">    </p:cNvPr>
          <p:cNvPicPr>
            <a:picLocks noChangeAspect="1"/>
          </p:cNvPicPr>
          <p:nvPr/>
        </p:nvPicPr>
        <p:blipFill>
          <a:blip r:embed="rId6"/>
          <a:stretch>
            <a:fillRect/>
          </a:stretch>
        </p:blipFill>
        <p:spPr>
          <a:xfrm>
            <a:off x="8091297" y="2304288"/>
            <a:ext cx="310896" cy="310896"/>
          </a:xfrm>
          <a:prstGeom prst="rect">
            <a:avLst/>
          </a:prstGeom>
        </p:spPr>
      </p:pic>
      <p:sp>
        <p:nvSpPr>
          <p:cNvPr id="34" name="Text 26"/>
          <p:cNvSpPr txBox="1"/>
          <p:nvPr/>
        </p:nvSpPr>
        <p:spPr>
          <a:xfrm>
            <a:off x="7628382" y="2642616"/>
            <a:ext cx="1236726" cy="402336"/>
          </a:xfrm>
          <a:prstGeom prst="rect">
            <a:avLst/>
          </a:prstGeom>
          <a:noFill/>
          <a:ln/>
        </p:spPr>
        <p:txBody>
          <a:bodyPr wrap="square" lIns="0" tIns="0" rIns="0" bIns="0" rtlCol="0" anchor="t"/>
          <a:lstStyle/>
          <a:p>
            <a:pPr algn="ctr" indent="0" marL="0">
              <a:buNone/>
            </a:pPr>
            <a:r>
              <a:rPr lang="en-US" sz="650" b="1" dirty="0">
                <a:solidFill>
                  <a:srgbClr val="6B7280"/>
                </a:solidFill>
                <a:latin typeface="Meiryo UI" pitchFamily="34" charset="0"/>
                <a:ea typeface="Meiryo UI" pitchFamily="34" charset="-122"/>
                <a:cs typeface="Meiryo UI" pitchFamily="34" charset="-120"/>
              </a:rPr>
              <a:t>Copilot Studio</a:t>
            </a:r>
            <a:endParaRPr lang="en-US" sz="650" dirty="0"/>
          </a:p>
          <a:p>
            <a:pPr algn="ctr" indent="0" marL="0">
              <a:buNone/>
            </a:pPr>
            <a:r>
              <a:rPr lang="en-US" sz="600" dirty="0">
                <a:solidFill>
                  <a:srgbClr val="8C95A3"/>
                </a:solidFill>
                <a:latin typeface="Meiryo UI" pitchFamily="34" charset="0"/>
                <a:ea typeface="Meiryo UI" pitchFamily="34" charset="-122"/>
                <a:cs typeface="Meiryo UI" pitchFamily="34" charset="-120"/>
              </a:rPr>
              <a:t>推論</a:t>
            </a:r>
            <a:endParaRPr lang="en-US" sz="650" dirty="0"/>
          </a:p>
        </p:txBody>
      </p:sp>
      <p:sp>
        <p:nvSpPr>
          <p:cNvPr id="35" name="Shape 27"/>
          <p:cNvSpPr/>
          <p:nvPr/>
        </p:nvSpPr>
        <p:spPr>
          <a:xfrm>
            <a:off x="8475345" y="2459736"/>
            <a:ext cx="834390" cy="0"/>
          </a:xfrm>
          <a:prstGeom prst="line">
            <a:avLst/>
          </a:prstGeom>
          <a:noFill/>
          <a:ln w="15875">
            <a:solidFill>
              <a:srgbClr val="1B2A49"/>
            </a:solidFill>
            <a:prstDash val="solid"/>
            <a:tailEnd type="triangle"/>
          </a:ln>
        </p:spPr>
      </p:sp>
      <p:pic>
        <p:nvPicPr>
          <p:cNvPr id="36" name="Image 6" descr="preencoded.png">    </p:cNvPr>
          <p:cNvPicPr>
            <a:picLocks noChangeAspect="1"/>
          </p:cNvPicPr>
          <p:nvPr/>
        </p:nvPicPr>
        <p:blipFill>
          <a:blip r:embed="rId7"/>
          <a:stretch>
            <a:fillRect/>
          </a:stretch>
        </p:blipFill>
        <p:spPr>
          <a:xfrm>
            <a:off x="9382887" y="2304288"/>
            <a:ext cx="310896" cy="310896"/>
          </a:xfrm>
          <a:prstGeom prst="rect">
            <a:avLst/>
          </a:prstGeom>
        </p:spPr>
      </p:pic>
      <p:sp>
        <p:nvSpPr>
          <p:cNvPr id="37" name="Text 28"/>
          <p:cNvSpPr txBox="1"/>
          <p:nvPr/>
        </p:nvSpPr>
        <p:spPr>
          <a:xfrm>
            <a:off x="8919972" y="2642616"/>
            <a:ext cx="1236726" cy="402336"/>
          </a:xfrm>
          <a:prstGeom prst="rect">
            <a:avLst/>
          </a:prstGeom>
          <a:noFill/>
          <a:ln/>
        </p:spPr>
        <p:txBody>
          <a:bodyPr wrap="square" lIns="0" tIns="0" rIns="0" bIns="0" rtlCol="0" anchor="t"/>
          <a:lstStyle/>
          <a:p>
            <a:pPr algn="ctr" indent="0" marL="0">
              <a:buNone/>
            </a:pPr>
            <a:r>
              <a:rPr lang="en-US" sz="650" b="1" dirty="0">
                <a:solidFill>
                  <a:srgbClr val="6B7280"/>
                </a:solidFill>
                <a:latin typeface="Meiryo UI" pitchFamily="34" charset="0"/>
                <a:ea typeface="Meiryo UI" pitchFamily="34" charset="-122"/>
                <a:cs typeface="Meiryo UI" pitchFamily="34" charset="-120"/>
              </a:rPr>
              <a:t>Airtable</a:t>
            </a:r>
            <a:endParaRPr lang="en-US" sz="650" dirty="0"/>
          </a:p>
          <a:p>
            <a:pPr algn="ctr" indent="0" marL="0">
              <a:buNone/>
            </a:pPr>
            <a:r>
              <a:rPr lang="en-US" sz="600" dirty="0">
                <a:solidFill>
                  <a:srgbClr val="8C95A3"/>
                </a:solidFill>
                <a:latin typeface="Meiryo UI" pitchFamily="34" charset="0"/>
                <a:ea typeface="Meiryo UI" pitchFamily="34" charset="-122"/>
                <a:cs typeface="Meiryo UI" pitchFamily="34" charset="-120"/>
              </a:rPr>
              <a:t>公式MCPサーバー</a:t>
            </a:r>
            <a:endParaRPr lang="en-US" sz="650" dirty="0"/>
          </a:p>
        </p:txBody>
      </p:sp>
      <p:sp>
        <p:nvSpPr>
          <p:cNvPr id="38" name="Shape 29"/>
          <p:cNvSpPr/>
          <p:nvPr/>
        </p:nvSpPr>
        <p:spPr>
          <a:xfrm>
            <a:off x="9766935" y="2459736"/>
            <a:ext cx="834390" cy="0"/>
          </a:xfrm>
          <a:prstGeom prst="line">
            <a:avLst/>
          </a:prstGeom>
          <a:noFill/>
          <a:ln w="15875">
            <a:solidFill>
              <a:srgbClr val="1B2A49"/>
            </a:solidFill>
            <a:prstDash val="solid"/>
            <a:tailEnd type="triangle"/>
          </a:ln>
        </p:spPr>
      </p:sp>
      <p:pic>
        <p:nvPicPr>
          <p:cNvPr id="39" name="Image 7" descr="preencoded.png">    </p:cNvPr>
          <p:cNvPicPr>
            <a:picLocks noChangeAspect="1"/>
          </p:cNvPicPr>
          <p:nvPr/>
        </p:nvPicPr>
        <p:blipFill>
          <a:blip r:embed="rId8"/>
          <a:stretch>
            <a:fillRect/>
          </a:stretch>
        </p:blipFill>
        <p:spPr>
          <a:xfrm>
            <a:off x="10674477" y="2304288"/>
            <a:ext cx="310896" cy="310896"/>
          </a:xfrm>
          <a:prstGeom prst="rect">
            <a:avLst/>
          </a:prstGeom>
        </p:spPr>
      </p:pic>
      <p:sp>
        <p:nvSpPr>
          <p:cNvPr id="40" name="Text 30"/>
          <p:cNvSpPr txBox="1"/>
          <p:nvPr/>
        </p:nvSpPr>
        <p:spPr>
          <a:xfrm>
            <a:off x="10211562" y="2642616"/>
            <a:ext cx="1236726" cy="402336"/>
          </a:xfrm>
          <a:prstGeom prst="rect">
            <a:avLst/>
          </a:prstGeom>
          <a:noFill/>
          <a:ln/>
        </p:spPr>
        <p:txBody>
          <a:bodyPr wrap="square" lIns="0" tIns="0" rIns="0" bIns="0" rtlCol="0" anchor="t"/>
          <a:lstStyle/>
          <a:p>
            <a:pPr algn="ctr" indent="0" marL="0">
              <a:buNone/>
            </a:pPr>
            <a:r>
              <a:rPr lang="en-US" sz="650" b="1" dirty="0">
                <a:solidFill>
                  <a:srgbClr val="6B7280"/>
                </a:solidFill>
                <a:latin typeface="Meiryo UI" pitchFamily="34" charset="0"/>
                <a:ea typeface="Meiryo UI" pitchFamily="34" charset="-122"/>
                <a:cs typeface="Meiryo UI" pitchFamily="34" charset="-120"/>
              </a:rPr>
              <a:t>Airtable</a:t>
            </a:r>
            <a:endParaRPr lang="en-US" sz="650" dirty="0"/>
          </a:p>
          <a:p>
            <a:pPr algn="ctr" indent="0" marL="0">
              <a:buNone/>
            </a:pPr>
            <a:r>
              <a:rPr lang="en-US" sz="600" dirty="0">
                <a:solidFill>
                  <a:srgbClr val="8C95A3"/>
                </a:solidFill>
                <a:latin typeface="Meiryo UI" pitchFamily="34" charset="0"/>
                <a:ea typeface="Meiryo UI" pitchFamily="34" charset="-122"/>
                <a:cs typeface="Meiryo UI" pitchFamily="34" charset="-120"/>
              </a:rPr>
              <a:t>下書きに書込</a:t>
            </a:r>
            <a:endParaRPr lang="en-US" sz="650" dirty="0"/>
          </a:p>
        </p:txBody>
      </p:sp>
      <p:sp>
        <p:nvSpPr>
          <p:cNvPr id="41" name="Text 31"/>
          <p:cNvSpPr txBox="1"/>
          <p:nvPr/>
        </p:nvSpPr>
        <p:spPr>
          <a:xfrm>
            <a:off x="6309360" y="3200400"/>
            <a:ext cx="5166360" cy="3081528"/>
          </a:xfrm>
          <a:prstGeom prst="rect">
            <a:avLst/>
          </a:prstGeom>
          <a:noFill/>
          <a:ln/>
        </p:spPr>
        <p:txBody>
          <a:bodyPr wrap="square" lIns="254" tIns="254" rIns="254" bIns="254" rtlCol="0" anchor="t"/>
          <a:lstStyle/>
          <a:p>
            <a:pPr indent="0" marL="0">
              <a:buNone/>
            </a:pPr>
            <a:r>
              <a:rPr lang="en-US" sz="1050" b="1" dirty="0">
                <a:solidFill>
                  <a:srgbClr val="0E9F9A"/>
                </a:solidFill>
                <a:latin typeface="Meiryo UI" pitchFamily="34" charset="0"/>
                <a:ea typeface="Meiryo UI" pitchFamily="34" charset="-122"/>
                <a:cs typeface="Meiryo UI" pitchFamily="34" charset="-120"/>
              </a:rPr>
              <a:t>流れ</a:t>
            </a:r>
            <a:endParaRPr lang="en-US" sz="1050" dirty="0"/>
          </a:p>
          <a:p>
            <a:pPr indent="0" marL="0">
              <a:spcAft>
                <a:spcPts val="700"/>
              </a:spcAft>
              <a:buNone/>
            </a:pPr>
            <a:r>
              <a:rPr lang="en-US" sz="1050" dirty="0">
                <a:solidFill>
                  <a:srgbClr val="2B2B2B"/>
                </a:solidFill>
                <a:latin typeface="Meiryo UI" pitchFamily="34" charset="0"/>
                <a:ea typeface="Meiryo UI" pitchFamily="34" charset="-122"/>
                <a:cs typeface="Meiryo UI" pitchFamily="34" charset="-120"/>
              </a:rPr>
              <a:t>P5と同じ。書き込みにAirtable公式MCPサーバーを使う</a:t>
            </a:r>
            <a:endParaRPr lang="en-US" sz="1050" dirty="0"/>
          </a:p>
          <a:p>
            <a:pPr indent="0" marL="0">
              <a:buNone/>
            </a:pPr>
            <a:r>
              <a:rPr lang="en-US" sz="1050" b="1" dirty="0">
                <a:solidFill>
                  <a:srgbClr val="0E9F9A"/>
                </a:solidFill>
                <a:latin typeface="Meiryo UI" pitchFamily="34" charset="0"/>
                <a:ea typeface="Meiryo UI" pitchFamily="34" charset="-122"/>
                <a:cs typeface="Meiryo UI" pitchFamily="34" charset="-120"/>
              </a:rPr>
              <a:t>必要なもの</a:t>
            </a:r>
            <a:endParaRPr lang="en-US" sz="1050" dirty="0"/>
          </a:p>
          <a:p>
            <a:pPr indent="0" marL="0">
              <a:spcAft>
                <a:spcPts val="700"/>
              </a:spcAft>
              <a:buNone/>
            </a:pPr>
            <a:r>
              <a:rPr lang="en-US" sz="1050" dirty="0">
                <a:solidFill>
                  <a:srgbClr val="2B2B2B"/>
                </a:solidFill>
                <a:latin typeface="Meiryo UI" pitchFamily="34" charset="0"/>
                <a:ea typeface="Meiryo UI" pitchFamily="34" charset="-122"/>
                <a:cs typeface="Meiryo UI" pitchFamily="34" charset="-120"/>
              </a:rPr>
              <a:t>Copilot Studio（MCP対応はGA）、Airtable公式MCPサーバーへの接続（OAuthまたはPAT）、Airtable管理者による連携の許可</a:t>
            </a:r>
            <a:endParaRPr lang="en-US" sz="1050" dirty="0"/>
          </a:p>
          <a:p>
            <a:pPr indent="0" marL="0">
              <a:buNone/>
            </a:pPr>
            <a:r>
              <a:rPr lang="en-US" sz="1050" b="1" dirty="0">
                <a:solidFill>
                  <a:srgbClr val="0E9F9A"/>
                </a:solidFill>
                <a:latin typeface="Meiryo UI" pitchFamily="34" charset="0"/>
                <a:ea typeface="Meiryo UI" pitchFamily="34" charset="-122"/>
                <a:cs typeface="Meiryo UI" pitchFamily="34" charset="-120"/>
              </a:rPr>
              <a:t>長所</a:t>
            </a:r>
            <a:endParaRPr lang="en-US" sz="1050" dirty="0"/>
          </a:p>
          <a:p>
            <a:pPr indent="0" marL="0">
              <a:spcAft>
                <a:spcPts val="700"/>
              </a:spcAft>
              <a:buNone/>
            </a:pPr>
            <a:r>
              <a:rPr lang="en-US" sz="1050" dirty="0">
                <a:solidFill>
                  <a:srgbClr val="2B2B2B"/>
                </a:solidFill>
                <a:latin typeface="Meiryo UI" pitchFamily="34" charset="0"/>
                <a:ea typeface="Meiryo UI" pitchFamily="34" charset="-122"/>
                <a:cs typeface="Meiryo UI" pitchFamily="34" charset="-120"/>
              </a:rPr>
              <a:t>カスタムコネクタを自作せずに、Airtableの読み書きができる。利用者のAirtable権限の範囲で動く</a:t>
            </a:r>
            <a:endParaRPr lang="en-US" sz="1050" dirty="0"/>
          </a:p>
          <a:p>
            <a:pPr indent="0" marL="0">
              <a:buNone/>
            </a:pPr>
            <a:r>
              <a:rPr lang="en-US" sz="1050" b="1" dirty="0">
                <a:solidFill>
                  <a:srgbClr val="0E9F9A"/>
                </a:solidFill>
                <a:latin typeface="Meiryo UI" pitchFamily="34" charset="0"/>
                <a:ea typeface="Meiryo UI" pitchFamily="34" charset="-122"/>
                <a:cs typeface="Meiryo UI" pitchFamily="34" charset="-120"/>
              </a:rPr>
              <a:t>制約・留意点</a:t>
            </a:r>
            <a:endParaRPr lang="en-US" sz="1050" dirty="0"/>
          </a:p>
          <a:p>
            <a:pPr indent="0" marL="0">
              <a:spcAft>
                <a:spcPts val="700"/>
              </a:spcAft>
              <a:buNone/>
            </a:pPr>
            <a:r>
              <a:rPr lang="en-US" sz="1050" dirty="0">
                <a:solidFill>
                  <a:srgbClr val="2B2B2B"/>
                </a:solidFill>
                <a:latin typeface="Meiryo UI" pitchFamily="34" charset="0"/>
                <a:ea typeface="Meiryo UI" pitchFamily="34" charset="-122"/>
                <a:cs typeface="Meiryo UI" pitchFamily="34" charset="-120"/>
              </a:rPr>
              <a:t>Copilot Studioと組み合わせたときの認証方式と動作の検証が必要。APIのレート制限が適用される。MCP経由での操作はエージェントの判断に依存する</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レベル3：P7 定期的にAirtableを確認して起案・書き戻し</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定期実行するのは人ではなく、Power Automateの「スケジュール済みクラウドフロー」。取得したカードを1件ずつ順番に推論させる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3. パターン別の詳細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14</a:t>
            </a:r>
            <a:endParaRPr lang="en-US" sz="900" dirty="0"/>
          </a:p>
        </p:txBody>
      </p:sp>
      <p:sp>
        <p:nvSpPr>
          <p:cNvPr id="6" name="Shape 4"/>
          <p:cNvSpPr/>
          <p:nvPr/>
        </p:nvSpPr>
        <p:spPr>
          <a:xfrm>
            <a:off x="548640" y="1417320"/>
            <a:ext cx="11064240" cy="731520"/>
          </a:xfrm>
          <a:prstGeom prst="roundRect">
            <a:avLst>
              <a:gd name="adj" fmla="val 5000"/>
            </a:avLst>
          </a:prstGeom>
          <a:solidFill>
            <a:srgbClr val="FDEBD3"/>
          </a:solidFill>
          <a:ln/>
        </p:spPr>
      </p:sp>
      <p:sp>
        <p:nvSpPr>
          <p:cNvPr id="7" name="Shape 5"/>
          <p:cNvSpPr/>
          <p:nvPr/>
        </p:nvSpPr>
        <p:spPr>
          <a:xfrm>
            <a:off x="658368" y="1581912"/>
            <a:ext cx="402336" cy="402336"/>
          </a:xfrm>
          <a:prstGeom prst="ellipse">
            <a:avLst/>
          </a:prstGeom>
          <a:solidFill>
            <a:srgbClr val="FFFFFF"/>
          </a:solidFill>
          <a:ln/>
        </p:spPr>
      </p:sp>
      <p:pic>
        <p:nvPicPr>
          <p:cNvPr id="8" name="Image 0" descr="preencoded.png">    </p:cNvPr>
          <p:cNvPicPr>
            <a:picLocks noChangeAspect="1"/>
          </p:cNvPicPr>
          <p:nvPr/>
        </p:nvPicPr>
        <p:blipFill>
          <a:blip r:embed="rId1"/>
          <a:stretch>
            <a:fillRect/>
          </a:stretch>
        </p:blipFill>
        <p:spPr>
          <a:xfrm>
            <a:off x="738835" y="1662379"/>
            <a:ext cx="241402" cy="241402"/>
          </a:xfrm>
          <a:prstGeom prst="rect">
            <a:avLst/>
          </a:prstGeom>
        </p:spPr>
      </p:pic>
      <p:sp>
        <p:nvSpPr>
          <p:cNvPr id="9" name="Text 6"/>
          <p:cNvSpPr txBox="1"/>
          <p:nvPr/>
        </p:nvSpPr>
        <p:spPr>
          <a:xfrm>
            <a:off x="1097280" y="1417320"/>
            <a:ext cx="914400" cy="731520"/>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マーケター</a:t>
            </a:r>
            <a:endParaRPr lang="en-US" sz="900" dirty="0"/>
          </a:p>
        </p:txBody>
      </p:sp>
      <p:sp>
        <p:nvSpPr>
          <p:cNvPr id="10" name="Shape 7"/>
          <p:cNvSpPr/>
          <p:nvPr/>
        </p:nvSpPr>
        <p:spPr>
          <a:xfrm>
            <a:off x="548640" y="2221992"/>
            <a:ext cx="11064240" cy="731520"/>
          </a:xfrm>
          <a:prstGeom prst="roundRect">
            <a:avLst>
              <a:gd name="adj" fmla="val 5000"/>
            </a:avLst>
          </a:prstGeom>
          <a:solidFill>
            <a:srgbClr val="E3EAF5"/>
          </a:solidFill>
          <a:ln/>
        </p:spPr>
      </p:sp>
      <p:sp>
        <p:nvSpPr>
          <p:cNvPr id="11" name="Shape 8"/>
          <p:cNvSpPr/>
          <p:nvPr/>
        </p:nvSpPr>
        <p:spPr>
          <a:xfrm>
            <a:off x="658368" y="2386584"/>
            <a:ext cx="402336" cy="402336"/>
          </a:xfrm>
          <a:prstGeom prst="ellipse">
            <a:avLst/>
          </a:prstGeom>
          <a:solidFill>
            <a:srgbClr val="FFFFFF"/>
          </a:solidFill>
          <a:ln/>
        </p:spPr>
      </p:sp>
      <p:pic>
        <p:nvPicPr>
          <p:cNvPr id="12" name="Image 1" descr="preencoded.png">    </p:cNvPr>
          <p:cNvPicPr>
            <a:picLocks noChangeAspect="1"/>
          </p:cNvPicPr>
          <p:nvPr/>
        </p:nvPicPr>
        <p:blipFill>
          <a:blip r:embed="rId2"/>
          <a:stretch>
            <a:fillRect/>
          </a:stretch>
        </p:blipFill>
        <p:spPr>
          <a:xfrm>
            <a:off x="738835" y="2467051"/>
            <a:ext cx="241402" cy="241402"/>
          </a:xfrm>
          <a:prstGeom prst="rect">
            <a:avLst/>
          </a:prstGeom>
        </p:spPr>
      </p:pic>
      <p:sp>
        <p:nvSpPr>
          <p:cNvPr id="13" name="Text 9"/>
          <p:cNvSpPr txBox="1"/>
          <p:nvPr/>
        </p:nvSpPr>
        <p:spPr>
          <a:xfrm>
            <a:off x="1097280" y="2221992"/>
            <a:ext cx="914400" cy="731520"/>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Airtable</a:t>
            </a:r>
            <a:endParaRPr lang="en-US" sz="900" dirty="0"/>
          </a:p>
        </p:txBody>
      </p:sp>
      <p:sp>
        <p:nvSpPr>
          <p:cNvPr id="14" name="Shape 10"/>
          <p:cNvSpPr/>
          <p:nvPr/>
        </p:nvSpPr>
        <p:spPr>
          <a:xfrm>
            <a:off x="548640" y="3026664"/>
            <a:ext cx="11064240" cy="731520"/>
          </a:xfrm>
          <a:prstGeom prst="roundRect">
            <a:avLst>
              <a:gd name="adj" fmla="val 5000"/>
            </a:avLst>
          </a:prstGeom>
          <a:solidFill>
            <a:srgbClr val="D9F2F1"/>
          </a:solidFill>
          <a:ln/>
        </p:spPr>
      </p:sp>
      <p:sp>
        <p:nvSpPr>
          <p:cNvPr id="15" name="Shape 11"/>
          <p:cNvSpPr/>
          <p:nvPr/>
        </p:nvSpPr>
        <p:spPr>
          <a:xfrm>
            <a:off x="658368" y="3191256"/>
            <a:ext cx="402336" cy="402336"/>
          </a:xfrm>
          <a:prstGeom prst="ellipse">
            <a:avLst/>
          </a:prstGeom>
          <a:solidFill>
            <a:srgbClr val="FFFFFF"/>
          </a:solidFill>
          <a:ln/>
        </p:spPr>
      </p:sp>
      <p:pic>
        <p:nvPicPr>
          <p:cNvPr id="16" name="Image 2" descr="preencoded.png">    </p:cNvPr>
          <p:cNvPicPr>
            <a:picLocks noChangeAspect="1"/>
          </p:cNvPicPr>
          <p:nvPr/>
        </p:nvPicPr>
        <p:blipFill>
          <a:blip r:embed="rId3"/>
          <a:stretch>
            <a:fillRect/>
          </a:stretch>
        </p:blipFill>
        <p:spPr>
          <a:xfrm>
            <a:off x="738835" y="3271723"/>
            <a:ext cx="241402" cy="241402"/>
          </a:xfrm>
          <a:prstGeom prst="rect">
            <a:avLst/>
          </a:prstGeom>
        </p:spPr>
      </p:pic>
      <p:sp>
        <p:nvSpPr>
          <p:cNvPr id="17" name="Text 12"/>
          <p:cNvSpPr txBox="1"/>
          <p:nvPr/>
        </p:nvSpPr>
        <p:spPr>
          <a:xfrm>
            <a:off x="1097280" y="3026664"/>
            <a:ext cx="914400" cy="731520"/>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Power Automate</a:t>
            </a:r>
            <a:endParaRPr lang="en-US" sz="900" dirty="0"/>
          </a:p>
        </p:txBody>
      </p:sp>
      <p:sp>
        <p:nvSpPr>
          <p:cNvPr id="18" name="Shape 13"/>
          <p:cNvSpPr/>
          <p:nvPr/>
        </p:nvSpPr>
        <p:spPr>
          <a:xfrm>
            <a:off x="548640" y="3831336"/>
            <a:ext cx="11064240" cy="731520"/>
          </a:xfrm>
          <a:prstGeom prst="roundRect">
            <a:avLst>
              <a:gd name="adj" fmla="val 5000"/>
            </a:avLst>
          </a:prstGeom>
          <a:solidFill>
            <a:srgbClr val="EEEAF8"/>
          </a:solidFill>
          <a:ln/>
        </p:spPr>
      </p:sp>
      <p:sp>
        <p:nvSpPr>
          <p:cNvPr id="19" name="Shape 14"/>
          <p:cNvSpPr/>
          <p:nvPr/>
        </p:nvSpPr>
        <p:spPr>
          <a:xfrm>
            <a:off x="658368" y="3995928"/>
            <a:ext cx="402336" cy="402336"/>
          </a:xfrm>
          <a:prstGeom prst="ellipse">
            <a:avLst/>
          </a:prstGeom>
          <a:solidFill>
            <a:srgbClr val="FFFFFF"/>
          </a:solidFill>
          <a:ln/>
        </p:spPr>
      </p:sp>
      <p:pic>
        <p:nvPicPr>
          <p:cNvPr id="20" name="Image 3" descr="preencoded.png">    </p:cNvPr>
          <p:cNvPicPr>
            <a:picLocks noChangeAspect="1"/>
          </p:cNvPicPr>
          <p:nvPr/>
        </p:nvPicPr>
        <p:blipFill>
          <a:blip r:embed="rId4"/>
          <a:stretch>
            <a:fillRect/>
          </a:stretch>
        </p:blipFill>
        <p:spPr>
          <a:xfrm>
            <a:off x="738835" y="4076395"/>
            <a:ext cx="241402" cy="241402"/>
          </a:xfrm>
          <a:prstGeom prst="rect">
            <a:avLst/>
          </a:prstGeom>
        </p:spPr>
      </p:pic>
      <p:sp>
        <p:nvSpPr>
          <p:cNvPr id="21" name="Text 15"/>
          <p:cNvSpPr txBox="1"/>
          <p:nvPr/>
        </p:nvSpPr>
        <p:spPr>
          <a:xfrm>
            <a:off x="1097280" y="3831336"/>
            <a:ext cx="914400" cy="731520"/>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Copilot Studio</a:t>
            </a:r>
            <a:endParaRPr lang="en-US" sz="900" dirty="0"/>
          </a:p>
        </p:txBody>
      </p:sp>
      <p:sp>
        <p:nvSpPr>
          <p:cNvPr id="22" name="Shape 16"/>
          <p:cNvSpPr/>
          <p:nvPr/>
        </p:nvSpPr>
        <p:spPr>
          <a:xfrm>
            <a:off x="2011680" y="1472184"/>
            <a:ext cx="1261872" cy="621792"/>
          </a:xfrm>
          <a:prstGeom prst="roundRect">
            <a:avLst>
              <a:gd name="adj" fmla="val 8824"/>
            </a:avLst>
          </a:prstGeom>
          <a:solidFill>
            <a:srgbClr val="FFFFFF"/>
          </a:solidFill>
          <a:ln w="12700">
            <a:solidFill>
              <a:srgbClr val="D5DBE3"/>
            </a:solidFill>
            <a:prstDash val="solid"/>
          </a:ln>
        </p:spPr>
      </p:sp>
      <p:sp>
        <p:nvSpPr>
          <p:cNvPr id="23" name="Shape 17"/>
          <p:cNvSpPr/>
          <p:nvPr/>
        </p:nvSpPr>
        <p:spPr>
          <a:xfrm>
            <a:off x="2057400" y="1517904"/>
            <a:ext cx="237744" cy="237744"/>
          </a:xfrm>
          <a:prstGeom prst="ellipse">
            <a:avLst/>
          </a:prstGeom>
          <a:solidFill>
            <a:srgbClr val="0E9F9A"/>
          </a:solidFill>
          <a:ln/>
        </p:spPr>
      </p:sp>
      <p:sp>
        <p:nvSpPr>
          <p:cNvPr id="24" name="Text 18"/>
          <p:cNvSpPr txBox="1"/>
          <p:nvPr/>
        </p:nvSpPr>
        <p:spPr>
          <a:xfrm>
            <a:off x="2057400" y="1517904"/>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0</a:t>
            </a:r>
            <a:endParaRPr lang="en-US" sz="1100" dirty="0"/>
          </a:p>
        </p:txBody>
      </p:sp>
      <p:sp>
        <p:nvSpPr>
          <p:cNvPr id="25" name="Text 19"/>
          <p:cNvSpPr txBox="1"/>
          <p:nvPr/>
        </p:nvSpPr>
        <p:spPr>
          <a:xfrm>
            <a:off x="2322576" y="1490472"/>
            <a:ext cx="914400" cy="292608"/>
          </a:xfrm>
          <a:prstGeom prst="rect">
            <a:avLst/>
          </a:prstGeom>
          <a:noFill/>
          <a:ln/>
        </p:spPr>
        <p:txBody>
          <a:bodyPr wrap="square" lIns="0" tIns="0" rIns="0" bIns="0" rtlCol="0" anchor="ctr"/>
          <a:lstStyle/>
          <a:p>
            <a:pPr indent="0" marL="0">
              <a:buNone/>
            </a:pPr>
            <a:r>
              <a:rPr lang="en-US" sz="800" b="1" dirty="0">
                <a:solidFill>
                  <a:srgbClr val="1B2A49"/>
                </a:solidFill>
                <a:latin typeface="Meiryo UI" pitchFamily="34" charset="0"/>
                <a:ea typeface="Meiryo UI" pitchFamily="34" charset="-122"/>
                <a:cs typeface="Meiryo UI" pitchFamily="34" charset="-120"/>
              </a:rPr>
              <a:t>カードを起案待ちに</a:t>
            </a:r>
            <a:endParaRPr lang="en-US" sz="800" dirty="0"/>
          </a:p>
        </p:txBody>
      </p:sp>
      <p:sp>
        <p:nvSpPr>
          <p:cNvPr id="26" name="Text 20"/>
          <p:cNvSpPr txBox="1"/>
          <p:nvPr/>
        </p:nvSpPr>
        <p:spPr>
          <a:xfrm>
            <a:off x="2066544" y="1773936"/>
            <a:ext cx="1170432" cy="301752"/>
          </a:xfrm>
          <a:prstGeom prst="rect">
            <a:avLst/>
          </a:prstGeom>
          <a:noFill/>
          <a:ln/>
        </p:spPr>
        <p:txBody>
          <a:bodyPr wrap="square" lIns="0" tIns="0" rIns="0" bIns="0" rtlCol="0" anchor="t"/>
          <a:lstStyle/>
          <a:p>
            <a:pPr indent="0" marL="0">
              <a:buNone/>
            </a:pPr>
            <a:r>
              <a:rPr lang="en-US" sz="650" dirty="0">
                <a:solidFill>
                  <a:srgbClr val="6B7280"/>
                </a:solidFill>
                <a:latin typeface="Meiryo UI" pitchFamily="34" charset="0"/>
                <a:ea typeface="Meiryo UI" pitchFamily="34" charset="-122"/>
                <a:cs typeface="Meiryo UI" pitchFamily="34" charset="-120"/>
              </a:rPr>
              <a:t>配信日ごとのカードで、ステータスを「起案待ち」にする</a:t>
            </a:r>
            <a:endParaRPr lang="en-US" sz="650" dirty="0"/>
          </a:p>
        </p:txBody>
      </p:sp>
      <p:sp>
        <p:nvSpPr>
          <p:cNvPr id="27" name="Shape 21"/>
          <p:cNvSpPr/>
          <p:nvPr/>
        </p:nvSpPr>
        <p:spPr>
          <a:xfrm>
            <a:off x="3383280" y="3081528"/>
            <a:ext cx="1261872" cy="621792"/>
          </a:xfrm>
          <a:prstGeom prst="roundRect">
            <a:avLst>
              <a:gd name="adj" fmla="val 8824"/>
            </a:avLst>
          </a:prstGeom>
          <a:solidFill>
            <a:srgbClr val="FFFFFF"/>
          </a:solidFill>
          <a:ln w="12700">
            <a:solidFill>
              <a:srgbClr val="D5DBE3"/>
            </a:solidFill>
            <a:prstDash val="solid"/>
          </a:ln>
        </p:spPr>
      </p:sp>
      <p:sp>
        <p:nvSpPr>
          <p:cNvPr id="28" name="Shape 22"/>
          <p:cNvSpPr/>
          <p:nvPr/>
        </p:nvSpPr>
        <p:spPr>
          <a:xfrm>
            <a:off x="3429000" y="3127248"/>
            <a:ext cx="237744" cy="237744"/>
          </a:xfrm>
          <a:prstGeom prst="ellipse">
            <a:avLst/>
          </a:prstGeom>
          <a:solidFill>
            <a:srgbClr val="0E9F9A"/>
          </a:solidFill>
          <a:ln/>
        </p:spPr>
      </p:sp>
      <p:sp>
        <p:nvSpPr>
          <p:cNvPr id="29" name="Text 23"/>
          <p:cNvSpPr txBox="1"/>
          <p:nvPr/>
        </p:nvSpPr>
        <p:spPr>
          <a:xfrm>
            <a:off x="3429000" y="312724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1</a:t>
            </a:r>
            <a:endParaRPr lang="en-US" sz="1100" dirty="0"/>
          </a:p>
        </p:txBody>
      </p:sp>
      <p:sp>
        <p:nvSpPr>
          <p:cNvPr id="30" name="Text 24"/>
          <p:cNvSpPr txBox="1"/>
          <p:nvPr/>
        </p:nvSpPr>
        <p:spPr>
          <a:xfrm>
            <a:off x="3694176" y="3099816"/>
            <a:ext cx="914400" cy="292608"/>
          </a:xfrm>
          <a:prstGeom prst="rect">
            <a:avLst/>
          </a:prstGeom>
          <a:noFill/>
          <a:ln/>
        </p:spPr>
        <p:txBody>
          <a:bodyPr wrap="square" lIns="0" tIns="0" rIns="0" bIns="0" rtlCol="0" anchor="ctr"/>
          <a:lstStyle/>
          <a:p>
            <a:pPr indent="0" marL="0">
              <a:buNone/>
            </a:pPr>
            <a:r>
              <a:rPr lang="en-US" sz="800" b="1" dirty="0">
                <a:solidFill>
                  <a:srgbClr val="1B2A49"/>
                </a:solidFill>
                <a:latin typeface="Meiryo UI" pitchFamily="34" charset="0"/>
                <a:ea typeface="Meiryo UI" pitchFamily="34" charset="-122"/>
                <a:cs typeface="Meiryo UI" pitchFamily="34" charset="-120"/>
              </a:rPr>
              <a:t>定期実行</a:t>
            </a:r>
            <a:endParaRPr lang="en-US" sz="800" dirty="0"/>
          </a:p>
        </p:txBody>
      </p:sp>
      <p:sp>
        <p:nvSpPr>
          <p:cNvPr id="31" name="Text 25"/>
          <p:cNvSpPr txBox="1"/>
          <p:nvPr/>
        </p:nvSpPr>
        <p:spPr>
          <a:xfrm>
            <a:off x="3438144" y="3383280"/>
            <a:ext cx="1170432" cy="301752"/>
          </a:xfrm>
          <a:prstGeom prst="rect">
            <a:avLst/>
          </a:prstGeom>
          <a:noFill/>
          <a:ln/>
        </p:spPr>
        <p:txBody>
          <a:bodyPr wrap="square" lIns="0" tIns="0" rIns="0" bIns="0" rtlCol="0" anchor="t"/>
          <a:lstStyle/>
          <a:p>
            <a:pPr indent="0" marL="0">
              <a:buNone/>
            </a:pPr>
            <a:r>
              <a:rPr lang="en-US" sz="650" dirty="0">
                <a:solidFill>
                  <a:srgbClr val="6B7280"/>
                </a:solidFill>
                <a:latin typeface="Meiryo UI" pitchFamily="34" charset="0"/>
                <a:ea typeface="Meiryo UI" pitchFamily="34" charset="-122"/>
                <a:cs typeface="Meiryo UI" pitchFamily="34" charset="-120"/>
              </a:rPr>
              <a:t>例：15分ごとにフローが自動で動く（スケジュール）</a:t>
            </a:r>
            <a:endParaRPr lang="en-US" sz="650" dirty="0"/>
          </a:p>
        </p:txBody>
      </p:sp>
      <p:sp>
        <p:nvSpPr>
          <p:cNvPr id="32" name="Shape 26"/>
          <p:cNvSpPr/>
          <p:nvPr/>
        </p:nvSpPr>
        <p:spPr>
          <a:xfrm>
            <a:off x="4754880" y="2276856"/>
            <a:ext cx="1261872" cy="621792"/>
          </a:xfrm>
          <a:prstGeom prst="roundRect">
            <a:avLst>
              <a:gd name="adj" fmla="val 8824"/>
            </a:avLst>
          </a:prstGeom>
          <a:solidFill>
            <a:srgbClr val="FFFFFF"/>
          </a:solidFill>
          <a:ln w="12700">
            <a:solidFill>
              <a:srgbClr val="D5DBE3"/>
            </a:solidFill>
            <a:prstDash val="solid"/>
          </a:ln>
        </p:spPr>
      </p:sp>
      <p:sp>
        <p:nvSpPr>
          <p:cNvPr id="33" name="Shape 27"/>
          <p:cNvSpPr/>
          <p:nvPr/>
        </p:nvSpPr>
        <p:spPr>
          <a:xfrm>
            <a:off x="4800600" y="2322576"/>
            <a:ext cx="237744" cy="237744"/>
          </a:xfrm>
          <a:prstGeom prst="ellipse">
            <a:avLst/>
          </a:prstGeom>
          <a:solidFill>
            <a:srgbClr val="0E9F9A"/>
          </a:solidFill>
          <a:ln/>
        </p:spPr>
      </p:sp>
      <p:sp>
        <p:nvSpPr>
          <p:cNvPr id="34" name="Text 28"/>
          <p:cNvSpPr txBox="1"/>
          <p:nvPr/>
        </p:nvSpPr>
        <p:spPr>
          <a:xfrm>
            <a:off x="4800600" y="2322576"/>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2</a:t>
            </a:r>
            <a:endParaRPr lang="en-US" sz="1100" dirty="0"/>
          </a:p>
        </p:txBody>
      </p:sp>
      <p:sp>
        <p:nvSpPr>
          <p:cNvPr id="35" name="Text 29"/>
          <p:cNvSpPr txBox="1"/>
          <p:nvPr/>
        </p:nvSpPr>
        <p:spPr>
          <a:xfrm>
            <a:off x="5065776" y="2295144"/>
            <a:ext cx="914400" cy="292608"/>
          </a:xfrm>
          <a:prstGeom prst="rect">
            <a:avLst/>
          </a:prstGeom>
          <a:noFill/>
          <a:ln/>
        </p:spPr>
        <p:txBody>
          <a:bodyPr wrap="square" lIns="0" tIns="0" rIns="0" bIns="0" rtlCol="0" anchor="ctr"/>
          <a:lstStyle/>
          <a:p>
            <a:pPr indent="0" marL="0">
              <a:buNone/>
            </a:pPr>
            <a:r>
              <a:rPr lang="en-US" sz="800" b="1" dirty="0">
                <a:solidFill>
                  <a:srgbClr val="1B2A49"/>
                </a:solidFill>
                <a:latin typeface="Meiryo UI" pitchFamily="34" charset="0"/>
                <a:ea typeface="Meiryo UI" pitchFamily="34" charset="-122"/>
                <a:cs typeface="Meiryo UI" pitchFamily="34" charset="-120"/>
              </a:rPr>
              <a:t>起案待ちを取得</a:t>
            </a:r>
            <a:endParaRPr lang="en-US" sz="800" dirty="0"/>
          </a:p>
        </p:txBody>
      </p:sp>
      <p:sp>
        <p:nvSpPr>
          <p:cNvPr id="36" name="Text 30"/>
          <p:cNvSpPr txBox="1"/>
          <p:nvPr/>
        </p:nvSpPr>
        <p:spPr>
          <a:xfrm>
            <a:off x="4809744" y="2578608"/>
            <a:ext cx="1170432" cy="301752"/>
          </a:xfrm>
          <a:prstGeom prst="rect">
            <a:avLst/>
          </a:prstGeom>
          <a:noFill/>
          <a:ln/>
        </p:spPr>
        <p:txBody>
          <a:bodyPr wrap="square" lIns="0" tIns="0" rIns="0" bIns="0" rtlCol="0" anchor="t"/>
          <a:lstStyle/>
          <a:p>
            <a:pPr indent="0" marL="0">
              <a:buNone/>
            </a:pPr>
            <a:r>
              <a:rPr lang="en-US" sz="650" dirty="0">
                <a:solidFill>
                  <a:srgbClr val="6B7280"/>
                </a:solidFill>
                <a:latin typeface="Meiryo UI" pitchFamily="34" charset="0"/>
                <a:ea typeface="Meiryo UI" pitchFamily="34" charset="-122"/>
                <a:cs typeface="Meiryo UI" pitchFamily="34" charset="-120"/>
              </a:rPr>
              <a:t>REST APIで「ステータス＝起案待ち」のカードを検索</a:t>
            </a:r>
            <a:endParaRPr lang="en-US" sz="650" dirty="0"/>
          </a:p>
        </p:txBody>
      </p:sp>
      <p:sp>
        <p:nvSpPr>
          <p:cNvPr id="37" name="Shape 31"/>
          <p:cNvSpPr/>
          <p:nvPr/>
        </p:nvSpPr>
        <p:spPr>
          <a:xfrm>
            <a:off x="6126480" y="2276856"/>
            <a:ext cx="1261872" cy="621792"/>
          </a:xfrm>
          <a:prstGeom prst="roundRect">
            <a:avLst>
              <a:gd name="adj" fmla="val 8824"/>
            </a:avLst>
          </a:prstGeom>
          <a:solidFill>
            <a:srgbClr val="FFFFFF"/>
          </a:solidFill>
          <a:ln w="12700">
            <a:solidFill>
              <a:srgbClr val="D5DBE3"/>
            </a:solidFill>
            <a:prstDash val="solid"/>
          </a:ln>
        </p:spPr>
      </p:sp>
      <p:sp>
        <p:nvSpPr>
          <p:cNvPr id="38" name="Shape 32"/>
          <p:cNvSpPr/>
          <p:nvPr/>
        </p:nvSpPr>
        <p:spPr>
          <a:xfrm>
            <a:off x="6172200" y="2322576"/>
            <a:ext cx="237744" cy="237744"/>
          </a:xfrm>
          <a:prstGeom prst="ellipse">
            <a:avLst/>
          </a:prstGeom>
          <a:solidFill>
            <a:srgbClr val="0E9F9A"/>
          </a:solidFill>
          <a:ln/>
        </p:spPr>
      </p:sp>
      <p:sp>
        <p:nvSpPr>
          <p:cNvPr id="39" name="Text 33"/>
          <p:cNvSpPr txBox="1"/>
          <p:nvPr/>
        </p:nvSpPr>
        <p:spPr>
          <a:xfrm>
            <a:off x="6172200" y="2322576"/>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3</a:t>
            </a:r>
            <a:endParaRPr lang="en-US" sz="1100" dirty="0"/>
          </a:p>
        </p:txBody>
      </p:sp>
      <p:sp>
        <p:nvSpPr>
          <p:cNvPr id="40" name="Text 34"/>
          <p:cNvSpPr txBox="1"/>
          <p:nvPr/>
        </p:nvSpPr>
        <p:spPr>
          <a:xfrm>
            <a:off x="6437376" y="2295144"/>
            <a:ext cx="914400" cy="292608"/>
          </a:xfrm>
          <a:prstGeom prst="rect">
            <a:avLst/>
          </a:prstGeom>
          <a:noFill/>
          <a:ln/>
        </p:spPr>
        <p:txBody>
          <a:bodyPr wrap="square" lIns="0" tIns="0" rIns="0" bIns="0" rtlCol="0" anchor="ctr"/>
          <a:lstStyle/>
          <a:p>
            <a:pPr indent="0" marL="0">
              <a:buNone/>
            </a:pPr>
            <a:r>
              <a:rPr lang="en-US" sz="800" b="1" dirty="0">
                <a:solidFill>
                  <a:srgbClr val="1B2A49"/>
                </a:solidFill>
                <a:latin typeface="Meiryo UI" pitchFamily="34" charset="0"/>
                <a:ea typeface="Meiryo UI" pitchFamily="34" charset="-122"/>
                <a:cs typeface="Meiryo UI" pitchFamily="34" charset="-120"/>
              </a:rPr>
              <a:t>起案中に更新</a:t>
            </a:r>
            <a:endParaRPr lang="en-US" sz="800" dirty="0"/>
          </a:p>
        </p:txBody>
      </p:sp>
      <p:sp>
        <p:nvSpPr>
          <p:cNvPr id="41" name="Text 35"/>
          <p:cNvSpPr txBox="1"/>
          <p:nvPr/>
        </p:nvSpPr>
        <p:spPr>
          <a:xfrm>
            <a:off x="6181344" y="2578608"/>
            <a:ext cx="1170432" cy="301752"/>
          </a:xfrm>
          <a:prstGeom prst="rect">
            <a:avLst/>
          </a:prstGeom>
          <a:noFill/>
          <a:ln/>
        </p:spPr>
        <p:txBody>
          <a:bodyPr wrap="square" lIns="0" tIns="0" rIns="0" bIns="0" rtlCol="0" anchor="t"/>
          <a:lstStyle/>
          <a:p>
            <a:pPr indent="0" marL="0">
              <a:buNone/>
            </a:pPr>
            <a:r>
              <a:rPr lang="en-US" sz="650" dirty="0">
                <a:solidFill>
                  <a:srgbClr val="6B7280"/>
                </a:solidFill>
                <a:latin typeface="Meiryo UI" pitchFamily="34" charset="0"/>
                <a:ea typeface="Meiryo UI" pitchFamily="34" charset="-122"/>
                <a:cs typeface="Meiryo UI" pitchFamily="34" charset="-120"/>
              </a:rPr>
              <a:t>二重実行を防ぐため、先にステータスを変える</a:t>
            </a:r>
            <a:endParaRPr lang="en-US" sz="650" dirty="0"/>
          </a:p>
        </p:txBody>
      </p:sp>
      <p:sp>
        <p:nvSpPr>
          <p:cNvPr id="42" name="Shape 36"/>
          <p:cNvSpPr/>
          <p:nvPr/>
        </p:nvSpPr>
        <p:spPr>
          <a:xfrm>
            <a:off x="7498080" y="3886200"/>
            <a:ext cx="1261872" cy="621792"/>
          </a:xfrm>
          <a:prstGeom prst="roundRect">
            <a:avLst>
              <a:gd name="adj" fmla="val 8824"/>
            </a:avLst>
          </a:prstGeom>
          <a:solidFill>
            <a:srgbClr val="FFFFFF"/>
          </a:solidFill>
          <a:ln w="12700">
            <a:solidFill>
              <a:srgbClr val="D5DBE3"/>
            </a:solidFill>
            <a:prstDash val="solid"/>
          </a:ln>
        </p:spPr>
      </p:sp>
      <p:sp>
        <p:nvSpPr>
          <p:cNvPr id="43" name="Shape 37"/>
          <p:cNvSpPr/>
          <p:nvPr/>
        </p:nvSpPr>
        <p:spPr>
          <a:xfrm>
            <a:off x="7543800" y="3931920"/>
            <a:ext cx="237744" cy="237744"/>
          </a:xfrm>
          <a:prstGeom prst="ellipse">
            <a:avLst/>
          </a:prstGeom>
          <a:solidFill>
            <a:srgbClr val="0E9F9A"/>
          </a:solidFill>
          <a:ln/>
        </p:spPr>
      </p:sp>
      <p:sp>
        <p:nvSpPr>
          <p:cNvPr id="44" name="Text 38"/>
          <p:cNvSpPr txBox="1"/>
          <p:nvPr/>
        </p:nvSpPr>
        <p:spPr>
          <a:xfrm>
            <a:off x="7543800" y="393192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4</a:t>
            </a:r>
            <a:endParaRPr lang="en-US" sz="1100" dirty="0"/>
          </a:p>
        </p:txBody>
      </p:sp>
      <p:sp>
        <p:nvSpPr>
          <p:cNvPr id="45" name="Text 39"/>
          <p:cNvSpPr txBox="1"/>
          <p:nvPr/>
        </p:nvSpPr>
        <p:spPr>
          <a:xfrm>
            <a:off x="7808976" y="3904488"/>
            <a:ext cx="914400" cy="292608"/>
          </a:xfrm>
          <a:prstGeom prst="rect">
            <a:avLst/>
          </a:prstGeom>
          <a:noFill/>
          <a:ln/>
        </p:spPr>
        <p:txBody>
          <a:bodyPr wrap="square" lIns="0" tIns="0" rIns="0" bIns="0" rtlCol="0" anchor="ctr"/>
          <a:lstStyle/>
          <a:p>
            <a:pPr indent="0" marL="0">
              <a:buNone/>
            </a:pPr>
            <a:r>
              <a:rPr lang="en-US" sz="800" b="1" dirty="0">
                <a:solidFill>
                  <a:srgbClr val="1B2A49"/>
                </a:solidFill>
                <a:latin typeface="Meiryo UI" pitchFamily="34" charset="0"/>
                <a:ea typeface="Meiryo UI" pitchFamily="34" charset="-122"/>
                <a:cs typeface="Meiryo UI" pitchFamily="34" charset="-120"/>
              </a:rPr>
              <a:t>下書きを生成</a:t>
            </a:r>
            <a:endParaRPr lang="en-US" sz="800" dirty="0"/>
          </a:p>
        </p:txBody>
      </p:sp>
      <p:sp>
        <p:nvSpPr>
          <p:cNvPr id="46" name="Text 40"/>
          <p:cNvSpPr txBox="1"/>
          <p:nvPr/>
        </p:nvSpPr>
        <p:spPr>
          <a:xfrm>
            <a:off x="7552944" y="4187952"/>
            <a:ext cx="1170432" cy="301752"/>
          </a:xfrm>
          <a:prstGeom prst="rect">
            <a:avLst/>
          </a:prstGeom>
          <a:noFill/>
          <a:ln/>
        </p:spPr>
        <p:txBody>
          <a:bodyPr wrap="square" lIns="0" tIns="0" rIns="0" bIns="0" rtlCol="0" anchor="t"/>
          <a:lstStyle/>
          <a:p>
            <a:pPr indent="0" marL="0">
              <a:buNone/>
            </a:pPr>
            <a:r>
              <a:rPr lang="en-US" sz="650" dirty="0">
                <a:solidFill>
                  <a:srgbClr val="6B7280"/>
                </a:solidFill>
                <a:latin typeface="Meiryo UI" pitchFamily="34" charset="0"/>
                <a:ea typeface="Meiryo UI" pitchFamily="34" charset="-122"/>
                <a:cs typeface="Meiryo UI" pitchFamily="34" charset="-120"/>
              </a:rPr>
              <a:t>取得したカードを1件ずつ順番に、Execute Agent and waitで依頼</a:t>
            </a:r>
            <a:endParaRPr lang="en-US" sz="650" dirty="0"/>
          </a:p>
        </p:txBody>
      </p:sp>
      <p:sp>
        <p:nvSpPr>
          <p:cNvPr id="47" name="Shape 41"/>
          <p:cNvSpPr/>
          <p:nvPr/>
        </p:nvSpPr>
        <p:spPr>
          <a:xfrm>
            <a:off x="8869680" y="2276856"/>
            <a:ext cx="1261872" cy="621792"/>
          </a:xfrm>
          <a:prstGeom prst="roundRect">
            <a:avLst>
              <a:gd name="adj" fmla="val 8824"/>
            </a:avLst>
          </a:prstGeom>
          <a:solidFill>
            <a:srgbClr val="FFFFFF"/>
          </a:solidFill>
          <a:ln w="12700">
            <a:solidFill>
              <a:srgbClr val="D5DBE3"/>
            </a:solidFill>
            <a:prstDash val="solid"/>
          </a:ln>
        </p:spPr>
      </p:sp>
      <p:sp>
        <p:nvSpPr>
          <p:cNvPr id="48" name="Shape 42"/>
          <p:cNvSpPr/>
          <p:nvPr/>
        </p:nvSpPr>
        <p:spPr>
          <a:xfrm>
            <a:off x="8915400" y="2322576"/>
            <a:ext cx="237744" cy="237744"/>
          </a:xfrm>
          <a:prstGeom prst="ellipse">
            <a:avLst/>
          </a:prstGeom>
          <a:solidFill>
            <a:srgbClr val="0E9F9A"/>
          </a:solidFill>
          <a:ln/>
        </p:spPr>
      </p:sp>
      <p:sp>
        <p:nvSpPr>
          <p:cNvPr id="49" name="Text 43"/>
          <p:cNvSpPr txBox="1"/>
          <p:nvPr/>
        </p:nvSpPr>
        <p:spPr>
          <a:xfrm>
            <a:off x="8915400" y="2322576"/>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5</a:t>
            </a:r>
            <a:endParaRPr lang="en-US" sz="1100" dirty="0"/>
          </a:p>
        </p:txBody>
      </p:sp>
      <p:sp>
        <p:nvSpPr>
          <p:cNvPr id="50" name="Text 44"/>
          <p:cNvSpPr txBox="1"/>
          <p:nvPr/>
        </p:nvSpPr>
        <p:spPr>
          <a:xfrm>
            <a:off x="9180576" y="2295144"/>
            <a:ext cx="914400" cy="292608"/>
          </a:xfrm>
          <a:prstGeom prst="rect">
            <a:avLst/>
          </a:prstGeom>
          <a:noFill/>
          <a:ln/>
        </p:spPr>
        <p:txBody>
          <a:bodyPr wrap="square" lIns="0" tIns="0" rIns="0" bIns="0" rtlCol="0" anchor="ctr"/>
          <a:lstStyle/>
          <a:p>
            <a:pPr indent="0" marL="0">
              <a:buNone/>
            </a:pPr>
            <a:r>
              <a:rPr lang="en-US" sz="800" b="1" dirty="0">
                <a:solidFill>
                  <a:srgbClr val="1B2A49"/>
                </a:solidFill>
                <a:latin typeface="Meiryo UI" pitchFamily="34" charset="0"/>
                <a:ea typeface="Meiryo UI" pitchFamily="34" charset="-122"/>
                <a:cs typeface="Meiryo UI" pitchFamily="34" charset="-120"/>
              </a:rPr>
              <a:t>下書きに書込</a:t>
            </a:r>
            <a:endParaRPr lang="en-US" sz="800" dirty="0"/>
          </a:p>
        </p:txBody>
      </p:sp>
      <p:sp>
        <p:nvSpPr>
          <p:cNvPr id="51" name="Text 45"/>
          <p:cNvSpPr txBox="1"/>
          <p:nvPr/>
        </p:nvSpPr>
        <p:spPr>
          <a:xfrm>
            <a:off x="8924544" y="2578608"/>
            <a:ext cx="1170432" cy="301752"/>
          </a:xfrm>
          <a:prstGeom prst="rect">
            <a:avLst/>
          </a:prstGeom>
          <a:noFill/>
          <a:ln/>
        </p:spPr>
        <p:txBody>
          <a:bodyPr wrap="square" lIns="0" tIns="0" rIns="0" bIns="0" rtlCol="0" anchor="t"/>
          <a:lstStyle/>
          <a:p>
            <a:pPr indent="0" marL="0">
              <a:buNone/>
            </a:pPr>
            <a:r>
              <a:rPr lang="en-US" sz="650" dirty="0">
                <a:solidFill>
                  <a:srgbClr val="6B7280"/>
                </a:solidFill>
                <a:latin typeface="Meiryo UI" pitchFamily="34" charset="0"/>
                <a:ea typeface="Meiryo UI" pitchFamily="34" charset="-122"/>
                <a:cs typeface="Meiryo UI" pitchFamily="34" charset="-120"/>
              </a:rPr>
              <a:t>下書き欄に書き、ステータスを「下書きあり」に</a:t>
            </a:r>
            <a:endParaRPr lang="en-US" sz="650" dirty="0"/>
          </a:p>
        </p:txBody>
      </p:sp>
      <p:sp>
        <p:nvSpPr>
          <p:cNvPr id="52" name="Shape 46"/>
          <p:cNvSpPr/>
          <p:nvPr/>
        </p:nvSpPr>
        <p:spPr>
          <a:xfrm>
            <a:off x="10241280" y="1472184"/>
            <a:ext cx="1261872" cy="621792"/>
          </a:xfrm>
          <a:prstGeom prst="roundRect">
            <a:avLst>
              <a:gd name="adj" fmla="val 8824"/>
            </a:avLst>
          </a:prstGeom>
          <a:solidFill>
            <a:srgbClr val="FFFFFF"/>
          </a:solidFill>
          <a:ln w="12700">
            <a:solidFill>
              <a:srgbClr val="D5DBE3"/>
            </a:solidFill>
            <a:prstDash val="solid"/>
          </a:ln>
        </p:spPr>
      </p:sp>
      <p:sp>
        <p:nvSpPr>
          <p:cNvPr id="53" name="Shape 47"/>
          <p:cNvSpPr/>
          <p:nvPr/>
        </p:nvSpPr>
        <p:spPr>
          <a:xfrm>
            <a:off x="10287000" y="1517904"/>
            <a:ext cx="237744" cy="237744"/>
          </a:xfrm>
          <a:prstGeom prst="ellipse">
            <a:avLst/>
          </a:prstGeom>
          <a:solidFill>
            <a:srgbClr val="0E9F9A"/>
          </a:solidFill>
          <a:ln/>
        </p:spPr>
      </p:sp>
      <p:sp>
        <p:nvSpPr>
          <p:cNvPr id="54" name="Text 48"/>
          <p:cNvSpPr txBox="1"/>
          <p:nvPr/>
        </p:nvSpPr>
        <p:spPr>
          <a:xfrm>
            <a:off x="10287000" y="1517904"/>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6</a:t>
            </a:r>
            <a:endParaRPr lang="en-US" sz="1100" dirty="0"/>
          </a:p>
        </p:txBody>
      </p:sp>
      <p:sp>
        <p:nvSpPr>
          <p:cNvPr id="55" name="Text 49"/>
          <p:cNvSpPr txBox="1"/>
          <p:nvPr/>
        </p:nvSpPr>
        <p:spPr>
          <a:xfrm>
            <a:off x="10552176" y="1490472"/>
            <a:ext cx="914400" cy="292608"/>
          </a:xfrm>
          <a:prstGeom prst="rect">
            <a:avLst/>
          </a:prstGeom>
          <a:noFill/>
          <a:ln/>
        </p:spPr>
        <p:txBody>
          <a:bodyPr wrap="square" lIns="0" tIns="0" rIns="0" bIns="0" rtlCol="0" anchor="ctr"/>
          <a:lstStyle/>
          <a:p>
            <a:pPr indent="0" marL="0">
              <a:buNone/>
            </a:pPr>
            <a:r>
              <a:rPr lang="en-US" sz="800" b="1" dirty="0">
                <a:solidFill>
                  <a:srgbClr val="1B2A49"/>
                </a:solidFill>
                <a:latin typeface="Meiryo UI" pitchFamily="34" charset="0"/>
                <a:ea typeface="Meiryo UI" pitchFamily="34" charset="-122"/>
                <a:cs typeface="Meiryo UI" pitchFamily="34" charset="-120"/>
              </a:rPr>
              <a:t>確認・確定</a:t>
            </a:r>
            <a:endParaRPr lang="en-US" sz="800" dirty="0"/>
          </a:p>
        </p:txBody>
      </p:sp>
      <p:sp>
        <p:nvSpPr>
          <p:cNvPr id="56" name="Text 50"/>
          <p:cNvSpPr txBox="1"/>
          <p:nvPr/>
        </p:nvSpPr>
        <p:spPr>
          <a:xfrm>
            <a:off x="10296144" y="1773936"/>
            <a:ext cx="1170432" cy="301752"/>
          </a:xfrm>
          <a:prstGeom prst="rect">
            <a:avLst/>
          </a:prstGeom>
          <a:noFill/>
          <a:ln/>
        </p:spPr>
        <p:txBody>
          <a:bodyPr wrap="square" lIns="0" tIns="0" rIns="0" bIns="0" rtlCol="0" anchor="t"/>
          <a:lstStyle/>
          <a:p>
            <a:pPr indent="0" marL="0">
              <a:buNone/>
            </a:pPr>
            <a:r>
              <a:rPr lang="en-US" sz="650" dirty="0">
                <a:solidFill>
                  <a:srgbClr val="6B7280"/>
                </a:solidFill>
                <a:latin typeface="Meiryo UI" pitchFamily="34" charset="0"/>
                <a:ea typeface="Meiryo UI" pitchFamily="34" charset="-122"/>
                <a:cs typeface="Meiryo UI" pitchFamily="34" charset="-120"/>
              </a:rPr>
              <a:t>下書きを確認し、必要なら修正して人が確定</a:t>
            </a:r>
            <a:endParaRPr lang="en-US" sz="650" dirty="0"/>
          </a:p>
        </p:txBody>
      </p:sp>
      <p:sp>
        <p:nvSpPr>
          <p:cNvPr id="57" name="Shape 51"/>
          <p:cNvSpPr/>
          <p:nvPr/>
        </p:nvSpPr>
        <p:spPr>
          <a:xfrm>
            <a:off x="3273552" y="1783080"/>
            <a:ext cx="109728" cy="1609344"/>
          </a:xfrm>
          <a:prstGeom prst="line">
            <a:avLst/>
          </a:prstGeom>
          <a:noFill/>
          <a:ln w="19050">
            <a:solidFill>
              <a:srgbClr val="1B2A49"/>
            </a:solidFill>
            <a:prstDash val="solid"/>
            <a:tailEnd type="triangle"/>
          </a:ln>
        </p:spPr>
      </p:sp>
      <p:sp>
        <p:nvSpPr>
          <p:cNvPr id="58" name="Shape 52"/>
          <p:cNvSpPr/>
          <p:nvPr/>
        </p:nvSpPr>
        <p:spPr>
          <a:xfrm flipV="1">
            <a:off x="4645152" y="2587752"/>
            <a:ext cx="109728" cy="804672"/>
          </a:xfrm>
          <a:prstGeom prst="line">
            <a:avLst/>
          </a:prstGeom>
          <a:noFill/>
          <a:ln w="19050">
            <a:solidFill>
              <a:srgbClr val="1B2A49"/>
            </a:solidFill>
            <a:prstDash val="solid"/>
            <a:tailEnd type="triangle"/>
          </a:ln>
        </p:spPr>
      </p:sp>
      <p:sp>
        <p:nvSpPr>
          <p:cNvPr id="59" name="Shape 53"/>
          <p:cNvSpPr/>
          <p:nvPr/>
        </p:nvSpPr>
        <p:spPr>
          <a:xfrm>
            <a:off x="6016752" y="2587752"/>
            <a:ext cx="109728" cy="0"/>
          </a:xfrm>
          <a:prstGeom prst="line">
            <a:avLst/>
          </a:prstGeom>
          <a:noFill/>
          <a:ln w="19050">
            <a:solidFill>
              <a:srgbClr val="1B2A49"/>
            </a:solidFill>
            <a:prstDash val="solid"/>
            <a:tailEnd type="triangle"/>
          </a:ln>
        </p:spPr>
      </p:sp>
      <p:sp>
        <p:nvSpPr>
          <p:cNvPr id="60" name="Shape 54"/>
          <p:cNvSpPr/>
          <p:nvPr/>
        </p:nvSpPr>
        <p:spPr>
          <a:xfrm>
            <a:off x="7388352" y="2587752"/>
            <a:ext cx="109728" cy="1609344"/>
          </a:xfrm>
          <a:prstGeom prst="line">
            <a:avLst/>
          </a:prstGeom>
          <a:noFill/>
          <a:ln w="19050">
            <a:solidFill>
              <a:srgbClr val="1B2A49"/>
            </a:solidFill>
            <a:prstDash val="solid"/>
            <a:tailEnd type="triangle"/>
          </a:ln>
        </p:spPr>
      </p:sp>
      <p:sp>
        <p:nvSpPr>
          <p:cNvPr id="61" name="Shape 55"/>
          <p:cNvSpPr/>
          <p:nvPr/>
        </p:nvSpPr>
        <p:spPr>
          <a:xfrm flipV="1">
            <a:off x="8759952" y="2587752"/>
            <a:ext cx="109728" cy="1609344"/>
          </a:xfrm>
          <a:prstGeom prst="line">
            <a:avLst/>
          </a:prstGeom>
          <a:noFill/>
          <a:ln w="19050">
            <a:solidFill>
              <a:srgbClr val="1B2A49"/>
            </a:solidFill>
            <a:prstDash val="solid"/>
            <a:tailEnd type="triangle"/>
          </a:ln>
        </p:spPr>
      </p:sp>
      <p:sp>
        <p:nvSpPr>
          <p:cNvPr id="62" name="Shape 56"/>
          <p:cNvSpPr/>
          <p:nvPr/>
        </p:nvSpPr>
        <p:spPr>
          <a:xfrm flipV="1">
            <a:off x="10131552" y="1783080"/>
            <a:ext cx="109728" cy="804672"/>
          </a:xfrm>
          <a:prstGeom prst="line">
            <a:avLst/>
          </a:prstGeom>
          <a:noFill/>
          <a:ln w="19050">
            <a:solidFill>
              <a:srgbClr val="1B2A49"/>
            </a:solidFill>
            <a:prstDash val="solid"/>
            <a:tailEnd type="triangle"/>
          </a:ln>
        </p:spPr>
      </p:sp>
      <p:sp>
        <p:nvSpPr>
          <p:cNvPr id="63" name="Text 57"/>
          <p:cNvSpPr txBox="1"/>
          <p:nvPr/>
        </p:nvSpPr>
        <p:spPr>
          <a:xfrm>
            <a:off x="5760720" y="3447288"/>
            <a:ext cx="1691640" cy="274320"/>
          </a:xfrm>
          <a:prstGeom prst="rect">
            <a:avLst/>
          </a:prstGeom>
          <a:noFill/>
          <a:ln/>
        </p:spPr>
        <p:txBody>
          <a:bodyPr wrap="square" lIns="0" tIns="0" rIns="0" bIns="0" rtlCol="0" anchor="t"/>
          <a:lstStyle/>
          <a:p>
            <a:pPr indent="0" marL="0">
              <a:buNone/>
            </a:pPr>
            <a:r>
              <a:rPr lang="en-US" sz="700" b="1" dirty="0">
                <a:solidFill>
                  <a:srgbClr val="D64545"/>
                </a:solidFill>
                <a:latin typeface="Meiryo UI" pitchFamily="34" charset="0"/>
                <a:ea typeface="Meiryo UI" pitchFamily="34" charset="-122"/>
                <a:cs typeface="Meiryo UI" pitchFamily="34" charset="-120"/>
              </a:rPr>
              <a:t>エラー時はステータスを「エラー」にし、Teamsに通知</a:t>
            </a:r>
            <a:endParaRPr lang="en-US" sz="700" dirty="0"/>
          </a:p>
        </p:txBody>
      </p:sp>
      <p:sp>
        <p:nvSpPr>
          <p:cNvPr id="64" name="Shape 58"/>
          <p:cNvSpPr/>
          <p:nvPr/>
        </p:nvSpPr>
        <p:spPr>
          <a:xfrm>
            <a:off x="548640" y="4754880"/>
            <a:ext cx="3611880" cy="1600200"/>
          </a:xfrm>
          <a:prstGeom prst="roundRect">
            <a:avLst>
              <a:gd name="adj" fmla="val 3429"/>
            </a:avLst>
          </a:prstGeom>
          <a:solidFill>
            <a:srgbClr val="F3F5F8"/>
          </a:solidFill>
          <a:ln/>
        </p:spPr>
      </p:sp>
      <p:sp>
        <p:nvSpPr>
          <p:cNvPr id="65" name="Shape 59"/>
          <p:cNvSpPr/>
          <p:nvPr/>
        </p:nvSpPr>
        <p:spPr>
          <a:xfrm>
            <a:off x="685800" y="4873752"/>
            <a:ext cx="384048" cy="384048"/>
          </a:xfrm>
          <a:prstGeom prst="ellipse">
            <a:avLst/>
          </a:prstGeom>
          <a:solidFill>
            <a:srgbClr val="FFFFFF"/>
          </a:solidFill>
          <a:ln/>
        </p:spPr>
      </p:sp>
      <p:pic>
        <p:nvPicPr>
          <p:cNvPr id="66" name="Image 4" descr="preencoded.png">    </p:cNvPr>
          <p:cNvPicPr>
            <a:picLocks noChangeAspect="1"/>
          </p:cNvPicPr>
          <p:nvPr/>
        </p:nvPicPr>
        <p:blipFill>
          <a:blip r:embed="rId5"/>
          <a:stretch>
            <a:fillRect/>
          </a:stretch>
        </p:blipFill>
        <p:spPr>
          <a:xfrm>
            <a:off x="762610" y="4950562"/>
            <a:ext cx="230429" cy="230429"/>
          </a:xfrm>
          <a:prstGeom prst="rect">
            <a:avLst/>
          </a:prstGeom>
        </p:spPr>
      </p:pic>
      <p:sp>
        <p:nvSpPr>
          <p:cNvPr id="67" name="Text 60"/>
          <p:cNvSpPr txBox="1"/>
          <p:nvPr/>
        </p:nvSpPr>
        <p:spPr>
          <a:xfrm>
            <a:off x="1143000" y="4873752"/>
            <a:ext cx="2926080" cy="384048"/>
          </a:xfrm>
          <a:prstGeom prst="rect">
            <a:avLst/>
          </a:prstGeom>
          <a:noFill/>
          <a:ln/>
        </p:spPr>
        <p:txBody>
          <a:bodyPr wrap="square" lIns="0" tIns="0" rIns="0" bIns="0" rtlCol="0" anchor="ctr"/>
          <a:lstStyle/>
          <a:p>
            <a:pPr indent="0" marL="0">
              <a:buNone/>
            </a:pPr>
            <a:r>
              <a:rPr lang="en-US" sz="1100" b="1" dirty="0">
                <a:solidFill>
                  <a:srgbClr val="1B2A49"/>
                </a:solidFill>
                <a:latin typeface="Meiryo UI" pitchFamily="34" charset="0"/>
                <a:ea typeface="Meiryo UI" pitchFamily="34" charset="-122"/>
                <a:cs typeface="Meiryo UI" pitchFamily="34" charset="-120"/>
              </a:rPr>
              <a:t>必要なもの</a:t>
            </a:r>
            <a:endParaRPr lang="en-US" sz="1100" dirty="0"/>
          </a:p>
        </p:txBody>
      </p:sp>
      <p:sp>
        <p:nvSpPr>
          <p:cNvPr id="68" name="Text 61"/>
          <p:cNvSpPr txBox="1"/>
          <p:nvPr/>
        </p:nvSpPr>
        <p:spPr>
          <a:xfrm>
            <a:off x="731520" y="5358384"/>
            <a:ext cx="3291840" cy="905256"/>
          </a:xfrm>
          <a:prstGeom prst="rect">
            <a:avLst/>
          </a:prstGeom>
          <a:noFill/>
          <a:ln/>
        </p:spPr>
        <p:txBody>
          <a:bodyPr wrap="square" lIns="254" tIns="254" rIns="254" bIns="254" rtlCol="0" anchor="t"/>
          <a:lstStyle/>
          <a:p>
            <a:pPr marL="152400" indent="-152400">
              <a:spcAft>
                <a:spcPts val="100"/>
              </a:spcAft>
              <a:buSzPct val="100000"/>
              <a:buChar char="•"/>
            </a:pPr>
            <a:r>
              <a:rPr lang="en-US" sz="900" dirty="0">
                <a:solidFill>
                  <a:srgbClr val="2B2B2B"/>
                </a:solidFill>
                <a:latin typeface="Meiryo UI" pitchFamily="34" charset="0"/>
                <a:ea typeface="Meiryo UI" pitchFamily="34" charset="-122"/>
                <a:cs typeface="Meiryo UI" pitchFamily="34" charset="-120"/>
              </a:rPr>
              <a:t>Power Automate Premium（またはフロー単位のProcessライセンス）</a:t>
            </a:r>
            <a:endParaRPr lang="en-US" sz="900" dirty="0"/>
          </a:p>
          <a:p>
            <a:pPr marL="152400" indent="-152400">
              <a:spcAft>
                <a:spcPts val="100"/>
              </a:spcAft>
              <a:buSzPct val="100000"/>
              <a:buChar char="•"/>
            </a:pPr>
            <a:r>
              <a:rPr lang="en-US" sz="900" dirty="0">
                <a:solidFill>
                  <a:srgbClr val="2B2B2B"/>
                </a:solidFill>
                <a:latin typeface="Meiryo UI" pitchFamily="34" charset="0"/>
                <a:ea typeface="Meiryo UI" pitchFamily="34" charset="-122"/>
                <a:cs typeface="Meiryo UI" pitchFamily="34" charset="-120"/>
              </a:rPr>
              <a:t>Copilot Studio、PAT</a:t>
            </a:r>
            <a:endParaRPr lang="en-US" sz="900" dirty="0"/>
          </a:p>
          <a:p>
            <a:pPr marL="152400" indent="-152400">
              <a:spcAft>
                <a:spcPts val="100"/>
              </a:spcAft>
              <a:buSzPct val="100000"/>
              <a:buChar char="•"/>
            </a:pPr>
            <a:r>
              <a:rPr lang="en-US" sz="900" dirty="0">
                <a:solidFill>
                  <a:srgbClr val="2B2B2B"/>
                </a:solidFill>
                <a:latin typeface="Meiryo UI" pitchFamily="34" charset="0"/>
                <a:ea typeface="Meiryo UI" pitchFamily="34" charset="-122"/>
                <a:cs typeface="Meiryo UI" pitchFamily="34" charset="-120"/>
              </a:rPr>
              <a:t>Airtable側のステータス欄と下書き欄</a:t>
            </a:r>
            <a:endParaRPr lang="en-US" sz="900" dirty="0"/>
          </a:p>
        </p:txBody>
      </p:sp>
      <p:sp>
        <p:nvSpPr>
          <p:cNvPr id="69" name="Shape 62"/>
          <p:cNvSpPr/>
          <p:nvPr/>
        </p:nvSpPr>
        <p:spPr>
          <a:xfrm>
            <a:off x="4279392" y="4754880"/>
            <a:ext cx="3611880" cy="1600200"/>
          </a:xfrm>
          <a:prstGeom prst="roundRect">
            <a:avLst>
              <a:gd name="adj" fmla="val 3429"/>
            </a:avLst>
          </a:prstGeom>
          <a:solidFill>
            <a:srgbClr val="F3F5F8"/>
          </a:solidFill>
          <a:ln/>
        </p:spPr>
      </p:sp>
      <p:sp>
        <p:nvSpPr>
          <p:cNvPr id="70" name="Shape 63"/>
          <p:cNvSpPr/>
          <p:nvPr/>
        </p:nvSpPr>
        <p:spPr>
          <a:xfrm>
            <a:off x="4416552" y="4873752"/>
            <a:ext cx="384048" cy="384048"/>
          </a:xfrm>
          <a:prstGeom prst="ellipse">
            <a:avLst/>
          </a:prstGeom>
          <a:solidFill>
            <a:srgbClr val="FFFFFF"/>
          </a:solidFill>
          <a:ln/>
        </p:spPr>
      </p:sp>
      <p:pic>
        <p:nvPicPr>
          <p:cNvPr id="71" name="Image 5" descr="preencoded.png">    </p:cNvPr>
          <p:cNvPicPr>
            <a:picLocks noChangeAspect="1"/>
          </p:cNvPicPr>
          <p:nvPr/>
        </p:nvPicPr>
        <p:blipFill>
          <a:blip r:embed="rId6"/>
          <a:stretch>
            <a:fillRect/>
          </a:stretch>
        </p:blipFill>
        <p:spPr>
          <a:xfrm>
            <a:off x="4493362" y="4950562"/>
            <a:ext cx="230429" cy="230429"/>
          </a:xfrm>
          <a:prstGeom prst="rect">
            <a:avLst/>
          </a:prstGeom>
        </p:spPr>
      </p:pic>
      <p:sp>
        <p:nvSpPr>
          <p:cNvPr id="72" name="Text 64"/>
          <p:cNvSpPr txBox="1"/>
          <p:nvPr/>
        </p:nvSpPr>
        <p:spPr>
          <a:xfrm>
            <a:off x="4873752" y="4873752"/>
            <a:ext cx="2926080" cy="384048"/>
          </a:xfrm>
          <a:prstGeom prst="rect">
            <a:avLst/>
          </a:prstGeom>
          <a:noFill/>
          <a:ln/>
        </p:spPr>
        <p:txBody>
          <a:bodyPr wrap="square" lIns="0" tIns="0" rIns="0" bIns="0" rtlCol="0" anchor="ctr"/>
          <a:lstStyle/>
          <a:p>
            <a:pPr indent="0" marL="0">
              <a:buNone/>
            </a:pPr>
            <a:r>
              <a:rPr lang="en-US" sz="1100" b="1" dirty="0">
                <a:solidFill>
                  <a:srgbClr val="1B2A49"/>
                </a:solidFill>
                <a:latin typeface="Meiryo UI" pitchFamily="34" charset="0"/>
                <a:ea typeface="Meiryo UI" pitchFamily="34" charset="-122"/>
                <a:cs typeface="Meiryo UI" pitchFamily="34" charset="-120"/>
              </a:rPr>
              <a:t>長所</a:t>
            </a:r>
            <a:endParaRPr lang="en-US" sz="1100" dirty="0"/>
          </a:p>
        </p:txBody>
      </p:sp>
      <p:sp>
        <p:nvSpPr>
          <p:cNvPr id="73" name="Text 65"/>
          <p:cNvSpPr txBox="1"/>
          <p:nvPr/>
        </p:nvSpPr>
        <p:spPr>
          <a:xfrm>
            <a:off x="4462272" y="5358384"/>
            <a:ext cx="3291840" cy="905256"/>
          </a:xfrm>
          <a:prstGeom prst="rect">
            <a:avLst/>
          </a:prstGeom>
          <a:noFill/>
          <a:ln/>
        </p:spPr>
        <p:txBody>
          <a:bodyPr wrap="square" lIns="254" tIns="254" rIns="254" bIns="254" rtlCol="0" anchor="t"/>
          <a:lstStyle/>
          <a:p>
            <a:pPr marL="152400" indent="-152400">
              <a:spcAft>
                <a:spcPts val="100"/>
              </a:spcAft>
              <a:buSzPct val="100000"/>
              <a:buChar char="•"/>
            </a:pPr>
            <a:r>
              <a:rPr lang="en-US" sz="900" dirty="0">
                <a:solidFill>
                  <a:srgbClr val="2B2B2B"/>
                </a:solidFill>
                <a:latin typeface="Meiryo UI" pitchFamily="34" charset="0"/>
                <a:ea typeface="Meiryo UI" pitchFamily="34" charset="-122"/>
                <a:cs typeface="Meiryo UI" pitchFamily="34" charset="-120"/>
              </a:rPr>
              <a:t>外部に受け口を公開しないため、セキュリティ上の論点が少ない</a:t>
            </a:r>
            <a:endParaRPr lang="en-US" sz="900" dirty="0"/>
          </a:p>
          <a:p>
            <a:pPr marL="152400" indent="-152400">
              <a:spcAft>
                <a:spcPts val="100"/>
              </a:spcAft>
              <a:buSzPct val="100000"/>
              <a:buChar char="•"/>
            </a:pPr>
            <a:r>
              <a:rPr lang="en-US" sz="900" dirty="0">
                <a:solidFill>
                  <a:srgbClr val="2B2B2B"/>
                </a:solidFill>
                <a:latin typeface="Meiryo UI" pitchFamily="34" charset="0"/>
                <a:ea typeface="Meiryo UI" pitchFamily="34" charset="-122"/>
                <a:cs typeface="Meiryo UI" pitchFamily="34" charset="-120"/>
              </a:rPr>
              <a:t>壊れにくい</a:t>
            </a:r>
            <a:endParaRPr lang="en-US" sz="900" dirty="0"/>
          </a:p>
          <a:p>
            <a:pPr marL="152400" indent="-152400">
              <a:spcAft>
                <a:spcPts val="100"/>
              </a:spcAft>
              <a:buSzPct val="100000"/>
              <a:buChar char="•"/>
            </a:pPr>
            <a:r>
              <a:rPr lang="en-US" sz="900" dirty="0">
                <a:solidFill>
                  <a:srgbClr val="2B2B2B"/>
                </a:solidFill>
                <a:latin typeface="Meiryo UI" pitchFamily="34" charset="0"/>
                <a:ea typeface="Meiryo UI" pitchFamily="34" charset="-122"/>
                <a:cs typeface="Meiryo UI" pitchFamily="34" charset="-120"/>
              </a:rPr>
              <a:t>定期実行はAirtableのオートメーション（定時）、Cloud Scheduler、iPaaSでも仕組み上は可能</a:t>
            </a:r>
            <a:endParaRPr lang="en-US" sz="900" dirty="0"/>
          </a:p>
        </p:txBody>
      </p:sp>
      <p:sp>
        <p:nvSpPr>
          <p:cNvPr id="74" name="Shape 66"/>
          <p:cNvSpPr/>
          <p:nvPr/>
        </p:nvSpPr>
        <p:spPr>
          <a:xfrm>
            <a:off x="8010144" y="4754880"/>
            <a:ext cx="3602736" cy="1600200"/>
          </a:xfrm>
          <a:prstGeom prst="roundRect">
            <a:avLst>
              <a:gd name="adj" fmla="val 3429"/>
            </a:avLst>
          </a:prstGeom>
          <a:solidFill>
            <a:srgbClr val="F3F5F8"/>
          </a:solidFill>
          <a:ln/>
        </p:spPr>
      </p:sp>
      <p:sp>
        <p:nvSpPr>
          <p:cNvPr id="75" name="Shape 67"/>
          <p:cNvSpPr/>
          <p:nvPr/>
        </p:nvSpPr>
        <p:spPr>
          <a:xfrm>
            <a:off x="8147304" y="4873752"/>
            <a:ext cx="384048" cy="384048"/>
          </a:xfrm>
          <a:prstGeom prst="ellipse">
            <a:avLst/>
          </a:prstGeom>
          <a:solidFill>
            <a:srgbClr val="FFFFFF"/>
          </a:solidFill>
          <a:ln/>
        </p:spPr>
      </p:sp>
      <p:pic>
        <p:nvPicPr>
          <p:cNvPr id="76" name="Image 6" descr="preencoded.png">    </p:cNvPr>
          <p:cNvPicPr>
            <a:picLocks noChangeAspect="1"/>
          </p:cNvPicPr>
          <p:nvPr/>
        </p:nvPicPr>
        <p:blipFill>
          <a:blip r:embed="rId7"/>
          <a:stretch>
            <a:fillRect/>
          </a:stretch>
        </p:blipFill>
        <p:spPr>
          <a:xfrm>
            <a:off x="8224114" y="4950562"/>
            <a:ext cx="230429" cy="230429"/>
          </a:xfrm>
          <a:prstGeom prst="rect">
            <a:avLst/>
          </a:prstGeom>
        </p:spPr>
      </p:pic>
      <p:sp>
        <p:nvSpPr>
          <p:cNvPr id="77" name="Text 68"/>
          <p:cNvSpPr txBox="1"/>
          <p:nvPr/>
        </p:nvSpPr>
        <p:spPr>
          <a:xfrm>
            <a:off x="8604504" y="4873752"/>
            <a:ext cx="2916936" cy="384048"/>
          </a:xfrm>
          <a:prstGeom prst="rect">
            <a:avLst/>
          </a:prstGeom>
          <a:noFill/>
          <a:ln/>
        </p:spPr>
        <p:txBody>
          <a:bodyPr wrap="square" lIns="0" tIns="0" rIns="0" bIns="0" rtlCol="0" anchor="ctr"/>
          <a:lstStyle/>
          <a:p>
            <a:pPr indent="0" marL="0">
              <a:buNone/>
            </a:pPr>
            <a:r>
              <a:rPr lang="en-US" sz="1100" b="1" dirty="0">
                <a:solidFill>
                  <a:srgbClr val="1B2A49"/>
                </a:solidFill>
                <a:latin typeface="Meiryo UI" pitchFamily="34" charset="0"/>
                <a:ea typeface="Meiryo UI" pitchFamily="34" charset="-122"/>
                <a:cs typeface="Meiryo UI" pitchFamily="34" charset="-120"/>
              </a:rPr>
              <a:t>制約・留意点</a:t>
            </a:r>
            <a:endParaRPr lang="en-US" sz="1100" dirty="0"/>
          </a:p>
        </p:txBody>
      </p:sp>
      <p:sp>
        <p:nvSpPr>
          <p:cNvPr id="78" name="Text 69"/>
          <p:cNvSpPr txBox="1"/>
          <p:nvPr/>
        </p:nvSpPr>
        <p:spPr>
          <a:xfrm>
            <a:off x="8193024" y="5358384"/>
            <a:ext cx="3282696" cy="905256"/>
          </a:xfrm>
          <a:prstGeom prst="rect">
            <a:avLst/>
          </a:prstGeom>
          <a:noFill/>
          <a:ln/>
        </p:spPr>
        <p:txBody>
          <a:bodyPr wrap="square" lIns="254" tIns="254" rIns="254" bIns="254" rtlCol="0" anchor="t"/>
          <a:lstStyle/>
          <a:p>
            <a:pPr marL="152400" indent="-152400">
              <a:spcAft>
                <a:spcPts val="100"/>
              </a:spcAft>
              <a:buSzPct val="100000"/>
              <a:buChar char="•"/>
            </a:pPr>
            <a:r>
              <a:rPr lang="en-US" sz="900" dirty="0">
                <a:solidFill>
                  <a:srgbClr val="2B2B2B"/>
                </a:solidFill>
                <a:latin typeface="Meiryo UI" pitchFamily="34" charset="0"/>
                <a:ea typeface="Meiryo UI" pitchFamily="34" charset="-122"/>
                <a:cs typeface="Meiryo UI" pitchFamily="34" charset="-120"/>
              </a:rPr>
              <a:t>即時性は実行間隔による（数分〜）</a:t>
            </a:r>
            <a:endParaRPr lang="en-US" sz="900" dirty="0"/>
          </a:p>
          <a:p>
            <a:pPr marL="152400" indent="-152400">
              <a:spcAft>
                <a:spcPts val="100"/>
              </a:spcAft>
              <a:buSzPct val="100000"/>
              <a:buChar char="•"/>
            </a:pPr>
            <a:r>
              <a:rPr lang="en-US" sz="900" dirty="0">
                <a:solidFill>
                  <a:srgbClr val="2B2B2B"/>
                </a:solidFill>
                <a:latin typeface="Meiryo UI" pitchFamily="34" charset="0"/>
                <a:ea typeface="Meiryo UI" pitchFamily="34" charset="-122"/>
                <a:cs typeface="Meiryo UI" pitchFamily="34" charset="-120"/>
              </a:rPr>
              <a:t>二重実行の防止（ステータスの管理）が必要</a:t>
            </a:r>
            <a:endParaRPr lang="en-US" sz="900" dirty="0"/>
          </a:p>
          <a:p>
            <a:pPr marL="152400" indent="-152400">
              <a:spcAft>
                <a:spcPts val="100"/>
              </a:spcAft>
              <a:buSzPct val="100000"/>
              <a:buChar char="•"/>
            </a:pPr>
            <a:r>
              <a:rPr lang="en-US" sz="900" dirty="0">
                <a:solidFill>
                  <a:srgbClr val="2B2B2B"/>
                </a:solidFill>
                <a:latin typeface="Meiryo UI" pitchFamily="34" charset="0"/>
                <a:ea typeface="Meiryo UI" pitchFamily="34" charset="-122"/>
                <a:cs typeface="Meiryo UI" pitchFamily="34" charset="-120"/>
              </a:rPr>
              <a:t>1回の実行で処理する件数の上限を決めておく（APIは1ベースあたり毎秒5リクエストまで）</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レベル3〜4：確認を挟む・Airtable側が起点</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P9はP7と同じ「フローが主役」の使い方で、起動のきっかけが定期実行ではなくAirtableの操作である点が違う</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3. パターン別の詳細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15</a:t>
            </a:r>
            <a:endParaRPr lang="en-US" sz="900" dirty="0"/>
          </a:p>
        </p:txBody>
      </p:sp>
      <p:sp>
        <p:nvSpPr>
          <p:cNvPr id="6" name="Shape 4"/>
          <p:cNvSpPr/>
          <p:nvPr/>
        </p:nvSpPr>
        <p:spPr>
          <a:xfrm>
            <a:off x="548640" y="1371600"/>
            <a:ext cx="3593592" cy="4983480"/>
          </a:xfrm>
          <a:prstGeom prst="roundRect">
            <a:avLst>
              <a:gd name="adj" fmla="val 1272"/>
            </a:avLst>
          </a:prstGeom>
          <a:solidFill>
            <a:srgbClr val="F3F5F8"/>
          </a:solidFill>
          <a:ln/>
        </p:spPr>
      </p:sp>
      <p:sp>
        <p:nvSpPr>
          <p:cNvPr id="7" name="Shape 5"/>
          <p:cNvSpPr/>
          <p:nvPr/>
        </p:nvSpPr>
        <p:spPr>
          <a:xfrm>
            <a:off x="658368" y="1481328"/>
            <a:ext cx="457200" cy="457200"/>
          </a:xfrm>
          <a:prstGeom prst="ellipse">
            <a:avLst/>
          </a:prstGeom>
          <a:solidFill>
            <a:srgbClr val="0E9F9A"/>
          </a:solidFill>
          <a:ln/>
        </p:spPr>
      </p:sp>
      <p:sp>
        <p:nvSpPr>
          <p:cNvPr id="8" name="Text 6"/>
          <p:cNvSpPr txBox="1"/>
          <p:nvPr/>
        </p:nvSpPr>
        <p:spPr>
          <a:xfrm>
            <a:off x="658368" y="1481328"/>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P8</a:t>
            </a:r>
            <a:endParaRPr lang="en-US" sz="1100" dirty="0"/>
          </a:p>
        </p:txBody>
      </p:sp>
      <p:sp>
        <p:nvSpPr>
          <p:cNvPr id="9" name="Text 7"/>
          <p:cNvSpPr txBox="1"/>
          <p:nvPr/>
        </p:nvSpPr>
        <p:spPr>
          <a:xfrm>
            <a:off x="1188720" y="1426464"/>
            <a:ext cx="2862072" cy="512064"/>
          </a:xfrm>
          <a:prstGeom prst="rect">
            <a:avLst/>
          </a:prstGeom>
          <a:noFill/>
          <a:ln/>
        </p:spPr>
        <p:txBody>
          <a:bodyPr wrap="square" lIns="0" tIns="0" rIns="0" bIns="0" rtlCol="0" anchor="ctr"/>
          <a:lstStyle/>
          <a:p>
            <a:pPr indent="0" marL="0">
              <a:buNone/>
            </a:pPr>
            <a:r>
              <a:rPr lang="en-US" sz="1100" b="1" dirty="0">
                <a:solidFill>
                  <a:srgbClr val="1B2A49"/>
                </a:solidFill>
                <a:latin typeface="Meiryo UI" pitchFamily="34" charset="0"/>
                <a:ea typeface="Meiryo UI" pitchFamily="34" charset="-122"/>
                <a:cs typeface="Meiryo UI" pitchFamily="34" charset="-120"/>
              </a:rPr>
              <a:t>P7に、Teamsでの確認・承認を挟む</a:t>
            </a:r>
            <a:endParaRPr lang="en-US" sz="1100" dirty="0"/>
          </a:p>
        </p:txBody>
      </p:sp>
      <p:sp>
        <p:nvSpPr>
          <p:cNvPr id="10" name="Text 8"/>
          <p:cNvSpPr txBox="1"/>
          <p:nvPr/>
        </p:nvSpPr>
        <p:spPr>
          <a:xfrm>
            <a:off x="1188720" y="1938528"/>
            <a:ext cx="2862072" cy="219456"/>
          </a:xfrm>
          <a:prstGeom prst="rect">
            <a:avLst/>
          </a:prstGeom>
          <a:noFill/>
          <a:ln/>
        </p:spPr>
        <p:txBody>
          <a:bodyPr wrap="square" lIns="0" tIns="0" rIns="0" bIns="0" rtlCol="0" anchor="ctr"/>
          <a:lstStyle/>
          <a:p>
            <a:pPr indent="0" marL="0">
              <a:buNone/>
            </a:pPr>
            <a:r>
              <a:rPr lang="en-US" sz="850" dirty="0">
                <a:solidFill>
                  <a:srgbClr val="6B7280"/>
                </a:solidFill>
                <a:latin typeface="Meiryo UI" pitchFamily="34" charset="0"/>
                <a:ea typeface="Meiryo UI" pitchFamily="34" charset="-122"/>
                <a:cs typeface="Meiryo UI" pitchFamily="34" charset="-120"/>
              </a:rPr>
              <a:t>レベル3：M365起点　難易度 </a:t>
            </a:r>
            <a:pPr indent="0" marL="0">
              <a:buNone/>
            </a:pPr>
            <a:r>
              <a:rPr lang="en-US" sz="850" b="1" dirty="0">
                <a:solidFill>
                  <a:srgbClr val="E8912D"/>
                </a:solidFill>
                <a:latin typeface="Meiryo UI" pitchFamily="34" charset="0"/>
                <a:ea typeface="Meiryo UI" pitchFamily="34" charset="-122"/>
                <a:cs typeface="Meiryo UI" pitchFamily="34" charset="-120"/>
              </a:rPr>
              <a:t>★★★</a:t>
            </a:r>
            <a:endParaRPr lang="en-US" sz="850" dirty="0"/>
          </a:p>
        </p:txBody>
      </p:sp>
      <p:sp>
        <p:nvSpPr>
          <p:cNvPr id="11" name="Shape 9"/>
          <p:cNvSpPr/>
          <p:nvPr/>
        </p:nvSpPr>
        <p:spPr>
          <a:xfrm>
            <a:off x="658368" y="2231136"/>
            <a:ext cx="3374136" cy="868680"/>
          </a:xfrm>
          <a:prstGeom prst="roundRect">
            <a:avLst>
              <a:gd name="adj" fmla="val 5263"/>
            </a:avLst>
          </a:prstGeom>
          <a:solidFill>
            <a:srgbClr val="FFFFFF"/>
          </a:solidFill>
          <a:ln w="12700">
            <a:solidFill>
              <a:srgbClr val="D5DBE3"/>
            </a:solidFill>
            <a:prstDash val="solid"/>
          </a:ln>
        </p:spPr>
      </p:sp>
      <p:pic>
        <p:nvPicPr>
          <p:cNvPr id="12" name="Image 0" descr="preencoded.png">    </p:cNvPr>
          <p:cNvPicPr>
            <a:picLocks noChangeAspect="1"/>
          </p:cNvPicPr>
          <p:nvPr/>
        </p:nvPicPr>
        <p:blipFill>
          <a:blip r:embed="rId1"/>
          <a:stretch>
            <a:fillRect/>
          </a:stretch>
        </p:blipFill>
        <p:spPr>
          <a:xfrm>
            <a:off x="945261" y="2304288"/>
            <a:ext cx="310896" cy="310896"/>
          </a:xfrm>
          <a:prstGeom prst="rect">
            <a:avLst/>
          </a:prstGeom>
        </p:spPr>
      </p:pic>
      <p:sp>
        <p:nvSpPr>
          <p:cNvPr id="13" name="Text 10"/>
          <p:cNvSpPr txBox="1"/>
          <p:nvPr/>
        </p:nvSpPr>
        <p:spPr>
          <a:xfrm>
            <a:off x="713232" y="2642616"/>
            <a:ext cx="774954" cy="402336"/>
          </a:xfrm>
          <a:prstGeom prst="rect">
            <a:avLst/>
          </a:prstGeom>
          <a:noFill/>
          <a:ln/>
        </p:spPr>
        <p:txBody>
          <a:bodyPr wrap="square" lIns="0" tIns="0" rIns="0" bIns="0" rtlCol="0" anchor="t"/>
          <a:lstStyle/>
          <a:p>
            <a:pPr algn="ctr" indent="0" marL="0">
              <a:buNone/>
            </a:pPr>
            <a:r>
              <a:rPr lang="en-US" sz="650" b="1" dirty="0">
                <a:solidFill>
                  <a:srgbClr val="6B7280"/>
                </a:solidFill>
                <a:latin typeface="Meiryo UI" pitchFamily="34" charset="0"/>
                <a:ea typeface="Meiryo UI" pitchFamily="34" charset="-122"/>
                <a:cs typeface="Meiryo UI" pitchFamily="34" charset="-120"/>
              </a:rPr>
              <a:t>Power Automate</a:t>
            </a:r>
            <a:endParaRPr lang="en-US" sz="650" dirty="0"/>
          </a:p>
          <a:p>
            <a:pPr algn="ctr" indent="0" marL="0">
              <a:buNone/>
            </a:pPr>
            <a:r>
              <a:rPr lang="en-US" sz="600" dirty="0">
                <a:solidFill>
                  <a:srgbClr val="8C95A3"/>
                </a:solidFill>
                <a:latin typeface="Meiryo UI" pitchFamily="34" charset="0"/>
                <a:ea typeface="Meiryo UI" pitchFamily="34" charset="-122"/>
                <a:cs typeface="Meiryo UI" pitchFamily="34" charset="-120"/>
              </a:rPr>
              <a:t>P7で下書き生成</a:t>
            </a:r>
            <a:endParaRPr lang="en-US" sz="650" dirty="0"/>
          </a:p>
        </p:txBody>
      </p:sp>
      <p:sp>
        <p:nvSpPr>
          <p:cNvPr id="14" name="Shape 11"/>
          <p:cNvSpPr/>
          <p:nvPr/>
        </p:nvSpPr>
        <p:spPr>
          <a:xfrm>
            <a:off x="1329309" y="2459736"/>
            <a:ext cx="372618" cy="0"/>
          </a:xfrm>
          <a:prstGeom prst="line">
            <a:avLst/>
          </a:prstGeom>
          <a:noFill/>
          <a:ln w="15875">
            <a:solidFill>
              <a:srgbClr val="1B2A49"/>
            </a:solidFill>
            <a:prstDash val="solid"/>
            <a:tailEnd type="triangle"/>
          </a:ln>
        </p:spPr>
      </p:sp>
      <p:pic>
        <p:nvPicPr>
          <p:cNvPr id="15" name="Image 1" descr="preencoded.png">    </p:cNvPr>
          <p:cNvPicPr>
            <a:picLocks noChangeAspect="1"/>
          </p:cNvPicPr>
          <p:nvPr/>
        </p:nvPicPr>
        <p:blipFill>
          <a:blip r:embed="rId2"/>
          <a:stretch>
            <a:fillRect/>
          </a:stretch>
        </p:blipFill>
        <p:spPr>
          <a:xfrm>
            <a:off x="1775079" y="2304288"/>
            <a:ext cx="310896" cy="310896"/>
          </a:xfrm>
          <a:prstGeom prst="rect">
            <a:avLst/>
          </a:prstGeom>
        </p:spPr>
      </p:pic>
      <p:sp>
        <p:nvSpPr>
          <p:cNvPr id="16" name="Text 12"/>
          <p:cNvSpPr txBox="1"/>
          <p:nvPr/>
        </p:nvSpPr>
        <p:spPr>
          <a:xfrm>
            <a:off x="1543050" y="2642616"/>
            <a:ext cx="774954" cy="402336"/>
          </a:xfrm>
          <a:prstGeom prst="rect">
            <a:avLst/>
          </a:prstGeom>
          <a:noFill/>
          <a:ln/>
        </p:spPr>
        <p:txBody>
          <a:bodyPr wrap="square" lIns="0" tIns="0" rIns="0" bIns="0" rtlCol="0" anchor="t"/>
          <a:lstStyle/>
          <a:p>
            <a:pPr algn="ctr" indent="0" marL="0">
              <a:buNone/>
            </a:pPr>
            <a:r>
              <a:rPr lang="en-US" sz="650" b="1" dirty="0">
                <a:solidFill>
                  <a:srgbClr val="6B7280"/>
                </a:solidFill>
                <a:latin typeface="Meiryo UI" pitchFamily="34" charset="0"/>
                <a:ea typeface="Meiryo UI" pitchFamily="34" charset="-122"/>
                <a:cs typeface="Meiryo UI" pitchFamily="34" charset="-120"/>
              </a:rPr>
              <a:t>Teams</a:t>
            </a:r>
            <a:endParaRPr lang="en-US" sz="650" dirty="0"/>
          </a:p>
          <a:p>
            <a:pPr algn="ctr" indent="0" marL="0">
              <a:buNone/>
            </a:pPr>
            <a:r>
              <a:rPr lang="en-US" sz="600" dirty="0">
                <a:solidFill>
                  <a:srgbClr val="8C95A3"/>
                </a:solidFill>
                <a:latin typeface="Meiryo UI" pitchFamily="34" charset="0"/>
                <a:ea typeface="Meiryo UI" pitchFamily="34" charset="-122"/>
                <a:cs typeface="Meiryo UI" pitchFamily="34" charset="-120"/>
              </a:rPr>
              <a:t>承認・カード</a:t>
            </a:r>
            <a:endParaRPr lang="en-US" sz="650" dirty="0"/>
          </a:p>
        </p:txBody>
      </p:sp>
      <p:sp>
        <p:nvSpPr>
          <p:cNvPr id="17" name="Shape 13"/>
          <p:cNvSpPr/>
          <p:nvPr/>
        </p:nvSpPr>
        <p:spPr>
          <a:xfrm>
            <a:off x="2159127" y="2459736"/>
            <a:ext cx="372618" cy="0"/>
          </a:xfrm>
          <a:prstGeom prst="line">
            <a:avLst/>
          </a:prstGeom>
          <a:noFill/>
          <a:ln w="15875">
            <a:solidFill>
              <a:srgbClr val="1B2A49"/>
            </a:solidFill>
            <a:prstDash val="solid"/>
            <a:tailEnd type="triangle"/>
          </a:ln>
        </p:spPr>
      </p:sp>
      <p:pic>
        <p:nvPicPr>
          <p:cNvPr id="18" name="Image 2" descr="preencoded.png">    </p:cNvPr>
          <p:cNvPicPr>
            <a:picLocks noChangeAspect="1"/>
          </p:cNvPicPr>
          <p:nvPr/>
        </p:nvPicPr>
        <p:blipFill>
          <a:blip r:embed="rId3"/>
          <a:stretch>
            <a:fillRect/>
          </a:stretch>
        </p:blipFill>
        <p:spPr>
          <a:xfrm>
            <a:off x="2604897" y="2304288"/>
            <a:ext cx="310896" cy="310896"/>
          </a:xfrm>
          <a:prstGeom prst="rect">
            <a:avLst/>
          </a:prstGeom>
        </p:spPr>
      </p:pic>
      <p:sp>
        <p:nvSpPr>
          <p:cNvPr id="19" name="Text 14"/>
          <p:cNvSpPr txBox="1"/>
          <p:nvPr/>
        </p:nvSpPr>
        <p:spPr>
          <a:xfrm>
            <a:off x="2372868" y="2642616"/>
            <a:ext cx="774954" cy="402336"/>
          </a:xfrm>
          <a:prstGeom prst="rect">
            <a:avLst/>
          </a:prstGeom>
          <a:noFill/>
          <a:ln/>
        </p:spPr>
        <p:txBody>
          <a:bodyPr wrap="square" lIns="0" tIns="0" rIns="0" bIns="0" rtlCol="0" anchor="t"/>
          <a:lstStyle/>
          <a:p>
            <a:pPr algn="ctr" indent="0" marL="0">
              <a:buNone/>
            </a:pPr>
            <a:r>
              <a:rPr lang="en-US" sz="650" b="1" dirty="0">
                <a:solidFill>
                  <a:srgbClr val="6B7280"/>
                </a:solidFill>
                <a:latin typeface="Meiryo UI" pitchFamily="34" charset="0"/>
                <a:ea typeface="Meiryo UI" pitchFamily="34" charset="-122"/>
                <a:cs typeface="Meiryo UI" pitchFamily="34" charset="-120"/>
              </a:rPr>
              <a:t>担当者</a:t>
            </a:r>
            <a:endParaRPr lang="en-US" sz="650" dirty="0"/>
          </a:p>
          <a:p>
            <a:pPr algn="ctr" indent="0" marL="0">
              <a:buNone/>
            </a:pPr>
            <a:r>
              <a:rPr lang="en-US" sz="600" dirty="0">
                <a:solidFill>
                  <a:srgbClr val="8C95A3"/>
                </a:solidFill>
                <a:latin typeface="Meiryo UI" pitchFamily="34" charset="0"/>
                <a:ea typeface="Meiryo UI" pitchFamily="34" charset="-122"/>
                <a:cs typeface="Meiryo UI" pitchFamily="34" charset="-120"/>
              </a:rPr>
              <a:t>承認</a:t>
            </a:r>
            <a:endParaRPr lang="en-US" sz="650" dirty="0"/>
          </a:p>
        </p:txBody>
      </p:sp>
      <p:sp>
        <p:nvSpPr>
          <p:cNvPr id="20" name="Shape 15"/>
          <p:cNvSpPr/>
          <p:nvPr/>
        </p:nvSpPr>
        <p:spPr>
          <a:xfrm>
            <a:off x="2988945" y="2459736"/>
            <a:ext cx="372618" cy="0"/>
          </a:xfrm>
          <a:prstGeom prst="line">
            <a:avLst/>
          </a:prstGeom>
          <a:noFill/>
          <a:ln w="15875">
            <a:solidFill>
              <a:srgbClr val="1B2A49"/>
            </a:solidFill>
            <a:prstDash val="solid"/>
            <a:tailEnd type="triangle"/>
          </a:ln>
        </p:spPr>
      </p:sp>
      <p:pic>
        <p:nvPicPr>
          <p:cNvPr id="21" name="Image 3" descr="preencoded.png">    </p:cNvPr>
          <p:cNvPicPr>
            <a:picLocks noChangeAspect="1"/>
          </p:cNvPicPr>
          <p:nvPr/>
        </p:nvPicPr>
        <p:blipFill>
          <a:blip r:embed="rId4"/>
          <a:stretch>
            <a:fillRect/>
          </a:stretch>
        </p:blipFill>
        <p:spPr>
          <a:xfrm>
            <a:off x="3434715" y="2304288"/>
            <a:ext cx="310896" cy="310896"/>
          </a:xfrm>
          <a:prstGeom prst="rect">
            <a:avLst/>
          </a:prstGeom>
        </p:spPr>
      </p:pic>
      <p:sp>
        <p:nvSpPr>
          <p:cNvPr id="22" name="Text 16"/>
          <p:cNvSpPr txBox="1"/>
          <p:nvPr/>
        </p:nvSpPr>
        <p:spPr>
          <a:xfrm>
            <a:off x="3202686" y="2642616"/>
            <a:ext cx="774954" cy="402336"/>
          </a:xfrm>
          <a:prstGeom prst="rect">
            <a:avLst/>
          </a:prstGeom>
          <a:noFill/>
          <a:ln/>
        </p:spPr>
        <p:txBody>
          <a:bodyPr wrap="square" lIns="0" tIns="0" rIns="0" bIns="0" rtlCol="0" anchor="t"/>
          <a:lstStyle/>
          <a:p>
            <a:pPr algn="ctr" indent="0" marL="0">
              <a:buNone/>
            </a:pPr>
            <a:r>
              <a:rPr lang="en-US" sz="650" b="1" dirty="0">
                <a:solidFill>
                  <a:srgbClr val="6B7280"/>
                </a:solidFill>
                <a:latin typeface="Meiryo UI" pitchFamily="34" charset="0"/>
                <a:ea typeface="Meiryo UI" pitchFamily="34" charset="-122"/>
                <a:cs typeface="Meiryo UI" pitchFamily="34" charset="-120"/>
              </a:rPr>
              <a:t>Airtable</a:t>
            </a:r>
            <a:endParaRPr lang="en-US" sz="650" dirty="0"/>
          </a:p>
          <a:p>
            <a:pPr algn="ctr" indent="0" marL="0">
              <a:buNone/>
            </a:pPr>
            <a:r>
              <a:rPr lang="en-US" sz="600" dirty="0">
                <a:solidFill>
                  <a:srgbClr val="8C95A3"/>
                </a:solidFill>
                <a:latin typeface="Meiryo UI" pitchFamily="34" charset="0"/>
                <a:ea typeface="Meiryo UI" pitchFamily="34" charset="-122"/>
                <a:cs typeface="Meiryo UI" pitchFamily="34" charset="-120"/>
              </a:rPr>
              <a:t>書込・確定</a:t>
            </a:r>
            <a:endParaRPr lang="en-US" sz="650" dirty="0"/>
          </a:p>
        </p:txBody>
      </p:sp>
      <p:sp>
        <p:nvSpPr>
          <p:cNvPr id="23" name="Text 17"/>
          <p:cNvSpPr txBox="1"/>
          <p:nvPr/>
        </p:nvSpPr>
        <p:spPr>
          <a:xfrm>
            <a:off x="685800" y="3200400"/>
            <a:ext cx="3319272" cy="3081528"/>
          </a:xfrm>
          <a:prstGeom prst="rect">
            <a:avLst/>
          </a:prstGeom>
          <a:noFill/>
          <a:ln/>
        </p:spPr>
        <p:txBody>
          <a:bodyPr wrap="square" lIns="254" tIns="254" rIns="254" bIns="254" rtlCol="0" anchor="t"/>
          <a:lstStyle/>
          <a:p>
            <a:pPr indent="0" marL="0">
              <a:buNone/>
            </a:pPr>
            <a:r>
              <a:rPr lang="en-US" sz="1000" b="1" dirty="0">
                <a:solidFill>
                  <a:srgbClr val="0E9F9A"/>
                </a:solidFill>
                <a:latin typeface="Meiryo UI" pitchFamily="34" charset="0"/>
                <a:ea typeface="Meiryo UI" pitchFamily="34" charset="-122"/>
                <a:cs typeface="Meiryo UI" pitchFamily="34" charset="-120"/>
              </a:rPr>
              <a:t>流れ</a:t>
            </a:r>
            <a:endParaRPr lang="en-US" sz="1000" dirty="0"/>
          </a:p>
          <a:p>
            <a:pPr indent="0" marL="0">
              <a:spcAft>
                <a:spcPts val="700"/>
              </a:spcAft>
              <a:buNone/>
            </a:pPr>
            <a:r>
              <a:rPr lang="en-US" sz="1000" dirty="0">
                <a:solidFill>
                  <a:srgbClr val="2B2B2B"/>
                </a:solidFill>
                <a:latin typeface="Meiryo UI" pitchFamily="34" charset="0"/>
                <a:ea typeface="Meiryo UI" pitchFamily="34" charset="-122"/>
                <a:cs typeface="Meiryo UI" pitchFamily="34" charset="-120"/>
              </a:rPr>
              <a:t>P7で生成した下書きを、Teamsの承認機能やアダプティブカードで担当者に送る → 承認されたらAirtableに書き込む（または下書き欄から確定欄へ移す）</a:t>
            </a:r>
            <a:endParaRPr lang="en-US" sz="1000" dirty="0"/>
          </a:p>
          <a:p>
            <a:pPr indent="0" marL="0">
              <a:buNone/>
            </a:pPr>
            <a:r>
              <a:rPr lang="en-US" sz="1000" b="1" dirty="0">
                <a:solidFill>
                  <a:srgbClr val="0E9F9A"/>
                </a:solidFill>
                <a:latin typeface="Meiryo UI" pitchFamily="34" charset="0"/>
                <a:ea typeface="Meiryo UI" pitchFamily="34" charset="-122"/>
                <a:cs typeface="Meiryo UI" pitchFamily="34" charset="-120"/>
              </a:rPr>
              <a:t>必要なもの</a:t>
            </a:r>
            <a:endParaRPr lang="en-US" sz="1000" dirty="0"/>
          </a:p>
          <a:p>
            <a:pPr indent="0" marL="0">
              <a:spcAft>
                <a:spcPts val="700"/>
              </a:spcAft>
              <a:buNone/>
            </a:pPr>
            <a:r>
              <a:rPr lang="en-US" sz="1000" dirty="0">
                <a:solidFill>
                  <a:srgbClr val="2B2B2B"/>
                </a:solidFill>
                <a:latin typeface="Meiryo UI" pitchFamily="34" charset="0"/>
                <a:ea typeface="Meiryo UI" pitchFamily="34" charset="-122"/>
                <a:cs typeface="Meiryo UI" pitchFamily="34" charset="-120"/>
              </a:rPr>
              <a:t>P7の一式、Teams承認</a:t>
            </a:r>
            <a:endParaRPr lang="en-US" sz="1000" dirty="0"/>
          </a:p>
          <a:p>
            <a:pPr indent="0" marL="0">
              <a:buNone/>
            </a:pPr>
            <a:r>
              <a:rPr lang="en-US" sz="1000" b="1" dirty="0">
                <a:solidFill>
                  <a:srgbClr val="0E9F9A"/>
                </a:solidFill>
                <a:latin typeface="Meiryo UI" pitchFamily="34" charset="0"/>
                <a:ea typeface="Meiryo UI" pitchFamily="34" charset="-122"/>
                <a:cs typeface="Meiryo UI" pitchFamily="34" charset="-120"/>
              </a:rPr>
              <a:t>長所</a:t>
            </a:r>
            <a:endParaRPr lang="en-US" sz="1000" dirty="0"/>
          </a:p>
          <a:p>
            <a:pPr indent="0" marL="0">
              <a:spcAft>
                <a:spcPts val="700"/>
              </a:spcAft>
              <a:buNone/>
            </a:pPr>
            <a:r>
              <a:rPr lang="en-US" sz="1000" dirty="0">
                <a:solidFill>
                  <a:srgbClr val="2B2B2B"/>
                </a:solidFill>
                <a:latin typeface="Meiryo UI" pitchFamily="34" charset="0"/>
                <a:ea typeface="Meiryo UI" pitchFamily="34" charset="-122"/>
                <a:cs typeface="Meiryo UI" pitchFamily="34" charset="-120"/>
              </a:rPr>
              <a:t>人の確認を必ず挟める。確定前の内容がカードに混ざらない</a:t>
            </a:r>
            <a:endParaRPr lang="en-US" sz="1000" dirty="0"/>
          </a:p>
          <a:p>
            <a:pPr indent="0" marL="0">
              <a:buNone/>
            </a:pPr>
            <a:r>
              <a:rPr lang="en-US" sz="1000" b="1" dirty="0">
                <a:solidFill>
                  <a:srgbClr val="0E9F9A"/>
                </a:solidFill>
                <a:latin typeface="Meiryo UI" pitchFamily="34" charset="0"/>
                <a:ea typeface="Meiryo UI" pitchFamily="34" charset="-122"/>
                <a:cs typeface="Meiryo UI" pitchFamily="34" charset="-120"/>
              </a:rPr>
              <a:t>制約・留意点</a:t>
            </a:r>
            <a:endParaRPr lang="en-US" sz="1000" dirty="0"/>
          </a:p>
          <a:p>
            <a:pPr indent="0" marL="0">
              <a:spcAft>
                <a:spcPts val="700"/>
              </a:spcAft>
              <a:buNone/>
            </a:pPr>
            <a:r>
              <a:rPr lang="en-US" sz="1000" dirty="0">
                <a:solidFill>
                  <a:srgbClr val="2B2B2B"/>
                </a:solidFill>
                <a:latin typeface="Meiryo UI" pitchFamily="34" charset="0"/>
                <a:ea typeface="Meiryo UI" pitchFamily="34" charset="-122"/>
                <a:cs typeface="Meiryo UI" pitchFamily="34" charset="-120"/>
              </a:rPr>
              <a:t>承認待ちの滞留の扱い。承認時の修正をどう受け付けるか</a:t>
            </a:r>
            <a:endParaRPr lang="en-US" sz="1000" dirty="0"/>
          </a:p>
        </p:txBody>
      </p:sp>
      <p:sp>
        <p:nvSpPr>
          <p:cNvPr id="24" name="Shape 18"/>
          <p:cNvSpPr/>
          <p:nvPr/>
        </p:nvSpPr>
        <p:spPr>
          <a:xfrm>
            <a:off x="4283964" y="1371600"/>
            <a:ext cx="3593592" cy="4983480"/>
          </a:xfrm>
          <a:prstGeom prst="roundRect">
            <a:avLst>
              <a:gd name="adj" fmla="val 1272"/>
            </a:avLst>
          </a:prstGeom>
          <a:solidFill>
            <a:srgbClr val="F3F5F8"/>
          </a:solidFill>
          <a:ln/>
        </p:spPr>
      </p:sp>
      <p:sp>
        <p:nvSpPr>
          <p:cNvPr id="25" name="Shape 19"/>
          <p:cNvSpPr/>
          <p:nvPr/>
        </p:nvSpPr>
        <p:spPr>
          <a:xfrm>
            <a:off x="4393692" y="1481328"/>
            <a:ext cx="457200" cy="457200"/>
          </a:xfrm>
          <a:prstGeom prst="ellipse">
            <a:avLst/>
          </a:prstGeom>
          <a:solidFill>
            <a:srgbClr val="0E9F9A"/>
          </a:solidFill>
          <a:ln/>
        </p:spPr>
      </p:sp>
      <p:sp>
        <p:nvSpPr>
          <p:cNvPr id="26" name="Text 20"/>
          <p:cNvSpPr txBox="1"/>
          <p:nvPr/>
        </p:nvSpPr>
        <p:spPr>
          <a:xfrm>
            <a:off x="4393692" y="1481328"/>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P9</a:t>
            </a:r>
            <a:endParaRPr lang="en-US" sz="1100" dirty="0"/>
          </a:p>
        </p:txBody>
      </p:sp>
      <p:sp>
        <p:nvSpPr>
          <p:cNvPr id="27" name="Text 21"/>
          <p:cNvSpPr txBox="1"/>
          <p:nvPr/>
        </p:nvSpPr>
        <p:spPr>
          <a:xfrm>
            <a:off x="4924044" y="1426464"/>
            <a:ext cx="2862072" cy="512064"/>
          </a:xfrm>
          <a:prstGeom prst="rect">
            <a:avLst/>
          </a:prstGeom>
          <a:noFill/>
          <a:ln/>
        </p:spPr>
        <p:txBody>
          <a:bodyPr wrap="square" lIns="0" tIns="0" rIns="0" bIns="0" rtlCol="0" anchor="ctr"/>
          <a:lstStyle/>
          <a:p>
            <a:pPr indent="0" marL="0">
              <a:buNone/>
            </a:pPr>
            <a:r>
              <a:rPr lang="en-US" sz="1100" b="1" dirty="0">
                <a:solidFill>
                  <a:srgbClr val="1B2A49"/>
                </a:solidFill>
                <a:latin typeface="Meiryo UI" pitchFamily="34" charset="0"/>
                <a:ea typeface="Meiryo UI" pitchFamily="34" charset="-122"/>
                <a:cs typeface="Meiryo UI" pitchFamily="34" charset="-120"/>
              </a:rPr>
              <a:t>Airtableのボタン・オートメーションから、Power Automateを呼ぶ</a:t>
            </a:r>
            <a:endParaRPr lang="en-US" sz="1100" dirty="0"/>
          </a:p>
        </p:txBody>
      </p:sp>
      <p:sp>
        <p:nvSpPr>
          <p:cNvPr id="28" name="Text 22"/>
          <p:cNvSpPr txBox="1"/>
          <p:nvPr/>
        </p:nvSpPr>
        <p:spPr>
          <a:xfrm>
            <a:off x="4924044" y="1938528"/>
            <a:ext cx="2862072" cy="219456"/>
          </a:xfrm>
          <a:prstGeom prst="rect">
            <a:avLst/>
          </a:prstGeom>
          <a:noFill/>
          <a:ln/>
        </p:spPr>
        <p:txBody>
          <a:bodyPr wrap="square" lIns="0" tIns="0" rIns="0" bIns="0" rtlCol="0" anchor="ctr"/>
          <a:lstStyle/>
          <a:p>
            <a:pPr indent="0" marL="0">
              <a:buNone/>
            </a:pPr>
            <a:r>
              <a:rPr lang="en-US" sz="850" dirty="0">
                <a:solidFill>
                  <a:srgbClr val="6B7280"/>
                </a:solidFill>
                <a:latin typeface="Meiryo UI" pitchFamily="34" charset="0"/>
                <a:ea typeface="Meiryo UI" pitchFamily="34" charset="-122"/>
                <a:cs typeface="Meiryo UI" pitchFamily="34" charset="-120"/>
              </a:rPr>
              <a:t>レベル4：Airtable起点　難易度 </a:t>
            </a:r>
            <a:pPr indent="0" marL="0">
              <a:buNone/>
            </a:pPr>
            <a:r>
              <a:rPr lang="en-US" sz="850" b="1" dirty="0">
                <a:solidFill>
                  <a:srgbClr val="E8912D"/>
                </a:solidFill>
                <a:latin typeface="Meiryo UI" pitchFamily="34" charset="0"/>
                <a:ea typeface="Meiryo UI" pitchFamily="34" charset="-122"/>
                <a:cs typeface="Meiryo UI" pitchFamily="34" charset="-120"/>
              </a:rPr>
              <a:t>★★★</a:t>
            </a:r>
            <a:endParaRPr lang="en-US" sz="850" dirty="0"/>
          </a:p>
        </p:txBody>
      </p:sp>
      <p:sp>
        <p:nvSpPr>
          <p:cNvPr id="29" name="Shape 23"/>
          <p:cNvSpPr/>
          <p:nvPr/>
        </p:nvSpPr>
        <p:spPr>
          <a:xfrm>
            <a:off x="4393692" y="2231136"/>
            <a:ext cx="3374136" cy="868680"/>
          </a:xfrm>
          <a:prstGeom prst="roundRect">
            <a:avLst>
              <a:gd name="adj" fmla="val 5263"/>
            </a:avLst>
          </a:prstGeom>
          <a:solidFill>
            <a:srgbClr val="FFFFFF"/>
          </a:solidFill>
          <a:ln w="12700">
            <a:solidFill>
              <a:srgbClr val="D5DBE3"/>
            </a:solidFill>
            <a:prstDash val="solid"/>
          </a:ln>
        </p:spPr>
      </p:sp>
      <p:pic>
        <p:nvPicPr>
          <p:cNvPr id="30" name="Image 4" descr="preencoded.png">    </p:cNvPr>
          <p:cNvPicPr>
            <a:picLocks noChangeAspect="1"/>
          </p:cNvPicPr>
          <p:nvPr/>
        </p:nvPicPr>
        <p:blipFill>
          <a:blip r:embed="rId5"/>
          <a:stretch>
            <a:fillRect/>
          </a:stretch>
        </p:blipFill>
        <p:spPr>
          <a:xfrm>
            <a:off x="4680585" y="2304288"/>
            <a:ext cx="310896" cy="310896"/>
          </a:xfrm>
          <a:prstGeom prst="rect">
            <a:avLst/>
          </a:prstGeom>
        </p:spPr>
      </p:pic>
      <p:sp>
        <p:nvSpPr>
          <p:cNvPr id="31" name="Text 24"/>
          <p:cNvSpPr txBox="1"/>
          <p:nvPr/>
        </p:nvSpPr>
        <p:spPr>
          <a:xfrm>
            <a:off x="4448556" y="2642616"/>
            <a:ext cx="774954" cy="402336"/>
          </a:xfrm>
          <a:prstGeom prst="rect">
            <a:avLst/>
          </a:prstGeom>
          <a:noFill/>
          <a:ln/>
        </p:spPr>
        <p:txBody>
          <a:bodyPr wrap="square" lIns="0" tIns="0" rIns="0" bIns="0" rtlCol="0" anchor="t"/>
          <a:lstStyle/>
          <a:p>
            <a:pPr algn="ctr" indent="0" marL="0">
              <a:buNone/>
            </a:pPr>
            <a:r>
              <a:rPr lang="en-US" sz="650" b="1" dirty="0">
                <a:solidFill>
                  <a:srgbClr val="6B7280"/>
                </a:solidFill>
                <a:latin typeface="Meiryo UI" pitchFamily="34" charset="0"/>
                <a:ea typeface="Meiryo UI" pitchFamily="34" charset="-122"/>
                <a:cs typeface="Meiryo UI" pitchFamily="34" charset="-120"/>
              </a:rPr>
              <a:t>Airtable</a:t>
            </a:r>
            <a:endParaRPr lang="en-US" sz="650" dirty="0"/>
          </a:p>
          <a:p>
            <a:pPr algn="ctr" indent="0" marL="0">
              <a:buNone/>
            </a:pPr>
            <a:r>
              <a:rPr lang="en-US" sz="600" dirty="0">
                <a:solidFill>
                  <a:srgbClr val="8C95A3"/>
                </a:solidFill>
                <a:latin typeface="Meiryo UI" pitchFamily="34" charset="0"/>
                <a:ea typeface="Meiryo UI" pitchFamily="34" charset="-122"/>
                <a:cs typeface="Meiryo UI" pitchFamily="34" charset="-120"/>
              </a:rPr>
              <a:t>ボタン・スクリプト</a:t>
            </a:r>
            <a:endParaRPr lang="en-US" sz="650" dirty="0"/>
          </a:p>
        </p:txBody>
      </p:sp>
      <p:sp>
        <p:nvSpPr>
          <p:cNvPr id="32" name="Shape 25"/>
          <p:cNvSpPr/>
          <p:nvPr/>
        </p:nvSpPr>
        <p:spPr>
          <a:xfrm>
            <a:off x="5064633" y="2459736"/>
            <a:ext cx="372618" cy="0"/>
          </a:xfrm>
          <a:prstGeom prst="line">
            <a:avLst/>
          </a:prstGeom>
          <a:noFill/>
          <a:ln w="15875">
            <a:solidFill>
              <a:srgbClr val="1B2A49"/>
            </a:solidFill>
            <a:prstDash val="solid"/>
            <a:tailEnd type="triangle"/>
          </a:ln>
        </p:spPr>
      </p:sp>
      <p:pic>
        <p:nvPicPr>
          <p:cNvPr id="33" name="Image 5" descr="preencoded.png">    </p:cNvPr>
          <p:cNvPicPr>
            <a:picLocks noChangeAspect="1"/>
          </p:cNvPicPr>
          <p:nvPr/>
        </p:nvPicPr>
        <p:blipFill>
          <a:blip r:embed="rId6"/>
          <a:stretch>
            <a:fillRect/>
          </a:stretch>
        </p:blipFill>
        <p:spPr>
          <a:xfrm>
            <a:off x="5510403" y="2304288"/>
            <a:ext cx="310896" cy="310896"/>
          </a:xfrm>
          <a:prstGeom prst="rect">
            <a:avLst/>
          </a:prstGeom>
        </p:spPr>
      </p:pic>
      <p:sp>
        <p:nvSpPr>
          <p:cNvPr id="34" name="Text 26"/>
          <p:cNvSpPr txBox="1"/>
          <p:nvPr/>
        </p:nvSpPr>
        <p:spPr>
          <a:xfrm>
            <a:off x="5278374" y="2642616"/>
            <a:ext cx="774954" cy="402336"/>
          </a:xfrm>
          <a:prstGeom prst="rect">
            <a:avLst/>
          </a:prstGeom>
          <a:noFill/>
          <a:ln/>
        </p:spPr>
        <p:txBody>
          <a:bodyPr wrap="square" lIns="0" tIns="0" rIns="0" bIns="0" rtlCol="0" anchor="t"/>
          <a:lstStyle/>
          <a:p>
            <a:pPr algn="ctr" indent="0" marL="0">
              <a:buNone/>
            </a:pPr>
            <a:r>
              <a:rPr lang="en-US" sz="650" b="1" dirty="0">
                <a:solidFill>
                  <a:srgbClr val="6B7280"/>
                </a:solidFill>
                <a:latin typeface="Meiryo UI" pitchFamily="34" charset="0"/>
                <a:ea typeface="Meiryo UI" pitchFamily="34" charset="-122"/>
                <a:cs typeface="Meiryo UI" pitchFamily="34" charset="-120"/>
              </a:rPr>
              <a:t>Power Automate</a:t>
            </a:r>
            <a:endParaRPr lang="en-US" sz="650" dirty="0"/>
          </a:p>
          <a:p>
            <a:pPr algn="ctr" indent="0" marL="0">
              <a:buNone/>
            </a:pPr>
            <a:r>
              <a:rPr lang="en-US" sz="600" dirty="0">
                <a:solidFill>
                  <a:srgbClr val="8C95A3"/>
                </a:solidFill>
                <a:latin typeface="Meiryo UI" pitchFamily="34" charset="0"/>
                <a:ea typeface="Meiryo UI" pitchFamily="34" charset="-122"/>
                <a:cs typeface="Meiryo UI" pitchFamily="34" charset="-120"/>
              </a:rPr>
              <a:t>HTTPトリガー</a:t>
            </a:r>
            <a:endParaRPr lang="en-US" sz="650" dirty="0"/>
          </a:p>
        </p:txBody>
      </p:sp>
      <p:sp>
        <p:nvSpPr>
          <p:cNvPr id="35" name="Shape 27"/>
          <p:cNvSpPr/>
          <p:nvPr/>
        </p:nvSpPr>
        <p:spPr>
          <a:xfrm>
            <a:off x="5894451" y="2459736"/>
            <a:ext cx="372618" cy="0"/>
          </a:xfrm>
          <a:prstGeom prst="line">
            <a:avLst/>
          </a:prstGeom>
          <a:noFill/>
          <a:ln w="15875">
            <a:solidFill>
              <a:srgbClr val="1B2A49"/>
            </a:solidFill>
            <a:prstDash val="solid"/>
            <a:tailEnd type="triangle"/>
          </a:ln>
        </p:spPr>
      </p:sp>
      <p:pic>
        <p:nvPicPr>
          <p:cNvPr id="36" name="Image 6" descr="preencoded.png">    </p:cNvPr>
          <p:cNvPicPr>
            <a:picLocks noChangeAspect="1"/>
          </p:cNvPicPr>
          <p:nvPr/>
        </p:nvPicPr>
        <p:blipFill>
          <a:blip r:embed="rId7"/>
          <a:stretch>
            <a:fillRect/>
          </a:stretch>
        </p:blipFill>
        <p:spPr>
          <a:xfrm>
            <a:off x="6340221" y="2304288"/>
            <a:ext cx="310896" cy="310896"/>
          </a:xfrm>
          <a:prstGeom prst="rect">
            <a:avLst/>
          </a:prstGeom>
        </p:spPr>
      </p:pic>
      <p:sp>
        <p:nvSpPr>
          <p:cNvPr id="37" name="Text 28"/>
          <p:cNvSpPr txBox="1"/>
          <p:nvPr/>
        </p:nvSpPr>
        <p:spPr>
          <a:xfrm>
            <a:off x="6108192" y="2642616"/>
            <a:ext cx="774954" cy="402336"/>
          </a:xfrm>
          <a:prstGeom prst="rect">
            <a:avLst/>
          </a:prstGeom>
          <a:noFill/>
          <a:ln/>
        </p:spPr>
        <p:txBody>
          <a:bodyPr wrap="square" lIns="0" tIns="0" rIns="0" bIns="0" rtlCol="0" anchor="t"/>
          <a:lstStyle/>
          <a:p>
            <a:pPr algn="ctr" indent="0" marL="0">
              <a:buNone/>
            </a:pPr>
            <a:r>
              <a:rPr lang="en-US" sz="650" b="1" dirty="0">
                <a:solidFill>
                  <a:srgbClr val="6B7280"/>
                </a:solidFill>
                <a:latin typeface="Meiryo UI" pitchFamily="34" charset="0"/>
                <a:ea typeface="Meiryo UI" pitchFamily="34" charset="-122"/>
                <a:cs typeface="Meiryo UI" pitchFamily="34" charset="-120"/>
              </a:rPr>
              <a:t>Copilot Studio</a:t>
            </a:r>
            <a:endParaRPr lang="en-US" sz="650" dirty="0"/>
          </a:p>
          <a:p>
            <a:pPr algn="ctr" indent="0" marL="0">
              <a:buNone/>
            </a:pPr>
            <a:r>
              <a:rPr lang="en-US" sz="600" dirty="0">
                <a:solidFill>
                  <a:srgbClr val="8C95A3"/>
                </a:solidFill>
                <a:latin typeface="Meiryo UI" pitchFamily="34" charset="0"/>
                <a:ea typeface="Meiryo UI" pitchFamily="34" charset="-122"/>
                <a:cs typeface="Meiryo UI" pitchFamily="34" charset="-120"/>
              </a:rPr>
              <a:t>Execute Agent</a:t>
            </a:r>
            <a:endParaRPr lang="en-US" sz="650" dirty="0"/>
          </a:p>
        </p:txBody>
      </p:sp>
      <p:sp>
        <p:nvSpPr>
          <p:cNvPr id="38" name="Shape 29"/>
          <p:cNvSpPr/>
          <p:nvPr/>
        </p:nvSpPr>
        <p:spPr>
          <a:xfrm>
            <a:off x="6724269" y="2459736"/>
            <a:ext cx="372618" cy="0"/>
          </a:xfrm>
          <a:prstGeom prst="line">
            <a:avLst/>
          </a:prstGeom>
          <a:noFill/>
          <a:ln w="15875">
            <a:solidFill>
              <a:srgbClr val="1B2A49"/>
            </a:solidFill>
            <a:prstDash val="solid"/>
            <a:tailEnd type="triangle"/>
          </a:ln>
        </p:spPr>
      </p:sp>
      <p:pic>
        <p:nvPicPr>
          <p:cNvPr id="39" name="Image 7" descr="preencoded.png">    </p:cNvPr>
          <p:cNvPicPr>
            <a:picLocks noChangeAspect="1"/>
          </p:cNvPicPr>
          <p:nvPr/>
        </p:nvPicPr>
        <p:blipFill>
          <a:blip r:embed="rId8"/>
          <a:stretch>
            <a:fillRect/>
          </a:stretch>
        </p:blipFill>
        <p:spPr>
          <a:xfrm>
            <a:off x="7170039" y="2304288"/>
            <a:ext cx="310896" cy="310896"/>
          </a:xfrm>
          <a:prstGeom prst="rect">
            <a:avLst/>
          </a:prstGeom>
        </p:spPr>
      </p:pic>
      <p:sp>
        <p:nvSpPr>
          <p:cNvPr id="40" name="Text 30"/>
          <p:cNvSpPr txBox="1"/>
          <p:nvPr/>
        </p:nvSpPr>
        <p:spPr>
          <a:xfrm>
            <a:off x="6938010" y="2642616"/>
            <a:ext cx="774954" cy="402336"/>
          </a:xfrm>
          <a:prstGeom prst="rect">
            <a:avLst/>
          </a:prstGeom>
          <a:noFill/>
          <a:ln/>
        </p:spPr>
        <p:txBody>
          <a:bodyPr wrap="square" lIns="0" tIns="0" rIns="0" bIns="0" rtlCol="0" anchor="t"/>
          <a:lstStyle/>
          <a:p>
            <a:pPr algn="ctr" indent="0" marL="0">
              <a:buNone/>
            </a:pPr>
            <a:r>
              <a:rPr lang="en-US" sz="650" b="1" dirty="0">
                <a:solidFill>
                  <a:srgbClr val="6B7280"/>
                </a:solidFill>
                <a:latin typeface="Meiryo UI" pitchFamily="34" charset="0"/>
                <a:ea typeface="Meiryo UI" pitchFamily="34" charset="-122"/>
                <a:cs typeface="Meiryo UI" pitchFamily="34" charset="-120"/>
              </a:rPr>
              <a:t>Airtable</a:t>
            </a:r>
            <a:endParaRPr lang="en-US" sz="650" dirty="0"/>
          </a:p>
          <a:p>
            <a:pPr algn="ctr" indent="0" marL="0">
              <a:buNone/>
            </a:pPr>
            <a:r>
              <a:rPr lang="en-US" sz="600" dirty="0">
                <a:solidFill>
                  <a:srgbClr val="8C95A3"/>
                </a:solidFill>
                <a:latin typeface="Meiryo UI" pitchFamily="34" charset="0"/>
                <a:ea typeface="Meiryo UI" pitchFamily="34" charset="-122"/>
                <a:cs typeface="Meiryo UI" pitchFamily="34" charset="-120"/>
              </a:rPr>
              <a:t>下書きに書込</a:t>
            </a:r>
            <a:endParaRPr lang="en-US" sz="650" dirty="0"/>
          </a:p>
        </p:txBody>
      </p:sp>
      <p:sp>
        <p:nvSpPr>
          <p:cNvPr id="41" name="Text 31"/>
          <p:cNvSpPr txBox="1"/>
          <p:nvPr/>
        </p:nvSpPr>
        <p:spPr>
          <a:xfrm>
            <a:off x="4421124" y="3200400"/>
            <a:ext cx="3319272" cy="3081528"/>
          </a:xfrm>
          <a:prstGeom prst="rect">
            <a:avLst/>
          </a:prstGeom>
          <a:noFill/>
          <a:ln/>
        </p:spPr>
        <p:txBody>
          <a:bodyPr wrap="square" lIns="254" tIns="254" rIns="254" bIns="254" rtlCol="0" anchor="t"/>
          <a:lstStyle/>
          <a:p>
            <a:pPr indent="0" marL="0">
              <a:buNone/>
            </a:pPr>
            <a:r>
              <a:rPr lang="en-US" sz="950" b="1" dirty="0">
                <a:solidFill>
                  <a:srgbClr val="0E9F9A"/>
                </a:solidFill>
                <a:latin typeface="Meiryo UI" pitchFamily="34" charset="0"/>
                <a:ea typeface="Meiryo UI" pitchFamily="34" charset="-122"/>
                <a:cs typeface="Meiryo UI" pitchFamily="34" charset="-120"/>
              </a:rPr>
              <a:t>流れ</a:t>
            </a:r>
            <a:endParaRPr lang="en-US" sz="950" dirty="0"/>
          </a:p>
          <a:p>
            <a:pPr indent="0" marL="0">
              <a:spcAft>
                <a:spcPts val="700"/>
              </a:spcAft>
              <a:buNone/>
            </a:pPr>
            <a:r>
              <a:rPr lang="en-US" sz="950" dirty="0">
                <a:solidFill>
                  <a:srgbClr val="2B2B2B"/>
                </a:solidFill>
                <a:latin typeface="Meiryo UI" pitchFamily="34" charset="0"/>
                <a:ea typeface="Meiryo UI" pitchFamily="34" charset="-122"/>
                <a:cs typeface="Meiryo UI" pitchFamily="34" charset="-120"/>
              </a:rPr>
              <a:t>Airtableのボタン、またはレコード作成・条件一致をきっかけにオートメーションを実行 → スクリプトでHTTPトリガーにPOST → Power Automateが「Execute Agent and wait」でエージェントを呼ぶ → 結果を下書き欄に書き込む</a:t>
            </a:r>
            <a:endParaRPr lang="en-US" sz="950" dirty="0"/>
          </a:p>
          <a:p>
            <a:pPr indent="0" marL="0">
              <a:buNone/>
            </a:pPr>
            <a:r>
              <a:rPr lang="en-US" sz="950" b="1" dirty="0">
                <a:solidFill>
                  <a:srgbClr val="0E9F9A"/>
                </a:solidFill>
                <a:latin typeface="Meiryo UI" pitchFamily="34" charset="0"/>
                <a:ea typeface="Meiryo UI" pitchFamily="34" charset="-122"/>
                <a:cs typeface="Meiryo UI" pitchFamily="34" charset="-120"/>
              </a:rPr>
              <a:t>必要なもの</a:t>
            </a:r>
            <a:endParaRPr lang="en-US" sz="950" dirty="0"/>
          </a:p>
          <a:p>
            <a:pPr indent="0" marL="0">
              <a:spcAft>
                <a:spcPts val="700"/>
              </a:spcAft>
              <a:buNone/>
            </a:pPr>
            <a:r>
              <a:rPr lang="en-US" sz="950" dirty="0">
                <a:solidFill>
                  <a:srgbClr val="2B2B2B"/>
                </a:solidFill>
                <a:latin typeface="Meiryo UI" pitchFamily="34" charset="0"/>
                <a:ea typeface="Meiryo UI" pitchFamily="34" charset="-122"/>
                <a:cs typeface="Meiryo UI" pitchFamily="34" charset="-120"/>
              </a:rPr>
              <a:t>Airtableのオートメーション（スクリプト）、Power Automate Premium（HTTPトリガー）、Copilot Studio、PAT</a:t>
            </a:r>
            <a:endParaRPr lang="en-US" sz="950" dirty="0"/>
          </a:p>
          <a:p>
            <a:pPr indent="0" marL="0">
              <a:buNone/>
            </a:pPr>
            <a:r>
              <a:rPr lang="en-US" sz="950" b="1" dirty="0">
                <a:solidFill>
                  <a:srgbClr val="0E9F9A"/>
                </a:solidFill>
                <a:latin typeface="Meiryo UI" pitchFamily="34" charset="0"/>
                <a:ea typeface="Meiryo UI" pitchFamily="34" charset="-122"/>
                <a:cs typeface="Meiryo UI" pitchFamily="34" charset="-120"/>
              </a:rPr>
              <a:t>長所</a:t>
            </a:r>
            <a:endParaRPr lang="en-US" sz="950" dirty="0"/>
          </a:p>
          <a:p>
            <a:pPr indent="0" marL="0">
              <a:spcAft>
                <a:spcPts val="700"/>
              </a:spcAft>
              <a:buNone/>
            </a:pPr>
            <a:r>
              <a:rPr lang="en-US" sz="950" dirty="0">
                <a:solidFill>
                  <a:srgbClr val="2B2B2B"/>
                </a:solidFill>
                <a:latin typeface="Meiryo UI" pitchFamily="34" charset="0"/>
                <a:ea typeface="Meiryo UI" pitchFamily="34" charset="-122"/>
                <a:cs typeface="Meiryo UI" pitchFamily="34" charset="-120"/>
              </a:rPr>
              <a:t>Airtableの操作から数十秒〜数分で反映。Airtable側の送信は受付だけで終わるため、30秒制限に当たりにくい</a:t>
            </a:r>
            <a:endParaRPr lang="en-US" sz="950" dirty="0"/>
          </a:p>
          <a:p>
            <a:pPr indent="0" marL="0">
              <a:buNone/>
            </a:pPr>
            <a:r>
              <a:rPr lang="en-US" sz="950" b="1" dirty="0">
                <a:solidFill>
                  <a:srgbClr val="0E9F9A"/>
                </a:solidFill>
                <a:latin typeface="Meiryo UI" pitchFamily="34" charset="0"/>
                <a:ea typeface="Meiryo UI" pitchFamily="34" charset="-122"/>
                <a:cs typeface="Meiryo UI" pitchFamily="34" charset="-120"/>
              </a:rPr>
              <a:t>制約・留意点</a:t>
            </a:r>
            <a:endParaRPr lang="en-US" sz="950" dirty="0"/>
          </a:p>
          <a:p>
            <a:pPr indent="0" marL="0">
              <a:spcAft>
                <a:spcPts val="200"/>
              </a:spcAft>
              <a:buNone/>
            </a:pPr>
            <a:r>
              <a:rPr lang="en-US" sz="950" dirty="0">
                <a:solidFill>
                  <a:srgbClr val="2B2B2B"/>
                </a:solidFill>
                <a:latin typeface="Meiryo UI" pitchFamily="34" charset="0"/>
                <a:ea typeface="Meiryo UI" pitchFamily="34" charset="-122"/>
                <a:cs typeface="Meiryo UI" pitchFamily="34" charset="-120"/>
              </a:rPr>
              <a:t>・起動できる人の設定は3通り（テナント内の全員＝既定／特定のユーザー・サービスプリンシパル／Anyone＝URLだけで呼べる旧来の設定）</a:t>
            </a:r>
            <a:endParaRPr lang="en-US" sz="950" dirty="0"/>
          </a:p>
          <a:p>
            <a:pPr indent="0" marL="0">
              <a:spcAft>
                <a:spcPts val="200"/>
              </a:spcAft>
              <a:buNone/>
            </a:pPr>
            <a:r>
              <a:rPr lang="en-US" sz="950" dirty="0">
                <a:solidFill>
                  <a:srgbClr val="2B2B2B"/>
                </a:solidFill>
                <a:latin typeface="Meiryo UI" pitchFamily="34" charset="0"/>
                <a:ea typeface="Meiryo UI" pitchFamily="34" charset="-122"/>
                <a:cs typeface="Meiryo UI" pitchFamily="34" charset="-120"/>
              </a:rPr>
              <a:t>・Anyone以外では、スクリプト側でEntraのトークンを取得する（クライアントシークレットをAirtable側に置く）</a:t>
            </a:r>
            <a:endParaRPr lang="en-US" sz="950" dirty="0"/>
          </a:p>
          <a:p>
            <a:pPr indent="0" marL="0">
              <a:spcAft>
                <a:spcPts val="200"/>
              </a:spcAft>
              <a:buNone/>
            </a:pPr>
            <a:r>
              <a:rPr lang="en-US" sz="950" dirty="0">
                <a:solidFill>
                  <a:srgbClr val="2B2B2B"/>
                </a:solidFill>
                <a:latin typeface="Meiryo UI" pitchFamily="34" charset="0"/>
                <a:ea typeface="Meiryo UI" pitchFamily="34" charset="-122"/>
                <a:cs typeface="Meiryo UI" pitchFamily="34" charset="-120"/>
              </a:rPr>
              <a:t>・フローは120秒以内に応答が必要。先に受付を返して処理を続ける</a:t>
            </a:r>
            <a:endParaRPr lang="en-US" sz="950" dirty="0"/>
          </a:p>
          <a:p>
            <a:pPr indent="0" marL="0">
              <a:spcAft>
                <a:spcPts val="700"/>
              </a:spcAft>
              <a:buNone/>
            </a:pPr>
            <a:r>
              <a:rPr lang="en-US" sz="950" dirty="0">
                <a:solidFill>
                  <a:srgbClr val="2B2B2B"/>
                </a:solidFill>
                <a:latin typeface="Meiryo UI" pitchFamily="34" charset="0"/>
                <a:ea typeface="Meiryo UI" pitchFamily="34" charset="-122"/>
                <a:cs typeface="Meiryo UI" pitchFamily="34" charset="-120"/>
              </a:rPr>
              <a:t>・DLPポリシーでHTTPトリガーが禁止されていないかの確認が必要</a:t>
            </a:r>
            <a:endParaRPr lang="en-US" sz="950" dirty="0"/>
          </a:p>
        </p:txBody>
      </p:sp>
      <p:sp>
        <p:nvSpPr>
          <p:cNvPr id="42" name="Shape 32"/>
          <p:cNvSpPr/>
          <p:nvPr/>
        </p:nvSpPr>
        <p:spPr>
          <a:xfrm>
            <a:off x="8019288" y="1371600"/>
            <a:ext cx="3593592" cy="4983480"/>
          </a:xfrm>
          <a:prstGeom prst="roundRect">
            <a:avLst>
              <a:gd name="adj" fmla="val 1272"/>
            </a:avLst>
          </a:prstGeom>
          <a:solidFill>
            <a:srgbClr val="F3F5F8"/>
          </a:solidFill>
          <a:ln/>
        </p:spPr>
      </p:sp>
      <p:sp>
        <p:nvSpPr>
          <p:cNvPr id="43" name="Shape 33"/>
          <p:cNvSpPr/>
          <p:nvPr/>
        </p:nvSpPr>
        <p:spPr>
          <a:xfrm>
            <a:off x="8129016" y="1481328"/>
            <a:ext cx="457200" cy="457200"/>
          </a:xfrm>
          <a:prstGeom prst="ellipse">
            <a:avLst/>
          </a:prstGeom>
          <a:solidFill>
            <a:srgbClr val="0E9F9A"/>
          </a:solidFill>
          <a:ln/>
        </p:spPr>
      </p:sp>
      <p:sp>
        <p:nvSpPr>
          <p:cNvPr id="44" name="Text 34"/>
          <p:cNvSpPr txBox="1"/>
          <p:nvPr/>
        </p:nvSpPr>
        <p:spPr>
          <a:xfrm>
            <a:off x="8129016" y="1481328"/>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P10</a:t>
            </a:r>
            <a:endParaRPr lang="en-US" sz="1100" dirty="0"/>
          </a:p>
        </p:txBody>
      </p:sp>
      <p:sp>
        <p:nvSpPr>
          <p:cNvPr id="45" name="Text 35"/>
          <p:cNvSpPr txBox="1"/>
          <p:nvPr/>
        </p:nvSpPr>
        <p:spPr>
          <a:xfrm>
            <a:off x="8659368" y="1426464"/>
            <a:ext cx="2862072" cy="512064"/>
          </a:xfrm>
          <a:prstGeom prst="rect">
            <a:avLst/>
          </a:prstGeom>
          <a:noFill/>
          <a:ln/>
        </p:spPr>
        <p:txBody>
          <a:bodyPr wrap="square" lIns="0" tIns="0" rIns="0" bIns="0" rtlCol="0" anchor="ctr"/>
          <a:lstStyle/>
          <a:p>
            <a:pPr indent="0" marL="0">
              <a:buNone/>
            </a:pPr>
            <a:r>
              <a:rPr lang="en-US" sz="1100" b="1" dirty="0">
                <a:solidFill>
                  <a:srgbClr val="1B2A49"/>
                </a:solidFill>
                <a:latin typeface="Meiryo UI" pitchFamily="34" charset="0"/>
                <a:ea typeface="Meiryo UI" pitchFamily="34" charset="-122"/>
                <a:cs typeface="Meiryo UI" pitchFamily="34" charset="-120"/>
              </a:rPr>
              <a:t>Airtableから、Copilot Studioのエージェントを自律的に起動する</a:t>
            </a:r>
            <a:endParaRPr lang="en-US" sz="1100" dirty="0"/>
          </a:p>
        </p:txBody>
      </p:sp>
      <p:sp>
        <p:nvSpPr>
          <p:cNvPr id="46" name="Text 36"/>
          <p:cNvSpPr txBox="1"/>
          <p:nvPr/>
        </p:nvSpPr>
        <p:spPr>
          <a:xfrm>
            <a:off x="8659368" y="1938528"/>
            <a:ext cx="2862072" cy="219456"/>
          </a:xfrm>
          <a:prstGeom prst="rect">
            <a:avLst/>
          </a:prstGeom>
          <a:noFill/>
          <a:ln/>
        </p:spPr>
        <p:txBody>
          <a:bodyPr wrap="square" lIns="0" tIns="0" rIns="0" bIns="0" rtlCol="0" anchor="ctr"/>
          <a:lstStyle/>
          <a:p>
            <a:pPr indent="0" marL="0">
              <a:buNone/>
            </a:pPr>
            <a:r>
              <a:rPr lang="en-US" sz="850" dirty="0">
                <a:solidFill>
                  <a:srgbClr val="6B7280"/>
                </a:solidFill>
                <a:latin typeface="Meiryo UI" pitchFamily="34" charset="0"/>
                <a:ea typeface="Meiryo UI" pitchFamily="34" charset="-122"/>
                <a:cs typeface="Meiryo UI" pitchFamily="34" charset="-120"/>
              </a:rPr>
              <a:t>レベル4：Airtable起点　難易度 </a:t>
            </a:r>
            <a:pPr indent="0" marL="0">
              <a:buNone/>
            </a:pPr>
            <a:r>
              <a:rPr lang="en-US" sz="850" b="1" dirty="0">
                <a:solidFill>
                  <a:srgbClr val="E8912D"/>
                </a:solidFill>
                <a:latin typeface="Meiryo UI" pitchFamily="34" charset="0"/>
                <a:ea typeface="Meiryo UI" pitchFamily="34" charset="-122"/>
                <a:cs typeface="Meiryo UI" pitchFamily="34" charset="-120"/>
              </a:rPr>
              <a:t>★★★</a:t>
            </a:r>
            <a:endParaRPr lang="en-US" sz="850" dirty="0"/>
          </a:p>
        </p:txBody>
      </p:sp>
      <p:sp>
        <p:nvSpPr>
          <p:cNvPr id="47" name="Shape 37"/>
          <p:cNvSpPr/>
          <p:nvPr/>
        </p:nvSpPr>
        <p:spPr>
          <a:xfrm>
            <a:off x="8129016" y="2231136"/>
            <a:ext cx="3374136" cy="868680"/>
          </a:xfrm>
          <a:prstGeom prst="roundRect">
            <a:avLst>
              <a:gd name="adj" fmla="val 5263"/>
            </a:avLst>
          </a:prstGeom>
          <a:solidFill>
            <a:srgbClr val="FFFFFF"/>
          </a:solidFill>
          <a:ln w="12700">
            <a:solidFill>
              <a:srgbClr val="D5DBE3"/>
            </a:solidFill>
            <a:prstDash val="solid"/>
          </a:ln>
        </p:spPr>
      </p:sp>
      <p:pic>
        <p:nvPicPr>
          <p:cNvPr id="48" name="Image 8" descr="preencoded.png">    </p:cNvPr>
          <p:cNvPicPr>
            <a:picLocks noChangeAspect="1"/>
          </p:cNvPicPr>
          <p:nvPr/>
        </p:nvPicPr>
        <p:blipFill>
          <a:blip r:embed="rId9"/>
          <a:stretch>
            <a:fillRect/>
          </a:stretch>
        </p:blipFill>
        <p:spPr>
          <a:xfrm>
            <a:off x="8415909" y="2304288"/>
            <a:ext cx="310896" cy="310896"/>
          </a:xfrm>
          <a:prstGeom prst="rect">
            <a:avLst/>
          </a:prstGeom>
        </p:spPr>
      </p:pic>
      <p:sp>
        <p:nvSpPr>
          <p:cNvPr id="49" name="Text 38"/>
          <p:cNvSpPr txBox="1"/>
          <p:nvPr/>
        </p:nvSpPr>
        <p:spPr>
          <a:xfrm>
            <a:off x="8183880" y="2642616"/>
            <a:ext cx="774954" cy="402336"/>
          </a:xfrm>
          <a:prstGeom prst="rect">
            <a:avLst/>
          </a:prstGeom>
          <a:noFill/>
          <a:ln/>
        </p:spPr>
        <p:txBody>
          <a:bodyPr wrap="square" lIns="0" tIns="0" rIns="0" bIns="0" rtlCol="0" anchor="t"/>
          <a:lstStyle/>
          <a:p>
            <a:pPr algn="ctr" indent="0" marL="0">
              <a:buNone/>
            </a:pPr>
            <a:r>
              <a:rPr lang="en-US" sz="650" b="1" dirty="0">
                <a:solidFill>
                  <a:srgbClr val="6B7280"/>
                </a:solidFill>
                <a:latin typeface="Meiryo UI" pitchFamily="34" charset="0"/>
                <a:ea typeface="Meiryo UI" pitchFamily="34" charset="-122"/>
                <a:cs typeface="Meiryo UI" pitchFamily="34" charset="-120"/>
              </a:rPr>
              <a:t>Airtable</a:t>
            </a:r>
            <a:endParaRPr lang="en-US" sz="650" dirty="0"/>
          </a:p>
          <a:p>
            <a:pPr algn="ctr" indent="0" marL="0">
              <a:buNone/>
            </a:pPr>
            <a:r>
              <a:rPr lang="en-US" sz="600" dirty="0">
                <a:solidFill>
                  <a:srgbClr val="8C95A3"/>
                </a:solidFill>
                <a:latin typeface="Meiryo UI" pitchFamily="34" charset="0"/>
                <a:ea typeface="Meiryo UI" pitchFamily="34" charset="-122"/>
                <a:cs typeface="Meiryo UI" pitchFamily="34" charset="-120"/>
              </a:rPr>
              <a:t>スクリプト</a:t>
            </a:r>
            <a:endParaRPr lang="en-US" sz="650" dirty="0"/>
          </a:p>
        </p:txBody>
      </p:sp>
      <p:sp>
        <p:nvSpPr>
          <p:cNvPr id="50" name="Shape 39"/>
          <p:cNvSpPr/>
          <p:nvPr/>
        </p:nvSpPr>
        <p:spPr>
          <a:xfrm>
            <a:off x="8799957" y="2459736"/>
            <a:ext cx="372618" cy="0"/>
          </a:xfrm>
          <a:prstGeom prst="line">
            <a:avLst/>
          </a:prstGeom>
          <a:noFill/>
          <a:ln w="15875">
            <a:solidFill>
              <a:srgbClr val="1B2A49"/>
            </a:solidFill>
            <a:prstDash val="solid"/>
            <a:tailEnd type="triangle"/>
          </a:ln>
        </p:spPr>
      </p:sp>
      <p:pic>
        <p:nvPicPr>
          <p:cNvPr id="51" name="Image 9" descr="preencoded.png">    </p:cNvPr>
          <p:cNvPicPr>
            <a:picLocks noChangeAspect="1"/>
          </p:cNvPicPr>
          <p:nvPr/>
        </p:nvPicPr>
        <p:blipFill>
          <a:blip r:embed="rId10"/>
          <a:stretch>
            <a:fillRect/>
          </a:stretch>
        </p:blipFill>
        <p:spPr>
          <a:xfrm>
            <a:off x="9245727" y="2304288"/>
            <a:ext cx="310896" cy="310896"/>
          </a:xfrm>
          <a:prstGeom prst="rect">
            <a:avLst/>
          </a:prstGeom>
        </p:spPr>
      </p:pic>
      <p:sp>
        <p:nvSpPr>
          <p:cNvPr id="52" name="Text 40"/>
          <p:cNvSpPr txBox="1"/>
          <p:nvPr/>
        </p:nvSpPr>
        <p:spPr>
          <a:xfrm>
            <a:off x="9013698" y="2642616"/>
            <a:ext cx="774954" cy="402336"/>
          </a:xfrm>
          <a:prstGeom prst="rect">
            <a:avLst/>
          </a:prstGeom>
          <a:noFill/>
          <a:ln/>
        </p:spPr>
        <p:txBody>
          <a:bodyPr wrap="square" lIns="0" tIns="0" rIns="0" bIns="0" rtlCol="0" anchor="t"/>
          <a:lstStyle/>
          <a:p>
            <a:pPr algn="ctr" indent="0" marL="0">
              <a:buNone/>
            </a:pPr>
            <a:r>
              <a:rPr lang="en-US" sz="650" b="1" dirty="0">
                <a:solidFill>
                  <a:srgbClr val="6B7280"/>
                </a:solidFill>
                <a:latin typeface="Meiryo UI" pitchFamily="34" charset="0"/>
                <a:ea typeface="Meiryo UI" pitchFamily="34" charset="-122"/>
                <a:cs typeface="Meiryo UI" pitchFamily="34" charset="-120"/>
              </a:rPr>
              <a:t>Power Automate</a:t>
            </a:r>
            <a:endParaRPr lang="en-US" sz="650" dirty="0"/>
          </a:p>
          <a:p>
            <a:pPr algn="ctr" indent="0" marL="0">
              <a:buNone/>
            </a:pPr>
            <a:r>
              <a:rPr lang="en-US" sz="600" dirty="0">
                <a:solidFill>
                  <a:srgbClr val="8C95A3"/>
                </a:solidFill>
                <a:latin typeface="Meiryo UI" pitchFamily="34" charset="0"/>
                <a:ea typeface="Meiryo UI" pitchFamily="34" charset="-122"/>
                <a:cs typeface="Meiryo UI" pitchFamily="34" charset="-120"/>
              </a:rPr>
              <a:t>HTTP受信</a:t>
            </a:r>
            <a:endParaRPr lang="en-US" sz="650" dirty="0"/>
          </a:p>
        </p:txBody>
      </p:sp>
      <p:sp>
        <p:nvSpPr>
          <p:cNvPr id="53" name="Shape 41"/>
          <p:cNvSpPr/>
          <p:nvPr/>
        </p:nvSpPr>
        <p:spPr>
          <a:xfrm>
            <a:off x="9629775" y="2459736"/>
            <a:ext cx="372618" cy="0"/>
          </a:xfrm>
          <a:prstGeom prst="line">
            <a:avLst/>
          </a:prstGeom>
          <a:noFill/>
          <a:ln w="15875">
            <a:solidFill>
              <a:srgbClr val="1B2A49"/>
            </a:solidFill>
            <a:prstDash val="solid"/>
            <a:tailEnd type="triangle"/>
          </a:ln>
        </p:spPr>
      </p:sp>
      <p:pic>
        <p:nvPicPr>
          <p:cNvPr id="54" name="Image 10" descr="preencoded.png">    </p:cNvPr>
          <p:cNvPicPr>
            <a:picLocks noChangeAspect="1"/>
          </p:cNvPicPr>
          <p:nvPr/>
        </p:nvPicPr>
        <p:blipFill>
          <a:blip r:embed="rId11"/>
          <a:stretch>
            <a:fillRect/>
          </a:stretch>
        </p:blipFill>
        <p:spPr>
          <a:xfrm>
            <a:off x="10075545" y="2304288"/>
            <a:ext cx="310896" cy="310896"/>
          </a:xfrm>
          <a:prstGeom prst="rect">
            <a:avLst/>
          </a:prstGeom>
        </p:spPr>
      </p:pic>
      <p:sp>
        <p:nvSpPr>
          <p:cNvPr id="55" name="Text 42"/>
          <p:cNvSpPr txBox="1"/>
          <p:nvPr/>
        </p:nvSpPr>
        <p:spPr>
          <a:xfrm>
            <a:off x="9843516" y="2642616"/>
            <a:ext cx="774954" cy="402336"/>
          </a:xfrm>
          <a:prstGeom prst="rect">
            <a:avLst/>
          </a:prstGeom>
          <a:noFill/>
          <a:ln/>
        </p:spPr>
        <p:txBody>
          <a:bodyPr wrap="square" lIns="0" tIns="0" rIns="0" bIns="0" rtlCol="0" anchor="t"/>
          <a:lstStyle/>
          <a:p>
            <a:pPr algn="ctr" indent="0" marL="0">
              <a:buNone/>
            </a:pPr>
            <a:r>
              <a:rPr lang="en-US" sz="650" b="1" dirty="0">
                <a:solidFill>
                  <a:srgbClr val="6B7280"/>
                </a:solidFill>
                <a:latin typeface="Meiryo UI" pitchFamily="34" charset="0"/>
                <a:ea typeface="Meiryo UI" pitchFamily="34" charset="-122"/>
                <a:cs typeface="Meiryo UI" pitchFamily="34" charset="-120"/>
              </a:rPr>
              <a:t>Copilot Studio</a:t>
            </a:r>
            <a:endParaRPr lang="en-US" sz="650" dirty="0"/>
          </a:p>
          <a:p>
            <a:pPr algn="ctr" indent="0" marL="0">
              <a:buNone/>
            </a:pPr>
            <a:r>
              <a:rPr lang="en-US" sz="600" dirty="0">
                <a:solidFill>
                  <a:srgbClr val="8C95A3"/>
                </a:solidFill>
                <a:latin typeface="Meiryo UI" pitchFamily="34" charset="0"/>
                <a:ea typeface="Meiryo UI" pitchFamily="34" charset="-122"/>
                <a:cs typeface="Meiryo UI" pitchFamily="34" charset="-120"/>
              </a:rPr>
              <a:t>自律エージェント</a:t>
            </a:r>
            <a:endParaRPr lang="en-US" sz="650" dirty="0"/>
          </a:p>
        </p:txBody>
      </p:sp>
      <p:sp>
        <p:nvSpPr>
          <p:cNvPr id="56" name="Shape 43"/>
          <p:cNvSpPr/>
          <p:nvPr/>
        </p:nvSpPr>
        <p:spPr>
          <a:xfrm>
            <a:off x="10459593" y="2459736"/>
            <a:ext cx="372618" cy="0"/>
          </a:xfrm>
          <a:prstGeom prst="line">
            <a:avLst/>
          </a:prstGeom>
          <a:noFill/>
          <a:ln w="15875">
            <a:solidFill>
              <a:srgbClr val="1B2A49"/>
            </a:solidFill>
            <a:prstDash val="solid"/>
            <a:tailEnd type="triangle"/>
          </a:ln>
        </p:spPr>
      </p:sp>
      <p:pic>
        <p:nvPicPr>
          <p:cNvPr id="57" name="Image 11" descr="preencoded.png">    </p:cNvPr>
          <p:cNvPicPr>
            <a:picLocks noChangeAspect="1"/>
          </p:cNvPicPr>
          <p:nvPr/>
        </p:nvPicPr>
        <p:blipFill>
          <a:blip r:embed="rId12"/>
          <a:stretch>
            <a:fillRect/>
          </a:stretch>
        </p:blipFill>
        <p:spPr>
          <a:xfrm>
            <a:off x="10905363" y="2304288"/>
            <a:ext cx="310896" cy="310896"/>
          </a:xfrm>
          <a:prstGeom prst="rect">
            <a:avLst/>
          </a:prstGeom>
        </p:spPr>
      </p:pic>
      <p:sp>
        <p:nvSpPr>
          <p:cNvPr id="58" name="Text 44"/>
          <p:cNvSpPr txBox="1"/>
          <p:nvPr/>
        </p:nvSpPr>
        <p:spPr>
          <a:xfrm>
            <a:off x="10673334" y="2642616"/>
            <a:ext cx="774954" cy="402336"/>
          </a:xfrm>
          <a:prstGeom prst="rect">
            <a:avLst/>
          </a:prstGeom>
          <a:noFill/>
          <a:ln/>
        </p:spPr>
        <p:txBody>
          <a:bodyPr wrap="square" lIns="0" tIns="0" rIns="0" bIns="0" rtlCol="0" anchor="t"/>
          <a:lstStyle/>
          <a:p>
            <a:pPr algn="ctr" indent="0" marL="0">
              <a:buNone/>
            </a:pPr>
            <a:r>
              <a:rPr lang="en-US" sz="650" b="1" dirty="0">
                <a:solidFill>
                  <a:srgbClr val="6B7280"/>
                </a:solidFill>
                <a:latin typeface="Meiryo UI" pitchFamily="34" charset="0"/>
                <a:ea typeface="Meiryo UI" pitchFamily="34" charset="-122"/>
                <a:cs typeface="Meiryo UI" pitchFamily="34" charset="-120"/>
              </a:rPr>
              <a:t>ツール・MCP</a:t>
            </a:r>
            <a:endParaRPr lang="en-US" sz="650" dirty="0"/>
          </a:p>
          <a:p>
            <a:pPr algn="ctr" indent="0" marL="0">
              <a:buNone/>
            </a:pPr>
            <a:r>
              <a:rPr lang="en-US" sz="600" dirty="0">
                <a:solidFill>
                  <a:srgbClr val="8C95A3"/>
                </a:solidFill>
                <a:latin typeface="Meiryo UI" pitchFamily="34" charset="0"/>
                <a:ea typeface="Meiryo UI" pitchFamily="34" charset="-122"/>
                <a:cs typeface="Meiryo UI" pitchFamily="34" charset="-120"/>
              </a:rPr>
              <a:t>Airtableに書込</a:t>
            </a:r>
            <a:endParaRPr lang="en-US" sz="650" dirty="0"/>
          </a:p>
        </p:txBody>
      </p:sp>
      <p:sp>
        <p:nvSpPr>
          <p:cNvPr id="59" name="Text 45"/>
          <p:cNvSpPr txBox="1"/>
          <p:nvPr/>
        </p:nvSpPr>
        <p:spPr>
          <a:xfrm>
            <a:off x="8156448" y="3200400"/>
            <a:ext cx="3319272" cy="3081528"/>
          </a:xfrm>
          <a:prstGeom prst="rect">
            <a:avLst/>
          </a:prstGeom>
          <a:noFill/>
          <a:ln/>
        </p:spPr>
        <p:txBody>
          <a:bodyPr wrap="square" lIns="254" tIns="254" rIns="254" bIns="254" rtlCol="0" anchor="t"/>
          <a:lstStyle/>
          <a:p>
            <a:pPr indent="0" marL="0">
              <a:buNone/>
            </a:pPr>
            <a:r>
              <a:rPr lang="en-US" sz="1000" b="1" dirty="0">
                <a:solidFill>
                  <a:srgbClr val="0E9F9A"/>
                </a:solidFill>
                <a:latin typeface="Meiryo UI" pitchFamily="34" charset="0"/>
                <a:ea typeface="Meiryo UI" pitchFamily="34" charset="-122"/>
                <a:cs typeface="Meiryo UI" pitchFamily="34" charset="-120"/>
              </a:rPr>
              <a:t>流れ</a:t>
            </a:r>
            <a:endParaRPr lang="en-US" sz="1000" dirty="0"/>
          </a:p>
          <a:p>
            <a:pPr indent="0" marL="0">
              <a:spcAft>
                <a:spcPts val="700"/>
              </a:spcAft>
              <a:buNone/>
            </a:pPr>
            <a:r>
              <a:rPr lang="en-US" sz="1000" dirty="0">
                <a:solidFill>
                  <a:srgbClr val="2B2B2B"/>
                </a:solidFill>
                <a:latin typeface="Meiryo UI" pitchFamily="34" charset="0"/>
                <a:ea typeface="Meiryo UI" pitchFamily="34" charset="-122"/>
                <a:cs typeface="Meiryo UI" pitchFamily="34" charset="-120"/>
              </a:rPr>
              <a:t>Airtableのスクリプトからトリガー（Power AutomateのHTTP受信）を呼ぶ → Copilot Studioの自律エージェントがイベントトリガーで起動 → エージェントがツール（カスタムコネクタやMCP）でAirtableに書き戻す（「エージェントが主役」の使い方）</a:t>
            </a:r>
            <a:endParaRPr lang="en-US" sz="1000" dirty="0"/>
          </a:p>
          <a:p>
            <a:pPr indent="0" marL="0">
              <a:buNone/>
            </a:pPr>
            <a:r>
              <a:rPr lang="en-US" sz="1000" b="1" dirty="0">
                <a:solidFill>
                  <a:srgbClr val="0E9F9A"/>
                </a:solidFill>
                <a:latin typeface="Meiryo UI" pitchFamily="34" charset="0"/>
                <a:ea typeface="Meiryo UI" pitchFamily="34" charset="-122"/>
                <a:cs typeface="Meiryo UI" pitchFamily="34" charset="-120"/>
              </a:rPr>
              <a:t>必要なもの</a:t>
            </a:r>
            <a:endParaRPr lang="en-US" sz="1000" dirty="0"/>
          </a:p>
          <a:p>
            <a:pPr indent="0" marL="0">
              <a:spcAft>
                <a:spcPts val="700"/>
              </a:spcAft>
              <a:buNone/>
            </a:pPr>
            <a:r>
              <a:rPr lang="en-US" sz="1000" dirty="0">
                <a:solidFill>
                  <a:srgbClr val="2B2B2B"/>
                </a:solidFill>
                <a:latin typeface="Meiryo UI" pitchFamily="34" charset="0"/>
                <a:ea typeface="Meiryo UI" pitchFamily="34" charset="-122"/>
                <a:cs typeface="Meiryo UI" pitchFamily="34" charset="-120"/>
              </a:rPr>
              <a:t>Copilot Studio（イベントトリガー、自律エージェント）、P9と同様のHTTPトリガーの設定、書き込み用のツール</a:t>
            </a:r>
            <a:endParaRPr lang="en-US" sz="1000" dirty="0"/>
          </a:p>
          <a:p>
            <a:pPr indent="0" marL="0">
              <a:buNone/>
            </a:pPr>
            <a:r>
              <a:rPr lang="en-US" sz="1000" b="1" dirty="0">
                <a:solidFill>
                  <a:srgbClr val="0E9F9A"/>
                </a:solidFill>
                <a:latin typeface="Meiryo UI" pitchFamily="34" charset="0"/>
                <a:ea typeface="Meiryo UI" pitchFamily="34" charset="-122"/>
                <a:cs typeface="Meiryo UI" pitchFamily="34" charset="-120"/>
              </a:rPr>
              <a:t>長所</a:t>
            </a:r>
            <a:endParaRPr lang="en-US" sz="1000" dirty="0"/>
          </a:p>
          <a:p>
            <a:pPr indent="0" marL="0">
              <a:spcAft>
                <a:spcPts val="700"/>
              </a:spcAft>
              <a:buNone/>
            </a:pPr>
            <a:r>
              <a:rPr lang="en-US" sz="1000" dirty="0">
                <a:solidFill>
                  <a:srgbClr val="2B2B2B"/>
                </a:solidFill>
                <a:latin typeface="Meiryo UI" pitchFamily="34" charset="0"/>
                <a:ea typeface="Meiryo UI" pitchFamily="34" charset="-122"/>
                <a:cs typeface="Meiryo UI" pitchFamily="34" charset="-120"/>
              </a:rPr>
              <a:t>処理の流れをエージェント側に寄せられる</a:t>
            </a:r>
            <a:endParaRPr lang="en-US" sz="1000" dirty="0"/>
          </a:p>
          <a:p>
            <a:pPr indent="0" marL="0">
              <a:buNone/>
            </a:pPr>
            <a:r>
              <a:rPr lang="en-US" sz="1000" b="1" dirty="0">
                <a:solidFill>
                  <a:srgbClr val="0E9F9A"/>
                </a:solidFill>
                <a:latin typeface="Meiryo UI" pitchFamily="34" charset="0"/>
                <a:ea typeface="Meiryo UI" pitchFamily="34" charset="-122"/>
                <a:cs typeface="Meiryo UI" pitchFamily="34" charset="-120"/>
              </a:rPr>
              <a:t>制約・留意点</a:t>
            </a:r>
            <a:endParaRPr lang="en-US" sz="1000" dirty="0"/>
          </a:p>
          <a:p>
            <a:pPr indent="0" marL="0">
              <a:spcAft>
                <a:spcPts val="700"/>
              </a:spcAft>
              <a:buNone/>
            </a:pPr>
            <a:r>
              <a:rPr lang="en-US" sz="1000" dirty="0">
                <a:solidFill>
                  <a:srgbClr val="2B2B2B"/>
                </a:solidFill>
                <a:latin typeface="Meiryo UI" pitchFamily="34" charset="0"/>
                <a:ea typeface="Meiryo UI" pitchFamily="34" charset="-122"/>
                <a:cs typeface="Meiryo UI" pitchFamily="34" charset="-120"/>
              </a:rPr>
              <a:t>書き戻しの確実さはエージェントの判断に依存し、フローで書き戻すより制御しにくい。自律実行の費用・監視の設計が必要</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レベル4：Airtable側が起点（その他の起動方法）</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Direct Line、Webhooks API、iPaaSを使う方法。いずれもP9より手間または前提条件が多い</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3. パターン別の詳細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16</a:t>
            </a:r>
            <a:endParaRPr lang="en-US" sz="900" dirty="0"/>
          </a:p>
        </p:txBody>
      </p:sp>
      <p:sp>
        <p:nvSpPr>
          <p:cNvPr id="6" name="Shape 4"/>
          <p:cNvSpPr/>
          <p:nvPr/>
        </p:nvSpPr>
        <p:spPr>
          <a:xfrm>
            <a:off x="548640" y="1371600"/>
            <a:ext cx="3593592" cy="4983480"/>
          </a:xfrm>
          <a:prstGeom prst="roundRect">
            <a:avLst>
              <a:gd name="adj" fmla="val 1272"/>
            </a:avLst>
          </a:prstGeom>
          <a:solidFill>
            <a:srgbClr val="F3F5F8"/>
          </a:solidFill>
          <a:ln/>
        </p:spPr>
      </p:sp>
      <p:sp>
        <p:nvSpPr>
          <p:cNvPr id="7" name="Shape 5"/>
          <p:cNvSpPr/>
          <p:nvPr/>
        </p:nvSpPr>
        <p:spPr>
          <a:xfrm>
            <a:off x="658368" y="1481328"/>
            <a:ext cx="457200" cy="457200"/>
          </a:xfrm>
          <a:prstGeom prst="ellipse">
            <a:avLst/>
          </a:prstGeom>
          <a:solidFill>
            <a:srgbClr val="0E9F9A"/>
          </a:solidFill>
          <a:ln/>
        </p:spPr>
      </p:sp>
      <p:sp>
        <p:nvSpPr>
          <p:cNvPr id="8" name="Text 6"/>
          <p:cNvSpPr txBox="1"/>
          <p:nvPr/>
        </p:nvSpPr>
        <p:spPr>
          <a:xfrm>
            <a:off x="658368" y="1481328"/>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P11</a:t>
            </a:r>
            <a:endParaRPr lang="en-US" sz="1100" dirty="0"/>
          </a:p>
        </p:txBody>
      </p:sp>
      <p:sp>
        <p:nvSpPr>
          <p:cNvPr id="9" name="Text 7"/>
          <p:cNvSpPr txBox="1"/>
          <p:nvPr/>
        </p:nvSpPr>
        <p:spPr>
          <a:xfrm>
            <a:off x="1188720" y="1426464"/>
            <a:ext cx="2862072" cy="512064"/>
          </a:xfrm>
          <a:prstGeom prst="rect">
            <a:avLst/>
          </a:prstGeom>
          <a:noFill/>
          <a:ln/>
        </p:spPr>
        <p:txBody>
          <a:bodyPr wrap="square" lIns="0" tIns="0" rIns="0" bIns="0" rtlCol="0" anchor="ctr"/>
          <a:lstStyle/>
          <a:p>
            <a:pPr indent="0" marL="0">
              <a:buNone/>
            </a:pPr>
            <a:r>
              <a:rPr lang="en-US" sz="1100" b="1" dirty="0">
                <a:solidFill>
                  <a:srgbClr val="1B2A49"/>
                </a:solidFill>
                <a:latin typeface="Meiryo UI" pitchFamily="34" charset="0"/>
                <a:ea typeface="Meiryo UI" pitchFamily="34" charset="-122"/>
                <a:cs typeface="Meiryo UI" pitchFamily="34" charset="-120"/>
              </a:rPr>
              <a:t>AirtableのスクリプトからDirect Lineでエージェントを直接呼ぶ</a:t>
            </a:r>
            <a:endParaRPr lang="en-US" sz="1100" dirty="0"/>
          </a:p>
        </p:txBody>
      </p:sp>
      <p:sp>
        <p:nvSpPr>
          <p:cNvPr id="10" name="Text 8"/>
          <p:cNvSpPr txBox="1"/>
          <p:nvPr/>
        </p:nvSpPr>
        <p:spPr>
          <a:xfrm>
            <a:off x="1188720" y="1938528"/>
            <a:ext cx="2862072" cy="219456"/>
          </a:xfrm>
          <a:prstGeom prst="rect">
            <a:avLst/>
          </a:prstGeom>
          <a:noFill/>
          <a:ln/>
        </p:spPr>
        <p:txBody>
          <a:bodyPr wrap="square" lIns="0" tIns="0" rIns="0" bIns="0" rtlCol="0" anchor="ctr"/>
          <a:lstStyle/>
          <a:p>
            <a:pPr indent="0" marL="0">
              <a:buNone/>
            </a:pPr>
            <a:r>
              <a:rPr lang="en-US" sz="850" dirty="0">
                <a:solidFill>
                  <a:srgbClr val="6B7280"/>
                </a:solidFill>
                <a:latin typeface="Meiryo UI" pitchFamily="34" charset="0"/>
                <a:ea typeface="Meiryo UI" pitchFamily="34" charset="-122"/>
                <a:cs typeface="Meiryo UI" pitchFamily="34" charset="-120"/>
              </a:rPr>
              <a:t>レベル4：Airtable起点　難易度 </a:t>
            </a:r>
            <a:pPr indent="0" marL="0">
              <a:buNone/>
            </a:pPr>
            <a:r>
              <a:rPr lang="en-US" sz="850" b="1" dirty="0">
                <a:solidFill>
                  <a:srgbClr val="E8912D"/>
                </a:solidFill>
                <a:latin typeface="Meiryo UI" pitchFamily="34" charset="0"/>
                <a:ea typeface="Meiryo UI" pitchFamily="34" charset="-122"/>
                <a:cs typeface="Meiryo UI" pitchFamily="34" charset="-120"/>
              </a:rPr>
              <a:t>★★★★</a:t>
            </a:r>
            <a:endParaRPr lang="en-US" sz="850" dirty="0"/>
          </a:p>
        </p:txBody>
      </p:sp>
      <p:sp>
        <p:nvSpPr>
          <p:cNvPr id="11" name="Shape 9"/>
          <p:cNvSpPr/>
          <p:nvPr/>
        </p:nvSpPr>
        <p:spPr>
          <a:xfrm>
            <a:off x="658368" y="2231136"/>
            <a:ext cx="3374136" cy="868680"/>
          </a:xfrm>
          <a:prstGeom prst="roundRect">
            <a:avLst>
              <a:gd name="adj" fmla="val 5263"/>
            </a:avLst>
          </a:prstGeom>
          <a:solidFill>
            <a:srgbClr val="FFFFFF"/>
          </a:solidFill>
          <a:ln w="12700">
            <a:solidFill>
              <a:srgbClr val="D5DBE3"/>
            </a:solidFill>
            <a:prstDash val="solid"/>
          </a:ln>
        </p:spPr>
      </p:sp>
      <p:pic>
        <p:nvPicPr>
          <p:cNvPr id="12" name="Image 0" descr="preencoded.png">    </p:cNvPr>
          <p:cNvPicPr>
            <a:picLocks noChangeAspect="1"/>
          </p:cNvPicPr>
          <p:nvPr/>
        </p:nvPicPr>
        <p:blipFill>
          <a:blip r:embed="rId1"/>
          <a:stretch>
            <a:fillRect/>
          </a:stretch>
        </p:blipFill>
        <p:spPr>
          <a:xfrm>
            <a:off x="1083564" y="2304288"/>
            <a:ext cx="310896" cy="310896"/>
          </a:xfrm>
          <a:prstGeom prst="rect">
            <a:avLst/>
          </a:prstGeom>
        </p:spPr>
      </p:pic>
      <p:sp>
        <p:nvSpPr>
          <p:cNvPr id="13" name="Text 10"/>
          <p:cNvSpPr txBox="1"/>
          <p:nvPr/>
        </p:nvSpPr>
        <p:spPr>
          <a:xfrm>
            <a:off x="713232" y="2642616"/>
            <a:ext cx="1051560" cy="402336"/>
          </a:xfrm>
          <a:prstGeom prst="rect">
            <a:avLst/>
          </a:prstGeom>
          <a:noFill/>
          <a:ln/>
        </p:spPr>
        <p:txBody>
          <a:bodyPr wrap="square" lIns="0" tIns="0" rIns="0" bIns="0" rtlCol="0" anchor="t"/>
          <a:lstStyle/>
          <a:p>
            <a:pPr algn="ctr" indent="0" marL="0">
              <a:buNone/>
            </a:pPr>
            <a:r>
              <a:rPr lang="en-US" sz="650" b="1" dirty="0">
                <a:solidFill>
                  <a:srgbClr val="6B7280"/>
                </a:solidFill>
                <a:latin typeface="Meiryo UI" pitchFamily="34" charset="0"/>
                <a:ea typeface="Meiryo UI" pitchFamily="34" charset="-122"/>
                <a:cs typeface="Meiryo UI" pitchFamily="34" charset="-120"/>
              </a:rPr>
              <a:t>Airtable</a:t>
            </a:r>
            <a:endParaRPr lang="en-US" sz="650" dirty="0"/>
          </a:p>
          <a:p>
            <a:pPr algn="ctr" indent="0" marL="0">
              <a:buNone/>
            </a:pPr>
            <a:r>
              <a:rPr lang="en-US" sz="600" dirty="0">
                <a:solidFill>
                  <a:srgbClr val="8C95A3"/>
                </a:solidFill>
                <a:latin typeface="Meiryo UI" pitchFamily="34" charset="0"/>
                <a:ea typeface="Meiryo UI" pitchFamily="34" charset="-122"/>
                <a:cs typeface="Meiryo UI" pitchFamily="34" charset="-120"/>
              </a:rPr>
              <a:t>スクリプト</a:t>
            </a:r>
            <a:endParaRPr lang="en-US" sz="650" dirty="0"/>
          </a:p>
        </p:txBody>
      </p:sp>
      <p:sp>
        <p:nvSpPr>
          <p:cNvPr id="14" name="Shape 11"/>
          <p:cNvSpPr/>
          <p:nvPr/>
        </p:nvSpPr>
        <p:spPr>
          <a:xfrm>
            <a:off x="1467612" y="2459736"/>
            <a:ext cx="649224" cy="0"/>
          </a:xfrm>
          <a:prstGeom prst="line">
            <a:avLst/>
          </a:prstGeom>
          <a:noFill/>
          <a:ln w="15875">
            <a:solidFill>
              <a:srgbClr val="1B2A49"/>
            </a:solidFill>
            <a:prstDash val="solid"/>
            <a:tailEnd type="triangle"/>
          </a:ln>
        </p:spPr>
      </p:sp>
      <p:pic>
        <p:nvPicPr>
          <p:cNvPr id="15" name="Image 1" descr="preencoded.png">    </p:cNvPr>
          <p:cNvPicPr>
            <a:picLocks noChangeAspect="1"/>
          </p:cNvPicPr>
          <p:nvPr/>
        </p:nvPicPr>
        <p:blipFill>
          <a:blip r:embed="rId2"/>
          <a:stretch>
            <a:fillRect/>
          </a:stretch>
        </p:blipFill>
        <p:spPr>
          <a:xfrm>
            <a:off x="2189988" y="2304288"/>
            <a:ext cx="310896" cy="310896"/>
          </a:xfrm>
          <a:prstGeom prst="rect">
            <a:avLst/>
          </a:prstGeom>
        </p:spPr>
      </p:pic>
      <p:sp>
        <p:nvSpPr>
          <p:cNvPr id="16" name="Text 12"/>
          <p:cNvSpPr txBox="1"/>
          <p:nvPr/>
        </p:nvSpPr>
        <p:spPr>
          <a:xfrm>
            <a:off x="1819656" y="2642616"/>
            <a:ext cx="1051560" cy="402336"/>
          </a:xfrm>
          <a:prstGeom prst="rect">
            <a:avLst/>
          </a:prstGeom>
          <a:noFill/>
          <a:ln/>
        </p:spPr>
        <p:txBody>
          <a:bodyPr wrap="square" lIns="0" tIns="0" rIns="0" bIns="0" rtlCol="0" anchor="t"/>
          <a:lstStyle/>
          <a:p>
            <a:pPr algn="ctr" indent="0" marL="0">
              <a:buNone/>
            </a:pPr>
            <a:r>
              <a:rPr lang="en-US" sz="650" b="1" dirty="0">
                <a:solidFill>
                  <a:srgbClr val="6B7280"/>
                </a:solidFill>
                <a:latin typeface="Meiryo UI" pitchFamily="34" charset="0"/>
                <a:ea typeface="Meiryo UI" pitchFamily="34" charset="-122"/>
                <a:cs typeface="Meiryo UI" pitchFamily="34" charset="-120"/>
              </a:rPr>
              <a:t>Copilot Studio</a:t>
            </a:r>
            <a:endParaRPr lang="en-US" sz="650" dirty="0"/>
          </a:p>
          <a:p>
            <a:pPr algn="ctr" indent="0" marL="0">
              <a:buNone/>
            </a:pPr>
            <a:r>
              <a:rPr lang="en-US" sz="600" dirty="0">
                <a:solidFill>
                  <a:srgbClr val="8C95A3"/>
                </a:solidFill>
                <a:latin typeface="Meiryo UI" pitchFamily="34" charset="0"/>
                <a:ea typeface="Meiryo UI" pitchFamily="34" charset="-122"/>
                <a:cs typeface="Meiryo UI" pitchFamily="34" charset="-120"/>
              </a:rPr>
              <a:t>Direct Line</a:t>
            </a:r>
            <a:endParaRPr lang="en-US" sz="650" dirty="0"/>
          </a:p>
        </p:txBody>
      </p:sp>
      <p:sp>
        <p:nvSpPr>
          <p:cNvPr id="17" name="Shape 13"/>
          <p:cNvSpPr/>
          <p:nvPr/>
        </p:nvSpPr>
        <p:spPr>
          <a:xfrm>
            <a:off x="2574036" y="2459736"/>
            <a:ext cx="649224" cy="0"/>
          </a:xfrm>
          <a:prstGeom prst="line">
            <a:avLst/>
          </a:prstGeom>
          <a:noFill/>
          <a:ln w="15875">
            <a:solidFill>
              <a:srgbClr val="1B2A49"/>
            </a:solidFill>
            <a:prstDash val="solid"/>
            <a:tailEnd type="triangle"/>
          </a:ln>
        </p:spPr>
      </p:sp>
      <p:pic>
        <p:nvPicPr>
          <p:cNvPr id="18" name="Image 2" descr="preencoded.png">    </p:cNvPr>
          <p:cNvPicPr>
            <a:picLocks noChangeAspect="1"/>
          </p:cNvPicPr>
          <p:nvPr/>
        </p:nvPicPr>
        <p:blipFill>
          <a:blip r:embed="rId3"/>
          <a:stretch>
            <a:fillRect/>
          </a:stretch>
        </p:blipFill>
        <p:spPr>
          <a:xfrm>
            <a:off x="3296412" y="2304288"/>
            <a:ext cx="310896" cy="310896"/>
          </a:xfrm>
          <a:prstGeom prst="rect">
            <a:avLst/>
          </a:prstGeom>
        </p:spPr>
      </p:pic>
      <p:sp>
        <p:nvSpPr>
          <p:cNvPr id="19" name="Text 14"/>
          <p:cNvSpPr txBox="1"/>
          <p:nvPr/>
        </p:nvSpPr>
        <p:spPr>
          <a:xfrm>
            <a:off x="2926080" y="2642616"/>
            <a:ext cx="1051560" cy="402336"/>
          </a:xfrm>
          <a:prstGeom prst="rect">
            <a:avLst/>
          </a:prstGeom>
          <a:noFill/>
          <a:ln/>
        </p:spPr>
        <p:txBody>
          <a:bodyPr wrap="square" lIns="0" tIns="0" rIns="0" bIns="0" rtlCol="0" anchor="t"/>
          <a:lstStyle/>
          <a:p>
            <a:pPr algn="ctr" indent="0" marL="0">
              <a:buNone/>
            </a:pPr>
            <a:r>
              <a:rPr lang="en-US" sz="650" b="1" dirty="0">
                <a:solidFill>
                  <a:srgbClr val="6B7280"/>
                </a:solidFill>
                <a:latin typeface="Meiryo UI" pitchFamily="34" charset="0"/>
                <a:ea typeface="Meiryo UI" pitchFamily="34" charset="-122"/>
                <a:cs typeface="Meiryo UI" pitchFamily="34" charset="-120"/>
              </a:rPr>
              <a:t>Airtable</a:t>
            </a:r>
            <a:endParaRPr lang="en-US" sz="650" dirty="0"/>
          </a:p>
          <a:p>
            <a:pPr algn="ctr" indent="0" marL="0">
              <a:buNone/>
            </a:pPr>
            <a:r>
              <a:rPr lang="en-US" sz="600" dirty="0">
                <a:solidFill>
                  <a:srgbClr val="8C95A3"/>
                </a:solidFill>
                <a:latin typeface="Meiryo UI" pitchFamily="34" charset="0"/>
                <a:ea typeface="Meiryo UI" pitchFamily="34" charset="-122"/>
                <a:cs typeface="Meiryo UI" pitchFamily="34" charset="-120"/>
              </a:rPr>
              <a:t>同期で更新</a:t>
            </a:r>
            <a:endParaRPr lang="en-US" sz="650" dirty="0"/>
          </a:p>
        </p:txBody>
      </p:sp>
      <p:sp>
        <p:nvSpPr>
          <p:cNvPr id="20" name="Text 15"/>
          <p:cNvSpPr txBox="1"/>
          <p:nvPr/>
        </p:nvSpPr>
        <p:spPr>
          <a:xfrm>
            <a:off x="685800" y="3200400"/>
            <a:ext cx="3319272" cy="3081528"/>
          </a:xfrm>
          <a:prstGeom prst="rect">
            <a:avLst/>
          </a:prstGeom>
          <a:noFill/>
          <a:ln/>
        </p:spPr>
        <p:txBody>
          <a:bodyPr wrap="square" lIns="254" tIns="254" rIns="254" bIns="254" rtlCol="0" anchor="t"/>
          <a:lstStyle/>
          <a:p>
            <a:pPr indent="0" marL="0">
              <a:buNone/>
            </a:pPr>
            <a:r>
              <a:rPr lang="en-US" sz="1000" b="1" dirty="0">
                <a:solidFill>
                  <a:srgbClr val="0E9F9A"/>
                </a:solidFill>
                <a:latin typeface="Meiryo UI" pitchFamily="34" charset="0"/>
                <a:ea typeface="Meiryo UI" pitchFamily="34" charset="-122"/>
                <a:cs typeface="Meiryo UI" pitchFamily="34" charset="-120"/>
              </a:rPr>
              <a:t>流れ</a:t>
            </a:r>
            <a:endParaRPr lang="en-US" sz="1000" dirty="0"/>
          </a:p>
          <a:p>
            <a:pPr indent="0" marL="0">
              <a:spcAft>
                <a:spcPts val="700"/>
              </a:spcAft>
              <a:buNone/>
            </a:pPr>
            <a:r>
              <a:rPr lang="en-US" sz="1000" dirty="0">
                <a:solidFill>
                  <a:srgbClr val="2B2B2B"/>
                </a:solidFill>
                <a:latin typeface="Meiryo UI" pitchFamily="34" charset="0"/>
                <a:ea typeface="Meiryo UI" pitchFamily="34" charset="-122"/>
                <a:cs typeface="Meiryo UI" pitchFamily="34" charset="-120"/>
              </a:rPr>
              <a:t>スクリプトでトークン取得 → 会話開始 → メッセージ送信 → 応答を取得（4段階。Direct Lineの説明は次ページ）→ Airtableを更新</a:t>
            </a:r>
            <a:endParaRPr lang="en-US" sz="1000" dirty="0"/>
          </a:p>
          <a:p>
            <a:pPr indent="0" marL="0">
              <a:buNone/>
            </a:pPr>
            <a:r>
              <a:rPr lang="en-US" sz="1000" b="1" dirty="0">
                <a:solidFill>
                  <a:srgbClr val="0E9F9A"/>
                </a:solidFill>
                <a:latin typeface="Meiryo UI" pitchFamily="34" charset="0"/>
                <a:ea typeface="Meiryo UI" pitchFamily="34" charset="-122"/>
                <a:cs typeface="Meiryo UI" pitchFamily="34" charset="-120"/>
              </a:rPr>
              <a:t>必要なもの</a:t>
            </a:r>
            <a:endParaRPr lang="en-US" sz="1000" dirty="0"/>
          </a:p>
          <a:p>
            <a:pPr indent="0" marL="0">
              <a:spcAft>
                <a:spcPts val="700"/>
              </a:spcAft>
              <a:buNone/>
            </a:pPr>
            <a:r>
              <a:rPr lang="en-US" sz="1000" dirty="0">
                <a:solidFill>
                  <a:srgbClr val="2B2B2B"/>
                </a:solidFill>
                <a:latin typeface="Meiryo UI" pitchFamily="34" charset="0"/>
                <a:ea typeface="Meiryo UI" pitchFamily="34" charset="-122"/>
                <a:cs typeface="Meiryo UI" pitchFamily="34" charset="-120"/>
              </a:rPr>
              <a:t>Copilot Studio（Direct Lineのシークレット）、Airtableのオートメーション</a:t>
            </a:r>
            <a:endParaRPr lang="en-US" sz="1000" dirty="0"/>
          </a:p>
          <a:p>
            <a:pPr indent="0" marL="0">
              <a:buNone/>
            </a:pPr>
            <a:r>
              <a:rPr lang="en-US" sz="1000" b="1" dirty="0">
                <a:solidFill>
                  <a:srgbClr val="0E9F9A"/>
                </a:solidFill>
                <a:latin typeface="Meiryo UI" pitchFamily="34" charset="0"/>
                <a:ea typeface="Meiryo UI" pitchFamily="34" charset="-122"/>
                <a:cs typeface="Meiryo UI" pitchFamily="34" charset="-120"/>
              </a:rPr>
              <a:t>長所</a:t>
            </a:r>
            <a:endParaRPr lang="en-US" sz="1000" dirty="0"/>
          </a:p>
          <a:p>
            <a:pPr indent="0" marL="0">
              <a:spcAft>
                <a:spcPts val="700"/>
              </a:spcAft>
              <a:buNone/>
            </a:pPr>
            <a:r>
              <a:rPr lang="en-US" sz="1000" dirty="0">
                <a:solidFill>
                  <a:srgbClr val="2B2B2B"/>
                </a:solidFill>
                <a:latin typeface="Meiryo UI" pitchFamily="34" charset="0"/>
                <a:ea typeface="Meiryo UI" pitchFamily="34" charset="-122"/>
                <a:cs typeface="Meiryo UI" pitchFamily="34" charset="-120"/>
              </a:rPr>
              <a:t>Power Automateを介さず、応答をその場で受け取れる</a:t>
            </a:r>
            <a:endParaRPr lang="en-US" sz="1000" dirty="0"/>
          </a:p>
          <a:p>
            <a:pPr indent="0" marL="0">
              <a:buNone/>
            </a:pPr>
            <a:r>
              <a:rPr lang="en-US" sz="1000" b="1" dirty="0">
                <a:solidFill>
                  <a:srgbClr val="0E9F9A"/>
                </a:solidFill>
                <a:latin typeface="Meiryo UI" pitchFamily="34" charset="0"/>
                <a:ea typeface="Meiryo UI" pitchFamily="34" charset="-122"/>
                <a:cs typeface="Meiryo UI" pitchFamily="34" charset="-120"/>
              </a:rPr>
              <a:t>制約・留意点</a:t>
            </a:r>
            <a:endParaRPr lang="en-US" sz="1000" dirty="0"/>
          </a:p>
          <a:p>
            <a:pPr indent="0" marL="0">
              <a:spcAft>
                <a:spcPts val="700"/>
              </a:spcAft>
              <a:buNone/>
            </a:pPr>
            <a:r>
              <a:rPr lang="en-US" sz="1000" dirty="0">
                <a:solidFill>
                  <a:srgbClr val="2B2B2B"/>
                </a:solidFill>
                <a:latin typeface="Meiryo UI" pitchFamily="34" charset="0"/>
                <a:ea typeface="Meiryo UI" pitchFamily="34" charset="-122"/>
                <a:cs typeface="Meiryo UI" pitchFamily="34" charset="-120"/>
              </a:rPr>
              <a:t>推論が30秒以内に終わらないとスクリプトが失敗する。シークレットの管理と、4段階の呼び出しの実装が必要</a:t>
            </a:r>
            <a:endParaRPr lang="en-US" sz="1000" dirty="0"/>
          </a:p>
        </p:txBody>
      </p:sp>
      <p:sp>
        <p:nvSpPr>
          <p:cNvPr id="21" name="Shape 16"/>
          <p:cNvSpPr/>
          <p:nvPr/>
        </p:nvSpPr>
        <p:spPr>
          <a:xfrm>
            <a:off x="4283964" y="1371600"/>
            <a:ext cx="3593592" cy="4983480"/>
          </a:xfrm>
          <a:prstGeom prst="roundRect">
            <a:avLst>
              <a:gd name="adj" fmla="val 1272"/>
            </a:avLst>
          </a:prstGeom>
          <a:solidFill>
            <a:srgbClr val="F3F5F8"/>
          </a:solidFill>
          <a:ln/>
        </p:spPr>
      </p:sp>
      <p:sp>
        <p:nvSpPr>
          <p:cNvPr id="22" name="Shape 17"/>
          <p:cNvSpPr/>
          <p:nvPr/>
        </p:nvSpPr>
        <p:spPr>
          <a:xfrm>
            <a:off x="4393692" y="1481328"/>
            <a:ext cx="457200" cy="457200"/>
          </a:xfrm>
          <a:prstGeom prst="ellipse">
            <a:avLst/>
          </a:prstGeom>
          <a:solidFill>
            <a:srgbClr val="0E9F9A"/>
          </a:solidFill>
          <a:ln/>
        </p:spPr>
      </p:sp>
      <p:sp>
        <p:nvSpPr>
          <p:cNvPr id="23" name="Text 18"/>
          <p:cNvSpPr txBox="1"/>
          <p:nvPr/>
        </p:nvSpPr>
        <p:spPr>
          <a:xfrm>
            <a:off x="4393692" y="1481328"/>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P12</a:t>
            </a:r>
            <a:endParaRPr lang="en-US" sz="1100" dirty="0"/>
          </a:p>
        </p:txBody>
      </p:sp>
      <p:sp>
        <p:nvSpPr>
          <p:cNvPr id="24" name="Text 19"/>
          <p:cNvSpPr txBox="1"/>
          <p:nvPr/>
        </p:nvSpPr>
        <p:spPr>
          <a:xfrm>
            <a:off x="4924044" y="1426464"/>
            <a:ext cx="2862072" cy="512064"/>
          </a:xfrm>
          <a:prstGeom prst="rect">
            <a:avLst/>
          </a:prstGeom>
          <a:noFill/>
          <a:ln/>
        </p:spPr>
        <p:txBody>
          <a:bodyPr wrap="square" lIns="0" tIns="0" rIns="0" bIns="0" rtlCol="0" anchor="ctr"/>
          <a:lstStyle/>
          <a:p>
            <a:pPr indent="0" marL="0">
              <a:buNone/>
            </a:pPr>
            <a:r>
              <a:rPr lang="en-US" sz="1100" b="1" dirty="0">
                <a:solidFill>
                  <a:srgbClr val="1B2A49"/>
                </a:solidFill>
                <a:latin typeface="Meiryo UI" pitchFamily="34" charset="0"/>
                <a:ea typeface="Meiryo UI" pitchFamily="34" charset="-122"/>
                <a:cs typeface="Meiryo UI" pitchFamily="34" charset="-120"/>
              </a:rPr>
              <a:t>AirtableのWebhooks APIで変更を通知する</a:t>
            </a:r>
            <a:endParaRPr lang="en-US" sz="1100" dirty="0"/>
          </a:p>
        </p:txBody>
      </p:sp>
      <p:sp>
        <p:nvSpPr>
          <p:cNvPr id="25" name="Text 20"/>
          <p:cNvSpPr txBox="1"/>
          <p:nvPr/>
        </p:nvSpPr>
        <p:spPr>
          <a:xfrm>
            <a:off x="4924044" y="1938528"/>
            <a:ext cx="2862072" cy="219456"/>
          </a:xfrm>
          <a:prstGeom prst="rect">
            <a:avLst/>
          </a:prstGeom>
          <a:noFill/>
          <a:ln/>
        </p:spPr>
        <p:txBody>
          <a:bodyPr wrap="square" lIns="0" tIns="0" rIns="0" bIns="0" rtlCol="0" anchor="ctr"/>
          <a:lstStyle/>
          <a:p>
            <a:pPr indent="0" marL="0">
              <a:buNone/>
            </a:pPr>
            <a:r>
              <a:rPr lang="en-US" sz="850" dirty="0">
                <a:solidFill>
                  <a:srgbClr val="6B7280"/>
                </a:solidFill>
                <a:latin typeface="Meiryo UI" pitchFamily="34" charset="0"/>
                <a:ea typeface="Meiryo UI" pitchFamily="34" charset="-122"/>
                <a:cs typeface="Meiryo UI" pitchFamily="34" charset="-120"/>
              </a:rPr>
              <a:t>レベル4：Airtable起点　難易度 </a:t>
            </a:r>
            <a:pPr indent="0" marL="0">
              <a:buNone/>
            </a:pPr>
            <a:r>
              <a:rPr lang="en-US" sz="850" b="1" dirty="0">
                <a:solidFill>
                  <a:srgbClr val="E8912D"/>
                </a:solidFill>
                <a:latin typeface="Meiryo UI" pitchFamily="34" charset="0"/>
                <a:ea typeface="Meiryo UI" pitchFamily="34" charset="-122"/>
                <a:cs typeface="Meiryo UI" pitchFamily="34" charset="-120"/>
              </a:rPr>
              <a:t>★★★★</a:t>
            </a:r>
            <a:endParaRPr lang="en-US" sz="850" dirty="0"/>
          </a:p>
        </p:txBody>
      </p:sp>
      <p:sp>
        <p:nvSpPr>
          <p:cNvPr id="26" name="Shape 21"/>
          <p:cNvSpPr/>
          <p:nvPr/>
        </p:nvSpPr>
        <p:spPr>
          <a:xfrm>
            <a:off x="4393692" y="2231136"/>
            <a:ext cx="3374136" cy="868680"/>
          </a:xfrm>
          <a:prstGeom prst="roundRect">
            <a:avLst>
              <a:gd name="adj" fmla="val 5263"/>
            </a:avLst>
          </a:prstGeom>
          <a:solidFill>
            <a:srgbClr val="FFFFFF"/>
          </a:solidFill>
          <a:ln w="12700">
            <a:solidFill>
              <a:srgbClr val="D5DBE3"/>
            </a:solidFill>
            <a:prstDash val="solid"/>
          </a:ln>
        </p:spPr>
      </p:sp>
      <p:pic>
        <p:nvPicPr>
          <p:cNvPr id="27" name="Image 3" descr="preencoded.png">    </p:cNvPr>
          <p:cNvPicPr>
            <a:picLocks noChangeAspect="1"/>
          </p:cNvPicPr>
          <p:nvPr/>
        </p:nvPicPr>
        <p:blipFill>
          <a:blip r:embed="rId4"/>
          <a:stretch>
            <a:fillRect/>
          </a:stretch>
        </p:blipFill>
        <p:spPr>
          <a:xfrm>
            <a:off x="4680585" y="2304288"/>
            <a:ext cx="310896" cy="310896"/>
          </a:xfrm>
          <a:prstGeom prst="rect">
            <a:avLst/>
          </a:prstGeom>
        </p:spPr>
      </p:pic>
      <p:sp>
        <p:nvSpPr>
          <p:cNvPr id="28" name="Text 22"/>
          <p:cNvSpPr txBox="1"/>
          <p:nvPr/>
        </p:nvSpPr>
        <p:spPr>
          <a:xfrm>
            <a:off x="4448556" y="2642616"/>
            <a:ext cx="774954" cy="402336"/>
          </a:xfrm>
          <a:prstGeom prst="rect">
            <a:avLst/>
          </a:prstGeom>
          <a:noFill/>
          <a:ln/>
        </p:spPr>
        <p:txBody>
          <a:bodyPr wrap="square" lIns="0" tIns="0" rIns="0" bIns="0" rtlCol="0" anchor="t"/>
          <a:lstStyle/>
          <a:p>
            <a:pPr algn="ctr" indent="0" marL="0">
              <a:buNone/>
            </a:pPr>
            <a:r>
              <a:rPr lang="en-US" sz="650" b="1" dirty="0">
                <a:solidFill>
                  <a:srgbClr val="6B7280"/>
                </a:solidFill>
                <a:latin typeface="Meiryo UI" pitchFamily="34" charset="0"/>
                <a:ea typeface="Meiryo UI" pitchFamily="34" charset="-122"/>
                <a:cs typeface="Meiryo UI" pitchFamily="34" charset="-120"/>
              </a:rPr>
              <a:t>Airtable</a:t>
            </a:r>
            <a:endParaRPr lang="en-US" sz="650" dirty="0"/>
          </a:p>
          <a:p>
            <a:pPr algn="ctr" indent="0" marL="0">
              <a:buNone/>
            </a:pPr>
            <a:r>
              <a:rPr lang="en-US" sz="600" dirty="0">
                <a:solidFill>
                  <a:srgbClr val="8C95A3"/>
                </a:solidFill>
                <a:latin typeface="Meiryo UI" pitchFamily="34" charset="0"/>
                <a:ea typeface="Meiryo UI" pitchFamily="34" charset="-122"/>
                <a:cs typeface="Meiryo UI" pitchFamily="34" charset="-120"/>
              </a:rPr>
              <a:t>Webhook通知</a:t>
            </a:r>
            <a:endParaRPr lang="en-US" sz="650" dirty="0"/>
          </a:p>
        </p:txBody>
      </p:sp>
      <p:sp>
        <p:nvSpPr>
          <p:cNvPr id="29" name="Shape 23"/>
          <p:cNvSpPr/>
          <p:nvPr/>
        </p:nvSpPr>
        <p:spPr>
          <a:xfrm>
            <a:off x="5064633" y="2459736"/>
            <a:ext cx="372618" cy="0"/>
          </a:xfrm>
          <a:prstGeom prst="line">
            <a:avLst/>
          </a:prstGeom>
          <a:noFill/>
          <a:ln w="15875">
            <a:solidFill>
              <a:srgbClr val="1B2A49"/>
            </a:solidFill>
            <a:prstDash val="solid"/>
            <a:tailEnd type="triangle"/>
          </a:ln>
        </p:spPr>
      </p:sp>
      <p:pic>
        <p:nvPicPr>
          <p:cNvPr id="30" name="Image 4" descr="preencoded.png">    </p:cNvPr>
          <p:cNvPicPr>
            <a:picLocks noChangeAspect="1"/>
          </p:cNvPicPr>
          <p:nvPr/>
        </p:nvPicPr>
        <p:blipFill>
          <a:blip r:embed="rId5"/>
          <a:stretch>
            <a:fillRect/>
          </a:stretch>
        </p:blipFill>
        <p:spPr>
          <a:xfrm>
            <a:off x="5510403" y="2304288"/>
            <a:ext cx="310896" cy="310896"/>
          </a:xfrm>
          <a:prstGeom prst="rect">
            <a:avLst/>
          </a:prstGeom>
        </p:spPr>
      </p:pic>
      <p:sp>
        <p:nvSpPr>
          <p:cNvPr id="31" name="Text 24"/>
          <p:cNvSpPr txBox="1"/>
          <p:nvPr/>
        </p:nvSpPr>
        <p:spPr>
          <a:xfrm>
            <a:off x="5278374" y="2642616"/>
            <a:ext cx="774954" cy="402336"/>
          </a:xfrm>
          <a:prstGeom prst="rect">
            <a:avLst/>
          </a:prstGeom>
          <a:noFill/>
          <a:ln/>
        </p:spPr>
        <p:txBody>
          <a:bodyPr wrap="square" lIns="0" tIns="0" rIns="0" bIns="0" rtlCol="0" anchor="t"/>
          <a:lstStyle/>
          <a:p>
            <a:pPr algn="ctr" indent="0" marL="0">
              <a:buNone/>
            </a:pPr>
            <a:r>
              <a:rPr lang="en-US" sz="650" b="1" dirty="0">
                <a:solidFill>
                  <a:srgbClr val="6B7280"/>
                </a:solidFill>
                <a:latin typeface="Meiryo UI" pitchFamily="34" charset="0"/>
                <a:ea typeface="Meiryo UI" pitchFamily="34" charset="-122"/>
                <a:cs typeface="Meiryo UI" pitchFamily="34" charset="-120"/>
              </a:rPr>
              <a:t>Power Automate</a:t>
            </a:r>
            <a:endParaRPr lang="en-US" sz="650" dirty="0"/>
          </a:p>
          <a:p>
            <a:pPr algn="ctr" indent="0" marL="0">
              <a:buNone/>
            </a:pPr>
            <a:r>
              <a:rPr lang="en-US" sz="600" dirty="0">
                <a:solidFill>
                  <a:srgbClr val="8C95A3"/>
                </a:solidFill>
                <a:latin typeface="Meiryo UI" pitchFamily="34" charset="0"/>
                <a:ea typeface="Meiryo UI" pitchFamily="34" charset="-122"/>
                <a:cs typeface="Meiryo UI" pitchFamily="34" charset="-120"/>
              </a:rPr>
              <a:t>差分を取得</a:t>
            </a:r>
            <a:endParaRPr lang="en-US" sz="650" dirty="0"/>
          </a:p>
        </p:txBody>
      </p:sp>
      <p:sp>
        <p:nvSpPr>
          <p:cNvPr id="32" name="Shape 25"/>
          <p:cNvSpPr/>
          <p:nvPr/>
        </p:nvSpPr>
        <p:spPr>
          <a:xfrm>
            <a:off x="5894451" y="2459736"/>
            <a:ext cx="372618" cy="0"/>
          </a:xfrm>
          <a:prstGeom prst="line">
            <a:avLst/>
          </a:prstGeom>
          <a:noFill/>
          <a:ln w="15875">
            <a:solidFill>
              <a:srgbClr val="1B2A49"/>
            </a:solidFill>
            <a:prstDash val="solid"/>
            <a:tailEnd type="triangle"/>
          </a:ln>
        </p:spPr>
      </p:sp>
      <p:pic>
        <p:nvPicPr>
          <p:cNvPr id="33" name="Image 5" descr="preencoded.png">    </p:cNvPr>
          <p:cNvPicPr>
            <a:picLocks noChangeAspect="1"/>
          </p:cNvPicPr>
          <p:nvPr/>
        </p:nvPicPr>
        <p:blipFill>
          <a:blip r:embed="rId6"/>
          <a:stretch>
            <a:fillRect/>
          </a:stretch>
        </p:blipFill>
        <p:spPr>
          <a:xfrm>
            <a:off x="6340221" y="2304288"/>
            <a:ext cx="310896" cy="310896"/>
          </a:xfrm>
          <a:prstGeom prst="rect">
            <a:avLst/>
          </a:prstGeom>
        </p:spPr>
      </p:pic>
      <p:sp>
        <p:nvSpPr>
          <p:cNvPr id="34" name="Text 26"/>
          <p:cNvSpPr txBox="1"/>
          <p:nvPr/>
        </p:nvSpPr>
        <p:spPr>
          <a:xfrm>
            <a:off x="6108192" y="2642616"/>
            <a:ext cx="774954" cy="402336"/>
          </a:xfrm>
          <a:prstGeom prst="rect">
            <a:avLst/>
          </a:prstGeom>
          <a:noFill/>
          <a:ln/>
        </p:spPr>
        <p:txBody>
          <a:bodyPr wrap="square" lIns="0" tIns="0" rIns="0" bIns="0" rtlCol="0" anchor="t"/>
          <a:lstStyle/>
          <a:p>
            <a:pPr algn="ctr" indent="0" marL="0">
              <a:buNone/>
            </a:pPr>
            <a:r>
              <a:rPr lang="en-US" sz="650" b="1" dirty="0">
                <a:solidFill>
                  <a:srgbClr val="6B7280"/>
                </a:solidFill>
                <a:latin typeface="Meiryo UI" pitchFamily="34" charset="0"/>
                <a:ea typeface="Meiryo UI" pitchFamily="34" charset="-122"/>
                <a:cs typeface="Meiryo UI" pitchFamily="34" charset="-120"/>
              </a:rPr>
              <a:t>Copilot Studio</a:t>
            </a:r>
            <a:endParaRPr lang="en-US" sz="650" dirty="0"/>
          </a:p>
          <a:p>
            <a:pPr algn="ctr" indent="0" marL="0">
              <a:buNone/>
            </a:pPr>
            <a:r>
              <a:rPr lang="en-US" sz="600" dirty="0">
                <a:solidFill>
                  <a:srgbClr val="8C95A3"/>
                </a:solidFill>
                <a:latin typeface="Meiryo UI" pitchFamily="34" charset="0"/>
                <a:ea typeface="Meiryo UI" pitchFamily="34" charset="-122"/>
                <a:cs typeface="Meiryo UI" pitchFamily="34" charset="-120"/>
              </a:rPr>
              <a:t>Execute Agent</a:t>
            </a:r>
            <a:endParaRPr lang="en-US" sz="650" dirty="0"/>
          </a:p>
        </p:txBody>
      </p:sp>
      <p:sp>
        <p:nvSpPr>
          <p:cNvPr id="35" name="Shape 27"/>
          <p:cNvSpPr/>
          <p:nvPr/>
        </p:nvSpPr>
        <p:spPr>
          <a:xfrm>
            <a:off x="6724269" y="2459736"/>
            <a:ext cx="372618" cy="0"/>
          </a:xfrm>
          <a:prstGeom prst="line">
            <a:avLst/>
          </a:prstGeom>
          <a:noFill/>
          <a:ln w="15875">
            <a:solidFill>
              <a:srgbClr val="1B2A49"/>
            </a:solidFill>
            <a:prstDash val="solid"/>
            <a:tailEnd type="triangle"/>
          </a:ln>
        </p:spPr>
      </p:sp>
      <p:pic>
        <p:nvPicPr>
          <p:cNvPr id="36" name="Image 6" descr="preencoded.png">    </p:cNvPr>
          <p:cNvPicPr>
            <a:picLocks noChangeAspect="1"/>
          </p:cNvPicPr>
          <p:nvPr/>
        </p:nvPicPr>
        <p:blipFill>
          <a:blip r:embed="rId7"/>
          <a:stretch>
            <a:fillRect/>
          </a:stretch>
        </p:blipFill>
        <p:spPr>
          <a:xfrm>
            <a:off x="7170039" y="2304288"/>
            <a:ext cx="310896" cy="310896"/>
          </a:xfrm>
          <a:prstGeom prst="rect">
            <a:avLst/>
          </a:prstGeom>
        </p:spPr>
      </p:pic>
      <p:sp>
        <p:nvSpPr>
          <p:cNvPr id="37" name="Text 28"/>
          <p:cNvSpPr txBox="1"/>
          <p:nvPr/>
        </p:nvSpPr>
        <p:spPr>
          <a:xfrm>
            <a:off x="6938010" y="2642616"/>
            <a:ext cx="774954" cy="402336"/>
          </a:xfrm>
          <a:prstGeom prst="rect">
            <a:avLst/>
          </a:prstGeom>
          <a:noFill/>
          <a:ln/>
        </p:spPr>
        <p:txBody>
          <a:bodyPr wrap="square" lIns="0" tIns="0" rIns="0" bIns="0" rtlCol="0" anchor="t"/>
          <a:lstStyle/>
          <a:p>
            <a:pPr algn="ctr" indent="0" marL="0">
              <a:buNone/>
            </a:pPr>
            <a:r>
              <a:rPr lang="en-US" sz="650" b="1" dirty="0">
                <a:solidFill>
                  <a:srgbClr val="6B7280"/>
                </a:solidFill>
                <a:latin typeface="Meiryo UI" pitchFamily="34" charset="0"/>
                <a:ea typeface="Meiryo UI" pitchFamily="34" charset="-122"/>
                <a:cs typeface="Meiryo UI" pitchFamily="34" charset="-120"/>
              </a:rPr>
              <a:t>Airtable</a:t>
            </a:r>
            <a:endParaRPr lang="en-US" sz="650" dirty="0"/>
          </a:p>
          <a:p>
            <a:pPr algn="ctr" indent="0" marL="0">
              <a:buNone/>
            </a:pPr>
            <a:r>
              <a:rPr lang="en-US" sz="600" dirty="0">
                <a:solidFill>
                  <a:srgbClr val="8C95A3"/>
                </a:solidFill>
                <a:latin typeface="Meiryo UI" pitchFamily="34" charset="0"/>
                <a:ea typeface="Meiryo UI" pitchFamily="34" charset="-122"/>
                <a:cs typeface="Meiryo UI" pitchFamily="34" charset="-120"/>
              </a:rPr>
              <a:t>下書きに書込</a:t>
            </a:r>
            <a:endParaRPr lang="en-US" sz="650" dirty="0"/>
          </a:p>
        </p:txBody>
      </p:sp>
      <p:sp>
        <p:nvSpPr>
          <p:cNvPr id="38" name="Text 29"/>
          <p:cNvSpPr txBox="1"/>
          <p:nvPr/>
        </p:nvSpPr>
        <p:spPr>
          <a:xfrm>
            <a:off x="4421124" y="3200400"/>
            <a:ext cx="3319272" cy="3081528"/>
          </a:xfrm>
          <a:prstGeom prst="rect">
            <a:avLst/>
          </a:prstGeom>
          <a:noFill/>
          <a:ln/>
        </p:spPr>
        <p:txBody>
          <a:bodyPr wrap="square" lIns="254" tIns="254" rIns="254" bIns="254" rtlCol="0" anchor="t"/>
          <a:lstStyle/>
          <a:p>
            <a:pPr indent="0" marL="0">
              <a:buNone/>
            </a:pPr>
            <a:r>
              <a:rPr lang="en-US" sz="1000" b="1" dirty="0">
                <a:solidFill>
                  <a:srgbClr val="0E9F9A"/>
                </a:solidFill>
                <a:latin typeface="Meiryo UI" pitchFamily="34" charset="0"/>
                <a:ea typeface="Meiryo UI" pitchFamily="34" charset="-122"/>
                <a:cs typeface="Meiryo UI" pitchFamily="34" charset="-120"/>
              </a:rPr>
              <a:t>流れ</a:t>
            </a:r>
            <a:endParaRPr lang="en-US" sz="1000" dirty="0"/>
          </a:p>
          <a:p>
            <a:pPr indent="0" marL="0">
              <a:spcAft>
                <a:spcPts val="700"/>
              </a:spcAft>
              <a:buNone/>
            </a:pPr>
            <a:r>
              <a:rPr lang="en-US" sz="1000" dirty="0">
                <a:solidFill>
                  <a:srgbClr val="2B2B2B"/>
                </a:solidFill>
                <a:latin typeface="Meiryo UI" pitchFamily="34" charset="0"/>
                <a:ea typeface="Meiryo UI" pitchFamily="34" charset="-122"/>
                <a:cs typeface="Meiryo UI" pitchFamily="34" charset="-120"/>
              </a:rPr>
              <a:t>Airtableの変更 → Webhookの通知 → Power Automateが差分を取得 → エージェントを呼ぶ → 書き戻す</a:t>
            </a:r>
            <a:endParaRPr lang="en-US" sz="1000" dirty="0"/>
          </a:p>
          <a:p>
            <a:pPr indent="0" marL="0">
              <a:buNone/>
            </a:pPr>
            <a:r>
              <a:rPr lang="en-US" sz="1000" b="1" dirty="0">
                <a:solidFill>
                  <a:srgbClr val="0E9F9A"/>
                </a:solidFill>
                <a:latin typeface="Meiryo UI" pitchFamily="34" charset="0"/>
                <a:ea typeface="Meiryo UI" pitchFamily="34" charset="-122"/>
                <a:cs typeface="Meiryo UI" pitchFamily="34" charset="-120"/>
              </a:rPr>
              <a:t>必要なもの</a:t>
            </a:r>
            <a:endParaRPr lang="en-US" sz="1000" dirty="0"/>
          </a:p>
          <a:p>
            <a:pPr indent="0" marL="0">
              <a:spcAft>
                <a:spcPts val="700"/>
              </a:spcAft>
              <a:buNone/>
            </a:pPr>
            <a:r>
              <a:rPr lang="en-US" sz="1000" dirty="0">
                <a:solidFill>
                  <a:srgbClr val="2B2B2B"/>
                </a:solidFill>
                <a:latin typeface="Meiryo UI" pitchFamily="34" charset="0"/>
                <a:ea typeface="Meiryo UI" pitchFamily="34" charset="-122"/>
                <a:cs typeface="Meiryo UI" pitchFamily="34" charset="-120"/>
              </a:rPr>
              <a:t>Webhooks APIの設定と定期的な更新、Power Automate Premium</a:t>
            </a:r>
            <a:endParaRPr lang="en-US" sz="1000" dirty="0"/>
          </a:p>
          <a:p>
            <a:pPr indent="0" marL="0">
              <a:buNone/>
            </a:pPr>
            <a:r>
              <a:rPr lang="en-US" sz="1000" b="1" dirty="0">
                <a:solidFill>
                  <a:srgbClr val="0E9F9A"/>
                </a:solidFill>
                <a:latin typeface="Meiryo UI" pitchFamily="34" charset="0"/>
                <a:ea typeface="Meiryo UI" pitchFamily="34" charset="-122"/>
                <a:cs typeface="Meiryo UI" pitchFamily="34" charset="-120"/>
              </a:rPr>
              <a:t>長所</a:t>
            </a:r>
            <a:endParaRPr lang="en-US" sz="1000" dirty="0"/>
          </a:p>
          <a:p>
            <a:pPr indent="0" marL="0">
              <a:spcAft>
                <a:spcPts val="700"/>
              </a:spcAft>
              <a:buNone/>
            </a:pPr>
            <a:r>
              <a:rPr lang="en-US" sz="1000" dirty="0">
                <a:solidFill>
                  <a:srgbClr val="2B2B2B"/>
                </a:solidFill>
                <a:latin typeface="Meiryo UI" pitchFamily="34" charset="0"/>
                <a:ea typeface="Meiryo UI" pitchFamily="34" charset="-122"/>
                <a:cs typeface="Meiryo UI" pitchFamily="34" charset="-120"/>
              </a:rPr>
              <a:t>オートメーションを使わずに変更を検知できる</a:t>
            </a:r>
            <a:endParaRPr lang="en-US" sz="1000" dirty="0"/>
          </a:p>
          <a:p>
            <a:pPr indent="0" marL="0">
              <a:buNone/>
            </a:pPr>
            <a:r>
              <a:rPr lang="en-US" sz="1000" b="1" dirty="0">
                <a:solidFill>
                  <a:srgbClr val="0E9F9A"/>
                </a:solidFill>
                <a:latin typeface="Meiryo UI" pitchFamily="34" charset="0"/>
                <a:ea typeface="Meiryo UI" pitchFamily="34" charset="-122"/>
                <a:cs typeface="Meiryo UI" pitchFamily="34" charset="-120"/>
              </a:rPr>
              <a:t>制約・留意点</a:t>
            </a:r>
            <a:endParaRPr lang="en-US" sz="1000" dirty="0"/>
          </a:p>
          <a:p>
            <a:pPr indent="0" marL="0">
              <a:spcAft>
                <a:spcPts val="700"/>
              </a:spcAft>
              <a:buNone/>
            </a:pPr>
            <a:r>
              <a:rPr lang="en-US" sz="1000" dirty="0">
                <a:solidFill>
                  <a:srgbClr val="2B2B2B"/>
                </a:solidFill>
                <a:latin typeface="Meiryo UI" pitchFamily="34" charset="0"/>
                <a:ea typeface="Meiryo UI" pitchFamily="34" charset="-122"/>
                <a:cs typeface="Meiryo UI" pitchFamily="34" charset="-120"/>
              </a:rPr>
              <a:t>通知には変更の中身がなく、差分の取得が必要。Webhookは7日で失効するため更新の仕組みが必要。P9より手間が多い</a:t>
            </a:r>
            <a:endParaRPr lang="en-US" sz="1000" dirty="0"/>
          </a:p>
        </p:txBody>
      </p:sp>
      <p:sp>
        <p:nvSpPr>
          <p:cNvPr id="39" name="Shape 30"/>
          <p:cNvSpPr/>
          <p:nvPr/>
        </p:nvSpPr>
        <p:spPr>
          <a:xfrm>
            <a:off x="8019288" y="1371600"/>
            <a:ext cx="3593592" cy="4983480"/>
          </a:xfrm>
          <a:prstGeom prst="roundRect">
            <a:avLst>
              <a:gd name="adj" fmla="val 1272"/>
            </a:avLst>
          </a:prstGeom>
          <a:solidFill>
            <a:srgbClr val="F3F5F8"/>
          </a:solidFill>
          <a:ln/>
        </p:spPr>
      </p:sp>
      <p:sp>
        <p:nvSpPr>
          <p:cNvPr id="40" name="Shape 31"/>
          <p:cNvSpPr/>
          <p:nvPr/>
        </p:nvSpPr>
        <p:spPr>
          <a:xfrm>
            <a:off x="8129016" y="1481328"/>
            <a:ext cx="457200" cy="457200"/>
          </a:xfrm>
          <a:prstGeom prst="ellipse">
            <a:avLst/>
          </a:prstGeom>
          <a:solidFill>
            <a:srgbClr val="0E9F9A"/>
          </a:solidFill>
          <a:ln/>
        </p:spPr>
      </p:sp>
      <p:sp>
        <p:nvSpPr>
          <p:cNvPr id="41" name="Text 32"/>
          <p:cNvSpPr txBox="1"/>
          <p:nvPr/>
        </p:nvSpPr>
        <p:spPr>
          <a:xfrm>
            <a:off x="8129016" y="1481328"/>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P13</a:t>
            </a:r>
            <a:endParaRPr lang="en-US" sz="1100" dirty="0"/>
          </a:p>
        </p:txBody>
      </p:sp>
      <p:sp>
        <p:nvSpPr>
          <p:cNvPr id="42" name="Text 33"/>
          <p:cNvSpPr txBox="1"/>
          <p:nvPr/>
        </p:nvSpPr>
        <p:spPr>
          <a:xfrm>
            <a:off x="8659368" y="1426464"/>
            <a:ext cx="2862072" cy="512064"/>
          </a:xfrm>
          <a:prstGeom prst="rect">
            <a:avLst/>
          </a:prstGeom>
          <a:noFill/>
          <a:ln/>
        </p:spPr>
        <p:txBody>
          <a:bodyPr wrap="square" lIns="0" tIns="0" rIns="0" bIns="0" rtlCol="0" anchor="ctr"/>
          <a:lstStyle/>
          <a:p>
            <a:pPr indent="0" marL="0">
              <a:buNone/>
            </a:pPr>
            <a:r>
              <a:rPr lang="en-US" sz="1100" b="1" dirty="0">
                <a:solidFill>
                  <a:srgbClr val="1B2A49"/>
                </a:solidFill>
                <a:latin typeface="Meiryo UI" pitchFamily="34" charset="0"/>
                <a:ea typeface="Meiryo UI" pitchFamily="34" charset="-122"/>
                <a:cs typeface="Meiryo UI" pitchFamily="34" charset="-120"/>
              </a:rPr>
              <a:t>iPaaS（Make・Zapierなど）でAirtableの変更を検知する</a:t>
            </a:r>
            <a:endParaRPr lang="en-US" sz="1100" dirty="0"/>
          </a:p>
        </p:txBody>
      </p:sp>
      <p:sp>
        <p:nvSpPr>
          <p:cNvPr id="43" name="Text 34"/>
          <p:cNvSpPr txBox="1"/>
          <p:nvPr/>
        </p:nvSpPr>
        <p:spPr>
          <a:xfrm>
            <a:off x="8659368" y="1938528"/>
            <a:ext cx="2862072" cy="219456"/>
          </a:xfrm>
          <a:prstGeom prst="rect">
            <a:avLst/>
          </a:prstGeom>
          <a:noFill/>
          <a:ln/>
        </p:spPr>
        <p:txBody>
          <a:bodyPr wrap="square" lIns="0" tIns="0" rIns="0" bIns="0" rtlCol="0" anchor="ctr"/>
          <a:lstStyle/>
          <a:p>
            <a:pPr indent="0" marL="0">
              <a:buNone/>
            </a:pPr>
            <a:r>
              <a:rPr lang="en-US" sz="850" dirty="0">
                <a:solidFill>
                  <a:srgbClr val="6B7280"/>
                </a:solidFill>
                <a:latin typeface="Meiryo UI" pitchFamily="34" charset="0"/>
                <a:ea typeface="Meiryo UI" pitchFamily="34" charset="-122"/>
                <a:cs typeface="Meiryo UI" pitchFamily="34" charset="-120"/>
              </a:rPr>
              <a:t>外部サービス経由　難易度 </a:t>
            </a:r>
            <a:pPr indent="0" marL="0">
              <a:buNone/>
            </a:pPr>
            <a:r>
              <a:rPr lang="en-US" sz="850" b="1" dirty="0">
                <a:solidFill>
                  <a:srgbClr val="E8912D"/>
                </a:solidFill>
                <a:latin typeface="Meiryo UI" pitchFamily="34" charset="0"/>
                <a:ea typeface="Meiryo UI" pitchFamily="34" charset="-122"/>
                <a:cs typeface="Meiryo UI" pitchFamily="34" charset="-120"/>
              </a:rPr>
              <a:t>★★</a:t>
            </a:r>
            <a:endParaRPr lang="en-US" sz="850" dirty="0"/>
          </a:p>
        </p:txBody>
      </p:sp>
      <p:sp>
        <p:nvSpPr>
          <p:cNvPr id="44" name="Shape 35"/>
          <p:cNvSpPr/>
          <p:nvPr/>
        </p:nvSpPr>
        <p:spPr>
          <a:xfrm>
            <a:off x="8129016" y="2231136"/>
            <a:ext cx="3374136" cy="868680"/>
          </a:xfrm>
          <a:prstGeom prst="roundRect">
            <a:avLst>
              <a:gd name="adj" fmla="val 5263"/>
            </a:avLst>
          </a:prstGeom>
          <a:solidFill>
            <a:srgbClr val="FFFFFF"/>
          </a:solidFill>
          <a:ln w="12700">
            <a:solidFill>
              <a:srgbClr val="D5DBE3"/>
            </a:solidFill>
            <a:prstDash val="solid"/>
          </a:ln>
        </p:spPr>
      </p:sp>
      <p:pic>
        <p:nvPicPr>
          <p:cNvPr id="45" name="Image 7" descr="preencoded.png">    </p:cNvPr>
          <p:cNvPicPr>
            <a:picLocks noChangeAspect="1"/>
          </p:cNvPicPr>
          <p:nvPr/>
        </p:nvPicPr>
        <p:blipFill>
          <a:blip r:embed="rId8"/>
          <a:stretch>
            <a:fillRect/>
          </a:stretch>
        </p:blipFill>
        <p:spPr>
          <a:xfrm>
            <a:off x="8415909" y="2304288"/>
            <a:ext cx="310896" cy="310896"/>
          </a:xfrm>
          <a:prstGeom prst="rect">
            <a:avLst/>
          </a:prstGeom>
        </p:spPr>
      </p:pic>
      <p:sp>
        <p:nvSpPr>
          <p:cNvPr id="46" name="Text 36"/>
          <p:cNvSpPr txBox="1"/>
          <p:nvPr/>
        </p:nvSpPr>
        <p:spPr>
          <a:xfrm>
            <a:off x="8183880" y="2642616"/>
            <a:ext cx="774954" cy="402336"/>
          </a:xfrm>
          <a:prstGeom prst="rect">
            <a:avLst/>
          </a:prstGeom>
          <a:noFill/>
          <a:ln/>
        </p:spPr>
        <p:txBody>
          <a:bodyPr wrap="square" lIns="0" tIns="0" rIns="0" bIns="0" rtlCol="0" anchor="t"/>
          <a:lstStyle/>
          <a:p>
            <a:pPr algn="ctr" indent="0" marL="0">
              <a:buNone/>
            </a:pPr>
            <a:r>
              <a:rPr lang="en-US" sz="650" b="1" dirty="0">
                <a:solidFill>
                  <a:srgbClr val="6B7280"/>
                </a:solidFill>
                <a:latin typeface="Meiryo UI" pitchFamily="34" charset="0"/>
                <a:ea typeface="Meiryo UI" pitchFamily="34" charset="-122"/>
                <a:cs typeface="Meiryo UI" pitchFamily="34" charset="-120"/>
              </a:rPr>
              <a:t>Airtable</a:t>
            </a:r>
            <a:endParaRPr lang="en-US" sz="650" dirty="0"/>
          </a:p>
          <a:p>
            <a:pPr algn="ctr" indent="0" marL="0">
              <a:buNone/>
            </a:pPr>
            <a:r>
              <a:rPr lang="en-US" sz="600" dirty="0">
                <a:solidFill>
                  <a:srgbClr val="8C95A3"/>
                </a:solidFill>
                <a:latin typeface="Meiryo UI" pitchFamily="34" charset="0"/>
                <a:ea typeface="Meiryo UI" pitchFamily="34" charset="-122"/>
                <a:cs typeface="Meiryo UI" pitchFamily="34" charset="-120"/>
              </a:rPr>
              <a:t>作成・更新</a:t>
            </a:r>
            <a:endParaRPr lang="en-US" sz="650" dirty="0"/>
          </a:p>
        </p:txBody>
      </p:sp>
      <p:sp>
        <p:nvSpPr>
          <p:cNvPr id="47" name="Shape 37"/>
          <p:cNvSpPr/>
          <p:nvPr/>
        </p:nvSpPr>
        <p:spPr>
          <a:xfrm>
            <a:off x="8799957" y="2459736"/>
            <a:ext cx="372618" cy="0"/>
          </a:xfrm>
          <a:prstGeom prst="line">
            <a:avLst/>
          </a:prstGeom>
          <a:noFill/>
          <a:ln w="15875">
            <a:solidFill>
              <a:srgbClr val="1B2A49"/>
            </a:solidFill>
            <a:prstDash val="solid"/>
            <a:tailEnd type="triangle"/>
          </a:ln>
        </p:spPr>
      </p:sp>
      <p:pic>
        <p:nvPicPr>
          <p:cNvPr id="48" name="Image 8" descr="preencoded.png">    </p:cNvPr>
          <p:cNvPicPr>
            <a:picLocks noChangeAspect="1"/>
          </p:cNvPicPr>
          <p:nvPr/>
        </p:nvPicPr>
        <p:blipFill>
          <a:blip r:embed="rId9"/>
          <a:stretch>
            <a:fillRect/>
          </a:stretch>
        </p:blipFill>
        <p:spPr>
          <a:xfrm>
            <a:off x="9245727" y="2304288"/>
            <a:ext cx="310896" cy="310896"/>
          </a:xfrm>
          <a:prstGeom prst="rect">
            <a:avLst/>
          </a:prstGeom>
        </p:spPr>
      </p:pic>
      <p:sp>
        <p:nvSpPr>
          <p:cNvPr id="49" name="Text 38"/>
          <p:cNvSpPr txBox="1"/>
          <p:nvPr/>
        </p:nvSpPr>
        <p:spPr>
          <a:xfrm>
            <a:off x="9013698" y="2642616"/>
            <a:ext cx="774954" cy="402336"/>
          </a:xfrm>
          <a:prstGeom prst="rect">
            <a:avLst/>
          </a:prstGeom>
          <a:noFill/>
          <a:ln/>
        </p:spPr>
        <p:txBody>
          <a:bodyPr wrap="square" lIns="0" tIns="0" rIns="0" bIns="0" rtlCol="0" anchor="t"/>
          <a:lstStyle/>
          <a:p>
            <a:pPr algn="ctr" indent="0" marL="0">
              <a:buNone/>
            </a:pPr>
            <a:r>
              <a:rPr lang="en-US" sz="650" b="1" dirty="0">
                <a:solidFill>
                  <a:srgbClr val="6B7280"/>
                </a:solidFill>
                <a:latin typeface="Meiryo UI" pitchFamily="34" charset="0"/>
                <a:ea typeface="Meiryo UI" pitchFamily="34" charset="-122"/>
                <a:cs typeface="Meiryo UI" pitchFamily="34" charset="-120"/>
              </a:rPr>
              <a:t>iPaaS</a:t>
            </a:r>
            <a:endParaRPr lang="en-US" sz="650" dirty="0"/>
          </a:p>
          <a:p>
            <a:pPr algn="ctr" indent="0" marL="0">
              <a:buNone/>
            </a:pPr>
            <a:r>
              <a:rPr lang="en-US" sz="600" dirty="0">
                <a:solidFill>
                  <a:srgbClr val="8C95A3"/>
                </a:solidFill>
                <a:latin typeface="Meiryo UI" pitchFamily="34" charset="0"/>
                <a:ea typeface="Meiryo UI" pitchFamily="34" charset="-122"/>
                <a:cs typeface="Meiryo UI" pitchFamily="34" charset="-120"/>
              </a:rPr>
              <a:t>Make・Zapier</a:t>
            </a:r>
            <a:endParaRPr lang="en-US" sz="650" dirty="0"/>
          </a:p>
        </p:txBody>
      </p:sp>
      <p:sp>
        <p:nvSpPr>
          <p:cNvPr id="50" name="Shape 39"/>
          <p:cNvSpPr/>
          <p:nvPr/>
        </p:nvSpPr>
        <p:spPr>
          <a:xfrm>
            <a:off x="9629775" y="2459736"/>
            <a:ext cx="372618" cy="0"/>
          </a:xfrm>
          <a:prstGeom prst="line">
            <a:avLst/>
          </a:prstGeom>
          <a:noFill/>
          <a:ln w="15875">
            <a:solidFill>
              <a:srgbClr val="1B2A49"/>
            </a:solidFill>
            <a:prstDash val="solid"/>
            <a:tailEnd type="triangle"/>
          </a:ln>
        </p:spPr>
      </p:sp>
      <p:pic>
        <p:nvPicPr>
          <p:cNvPr id="51" name="Image 9" descr="preencoded.png">    </p:cNvPr>
          <p:cNvPicPr>
            <a:picLocks noChangeAspect="1"/>
          </p:cNvPicPr>
          <p:nvPr/>
        </p:nvPicPr>
        <p:blipFill>
          <a:blip r:embed="rId10"/>
          <a:stretch>
            <a:fillRect/>
          </a:stretch>
        </p:blipFill>
        <p:spPr>
          <a:xfrm>
            <a:off x="10075545" y="2304288"/>
            <a:ext cx="310896" cy="310896"/>
          </a:xfrm>
          <a:prstGeom prst="rect">
            <a:avLst/>
          </a:prstGeom>
        </p:spPr>
      </p:pic>
      <p:sp>
        <p:nvSpPr>
          <p:cNvPr id="52" name="Text 40"/>
          <p:cNvSpPr txBox="1"/>
          <p:nvPr/>
        </p:nvSpPr>
        <p:spPr>
          <a:xfrm>
            <a:off x="9843516" y="2642616"/>
            <a:ext cx="774954" cy="402336"/>
          </a:xfrm>
          <a:prstGeom prst="rect">
            <a:avLst/>
          </a:prstGeom>
          <a:noFill/>
          <a:ln/>
        </p:spPr>
        <p:txBody>
          <a:bodyPr wrap="square" lIns="0" tIns="0" rIns="0" bIns="0" rtlCol="0" anchor="t"/>
          <a:lstStyle/>
          <a:p>
            <a:pPr algn="ctr" indent="0" marL="0">
              <a:buNone/>
            </a:pPr>
            <a:r>
              <a:rPr lang="en-US" sz="650" b="1" dirty="0">
                <a:solidFill>
                  <a:srgbClr val="6B7280"/>
                </a:solidFill>
                <a:latin typeface="Meiryo UI" pitchFamily="34" charset="0"/>
                <a:ea typeface="Meiryo UI" pitchFamily="34" charset="-122"/>
                <a:cs typeface="Meiryo UI" pitchFamily="34" charset="-120"/>
              </a:rPr>
              <a:t>LLM API</a:t>
            </a:r>
            <a:endParaRPr lang="en-US" sz="650" dirty="0"/>
          </a:p>
          <a:p>
            <a:pPr algn="ctr" indent="0" marL="0">
              <a:buNone/>
            </a:pPr>
            <a:r>
              <a:rPr lang="en-US" sz="600" dirty="0">
                <a:solidFill>
                  <a:srgbClr val="8C95A3"/>
                </a:solidFill>
                <a:latin typeface="Meiryo UI" pitchFamily="34" charset="0"/>
                <a:ea typeface="Meiryo UI" pitchFamily="34" charset="-122"/>
                <a:cs typeface="Meiryo UI" pitchFamily="34" charset="-120"/>
              </a:rPr>
              <a:t>またはPA経由</a:t>
            </a:r>
            <a:endParaRPr lang="en-US" sz="650" dirty="0"/>
          </a:p>
        </p:txBody>
      </p:sp>
      <p:sp>
        <p:nvSpPr>
          <p:cNvPr id="53" name="Shape 41"/>
          <p:cNvSpPr/>
          <p:nvPr/>
        </p:nvSpPr>
        <p:spPr>
          <a:xfrm>
            <a:off x="10459593" y="2459736"/>
            <a:ext cx="372618" cy="0"/>
          </a:xfrm>
          <a:prstGeom prst="line">
            <a:avLst/>
          </a:prstGeom>
          <a:noFill/>
          <a:ln w="15875">
            <a:solidFill>
              <a:srgbClr val="1B2A49"/>
            </a:solidFill>
            <a:prstDash val="solid"/>
            <a:tailEnd type="triangle"/>
          </a:ln>
        </p:spPr>
      </p:sp>
      <p:pic>
        <p:nvPicPr>
          <p:cNvPr id="54" name="Image 10" descr="preencoded.png">    </p:cNvPr>
          <p:cNvPicPr>
            <a:picLocks noChangeAspect="1"/>
          </p:cNvPicPr>
          <p:nvPr/>
        </p:nvPicPr>
        <p:blipFill>
          <a:blip r:embed="rId11"/>
          <a:stretch>
            <a:fillRect/>
          </a:stretch>
        </p:blipFill>
        <p:spPr>
          <a:xfrm>
            <a:off x="10905363" y="2304288"/>
            <a:ext cx="310896" cy="310896"/>
          </a:xfrm>
          <a:prstGeom prst="rect">
            <a:avLst/>
          </a:prstGeom>
        </p:spPr>
      </p:pic>
      <p:sp>
        <p:nvSpPr>
          <p:cNvPr id="55" name="Text 42"/>
          <p:cNvSpPr txBox="1"/>
          <p:nvPr/>
        </p:nvSpPr>
        <p:spPr>
          <a:xfrm>
            <a:off x="10673334" y="2642616"/>
            <a:ext cx="774954" cy="402336"/>
          </a:xfrm>
          <a:prstGeom prst="rect">
            <a:avLst/>
          </a:prstGeom>
          <a:noFill/>
          <a:ln/>
        </p:spPr>
        <p:txBody>
          <a:bodyPr wrap="square" lIns="0" tIns="0" rIns="0" bIns="0" rtlCol="0" anchor="t"/>
          <a:lstStyle/>
          <a:p>
            <a:pPr algn="ctr" indent="0" marL="0">
              <a:buNone/>
            </a:pPr>
            <a:r>
              <a:rPr lang="en-US" sz="650" b="1" dirty="0">
                <a:solidFill>
                  <a:srgbClr val="6B7280"/>
                </a:solidFill>
                <a:latin typeface="Meiryo UI" pitchFamily="34" charset="0"/>
                <a:ea typeface="Meiryo UI" pitchFamily="34" charset="-122"/>
                <a:cs typeface="Meiryo UI" pitchFamily="34" charset="-120"/>
              </a:rPr>
              <a:t>Airtable</a:t>
            </a:r>
            <a:endParaRPr lang="en-US" sz="650" dirty="0"/>
          </a:p>
          <a:p>
            <a:pPr algn="ctr" indent="0" marL="0">
              <a:buNone/>
            </a:pPr>
            <a:r>
              <a:rPr lang="en-US" sz="600" dirty="0">
                <a:solidFill>
                  <a:srgbClr val="8C95A3"/>
                </a:solidFill>
                <a:latin typeface="Meiryo UI" pitchFamily="34" charset="0"/>
                <a:ea typeface="Meiryo UI" pitchFamily="34" charset="-122"/>
                <a:cs typeface="Meiryo UI" pitchFamily="34" charset="-120"/>
              </a:rPr>
              <a:t>下書きに書込</a:t>
            </a:r>
            <a:endParaRPr lang="en-US" sz="650" dirty="0"/>
          </a:p>
        </p:txBody>
      </p:sp>
      <p:sp>
        <p:nvSpPr>
          <p:cNvPr id="56" name="Text 43"/>
          <p:cNvSpPr txBox="1"/>
          <p:nvPr/>
        </p:nvSpPr>
        <p:spPr>
          <a:xfrm>
            <a:off x="8156448" y="3200400"/>
            <a:ext cx="3319272" cy="3081528"/>
          </a:xfrm>
          <a:prstGeom prst="rect">
            <a:avLst/>
          </a:prstGeom>
          <a:noFill/>
          <a:ln/>
        </p:spPr>
        <p:txBody>
          <a:bodyPr wrap="square" lIns="254" tIns="254" rIns="254" bIns="254" rtlCol="0" anchor="t"/>
          <a:lstStyle/>
          <a:p>
            <a:pPr indent="0" marL="0">
              <a:buNone/>
            </a:pPr>
            <a:r>
              <a:rPr lang="en-US" sz="1000" b="1" dirty="0">
                <a:solidFill>
                  <a:srgbClr val="0E9F9A"/>
                </a:solidFill>
                <a:latin typeface="Meiryo UI" pitchFamily="34" charset="0"/>
                <a:ea typeface="Meiryo UI" pitchFamily="34" charset="-122"/>
                <a:cs typeface="Meiryo UI" pitchFamily="34" charset="-120"/>
              </a:rPr>
              <a:t>流れ</a:t>
            </a:r>
            <a:endParaRPr lang="en-US" sz="1000" dirty="0"/>
          </a:p>
          <a:p>
            <a:pPr indent="0" marL="0">
              <a:spcAft>
                <a:spcPts val="700"/>
              </a:spcAft>
              <a:buNone/>
            </a:pPr>
            <a:r>
              <a:rPr lang="en-US" sz="1000" dirty="0">
                <a:solidFill>
                  <a:srgbClr val="2B2B2B"/>
                </a:solidFill>
                <a:latin typeface="Meiryo UI" pitchFamily="34" charset="0"/>
                <a:ea typeface="Meiryo UI" pitchFamily="34" charset="-122"/>
                <a:cs typeface="Meiryo UI" pitchFamily="34" charset="-120"/>
              </a:rPr>
              <a:t>iPaaSがAirtableの作成・更新を標準機能で検知 → LLMのAPI、またはPower Automateを経由してエージェントを呼ぶ → Airtableに書き戻す（iPaaSの説明は参考ページ）</a:t>
            </a:r>
            <a:endParaRPr lang="en-US" sz="1000" dirty="0"/>
          </a:p>
          <a:p>
            <a:pPr indent="0" marL="0">
              <a:buNone/>
            </a:pPr>
            <a:r>
              <a:rPr lang="en-US" sz="1000" b="1" dirty="0">
                <a:solidFill>
                  <a:srgbClr val="0E9F9A"/>
                </a:solidFill>
                <a:latin typeface="Meiryo UI" pitchFamily="34" charset="0"/>
                <a:ea typeface="Meiryo UI" pitchFamily="34" charset="-122"/>
                <a:cs typeface="Meiryo UI" pitchFamily="34" charset="-120"/>
              </a:rPr>
              <a:t>必要なもの</a:t>
            </a:r>
            <a:endParaRPr lang="en-US" sz="1000" dirty="0"/>
          </a:p>
          <a:p>
            <a:pPr indent="0" marL="0">
              <a:spcAft>
                <a:spcPts val="700"/>
              </a:spcAft>
              <a:buNone/>
            </a:pPr>
            <a:r>
              <a:rPr lang="en-US" sz="1000" dirty="0">
                <a:solidFill>
                  <a:srgbClr val="2B2B2B"/>
                </a:solidFill>
                <a:latin typeface="Meiryo UI" pitchFamily="34" charset="0"/>
                <a:ea typeface="Meiryo UI" pitchFamily="34" charset="-122"/>
                <a:cs typeface="Meiryo UI" pitchFamily="34" charset="-120"/>
              </a:rPr>
              <a:t>iPaaSの契約</a:t>
            </a:r>
            <a:endParaRPr lang="en-US" sz="1000" dirty="0"/>
          </a:p>
          <a:p>
            <a:pPr indent="0" marL="0">
              <a:buNone/>
            </a:pPr>
            <a:r>
              <a:rPr lang="en-US" sz="1000" b="1" dirty="0">
                <a:solidFill>
                  <a:srgbClr val="0E9F9A"/>
                </a:solidFill>
                <a:latin typeface="Meiryo UI" pitchFamily="34" charset="0"/>
                <a:ea typeface="Meiryo UI" pitchFamily="34" charset="-122"/>
                <a:cs typeface="Meiryo UI" pitchFamily="34" charset="-120"/>
              </a:rPr>
              <a:t>長所</a:t>
            </a:r>
            <a:endParaRPr lang="en-US" sz="1000" dirty="0"/>
          </a:p>
          <a:p>
            <a:pPr indent="0" marL="0">
              <a:spcAft>
                <a:spcPts val="700"/>
              </a:spcAft>
              <a:buNone/>
            </a:pPr>
            <a:r>
              <a:rPr lang="en-US" sz="1000" dirty="0">
                <a:solidFill>
                  <a:srgbClr val="2B2B2B"/>
                </a:solidFill>
                <a:latin typeface="Meiryo UI" pitchFamily="34" charset="0"/>
                <a:ea typeface="Meiryo UI" pitchFamily="34" charset="-122"/>
                <a:cs typeface="Meiryo UI" pitchFamily="34" charset="-120"/>
              </a:rPr>
              <a:t>Airtableの変更検知と書き戻しが標準機能で組める</a:t>
            </a:r>
            <a:endParaRPr lang="en-US" sz="1000" dirty="0"/>
          </a:p>
          <a:p>
            <a:pPr indent="0" marL="0">
              <a:buNone/>
            </a:pPr>
            <a:r>
              <a:rPr lang="en-US" sz="1000" b="1" dirty="0">
                <a:solidFill>
                  <a:srgbClr val="0E9F9A"/>
                </a:solidFill>
                <a:latin typeface="Meiryo UI" pitchFamily="34" charset="0"/>
                <a:ea typeface="Meiryo UI" pitchFamily="34" charset="-122"/>
                <a:cs typeface="Meiryo UI" pitchFamily="34" charset="-120"/>
              </a:rPr>
              <a:t>制約・留意点</a:t>
            </a:r>
            <a:endParaRPr lang="en-US" sz="1000" dirty="0"/>
          </a:p>
          <a:p>
            <a:pPr indent="0" marL="0">
              <a:spcAft>
                <a:spcPts val="700"/>
              </a:spcAft>
              <a:buNone/>
            </a:pPr>
            <a:r>
              <a:rPr lang="en-US" sz="1000" dirty="0">
                <a:solidFill>
                  <a:srgbClr val="2B2B2B"/>
                </a:solidFill>
                <a:latin typeface="Meiryo UI" pitchFamily="34" charset="0"/>
                <a:ea typeface="Meiryo UI" pitchFamily="34" charset="-122"/>
                <a:cs typeface="Meiryo UI" pitchFamily="34" charset="-120"/>
              </a:rPr>
              <a:t>新たな外部SaaSの契約・情報セキュリティの審査が必要。Copilot Studioのエージェントを直接呼ぶ標準の手段は限られ、Power Automateを経由するなどの工夫が必要</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P11で使う「Direct Line」とは：機能と必要性</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Copilot Studioのエージェントに、外部のプログラムから「会話」として話しかけるためのAPI</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3. パターン別の詳細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17</a:t>
            </a:r>
            <a:endParaRPr lang="en-US" sz="900" dirty="0"/>
          </a:p>
        </p:txBody>
      </p:sp>
      <p:sp>
        <p:nvSpPr>
          <p:cNvPr id="6" name="Shape 4"/>
          <p:cNvSpPr/>
          <p:nvPr/>
        </p:nvSpPr>
        <p:spPr>
          <a:xfrm>
            <a:off x="548640" y="1371600"/>
            <a:ext cx="11064240" cy="2331720"/>
          </a:xfrm>
          <a:prstGeom prst="roundRect">
            <a:avLst>
              <a:gd name="adj" fmla="val 2353"/>
            </a:avLst>
          </a:prstGeom>
          <a:solidFill>
            <a:srgbClr val="F3F5F8"/>
          </a:solidFill>
          <a:ln/>
        </p:spPr>
      </p:sp>
      <p:sp>
        <p:nvSpPr>
          <p:cNvPr id="7" name="Shape 5"/>
          <p:cNvSpPr/>
          <p:nvPr/>
        </p:nvSpPr>
        <p:spPr>
          <a:xfrm>
            <a:off x="713232" y="1490472"/>
            <a:ext cx="420624" cy="420624"/>
          </a:xfrm>
          <a:prstGeom prst="ellipse">
            <a:avLst/>
          </a:prstGeom>
          <a:solidFill>
            <a:srgbClr val="FFFFFF"/>
          </a:solidFill>
          <a:ln/>
        </p:spPr>
      </p:sp>
      <p:pic>
        <p:nvPicPr>
          <p:cNvPr id="8" name="Image 0" descr="preencoded.png">    </p:cNvPr>
          <p:cNvPicPr>
            <a:picLocks noChangeAspect="1"/>
          </p:cNvPicPr>
          <p:nvPr/>
        </p:nvPicPr>
        <p:blipFill>
          <a:blip r:embed="rId1"/>
          <a:stretch>
            <a:fillRect/>
          </a:stretch>
        </p:blipFill>
        <p:spPr>
          <a:xfrm>
            <a:off x="797357" y="1574597"/>
            <a:ext cx="252374" cy="252374"/>
          </a:xfrm>
          <a:prstGeom prst="rect">
            <a:avLst/>
          </a:prstGeom>
        </p:spPr>
      </p:pic>
      <p:sp>
        <p:nvSpPr>
          <p:cNvPr id="9" name="Text 6"/>
          <p:cNvSpPr txBox="1"/>
          <p:nvPr/>
        </p:nvSpPr>
        <p:spPr>
          <a:xfrm>
            <a:off x="1234440" y="1490472"/>
            <a:ext cx="4572000" cy="420624"/>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Direct Lineの機能</a:t>
            </a:r>
            <a:endParaRPr lang="en-US" sz="1300" dirty="0"/>
          </a:p>
        </p:txBody>
      </p:sp>
      <p:sp>
        <p:nvSpPr>
          <p:cNvPr id="10" name="Shape 7"/>
          <p:cNvSpPr/>
          <p:nvPr/>
        </p:nvSpPr>
        <p:spPr>
          <a:xfrm>
            <a:off x="731520" y="2011680"/>
            <a:ext cx="2651760" cy="457200"/>
          </a:xfrm>
          <a:prstGeom prst="roundRect">
            <a:avLst>
              <a:gd name="adj" fmla="val 16000"/>
            </a:avLst>
          </a:prstGeom>
          <a:solidFill>
            <a:srgbClr val="FFFFFF"/>
          </a:solidFill>
          <a:ln w="12700">
            <a:solidFill>
              <a:srgbClr val="D5DBE3"/>
            </a:solidFill>
            <a:prstDash val="solid"/>
          </a:ln>
        </p:spPr>
      </p:sp>
      <p:pic>
        <p:nvPicPr>
          <p:cNvPr id="11" name="Image 1" descr="preencoded.png">    </p:cNvPr>
          <p:cNvPicPr>
            <a:picLocks noChangeAspect="1"/>
          </p:cNvPicPr>
          <p:nvPr/>
        </p:nvPicPr>
        <p:blipFill>
          <a:blip r:embed="rId2"/>
          <a:stretch>
            <a:fillRect/>
          </a:stretch>
        </p:blipFill>
        <p:spPr>
          <a:xfrm>
            <a:off x="841248" y="2112264"/>
            <a:ext cx="256032" cy="256032"/>
          </a:xfrm>
          <a:prstGeom prst="rect">
            <a:avLst/>
          </a:prstGeom>
        </p:spPr>
      </p:pic>
      <p:sp>
        <p:nvSpPr>
          <p:cNvPr id="12" name="Text 8"/>
          <p:cNvSpPr txBox="1"/>
          <p:nvPr/>
        </p:nvSpPr>
        <p:spPr>
          <a:xfrm>
            <a:off x="1188720" y="2011680"/>
            <a:ext cx="2148840" cy="457200"/>
          </a:xfrm>
          <a:prstGeom prst="rect">
            <a:avLst/>
          </a:prstGeom>
          <a:noFill/>
          <a:ln/>
        </p:spPr>
        <p:txBody>
          <a:bodyPr wrap="square" lIns="0" tIns="0" rIns="0" bIns="0" rtlCol="0" anchor="ctr"/>
          <a:lstStyle/>
          <a:p>
            <a:pPr algn="l" indent="0" marL="0">
              <a:buNone/>
            </a:pPr>
            <a:r>
              <a:rPr lang="en-US" sz="950" b="1" dirty="0">
                <a:solidFill>
                  <a:srgbClr val="1B2A49"/>
                </a:solidFill>
                <a:latin typeface="Meiryo UI" pitchFamily="34" charset="0"/>
                <a:ea typeface="Meiryo UI" pitchFamily="34" charset="-122"/>
                <a:cs typeface="Meiryo UI" pitchFamily="34" charset="-120"/>
              </a:rPr>
              <a:t>Teams</a:t>
            </a:r>
            <a:endParaRPr lang="en-US" sz="950" dirty="0"/>
          </a:p>
          <a:p>
            <a:pPr algn="l" indent="0" marL="0">
              <a:buNone/>
            </a:pPr>
            <a:r>
              <a:rPr lang="en-US" sz="750" dirty="0">
                <a:solidFill>
                  <a:srgbClr val="6B7280"/>
                </a:solidFill>
                <a:latin typeface="Meiryo UI" pitchFamily="34" charset="0"/>
                <a:ea typeface="Meiryo UI" pitchFamily="34" charset="-122"/>
                <a:cs typeface="Meiryo UI" pitchFamily="34" charset="-120"/>
              </a:rPr>
              <a:t>人がチャット</a:t>
            </a:r>
            <a:endParaRPr lang="en-US" sz="950" dirty="0"/>
          </a:p>
        </p:txBody>
      </p:sp>
      <p:sp>
        <p:nvSpPr>
          <p:cNvPr id="13" name="Shape 9"/>
          <p:cNvSpPr/>
          <p:nvPr/>
        </p:nvSpPr>
        <p:spPr>
          <a:xfrm>
            <a:off x="3429000" y="2240280"/>
            <a:ext cx="914400" cy="548640"/>
          </a:xfrm>
          <a:prstGeom prst="line">
            <a:avLst/>
          </a:prstGeom>
          <a:noFill/>
          <a:ln w="15875">
            <a:solidFill>
              <a:srgbClr val="9AA5B4"/>
            </a:solidFill>
            <a:prstDash val="solid"/>
            <a:tailEnd type="triangle"/>
          </a:ln>
        </p:spPr>
      </p:sp>
      <p:sp>
        <p:nvSpPr>
          <p:cNvPr id="14" name="Shape 10"/>
          <p:cNvSpPr/>
          <p:nvPr/>
        </p:nvSpPr>
        <p:spPr>
          <a:xfrm>
            <a:off x="731520" y="2560320"/>
            <a:ext cx="2651760" cy="457200"/>
          </a:xfrm>
          <a:prstGeom prst="roundRect">
            <a:avLst>
              <a:gd name="adj" fmla="val 16000"/>
            </a:avLst>
          </a:prstGeom>
          <a:solidFill>
            <a:srgbClr val="FFFFFF"/>
          </a:solidFill>
          <a:ln w="12700">
            <a:solidFill>
              <a:srgbClr val="D5DBE3"/>
            </a:solidFill>
            <a:prstDash val="solid"/>
          </a:ln>
        </p:spPr>
      </p:sp>
      <p:pic>
        <p:nvPicPr>
          <p:cNvPr id="15" name="Image 2" descr="preencoded.png">    </p:cNvPr>
          <p:cNvPicPr>
            <a:picLocks noChangeAspect="1"/>
          </p:cNvPicPr>
          <p:nvPr/>
        </p:nvPicPr>
        <p:blipFill>
          <a:blip r:embed="rId3"/>
          <a:stretch>
            <a:fillRect/>
          </a:stretch>
        </p:blipFill>
        <p:spPr>
          <a:xfrm>
            <a:off x="841248" y="2660904"/>
            <a:ext cx="256032" cy="256032"/>
          </a:xfrm>
          <a:prstGeom prst="rect">
            <a:avLst/>
          </a:prstGeom>
        </p:spPr>
      </p:pic>
      <p:sp>
        <p:nvSpPr>
          <p:cNvPr id="16" name="Text 11"/>
          <p:cNvSpPr txBox="1"/>
          <p:nvPr/>
        </p:nvSpPr>
        <p:spPr>
          <a:xfrm>
            <a:off x="1188720" y="2560320"/>
            <a:ext cx="2148840" cy="457200"/>
          </a:xfrm>
          <a:prstGeom prst="rect">
            <a:avLst/>
          </a:prstGeom>
          <a:noFill/>
          <a:ln/>
        </p:spPr>
        <p:txBody>
          <a:bodyPr wrap="square" lIns="0" tIns="0" rIns="0" bIns="0" rtlCol="0" anchor="ctr"/>
          <a:lstStyle/>
          <a:p>
            <a:pPr algn="l" indent="0" marL="0">
              <a:buNone/>
            </a:pPr>
            <a:r>
              <a:rPr lang="en-US" sz="950" b="1" dirty="0">
                <a:solidFill>
                  <a:srgbClr val="1B2A49"/>
                </a:solidFill>
                <a:latin typeface="Meiryo UI" pitchFamily="34" charset="0"/>
                <a:ea typeface="Meiryo UI" pitchFamily="34" charset="-122"/>
                <a:cs typeface="Meiryo UI" pitchFamily="34" charset="-120"/>
              </a:rPr>
              <a:t>Webのチャット画面</a:t>
            </a:r>
            <a:endParaRPr lang="en-US" sz="950" dirty="0"/>
          </a:p>
          <a:p>
            <a:pPr algn="l" indent="0" marL="0">
              <a:buNone/>
            </a:pPr>
            <a:r>
              <a:rPr lang="en-US" sz="750" dirty="0">
                <a:solidFill>
                  <a:srgbClr val="6B7280"/>
                </a:solidFill>
                <a:latin typeface="Meiryo UI" pitchFamily="34" charset="0"/>
                <a:ea typeface="Meiryo UI" pitchFamily="34" charset="-122"/>
                <a:cs typeface="Meiryo UI" pitchFamily="34" charset="-120"/>
              </a:rPr>
              <a:t>人がチャット（内部はDirect Line）</a:t>
            </a:r>
            <a:endParaRPr lang="en-US" sz="950" dirty="0"/>
          </a:p>
        </p:txBody>
      </p:sp>
      <p:sp>
        <p:nvSpPr>
          <p:cNvPr id="17" name="Shape 12"/>
          <p:cNvSpPr/>
          <p:nvPr/>
        </p:nvSpPr>
        <p:spPr>
          <a:xfrm flipV="1">
            <a:off x="3429000" y="2788920"/>
            <a:ext cx="914400" cy="0"/>
          </a:xfrm>
          <a:prstGeom prst="line">
            <a:avLst/>
          </a:prstGeom>
          <a:noFill/>
          <a:ln w="15875">
            <a:solidFill>
              <a:srgbClr val="9AA5B4"/>
            </a:solidFill>
            <a:prstDash val="solid"/>
            <a:tailEnd type="triangle"/>
          </a:ln>
        </p:spPr>
      </p:sp>
      <p:sp>
        <p:nvSpPr>
          <p:cNvPr id="18" name="Shape 13"/>
          <p:cNvSpPr/>
          <p:nvPr/>
        </p:nvSpPr>
        <p:spPr>
          <a:xfrm>
            <a:off x="731520" y="3108960"/>
            <a:ext cx="2651760" cy="457200"/>
          </a:xfrm>
          <a:prstGeom prst="roundRect">
            <a:avLst>
              <a:gd name="adj" fmla="val 16000"/>
            </a:avLst>
          </a:prstGeom>
          <a:solidFill>
            <a:srgbClr val="D9F2F1"/>
          </a:solidFill>
          <a:ln/>
        </p:spPr>
      </p:sp>
      <p:pic>
        <p:nvPicPr>
          <p:cNvPr id="19" name="Image 3" descr="preencoded.png">    </p:cNvPr>
          <p:cNvPicPr>
            <a:picLocks noChangeAspect="1"/>
          </p:cNvPicPr>
          <p:nvPr/>
        </p:nvPicPr>
        <p:blipFill>
          <a:blip r:embed="rId4"/>
          <a:stretch>
            <a:fillRect/>
          </a:stretch>
        </p:blipFill>
        <p:spPr>
          <a:xfrm>
            <a:off x="841248" y="3209544"/>
            <a:ext cx="256032" cy="256032"/>
          </a:xfrm>
          <a:prstGeom prst="rect">
            <a:avLst/>
          </a:prstGeom>
        </p:spPr>
      </p:pic>
      <p:sp>
        <p:nvSpPr>
          <p:cNvPr id="20" name="Text 14"/>
          <p:cNvSpPr txBox="1"/>
          <p:nvPr/>
        </p:nvSpPr>
        <p:spPr>
          <a:xfrm>
            <a:off x="1188720" y="3108960"/>
            <a:ext cx="2148840" cy="457200"/>
          </a:xfrm>
          <a:prstGeom prst="rect">
            <a:avLst/>
          </a:prstGeom>
          <a:noFill/>
          <a:ln/>
        </p:spPr>
        <p:txBody>
          <a:bodyPr wrap="square" lIns="0" tIns="0" rIns="0" bIns="0" rtlCol="0" anchor="ctr"/>
          <a:lstStyle/>
          <a:p>
            <a:pPr algn="l" indent="0" marL="0">
              <a:buNone/>
            </a:pPr>
            <a:r>
              <a:rPr lang="en-US" sz="950" b="1" dirty="0">
                <a:solidFill>
                  <a:srgbClr val="1B2A49"/>
                </a:solidFill>
                <a:latin typeface="Meiryo UI" pitchFamily="34" charset="0"/>
                <a:ea typeface="Meiryo UI" pitchFamily="34" charset="-122"/>
                <a:cs typeface="Meiryo UI" pitchFamily="34" charset="-120"/>
              </a:rPr>
              <a:t>外部のプログラム</a:t>
            </a:r>
            <a:endParaRPr lang="en-US" sz="950" dirty="0"/>
          </a:p>
          <a:p>
            <a:pPr algn="l" indent="0" marL="0">
              <a:buNone/>
            </a:pPr>
            <a:r>
              <a:rPr lang="en-US" sz="750" dirty="0">
                <a:solidFill>
                  <a:srgbClr val="6B7280"/>
                </a:solidFill>
                <a:latin typeface="Meiryo UI" pitchFamily="34" charset="0"/>
                <a:ea typeface="Meiryo UI" pitchFamily="34" charset="-122"/>
                <a:cs typeface="Meiryo UI" pitchFamily="34" charset="-120"/>
              </a:rPr>
              <a:t>Airtableのスクリプトなど</a:t>
            </a:r>
            <a:endParaRPr lang="en-US" sz="950" dirty="0"/>
          </a:p>
        </p:txBody>
      </p:sp>
      <p:sp>
        <p:nvSpPr>
          <p:cNvPr id="21" name="Shape 15"/>
          <p:cNvSpPr/>
          <p:nvPr/>
        </p:nvSpPr>
        <p:spPr>
          <a:xfrm flipV="1">
            <a:off x="3429000" y="2788920"/>
            <a:ext cx="914400" cy="548640"/>
          </a:xfrm>
          <a:prstGeom prst="line">
            <a:avLst/>
          </a:prstGeom>
          <a:noFill/>
          <a:ln w="15875">
            <a:solidFill>
              <a:srgbClr val="0E9F9A"/>
            </a:solidFill>
            <a:prstDash val="solid"/>
            <a:tailEnd type="triangle"/>
          </a:ln>
        </p:spPr>
      </p:sp>
      <p:sp>
        <p:nvSpPr>
          <p:cNvPr id="22" name="Text 16"/>
          <p:cNvSpPr txBox="1"/>
          <p:nvPr/>
        </p:nvSpPr>
        <p:spPr>
          <a:xfrm>
            <a:off x="3429000" y="3310128"/>
            <a:ext cx="914400" cy="228600"/>
          </a:xfrm>
          <a:prstGeom prst="rect">
            <a:avLst/>
          </a:prstGeom>
          <a:noFill/>
          <a:ln/>
        </p:spPr>
        <p:txBody>
          <a:bodyPr wrap="square" lIns="0" tIns="0" rIns="0" bIns="0" rtlCol="0" anchor="t"/>
          <a:lstStyle/>
          <a:p>
            <a:pPr algn="ctr" indent="0" marL="0">
              <a:buNone/>
            </a:pPr>
            <a:r>
              <a:rPr lang="en-US" sz="850" b="1" dirty="0">
                <a:solidFill>
                  <a:srgbClr val="0E9F9A"/>
                </a:solidFill>
                <a:latin typeface="Meiryo UI" pitchFamily="34" charset="0"/>
                <a:ea typeface="Meiryo UI" pitchFamily="34" charset="-122"/>
                <a:cs typeface="Meiryo UI" pitchFamily="34" charset="-120"/>
              </a:rPr>
              <a:t>Direct Line</a:t>
            </a:r>
            <a:endParaRPr lang="en-US" sz="850" dirty="0"/>
          </a:p>
        </p:txBody>
      </p:sp>
      <p:sp>
        <p:nvSpPr>
          <p:cNvPr id="23" name="Shape 17"/>
          <p:cNvSpPr/>
          <p:nvPr/>
        </p:nvSpPr>
        <p:spPr>
          <a:xfrm>
            <a:off x="4389120" y="2377440"/>
            <a:ext cx="1737360" cy="822960"/>
          </a:xfrm>
          <a:prstGeom prst="roundRect">
            <a:avLst>
              <a:gd name="adj" fmla="val 8889"/>
            </a:avLst>
          </a:prstGeom>
          <a:solidFill>
            <a:srgbClr val="0E9F9A"/>
          </a:solidFill>
          <a:ln/>
        </p:spPr>
      </p:sp>
      <p:sp>
        <p:nvSpPr>
          <p:cNvPr id="24" name="Shape 18"/>
          <p:cNvSpPr/>
          <p:nvPr/>
        </p:nvSpPr>
        <p:spPr>
          <a:xfrm>
            <a:off x="5073457" y="2487168"/>
            <a:ext cx="368686" cy="368686"/>
          </a:xfrm>
          <a:prstGeom prst="ellipse">
            <a:avLst/>
          </a:prstGeom>
          <a:solidFill>
            <a:srgbClr val="FFFFFF"/>
          </a:solidFill>
          <a:ln/>
        </p:spPr>
      </p:sp>
      <p:pic>
        <p:nvPicPr>
          <p:cNvPr id="25" name="Image 4" descr="preencoded.png">    </p:cNvPr>
          <p:cNvPicPr>
            <a:picLocks noChangeAspect="1"/>
          </p:cNvPicPr>
          <p:nvPr/>
        </p:nvPicPr>
        <p:blipFill>
          <a:blip r:embed="rId5"/>
          <a:stretch>
            <a:fillRect/>
          </a:stretch>
        </p:blipFill>
        <p:spPr>
          <a:xfrm>
            <a:off x="5129784" y="2543495"/>
            <a:ext cx="256032" cy="256032"/>
          </a:xfrm>
          <a:prstGeom prst="rect">
            <a:avLst/>
          </a:prstGeom>
        </p:spPr>
      </p:pic>
      <p:sp>
        <p:nvSpPr>
          <p:cNvPr id="26" name="Text 19"/>
          <p:cNvSpPr txBox="1"/>
          <p:nvPr/>
        </p:nvSpPr>
        <p:spPr>
          <a:xfrm>
            <a:off x="4434840" y="2889504"/>
            <a:ext cx="1645920"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Meiryo UI" pitchFamily="34" charset="0"/>
                <a:ea typeface="Meiryo UI" pitchFamily="34" charset="-122"/>
                <a:cs typeface="Meiryo UI" pitchFamily="34" charset="-120"/>
              </a:rPr>
              <a:t>エージェント</a:t>
            </a:r>
            <a:endParaRPr lang="en-US" sz="950" dirty="0"/>
          </a:p>
          <a:p>
            <a:pPr algn="ctr" indent="0" marL="0">
              <a:buNone/>
            </a:pPr>
            <a:r>
              <a:rPr lang="en-US" sz="750" dirty="0">
                <a:solidFill>
                  <a:srgbClr val="E6F2F2"/>
                </a:solidFill>
                <a:latin typeface="Meiryo UI" pitchFamily="34" charset="0"/>
                <a:ea typeface="Meiryo UI" pitchFamily="34" charset="-122"/>
                <a:cs typeface="Meiryo UI" pitchFamily="34" charset="-120"/>
              </a:rPr>
              <a:t>Copilot Studio</a:t>
            </a:r>
            <a:endParaRPr lang="en-US" sz="950" dirty="0"/>
          </a:p>
        </p:txBody>
      </p:sp>
      <p:sp>
        <p:nvSpPr>
          <p:cNvPr id="27" name="Text 20"/>
          <p:cNvSpPr txBox="1"/>
          <p:nvPr/>
        </p:nvSpPr>
        <p:spPr>
          <a:xfrm>
            <a:off x="6400800" y="1920240"/>
            <a:ext cx="5120640" cy="1755648"/>
          </a:xfrm>
          <a:prstGeom prst="rect">
            <a:avLst/>
          </a:prstGeom>
          <a:noFill/>
          <a:ln/>
        </p:spPr>
        <p:txBody>
          <a:bodyPr wrap="square" lIns="254" tIns="254" rIns="254" bIns="254" rtlCol="0" anchor="t"/>
          <a:lstStyle/>
          <a:p>
            <a:pPr marL="152400" indent="-152400">
              <a:spcAft>
                <a:spcPts val="300"/>
              </a:spcAft>
              <a:buSzPct val="100000"/>
              <a:buChar char="•"/>
            </a:pPr>
            <a:r>
              <a:rPr lang="en-US" sz="950" dirty="0">
                <a:solidFill>
                  <a:srgbClr val="000000"/>
                </a:solidFill>
                <a:latin typeface="Meiryo UI" pitchFamily="34" charset="0"/>
                <a:ea typeface="Meiryo UI" pitchFamily="34" charset="-122"/>
                <a:cs typeface="Meiryo UI" pitchFamily="34" charset="-120"/>
              </a:rPr>
              <a:t>Teamsやチャット画面と同じ「会話」を、プログラムが画面なしで行うための入り口（Bot FrameworkのDirect Line API）</a:t>
            </a:r>
            <a:endParaRPr lang="en-US" sz="950" dirty="0"/>
          </a:p>
          <a:p>
            <a:pPr marL="152400" indent="-152400">
              <a:spcAft>
                <a:spcPts val="300"/>
              </a:spcAft>
              <a:buSzPct val="100000"/>
              <a:buChar char="•"/>
            </a:pPr>
            <a:r>
              <a:rPr lang="en-US" sz="950" dirty="0">
                <a:solidFill>
                  <a:srgbClr val="000000"/>
                </a:solidFill>
                <a:latin typeface="Meiryo UI" pitchFamily="34" charset="0"/>
                <a:ea typeface="Meiryo UI" pitchFamily="34" charset="-122"/>
                <a:cs typeface="Meiryo UI" pitchFamily="34" charset="-120"/>
              </a:rPr>
              <a:t>エージェントの「チャネル」（エージェントと話す窓口）の1つ。Webのチャット画面も内部ではDirect Lineを使っている</a:t>
            </a:r>
            <a:endParaRPr lang="en-US" sz="950" dirty="0"/>
          </a:p>
          <a:p>
            <a:pPr marL="152400" indent="-152400">
              <a:spcAft>
                <a:spcPts val="300"/>
              </a:spcAft>
              <a:buSzPct val="100000"/>
              <a:buChar char="•"/>
            </a:pPr>
            <a:r>
              <a:rPr lang="en-US" sz="950" dirty="0">
                <a:solidFill>
                  <a:srgbClr val="000000"/>
                </a:solidFill>
                <a:latin typeface="Meiryo UI" pitchFamily="34" charset="0"/>
                <a:ea typeface="Meiryo UI" pitchFamily="34" charset="-122"/>
                <a:cs typeface="Meiryo UI" pitchFamily="34" charset="-120"/>
              </a:rPr>
              <a:t>接続には「シークレット」（合言葉にあたる秘密の文字列）が必要。エージェントの設定（セキュリティ → Webチャネルのセキュリティ）で取得する</a:t>
            </a:r>
            <a:endParaRPr lang="en-US" sz="950" dirty="0"/>
          </a:p>
          <a:p>
            <a:pPr marL="152400" indent="-152400">
              <a:spcAft>
                <a:spcPts val="300"/>
              </a:spcAft>
              <a:buSzPct val="100000"/>
              <a:buChar char="•"/>
            </a:pPr>
            <a:r>
              <a:rPr lang="en-US" sz="950" dirty="0">
                <a:solidFill>
                  <a:srgbClr val="000000"/>
                </a:solidFill>
                <a:latin typeface="Meiryo UI" pitchFamily="34" charset="0"/>
                <a:ea typeface="Meiryo UI" pitchFamily="34" charset="-122"/>
                <a:cs typeface="Meiryo UI" pitchFamily="34" charset="-120"/>
              </a:rPr>
              <a:t>シークレットで呼ぶと利用者の身元なし（認証なし）で動くため、SharePointのナレッジは使えず、Copilotクレジットも通常どおり消費する</a:t>
            </a:r>
            <a:endParaRPr lang="en-US" sz="950" dirty="0"/>
          </a:p>
        </p:txBody>
      </p:sp>
      <p:sp>
        <p:nvSpPr>
          <p:cNvPr id="28" name="Shape 21"/>
          <p:cNvSpPr/>
          <p:nvPr/>
        </p:nvSpPr>
        <p:spPr>
          <a:xfrm>
            <a:off x="548640" y="3840480"/>
            <a:ext cx="11064240" cy="2468880"/>
          </a:xfrm>
          <a:prstGeom prst="roundRect">
            <a:avLst>
              <a:gd name="adj" fmla="val 2222"/>
            </a:avLst>
          </a:prstGeom>
          <a:solidFill>
            <a:srgbClr val="D9F2F1"/>
          </a:solidFill>
          <a:ln/>
        </p:spPr>
      </p:sp>
      <p:sp>
        <p:nvSpPr>
          <p:cNvPr id="29" name="Shape 22"/>
          <p:cNvSpPr/>
          <p:nvPr/>
        </p:nvSpPr>
        <p:spPr>
          <a:xfrm>
            <a:off x="713232" y="3959352"/>
            <a:ext cx="420624" cy="420624"/>
          </a:xfrm>
          <a:prstGeom prst="ellipse">
            <a:avLst/>
          </a:prstGeom>
          <a:solidFill>
            <a:srgbClr val="FFFFFF"/>
          </a:solidFill>
          <a:ln/>
        </p:spPr>
      </p:sp>
      <p:pic>
        <p:nvPicPr>
          <p:cNvPr id="30" name="Image 5" descr="preencoded.png">    </p:cNvPr>
          <p:cNvPicPr>
            <a:picLocks noChangeAspect="1"/>
          </p:cNvPicPr>
          <p:nvPr/>
        </p:nvPicPr>
        <p:blipFill>
          <a:blip r:embed="rId6"/>
          <a:stretch>
            <a:fillRect/>
          </a:stretch>
        </p:blipFill>
        <p:spPr>
          <a:xfrm>
            <a:off x="797357" y="4043477"/>
            <a:ext cx="252374" cy="252374"/>
          </a:xfrm>
          <a:prstGeom prst="rect">
            <a:avLst/>
          </a:prstGeom>
        </p:spPr>
      </p:pic>
      <p:sp>
        <p:nvSpPr>
          <p:cNvPr id="31" name="Text 23"/>
          <p:cNvSpPr txBox="1"/>
          <p:nvPr/>
        </p:nvSpPr>
        <p:spPr>
          <a:xfrm>
            <a:off x="1234440" y="3959352"/>
            <a:ext cx="5486400" cy="420624"/>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なぜP11で必要になるか</a:t>
            </a:r>
            <a:endParaRPr lang="en-US" sz="1300" dirty="0"/>
          </a:p>
        </p:txBody>
      </p:sp>
      <p:sp>
        <p:nvSpPr>
          <p:cNvPr id="32" name="Shape 24"/>
          <p:cNvSpPr/>
          <p:nvPr/>
        </p:nvSpPr>
        <p:spPr>
          <a:xfrm>
            <a:off x="731520" y="4498848"/>
            <a:ext cx="6400800" cy="530352"/>
          </a:xfrm>
          <a:prstGeom prst="roundRect">
            <a:avLst>
              <a:gd name="adj" fmla="val 8621"/>
            </a:avLst>
          </a:prstGeom>
          <a:solidFill>
            <a:srgbClr val="FFFFFF"/>
          </a:solidFill>
          <a:ln/>
        </p:spPr>
      </p:sp>
      <p:sp>
        <p:nvSpPr>
          <p:cNvPr id="33" name="Shape 25"/>
          <p:cNvSpPr/>
          <p:nvPr/>
        </p:nvSpPr>
        <p:spPr>
          <a:xfrm>
            <a:off x="822960" y="4608576"/>
            <a:ext cx="777240" cy="310896"/>
          </a:xfrm>
          <a:prstGeom prst="roundRect">
            <a:avLst>
              <a:gd name="adj" fmla="val 50000"/>
            </a:avLst>
          </a:prstGeom>
          <a:solidFill>
            <a:srgbClr val="9AA5B4"/>
          </a:solidFill>
          <a:ln/>
        </p:spPr>
      </p:sp>
      <p:sp>
        <p:nvSpPr>
          <p:cNvPr id="34" name="Text 26"/>
          <p:cNvSpPr txBox="1"/>
          <p:nvPr/>
        </p:nvSpPr>
        <p:spPr>
          <a:xfrm>
            <a:off x="822960" y="4608576"/>
            <a:ext cx="777240" cy="310896"/>
          </a:xfrm>
          <a:prstGeom prst="rect">
            <a:avLst/>
          </a:prstGeom>
          <a:noFill/>
          <a:ln/>
        </p:spPr>
        <p:txBody>
          <a:bodyPr wrap="square" lIns="762" tIns="762" rIns="762" bIns="762" rtlCol="0" anchor="ctr"/>
          <a:lstStyle/>
          <a:p>
            <a:pPr algn="ctr" indent="0" marL="0">
              <a:buNone/>
            </a:pPr>
            <a:r>
              <a:rPr lang="en-US" sz="950" b="1" dirty="0">
                <a:solidFill>
                  <a:srgbClr val="FFFFFF"/>
                </a:solidFill>
                <a:latin typeface="Meiryo UI" pitchFamily="34" charset="0"/>
                <a:ea typeface="Meiryo UI" pitchFamily="34" charset="-122"/>
                <a:cs typeface="Meiryo UI" pitchFamily="34" charset="-120"/>
              </a:rPr>
              <a:t>P9など</a:t>
            </a:r>
            <a:endParaRPr lang="en-US" sz="950" dirty="0"/>
          </a:p>
        </p:txBody>
      </p:sp>
      <p:sp>
        <p:nvSpPr>
          <p:cNvPr id="35" name="Text 27"/>
          <p:cNvSpPr txBox="1"/>
          <p:nvPr/>
        </p:nvSpPr>
        <p:spPr>
          <a:xfrm>
            <a:off x="1691640" y="4498848"/>
            <a:ext cx="5394960" cy="530352"/>
          </a:xfrm>
          <a:prstGeom prst="rect">
            <a:avLst/>
          </a:prstGeom>
          <a:noFill/>
          <a:ln/>
        </p:spPr>
        <p:txBody>
          <a:bodyPr wrap="square" lIns="0" tIns="0" rIns="0" bIns="0" rtlCol="0" anchor="ctr"/>
          <a:lstStyle/>
          <a:p>
            <a:pPr indent="0" marL="0">
              <a:buNone/>
            </a:pPr>
            <a:r>
              <a:rPr lang="en-US" sz="1000" b="1" dirty="0">
                <a:solidFill>
                  <a:srgbClr val="1B2A49"/>
                </a:solidFill>
                <a:latin typeface="Meiryo UI" pitchFamily="34" charset="0"/>
                <a:ea typeface="Meiryo UI" pitchFamily="34" charset="-122"/>
                <a:cs typeface="Meiryo UI" pitchFamily="34" charset="-120"/>
              </a:rPr>
              <a:t>Airtable → Power Automate → エージェント</a:t>
            </a:r>
            <a:endParaRPr lang="en-US" sz="1000" dirty="0"/>
          </a:p>
          <a:p>
            <a:pPr indent="0" marL="0">
              <a:buNone/>
            </a:pPr>
            <a:r>
              <a:rPr lang="en-US" sz="900" dirty="0">
                <a:solidFill>
                  <a:srgbClr val="2B2B2B"/>
                </a:solidFill>
                <a:latin typeface="Meiryo UI" pitchFamily="34" charset="0"/>
                <a:ea typeface="Meiryo UI" pitchFamily="34" charset="-122"/>
                <a:cs typeface="Meiryo UI" pitchFamily="34" charset="-120"/>
              </a:rPr>
              <a:t>Power Automateの「Execute Agent and wait」が接続を担う。Direct Lineは不要</a:t>
            </a:r>
            <a:endParaRPr lang="en-US" sz="1000" dirty="0"/>
          </a:p>
        </p:txBody>
      </p:sp>
      <p:sp>
        <p:nvSpPr>
          <p:cNvPr id="36" name="Shape 28"/>
          <p:cNvSpPr/>
          <p:nvPr/>
        </p:nvSpPr>
        <p:spPr>
          <a:xfrm>
            <a:off x="731520" y="5102352"/>
            <a:ext cx="6400800" cy="530352"/>
          </a:xfrm>
          <a:prstGeom prst="roundRect">
            <a:avLst>
              <a:gd name="adj" fmla="val 8621"/>
            </a:avLst>
          </a:prstGeom>
          <a:solidFill>
            <a:srgbClr val="FFFFFF"/>
          </a:solidFill>
          <a:ln/>
        </p:spPr>
      </p:sp>
      <p:sp>
        <p:nvSpPr>
          <p:cNvPr id="37" name="Shape 29"/>
          <p:cNvSpPr/>
          <p:nvPr/>
        </p:nvSpPr>
        <p:spPr>
          <a:xfrm>
            <a:off x="822960" y="5212080"/>
            <a:ext cx="777240" cy="310896"/>
          </a:xfrm>
          <a:prstGeom prst="roundRect">
            <a:avLst>
              <a:gd name="adj" fmla="val 50000"/>
            </a:avLst>
          </a:prstGeom>
          <a:solidFill>
            <a:srgbClr val="0E9F9A"/>
          </a:solidFill>
          <a:ln/>
        </p:spPr>
      </p:sp>
      <p:sp>
        <p:nvSpPr>
          <p:cNvPr id="38" name="Text 30"/>
          <p:cNvSpPr txBox="1"/>
          <p:nvPr/>
        </p:nvSpPr>
        <p:spPr>
          <a:xfrm>
            <a:off x="822960" y="5212080"/>
            <a:ext cx="777240" cy="310896"/>
          </a:xfrm>
          <a:prstGeom prst="rect">
            <a:avLst/>
          </a:prstGeom>
          <a:noFill/>
          <a:ln/>
        </p:spPr>
        <p:txBody>
          <a:bodyPr wrap="square" lIns="762" tIns="762" rIns="762" bIns="762" rtlCol="0" anchor="ctr"/>
          <a:lstStyle/>
          <a:p>
            <a:pPr algn="ctr" indent="0" marL="0">
              <a:buNone/>
            </a:pPr>
            <a:r>
              <a:rPr lang="en-US" sz="950" b="1" dirty="0">
                <a:solidFill>
                  <a:srgbClr val="FFFFFF"/>
                </a:solidFill>
                <a:latin typeface="Meiryo UI" pitchFamily="34" charset="0"/>
                <a:ea typeface="Meiryo UI" pitchFamily="34" charset="-122"/>
                <a:cs typeface="Meiryo UI" pitchFamily="34" charset="-120"/>
              </a:rPr>
              <a:t>P11</a:t>
            </a:r>
            <a:endParaRPr lang="en-US" sz="950" dirty="0"/>
          </a:p>
        </p:txBody>
      </p:sp>
      <p:sp>
        <p:nvSpPr>
          <p:cNvPr id="39" name="Text 31"/>
          <p:cNvSpPr txBox="1"/>
          <p:nvPr/>
        </p:nvSpPr>
        <p:spPr>
          <a:xfrm>
            <a:off x="1691640" y="5102352"/>
            <a:ext cx="5394960" cy="530352"/>
          </a:xfrm>
          <a:prstGeom prst="rect">
            <a:avLst/>
          </a:prstGeom>
          <a:noFill/>
          <a:ln/>
        </p:spPr>
        <p:txBody>
          <a:bodyPr wrap="square" lIns="0" tIns="0" rIns="0" bIns="0" rtlCol="0" anchor="ctr"/>
          <a:lstStyle/>
          <a:p>
            <a:pPr indent="0" marL="0">
              <a:buNone/>
            </a:pPr>
            <a:r>
              <a:rPr lang="en-US" sz="1000" b="1" dirty="0">
                <a:solidFill>
                  <a:srgbClr val="1B2A49"/>
                </a:solidFill>
                <a:latin typeface="Meiryo UI" pitchFamily="34" charset="0"/>
                <a:ea typeface="Meiryo UI" pitchFamily="34" charset="-122"/>
                <a:cs typeface="Meiryo UI" pitchFamily="34" charset="-120"/>
              </a:rPr>
              <a:t>Airtable → エージェント（直接）</a:t>
            </a:r>
            <a:endParaRPr lang="en-US" sz="1000" dirty="0"/>
          </a:p>
          <a:p>
            <a:pPr indent="0" marL="0">
              <a:buNone/>
            </a:pPr>
            <a:r>
              <a:rPr lang="en-US" sz="900" dirty="0">
                <a:solidFill>
                  <a:srgbClr val="2B2B2B"/>
                </a:solidFill>
                <a:latin typeface="Meiryo UI" pitchFamily="34" charset="0"/>
                <a:ea typeface="Meiryo UI" pitchFamily="34" charset="-122"/>
                <a:cs typeface="Meiryo UI" pitchFamily="34" charset="-120"/>
              </a:rPr>
              <a:t>Power Automateを通さずにエージェントと話す手段が、Direct Line以外にほぼない</a:t>
            </a:r>
            <a:endParaRPr lang="en-US" sz="1000" dirty="0"/>
          </a:p>
        </p:txBody>
      </p:sp>
      <p:sp>
        <p:nvSpPr>
          <p:cNvPr id="40" name="Text 32"/>
          <p:cNvSpPr txBox="1"/>
          <p:nvPr/>
        </p:nvSpPr>
        <p:spPr>
          <a:xfrm>
            <a:off x="7360920" y="4480560"/>
            <a:ext cx="4114800" cy="1783080"/>
          </a:xfrm>
          <a:prstGeom prst="rect">
            <a:avLst/>
          </a:prstGeom>
          <a:noFill/>
          <a:ln/>
        </p:spPr>
        <p:txBody>
          <a:bodyPr wrap="square" lIns="254" tIns="254" rIns="254" bIns="254" rtlCol="0" anchor="t"/>
          <a:lstStyle/>
          <a:p>
            <a:pPr marL="152400" indent="-152400">
              <a:spcAft>
                <a:spcPts val="500"/>
              </a:spcAft>
              <a:buSzPct val="100000"/>
              <a:buChar char="•"/>
            </a:pPr>
            <a:r>
              <a:rPr lang="en-US" sz="1000" dirty="0">
                <a:solidFill>
                  <a:srgbClr val="000000"/>
                </a:solidFill>
                <a:latin typeface="Meiryo UI" pitchFamily="34" charset="0"/>
                <a:ea typeface="Meiryo UI" pitchFamily="34" charset="-122"/>
                <a:cs typeface="Meiryo UI" pitchFamily="34" charset="-120"/>
              </a:rPr>
              <a:t>Direct Lineは、Power Automateを使わない（使えない）場合に限って必要になる手段</a:t>
            </a:r>
            <a:endParaRPr lang="en-US" sz="1000" dirty="0"/>
          </a:p>
          <a:p>
            <a:pPr marL="152400" indent="-152400">
              <a:spcAft>
                <a:spcPts val="500"/>
              </a:spcAft>
              <a:buSzPct val="100000"/>
              <a:buChar char="•"/>
            </a:pPr>
            <a:r>
              <a:rPr lang="en-US" sz="1000" dirty="0">
                <a:solidFill>
                  <a:srgbClr val="000000"/>
                </a:solidFill>
                <a:latin typeface="Meiryo UI" pitchFamily="34" charset="0"/>
                <a:ea typeface="Meiryo UI" pitchFamily="34" charset="-122"/>
                <a:cs typeface="Meiryo UI" pitchFamily="34" charset="-120"/>
              </a:rPr>
              <a:t>P7〜P10、P12〜P17では、Power Automateやチャット画面が接続を担うため不要</a:t>
            </a:r>
            <a:endParaRPr lang="en-US" sz="1000" dirty="0"/>
          </a:p>
          <a:p>
            <a:pPr marL="152400" indent="-152400">
              <a:spcAft>
                <a:spcPts val="500"/>
              </a:spcAft>
              <a:buSzPct val="100000"/>
              <a:buChar char="•"/>
            </a:pPr>
            <a:r>
              <a:rPr lang="en-US" sz="1000" dirty="0">
                <a:solidFill>
                  <a:srgbClr val="000000"/>
                </a:solidFill>
                <a:latin typeface="Meiryo UI" pitchFamily="34" charset="0"/>
                <a:ea typeface="Meiryo UI" pitchFamily="34" charset="-122"/>
                <a:cs typeface="Meiryo UI" pitchFamily="34" charset="-120"/>
              </a:rPr>
              <a:t>参考：Microsoft 365 Agents SDKのクライアントは利用者本人のサインインが前提で、サービスプリンシパルに非対応。利用者のいない処理から呼ぶ場合は、公式もDirect Lineを案内している</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Direct Lineの「4段階の呼び出し」と、P9との違い</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1回の問い合わせで答えが返る仕組みではなく、チャットと同じ手順を1つずつプログラムで行う</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3. パターン別の詳細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18</a:t>
            </a:r>
            <a:endParaRPr lang="en-US" sz="900" dirty="0"/>
          </a:p>
        </p:txBody>
      </p:sp>
      <p:sp>
        <p:nvSpPr>
          <p:cNvPr id="6" name="Shape 4"/>
          <p:cNvSpPr/>
          <p:nvPr/>
        </p:nvSpPr>
        <p:spPr>
          <a:xfrm>
            <a:off x="548640" y="1417320"/>
            <a:ext cx="1234440" cy="1371600"/>
          </a:xfrm>
          <a:prstGeom prst="roundRect">
            <a:avLst>
              <a:gd name="adj" fmla="val 5926"/>
            </a:avLst>
          </a:prstGeom>
          <a:solidFill>
            <a:srgbClr val="FFFFFF"/>
          </a:solidFill>
          <a:ln w="12700">
            <a:solidFill>
              <a:srgbClr val="D5DBE3"/>
            </a:solidFill>
            <a:prstDash val="solid"/>
          </a:ln>
        </p:spPr>
      </p:sp>
      <p:pic>
        <p:nvPicPr>
          <p:cNvPr id="7" name="Image 0" descr="preencoded.png">    </p:cNvPr>
          <p:cNvPicPr>
            <a:picLocks noChangeAspect="1"/>
          </p:cNvPicPr>
          <p:nvPr/>
        </p:nvPicPr>
        <p:blipFill>
          <a:blip r:embed="rId1"/>
          <a:stretch>
            <a:fillRect/>
          </a:stretch>
        </p:blipFill>
        <p:spPr>
          <a:xfrm>
            <a:off x="1001268" y="1545336"/>
            <a:ext cx="329184" cy="329184"/>
          </a:xfrm>
          <a:prstGeom prst="rect">
            <a:avLst/>
          </a:prstGeom>
        </p:spPr>
      </p:pic>
      <p:sp>
        <p:nvSpPr>
          <p:cNvPr id="8" name="Text 5"/>
          <p:cNvSpPr txBox="1"/>
          <p:nvPr/>
        </p:nvSpPr>
        <p:spPr>
          <a:xfrm>
            <a:off x="594360" y="1900855"/>
            <a:ext cx="1143000" cy="833201"/>
          </a:xfrm>
          <a:prstGeom prst="rect">
            <a:avLst/>
          </a:prstGeom>
          <a:noFill/>
          <a:ln/>
        </p:spPr>
        <p:txBody>
          <a:bodyPr wrap="square" lIns="0" tIns="0" rIns="0" bIns="0" rtlCol="0" anchor="ctr"/>
          <a:lstStyle/>
          <a:p>
            <a:pPr algn="ctr" indent="0" marL="0">
              <a:buNone/>
            </a:pPr>
            <a:r>
              <a:rPr lang="en-US" sz="950" b="1" dirty="0">
                <a:solidFill>
                  <a:srgbClr val="1B2A49"/>
                </a:solidFill>
                <a:latin typeface="Meiryo UI" pitchFamily="34" charset="0"/>
                <a:ea typeface="Meiryo UI" pitchFamily="34" charset="-122"/>
                <a:cs typeface="Meiryo UI" pitchFamily="34" charset="-120"/>
              </a:rPr>
              <a:t>Airtable</a:t>
            </a:r>
            <a:endParaRPr lang="en-US" sz="950" dirty="0"/>
          </a:p>
          <a:p>
            <a:pPr algn="ctr" indent="0" marL="0">
              <a:buNone/>
            </a:pPr>
            <a:r>
              <a:rPr lang="en-US" sz="800" dirty="0">
                <a:solidFill>
                  <a:srgbClr val="6B7280"/>
                </a:solidFill>
                <a:latin typeface="Meiryo UI" pitchFamily="34" charset="0"/>
                <a:ea typeface="Meiryo UI" pitchFamily="34" charset="-122"/>
                <a:cs typeface="Meiryo UI" pitchFamily="34" charset="-120"/>
              </a:rPr>
              <a:t>スクリプト</a:t>
            </a:r>
            <a:endParaRPr lang="en-US" sz="950" dirty="0"/>
          </a:p>
        </p:txBody>
      </p:sp>
      <p:sp>
        <p:nvSpPr>
          <p:cNvPr id="9" name="Shape 6"/>
          <p:cNvSpPr/>
          <p:nvPr/>
        </p:nvSpPr>
        <p:spPr>
          <a:xfrm>
            <a:off x="2011680" y="1371600"/>
            <a:ext cx="2240280" cy="1463040"/>
          </a:xfrm>
          <a:prstGeom prst="roundRect">
            <a:avLst>
              <a:gd name="adj" fmla="val 3750"/>
            </a:avLst>
          </a:prstGeom>
          <a:solidFill>
            <a:srgbClr val="F3F5F8"/>
          </a:solidFill>
          <a:ln/>
        </p:spPr>
      </p:sp>
      <p:sp>
        <p:nvSpPr>
          <p:cNvPr id="10" name="Shape 7"/>
          <p:cNvSpPr/>
          <p:nvPr/>
        </p:nvSpPr>
        <p:spPr>
          <a:xfrm>
            <a:off x="2103120" y="1463040"/>
            <a:ext cx="329184" cy="329184"/>
          </a:xfrm>
          <a:prstGeom prst="ellipse">
            <a:avLst/>
          </a:prstGeom>
          <a:solidFill>
            <a:srgbClr val="0E9F9A"/>
          </a:solidFill>
          <a:ln/>
        </p:spPr>
      </p:sp>
      <p:sp>
        <p:nvSpPr>
          <p:cNvPr id="11" name="Text 8"/>
          <p:cNvSpPr txBox="1"/>
          <p:nvPr/>
        </p:nvSpPr>
        <p:spPr>
          <a:xfrm>
            <a:off x="2103120" y="146304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1</a:t>
            </a:r>
            <a:endParaRPr lang="en-US" sz="1100" dirty="0"/>
          </a:p>
        </p:txBody>
      </p:sp>
      <p:sp>
        <p:nvSpPr>
          <p:cNvPr id="12" name="Text 9"/>
          <p:cNvSpPr txBox="1"/>
          <p:nvPr/>
        </p:nvSpPr>
        <p:spPr>
          <a:xfrm>
            <a:off x="2487168" y="1463040"/>
            <a:ext cx="1709928" cy="329184"/>
          </a:xfrm>
          <a:prstGeom prst="rect">
            <a:avLst/>
          </a:prstGeom>
          <a:noFill/>
          <a:ln/>
        </p:spPr>
        <p:txBody>
          <a:bodyPr wrap="square" lIns="0" tIns="0" rIns="0" bIns="0" rtlCol="0" anchor="ctr"/>
          <a:lstStyle/>
          <a:p>
            <a:pPr indent="0" marL="0">
              <a:buNone/>
            </a:pPr>
            <a:r>
              <a:rPr lang="en-US" sz="1100" b="1" dirty="0">
                <a:solidFill>
                  <a:srgbClr val="1B2A49"/>
                </a:solidFill>
                <a:latin typeface="Meiryo UI" pitchFamily="34" charset="0"/>
                <a:ea typeface="Meiryo UI" pitchFamily="34" charset="-122"/>
                <a:cs typeface="Meiryo UI" pitchFamily="34" charset="-120"/>
              </a:rPr>
              <a:t>トークン取得</a:t>
            </a:r>
            <a:endParaRPr lang="en-US" sz="1100" dirty="0"/>
          </a:p>
        </p:txBody>
      </p:sp>
      <p:sp>
        <p:nvSpPr>
          <p:cNvPr id="13" name="Text 10"/>
          <p:cNvSpPr txBox="1"/>
          <p:nvPr/>
        </p:nvSpPr>
        <p:spPr>
          <a:xfrm>
            <a:off x="2103120" y="1828800"/>
            <a:ext cx="2075688" cy="640080"/>
          </a:xfrm>
          <a:prstGeom prst="rect">
            <a:avLst/>
          </a:prstGeom>
          <a:noFill/>
          <a:ln/>
        </p:spPr>
        <p:txBody>
          <a:bodyPr wrap="square" lIns="0" tIns="0" rIns="0" bIns="0" rtlCol="0" anchor="t"/>
          <a:lstStyle/>
          <a:p>
            <a:pPr indent="0" marL="0">
              <a:buNone/>
            </a:pPr>
            <a:r>
              <a:rPr lang="en-US" sz="900" dirty="0">
                <a:solidFill>
                  <a:srgbClr val="2B2B2B"/>
                </a:solidFill>
                <a:latin typeface="Meiryo UI" pitchFamily="34" charset="0"/>
                <a:ea typeface="Meiryo UI" pitchFamily="34" charset="-122"/>
                <a:cs typeface="Meiryo UI" pitchFamily="34" charset="-120"/>
              </a:rPr>
              <a:t>シークレットで一時的な通行証（トークン）を発行してもらう。1会話専用で有効期限あり（例：30分、更新可）</a:t>
            </a:r>
            <a:endParaRPr lang="en-US" sz="900" dirty="0"/>
          </a:p>
        </p:txBody>
      </p:sp>
      <p:sp>
        <p:nvSpPr>
          <p:cNvPr id="14" name="Text 11"/>
          <p:cNvSpPr txBox="1"/>
          <p:nvPr/>
        </p:nvSpPr>
        <p:spPr>
          <a:xfrm>
            <a:off x="2103120" y="2487168"/>
            <a:ext cx="2075688" cy="310896"/>
          </a:xfrm>
          <a:prstGeom prst="rect">
            <a:avLst/>
          </a:prstGeom>
          <a:noFill/>
          <a:ln/>
        </p:spPr>
        <p:txBody>
          <a:bodyPr wrap="square" lIns="0" tIns="0" rIns="0" bIns="0" rtlCol="0" anchor="t"/>
          <a:lstStyle/>
          <a:p>
            <a:pPr indent="0" marL="0">
              <a:buNone/>
            </a:pPr>
            <a:r>
              <a:rPr lang="en-US" sz="800" dirty="0">
                <a:solidFill>
                  <a:srgbClr val="6B7280"/>
                </a:solidFill>
                <a:latin typeface="Meiryo UI" pitchFamily="34" charset="0"/>
                <a:ea typeface="Meiryo UI" pitchFamily="34" charset="-122"/>
                <a:cs typeface="Meiryo UI" pitchFamily="34" charset="-120"/>
              </a:rPr>
              <a:t>たとえると：受付で入館証をもらう</a:t>
            </a:r>
            <a:endParaRPr lang="en-US" sz="800" dirty="0"/>
          </a:p>
        </p:txBody>
      </p:sp>
      <p:sp>
        <p:nvSpPr>
          <p:cNvPr id="15" name="Shape 12"/>
          <p:cNvSpPr/>
          <p:nvPr/>
        </p:nvSpPr>
        <p:spPr>
          <a:xfrm>
            <a:off x="4261104" y="2103120"/>
            <a:ext cx="137160" cy="0"/>
          </a:xfrm>
          <a:prstGeom prst="line">
            <a:avLst/>
          </a:prstGeom>
          <a:noFill/>
          <a:ln w="19050">
            <a:solidFill>
              <a:srgbClr val="1B2A49"/>
            </a:solidFill>
            <a:prstDash val="solid"/>
            <a:tailEnd type="triangle"/>
          </a:ln>
        </p:spPr>
      </p:sp>
      <p:sp>
        <p:nvSpPr>
          <p:cNvPr id="16" name="Shape 13"/>
          <p:cNvSpPr/>
          <p:nvPr/>
        </p:nvSpPr>
        <p:spPr>
          <a:xfrm>
            <a:off x="4407408" y="1371600"/>
            <a:ext cx="2240280" cy="1463040"/>
          </a:xfrm>
          <a:prstGeom prst="roundRect">
            <a:avLst>
              <a:gd name="adj" fmla="val 3750"/>
            </a:avLst>
          </a:prstGeom>
          <a:solidFill>
            <a:srgbClr val="F3F5F8"/>
          </a:solidFill>
          <a:ln/>
        </p:spPr>
      </p:sp>
      <p:sp>
        <p:nvSpPr>
          <p:cNvPr id="17" name="Shape 14"/>
          <p:cNvSpPr/>
          <p:nvPr/>
        </p:nvSpPr>
        <p:spPr>
          <a:xfrm>
            <a:off x="4498848" y="1463040"/>
            <a:ext cx="329184" cy="329184"/>
          </a:xfrm>
          <a:prstGeom prst="ellipse">
            <a:avLst/>
          </a:prstGeom>
          <a:solidFill>
            <a:srgbClr val="0E9F9A"/>
          </a:solidFill>
          <a:ln/>
        </p:spPr>
      </p:sp>
      <p:sp>
        <p:nvSpPr>
          <p:cNvPr id="18" name="Text 15"/>
          <p:cNvSpPr txBox="1"/>
          <p:nvPr/>
        </p:nvSpPr>
        <p:spPr>
          <a:xfrm>
            <a:off x="4498848" y="146304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2</a:t>
            </a:r>
            <a:endParaRPr lang="en-US" sz="1100" dirty="0"/>
          </a:p>
        </p:txBody>
      </p:sp>
      <p:sp>
        <p:nvSpPr>
          <p:cNvPr id="19" name="Text 16"/>
          <p:cNvSpPr txBox="1"/>
          <p:nvPr/>
        </p:nvSpPr>
        <p:spPr>
          <a:xfrm>
            <a:off x="4882896" y="1463040"/>
            <a:ext cx="1709928" cy="329184"/>
          </a:xfrm>
          <a:prstGeom prst="rect">
            <a:avLst/>
          </a:prstGeom>
          <a:noFill/>
          <a:ln/>
        </p:spPr>
        <p:txBody>
          <a:bodyPr wrap="square" lIns="0" tIns="0" rIns="0" bIns="0" rtlCol="0" anchor="ctr"/>
          <a:lstStyle/>
          <a:p>
            <a:pPr indent="0" marL="0">
              <a:buNone/>
            </a:pPr>
            <a:r>
              <a:rPr lang="en-US" sz="1100" b="1" dirty="0">
                <a:solidFill>
                  <a:srgbClr val="1B2A49"/>
                </a:solidFill>
                <a:latin typeface="Meiryo UI" pitchFamily="34" charset="0"/>
                <a:ea typeface="Meiryo UI" pitchFamily="34" charset="-122"/>
                <a:cs typeface="Meiryo UI" pitchFamily="34" charset="-120"/>
              </a:rPr>
              <a:t>会話開始</a:t>
            </a:r>
            <a:endParaRPr lang="en-US" sz="1100" dirty="0"/>
          </a:p>
        </p:txBody>
      </p:sp>
      <p:sp>
        <p:nvSpPr>
          <p:cNvPr id="20" name="Text 17"/>
          <p:cNvSpPr txBox="1"/>
          <p:nvPr/>
        </p:nvSpPr>
        <p:spPr>
          <a:xfrm>
            <a:off x="4498848" y="1828800"/>
            <a:ext cx="2075688" cy="640080"/>
          </a:xfrm>
          <a:prstGeom prst="rect">
            <a:avLst/>
          </a:prstGeom>
          <a:noFill/>
          <a:ln/>
        </p:spPr>
        <p:txBody>
          <a:bodyPr wrap="square" lIns="0" tIns="0" rIns="0" bIns="0" rtlCol="0" anchor="t"/>
          <a:lstStyle/>
          <a:p>
            <a:pPr indent="0" marL="0">
              <a:buNone/>
            </a:pPr>
            <a:r>
              <a:rPr lang="en-US" sz="900" dirty="0">
                <a:solidFill>
                  <a:srgbClr val="2B2B2B"/>
                </a:solidFill>
                <a:latin typeface="Meiryo UI" pitchFamily="34" charset="0"/>
                <a:ea typeface="Meiryo UI" pitchFamily="34" charset="-122"/>
                <a:cs typeface="Meiryo UI" pitchFamily="34" charset="-120"/>
              </a:rPr>
              <a:t>トークンを使って新しい会話を作り、会話IDを受け取る</a:t>
            </a:r>
            <a:endParaRPr lang="en-US" sz="900" dirty="0"/>
          </a:p>
        </p:txBody>
      </p:sp>
      <p:sp>
        <p:nvSpPr>
          <p:cNvPr id="21" name="Text 18"/>
          <p:cNvSpPr txBox="1"/>
          <p:nvPr/>
        </p:nvSpPr>
        <p:spPr>
          <a:xfrm>
            <a:off x="4498848" y="2487168"/>
            <a:ext cx="2075688" cy="310896"/>
          </a:xfrm>
          <a:prstGeom prst="rect">
            <a:avLst/>
          </a:prstGeom>
          <a:noFill/>
          <a:ln/>
        </p:spPr>
        <p:txBody>
          <a:bodyPr wrap="square" lIns="0" tIns="0" rIns="0" bIns="0" rtlCol="0" anchor="t"/>
          <a:lstStyle/>
          <a:p>
            <a:pPr indent="0" marL="0">
              <a:buNone/>
            </a:pPr>
            <a:r>
              <a:rPr lang="en-US" sz="800" dirty="0">
                <a:solidFill>
                  <a:srgbClr val="6B7280"/>
                </a:solidFill>
                <a:latin typeface="Meiryo UI" pitchFamily="34" charset="0"/>
                <a:ea typeface="Meiryo UI" pitchFamily="34" charset="-122"/>
                <a:cs typeface="Meiryo UI" pitchFamily="34" charset="-120"/>
              </a:rPr>
              <a:t>たとえると：チャット画面を開く</a:t>
            </a:r>
            <a:endParaRPr lang="en-US" sz="800" dirty="0"/>
          </a:p>
        </p:txBody>
      </p:sp>
      <p:sp>
        <p:nvSpPr>
          <p:cNvPr id="22" name="Shape 19"/>
          <p:cNvSpPr/>
          <p:nvPr/>
        </p:nvSpPr>
        <p:spPr>
          <a:xfrm>
            <a:off x="6656832" y="2103120"/>
            <a:ext cx="137160" cy="0"/>
          </a:xfrm>
          <a:prstGeom prst="line">
            <a:avLst/>
          </a:prstGeom>
          <a:noFill/>
          <a:ln w="19050">
            <a:solidFill>
              <a:srgbClr val="1B2A49"/>
            </a:solidFill>
            <a:prstDash val="solid"/>
            <a:tailEnd type="triangle"/>
          </a:ln>
        </p:spPr>
      </p:sp>
      <p:sp>
        <p:nvSpPr>
          <p:cNvPr id="23" name="Shape 20"/>
          <p:cNvSpPr/>
          <p:nvPr/>
        </p:nvSpPr>
        <p:spPr>
          <a:xfrm>
            <a:off x="6803136" y="1371600"/>
            <a:ext cx="2240280" cy="1463040"/>
          </a:xfrm>
          <a:prstGeom prst="roundRect">
            <a:avLst>
              <a:gd name="adj" fmla="val 3750"/>
            </a:avLst>
          </a:prstGeom>
          <a:solidFill>
            <a:srgbClr val="F3F5F8"/>
          </a:solidFill>
          <a:ln/>
        </p:spPr>
      </p:sp>
      <p:sp>
        <p:nvSpPr>
          <p:cNvPr id="24" name="Shape 21"/>
          <p:cNvSpPr/>
          <p:nvPr/>
        </p:nvSpPr>
        <p:spPr>
          <a:xfrm>
            <a:off x="6894576" y="1463040"/>
            <a:ext cx="329184" cy="329184"/>
          </a:xfrm>
          <a:prstGeom prst="ellipse">
            <a:avLst/>
          </a:prstGeom>
          <a:solidFill>
            <a:srgbClr val="0E9F9A"/>
          </a:solidFill>
          <a:ln/>
        </p:spPr>
      </p:sp>
      <p:sp>
        <p:nvSpPr>
          <p:cNvPr id="25" name="Text 22"/>
          <p:cNvSpPr txBox="1"/>
          <p:nvPr/>
        </p:nvSpPr>
        <p:spPr>
          <a:xfrm>
            <a:off x="6894576" y="146304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3</a:t>
            </a:r>
            <a:endParaRPr lang="en-US" sz="1100" dirty="0"/>
          </a:p>
        </p:txBody>
      </p:sp>
      <p:sp>
        <p:nvSpPr>
          <p:cNvPr id="26" name="Text 23"/>
          <p:cNvSpPr txBox="1"/>
          <p:nvPr/>
        </p:nvSpPr>
        <p:spPr>
          <a:xfrm>
            <a:off x="7278624" y="1463040"/>
            <a:ext cx="1709928" cy="329184"/>
          </a:xfrm>
          <a:prstGeom prst="rect">
            <a:avLst/>
          </a:prstGeom>
          <a:noFill/>
          <a:ln/>
        </p:spPr>
        <p:txBody>
          <a:bodyPr wrap="square" lIns="0" tIns="0" rIns="0" bIns="0" rtlCol="0" anchor="ctr"/>
          <a:lstStyle/>
          <a:p>
            <a:pPr indent="0" marL="0">
              <a:buNone/>
            </a:pPr>
            <a:r>
              <a:rPr lang="en-US" sz="1100" b="1" dirty="0">
                <a:solidFill>
                  <a:srgbClr val="1B2A49"/>
                </a:solidFill>
                <a:latin typeface="Meiryo UI" pitchFamily="34" charset="0"/>
                <a:ea typeface="Meiryo UI" pitchFamily="34" charset="-122"/>
                <a:cs typeface="Meiryo UI" pitchFamily="34" charset="-120"/>
              </a:rPr>
              <a:t>メッセージ送信</a:t>
            </a:r>
            <a:endParaRPr lang="en-US" sz="1100" dirty="0"/>
          </a:p>
        </p:txBody>
      </p:sp>
      <p:sp>
        <p:nvSpPr>
          <p:cNvPr id="27" name="Text 24"/>
          <p:cNvSpPr txBox="1"/>
          <p:nvPr/>
        </p:nvSpPr>
        <p:spPr>
          <a:xfrm>
            <a:off x="6894576" y="1828800"/>
            <a:ext cx="2075688" cy="640080"/>
          </a:xfrm>
          <a:prstGeom prst="rect">
            <a:avLst/>
          </a:prstGeom>
          <a:noFill/>
          <a:ln/>
        </p:spPr>
        <p:txBody>
          <a:bodyPr wrap="square" lIns="0" tIns="0" rIns="0" bIns="0" rtlCol="0" anchor="t"/>
          <a:lstStyle/>
          <a:p>
            <a:pPr indent="0" marL="0">
              <a:buNone/>
            </a:pPr>
            <a:r>
              <a:rPr lang="en-US" sz="900" dirty="0">
                <a:solidFill>
                  <a:srgbClr val="2B2B2B"/>
                </a:solidFill>
                <a:latin typeface="Meiryo UI" pitchFamily="34" charset="0"/>
                <a:ea typeface="Meiryo UI" pitchFamily="34" charset="-122"/>
                <a:cs typeface="Meiryo UI" pitchFamily="34" charset="-120"/>
              </a:rPr>
              <a:t>会話IDあてに、カードの情報と依頼内容をメッセージとして送る</a:t>
            </a:r>
            <a:endParaRPr lang="en-US" sz="900" dirty="0"/>
          </a:p>
        </p:txBody>
      </p:sp>
      <p:sp>
        <p:nvSpPr>
          <p:cNvPr id="28" name="Text 25"/>
          <p:cNvSpPr txBox="1"/>
          <p:nvPr/>
        </p:nvSpPr>
        <p:spPr>
          <a:xfrm>
            <a:off x="6894576" y="2487168"/>
            <a:ext cx="2075688" cy="310896"/>
          </a:xfrm>
          <a:prstGeom prst="rect">
            <a:avLst/>
          </a:prstGeom>
          <a:noFill/>
          <a:ln/>
        </p:spPr>
        <p:txBody>
          <a:bodyPr wrap="square" lIns="0" tIns="0" rIns="0" bIns="0" rtlCol="0" anchor="t"/>
          <a:lstStyle/>
          <a:p>
            <a:pPr indent="0" marL="0">
              <a:buNone/>
            </a:pPr>
            <a:r>
              <a:rPr lang="en-US" sz="800" dirty="0">
                <a:solidFill>
                  <a:srgbClr val="6B7280"/>
                </a:solidFill>
                <a:latin typeface="Meiryo UI" pitchFamily="34" charset="0"/>
                <a:ea typeface="Meiryo UI" pitchFamily="34" charset="-122"/>
                <a:cs typeface="Meiryo UI" pitchFamily="34" charset="-120"/>
              </a:rPr>
              <a:t>たとえると：質問を入力して送信する</a:t>
            </a:r>
            <a:endParaRPr lang="en-US" sz="800" dirty="0"/>
          </a:p>
        </p:txBody>
      </p:sp>
      <p:sp>
        <p:nvSpPr>
          <p:cNvPr id="29" name="Shape 26"/>
          <p:cNvSpPr/>
          <p:nvPr/>
        </p:nvSpPr>
        <p:spPr>
          <a:xfrm>
            <a:off x="9052560" y="2103120"/>
            <a:ext cx="137160" cy="0"/>
          </a:xfrm>
          <a:prstGeom prst="line">
            <a:avLst/>
          </a:prstGeom>
          <a:noFill/>
          <a:ln w="19050">
            <a:solidFill>
              <a:srgbClr val="1B2A49"/>
            </a:solidFill>
            <a:prstDash val="solid"/>
            <a:tailEnd type="triangle"/>
          </a:ln>
        </p:spPr>
      </p:sp>
      <p:sp>
        <p:nvSpPr>
          <p:cNvPr id="30" name="Shape 27"/>
          <p:cNvSpPr/>
          <p:nvPr/>
        </p:nvSpPr>
        <p:spPr>
          <a:xfrm>
            <a:off x="9198864" y="1371600"/>
            <a:ext cx="2240280" cy="1463040"/>
          </a:xfrm>
          <a:prstGeom prst="roundRect">
            <a:avLst>
              <a:gd name="adj" fmla="val 3750"/>
            </a:avLst>
          </a:prstGeom>
          <a:solidFill>
            <a:srgbClr val="FDEBD3"/>
          </a:solidFill>
          <a:ln/>
        </p:spPr>
      </p:sp>
      <p:sp>
        <p:nvSpPr>
          <p:cNvPr id="31" name="Shape 28"/>
          <p:cNvSpPr/>
          <p:nvPr/>
        </p:nvSpPr>
        <p:spPr>
          <a:xfrm>
            <a:off x="9290304" y="1463040"/>
            <a:ext cx="329184" cy="329184"/>
          </a:xfrm>
          <a:prstGeom prst="ellipse">
            <a:avLst/>
          </a:prstGeom>
          <a:solidFill>
            <a:srgbClr val="0E9F9A"/>
          </a:solidFill>
          <a:ln/>
        </p:spPr>
      </p:sp>
      <p:sp>
        <p:nvSpPr>
          <p:cNvPr id="32" name="Text 29"/>
          <p:cNvSpPr txBox="1"/>
          <p:nvPr/>
        </p:nvSpPr>
        <p:spPr>
          <a:xfrm>
            <a:off x="9290304" y="146304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4</a:t>
            </a:r>
            <a:endParaRPr lang="en-US" sz="1100" dirty="0"/>
          </a:p>
        </p:txBody>
      </p:sp>
      <p:sp>
        <p:nvSpPr>
          <p:cNvPr id="33" name="Text 30"/>
          <p:cNvSpPr txBox="1"/>
          <p:nvPr/>
        </p:nvSpPr>
        <p:spPr>
          <a:xfrm>
            <a:off x="9674352" y="1463040"/>
            <a:ext cx="1709928" cy="329184"/>
          </a:xfrm>
          <a:prstGeom prst="rect">
            <a:avLst/>
          </a:prstGeom>
          <a:noFill/>
          <a:ln/>
        </p:spPr>
        <p:txBody>
          <a:bodyPr wrap="square" lIns="0" tIns="0" rIns="0" bIns="0" rtlCol="0" anchor="ctr"/>
          <a:lstStyle/>
          <a:p>
            <a:pPr indent="0" marL="0">
              <a:buNone/>
            </a:pPr>
            <a:r>
              <a:rPr lang="en-US" sz="1100" b="1" dirty="0">
                <a:solidFill>
                  <a:srgbClr val="1B2A49"/>
                </a:solidFill>
                <a:latin typeface="Meiryo UI" pitchFamily="34" charset="0"/>
                <a:ea typeface="Meiryo UI" pitchFamily="34" charset="-122"/>
                <a:cs typeface="Meiryo UI" pitchFamily="34" charset="-120"/>
              </a:rPr>
              <a:t>応答の取得</a:t>
            </a:r>
            <a:endParaRPr lang="en-US" sz="1100" dirty="0"/>
          </a:p>
        </p:txBody>
      </p:sp>
      <p:sp>
        <p:nvSpPr>
          <p:cNvPr id="34" name="Text 31"/>
          <p:cNvSpPr txBox="1"/>
          <p:nvPr/>
        </p:nvSpPr>
        <p:spPr>
          <a:xfrm>
            <a:off x="9290304" y="1828800"/>
            <a:ext cx="2075688" cy="640080"/>
          </a:xfrm>
          <a:prstGeom prst="rect">
            <a:avLst/>
          </a:prstGeom>
          <a:noFill/>
          <a:ln/>
        </p:spPr>
        <p:txBody>
          <a:bodyPr wrap="square" lIns="0" tIns="0" rIns="0" bIns="0" rtlCol="0" anchor="t"/>
          <a:lstStyle/>
          <a:p>
            <a:pPr indent="0" marL="0">
              <a:buNone/>
            </a:pPr>
            <a:r>
              <a:rPr lang="en-US" sz="900" dirty="0">
                <a:solidFill>
                  <a:srgbClr val="2B2B2B"/>
                </a:solidFill>
                <a:latin typeface="Meiryo UI" pitchFamily="34" charset="0"/>
                <a:ea typeface="Meiryo UI" pitchFamily="34" charset="-122"/>
                <a:cs typeface="Meiryo UI" pitchFamily="34" charset="-120"/>
              </a:rPr>
              <a:t>返信が届いたかを問い合わせ、届くまで数秒おきに繰り返し確認する</a:t>
            </a:r>
            <a:endParaRPr lang="en-US" sz="900" dirty="0"/>
          </a:p>
        </p:txBody>
      </p:sp>
      <p:sp>
        <p:nvSpPr>
          <p:cNvPr id="35" name="Text 32"/>
          <p:cNvSpPr txBox="1"/>
          <p:nvPr/>
        </p:nvSpPr>
        <p:spPr>
          <a:xfrm>
            <a:off x="9290304" y="2487168"/>
            <a:ext cx="2075688" cy="310896"/>
          </a:xfrm>
          <a:prstGeom prst="rect">
            <a:avLst/>
          </a:prstGeom>
          <a:noFill/>
          <a:ln/>
        </p:spPr>
        <p:txBody>
          <a:bodyPr wrap="square" lIns="0" tIns="0" rIns="0" bIns="0" rtlCol="0" anchor="t"/>
          <a:lstStyle/>
          <a:p>
            <a:pPr indent="0" marL="0">
              <a:buNone/>
            </a:pPr>
            <a:r>
              <a:rPr lang="en-US" sz="800" dirty="0">
                <a:solidFill>
                  <a:srgbClr val="6B7280"/>
                </a:solidFill>
                <a:latin typeface="Meiryo UI" pitchFamily="34" charset="0"/>
                <a:ea typeface="Meiryo UI" pitchFamily="34" charset="-122"/>
                <a:cs typeface="Meiryo UI" pitchFamily="34" charset="-120"/>
              </a:rPr>
              <a:t>届くまで繰り返す／たとえると：返信が表示されるのを待つ</a:t>
            </a:r>
            <a:endParaRPr lang="en-US" sz="800" dirty="0"/>
          </a:p>
        </p:txBody>
      </p:sp>
      <p:sp>
        <p:nvSpPr>
          <p:cNvPr id="36" name="Shape 33"/>
          <p:cNvSpPr/>
          <p:nvPr/>
        </p:nvSpPr>
        <p:spPr>
          <a:xfrm>
            <a:off x="1801368" y="2103120"/>
            <a:ext cx="201168" cy="0"/>
          </a:xfrm>
          <a:prstGeom prst="line">
            <a:avLst/>
          </a:prstGeom>
          <a:noFill/>
          <a:ln w="19050">
            <a:solidFill>
              <a:srgbClr val="1B2A49"/>
            </a:solidFill>
            <a:prstDash val="solid"/>
            <a:tailEnd type="triangle"/>
          </a:ln>
        </p:spPr>
      </p:sp>
      <p:sp>
        <p:nvSpPr>
          <p:cNvPr id="37" name="Shape 34"/>
          <p:cNvSpPr/>
          <p:nvPr/>
        </p:nvSpPr>
        <p:spPr>
          <a:xfrm>
            <a:off x="548640" y="2926080"/>
            <a:ext cx="11064240" cy="822960"/>
          </a:xfrm>
          <a:prstGeom prst="roundRect">
            <a:avLst>
              <a:gd name="adj" fmla="val 5556"/>
            </a:avLst>
          </a:prstGeom>
          <a:solidFill>
            <a:srgbClr val="FDEBD3"/>
          </a:solidFill>
          <a:ln/>
        </p:spPr>
      </p:sp>
      <p:pic>
        <p:nvPicPr>
          <p:cNvPr id="38" name="Image 1" descr="preencoded.png">    </p:cNvPr>
          <p:cNvPicPr>
            <a:picLocks noChangeAspect="1"/>
          </p:cNvPicPr>
          <p:nvPr/>
        </p:nvPicPr>
        <p:blipFill>
          <a:blip r:embed="rId2"/>
          <a:stretch>
            <a:fillRect/>
          </a:stretch>
        </p:blipFill>
        <p:spPr>
          <a:xfrm>
            <a:off x="685800" y="3154680"/>
            <a:ext cx="365760" cy="365760"/>
          </a:xfrm>
          <a:prstGeom prst="rect">
            <a:avLst/>
          </a:prstGeom>
        </p:spPr>
      </p:pic>
      <p:sp>
        <p:nvSpPr>
          <p:cNvPr id="39" name="Text 35"/>
          <p:cNvSpPr txBox="1"/>
          <p:nvPr/>
        </p:nvSpPr>
        <p:spPr>
          <a:xfrm>
            <a:off x="1143000" y="2935224"/>
            <a:ext cx="10378440" cy="804672"/>
          </a:xfrm>
          <a:prstGeom prst="rect">
            <a:avLst/>
          </a:prstGeom>
          <a:noFill/>
          <a:ln/>
        </p:spPr>
        <p:txBody>
          <a:bodyPr wrap="square" lIns="254" tIns="254" rIns="254" bIns="254" rtlCol="0" anchor="ctr"/>
          <a:lstStyle/>
          <a:p>
            <a:pPr marL="152400" indent="-152400">
              <a:spcAft>
                <a:spcPts val="100"/>
              </a:spcAft>
              <a:buSzPct val="100000"/>
              <a:buChar char="•"/>
            </a:pPr>
            <a:r>
              <a:rPr lang="en-US" sz="850" dirty="0">
                <a:solidFill>
                  <a:srgbClr val="000000"/>
                </a:solidFill>
                <a:latin typeface="Meiryo UI" pitchFamily="34" charset="0"/>
                <a:ea typeface="Meiryo UI" pitchFamily="34" charset="-122"/>
                <a:cs typeface="Meiryo UI" pitchFamily="34" charset="-120"/>
              </a:rPr>
              <a:t>③で送った時点では答えは返らない。推論が終わるまで④を繰り返すため、④の待ち時間を含めて30秒以内に終わらないとAirtableのスクリプトは打ち切られる（暫定的に120秒へ緩和中）</a:t>
            </a:r>
            <a:endParaRPr lang="en-US" sz="850" dirty="0"/>
          </a:p>
          <a:p>
            <a:pPr marL="152400" indent="-152400">
              <a:spcAft>
                <a:spcPts val="100"/>
              </a:spcAft>
              <a:buSzPct val="100000"/>
              <a:buChar char="•"/>
            </a:pPr>
            <a:r>
              <a:rPr lang="en-US" sz="850" dirty="0">
                <a:solidFill>
                  <a:srgbClr val="000000"/>
                </a:solidFill>
                <a:latin typeface="Meiryo UI" pitchFamily="34" charset="0"/>
                <a:ea typeface="Meiryo UI" pitchFamily="34" charset="-122"/>
                <a:cs typeface="Meiryo UI" pitchFamily="34" charset="-120"/>
              </a:rPr>
              <a:t>応答はチャットの文章として返るため、必要な項目を取り出す（JSONで返すようエージェントに指示しておくなど）。結果はスクリプトから直接Airtableのレコードを更新できる（PAT不要）</a:t>
            </a:r>
            <a:endParaRPr lang="en-US" sz="850" dirty="0"/>
          </a:p>
          <a:p>
            <a:pPr marL="152400" indent="-152400">
              <a:spcAft>
                <a:spcPts val="100"/>
              </a:spcAft>
              <a:buSzPct val="100000"/>
              <a:buChar char="•"/>
            </a:pPr>
            <a:r>
              <a:rPr lang="en-US" sz="850" dirty="0">
                <a:solidFill>
                  <a:srgbClr val="000000"/>
                </a:solidFill>
                <a:latin typeface="Meiryo UI" pitchFamily="34" charset="0"/>
                <a:ea typeface="Meiryo UI" pitchFamily="34" charset="-122"/>
                <a:cs typeface="Meiryo UI" pitchFamily="34" charset="-120"/>
              </a:rPr>
              <a:t>シークレットで呼ぶと「認証なし」の扱いとなり、SharePointのナレッジは使えない。Copilotクレジットも通常どおり消費する（課金なしは、M365 Copilotのライセンスを持つ本人がサインインして動く場合だけ）</a:t>
            </a:r>
            <a:endParaRPr lang="en-US" sz="850" dirty="0"/>
          </a:p>
        </p:txBody>
      </p:sp>
      <p:sp>
        <p:nvSpPr>
          <p:cNvPr id="40" name="Text 36"/>
          <p:cNvSpPr txBox="1"/>
          <p:nvPr/>
        </p:nvSpPr>
        <p:spPr>
          <a:xfrm>
            <a:off x="548640" y="3785616"/>
            <a:ext cx="7315200" cy="292608"/>
          </a:xfrm>
          <a:prstGeom prst="rect">
            <a:avLst/>
          </a:prstGeom>
          <a:noFill/>
          <a:ln/>
        </p:spPr>
        <p:txBody>
          <a:bodyPr wrap="square" lIns="0" tIns="0" rIns="0" bIns="0" rtlCol="0" anchor="ctr"/>
          <a:lstStyle/>
          <a:p>
            <a:pPr indent="0" marL="0">
              <a:buNone/>
            </a:pPr>
            <a:r>
              <a:rPr lang="en-US" sz="1200" b="1" dirty="0">
                <a:solidFill>
                  <a:srgbClr val="1B2A49"/>
                </a:solidFill>
                <a:latin typeface="Meiryo UI" pitchFamily="34" charset="0"/>
                <a:ea typeface="Meiryo UI" pitchFamily="34" charset="-122"/>
                <a:cs typeface="Meiryo UI" pitchFamily="34" charset="-120"/>
              </a:rPr>
              <a:t>P9（Power Automate経由）との違い</a:t>
            </a:r>
            <a:endParaRPr lang="en-US" sz="1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4078224"/>
          <a:ext cx="10607040" cy="914400"/>
        </p:xfrm>
        <a:graphic>
          <a:graphicData uri="http://schemas.openxmlformats.org/drawingml/2006/table">
            <a:tbl>
              <a:tblPr/>
              <a:tblGrid>
                <a:gridCol w="2011680"/>
                <a:gridCol w="4297680"/>
                <a:gridCol w="4297680"/>
              </a:tblGrid>
              <a:tr h="256032">
                <a:tc>
                  <a:txBody>
                    <a:bodyPr/>
                    <a:lstStyle/>
                    <a:p>
                      <a:pPr algn="ctr" indent="0" marL="0">
                        <a:buNone/>
                      </a:pPr>
                      <a:r>
                        <a:rPr lang="en-US" sz="850" b="1" dirty="0">
                          <a:solidFill>
                            <a:srgbClr val="FFFFFF"/>
                          </a:solidFill>
                          <a:latin typeface="Meiryo UI" pitchFamily="34" charset="0"/>
                          <a:ea typeface="Meiryo UI" pitchFamily="34" charset="-122"/>
                          <a:cs typeface="Meiryo UI" pitchFamily="34" charset="-120"/>
                        </a:rPr>
                        <a:t>観点</a:t>
                      </a:r>
                      <a:endParaRPr lang="en-US" sz="8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algn="ctr" indent="0" marL="0">
                        <a:buNone/>
                      </a:pPr>
                      <a:r>
                        <a:rPr lang="en-US" sz="850" b="1" dirty="0">
                          <a:solidFill>
                            <a:srgbClr val="FFFFFF"/>
                          </a:solidFill>
                          <a:latin typeface="Meiryo UI" pitchFamily="34" charset="0"/>
                          <a:ea typeface="Meiryo UI" pitchFamily="34" charset="-122"/>
                          <a:cs typeface="Meiryo UI" pitchFamily="34" charset="-120"/>
                        </a:rPr>
                        <a:t>P9：Power Automate経由</a:t>
                      </a:r>
                      <a:endParaRPr lang="en-US" sz="8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algn="ctr" indent="0" marL="0">
                        <a:buNone/>
                      </a:pPr>
                      <a:r>
                        <a:rPr lang="en-US" sz="850" b="1" dirty="0">
                          <a:solidFill>
                            <a:srgbClr val="FFFFFF"/>
                          </a:solidFill>
                          <a:latin typeface="Meiryo UI" pitchFamily="34" charset="0"/>
                          <a:ea typeface="Meiryo UI" pitchFamily="34" charset="-122"/>
                          <a:cs typeface="Meiryo UI" pitchFamily="34" charset="-120"/>
                        </a:rPr>
                        <a:t>P11：Direct Lineで直接</a:t>
                      </a:r>
                      <a:endParaRPr lang="en-US" sz="8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r>
              <a:tr h="274320">
                <a:tc>
                  <a:txBody>
                    <a:bodyPr/>
                    <a:lstStyle/>
                    <a:p>
                      <a:pPr indent="0" marL="0">
                        <a:buNone/>
                      </a:pPr>
                      <a:r>
                        <a:rPr lang="en-US" sz="850" dirty="0">
                          <a:solidFill>
                            <a:srgbClr val="2B2B2B"/>
                          </a:solidFill>
                          <a:latin typeface="Meiryo UI" pitchFamily="34" charset="0"/>
                          <a:ea typeface="Meiryo UI" pitchFamily="34" charset="-122"/>
                          <a:cs typeface="Meiryo UI" pitchFamily="34" charset="-120"/>
                        </a:rPr>
                        <a:t>応答の待ち方</a:t>
                      </a:r>
                      <a:endParaRPr lang="en-US" sz="8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850" dirty="0">
                          <a:solidFill>
                            <a:srgbClr val="2B2B2B"/>
                          </a:solidFill>
                          <a:latin typeface="Meiryo UI" pitchFamily="34" charset="0"/>
                          <a:ea typeface="Meiryo UI" pitchFamily="34" charset="-122"/>
                          <a:cs typeface="Meiryo UI" pitchFamily="34" charset="-120"/>
                        </a:rPr>
                        <a:t>Power Automateが待つ（Airtable側は依頼を送るだけ）</a:t>
                      </a:r>
                      <a:endParaRPr lang="en-US" sz="8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850" dirty="0">
                          <a:solidFill>
                            <a:srgbClr val="2B2B2B"/>
                          </a:solidFill>
                          <a:latin typeface="Meiryo UI" pitchFamily="34" charset="0"/>
                          <a:ea typeface="Meiryo UI" pitchFamily="34" charset="-122"/>
                          <a:cs typeface="Meiryo UI" pitchFamily="34" charset="-120"/>
                        </a:rPr>
                        <a:t>Airtableのスクリプトが④で待つ</a:t>
                      </a:r>
                      <a:endParaRPr lang="en-US" sz="8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274320">
                <a:tc>
                  <a:txBody>
                    <a:bodyPr/>
                    <a:lstStyle/>
                    <a:p>
                      <a:pPr indent="0" marL="0">
                        <a:buNone/>
                      </a:pPr>
                      <a:r>
                        <a:rPr lang="en-US" sz="850" dirty="0">
                          <a:solidFill>
                            <a:srgbClr val="2B2B2B"/>
                          </a:solidFill>
                          <a:latin typeface="Meiryo UI" pitchFamily="34" charset="0"/>
                          <a:ea typeface="Meiryo UI" pitchFamily="34" charset="-122"/>
                          <a:cs typeface="Meiryo UI" pitchFamily="34" charset="-120"/>
                        </a:rPr>
                        <a:t>時間制限</a:t>
                      </a:r>
                      <a:endParaRPr lang="en-US" sz="8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850" dirty="0">
                          <a:solidFill>
                            <a:srgbClr val="2B2B2B"/>
                          </a:solidFill>
                          <a:latin typeface="Meiryo UI" pitchFamily="34" charset="0"/>
                          <a:ea typeface="Meiryo UI" pitchFamily="34" charset="-122"/>
                          <a:cs typeface="Meiryo UI" pitchFamily="34" charset="-120"/>
                        </a:rPr>
                        <a:t>Airtable側は受付だけなので当たりにくい</a:t>
                      </a:r>
                      <a:endParaRPr lang="en-US" sz="8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850" dirty="0">
                          <a:solidFill>
                            <a:srgbClr val="2B2B2B"/>
                          </a:solidFill>
                          <a:latin typeface="Meiryo UI" pitchFamily="34" charset="0"/>
                          <a:ea typeface="Meiryo UI" pitchFamily="34" charset="-122"/>
                          <a:cs typeface="Meiryo UI" pitchFamily="34" charset="-120"/>
                        </a:rPr>
                        <a:t>推論を含めて30秒以内</a:t>
                      </a:r>
                      <a:endParaRPr lang="en-US" sz="8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274320">
                <a:tc>
                  <a:txBody>
                    <a:bodyPr/>
                    <a:lstStyle/>
                    <a:p>
                      <a:pPr indent="0" marL="0">
                        <a:buNone/>
                      </a:pPr>
                      <a:r>
                        <a:rPr lang="en-US" sz="850" dirty="0">
                          <a:solidFill>
                            <a:srgbClr val="2B2B2B"/>
                          </a:solidFill>
                          <a:latin typeface="Meiryo UI" pitchFamily="34" charset="0"/>
                          <a:ea typeface="Meiryo UI" pitchFamily="34" charset="-122"/>
                          <a:cs typeface="Meiryo UI" pitchFamily="34" charset="-120"/>
                        </a:rPr>
                        <a:t>Airtableへの書き戻し</a:t>
                      </a:r>
                      <a:endParaRPr lang="en-US" sz="8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850" dirty="0">
                          <a:solidFill>
                            <a:srgbClr val="2B2B2B"/>
                          </a:solidFill>
                          <a:latin typeface="Meiryo UI" pitchFamily="34" charset="0"/>
                          <a:ea typeface="Meiryo UI" pitchFamily="34" charset="-122"/>
                          <a:cs typeface="Meiryo UI" pitchFamily="34" charset="-120"/>
                        </a:rPr>
                        <a:t>Power AutomateからHTTPアクション＋PAT</a:t>
                      </a:r>
                      <a:endParaRPr lang="en-US" sz="8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850" dirty="0">
                          <a:solidFill>
                            <a:srgbClr val="2B2B2B"/>
                          </a:solidFill>
                          <a:latin typeface="Meiryo UI" pitchFamily="34" charset="0"/>
                          <a:ea typeface="Meiryo UI" pitchFamily="34" charset="-122"/>
                          <a:cs typeface="Meiryo UI" pitchFamily="34" charset="-120"/>
                        </a:rPr>
                        <a:t>Airtableのスクリプトから直接（PAT不要）</a:t>
                      </a:r>
                      <a:endParaRPr lang="en-US" sz="8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274320">
                <a:tc>
                  <a:txBody>
                    <a:bodyPr/>
                    <a:lstStyle/>
                    <a:p>
                      <a:pPr indent="0" marL="0">
                        <a:buNone/>
                      </a:pPr>
                      <a:r>
                        <a:rPr lang="en-US" sz="850" dirty="0">
                          <a:solidFill>
                            <a:srgbClr val="2B2B2B"/>
                          </a:solidFill>
                          <a:latin typeface="Meiryo UI" pitchFamily="34" charset="0"/>
                          <a:ea typeface="Meiryo UI" pitchFamily="34" charset="-122"/>
                          <a:cs typeface="Meiryo UI" pitchFamily="34" charset="-120"/>
                        </a:rPr>
                        <a:t>必要なライセンス</a:t>
                      </a:r>
                      <a:endParaRPr lang="en-US" sz="8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850" dirty="0">
                          <a:solidFill>
                            <a:srgbClr val="2B2B2B"/>
                          </a:solidFill>
                          <a:latin typeface="Meiryo UI" pitchFamily="34" charset="0"/>
                          <a:ea typeface="Meiryo UI" pitchFamily="34" charset="-122"/>
                          <a:cs typeface="Meiryo UI" pitchFamily="34" charset="-120"/>
                        </a:rPr>
                        <a:t>Power Automate Premium（HTTPトリガー）＋Copilot Studio</a:t>
                      </a:r>
                      <a:endParaRPr lang="en-US" sz="8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850" dirty="0">
                          <a:solidFill>
                            <a:srgbClr val="2B2B2B"/>
                          </a:solidFill>
                          <a:latin typeface="Meiryo UI" pitchFamily="34" charset="0"/>
                          <a:ea typeface="Meiryo UI" pitchFamily="34" charset="-122"/>
                          <a:cs typeface="Meiryo UI" pitchFamily="34" charset="-120"/>
                        </a:rPr>
                        <a:t>Copilot Studioのみ（Power Automateは不要）</a:t>
                      </a:r>
                      <a:endParaRPr lang="en-US" sz="8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274320">
                <a:tc>
                  <a:txBody>
                    <a:bodyPr/>
                    <a:lstStyle/>
                    <a:p>
                      <a:pPr indent="0" marL="0">
                        <a:buNone/>
                      </a:pPr>
                      <a:r>
                        <a:rPr lang="en-US" sz="850" dirty="0">
                          <a:solidFill>
                            <a:srgbClr val="2B2B2B"/>
                          </a:solidFill>
                          <a:latin typeface="Meiryo UI" pitchFamily="34" charset="0"/>
                          <a:ea typeface="Meiryo UI" pitchFamily="34" charset="-122"/>
                          <a:cs typeface="Meiryo UI" pitchFamily="34" charset="-120"/>
                        </a:rPr>
                        <a:t>秘密情報の置き場所</a:t>
                      </a:r>
                      <a:endParaRPr lang="en-US" sz="8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850" dirty="0">
                          <a:solidFill>
                            <a:srgbClr val="2B2B2B"/>
                          </a:solidFill>
                          <a:latin typeface="Meiryo UI" pitchFamily="34" charset="0"/>
                          <a:ea typeface="Meiryo UI" pitchFamily="34" charset="-122"/>
                          <a:cs typeface="Meiryo UI" pitchFamily="34" charset="-120"/>
                        </a:rPr>
                        <a:t>HTTPトリガーのURL（またはEntraの認証情報）をAirtableに置く</a:t>
                      </a:r>
                      <a:endParaRPr lang="en-US" sz="8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850" dirty="0">
                          <a:solidFill>
                            <a:srgbClr val="2B2B2B"/>
                          </a:solidFill>
                          <a:latin typeface="Meiryo UI" pitchFamily="34" charset="0"/>
                          <a:ea typeface="Meiryo UI" pitchFamily="34" charset="-122"/>
                          <a:cs typeface="Meiryo UI" pitchFamily="34" charset="-120"/>
                        </a:rPr>
                        <a:t>Direct LineのシークレットをAirtableに置く</a:t>
                      </a:r>
                      <a:endParaRPr lang="en-US" sz="8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274320">
                <a:tc>
                  <a:txBody>
                    <a:bodyPr/>
                    <a:lstStyle/>
                    <a:p>
                      <a:pPr indent="0" marL="0">
                        <a:buNone/>
                      </a:pPr>
                      <a:r>
                        <a:rPr lang="en-US" sz="850" dirty="0">
                          <a:solidFill>
                            <a:srgbClr val="2B2B2B"/>
                          </a:solidFill>
                          <a:latin typeface="Meiryo UI" pitchFamily="34" charset="0"/>
                          <a:ea typeface="Meiryo UI" pitchFamily="34" charset="-122"/>
                          <a:cs typeface="Meiryo UI" pitchFamily="34" charset="-120"/>
                        </a:rPr>
                        <a:t>SharePointのナレッジ</a:t>
                      </a:r>
                      <a:endParaRPr lang="en-US" sz="8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850" dirty="0">
                          <a:solidFill>
                            <a:srgbClr val="2B2B2B"/>
                          </a:solidFill>
                          <a:latin typeface="Meiryo UI" pitchFamily="34" charset="0"/>
                          <a:ea typeface="Meiryo UI" pitchFamily="34" charset="-122"/>
                          <a:cs typeface="Meiryo UI" pitchFamily="34" charset="-120"/>
                        </a:rPr>
                        <a:t>接続を作った人のアカウントで動く（使えるかは要PoC）</a:t>
                      </a:r>
                      <a:endParaRPr lang="en-US" sz="8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850" dirty="0">
                          <a:solidFill>
                            <a:srgbClr val="2B2B2B"/>
                          </a:solidFill>
                          <a:latin typeface="Meiryo UI" pitchFamily="34" charset="0"/>
                          <a:ea typeface="Meiryo UI" pitchFamily="34" charset="-122"/>
                          <a:cs typeface="Meiryo UI" pitchFamily="34" charset="-120"/>
                        </a:rPr>
                        <a:t>使えない（認証なしではSharePointから取得しない）</a:t>
                      </a:r>
                      <a:endParaRPr lang="en-US" sz="8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274320">
                <a:tc>
                  <a:txBody>
                    <a:bodyPr/>
                    <a:lstStyle/>
                    <a:p>
                      <a:pPr indent="0" marL="0">
                        <a:buNone/>
                      </a:pPr>
                      <a:r>
                        <a:rPr lang="en-US" sz="850" dirty="0">
                          <a:solidFill>
                            <a:srgbClr val="2B2B2B"/>
                          </a:solidFill>
                          <a:latin typeface="Meiryo UI" pitchFamily="34" charset="0"/>
                          <a:ea typeface="Meiryo UI" pitchFamily="34" charset="-122"/>
                          <a:cs typeface="Meiryo UI" pitchFamily="34" charset="-120"/>
                        </a:rPr>
                        <a:t>Copilotクレジット</a:t>
                      </a:r>
                      <a:endParaRPr lang="en-US" sz="8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850" dirty="0">
                          <a:solidFill>
                            <a:srgbClr val="2B2B2B"/>
                          </a:solidFill>
                          <a:latin typeface="Meiryo UI" pitchFamily="34" charset="0"/>
                          <a:ea typeface="Meiryo UI" pitchFamily="34" charset="-122"/>
                          <a:cs typeface="Meiryo UI" pitchFamily="34" charset="-120"/>
                        </a:rPr>
                        <a:t>消費する（接続した人のライセンスで課金なしになるかは要確認）</a:t>
                      </a:r>
                      <a:endParaRPr lang="en-US" sz="8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850" dirty="0">
                          <a:solidFill>
                            <a:srgbClr val="2B2B2B"/>
                          </a:solidFill>
                          <a:latin typeface="Meiryo UI" pitchFamily="34" charset="0"/>
                          <a:ea typeface="Meiryo UI" pitchFamily="34" charset="-122"/>
                          <a:cs typeface="Meiryo UI" pitchFamily="34" charset="-120"/>
                        </a:rPr>
                        <a:t>消費する（身元なしで動くため課金なしの条件に当たらない）</a:t>
                      </a:r>
                      <a:endParaRPr lang="en-US" sz="8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274320">
                <a:tc>
                  <a:txBody>
                    <a:bodyPr/>
                    <a:lstStyle/>
                    <a:p>
                      <a:pPr indent="0" marL="0">
                        <a:buNone/>
                      </a:pPr>
                      <a:r>
                        <a:rPr lang="en-US" sz="850" dirty="0">
                          <a:solidFill>
                            <a:srgbClr val="2B2B2B"/>
                          </a:solidFill>
                          <a:latin typeface="Meiryo UI" pitchFamily="34" charset="0"/>
                          <a:ea typeface="Meiryo UI" pitchFamily="34" charset="-122"/>
                          <a:cs typeface="Meiryo UI" pitchFamily="34" charset="-120"/>
                        </a:rPr>
                        <a:t>実装の手間</a:t>
                      </a:r>
                      <a:endParaRPr lang="en-US" sz="8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850" dirty="0">
                          <a:solidFill>
                            <a:srgbClr val="2B2B2B"/>
                          </a:solidFill>
                          <a:latin typeface="Meiryo UI" pitchFamily="34" charset="0"/>
                          <a:ea typeface="Meiryo UI" pitchFamily="34" charset="-122"/>
                          <a:cs typeface="Meiryo UI" pitchFamily="34" charset="-120"/>
                        </a:rPr>
                        <a:t>フローの作成（ノーコード中心）</a:t>
                      </a:r>
                      <a:endParaRPr lang="en-US" sz="8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850" dirty="0">
                          <a:solidFill>
                            <a:srgbClr val="2B2B2B"/>
                          </a:solidFill>
                          <a:latin typeface="Meiryo UI" pitchFamily="34" charset="0"/>
                          <a:ea typeface="Meiryo UI" pitchFamily="34" charset="-122"/>
                          <a:cs typeface="Meiryo UI" pitchFamily="34" charset="-120"/>
                        </a:rPr>
                        <a:t>4段階の呼び出しと待ち合わせをスクリプトで実装</a:t>
                      </a:r>
                      <a:endParaRPr lang="en-US" sz="8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参考：iPaaS（Make・Zapierなど）とは</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複数のクラウドサービスを、プログラムを書かずにつなぐためのクラウドサービス。Power Automateも同じ種類</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3. パターン別の詳細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19</a:t>
            </a:r>
            <a:endParaRPr lang="en-US" sz="900" dirty="0"/>
          </a:p>
        </p:txBody>
      </p:sp>
      <p:sp>
        <p:nvSpPr>
          <p:cNvPr id="6" name="Shape 4"/>
          <p:cNvSpPr/>
          <p:nvPr/>
        </p:nvSpPr>
        <p:spPr>
          <a:xfrm>
            <a:off x="548640" y="1371600"/>
            <a:ext cx="11064240" cy="1417320"/>
          </a:xfrm>
          <a:prstGeom prst="roundRect">
            <a:avLst>
              <a:gd name="adj" fmla="val 3871"/>
            </a:avLst>
          </a:prstGeom>
          <a:solidFill>
            <a:srgbClr val="F3F5F8"/>
          </a:solidFill>
          <a:ln/>
        </p:spPr>
      </p:sp>
      <p:sp>
        <p:nvSpPr>
          <p:cNvPr id="7" name="Text 5"/>
          <p:cNvSpPr txBox="1"/>
          <p:nvPr/>
        </p:nvSpPr>
        <p:spPr>
          <a:xfrm>
            <a:off x="731520" y="1444752"/>
            <a:ext cx="6400800" cy="292608"/>
          </a:xfrm>
          <a:prstGeom prst="rect">
            <a:avLst/>
          </a:prstGeom>
          <a:noFill/>
          <a:ln/>
        </p:spPr>
        <p:txBody>
          <a:bodyPr wrap="square" lIns="0" tIns="0" rIns="0" bIns="0" rtlCol="0" anchor="ctr"/>
          <a:lstStyle/>
          <a:p>
            <a:pPr indent="0" marL="0">
              <a:buNone/>
            </a:pPr>
            <a:r>
              <a:rPr lang="en-US" sz="1150" b="1" dirty="0">
                <a:solidFill>
                  <a:srgbClr val="1B2A49"/>
                </a:solidFill>
                <a:latin typeface="Meiryo UI" pitchFamily="34" charset="0"/>
                <a:ea typeface="Meiryo UI" pitchFamily="34" charset="-122"/>
                <a:cs typeface="Meiryo UI" pitchFamily="34" charset="-120"/>
              </a:rPr>
              <a:t>iPaaS（Integration Platform as a Service）の考え方</a:t>
            </a:r>
            <a:endParaRPr lang="en-US" sz="1150" dirty="0"/>
          </a:p>
        </p:txBody>
      </p:sp>
      <p:sp>
        <p:nvSpPr>
          <p:cNvPr id="8" name="Text 6"/>
          <p:cNvSpPr txBox="1"/>
          <p:nvPr/>
        </p:nvSpPr>
        <p:spPr>
          <a:xfrm>
            <a:off x="731520" y="1737360"/>
            <a:ext cx="3840480" cy="868680"/>
          </a:xfrm>
          <a:prstGeom prst="rect">
            <a:avLst/>
          </a:prstGeom>
          <a:noFill/>
          <a:ln/>
        </p:spPr>
        <p:txBody>
          <a:bodyPr wrap="square" lIns="0" tIns="0" rIns="0" bIns="0" rtlCol="0" anchor="t"/>
          <a:lstStyle/>
          <a:p>
            <a:pPr indent="0" marL="0">
              <a:buNone/>
            </a:pPr>
            <a:r>
              <a:rPr lang="en-US" sz="1050" dirty="0">
                <a:solidFill>
                  <a:srgbClr val="2B2B2B"/>
                </a:solidFill>
                <a:latin typeface="Meiryo UI" pitchFamily="34" charset="0"/>
                <a:ea typeface="Meiryo UI" pitchFamily="34" charset="-122"/>
                <a:cs typeface="Meiryo UI" pitchFamily="34" charset="-120"/>
              </a:rPr>
              <a:t>「きっかけ（トリガー）」と「処理（アクション）」を画面上で組み合わせて自動処理を作る</a:t>
            </a:r>
            <a:endParaRPr lang="en-US" sz="1050" dirty="0"/>
          </a:p>
        </p:txBody>
      </p:sp>
      <p:sp>
        <p:nvSpPr>
          <p:cNvPr id="9" name="Shape 7"/>
          <p:cNvSpPr/>
          <p:nvPr/>
        </p:nvSpPr>
        <p:spPr>
          <a:xfrm>
            <a:off x="4754880" y="1783080"/>
            <a:ext cx="1965960" cy="777240"/>
          </a:xfrm>
          <a:prstGeom prst="roundRect">
            <a:avLst>
              <a:gd name="adj" fmla="val 9412"/>
            </a:avLst>
          </a:prstGeom>
          <a:solidFill>
            <a:srgbClr val="FFFFFF"/>
          </a:solidFill>
          <a:ln w="12700">
            <a:solidFill>
              <a:srgbClr val="D5DBE3"/>
            </a:solidFill>
            <a:prstDash val="solid"/>
          </a:ln>
        </p:spPr>
      </p:sp>
      <p:pic>
        <p:nvPicPr>
          <p:cNvPr id="10" name="Image 0" descr="preencoded.png">    </p:cNvPr>
          <p:cNvPicPr>
            <a:picLocks noChangeAspect="1"/>
          </p:cNvPicPr>
          <p:nvPr/>
        </p:nvPicPr>
        <p:blipFill>
          <a:blip r:embed="rId1"/>
          <a:stretch>
            <a:fillRect/>
          </a:stretch>
        </p:blipFill>
        <p:spPr>
          <a:xfrm>
            <a:off x="4864608" y="2025396"/>
            <a:ext cx="292608" cy="292608"/>
          </a:xfrm>
          <a:prstGeom prst="rect">
            <a:avLst/>
          </a:prstGeom>
        </p:spPr>
      </p:pic>
      <p:sp>
        <p:nvSpPr>
          <p:cNvPr id="11" name="Text 8"/>
          <p:cNvSpPr txBox="1"/>
          <p:nvPr/>
        </p:nvSpPr>
        <p:spPr>
          <a:xfrm>
            <a:off x="5248656" y="1783080"/>
            <a:ext cx="1426464" cy="777240"/>
          </a:xfrm>
          <a:prstGeom prst="rect">
            <a:avLst/>
          </a:prstGeom>
          <a:noFill/>
          <a:ln/>
        </p:spPr>
        <p:txBody>
          <a:bodyPr wrap="square" lIns="0" tIns="0" rIns="0" bIns="0" rtlCol="0" anchor="ctr"/>
          <a:lstStyle/>
          <a:p>
            <a:pPr algn="l" indent="0" marL="0">
              <a:buNone/>
            </a:pPr>
            <a:r>
              <a:rPr lang="en-US" sz="1000" b="1" dirty="0">
                <a:solidFill>
                  <a:srgbClr val="1B2A49"/>
                </a:solidFill>
                <a:latin typeface="Meiryo UI" pitchFamily="34" charset="0"/>
                <a:ea typeface="Meiryo UI" pitchFamily="34" charset="-122"/>
                <a:cs typeface="Meiryo UI" pitchFamily="34" charset="-120"/>
              </a:rPr>
              <a:t>トリガー</a:t>
            </a:r>
            <a:endParaRPr lang="en-US" sz="1000" dirty="0"/>
          </a:p>
          <a:p>
            <a:pPr algn="l" indent="0" marL="0">
              <a:buNone/>
            </a:pPr>
            <a:r>
              <a:rPr lang="en-US" sz="800" dirty="0">
                <a:solidFill>
                  <a:srgbClr val="6B7280"/>
                </a:solidFill>
                <a:latin typeface="Meiryo UI" pitchFamily="34" charset="0"/>
                <a:ea typeface="Meiryo UI" pitchFamily="34" charset="-122"/>
                <a:cs typeface="Meiryo UI" pitchFamily="34" charset="-120"/>
              </a:rPr>
              <a:t>Airtableにレコード追加</a:t>
            </a:r>
            <a:endParaRPr lang="en-US" sz="1000" dirty="0"/>
          </a:p>
        </p:txBody>
      </p:sp>
      <p:sp>
        <p:nvSpPr>
          <p:cNvPr id="12" name="Shape 9"/>
          <p:cNvSpPr/>
          <p:nvPr/>
        </p:nvSpPr>
        <p:spPr>
          <a:xfrm>
            <a:off x="6739128" y="2167128"/>
            <a:ext cx="283464" cy="0"/>
          </a:xfrm>
          <a:prstGeom prst="line">
            <a:avLst/>
          </a:prstGeom>
          <a:noFill/>
          <a:ln w="19050">
            <a:solidFill>
              <a:srgbClr val="1B2A49"/>
            </a:solidFill>
            <a:prstDash val="solid"/>
            <a:tailEnd type="triangle"/>
          </a:ln>
        </p:spPr>
      </p:sp>
      <p:sp>
        <p:nvSpPr>
          <p:cNvPr id="13" name="Shape 10"/>
          <p:cNvSpPr/>
          <p:nvPr/>
        </p:nvSpPr>
        <p:spPr>
          <a:xfrm>
            <a:off x="7040880" y="1783080"/>
            <a:ext cx="1965960" cy="777240"/>
          </a:xfrm>
          <a:prstGeom prst="roundRect">
            <a:avLst>
              <a:gd name="adj" fmla="val 9412"/>
            </a:avLst>
          </a:prstGeom>
          <a:solidFill>
            <a:srgbClr val="FFFFFF"/>
          </a:solidFill>
          <a:ln w="12700">
            <a:solidFill>
              <a:srgbClr val="D5DBE3"/>
            </a:solidFill>
            <a:prstDash val="solid"/>
          </a:ln>
        </p:spPr>
      </p:sp>
      <p:pic>
        <p:nvPicPr>
          <p:cNvPr id="14" name="Image 1" descr="preencoded.png">    </p:cNvPr>
          <p:cNvPicPr>
            <a:picLocks noChangeAspect="1"/>
          </p:cNvPicPr>
          <p:nvPr/>
        </p:nvPicPr>
        <p:blipFill>
          <a:blip r:embed="rId2"/>
          <a:stretch>
            <a:fillRect/>
          </a:stretch>
        </p:blipFill>
        <p:spPr>
          <a:xfrm>
            <a:off x="7150608" y="2025396"/>
            <a:ext cx="292608" cy="292608"/>
          </a:xfrm>
          <a:prstGeom prst="rect">
            <a:avLst/>
          </a:prstGeom>
        </p:spPr>
      </p:pic>
      <p:sp>
        <p:nvSpPr>
          <p:cNvPr id="15" name="Text 11"/>
          <p:cNvSpPr txBox="1"/>
          <p:nvPr/>
        </p:nvSpPr>
        <p:spPr>
          <a:xfrm>
            <a:off x="7534656" y="1783080"/>
            <a:ext cx="1426464" cy="777240"/>
          </a:xfrm>
          <a:prstGeom prst="rect">
            <a:avLst/>
          </a:prstGeom>
          <a:noFill/>
          <a:ln/>
        </p:spPr>
        <p:txBody>
          <a:bodyPr wrap="square" lIns="0" tIns="0" rIns="0" bIns="0" rtlCol="0" anchor="ctr"/>
          <a:lstStyle/>
          <a:p>
            <a:pPr algn="l" indent="0" marL="0">
              <a:buNone/>
            </a:pPr>
            <a:r>
              <a:rPr lang="en-US" sz="1000" b="1" dirty="0">
                <a:solidFill>
                  <a:srgbClr val="1B2A49"/>
                </a:solidFill>
                <a:latin typeface="Meiryo UI" pitchFamily="34" charset="0"/>
                <a:ea typeface="Meiryo UI" pitchFamily="34" charset="-122"/>
                <a:cs typeface="Meiryo UI" pitchFamily="34" charset="-120"/>
              </a:rPr>
              <a:t>アクション</a:t>
            </a:r>
            <a:endParaRPr lang="en-US" sz="1000" dirty="0"/>
          </a:p>
          <a:p>
            <a:pPr algn="l" indent="0" marL="0">
              <a:buNone/>
            </a:pPr>
            <a:r>
              <a:rPr lang="en-US" sz="800" dirty="0">
                <a:solidFill>
                  <a:srgbClr val="6B7280"/>
                </a:solidFill>
                <a:latin typeface="Meiryo UI" pitchFamily="34" charset="0"/>
                <a:ea typeface="Meiryo UI" pitchFamily="34" charset="-122"/>
                <a:cs typeface="Meiryo UI" pitchFamily="34" charset="-120"/>
              </a:rPr>
              <a:t>AIで文章を作る</a:t>
            </a:r>
            <a:endParaRPr lang="en-US" sz="1000" dirty="0"/>
          </a:p>
        </p:txBody>
      </p:sp>
      <p:sp>
        <p:nvSpPr>
          <p:cNvPr id="16" name="Shape 12"/>
          <p:cNvSpPr/>
          <p:nvPr/>
        </p:nvSpPr>
        <p:spPr>
          <a:xfrm>
            <a:off x="9025128" y="2167128"/>
            <a:ext cx="283464" cy="0"/>
          </a:xfrm>
          <a:prstGeom prst="line">
            <a:avLst/>
          </a:prstGeom>
          <a:noFill/>
          <a:ln w="19050">
            <a:solidFill>
              <a:srgbClr val="1B2A49"/>
            </a:solidFill>
            <a:prstDash val="solid"/>
            <a:tailEnd type="triangle"/>
          </a:ln>
        </p:spPr>
      </p:sp>
      <p:sp>
        <p:nvSpPr>
          <p:cNvPr id="17" name="Shape 13"/>
          <p:cNvSpPr/>
          <p:nvPr/>
        </p:nvSpPr>
        <p:spPr>
          <a:xfrm>
            <a:off x="9326880" y="1783080"/>
            <a:ext cx="1965960" cy="777240"/>
          </a:xfrm>
          <a:prstGeom prst="roundRect">
            <a:avLst>
              <a:gd name="adj" fmla="val 9412"/>
            </a:avLst>
          </a:prstGeom>
          <a:solidFill>
            <a:srgbClr val="FFFFFF"/>
          </a:solidFill>
          <a:ln w="12700">
            <a:solidFill>
              <a:srgbClr val="D5DBE3"/>
            </a:solidFill>
            <a:prstDash val="solid"/>
          </a:ln>
        </p:spPr>
      </p:sp>
      <p:pic>
        <p:nvPicPr>
          <p:cNvPr id="18" name="Image 2" descr="preencoded.png">    </p:cNvPr>
          <p:cNvPicPr>
            <a:picLocks noChangeAspect="1"/>
          </p:cNvPicPr>
          <p:nvPr/>
        </p:nvPicPr>
        <p:blipFill>
          <a:blip r:embed="rId3"/>
          <a:stretch>
            <a:fillRect/>
          </a:stretch>
        </p:blipFill>
        <p:spPr>
          <a:xfrm>
            <a:off x="9436608" y="2025396"/>
            <a:ext cx="292608" cy="292608"/>
          </a:xfrm>
          <a:prstGeom prst="rect">
            <a:avLst/>
          </a:prstGeom>
        </p:spPr>
      </p:pic>
      <p:sp>
        <p:nvSpPr>
          <p:cNvPr id="19" name="Text 14"/>
          <p:cNvSpPr txBox="1"/>
          <p:nvPr/>
        </p:nvSpPr>
        <p:spPr>
          <a:xfrm>
            <a:off x="9820656" y="1783080"/>
            <a:ext cx="1426464" cy="777240"/>
          </a:xfrm>
          <a:prstGeom prst="rect">
            <a:avLst/>
          </a:prstGeom>
          <a:noFill/>
          <a:ln/>
        </p:spPr>
        <p:txBody>
          <a:bodyPr wrap="square" lIns="0" tIns="0" rIns="0" bIns="0" rtlCol="0" anchor="ctr"/>
          <a:lstStyle/>
          <a:p>
            <a:pPr algn="l" indent="0" marL="0">
              <a:buNone/>
            </a:pPr>
            <a:r>
              <a:rPr lang="en-US" sz="1000" b="1" dirty="0">
                <a:solidFill>
                  <a:srgbClr val="1B2A49"/>
                </a:solidFill>
                <a:latin typeface="Meiryo UI" pitchFamily="34" charset="0"/>
                <a:ea typeface="Meiryo UI" pitchFamily="34" charset="-122"/>
                <a:cs typeface="Meiryo UI" pitchFamily="34" charset="-120"/>
              </a:rPr>
              <a:t>アクション</a:t>
            </a:r>
            <a:endParaRPr lang="en-US" sz="1000" dirty="0"/>
          </a:p>
          <a:p>
            <a:pPr algn="l" indent="0" marL="0">
              <a:buNone/>
            </a:pPr>
            <a:r>
              <a:rPr lang="en-US" sz="800" dirty="0">
                <a:solidFill>
                  <a:srgbClr val="6B7280"/>
                </a:solidFill>
                <a:latin typeface="Meiryo UI" pitchFamily="34" charset="0"/>
                <a:ea typeface="Meiryo UI" pitchFamily="34" charset="-122"/>
                <a:cs typeface="Meiryo UI" pitchFamily="34" charset="-120"/>
              </a:rPr>
              <a:t>Airtableに書き戻す</a:t>
            </a:r>
            <a:endParaRPr lang="en-US" sz="1000" dirty="0"/>
          </a:p>
        </p:txBody>
      </p:sp>
      <p:sp>
        <p:nvSpPr>
          <p:cNvPr id="20" name="Shape 15"/>
          <p:cNvSpPr/>
          <p:nvPr/>
        </p:nvSpPr>
        <p:spPr>
          <a:xfrm>
            <a:off x="548640" y="2926080"/>
            <a:ext cx="3611880" cy="3383280"/>
          </a:xfrm>
          <a:prstGeom prst="roundRect">
            <a:avLst>
              <a:gd name="adj" fmla="val 1622"/>
            </a:avLst>
          </a:prstGeom>
          <a:solidFill>
            <a:srgbClr val="FFFFFF"/>
          </a:solidFill>
          <a:ln w="12700">
            <a:solidFill>
              <a:srgbClr val="D5DBE3"/>
            </a:solidFill>
            <a:prstDash val="solid"/>
          </a:ln>
        </p:spPr>
      </p:sp>
      <p:sp>
        <p:nvSpPr>
          <p:cNvPr id="21" name="Shape 16"/>
          <p:cNvSpPr/>
          <p:nvPr/>
        </p:nvSpPr>
        <p:spPr>
          <a:xfrm>
            <a:off x="685800" y="3035808"/>
            <a:ext cx="457200" cy="457200"/>
          </a:xfrm>
          <a:prstGeom prst="ellipse">
            <a:avLst/>
          </a:prstGeom>
          <a:solidFill>
            <a:srgbClr val="F3F5F8"/>
          </a:solidFill>
          <a:ln/>
        </p:spPr>
      </p:sp>
      <p:pic>
        <p:nvPicPr>
          <p:cNvPr id="22" name="Image 3" descr="preencoded.png">    </p:cNvPr>
          <p:cNvPicPr>
            <a:picLocks noChangeAspect="1"/>
          </p:cNvPicPr>
          <p:nvPr/>
        </p:nvPicPr>
        <p:blipFill>
          <a:blip r:embed="rId4"/>
          <a:stretch>
            <a:fillRect/>
          </a:stretch>
        </p:blipFill>
        <p:spPr>
          <a:xfrm>
            <a:off x="777240" y="3127248"/>
            <a:ext cx="274320" cy="274320"/>
          </a:xfrm>
          <a:prstGeom prst="rect">
            <a:avLst/>
          </a:prstGeom>
        </p:spPr>
      </p:pic>
      <p:sp>
        <p:nvSpPr>
          <p:cNvPr id="23" name="Text 17"/>
          <p:cNvSpPr txBox="1"/>
          <p:nvPr/>
        </p:nvSpPr>
        <p:spPr>
          <a:xfrm>
            <a:off x="1234440" y="3017520"/>
            <a:ext cx="2834640" cy="512064"/>
          </a:xfrm>
          <a:prstGeom prst="rect">
            <a:avLst/>
          </a:prstGeom>
          <a:noFill/>
          <a:ln/>
        </p:spPr>
        <p:txBody>
          <a:bodyPr wrap="square" lIns="0" tIns="0" rIns="0" bIns="0" rtlCol="0" anchor="ctr"/>
          <a:lstStyle/>
          <a:p>
            <a:pPr indent="0" marL="0">
              <a:buNone/>
            </a:pPr>
            <a:r>
              <a:rPr lang="en-US" sz="1200" b="1" dirty="0">
                <a:solidFill>
                  <a:srgbClr val="1B2A49"/>
                </a:solidFill>
                <a:latin typeface="Meiryo UI" pitchFamily="34" charset="0"/>
                <a:ea typeface="Meiryo UI" pitchFamily="34" charset="-122"/>
                <a:cs typeface="Meiryo UI" pitchFamily="34" charset="-120"/>
              </a:rPr>
              <a:t>Zapier（ザピアー）</a:t>
            </a:r>
            <a:endParaRPr lang="en-US" sz="1200" dirty="0"/>
          </a:p>
          <a:p>
            <a:pPr indent="0" marL="0">
              <a:buNone/>
            </a:pPr>
            <a:r>
              <a:rPr lang="en-US" sz="850" dirty="0">
                <a:solidFill>
                  <a:srgbClr val="6B7280"/>
                </a:solidFill>
                <a:latin typeface="Meiryo UI" pitchFamily="34" charset="0"/>
                <a:ea typeface="Meiryo UI" pitchFamily="34" charset="-122"/>
                <a:cs typeface="Meiryo UI" pitchFamily="34" charset="-120"/>
              </a:rPr>
              <a:t>Zapier社（米国）</a:t>
            </a:r>
            <a:endParaRPr lang="en-US" sz="1200" dirty="0"/>
          </a:p>
        </p:txBody>
      </p:sp>
      <p:sp>
        <p:nvSpPr>
          <p:cNvPr id="24" name="Text 18"/>
          <p:cNvSpPr txBox="1"/>
          <p:nvPr/>
        </p:nvSpPr>
        <p:spPr>
          <a:xfrm>
            <a:off x="713232" y="3639312"/>
            <a:ext cx="3319272" cy="2578608"/>
          </a:xfrm>
          <a:prstGeom prst="rect">
            <a:avLst/>
          </a:prstGeom>
          <a:noFill/>
          <a:ln/>
        </p:spPr>
        <p:txBody>
          <a:bodyPr wrap="square" lIns="254" tIns="254" rIns="254" bIns="254" rtlCol="0" anchor="t"/>
          <a:lstStyle/>
          <a:p>
            <a:pPr indent="0" marL="0">
              <a:buNone/>
            </a:pPr>
            <a:r>
              <a:rPr lang="en-US" sz="1050" b="1" dirty="0">
                <a:solidFill>
                  <a:srgbClr val="0E9F9A"/>
                </a:solidFill>
                <a:latin typeface="Meiryo UI" pitchFamily="34" charset="0"/>
                <a:ea typeface="Meiryo UI" pitchFamily="34" charset="-122"/>
                <a:cs typeface="Meiryo UI" pitchFamily="34" charset="-120"/>
              </a:rPr>
              <a:t>特徴</a:t>
            </a:r>
            <a:endParaRPr lang="en-US" sz="1050" dirty="0"/>
          </a:p>
          <a:p>
            <a:pPr indent="0" marL="0">
              <a:spcAft>
                <a:spcPts val="600"/>
              </a:spcAft>
              <a:buNone/>
            </a:pPr>
            <a:r>
              <a:rPr lang="en-US" sz="1050" dirty="0">
                <a:solidFill>
                  <a:srgbClr val="2B2B2B"/>
                </a:solidFill>
                <a:latin typeface="Meiryo UI" pitchFamily="34" charset="0"/>
                <a:ea typeface="Meiryo UI" pitchFamily="34" charset="-122"/>
                <a:cs typeface="Meiryo UI" pitchFamily="34" charset="-120"/>
              </a:rPr>
              <a:t>操作が簡単で、つなげるサービスの数が多い。一直線の単純な処理に向く</a:t>
            </a:r>
            <a:endParaRPr lang="en-US" sz="1050" dirty="0"/>
          </a:p>
          <a:p>
            <a:pPr indent="0" marL="0">
              <a:buNone/>
            </a:pPr>
            <a:r>
              <a:rPr lang="en-US" sz="1050" b="1" dirty="0">
                <a:solidFill>
                  <a:srgbClr val="0E9F9A"/>
                </a:solidFill>
                <a:latin typeface="Meiryo UI" pitchFamily="34" charset="0"/>
                <a:ea typeface="Meiryo UI" pitchFamily="34" charset="-122"/>
                <a:cs typeface="Meiryo UI" pitchFamily="34" charset="-120"/>
              </a:rPr>
              <a:t>処理の単位</a:t>
            </a:r>
            <a:endParaRPr lang="en-US" sz="1050" dirty="0"/>
          </a:p>
          <a:p>
            <a:pPr indent="0" marL="0">
              <a:spcAft>
                <a:spcPts val="600"/>
              </a:spcAft>
              <a:buNone/>
            </a:pPr>
            <a:r>
              <a:rPr lang="en-US" sz="1050" dirty="0">
                <a:solidFill>
                  <a:srgbClr val="2B2B2B"/>
                </a:solidFill>
                <a:latin typeface="Meiryo UI" pitchFamily="34" charset="0"/>
                <a:ea typeface="Meiryo UI" pitchFamily="34" charset="-122"/>
                <a:cs typeface="Meiryo UI" pitchFamily="34" charset="-120"/>
              </a:rPr>
              <a:t>「Zap」（トリガー1つ＋アクション）</a:t>
            </a:r>
            <a:endParaRPr lang="en-US" sz="1050" dirty="0"/>
          </a:p>
          <a:p>
            <a:pPr indent="0" marL="0">
              <a:buNone/>
            </a:pPr>
            <a:r>
              <a:rPr lang="en-US" sz="1050" b="1" dirty="0">
                <a:solidFill>
                  <a:srgbClr val="0E9F9A"/>
                </a:solidFill>
                <a:latin typeface="Meiryo UI" pitchFamily="34" charset="0"/>
                <a:ea typeface="Meiryo UI" pitchFamily="34" charset="-122"/>
                <a:cs typeface="Meiryo UI" pitchFamily="34" charset="-120"/>
              </a:rPr>
              <a:t>料金</a:t>
            </a:r>
            <a:endParaRPr lang="en-US" sz="1050" dirty="0"/>
          </a:p>
          <a:p>
            <a:pPr indent="0" marL="0">
              <a:spcAft>
                <a:spcPts val="600"/>
              </a:spcAft>
              <a:buNone/>
            </a:pPr>
            <a:r>
              <a:rPr lang="en-US" sz="1050" dirty="0">
                <a:solidFill>
                  <a:srgbClr val="2B2B2B"/>
                </a:solidFill>
                <a:latin typeface="Meiryo UI" pitchFamily="34" charset="0"/>
                <a:ea typeface="Meiryo UI" pitchFamily="34" charset="-122"/>
                <a:cs typeface="Meiryo UI" pitchFamily="34" charset="-120"/>
              </a:rPr>
              <a:t>月額プラン。実行したアクションの数（タスク数）で上限が決まる</a:t>
            </a:r>
            <a:endParaRPr lang="en-US" sz="1050" dirty="0"/>
          </a:p>
          <a:p>
            <a:pPr indent="0" marL="0">
              <a:buNone/>
            </a:pPr>
            <a:r>
              <a:rPr lang="en-US" sz="1050" b="1" dirty="0">
                <a:solidFill>
                  <a:srgbClr val="0E9F9A"/>
                </a:solidFill>
                <a:latin typeface="Meiryo UI" pitchFamily="34" charset="0"/>
                <a:ea typeface="Meiryo UI" pitchFamily="34" charset="-122"/>
                <a:cs typeface="Meiryo UI" pitchFamily="34" charset="-120"/>
              </a:rPr>
              <a:t>Airtable連携</a:t>
            </a:r>
            <a:endParaRPr lang="en-US" sz="1050" dirty="0"/>
          </a:p>
          <a:p>
            <a:pPr indent="0" marL="0">
              <a:spcAft>
                <a:spcPts val="600"/>
              </a:spcAft>
              <a:buNone/>
            </a:pPr>
            <a:r>
              <a:rPr lang="en-US" sz="1050" dirty="0">
                <a:solidFill>
                  <a:srgbClr val="2B2B2B"/>
                </a:solidFill>
                <a:latin typeface="Meiryo UI" pitchFamily="34" charset="0"/>
                <a:ea typeface="Meiryo UI" pitchFamily="34" charset="-122"/>
                <a:cs typeface="Meiryo UI" pitchFamily="34" charset="-120"/>
              </a:rPr>
              <a:t>標準で対応（レコードの作成・更新の検知、作成・更新）</a:t>
            </a:r>
            <a:endParaRPr lang="en-US" sz="1050" dirty="0"/>
          </a:p>
          <a:p>
            <a:pPr indent="0" marL="0">
              <a:buNone/>
            </a:pPr>
            <a:r>
              <a:rPr lang="en-US" sz="1050" b="1" dirty="0">
                <a:solidFill>
                  <a:srgbClr val="0E9F9A"/>
                </a:solidFill>
                <a:latin typeface="Meiryo UI" pitchFamily="34" charset="0"/>
                <a:ea typeface="Meiryo UI" pitchFamily="34" charset="-122"/>
                <a:cs typeface="Meiryo UI" pitchFamily="34" charset="-120"/>
              </a:rPr>
              <a:t>AI連携</a:t>
            </a:r>
            <a:endParaRPr lang="en-US" sz="1050" dirty="0"/>
          </a:p>
          <a:p>
            <a:pPr indent="0" marL="0">
              <a:spcAft>
                <a:spcPts val="600"/>
              </a:spcAft>
              <a:buNone/>
            </a:pPr>
            <a:r>
              <a:rPr lang="en-US" sz="1050" dirty="0">
                <a:solidFill>
                  <a:srgbClr val="2B2B2B"/>
                </a:solidFill>
                <a:latin typeface="Meiryo UI" pitchFamily="34" charset="0"/>
                <a:ea typeface="Meiryo UI" pitchFamily="34" charset="-122"/>
                <a:cs typeface="Meiryo UI" pitchFamily="34" charset="-120"/>
              </a:rPr>
              <a:t>OpenAIなど主要なAIサービスと標準で連携できる</a:t>
            </a:r>
            <a:endParaRPr lang="en-US" sz="1050" dirty="0"/>
          </a:p>
        </p:txBody>
      </p:sp>
      <p:sp>
        <p:nvSpPr>
          <p:cNvPr id="25" name="Shape 19"/>
          <p:cNvSpPr/>
          <p:nvPr/>
        </p:nvSpPr>
        <p:spPr>
          <a:xfrm>
            <a:off x="4297680" y="2926080"/>
            <a:ext cx="3611880" cy="3383280"/>
          </a:xfrm>
          <a:prstGeom prst="roundRect">
            <a:avLst>
              <a:gd name="adj" fmla="val 1622"/>
            </a:avLst>
          </a:prstGeom>
          <a:solidFill>
            <a:srgbClr val="FFFFFF"/>
          </a:solidFill>
          <a:ln w="12700">
            <a:solidFill>
              <a:srgbClr val="D5DBE3"/>
            </a:solidFill>
            <a:prstDash val="solid"/>
          </a:ln>
        </p:spPr>
      </p:sp>
      <p:sp>
        <p:nvSpPr>
          <p:cNvPr id="26" name="Shape 20"/>
          <p:cNvSpPr/>
          <p:nvPr/>
        </p:nvSpPr>
        <p:spPr>
          <a:xfrm>
            <a:off x="4434840" y="3035808"/>
            <a:ext cx="457200" cy="457200"/>
          </a:xfrm>
          <a:prstGeom prst="ellipse">
            <a:avLst/>
          </a:prstGeom>
          <a:solidFill>
            <a:srgbClr val="F3F5F8"/>
          </a:solidFill>
          <a:ln/>
        </p:spPr>
      </p:sp>
      <p:pic>
        <p:nvPicPr>
          <p:cNvPr id="27" name="Image 4" descr="preencoded.png">    </p:cNvPr>
          <p:cNvPicPr>
            <a:picLocks noChangeAspect="1"/>
          </p:cNvPicPr>
          <p:nvPr/>
        </p:nvPicPr>
        <p:blipFill>
          <a:blip r:embed="rId5"/>
          <a:stretch>
            <a:fillRect/>
          </a:stretch>
        </p:blipFill>
        <p:spPr>
          <a:xfrm>
            <a:off x="4526280" y="3127248"/>
            <a:ext cx="274320" cy="274320"/>
          </a:xfrm>
          <a:prstGeom prst="rect">
            <a:avLst/>
          </a:prstGeom>
        </p:spPr>
      </p:pic>
      <p:sp>
        <p:nvSpPr>
          <p:cNvPr id="28" name="Text 21"/>
          <p:cNvSpPr txBox="1"/>
          <p:nvPr/>
        </p:nvSpPr>
        <p:spPr>
          <a:xfrm>
            <a:off x="4983480" y="3017520"/>
            <a:ext cx="2834640" cy="512064"/>
          </a:xfrm>
          <a:prstGeom prst="rect">
            <a:avLst/>
          </a:prstGeom>
          <a:noFill/>
          <a:ln/>
        </p:spPr>
        <p:txBody>
          <a:bodyPr wrap="square" lIns="0" tIns="0" rIns="0" bIns="0" rtlCol="0" anchor="ctr"/>
          <a:lstStyle/>
          <a:p>
            <a:pPr indent="0" marL="0">
              <a:buNone/>
            </a:pPr>
            <a:r>
              <a:rPr lang="en-US" sz="1200" b="1" dirty="0">
                <a:solidFill>
                  <a:srgbClr val="1B2A49"/>
                </a:solidFill>
                <a:latin typeface="Meiryo UI" pitchFamily="34" charset="0"/>
                <a:ea typeface="Meiryo UI" pitchFamily="34" charset="-122"/>
                <a:cs typeface="Meiryo UI" pitchFamily="34" charset="-120"/>
              </a:rPr>
              <a:t>Make（メイク、旧Integromat）</a:t>
            </a:r>
            <a:endParaRPr lang="en-US" sz="1200" dirty="0"/>
          </a:p>
          <a:p>
            <a:pPr indent="0" marL="0">
              <a:buNone/>
            </a:pPr>
            <a:r>
              <a:rPr lang="en-US" sz="850" dirty="0">
                <a:solidFill>
                  <a:srgbClr val="6B7280"/>
                </a:solidFill>
                <a:latin typeface="Meiryo UI" pitchFamily="34" charset="0"/>
                <a:ea typeface="Meiryo UI" pitchFamily="34" charset="-122"/>
                <a:cs typeface="Meiryo UI" pitchFamily="34" charset="-120"/>
              </a:rPr>
              <a:t>Make社（チェコ発。現在はCelonis社の傘下）</a:t>
            </a:r>
            <a:endParaRPr lang="en-US" sz="1200" dirty="0"/>
          </a:p>
        </p:txBody>
      </p:sp>
      <p:sp>
        <p:nvSpPr>
          <p:cNvPr id="29" name="Text 22"/>
          <p:cNvSpPr txBox="1"/>
          <p:nvPr/>
        </p:nvSpPr>
        <p:spPr>
          <a:xfrm>
            <a:off x="4462272" y="3639312"/>
            <a:ext cx="3319272" cy="2578608"/>
          </a:xfrm>
          <a:prstGeom prst="rect">
            <a:avLst/>
          </a:prstGeom>
          <a:noFill/>
          <a:ln/>
        </p:spPr>
        <p:txBody>
          <a:bodyPr wrap="square" lIns="254" tIns="254" rIns="254" bIns="254" rtlCol="0" anchor="t"/>
          <a:lstStyle/>
          <a:p>
            <a:pPr indent="0" marL="0">
              <a:buNone/>
            </a:pPr>
            <a:r>
              <a:rPr lang="en-US" sz="1050" b="1" dirty="0">
                <a:solidFill>
                  <a:srgbClr val="0E9F9A"/>
                </a:solidFill>
                <a:latin typeface="Meiryo UI" pitchFamily="34" charset="0"/>
                <a:ea typeface="Meiryo UI" pitchFamily="34" charset="-122"/>
                <a:cs typeface="Meiryo UI" pitchFamily="34" charset="-120"/>
              </a:rPr>
              <a:t>特徴</a:t>
            </a:r>
            <a:endParaRPr lang="en-US" sz="1050" dirty="0"/>
          </a:p>
          <a:p>
            <a:pPr indent="0" marL="0">
              <a:spcAft>
                <a:spcPts val="600"/>
              </a:spcAft>
              <a:buNone/>
            </a:pPr>
            <a:r>
              <a:rPr lang="en-US" sz="1050" dirty="0">
                <a:solidFill>
                  <a:srgbClr val="2B2B2B"/>
                </a:solidFill>
                <a:latin typeface="Meiryo UI" pitchFamily="34" charset="0"/>
                <a:ea typeface="Meiryo UI" pitchFamily="34" charset="-122"/>
                <a:cs typeface="Meiryo UI" pitchFamily="34" charset="-120"/>
              </a:rPr>
              <a:t>処理の流れを図で組み立てる。分岐・繰り返し・データの加工など、込み入った処理に向く</a:t>
            </a:r>
            <a:endParaRPr lang="en-US" sz="1050" dirty="0"/>
          </a:p>
          <a:p>
            <a:pPr indent="0" marL="0">
              <a:buNone/>
            </a:pPr>
            <a:r>
              <a:rPr lang="en-US" sz="1050" b="1" dirty="0">
                <a:solidFill>
                  <a:srgbClr val="0E9F9A"/>
                </a:solidFill>
                <a:latin typeface="Meiryo UI" pitchFamily="34" charset="0"/>
                <a:ea typeface="Meiryo UI" pitchFamily="34" charset="-122"/>
                <a:cs typeface="Meiryo UI" pitchFamily="34" charset="-120"/>
              </a:rPr>
              <a:t>処理の単位</a:t>
            </a:r>
            <a:endParaRPr lang="en-US" sz="1050" dirty="0"/>
          </a:p>
          <a:p>
            <a:pPr indent="0" marL="0">
              <a:spcAft>
                <a:spcPts val="600"/>
              </a:spcAft>
              <a:buNone/>
            </a:pPr>
            <a:r>
              <a:rPr lang="en-US" sz="1050" dirty="0">
                <a:solidFill>
                  <a:srgbClr val="2B2B2B"/>
                </a:solidFill>
                <a:latin typeface="Meiryo UI" pitchFamily="34" charset="0"/>
                <a:ea typeface="Meiryo UI" pitchFamily="34" charset="-122"/>
                <a:cs typeface="Meiryo UI" pitchFamily="34" charset="-120"/>
              </a:rPr>
              <a:t>「シナリオ」（モジュールを線でつないだ図）</a:t>
            </a:r>
            <a:endParaRPr lang="en-US" sz="1050" dirty="0"/>
          </a:p>
          <a:p>
            <a:pPr indent="0" marL="0">
              <a:buNone/>
            </a:pPr>
            <a:r>
              <a:rPr lang="en-US" sz="1050" b="1" dirty="0">
                <a:solidFill>
                  <a:srgbClr val="0E9F9A"/>
                </a:solidFill>
                <a:latin typeface="Meiryo UI" pitchFamily="34" charset="0"/>
                <a:ea typeface="Meiryo UI" pitchFamily="34" charset="-122"/>
                <a:cs typeface="Meiryo UI" pitchFamily="34" charset="-120"/>
              </a:rPr>
              <a:t>料金</a:t>
            </a:r>
            <a:endParaRPr lang="en-US" sz="1050" dirty="0"/>
          </a:p>
          <a:p>
            <a:pPr indent="0" marL="0">
              <a:spcAft>
                <a:spcPts val="600"/>
              </a:spcAft>
              <a:buNone/>
            </a:pPr>
            <a:r>
              <a:rPr lang="en-US" sz="1050" dirty="0">
                <a:solidFill>
                  <a:srgbClr val="2B2B2B"/>
                </a:solidFill>
                <a:latin typeface="Meiryo UI" pitchFamily="34" charset="0"/>
                <a:ea typeface="Meiryo UI" pitchFamily="34" charset="-122"/>
                <a:cs typeface="Meiryo UI" pitchFamily="34" charset="-120"/>
              </a:rPr>
              <a:t>月額プラン。実行した処理の数で上限が決まる</a:t>
            </a:r>
            <a:endParaRPr lang="en-US" sz="1050" dirty="0"/>
          </a:p>
          <a:p>
            <a:pPr indent="0" marL="0">
              <a:buNone/>
            </a:pPr>
            <a:r>
              <a:rPr lang="en-US" sz="1050" b="1" dirty="0">
                <a:solidFill>
                  <a:srgbClr val="0E9F9A"/>
                </a:solidFill>
                <a:latin typeface="Meiryo UI" pitchFamily="34" charset="0"/>
                <a:ea typeface="Meiryo UI" pitchFamily="34" charset="-122"/>
                <a:cs typeface="Meiryo UI" pitchFamily="34" charset="-120"/>
              </a:rPr>
              <a:t>Airtable連携</a:t>
            </a:r>
            <a:endParaRPr lang="en-US" sz="1050" dirty="0"/>
          </a:p>
          <a:p>
            <a:pPr indent="0" marL="0">
              <a:spcAft>
                <a:spcPts val="600"/>
              </a:spcAft>
              <a:buNone/>
            </a:pPr>
            <a:r>
              <a:rPr lang="en-US" sz="1050" dirty="0">
                <a:solidFill>
                  <a:srgbClr val="2B2B2B"/>
                </a:solidFill>
                <a:latin typeface="Meiryo UI" pitchFamily="34" charset="0"/>
                <a:ea typeface="Meiryo UI" pitchFamily="34" charset="-122"/>
                <a:cs typeface="Meiryo UI" pitchFamily="34" charset="-120"/>
              </a:rPr>
              <a:t>標準で対応（レコードの監視、作成・更新）</a:t>
            </a:r>
            <a:endParaRPr lang="en-US" sz="1050" dirty="0"/>
          </a:p>
          <a:p>
            <a:pPr indent="0" marL="0">
              <a:buNone/>
            </a:pPr>
            <a:r>
              <a:rPr lang="en-US" sz="1050" b="1" dirty="0">
                <a:solidFill>
                  <a:srgbClr val="0E9F9A"/>
                </a:solidFill>
                <a:latin typeface="Meiryo UI" pitchFamily="34" charset="0"/>
                <a:ea typeface="Meiryo UI" pitchFamily="34" charset="-122"/>
                <a:cs typeface="Meiryo UI" pitchFamily="34" charset="-120"/>
              </a:rPr>
              <a:t>AI連携</a:t>
            </a:r>
            <a:endParaRPr lang="en-US" sz="1050" dirty="0"/>
          </a:p>
          <a:p>
            <a:pPr indent="0" marL="0">
              <a:spcAft>
                <a:spcPts val="600"/>
              </a:spcAft>
              <a:buNone/>
            </a:pPr>
            <a:r>
              <a:rPr lang="en-US" sz="1050" dirty="0">
                <a:solidFill>
                  <a:srgbClr val="2B2B2B"/>
                </a:solidFill>
                <a:latin typeface="Meiryo UI" pitchFamily="34" charset="0"/>
                <a:ea typeface="Meiryo UI" pitchFamily="34" charset="-122"/>
                <a:cs typeface="Meiryo UI" pitchFamily="34" charset="-120"/>
              </a:rPr>
              <a:t>OpenAIなど主要なAIサービスと標準で連携できる</a:t>
            </a:r>
            <a:endParaRPr lang="en-US" sz="1050" dirty="0"/>
          </a:p>
        </p:txBody>
      </p:sp>
      <p:sp>
        <p:nvSpPr>
          <p:cNvPr id="30" name="Shape 23"/>
          <p:cNvSpPr/>
          <p:nvPr/>
        </p:nvSpPr>
        <p:spPr>
          <a:xfrm>
            <a:off x="8046720" y="2926080"/>
            <a:ext cx="3566160" cy="3383280"/>
          </a:xfrm>
          <a:prstGeom prst="roundRect">
            <a:avLst>
              <a:gd name="adj" fmla="val 1622"/>
            </a:avLst>
          </a:prstGeom>
          <a:solidFill>
            <a:srgbClr val="D9F2F1"/>
          </a:solidFill>
          <a:ln/>
        </p:spPr>
      </p:sp>
      <p:sp>
        <p:nvSpPr>
          <p:cNvPr id="31" name="Shape 24"/>
          <p:cNvSpPr/>
          <p:nvPr/>
        </p:nvSpPr>
        <p:spPr>
          <a:xfrm>
            <a:off x="8183880" y="3035808"/>
            <a:ext cx="457200" cy="457200"/>
          </a:xfrm>
          <a:prstGeom prst="ellipse">
            <a:avLst/>
          </a:prstGeom>
          <a:solidFill>
            <a:srgbClr val="FFFFFF"/>
          </a:solidFill>
          <a:ln/>
        </p:spPr>
      </p:sp>
      <p:pic>
        <p:nvPicPr>
          <p:cNvPr id="32" name="Image 5" descr="preencoded.png">    </p:cNvPr>
          <p:cNvPicPr>
            <a:picLocks noChangeAspect="1"/>
          </p:cNvPicPr>
          <p:nvPr/>
        </p:nvPicPr>
        <p:blipFill>
          <a:blip r:embed="rId6"/>
          <a:stretch>
            <a:fillRect/>
          </a:stretch>
        </p:blipFill>
        <p:spPr>
          <a:xfrm>
            <a:off x="8275320" y="3127248"/>
            <a:ext cx="274320" cy="274320"/>
          </a:xfrm>
          <a:prstGeom prst="rect">
            <a:avLst/>
          </a:prstGeom>
        </p:spPr>
      </p:pic>
      <p:sp>
        <p:nvSpPr>
          <p:cNvPr id="33" name="Text 25"/>
          <p:cNvSpPr txBox="1"/>
          <p:nvPr/>
        </p:nvSpPr>
        <p:spPr>
          <a:xfrm>
            <a:off x="8732520" y="3035808"/>
            <a:ext cx="2788920" cy="457200"/>
          </a:xfrm>
          <a:prstGeom prst="rect">
            <a:avLst/>
          </a:prstGeom>
          <a:noFill/>
          <a:ln/>
        </p:spPr>
        <p:txBody>
          <a:bodyPr wrap="square" lIns="0" tIns="0" rIns="0" bIns="0" rtlCol="0" anchor="ctr"/>
          <a:lstStyle/>
          <a:p>
            <a:pPr indent="0" marL="0">
              <a:buNone/>
            </a:pPr>
            <a:r>
              <a:rPr lang="en-US" sz="1200" b="1" dirty="0">
                <a:solidFill>
                  <a:srgbClr val="1B2A49"/>
                </a:solidFill>
                <a:latin typeface="Meiryo UI" pitchFamily="34" charset="0"/>
                <a:ea typeface="Meiryo UI" pitchFamily="34" charset="-122"/>
                <a:cs typeface="Meiryo UI" pitchFamily="34" charset="-120"/>
              </a:rPr>
              <a:t>本資料（P13）との関係</a:t>
            </a:r>
            <a:endParaRPr lang="en-US" sz="1200" dirty="0"/>
          </a:p>
        </p:txBody>
      </p:sp>
      <p:sp>
        <p:nvSpPr>
          <p:cNvPr id="34" name="Text 26"/>
          <p:cNvSpPr txBox="1"/>
          <p:nvPr/>
        </p:nvSpPr>
        <p:spPr>
          <a:xfrm>
            <a:off x="8211312" y="3611880"/>
            <a:ext cx="3291840" cy="2606040"/>
          </a:xfrm>
          <a:prstGeom prst="rect">
            <a:avLst/>
          </a:prstGeom>
          <a:noFill/>
          <a:ln/>
        </p:spPr>
        <p:txBody>
          <a:bodyPr wrap="square" lIns="254" tIns="254" rIns="254" bIns="254" rtlCol="0" anchor="t"/>
          <a:lstStyle/>
          <a:p>
            <a:pPr marL="152400" indent="-152400">
              <a:spcAft>
                <a:spcPts val="600"/>
              </a:spcAft>
              <a:buSzPct val="100000"/>
              <a:buChar char="•"/>
            </a:pPr>
            <a:r>
              <a:rPr lang="en-US" sz="1000" dirty="0">
                <a:solidFill>
                  <a:srgbClr val="000000"/>
                </a:solidFill>
                <a:latin typeface="Meiryo UI" pitchFamily="34" charset="0"/>
                <a:ea typeface="Meiryo UI" pitchFamily="34" charset="-122"/>
                <a:cs typeface="Meiryo UI" pitchFamily="34" charset="-120"/>
              </a:rPr>
              <a:t>Power AutomateのAirtableコネクタは非推奨だが、Zapier・MakeはAirtable連携を標準で備えるため、変更の検知と書き戻しを簡単に組める</a:t>
            </a:r>
            <a:endParaRPr lang="en-US" sz="1000" dirty="0"/>
          </a:p>
          <a:p>
            <a:pPr marL="152400" indent="-152400">
              <a:spcAft>
                <a:spcPts val="600"/>
              </a:spcAft>
              <a:buSzPct val="100000"/>
              <a:buChar char="•"/>
            </a:pPr>
            <a:r>
              <a:rPr lang="en-US" sz="1000" dirty="0">
                <a:solidFill>
                  <a:srgbClr val="000000"/>
                </a:solidFill>
                <a:latin typeface="Meiryo UI" pitchFamily="34" charset="0"/>
                <a:ea typeface="Meiryo UI" pitchFamily="34" charset="-122"/>
                <a:cs typeface="Meiryo UI" pitchFamily="34" charset="-120"/>
              </a:rPr>
              <a:t>変更の検知は多くの場合「一定間隔での確認」（プランにより数分〜15分程度）</a:t>
            </a:r>
            <a:endParaRPr lang="en-US" sz="1000" dirty="0"/>
          </a:p>
          <a:p>
            <a:pPr marL="152400" indent="-152400">
              <a:spcAft>
                <a:spcPts val="600"/>
              </a:spcAft>
              <a:buSzPct val="100000"/>
              <a:buChar char="•"/>
            </a:pPr>
            <a:r>
              <a:rPr lang="en-US" sz="1000" dirty="0">
                <a:solidFill>
                  <a:srgbClr val="000000"/>
                </a:solidFill>
                <a:latin typeface="Meiryo UI" pitchFamily="34" charset="0"/>
                <a:ea typeface="Meiryo UI" pitchFamily="34" charset="-122"/>
                <a:cs typeface="Meiryo UI" pitchFamily="34" charset="-120"/>
              </a:rPr>
              <a:t>Copilot Studioのエージェントを直接呼ぶ標準の部品はない（HTTPトリガーやDirect Line経由）。AIサービスのAPIを直接呼ぶ構成も可</a:t>
            </a:r>
            <a:endParaRPr lang="en-US" sz="1000" dirty="0"/>
          </a:p>
          <a:p>
            <a:pPr marL="152400" indent="-152400">
              <a:spcAft>
                <a:spcPts val="600"/>
              </a:spcAft>
              <a:buSzPct val="100000"/>
              <a:buChar char="•"/>
            </a:pPr>
            <a:r>
              <a:rPr lang="en-US" sz="1000" dirty="0">
                <a:solidFill>
                  <a:srgbClr val="000000"/>
                </a:solidFill>
                <a:latin typeface="Meiryo UI" pitchFamily="34" charset="0"/>
                <a:ea typeface="Meiryo UI" pitchFamily="34" charset="-122"/>
                <a:cs typeface="Meiryo UI" pitchFamily="34" charset="-120"/>
              </a:rPr>
              <a:t>データが外部の会社のクラウドを通るため、情報セキュリティの審査と契約が必要。M365のDLPなど社内の管理の対象外</a:t>
            </a:r>
            <a:endParaRPr lang="en-US" sz="1000" dirty="0"/>
          </a:p>
        </p:txBody>
      </p:sp>
      <p:sp>
        <p:nvSpPr>
          <p:cNvPr id="35" name="Text 27"/>
          <p:cNvSpPr txBox="1"/>
          <p:nvPr/>
        </p:nvSpPr>
        <p:spPr>
          <a:xfrm>
            <a:off x="548640" y="6355080"/>
            <a:ext cx="10515600" cy="256032"/>
          </a:xfrm>
          <a:prstGeom prst="rect">
            <a:avLst/>
          </a:prstGeom>
          <a:noFill/>
          <a:ln/>
        </p:spPr>
        <p:txBody>
          <a:bodyPr wrap="square" lIns="0" tIns="0" rIns="0" bIns="0" rtlCol="0" anchor="t"/>
          <a:lstStyle/>
          <a:p>
            <a:pPr indent="0" marL="0">
              <a:buNone/>
            </a:pPr>
            <a:r>
              <a:rPr lang="en-US" sz="950" dirty="0">
                <a:solidFill>
                  <a:srgbClr val="6B7280"/>
                </a:solidFill>
                <a:latin typeface="Meiryo UI" pitchFamily="34" charset="0"/>
                <a:ea typeface="Meiryo UI" pitchFamily="34" charset="-122"/>
                <a:cs typeface="Meiryo UI" pitchFamily="34" charset="-120"/>
              </a:rPr>
              <a:t>ほかに n8n（自社サーバーでも動かせる）、Workato（大企業向け）などがある</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レベル5：修正ループ付き（1/2）</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自動で書き込まれた下書きに対して、修正指示を受け付けて再推論する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3. パターン別の詳細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20</a:t>
            </a:r>
            <a:endParaRPr lang="en-US" sz="900" dirty="0"/>
          </a:p>
        </p:txBody>
      </p:sp>
      <p:sp>
        <p:nvSpPr>
          <p:cNvPr id="6" name="Shape 4"/>
          <p:cNvSpPr/>
          <p:nvPr/>
        </p:nvSpPr>
        <p:spPr>
          <a:xfrm>
            <a:off x="548640" y="1371600"/>
            <a:ext cx="5440680" cy="4983480"/>
          </a:xfrm>
          <a:prstGeom prst="roundRect">
            <a:avLst>
              <a:gd name="adj" fmla="val 917"/>
            </a:avLst>
          </a:prstGeom>
          <a:solidFill>
            <a:srgbClr val="F3F5F8"/>
          </a:solidFill>
          <a:ln/>
        </p:spPr>
      </p:sp>
      <p:sp>
        <p:nvSpPr>
          <p:cNvPr id="7" name="Shape 5"/>
          <p:cNvSpPr/>
          <p:nvPr/>
        </p:nvSpPr>
        <p:spPr>
          <a:xfrm>
            <a:off x="658368" y="1481328"/>
            <a:ext cx="457200" cy="457200"/>
          </a:xfrm>
          <a:prstGeom prst="ellipse">
            <a:avLst/>
          </a:prstGeom>
          <a:solidFill>
            <a:srgbClr val="0E9F9A"/>
          </a:solidFill>
          <a:ln/>
        </p:spPr>
      </p:sp>
      <p:sp>
        <p:nvSpPr>
          <p:cNvPr id="8" name="Text 6"/>
          <p:cNvSpPr txBox="1"/>
          <p:nvPr/>
        </p:nvSpPr>
        <p:spPr>
          <a:xfrm>
            <a:off x="658368" y="1481328"/>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P14</a:t>
            </a:r>
            <a:endParaRPr lang="en-US" sz="1100" dirty="0"/>
          </a:p>
        </p:txBody>
      </p:sp>
      <p:sp>
        <p:nvSpPr>
          <p:cNvPr id="9" name="Text 7"/>
          <p:cNvSpPr txBox="1"/>
          <p:nvPr/>
        </p:nvSpPr>
        <p:spPr>
          <a:xfrm>
            <a:off x="1188720" y="1426464"/>
            <a:ext cx="4709160" cy="512064"/>
          </a:xfrm>
          <a:prstGeom prst="rect">
            <a:avLst/>
          </a:prstGeom>
          <a:noFill/>
          <a:ln/>
        </p:spPr>
        <p:txBody>
          <a:bodyPr wrap="square" lIns="0" tIns="0" rIns="0" bIns="0" rtlCol="0" anchor="ctr"/>
          <a:lstStyle/>
          <a:p>
            <a:pPr indent="0" marL="0">
              <a:buNone/>
            </a:pPr>
            <a:r>
              <a:rPr lang="en-US" sz="1200" b="1" dirty="0">
                <a:solidFill>
                  <a:srgbClr val="1B2A49"/>
                </a:solidFill>
                <a:latin typeface="Meiryo UI" pitchFamily="34" charset="0"/>
                <a:ea typeface="Meiryo UI" pitchFamily="34" charset="-122"/>
                <a:cs typeface="Meiryo UI" pitchFamily="34" charset="-120"/>
              </a:rPr>
              <a:t>Airtable上の「修正指示」欄と再実行ボタンで再推論する</a:t>
            </a:r>
            <a:endParaRPr lang="en-US" sz="1200" dirty="0"/>
          </a:p>
        </p:txBody>
      </p:sp>
      <p:sp>
        <p:nvSpPr>
          <p:cNvPr id="10" name="Text 8"/>
          <p:cNvSpPr txBox="1"/>
          <p:nvPr/>
        </p:nvSpPr>
        <p:spPr>
          <a:xfrm>
            <a:off x="1188720" y="1938528"/>
            <a:ext cx="4709160" cy="219456"/>
          </a:xfrm>
          <a:prstGeom prst="rect">
            <a:avLst/>
          </a:prstGeom>
          <a:noFill/>
          <a:ln/>
        </p:spPr>
        <p:txBody>
          <a:bodyPr wrap="square" lIns="0" tIns="0" rIns="0" bIns="0" rtlCol="0" anchor="ctr"/>
          <a:lstStyle/>
          <a:p>
            <a:pPr indent="0" marL="0">
              <a:buNone/>
            </a:pPr>
            <a:r>
              <a:rPr lang="en-US" sz="850" dirty="0">
                <a:solidFill>
                  <a:srgbClr val="6B7280"/>
                </a:solidFill>
                <a:latin typeface="Meiryo UI" pitchFamily="34" charset="0"/>
                <a:ea typeface="Meiryo UI" pitchFamily="34" charset="-122"/>
                <a:cs typeface="Meiryo UI" pitchFamily="34" charset="-120"/>
              </a:rPr>
              <a:t>レベル5：修正ループ　難易度 </a:t>
            </a:r>
            <a:pPr indent="0" marL="0">
              <a:buNone/>
            </a:pPr>
            <a:r>
              <a:rPr lang="en-US" sz="850" b="1" dirty="0">
                <a:solidFill>
                  <a:srgbClr val="E8912D"/>
                </a:solidFill>
                <a:latin typeface="Meiryo UI" pitchFamily="34" charset="0"/>
                <a:ea typeface="Meiryo UI" pitchFamily="34" charset="-122"/>
                <a:cs typeface="Meiryo UI" pitchFamily="34" charset="-120"/>
              </a:rPr>
              <a:t>★★★</a:t>
            </a:r>
            <a:endParaRPr lang="en-US" sz="850" dirty="0"/>
          </a:p>
        </p:txBody>
      </p:sp>
      <p:sp>
        <p:nvSpPr>
          <p:cNvPr id="11" name="Shape 9"/>
          <p:cNvSpPr/>
          <p:nvPr/>
        </p:nvSpPr>
        <p:spPr>
          <a:xfrm>
            <a:off x="658368" y="2231136"/>
            <a:ext cx="5221224" cy="868680"/>
          </a:xfrm>
          <a:prstGeom prst="roundRect">
            <a:avLst>
              <a:gd name="adj" fmla="val 5263"/>
            </a:avLst>
          </a:prstGeom>
          <a:solidFill>
            <a:srgbClr val="FFFFFF"/>
          </a:solidFill>
          <a:ln w="12700">
            <a:solidFill>
              <a:srgbClr val="D5DBE3"/>
            </a:solidFill>
            <a:prstDash val="solid"/>
          </a:ln>
        </p:spPr>
      </p:sp>
      <p:pic>
        <p:nvPicPr>
          <p:cNvPr id="12" name="Image 0" descr="preencoded.png">    </p:cNvPr>
          <p:cNvPicPr>
            <a:picLocks noChangeAspect="1"/>
          </p:cNvPicPr>
          <p:nvPr/>
        </p:nvPicPr>
        <p:blipFill>
          <a:blip r:embed="rId1"/>
          <a:stretch>
            <a:fillRect/>
          </a:stretch>
        </p:blipFill>
        <p:spPr>
          <a:xfrm>
            <a:off x="1046988" y="2304288"/>
            <a:ext cx="310896" cy="310896"/>
          </a:xfrm>
          <a:prstGeom prst="rect">
            <a:avLst/>
          </a:prstGeom>
        </p:spPr>
      </p:pic>
      <p:sp>
        <p:nvSpPr>
          <p:cNvPr id="13" name="Text 10"/>
          <p:cNvSpPr txBox="1"/>
          <p:nvPr/>
        </p:nvSpPr>
        <p:spPr>
          <a:xfrm>
            <a:off x="713232" y="2642616"/>
            <a:ext cx="978408" cy="402336"/>
          </a:xfrm>
          <a:prstGeom prst="rect">
            <a:avLst/>
          </a:prstGeom>
          <a:noFill/>
          <a:ln/>
        </p:spPr>
        <p:txBody>
          <a:bodyPr wrap="square" lIns="0" tIns="0" rIns="0" bIns="0" rtlCol="0" anchor="t"/>
          <a:lstStyle/>
          <a:p>
            <a:pPr algn="ctr" indent="0" marL="0">
              <a:buNone/>
            </a:pPr>
            <a:r>
              <a:rPr lang="en-US" sz="650" b="1" dirty="0">
                <a:solidFill>
                  <a:srgbClr val="6B7280"/>
                </a:solidFill>
                <a:latin typeface="Meiryo UI" pitchFamily="34" charset="0"/>
                <a:ea typeface="Meiryo UI" pitchFamily="34" charset="-122"/>
                <a:cs typeface="Meiryo UI" pitchFamily="34" charset="-120"/>
              </a:rPr>
              <a:t>マーケター</a:t>
            </a:r>
            <a:endParaRPr lang="en-US" sz="650" dirty="0"/>
          </a:p>
          <a:p>
            <a:pPr algn="ctr" indent="0" marL="0">
              <a:buNone/>
            </a:pPr>
            <a:r>
              <a:rPr lang="en-US" sz="600" dirty="0">
                <a:solidFill>
                  <a:srgbClr val="8C95A3"/>
                </a:solidFill>
                <a:latin typeface="Meiryo UI" pitchFamily="34" charset="0"/>
                <a:ea typeface="Meiryo UI" pitchFamily="34" charset="-122"/>
                <a:cs typeface="Meiryo UI" pitchFamily="34" charset="-120"/>
              </a:rPr>
              <a:t>修正指示を入力</a:t>
            </a:r>
            <a:endParaRPr lang="en-US" sz="650" dirty="0"/>
          </a:p>
        </p:txBody>
      </p:sp>
      <p:sp>
        <p:nvSpPr>
          <p:cNvPr id="14" name="Shape 11"/>
          <p:cNvSpPr/>
          <p:nvPr/>
        </p:nvSpPr>
        <p:spPr>
          <a:xfrm>
            <a:off x="1431036" y="2459736"/>
            <a:ext cx="576072" cy="0"/>
          </a:xfrm>
          <a:prstGeom prst="line">
            <a:avLst/>
          </a:prstGeom>
          <a:noFill/>
          <a:ln w="15875">
            <a:solidFill>
              <a:srgbClr val="1B2A49"/>
            </a:solidFill>
            <a:prstDash val="solid"/>
            <a:tailEnd type="triangle"/>
          </a:ln>
        </p:spPr>
      </p:sp>
      <p:pic>
        <p:nvPicPr>
          <p:cNvPr id="15" name="Image 1" descr="preencoded.png">    </p:cNvPr>
          <p:cNvPicPr>
            <a:picLocks noChangeAspect="1"/>
          </p:cNvPicPr>
          <p:nvPr/>
        </p:nvPicPr>
        <p:blipFill>
          <a:blip r:embed="rId2"/>
          <a:stretch>
            <a:fillRect/>
          </a:stretch>
        </p:blipFill>
        <p:spPr>
          <a:xfrm>
            <a:off x="2080260" y="2304288"/>
            <a:ext cx="310896" cy="310896"/>
          </a:xfrm>
          <a:prstGeom prst="rect">
            <a:avLst/>
          </a:prstGeom>
        </p:spPr>
      </p:pic>
      <p:sp>
        <p:nvSpPr>
          <p:cNvPr id="16" name="Text 12"/>
          <p:cNvSpPr txBox="1"/>
          <p:nvPr/>
        </p:nvSpPr>
        <p:spPr>
          <a:xfrm>
            <a:off x="1746504" y="2642616"/>
            <a:ext cx="978408" cy="402336"/>
          </a:xfrm>
          <a:prstGeom prst="rect">
            <a:avLst/>
          </a:prstGeom>
          <a:noFill/>
          <a:ln/>
        </p:spPr>
        <p:txBody>
          <a:bodyPr wrap="square" lIns="0" tIns="0" rIns="0" bIns="0" rtlCol="0" anchor="t"/>
          <a:lstStyle/>
          <a:p>
            <a:pPr algn="ctr" indent="0" marL="0">
              <a:buNone/>
            </a:pPr>
            <a:r>
              <a:rPr lang="en-US" sz="650" b="1" dirty="0">
                <a:solidFill>
                  <a:srgbClr val="6B7280"/>
                </a:solidFill>
                <a:latin typeface="Meiryo UI" pitchFamily="34" charset="0"/>
                <a:ea typeface="Meiryo UI" pitchFamily="34" charset="-122"/>
                <a:cs typeface="Meiryo UI" pitchFamily="34" charset="-120"/>
              </a:rPr>
              <a:t>Airtable</a:t>
            </a:r>
            <a:endParaRPr lang="en-US" sz="650" dirty="0"/>
          </a:p>
          <a:p>
            <a:pPr algn="ctr" indent="0" marL="0">
              <a:buNone/>
            </a:pPr>
            <a:r>
              <a:rPr lang="en-US" sz="600" dirty="0">
                <a:solidFill>
                  <a:srgbClr val="8C95A3"/>
                </a:solidFill>
                <a:latin typeface="Meiryo UI" pitchFamily="34" charset="0"/>
                <a:ea typeface="Meiryo UI" pitchFamily="34" charset="-122"/>
                <a:cs typeface="Meiryo UI" pitchFamily="34" charset="-120"/>
              </a:rPr>
              <a:t>再実行ボタン</a:t>
            </a:r>
            <a:endParaRPr lang="en-US" sz="650" dirty="0"/>
          </a:p>
        </p:txBody>
      </p:sp>
      <p:sp>
        <p:nvSpPr>
          <p:cNvPr id="17" name="Shape 13"/>
          <p:cNvSpPr/>
          <p:nvPr/>
        </p:nvSpPr>
        <p:spPr>
          <a:xfrm>
            <a:off x="2464308" y="2459736"/>
            <a:ext cx="576072" cy="0"/>
          </a:xfrm>
          <a:prstGeom prst="line">
            <a:avLst/>
          </a:prstGeom>
          <a:noFill/>
          <a:ln w="15875">
            <a:solidFill>
              <a:srgbClr val="1B2A49"/>
            </a:solidFill>
            <a:prstDash val="solid"/>
            <a:tailEnd type="triangle"/>
          </a:ln>
        </p:spPr>
      </p:sp>
      <p:pic>
        <p:nvPicPr>
          <p:cNvPr id="18" name="Image 2" descr="preencoded.png">    </p:cNvPr>
          <p:cNvPicPr>
            <a:picLocks noChangeAspect="1"/>
          </p:cNvPicPr>
          <p:nvPr/>
        </p:nvPicPr>
        <p:blipFill>
          <a:blip r:embed="rId3"/>
          <a:stretch>
            <a:fillRect/>
          </a:stretch>
        </p:blipFill>
        <p:spPr>
          <a:xfrm>
            <a:off x="3113532" y="2304288"/>
            <a:ext cx="310896" cy="310896"/>
          </a:xfrm>
          <a:prstGeom prst="rect">
            <a:avLst/>
          </a:prstGeom>
        </p:spPr>
      </p:pic>
      <p:sp>
        <p:nvSpPr>
          <p:cNvPr id="19" name="Text 14"/>
          <p:cNvSpPr txBox="1"/>
          <p:nvPr/>
        </p:nvSpPr>
        <p:spPr>
          <a:xfrm>
            <a:off x="2779776" y="2642616"/>
            <a:ext cx="978408" cy="402336"/>
          </a:xfrm>
          <a:prstGeom prst="rect">
            <a:avLst/>
          </a:prstGeom>
          <a:noFill/>
          <a:ln/>
        </p:spPr>
        <p:txBody>
          <a:bodyPr wrap="square" lIns="0" tIns="0" rIns="0" bIns="0" rtlCol="0" anchor="t"/>
          <a:lstStyle/>
          <a:p>
            <a:pPr algn="ctr" indent="0" marL="0">
              <a:buNone/>
            </a:pPr>
            <a:r>
              <a:rPr lang="en-US" sz="650" b="1" dirty="0">
                <a:solidFill>
                  <a:srgbClr val="6B7280"/>
                </a:solidFill>
                <a:latin typeface="Meiryo UI" pitchFamily="34" charset="0"/>
                <a:ea typeface="Meiryo UI" pitchFamily="34" charset="-122"/>
                <a:cs typeface="Meiryo UI" pitchFamily="34" charset="-120"/>
              </a:rPr>
              <a:t>Power Automate</a:t>
            </a:r>
            <a:endParaRPr lang="en-US" sz="650" dirty="0"/>
          </a:p>
          <a:p>
            <a:pPr algn="ctr" indent="0" marL="0">
              <a:buNone/>
            </a:pPr>
            <a:r>
              <a:rPr lang="en-US" sz="600" dirty="0">
                <a:solidFill>
                  <a:srgbClr val="8C95A3"/>
                </a:solidFill>
                <a:latin typeface="Meiryo UI" pitchFamily="34" charset="0"/>
                <a:ea typeface="Meiryo UI" pitchFamily="34" charset="-122"/>
                <a:cs typeface="Meiryo UI" pitchFamily="34" charset="-120"/>
              </a:rPr>
              <a:t>P7／P9を流用</a:t>
            </a:r>
            <a:endParaRPr lang="en-US" sz="650" dirty="0"/>
          </a:p>
        </p:txBody>
      </p:sp>
      <p:sp>
        <p:nvSpPr>
          <p:cNvPr id="20" name="Shape 15"/>
          <p:cNvSpPr/>
          <p:nvPr/>
        </p:nvSpPr>
        <p:spPr>
          <a:xfrm>
            <a:off x="3497580" y="2459736"/>
            <a:ext cx="576072" cy="0"/>
          </a:xfrm>
          <a:prstGeom prst="line">
            <a:avLst/>
          </a:prstGeom>
          <a:noFill/>
          <a:ln w="15875">
            <a:solidFill>
              <a:srgbClr val="1B2A49"/>
            </a:solidFill>
            <a:prstDash val="solid"/>
            <a:tailEnd type="triangle"/>
          </a:ln>
        </p:spPr>
      </p:sp>
      <p:pic>
        <p:nvPicPr>
          <p:cNvPr id="21" name="Image 3" descr="preencoded.png">    </p:cNvPr>
          <p:cNvPicPr>
            <a:picLocks noChangeAspect="1"/>
          </p:cNvPicPr>
          <p:nvPr/>
        </p:nvPicPr>
        <p:blipFill>
          <a:blip r:embed="rId4"/>
          <a:stretch>
            <a:fillRect/>
          </a:stretch>
        </p:blipFill>
        <p:spPr>
          <a:xfrm>
            <a:off x="4146804" y="2304288"/>
            <a:ext cx="310896" cy="310896"/>
          </a:xfrm>
          <a:prstGeom prst="rect">
            <a:avLst/>
          </a:prstGeom>
        </p:spPr>
      </p:pic>
      <p:sp>
        <p:nvSpPr>
          <p:cNvPr id="22" name="Text 16"/>
          <p:cNvSpPr txBox="1"/>
          <p:nvPr/>
        </p:nvSpPr>
        <p:spPr>
          <a:xfrm>
            <a:off x="3813048" y="2642616"/>
            <a:ext cx="978408" cy="402336"/>
          </a:xfrm>
          <a:prstGeom prst="rect">
            <a:avLst/>
          </a:prstGeom>
          <a:noFill/>
          <a:ln/>
        </p:spPr>
        <p:txBody>
          <a:bodyPr wrap="square" lIns="0" tIns="0" rIns="0" bIns="0" rtlCol="0" anchor="t"/>
          <a:lstStyle/>
          <a:p>
            <a:pPr algn="ctr" indent="0" marL="0">
              <a:buNone/>
            </a:pPr>
            <a:r>
              <a:rPr lang="en-US" sz="650" b="1" dirty="0">
                <a:solidFill>
                  <a:srgbClr val="6B7280"/>
                </a:solidFill>
                <a:latin typeface="Meiryo UI" pitchFamily="34" charset="0"/>
                <a:ea typeface="Meiryo UI" pitchFamily="34" charset="-122"/>
                <a:cs typeface="Meiryo UI" pitchFamily="34" charset="-120"/>
              </a:rPr>
              <a:t>Copilot Studio</a:t>
            </a:r>
            <a:endParaRPr lang="en-US" sz="650" dirty="0"/>
          </a:p>
          <a:p>
            <a:pPr algn="ctr" indent="0" marL="0">
              <a:buNone/>
            </a:pPr>
            <a:r>
              <a:rPr lang="en-US" sz="600" dirty="0">
                <a:solidFill>
                  <a:srgbClr val="8C95A3"/>
                </a:solidFill>
                <a:latin typeface="Meiryo UI" pitchFamily="34" charset="0"/>
                <a:ea typeface="Meiryo UI" pitchFamily="34" charset="-122"/>
                <a:cs typeface="Meiryo UI" pitchFamily="34" charset="-120"/>
              </a:rPr>
              <a:t>再推論</a:t>
            </a:r>
            <a:endParaRPr lang="en-US" sz="650" dirty="0"/>
          </a:p>
        </p:txBody>
      </p:sp>
      <p:sp>
        <p:nvSpPr>
          <p:cNvPr id="23" name="Shape 17"/>
          <p:cNvSpPr/>
          <p:nvPr/>
        </p:nvSpPr>
        <p:spPr>
          <a:xfrm>
            <a:off x="4530852" y="2459736"/>
            <a:ext cx="576072" cy="0"/>
          </a:xfrm>
          <a:prstGeom prst="line">
            <a:avLst/>
          </a:prstGeom>
          <a:noFill/>
          <a:ln w="15875">
            <a:solidFill>
              <a:srgbClr val="1B2A49"/>
            </a:solidFill>
            <a:prstDash val="solid"/>
            <a:tailEnd type="triangle"/>
          </a:ln>
        </p:spPr>
      </p:sp>
      <p:pic>
        <p:nvPicPr>
          <p:cNvPr id="24" name="Image 4" descr="preencoded.png">    </p:cNvPr>
          <p:cNvPicPr>
            <a:picLocks noChangeAspect="1"/>
          </p:cNvPicPr>
          <p:nvPr/>
        </p:nvPicPr>
        <p:blipFill>
          <a:blip r:embed="rId5"/>
          <a:stretch>
            <a:fillRect/>
          </a:stretch>
        </p:blipFill>
        <p:spPr>
          <a:xfrm>
            <a:off x="5180076" y="2304288"/>
            <a:ext cx="310896" cy="310896"/>
          </a:xfrm>
          <a:prstGeom prst="rect">
            <a:avLst/>
          </a:prstGeom>
        </p:spPr>
      </p:pic>
      <p:sp>
        <p:nvSpPr>
          <p:cNvPr id="25" name="Text 18"/>
          <p:cNvSpPr txBox="1"/>
          <p:nvPr/>
        </p:nvSpPr>
        <p:spPr>
          <a:xfrm>
            <a:off x="4846320" y="2642616"/>
            <a:ext cx="978408" cy="402336"/>
          </a:xfrm>
          <a:prstGeom prst="rect">
            <a:avLst/>
          </a:prstGeom>
          <a:noFill/>
          <a:ln/>
        </p:spPr>
        <p:txBody>
          <a:bodyPr wrap="square" lIns="0" tIns="0" rIns="0" bIns="0" rtlCol="0" anchor="t"/>
          <a:lstStyle/>
          <a:p>
            <a:pPr algn="ctr" indent="0" marL="0">
              <a:buNone/>
            </a:pPr>
            <a:r>
              <a:rPr lang="en-US" sz="650" b="1" dirty="0">
                <a:solidFill>
                  <a:srgbClr val="6B7280"/>
                </a:solidFill>
                <a:latin typeface="Meiryo UI" pitchFamily="34" charset="0"/>
                <a:ea typeface="Meiryo UI" pitchFamily="34" charset="-122"/>
                <a:cs typeface="Meiryo UI" pitchFamily="34" charset="-120"/>
              </a:rPr>
              <a:t>Airtable</a:t>
            </a:r>
            <a:endParaRPr lang="en-US" sz="650" dirty="0"/>
          </a:p>
          <a:p>
            <a:pPr algn="ctr" indent="0" marL="0">
              <a:buNone/>
            </a:pPr>
            <a:r>
              <a:rPr lang="en-US" sz="600" dirty="0">
                <a:solidFill>
                  <a:srgbClr val="8C95A3"/>
                </a:solidFill>
                <a:latin typeface="Meiryo UI" pitchFamily="34" charset="0"/>
                <a:ea typeface="Meiryo UI" pitchFamily="34" charset="-122"/>
                <a:cs typeface="Meiryo UI" pitchFamily="34" charset="-120"/>
              </a:rPr>
              <a:t>下書きを上書き</a:t>
            </a:r>
            <a:endParaRPr lang="en-US" sz="650" dirty="0"/>
          </a:p>
        </p:txBody>
      </p:sp>
      <p:sp>
        <p:nvSpPr>
          <p:cNvPr id="26" name="Text 19"/>
          <p:cNvSpPr txBox="1"/>
          <p:nvPr/>
        </p:nvSpPr>
        <p:spPr>
          <a:xfrm>
            <a:off x="685800" y="3200400"/>
            <a:ext cx="5166360" cy="3081528"/>
          </a:xfrm>
          <a:prstGeom prst="rect">
            <a:avLst/>
          </a:prstGeom>
          <a:noFill/>
          <a:ln/>
        </p:spPr>
        <p:txBody>
          <a:bodyPr wrap="square" lIns="254" tIns="254" rIns="254" bIns="254" rtlCol="0" anchor="t"/>
          <a:lstStyle/>
          <a:p>
            <a:pPr indent="0" marL="0">
              <a:buNone/>
            </a:pPr>
            <a:r>
              <a:rPr lang="en-US" sz="1100" b="1" dirty="0">
                <a:solidFill>
                  <a:srgbClr val="0E9F9A"/>
                </a:solidFill>
                <a:latin typeface="Meiryo UI" pitchFamily="34" charset="0"/>
                <a:ea typeface="Meiryo UI" pitchFamily="34" charset="-122"/>
                <a:cs typeface="Meiryo UI" pitchFamily="34" charset="-120"/>
              </a:rPr>
              <a:t>流れ</a:t>
            </a:r>
            <a:endParaRPr lang="en-US" sz="1100" dirty="0"/>
          </a:p>
          <a:p>
            <a:pPr indent="0" marL="0">
              <a:spcAft>
                <a:spcPts val="700"/>
              </a:spcAft>
              <a:buNone/>
            </a:pPr>
            <a:r>
              <a:rPr lang="en-US" sz="1100" dirty="0">
                <a:solidFill>
                  <a:srgbClr val="2B2B2B"/>
                </a:solidFill>
                <a:latin typeface="Meiryo UI" pitchFamily="34" charset="0"/>
                <a:ea typeface="Meiryo UI" pitchFamily="34" charset="-122"/>
                <a:cs typeface="Meiryo UI" pitchFamily="34" charset="-120"/>
              </a:rPr>
              <a:t>自動で書き込まれた下書きを確認 → 修正指示を「修正指示」欄に入力し、再実行ボタンを押す → 前回の下書き＋修正指示をエージェントに送って再推論 → 上書き（P7またはP9の仕組みを流用）</a:t>
            </a:r>
            <a:endParaRPr lang="en-US" sz="1100" dirty="0"/>
          </a:p>
          <a:p>
            <a:pPr indent="0" marL="0">
              <a:buNone/>
            </a:pPr>
            <a:r>
              <a:rPr lang="en-US" sz="1100" b="1" dirty="0">
                <a:solidFill>
                  <a:srgbClr val="0E9F9A"/>
                </a:solidFill>
                <a:latin typeface="Meiryo UI" pitchFamily="34" charset="0"/>
                <a:ea typeface="Meiryo UI" pitchFamily="34" charset="-122"/>
                <a:cs typeface="Meiryo UI" pitchFamily="34" charset="-120"/>
              </a:rPr>
              <a:t>必要なもの</a:t>
            </a:r>
            <a:endParaRPr lang="en-US" sz="1100" dirty="0"/>
          </a:p>
          <a:p>
            <a:pPr indent="0" marL="0">
              <a:spcAft>
                <a:spcPts val="700"/>
              </a:spcAft>
              <a:buNone/>
            </a:pPr>
            <a:r>
              <a:rPr lang="en-US" sz="1100" dirty="0">
                <a:solidFill>
                  <a:srgbClr val="2B2B2B"/>
                </a:solidFill>
                <a:latin typeface="Meiryo UI" pitchFamily="34" charset="0"/>
                <a:ea typeface="Meiryo UI" pitchFamily="34" charset="-122"/>
                <a:cs typeface="Meiryo UI" pitchFamily="34" charset="-120"/>
              </a:rPr>
              <a:t>P7またはP9の一式、Airtableの欄（下書き、修正指示、やり取りの履歴）</a:t>
            </a:r>
            <a:endParaRPr lang="en-US" sz="1100" dirty="0"/>
          </a:p>
          <a:p>
            <a:pPr indent="0" marL="0">
              <a:buNone/>
            </a:pPr>
            <a:r>
              <a:rPr lang="en-US" sz="1100" b="1" dirty="0">
                <a:solidFill>
                  <a:srgbClr val="0E9F9A"/>
                </a:solidFill>
                <a:latin typeface="Meiryo UI" pitchFamily="34" charset="0"/>
                <a:ea typeface="Meiryo UI" pitchFamily="34" charset="-122"/>
                <a:cs typeface="Meiryo UI" pitchFamily="34" charset="-120"/>
              </a:rPr>
              <a:t>長所</a:t>
            </a:r>
            <a:endParaRPr lang="en-US" sz="1100" dirty="0"/>
          </a:p>
          <a:p>
            <a:pPr indent="0" marL="0">
              <a:spcAft>
                <a:spcPts val="700"/>
              </a:spcAft>
              <a:buNone/>
            </a:pPr>
            <a:r>
              <a:rPr lang="en-US" sz="1100" dirty="0">
                <a:solidFill>
                  <a:srgbClr val="2B2B2B"/>
                </a:solidFill>
                <a:latin typeface="Meiryo UI" pitchFamily="34" charset="0"/>
                <a:ea typeface="Meiryo UI" pitchFamily="34" charset="-122"/>
                <a:cs typeface="Meiryo UI" pitchFamily="34" charset="-120"/>
              </a:rPr>
              <a:t>Airtableの画面だけで、起案 → 修正 → 確定まで完結する</a:t>
            </a:r>
            <a:endParaRPr lang="en-US" sz="1100" dirty="0"/>
          </a:p>
          <a:p>
            <a:pPr indent="0" marL="0">
              <a:buNone/>
            </a:pPr>
            <a:r>
              <a:rPr lang="en-US" sz="1100" b="1" dirty="0">
                <a:solidFill>
                  <a:srgbClr val="0E9F9A"/>
                </a:solidFill>
                <a:latin typeface="Meiryo UI" pitchFamily="34" charset="0"/>
                <a:ea typeface="Meiryo UI" pitchFamily="34" charset="-122"/>
                <a:cs typeface="Meiryo UI" pitchFamily="34" charset="-120"/>
              </a:rPr>
              <a:t>制約・留意点</a:t>
            </a:r>
            <a:endParaRPr lang="en-US" sz="1100" dirty="0"/>
          </a:p>
          <a:p>
            <a:pPr indent="0" marL="0">
              <a:spcAft>
                <a:spcPts val="700"/>
              </a:spcAft>
              <a:buNone/>
            </a:pPr>
            <a:r>
              <a:rPr lang="en-US" sz="1100" dirty="0">
                <a:solidFill>
                  <a:srgbClr val="2B2B2B"/>
                </a:solidFill>
                <a:latin typeface="Meiryo UI" pitchFamily="34" charset="0"/>
                <a:ea typeface="Meiryo UI" pitchFamily="34" charset="-122"/>
                <a:cs typeface="Meiryo UI" pitchFamily="34" charset="-120"/>
              </a:rPr>
              <a:t>Airtableの画面はチャットには向かないため、複数回のやり取りは扱いにくい。やり取りの履歴を欄に保存して毎回送る設計が必要</a:t>
            </a:r>
            <a:endParaRPr lang="en-US" sz="1100" dirty="0"/>
          </a:p>
        </p:txBody>
      </p:sp>
      <p:sp>
        <p:nvSpPr>
          <p:cNvPr id="27" name="Shape 20"/>
          <p:cNvSpPr/>
          <p:nvPr/>
        </p:nvSpPr>
        <p:spPr>
          <a:xfrm>
            <a:off x="6172200" y="1371600"/>
            <a:ext cx="5440680" cy="4983480"/>
          </a:xfrm>
          <a:prstGeom prst="roundRect">
            <a:avLst>
              <a:gd name="adj" fmla="val 917"/>
            </a:avLst>
          </a:prstGeom>
          <a:solidFill>
            <a:srgbClr val="F3F5F8"/>
          </a:solidFill>
          <a:ln/>
        </p:spPr>
      </p:sp>
      <p:sp>
        <p:nvSpPr>
          <p:cNvPr id="28" name="Shape 21"/>
          <p:cNvSpPr/>
          <p:nvPr/>
        </p:nvSpPr>
        <p:spPr>
          <a:xfrm>
            <a:off x="6281928" y="1481328"/>
            <a:ext cx="457200" cy="457200"/>
          </a:xfrm>
          <a:prstGeom prst="ellipse">
            <a:avLst/>
          </a:prstGeom>
          <a:solidFill>
            <a:srgbClr val="0E9F9A"/>
          </a:solidFill>
          <a:ln/>
        </p:spPr>
      </p:sp>
      <p:sp>
        <p:nvSpPr>
          <p:cNvPr id="29" name="Text 22"/>
          <p:cNvSpPr txBox="1"/>
          <p:nvPr/>
        </p:nvSpPr>
        <p:spPr>
          <a:xfrm>
            <a:off x="6281928" y="1481328"/>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P15</a:t>
            </a:r>
            <a:endParaRPr lang="en-US" sz="1100" dirty="0"/>
          </a:p>
        </p:txBody>
      </p:sp>
      <p:sp>
        <p:nvSpPr>
          <p:cNvPr id="30" name="Text 23"/>
          <p:cNvSpPr txBox="1"/>
          <p:nvPr/>
        </p:nvSpPr>
        <p:spPr>
          <a:xfrm>
            <a:off x="6812280" y="1426464"/>
            <a:ext cx="4709160" cy="512064"/>
          </a:xfrm>
          <a:prstGeom prst="rect">
            <a:avLst/>
          </a:prstGeom>
          <a:noFill/>
          <a:ln/>
        </p:spPr>
        <p:txBody>
          <a:bodyPr wrap="square" lIns="0" tIns="0" rIns="0" bIns="0" rtlCol="0" anchor="ctr"/>
          <a:lstStyle/>
          <a:p>
            <a:pPr indent="0" marL="0">
              <a:buNone/>
            </a:pPr>
            <a:r>
              <a:rPr lang="en-US" sz="1200" b="1" dirty="0">
                <a:solidFill>
                  <a:srgbClr val="1B2A49"/>
                </a:solidFill>
                <a:latin typeface="Meiryo UI" pitchFamily="34" charset="0"/>
                <a:ea typeface="Meiryo UI" pitchFamily="34" charset="-122"/>
                <a:cs typeface="Meiryo UI" pitchFamily="34" charset="-120"/>
              </a:rPr>
              <a:t>Teamsで下書きを確認し、修正指示を出す</a:t>
            </a:r>
            <a:endParaRPr lang="en-US" sz="1200" dirty="0"/>
          </a:p>
        </p:txBody>
      </p:sp>
      <p:sp>
        <p:nvSpPr>
          <p:cNvPr id="31" name="Text 24"/>
          <p:cNvSpPr txBox="1"/>
          <p:nvPr/>
        </p:nvSpPr>
        <p:spPr>
          <a:xfrm>
            <a:off x="6812280" y="1938528"/>
            <a:ext cx="4709160" cy="219456"/>
          </a:xfrm>
          <a:prstGeom prst="rect">
            <a:avLst/>
          </a:prstGeom>
          <a:noFill/>
          <a:ln/>
        </p:spPr>
        <p:txBody>
          <a:bodyPr wrap="square" lIns="0" tIns="0" rIns="0" bIns="0" rtlCol="0" anchor="ctr"/>
          <a:lstStyle/>
          <a:p>
            <a:pPr indent="0" marL="0">
              <a:buNone/>
            </a:pPr>
            <a:r>
              <a:rPr lang="en-US" sz="850" dirty="0">
                <a:solidFill>
                  <a:srgbClr val="6B7280"/>
                </a:solidFill>
                <a:latin typeface="Meiryo UI" pitchFamily="34" charset="0"/>
                <a:ea typeface="Meiryo UI" pitchFamily="34" charset="-122"/>
                <a:cs typeface="Meiryo UI" pitchFamily="34" charset="-120"/>
              </a:rPr>
              <a:t>レベル5：修正ループ　難易度 </a:t>
            </a:r>
            <a:pPr indent="0" marL="0">
              <a:buNone/>
            </a:pPr>
            <a:r>
              <a:rPr lang="en-US" sz="850" b="1" dirty="0">
                <a:solidFill>
                  <a:srgbClr val="E8912D"/>
                </a:solidFill>
                <a:latin typeface="Meiryo UI" pitchFamily="34" charset="0"/>
                <a:ea typeface="Meiryo UI" pitchFamily="34" charset="-122"/>
                <a:cs typeface="Meiryo UI" pitchFamily="34" charset="-120"/>
              </a:rPr>
              <a:t>★★★★</a:t>
            </a:r>
            <a:endParaRPr lang="en-US" sz="850" dirty="0"/>
          </a:p>
        </p:txBody>
      </p:sp>
      <p:sp>
        <p:nvSpPr>
          <p:cNvPr id="32" name="Shape 25"/>
          <p:cNvSpPr/>
          <p:nvPr/>
        </p:nvSpPr>
        <p:spPr>
          <a:xfrm>
            <a:off x="6281928" y="2231136"/>
            <a:ext cx="5221224" cy="868680"/>
          </a:xfrm>
          <a:prstGeom prst="roundRect">
            <a:avLst>
              <a:gd name="adj" fmla="val 5263"/>
            </a:avLst>
          </a:prstGeom>
          <a:solidFill>
            <a:srgbClr val="FFFFFF"/>
          </a:solidFill>
          <a:ln w="12700">
            <a:solidFill>
              <a:srgbClr val="D5DBE3"/>
            </a:solidFill>
            <a:prstDash val="solid"/>
          </a:ln>
        </p:spPr>
      </p:sp>
      <p:pic>
        <p:nvPicPr>
          <p:cNvPr id="33" name="Image 5" descr="preencoded.png">    </p:cNvPr>
          <p:cNvPicPr>
            <a:picLocks noChangeAspect="1"/>
          </p:cNvPicPr>
          <p:nvPr/>
        </p:nvPicPr>
        <p:blipFill>
          <a:blip r:embed="rId6"/>
          <a:stretch>
            <a:fillRect/>
          </a:stretch>
        </p:blipFill>
        <p:spPr>
          <a:xfrm>
            <a:off x="6670548" y="2304288"/>
            <a:ext cx="310896" cy="310896"/>
          </a:xfrm>
          <a:prstGeom prst="rect">
            <a:avLst/>
          </a:prstGeom>
        </p:spPr>
      </p:pic>
      <p:sp>
        <p:nvSpPr>
          <p:cNvPr id="34" name="Text 26"/>
          <p:cNvSpPr txBox="1"/>
          <p:nvPr/>
        </p:nvSpPr>
        <p:spPr>
          <a:xfrm>
            <a:off x="6336792" y="2642616"/>
            <a:ext cx="978408" cy="402336"/>
          </a:xfrm>
          <a:prstGeom prst="rect">
            <a:avLst/>
          </a:prstGeom>
          <a:noFill/>
          <a:ln/>
        </p:spPr>
        <p:txBody>
          <a:bodyPr wrap="square" lIns="0" tIns="0" rIns="0" bIns="0" rtlCol="0" anchor="t"/>
          <a:lstStyle/>
          <a:p>
            <a:pPr algn="ctr" indent="0" marL="0">
              <a:buNone/>
            </a:pPr>
            <a:r>
              <a:rPr lang="en-US" sz="650" b="1" dirty="0">
                <a:solidFill>
                  <a:srgbClr val="6B7280"/>
                </a:solidFill>
                <a:latin typeface="Meiryo UI" pitchFamily="34" charset="0"/>
                <a:ea typeface="Meiryo UI" pitchFamily="34" charset="-122"/>
                <a:cs typeface="Meiryo UI" pitchFamily="34" charset="-120"/>
              </a:rPr>
              <a:t>Teams</a:t>
            </a:r>
            <a:endParaRPr lang="en-US" sz="650" dirty="0"/>
          </a:p>
          <a:p>
            <a:pPr algn="ctr" indent="0" marL="0">
              <a:buNone/>
            </a:pPr>
            <a:r>
              <a:rPr lang="en-US" sz="600" dirty="0">
                <a:solidFill>
                  <a:srgbClr val="8C95A3"/>
                </a:solidFill>
                <a:latin typeface="Meiryo UI" pitchFamily="34" charset="0"/>
                <a:ea typeface="Meiryo UI" pitchFamily="34" charset="-122"/>
                <a:cs typeface="Meiryo UI" pitchFamily="34" charset="-120"/>
              </a:rPr>
              <a:t>アダプティブカード</a:t>
            </a:r>
            <a:endParaRPr lang="en-US" sz="650" dirty="0"/>
          </a:p>
        </p:txBody>
      </p:sp>
      <p:sp>
        <p:nvSpPr>
          <p:cNvPr id="35" name="Shape 27"/>
          <p:cNvSpPr/>
          <p:nvPr/>
        </p:nvSpPr>
        <p:spPr>
          <a:xfrm>
            <a:off x="7054596" y="2459736"/>
            <a:ext cx="576072" cy="0"/>
          </a:xfrm>
          <a:prstGeom prst="line">
            <a:avLst/>
          </a:prstGeom>
          <a:noFill/>
          <a:ln w="15875">
            <a:solidFill>
              <a:srgbClr val="1B2A49"/>
            </a:solidFill>
            <a:prstDash val="solid"/>
            <a:tailEnd type="triangle"/>
          </a:ln>
        </p:spPr>
      </p:sp>
      <p:pic>
        <p:nvPicPr>
          <p:cNvPr id="36" name="Image 6" descr="preencoded.png">    </p:cNvPr>
          <p:cNvPicPr>
            <a:picLocks noChangeAspect="1"/>
          </p:cNvPicPr>
          <p:nvPr/>
        </p:nvPicPr>
        <p:blipFill>
          <a:blip r:embed="rId7"/>
          <a:stretch>
            <a:fillRect/>
          </a:stretch>
        </p:blipFill>
        <p:spPr>
          <a:xfrm>
            <a:off x="7703820" y="2304288"/>
            <a:ext cx="310896" cy="310896"/>
          </a:xfrm>
          <a:prstGeom prst="rect">
            <a:avLst/>
          </a:prstGeom>
        </p:spPr>
      </p:pic>
      <p:sp>
        <p:nvSpPr>
          <p:cNvPr id="37" name="Text 28"/>
          <p:cNvSpPr txBox="1"/>
          <p:nvPr/>
        </p:nvSpPr>
        <p:spPr>
          <a:xfrm>
            <a:off x="7370064" y="2642616"/>
            <a:ext cx="978408" cy="402336"/>
          </a:xfrm>
          <a:prstGeom prst="rect">
            <a:avLst/>
          </a:prstGeom>
          <a:noFill/>
          <a:ln/>
        </p:spPr>
        <p:txBody>
          <a:bodyPr wrap="square" lIns="0" tIns="0" rIns="0" bIns="0" rtlCol="0" anchor="t"/>
          <a:lstStyle/>
          <a:p>
            <a:pPr algn="ctr" indent="0" marL="0">
              <a:buNone/>
            </a:pPr>
            <a:r>
              <a:rPr lang="en-US" sz="650" b="1" dirty="0">
                <a:solidFill>
                  <a:srgbClr val="6B7280"/>
                </a:solidFill>
                <a:latin typeface="Meiryo UI" pitchFamily="34" charset="0"/>
                <a:ea typeface="Meiryo UI" pitchFamily="34" charset="-122"/>
                <a:cs typeface="Meiryo UI" pitchFamily="34" charset="-120"/>
              </a:rPr>
              <a:t>担当者</a:t>
            </a:r>
            <a:endParaRPr lang="en-US" sz="650" dirty="0"/>
          </a:p>
          <a:p>
            <a:pPr algn="ctr" indent="0" marL="0">
              <a:buNone/>
            </a:pPr>
            <a:r>
              <a:rPr lang="en-US" sz="600" dirty="0">
                <a:solidFill>
                  <a:srgbClr val="8C95A3"/>
                </a:solidFill>
                <a:latin typeface="Meiryo UI" pitchFamily="34" charset="0"/>
                <a:ea typeface="Meiryo UI" pitchFamily="34" charset="-122"/>
                <a:cs typeface="Meiryo UI" pitchFamily="34" charset="-120"/>
              </a:rPr>
              <a:t>承認／修正指示</a:t>
            </a:r>
            <a:endParaRPr lang="en-US" sz="650" dirty="0"/>
          </a:p>
        </p:txBody>
      </p:sp>
      <p:sp>
        <p:nvSpPr>
          <p:cNvPr id="38" name="Shape 29"/>
          <p:cNvSpPr/>
          <p:nvPr/>
        </p:nvSpPr>
        <p:spPr>
          <a:xfrm>
            <a:off x="8087868" y="2459736"/>
            <a:ext cx="576072" cy="0"/>
          </a:xfrm>
          <a:prstGeom prst="line">
            <a:avLst/>
          </a:prstGeom>
          <a:noFill/>
          <a:ln w="15875">
            <a:solidFill>
              <a:srgbClr val="1B2A49"/>
            </a:solidFill>
            <a:prstDash val="solid"/>
            <a:tailEnd type="triangle"/>
          </a:ln>
        </p:spPr>
      </p:sp>
      <p:pic>
        <p:nvPicPr>
          <p:cNvPr id="39" name="Image 7" descr="preencoded.png">    </p:cNvPr>
          <p:cNvPicPr>
            <a:picLocks noChangeAspect="1"/>
          </p:cNvPicPr>
          <p:nvPr/>
        </p:nvPicPr>
        <p:blipFill>
          <a:blip r:embed="rId8"/>
          <a:stretch>
            <a:fillRect/>
          </a:stretch>
        </p:blipFill>
        <p:spPr>
          <a:xfrm>
            <a:off x="8737092" y="2304288"/>
            <a:ext cx="310896" cy="310896"/>
          </a:xfrm>
          <a:prstGeom prst="rect">
            <a:avLst/>
          </a:prstGeom>
        </p:spPr>
      </p:pic>
      <p:sp>
        <p:nvSpPr>
          <p:cNvPr id="40" name="Text 30"/>
          <p:cNvSpPr txBox="1"/>
          <p:nvPr/>
        </p:nvSpPr>
        <p:spPr>
          <a:xfrm>
            <a:off x="8403336" y="2642616"/>
            <a:ext cx="978408" cy="402336"/>
          </a:xfrm>
          <a:prstGeom prst="rect">
            <a:avLst/>
          </a:prstGeom>
          <a:noFill/>
          <a:ln/>
        </p:spPr>
        <p:txBody>
          <a:bodyPr wrap="square" lIns="0" tIns="0" rIns="0" bIns="0" rtlCol="0" anchor="t"/>
          <a:lstStyle/>
          <a:p>
            <a:pPr algn="ctr" indent="0" marL="0">
              <a:buNone/>
            </a:pPr>
            <a:r>
              <a:rPr lang="en-US" sz="650" b="1" dirty="0">
                <a:solidFill>
                  <a:srgbClr val="6B7280"/>
                </a:solidFill>
                <a:latin typeface="Meiryo UI" pitchFamily="34" charset="0"/>
                <a:ea typeface="Meiryo UI" pitchFamily="34" charset="-122"/>
                <a:cs typeface="Meiryo UI" pitchFamily="34" charset="-120"/>
              </a:rPr>
              <a:t>Power Automate</a:t>
            </a:r>
            <a:endParaRPr lang="en-US" sz="650" dirty="0"/>
          </a:p>
          <a:p>
            <a:pPr algn="ctr" indent="0" marL="0">
              <a:buNone/>
            </a:pPr>
            <a:r>
              <a:rPr lang="en-US" sz="600" dirty="0">
                <a:solidFill>
                  <a:srgbClr val="8C95A3"/>
                </a:solidFill>
                <a:latin typeface="Meiryo UI" pitchFamily="34" charset="0"/>
                <a:ea typeface="Meiryo UI" pitchFamily="34" charset="-122"/>
                <a:cs typeface="Meiryo UI" pitchFamily="34" charset="-120"/>
              </a:rPr>
              <a:t>受付</a:t>
            </a:r>
            <a:endParaRPr lang="en-US" sz="650" dirty="0"/>
          </a:p>
        </p:txBody>
      </p:sp>
      <p:sp>
        <p:nvSpPr>
          <p:cNvPr id="41" name="Shape 31"/>
          <p:cNvSpPr/>
          <p:nvPr/>
        </p:nvSpPr>
        <p:spPr>
          <a:xfrm>
            <a:off x="9121140" y="2459736"/>
            <a:ext cx="576072" cy="0"/>
          </a:xfrm>
          <a:prstGeom prst="line">
            <a:avLst/>
          </a:prstGeom>
          <a:noFill/>
          <a:ln w="15875">
            <a:solidFill>
              <a:srgbClr val="1B2A49"/>
            </a:solidFill>
            <a:prstDash val="solid"/>
            <a:tailEnd type="triangle"/>
          </a:ln>
        </p:spPr>
      </p:sp>
      <p:pic>
        <p:nvPicPr>
          <p:cNvPr id="42" name="Image 8" descr="preencoded.png">    </p:cNvPr>
          <p:cNvPicPr>
            <a:picLocks noChangeAspect="1"/>
          </p:cNvPicPr>
          <p:nvPr/>
        </p:nvPicPr>
        <p:blipFill>
          <a:blip r:embed="rId9"/>
          <a:stretch>
            <a:fillRect/>
          </a:stretch>
        </p:blipFill>
        <p:spPr>
          <a:xfrm>
            <a:off x="9770364" y="2304288"/>
            <a:ext cx="310896" cy="310896"/>
          </a:xfrm>
          <a:prstGeom prst="rect">
            <a:avLst/>
          </a:prstGeom>
        </p:spPr>
      </p:pic>
      <p:sp>
        <p:nvSpPr>
          <p:cNvPr id="43" name="Text 32"/>
          <p:cNvSpPr txBox="1"/>
          <p:nvPr/>
        </p:nvSpPr>
        <p:spPr>
          <a:xfrm>
            <a:off x="9436608" y="2642616"/>
            <a:ext cx="978408" cy="402336"/>
          </a:xfrm>
          <a:prstGeom prst="rect">
            <a:avLst/>
          </a:prstGeom>
          <a:noFill/>
          <a:ln/>
        </p:spPr>
        <p:txBody>
          <a:bodyPr wrap="square" lIns="0" tIns="0" rIns="0" bIns="0" rtlCol="0" anchor="t"/>
          <a:lstStyle/>
          <a:p>
            <a:pPr algn="ctr" indent="0" marL="0">
              <a:buNone/>
            </a:pPr>
            <a:r>
              <a:rPr lang="en-US" sz="650" b="1" dirty="0">
                <a:solidFill>
                  <a:srgbClr val="6B7280"/>
                </a:solidFill>
                <a:latin typeface="Meiryo UI" pitchFamily="34" charset="0"/>
                <a:ea typeface="Meiryo UI" pitchFamily="34" charset="-122"/>
                <a:cs typeface="Meiryo UI" pitchFamily="34" charset="-120"/>
              </a:rPr>
              <a:t>Copilot Studio</a:t>
            </a:r>
            <a:endParaRPr lang="en-US" sz="650" dirty="0"/>
          </a:p>
          <a:p>
            <a:pPr algn="ctr" indent="0" marL="0">
              <a:buNone/>
            </a:pPr>
            <a:r>
              <a:rPr lang="en-US" sz="600" dirty="0">
                <a:solidFill>
                  <a:srgbClr val="8C95A3"/>
                </a:solidFill>
                <a:latin typeface="Meiryo UI" pitchFamily="34" charset="0"/>
                <a:ea typeface="Meiryo UI" pitchFamily="34" charset="-122"/>
                <a:cs typeface="Meiryo UI" pitchFamily="34" charset="-120"/>
              </a:rPr>
              <a:t>再推論</a:t>
            </a:r>
            <a:endParaRPr lang="en-US" sz="650" dirty="0"/>
          </a:p>
        </p:txBody>
      </p:sp>
      <p:sp>
        <p:nvSpPr>
          <p:cNvPr id="44" name="Shape 33"/>
          <p:cNvSpPr/>
          <p:nvPr/>
        </p:nvSpPr>
        <p:spPr>
          <a:xfrm>
            <a:off x="10154412" y="2459736"/>
            <a:ext cx="576072" cy="0"/>
          </a:xfrm>
          <a:prstGeom prst="line">
            <a:avLst/>
          </a:prstGeom>
          <a:noFill/>
          <a:ln w="15875">
            <a:solidFill>
              <a:srgbClr val="1B2A49"/>
            </a:solidFill>
            <a:prstDash val="solid"/>
            <a:tailEnd type="triangle"/>
          </a:ln>
        </p:spPr>
      </p:sp>
      <p:pic>
        <p:nvPicPr>
          <p:cNvPr id="45" name="Image 9" descr="preencoded.png">    </p:cNvPr>
          <p:cNvPicPr>
            <a:picLocks noChangeAspect="1"/>
          </p:cNvPicPr>
          <p:nvPr/>
        </p:nvPicPr>
        <p:blipFill>
          <a:blip r:embed="rId10"/>
          <a:stretch>
            <a:fillRect/>
          </a:stretch>
        </p:blipFill>
        <p:spPr>
          <a:xfrm>
            <a:off x="10803636" y="2304288"/>
            <a:ext cx="310896" cy="310896"/>
          </a:xfrm>
          <a:prstGeom prst="rect">
            <a:avLst/>
          </a:prstGeom>
        </p:spPr>
      </p:pic>
      <p:sp>
        <p:nvSpPr>
          <p:cNvPr id="46" name="Text 34"/>
          <p:cNvSpPr txBox="1"/>
          <p:nvPr/>
        </p:nvSpPr>
        <p:spPr>
          <a:xfrm>
            <a:off x="10469880" y="2642616"/>
            <a:ext cx="978408" cy="402336"/>
          </a:xfrm>
          <a:prstGeom prst="rect">
            <a:avLst/>
          </a:prstGeom>
          <a:noFill/>
          <a:ln/>
        </p:spPr>
        <p:txBody>
          <a:bodyPr wrap="square" lIns="0" tIns="0" rIns="0" bIns="0" rtlCol="0" anchor="t"/>
          <a:lstStyle/>
          <a:p>
            <a:pPr algn="ctr" indent="0" marL="0">
              <a:buNone/>
            </a:pPr>
            <a:r>
              <a:rPr lang="en-US" sz="650" b="1" dirty="0">
                <a:solidFill>
                  <a:srgbClr val="6B7280"/>
                </a:solidFill>
                <a:latin typeface="Meiryo UI" pitchFamily="34" charset="0"/>
                <a:ea typeface="Meiryo UI" pitchFamily="34" charset="-122"/>
                <a:cs typeface="Meiryo UI" pitchFamily="34" charset="-120"/>
              </a:rPr>
              <a:t>Airtable</a:t>
            </a:r>
            <a:endParaRPr lang="en-US" sz="650" dirty="0"/>
          </a:p>
          <a:p>
            <a:pPr algn="ctr" indent="0" marL="0">
              <a:buNone/>
            </a:pPr>
            <a:r>
              <a:rPr lang="en-US" sz="600" dirty="0">
                <a:solidFill>
                  <a:srgbClr val="8C95A3"/>
                </a:solidFill>
                <a:latin typeface="Meiryo UI" pitchFamily="34" charset="0"/>
                <a:ea typeface="Meiryo UI" pitchFamily="34" charset="-122"/>
                <a:cs typeface="Meiryo UI" pitchFamily="34" charset="-120"/>
              </a:rPr>
              <a:t>承認時に書込</a:t>
            </a:r>
            <a:endParaRPr lang="en-US" sz="650" dirty="0"/>
          </a:p>
        </p:txBody>
      </p:sp>
      <p:sp>
        <p:nvSpPr>
          <p:cNvPr id="47" name="Text 35"/>
          <p:cNvSpPr txBox="1"/>
          <p:nvPr/>
        </p:nvSpPr>
        <p:spPr>
          <a:xfrm>
            <a:off x="6309360" y="3200400"/>
            <a:ext cx="5166360" cy="3081528"/>
          </a:xfrm>
          <a:prstGeom prst="rect">
            <a:avLst/>
          </a:prstGeom>
          <a:noFill/>
          <a:ln/>
        </p:spPr>
        <p:txBody>
          <a:bodyPr wrap="square" lIns="254" tIns="254" rIns="254" bIns="254" rtlCol="0" anchor="t"/>
          <a:lstStyle/>
          <a:p>
            <a:pPr indent="0" marL="0">
              <a:buNone/>
            </a:pPr>
            <a:r>
              <a:rPr lang="en-US" sz="1100" b="1" dirty="0">
                <a:solidFill>
                  <a:srgbClr val="0E9F9A"/>
                </a:solidFill>
                <a:latin typeface="Meiryo UI" pitchFamily="34" charset="0"/>
                <a:ea typeface="Meiryo UI" pitchFamily="34" charset="-122"/>
                <a:cs typeface="Meiryo UI" pitchFamily="34" charset="-120"/>
              </a:rPr>
              <a:t>流れ</a:t>
            </a:r>
            <a:endParaRPr lang="en-US" sz="1100" dirty="0"/>
          </a:p>
          <a:p>
            <a:pPr indent="0" marL="0">
              <a:spcAft>
                <a:spcPts val="700"/>
              </a:spcAft>
              <a:buNone/>
            </a:pPr>
            <a:r>
              <a:rPr lang="en-US" sz="1100" dirty="0">
                <a:solidFill>
                  <a:srgbClr val="2B2B2B"/>
                </a:solidFill>
                <a:latin typeface="Meiryo UI" pitchFamily="34" charset="0"/>
                <a:ea typeface="Meiryo UI" pitchFamily="34" charset="-122"/>
                <a:cs typeface="Meiryo UI" pitchFamily="34" charset="-120"/>
              </a:rPr>
              <a:t>下書きをTeamsのアダプティブカードで通知 → 「承認」または「修正指示」を入力 → 再推論 → 承認時にAirtableへ書き込む</a:t>
            </a:r>
            <a:endParaRPr lang="en-US" sz="1100" dirty="0"/>
          </a:p>
          <a:p>
            <a:pPr indent="0" marL="0">
              <a:buNone/>
            </a:pPr>
            <a:r>
              <a:rPr lang="en-US" sz="1100" b="1" dirty="0">
                <a:solidFill>
                  <a:srgbClr val="0E9F9A"/>
                </a:solidFill>
                <a:latin typeface="Meiryo UI" pitchFamily="34" charset="0"/>
                <a:ea typeface="Meiryo UI" pitchFamily="34" charset="-122"/>
                <a:cs typeface="Meiryo UI" pitchFamily="34" charset="-120"/>
              </a:rPr>
              <a:t>必要なもの</a:t>
            </a:r>
            <a:endParaRPr lang="en-US" sz="1100" dirty="0"/>
          </a:p>
          <a:p>
            <a:pPr indent="0" marL="0">
              <a:spcAft>
                <a:spcPts val="700"/>
              </a:spcAft>
              <a:buNone/>
            </a:pPr>
            <a:r>
              <a:rPr lang="en-US" sz="1100" dirty="0">
                <a:solidFill>
                  <a:srgbClr val="2B2B2B"/>
                </a:solidFill>
                <a:latin typeface="Meiryo UI" pitchFamily="34" charset="0"/>
                <a:ea typeface="Meiryo UI" pitchFamily="34" charset="-122"/>
                <a:cs typeface="Meiryo UI" pitchFamily="34" charset="-120"/>
              </a:rPr>
              <a:t>P8の一式、アダプティブカードの設計</a:t>
            </a:r>
            <a:endParaRPr lang="en-US" sz="1100" dirty="0"/>
          </a:p>
          <a:p>
            <a:pPr indent="0" marL="0">
              <a:buNone/>
            </a:pPr>
            <a:r>
              <a:rPr lang="en-US" sz="1100" b="1" dirty="0">
                <a:solidFill>
                  <a:srgbClr val="0E9F9A"/>
                </a:solidFill>
                <a:latin typeface="Meiryo UI" pitchFamily="34" charset="0"/>
                <a:ea typeface="Meiryo UI" pitchFamily="34" charset="-122"/>
                <a:cs typeface="Meiryo UI" pitchFamily="34" charset="-120"/>
              </a:rPr>
              <a:t>長所</a:t>
            </a:r>
            <a:endParaRPr lang="en-US" sz="1100" dirty="0"/>
          </a:p>
          <a:p>
            <a:pPr indent="0" marL="0">
              <a:spcAft>
                <a:spcPts val="700"/>
              </a:spcAft>
              <a:buNone/>
            </a:pPr>
            <a:r>
              <a:rPr lang="en-US" sz="1100" dirty="0">
                <a:solidFill>
                  <a:srgbClr val="2B2B2B"/>
                </a:solidFill>
                <a:latin typeface="Meiryo UI" pitchFamily="34" charset="0"/>
                <a:ea typeface="Meiryo UI" pitchFamily="34" charset="-122"/>
                <a:cs typeface="Meiryo UI" pitchFamily="34" charset="-120"/>
              </a:rPr>
              <a:t>普段使っているTeamsの中で確認・修正ができる</a:t>
            </a:r>
            <a:endParaRPr lang="en-US" sz="1100" dirty="0"/>
          </a:p>
          <a:p>
            <a:pPr indent="0" marL="0">
              <a:buNone/>
            </a:pPr>
            <a:r>
              <a:rPr lang="en-US" sz="1100" b="1" dirty="0">
                <a:solidFill>
                  <a:srgbClr val="0E9F9A"/>
                </a:solidFill>
                <a:latin typeface="Meiryo UI" pitchFamily="34" charset="0"/>
                <a:ea typeface="Meiryo UI" pitchFamily="34" charset="-122"/>
                <a:cs typeface="Meiryo UI" pitchFamily="34" charset="-120"/>
              </a:rPr>
              <a:t>制約・留意点</a:t>
            </a:r>
            <a:endParaRPr lang="en-US" sz="1100" dirty="0"/>
          </a:p>
          <a:p>
            <a:pPr indent="0" marL="0">
              <a:spcAft>
                <a:spcPts val="700"/>
              </a:spcAft>
              <a:buNone/>
            </a:pPr>
            <a:r>
              <a:rPr lang="en-US" sz="1100" dirty="0">
                <a:solidFill>
                  <a:srgbClr val="2B2B2B"/>
                </a:solidFill>
                <a:latin typeface="Meiryo UI" pitchFamily="34" charset="0"/>
                <a:ea typeface="Meiryo UI" pitchFamily="34" charset="-122"/>
                <a:cs typeface="Meiryo UI" pitchFamily="34" charset="-120"/>
              </a:rPr>
              <a:t>カード上の入力は簡単な指示に向く。商品の入れ替えなど複雑な操作は扱いにくい</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レベル5：修正ループ付き（2/2）</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修正用の画面を作り込む方法。Airtableの外に専用画面を持つか、Airtableの画面内に組み込むか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3. パターン別の詳細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21</a:t>
            </a:r>
            <a:endParaRPr lang="en-US" sz="900" dirty="0"/>
          </a:p>
        </p:txBody>
      </p:sp>
      <p:sp>
        <p:nvSpPr>
          <p:cNvPr id="6" name="Shape 4"/>
          <p:cNvSpPr/>
          <p:nvPr/>
        </p:nvSpPr>
        <p:spPr>
          <a:xfrm>
            <a:off x="548640" y="1371600"/>
            <a:ext cx="5440680" cy="4983480"/>
          </a:xfrm>
          <a:prstGeom prst="roundRect">
            <a:avLst>
              <a:gd name="adj" fmla="val 917"/>
            </a:avLst>
          </a:prstGeom>
          <a:solidFill>
            <a:srgbClr val="F3F5F8"/>
          </a:solidFill>
          <a:ln/>
        </p:spPr>
      </p:sp>
      <p:sp>
        <p:nvSpPr>
          <p:cNvPr id="7" name="Shape 5"/>
          <p:cNvSpPr/>
          <p:nvPr/>
        </p:nvSpPr>
        <p:spPr>
          <a:xfrm>
            <a:off x="658368" y="1481328"/>
            <a:ext cx="457200" cy="457200"/>
          </a:xfrm>
          <a:prstGeom prst="ellipse">
            <a:avLst/>
          </a:prstGeom>
          <a:solidFill>
            <a:srgbClr val="0E9F9A"/>
          </a:solidFill>
          <a:ln/>
        </p:spPr>
      </p:sp>
      <p:sp>
        <p:nvSpPr>
          <p:cNvPr id="8" name="Text 6"/>
          <p:cNvSpPr txBox="1"/>
          <p:nvPr/>
        </p:nvSpPr>
        <p:spPr>
          <a:xfrm>
            <a:off x="658368" y="1481328"/>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P16</a:t>
            </a:r>
            <a:endParaRPr lang="en-US" sz="1100" dirty="0"/>
          </a:p>
        </p:txBody>
      </p:sp>
      <p:sp>
        <p:nvSpPr>
          <p:cNvPr id="9" name="Text 7"/>
          <p:cNvSpPr txBox="1"/>
          <p:nvPr/>
        </p:nvSpPr>
        <p:spPr>
          <a:xfrm>
            <a:off x="1188720" y="1426464"/>
            <a:ext cx="4709160" cy="512064"/>
          </a:xfrm>
          <a:prstGeom prst="rect">
            <a:avLst/>
          </a:prstGeom>
          <a:noFill/>
          <a:ln/>
        </p:spPr>
        <p:txBody>
          <a:bodyPr wrap="square" lIns="0" tIns="0" rIns="0" bIns="0" rtlCol="0" anchor="ctr"/>
          <a:lstStyle/>
          <a:p>
            <a:pPr indent="0" marL="0">
              <a:buNone/>
            </a:pPr>
            <a:r>
              <a:rPr lang="en-US" sz="1200" b="1" dirty="0">
                <a:solidFill>
                  <a:srgbClr val="1B2A49"/>
                </a:solidFill>
                <a:latin typeface="Meiryo UI" pitchFamily="34" charset="0"/>
                <a:ea typeface="Meiryo UI" pitchFamily="34" charset="-122"/>
                <a:cs typeface="Meiryo UI" pitchFamily="34" charset="-120"/>
              </a:rPr>
              <a:t>専用画面（code apps）で対話しながら修正し、確定時にAirtableへ書き込む</a:t>
            </a:r>
            <a:endParaRPr lang="en-US" sz="1200" dirty="0"/>
          </a:p>
        </p:txBody>
      </p:sp>
      <p:sp>
        <p:nvSpPr>
          <p:cNvPr id="10" name="Text 8"/>
          <p:cNvSpPr txBox="1"/>
          <p:nvPr/>
        </p:nvSpPr>
        <p:spPr>
          <a:xfrm>
            <a:off x="1188720" y="1938528"/>
            <a:ext cx="4709160" cy="219456"/>
          </a:xfrm>
          <a:prstGeom prst="rect">
            <a:avLst/>
          </a:prstGeom>
          <a:noFill/>
          <a:ln/>
        </p:spPr>
        <p:txBody>
          <a:bodyPr wrap="square" lIns="0" tIns="0" rIns="0" bIns="0" rtlCol="0" anchor="ctr"/>
          <a:lstStyle/>
          <a:p>
            <a:pPr indent="0" marL="0">
              <a:buNone/>
            </a:pPr>
            <a:r>
              <a:rPr lang="en-US" sz="850" dirty="0">
                <a:solidFill>
                  <a:srgbClr val="6B7280"/>
                </a:solidFill>
                <a:latin typeface="Meiryo UI" pitchFamily="34" charset="0"/>
                <a:ea typeface="Meiryo UI" pitchFamily="34" charset="-122"/>
                <a:cs typeface="Meiryo UI" pitchFamily="34" charset="-120"/>
              </a:rPr>
              <a:t>レベル5：修正ループ　難易度 </a:t>
            </a:r>
            <a:pPr indent="0" marL="0">
              <a:buNone/>
            </a:pPr>
            <a:r>
              <a:rPr lang="en-US" sz="850" b="1" dirty="0">
                <a:solidFill>
                  <a:srgbClr val="E8912D"/>
                </a:solidFill>
                <a:latin typeface="Meiryo UI" pitchFamily="34" charset="0"/>
                <a:ea typeface="Meiryo UI" pitchFamily="34" charset="-122"/>
                <a:cs typeface="Meiryo UI" pitchFamily="34" charset="-120"/>
              </a:rPr>
              <a:t>★★★★</a:t>
            </a:r>
            <a:endParaRPr lang="en-US" sz="850" dirty="0"/>
          </a:p>
        </p:txBody>
      </p:sp>
      <p:sp>
        <p:nvSpPr>
          <p:cNvPr id="11" name="Shape 9"/>
          <p:cNvSpPr/>
          <p:nvPr/>
        </p:nvSpPr>
        <p:spPr>
          <a:xfrm>
            <a:off x="658368" y="2231136"/>
            <a:ext cx="5221224" cy="868680"/>
          </a:xfrm>
          <a:prstGeom prst="roundRect">
            <a:avLst>
              <a:gd name="adj" fmla="val 5263"/>
            </a:avLst>
          </a:prstGeom>
          <a:solidFill>
            <a:srgbClr val="FFFFFF"/>
          </a:solidFill>
          <a:ln w="12700">
            <a:solidFill>
              <a:srgbClr val="D5DBE3"/>
            </a:solidFill>
            <a:prstDash val="solid"/>
          </a:ln>
        </p:spPr>
      </p:sp>
      <p:pic>
        <p:nvPicPr>
          <p:cNvPr id="12" name="Image 0" descr="preencoded.png">    </p:cNvPr>
          <p:cNvPicPr>
            <a:picLocks noChangeAspect="1"/>
          </p:cNvPicPr>
          <p:nvPr/>
        </p:nvPicPr>
        <p:blipFill>
          <a:blip r:embed="rId1"/>
          <a:stretch>
            <a:fillRect/>
          </a:stretch>
        </p:blipFill>
        <p:spPr>
          <a:xfrm>
            <a:off x="1046988" y="2304288"/>
            <a:ext cx="310896" cy="310896"/>
          </a:xfrm>
          <a:prstGeom prst="rect">
            <a:avLst/>
          </a:prstGeom>
        </p:spPr>
      </p:pic>
      <p:sp>
        <p:nvSpPr>
          <p:cNvPr id="13" name="Text 10"/>
          <p:cNvSpPr txBox="1"/>
          <p:nvPr/>
        </p:nvSpPr>
        <p:spPr>
          <a:xfrm>
            <a:off x="713232" y="2642616"/>
            <a:ext cx="978408" cy="402336"/>
          </a:xfrm>
          <a:prstGeom prst="rect">
            <a:avLst/>
          </a:prstGeom>
          <a:noFill/>
          <a:ln/>
        </p:spPr>
        <p:txBody>
          <a:bodyPr wrap="square" lIns="0" tIns="0" rIns="0" bIns="0" rtlCol="0" anchor="t"/>
          <a:lstStyle/>
          <a:p>
            <a:pPr algn="ctr" indent="0" marL="0">
              <a:buNone/>
            </a:pPr>
            <a:r>
              <a:rPr lang="en-US" sz="650" b="1" dirty="0">
                <a:solidFill>
                  <a:srgbClr val="6B7280"/>
                </a:solidFill>
                <a:latin typeface="Meiryo UI" pitchFamily="34" charset="0"/>
                <a:ea typeface="Meiryo UI" pitchFamily="34" charset="-122"/>
                <a:cs typeface="Meiryo UI" pitchFamily="34" charset="-120"/>
              </a:rPr>
              <a:t>code apps</a:t>
            </a:r>
            <a:endParaRPr lang="en-US" sz="650" dirty="0"/>
          </a:p>
          <a:p>
            <a:pPr algn="ctr" indent="0" marL="0">
              <a:buNone/>
            </a:pPr>
            <a:r>
              <a:rPr lang="en-US" sz="600" dirty="0">
                <a:solidFill>
                  <a:srgbClr val="8C95A3"/>
                </a:solidFill>
                <a:latin typeface="Meiryo UI" pitchFamily="34" charset="0"/>
                <a:ea typeface="Meiryo UI" pitchFamily="34" charset="-122"/>
                <a:cs typeface="Meiryo UI" pitchFamily="34" charset="-120"/>
              </a:rPr>
              <a:t>配信カードを開く</a:t>
            </a:r>
            <a:endParaRPr lang="en-US" sz="650" dirty="0"/>
          </a:p>
        </p:txBody>
      </p:sp>
      <p:sp>
        <p:nvSpPr>
          <p:cNvPr id="14" name="Shape 11"/>
          <p:cNvSpPr/>
          <p:nvPr/>
        </p:nvSpPr>
        <p:spPr>
          <a:xfrm>
            <a:off x="1431036" y="2459736"/>
            <a:ext cx="576072" cy="0"/>
          </a:xfrm>
          <a:prstGeom prst="line">
            <a:avLst/>
          </a:prstGeom>
          <a:noFill/>
          <a:ln w="15875">
            <a:solidFill>
              <a:srgbClr val="1B2A49"/>
            </a:solidFill>
            <a:prstDash val="solid"/>
            <a:tailEnd type="triangle"/>
          </a:ln>
        </p:spPr>
      </p:sp>
      <p:pic>
        <p:nvPicPr>
          <p:cNvPr id="15" name="Image 1" descr="preencoded.png">    </p:cNvPr>
          <p:cNvPicPr>
            <a:picLocks noChangeAspect="1"/>
          </p:cNvPicPr>
          <p:nvPr/>
        </p:nvPicPr>
        <p:blipFill>
          <a:blip r:embed="rId2"/>
          <a:stretch>
            <a:fillRect/>
          </a:stretch>
        </p:blipFill>
        <p:spPr>
          <a:xfrm>
            <a:off x="2080260" y="2304288"/>
            <a:ext cx="310896" cy="310896"/>
          </a:xfrm>
          <a:prstGeom prst="rect">
            <a:avLst/>
          </a:prstGeom>
        </p:spPr>
      </p:pic>
      <p:sp>
        <p:nvSpPr>
          <p:cNvPr id="16" name="Text 12"/>
          <p:cNvSpPr txBox="1"/>
          <p:nvPr/>
        </p:nvSpPr>
        <p:spPr>
          <a:xfrm>
            <a:off x="1746504" y="2642616"/>
            <a:ext cx="978408" cy="402336"/>
          </a:xfrm>
          <a:prstGeom prst="rect">
            <a:avLst/>
          </a:prstGeom>
          <a:noFill/>
          <a:ln/>
        </p:spPr>
        <p:txBody>
          <a:bodyPr wrap="square" lIns="0" tIns="0" rIns="0" bIns="0" rtlCol="0" anchor="t"/>
          <a:lstStyle/>
          <a:p>
            <a:pPr algn="ctr" indent="0" marL="0">
              <a:buNone/>
            </a:pPr>
            <a:r>
              <a:rPr lang="en-US" sz="650" b="1" dirty="0">
                <a:solidFill>
                  <a:srgbClr val="6B7280"/>
                </a:solidFill>
                <a:latin typeface="Meiryo UI" pitchFamily="34" charset="0"/>
                <a:ea typeface="Meiryo UI" pitchFamily="34" charset="-122"/>
                <a:cs typeface="Meiryo UI" pitchFamily="34" charset="-120"/>
              </a:rPr>
              <a:t>Copilot Studio</a:t>
            </a:r>
            <a:endParaRPr lang="en-US" sz="650" dirty="0"/>
          </a:p>
          <a:p>
            <a:pPr algn="ctr" indent="0" marL="0">
              <a:buNone/>
            </a:pPr>
            <a:r>
              <a:rPr lang="en-US" sz="600" dirty="0">
                <a:solidFill>
                  <a:srgbClr val="8C95A3"/>
                </a:solidFill>
                <a:latin typeface="Meiryo UI" pitchFamily="34" charset="0"/>
                <a:ea typeface="Meiryo UI" pitchFamily="34" charset="-122"/>
                <a:cs typeface="Meiryo UI" pitchFamily="34" charset="-120"/>
              </a:rPr>
              <a:t>推奨・修正</a:t>
            </a:r>
            <a:endParaRPr lang="en-US" sz="650" dirty="0"/>
          </a:p>
        </p:txBody>
      </p:sp>
      <p:sp>
        <p:nvSpPr>
          <p:cNvPr id="17" name="Shape 13"/>
          <p:cNvSpPr/>
          <p:nvPr/>
        </p:nvSpPr>
        <p:spPr>
          <a:xfrm>
            <a:off x="2464308" y="2459736"/>
            <a:ext cx="576072" cy="0"/>
          </a:xfrm>
          <a:prstGeom prst="line">
            <a:avLst/>
          </a:prstGeom>
          <a:noFill/>
          <a:ln w="15875">
            <a:solidFill>
              <a:srgbClr val="1B2A49"/>
            </a:solidFill>
            <a:prstDash val="solid"/>
            <a:tailEnd type="triangle"/>
          </a:ln>
        </p:spPr>
      </p:sp>
      <p:pic>
        <p:nvPicPr>
          <p:cNvPr id="18" name="Image 2" descr="preencoded.png">    </p:cNvPr>
          <p:cNvPicPr>
            <a:picLocks noChangeAspect="1"/>
          </p:cNvPicPr>
          <p:nvPr/>
        </p:nvPicPr>
        <p:blipFill>
          <a:blip r:embed="rId3"/>
          <a:stretch>
            <a:fillRect/>
          </a:stretch>
        </p:blipFill>
        <p:spPr>
          <a:xfrm>
            <a:off x="3113532" y="2304288"/>
            <a:ext cx="310896" cy="310896"/>
          </a:xfrm>
          <a:prstGeom prst="rect">
            <a:avLst/>
          </a:prstGeom>
        </p:spPr>
      </p:pic>
      <p:sp>
        <p:nvSpPr>
          <p:cNvPr id="19" name="Text 14"/>
          <p:cNvSpPr txBox="1"/>
          <p:nvPr/>
        </p:nvSpPr>
        <p:spPr>
          <a:xfrm>
            <a:off x="2779776" y="2642616"/>
            <a:ext cx="978408" cy="402336"/>
          </a:xfrm>
          <a:prstGeom prst="rect">
            <a:avLst/>
          </a:prstGeom>
          <a:noFill/>
          <a:ln/>
        </p:spPr>
        <p:txBody>
          <a:bodyPr wrap="square" lIns="0" tIns="0" rIns="0" bIns="0" rtlCol="0" anchor="t"/>
          <a:lstStyle/>
          <a:p>
            <a:pPr algn="ctr" indent="0" marL="0">
              <a:buNone/>
            </a:pPr>
            <a:r>
              <a:rPr lang="en-US" sz="650" b="1" dirty="0">
                <a:solidFill>
                  <a:srgbClr val="6B7280"/>
                </a:solidFill>
                <a:latin typeface="Meiryo UI" pitchFamily="34" charset="0"/>
                <a:ea typeface="Meiryo UI" pitchFamily="34" charset="-122"/>
                <a:cs typeface="Meiryo UI" pitchFamily="34" charset="-120"/>
              </a:rPr>
              <a:t>マーケター</a:t>
            </a:r>
            <a:endParaRPr lang="en-US" sz="650" dirty="0"/>
          </a:p>
          <a:p>
            <a:pPr algn="ctr" indent="0" marL="0">
              <a:buNone/>
            </a:pPr>
            <a:r>
              <a:rPr lang="en-US" sz="600" dirty="0">
                <a:solidFill>
                  <a:srgbClr val="8C95A3"/>
                </a:solidFill>
                <a:latin typeface="Meiryo UI" pitchFamily="34" charset="0"/>
                <a:ea typeface="Meiryo UI" pitchFamily="34" charset="-122"/>
                <a:cs typeface="Meiryo UI" pitchFamily="34" charset="-120"/>
              </a:rPr>
              <a:t>入替・チャット</a:t>
            </a:r>
            <a:endParaRPr lang="en-US" sz="650" dirty="0"/>
          </a:p>
        </p:txBody>
      </p:sp>
      <p:sp>
        <p:nvSpPr>
          <p:cNvPr id="20" name="Shape 15"/>
          <p:cNvSpPr/>
          <p:nvPr/>
        </p:nvSpPr>
        <p:spPr>
          <a:xfrm>
            <a:off x="3497580" y="2459736"/>
            <a:ext cx="576072" cy="0"/>
          </a:xfrm>
          <a:prstGeom prst="line">
            <a:avLst/>
          </a:prstGeom>
          <a:noFill/>
          <a:ln w="15875">
            <a:solidFill>
              <a:srgbClr val="1B2A49"/>
            </a:solidFill>
            <a:prstDash val="solid"/>
            <a:tailEnd type="triangle"/>
          </a:ln>
        </p:spPr>
      </p:sp>
      <p:pic>
        <p:nvPicPr>
          <p:cNvPr id="21" name="Image 3" descr="preencoded.png">    </p:cNvPr>
          <p:cNvPicPr>
            <a:picLocks noChangeAspect="1"/>
          </p:cNvPicPr>
          <p:nvPr/>
        </p:nvPicPr>
        <p:blipFill>
          <a:blip r:embed="rId4"/>
          <a:stretch>
            <a:fillRect/>
          </a:stretch>
        </p:blipFill>
        <p:spPr>
          <a:xfrm>
            <a:off x="4146804" y="2304288"/>
            <a:ext cx="310896" cy="310896"/>
          </a:xfrm>
          <a:prstGeom prst="rect">
            <a:avLst/>
          </a:prstGeom>
        </p:spPr>
      </p:pic>
      <p:sp>
        <p:nvSpPr>
          <p:cNvPr id="22" name="Text 16"/>
          <p:cNvSpPr txBox="1"/>
          <p:nvPr/>
        </p:nvSpPr>
        <p:spPr>
          <a:xfrm>
            <a:off x="3813048" y="2642616"/>
            <a:ext cx="978408" cy="402336"/>
          </a:xfrm>
          <a:prstGeom prst="rect">
            <a:avLst/>
          </a:prstGeom>
          <a:noFill/>
          <a:ln/>
        </p:spPr>
        <p:txBody>
          <a:bodyPr wrap="square" lIns="0" tIns="0" rIns="0" bIns="0" rtlCol="0" anchor="t"/>
          <a:lstStyle/>
          <a:p>
            <a:pPr algn="ctr" indent="0" marL="0">
              <a:buNone/>
            </a:pPr>
            <a:r>
              <a:rPr lang="en-US" sz="650" b="1" dirty="0">
                <a:solidFill>
                  <a:srgbClr val="6B7280"/>
                </a:solidFill>
                <a:latin typeface="Meiryo UI" pitchFamily="34" charset="0"/>
                <a:ea typeface="Meiryo UI" pitchFamily="34" charset="-122"/>
                <a:cs typeface="Meiryo UI" pitchFamily="34" charset="-120"/>
              </a:rPr>
              <a:t>カスタムコネクタ</a:t>
            </a:r>
            <a:endParaRPr lang="en-US" sz="650" dirty="0"/>
          </a:p>
          <a:p>
            <a:pPr algn="ctr" indent="0" marL="0">
              <a:buNone/>
            </a:pPr>
            <a:r>
              <a:rPr lang="en-US" sz="600" dirty="0">
                <a:solidFill>
                  <a:srgbClr val="8C95A3"/>
                </a:solidFill>
                <a:latin typeface="Meiryo UI" pitchFamily="34" charset="0"/>
                <a:ea typeface="Meiryo UI" pitchFamily="34" charset="-122"/>
                <a:cs typeface="Meiryo UI" pitchFamily="34" charset="-120"/>
              </a:rPr>
              <a:t>確定時に書込</a:t>
            </a:r>
            <a:endParaRPr lang="en-US" sz="650" dirty="0"/>
          </a:p>
        </p:txBody>
      </p:sp>
      <p:sp>
        <p:nvSpPr>
          <p:cNvPr id="23" name="Shape 17"/>
          <p:cNvSpPr/>
          <p:nvPr/>
        </p:nvSpPr>
        <p:spPr>
          <a:xfrm>
            <a:off x="4530852" y="2459736"/>
            <a:ext cx="576072" cy="0"/>
          </a:xfrm>
          <a:prstGeom prst="line">
            <a:avLst/>
          </a:prstGeom>
          <a:noFill/>
          <a:ln w="15875">
            <a:solidFill>
              <a:srgbClr val="1B2A49"/>
            </a:solidFill>
            <a:prstDash val="solid"/>
            <a:tailEnd type="triangle"/>
          </a:ln>
        </p:spPr>
      </p:sp>
      <p:pic>
        <p:nvPicPr>
          <p:cNvPr id="24" name="Image 4" descr="preencoded.png">    </p:cNvPr>
          <p:cNvPicPr>
            <a:picLocks noChangeAspect="1"/>
          </p:cNvPicPr>
          <p:nvPr/>
        </p:nvPicPr>
        <p:blipFill>
          <a:blip r:embed="rId5"/>
          <a:stretch>
            <a:fillRect/>
          </a:stretch>
        </p:blipFill>
        <p:spPr>
          <a:xfrm>
            <a:off x="5180076" y="2304288"/>
            <a:ext cx="310896" cy="310896"/>
          </a:xfrm>
          <a:prstGeom prst="rect">
            <a:avLst/>
          </a:prstGeom>
        </p:spPr>
      </p:pic>
      <p:sp>
        <p:nvSpPr>
          <p:cNvPr id="25" name="Text 18"/>
          <p:cNvSpPr txBox="1"/>
          <p:nvPr/>
        </p:nvSpPr>
        <p:spPr>
          <a:xfrm>
            <a:off x="4846320" y="2642616"/>
            <a:ext cx="978408" cy="402336"/>
          </a:xfrm>
          <a:prstGeom prst="rect">
            <a:avLst/>
          </a:prstGeom>
          <a:noFill/>
          <a:ln/>
        </p:spPr>
        <p:txBody>
          <a:bodyPr wrap="square" lIns="0" tIns="0" rIns="0" bIns="0" rtlCol="0" anchor="t"/>
          <a:lstStyle/>
          <a:p>
            <a:pPr algn="ctr" indent="0" marL="0">
              <a:buNone/>
            </a:pPr>
            <a:r>
              <a:rPr lang="en-US" sz="650" b="1" dirty="0">
                <a:solidFill>
                  <a:srgbClr val="6B7280"/>
                </a:solidFill>
                <a:latin typeface="Meiryo UI" pitchFamily="34" charset="0"/>
                <a:ea typeface="Meiryo UI" pitchFamily="34" charset="-122"/>
                <a:cs typeface="Meiryo UI" pitchFamily="34" charset="-120"/>
              </a:rPr>
              <a:t>Airtable</a:t>
            </a:r>
            <a:endParaRPr lang="en-US" sz="650" dirty="0"/>
          </a:p>
          <a:p>
            <a:pPr algn="ctr" indent="0" marL="0">
              <a:buNone/>
            </a:pPr>
            <a:r>
              <a:rPr lang="en-US" sz="600" dirty="0">
                <a:solidFill>
                  <a:srgbClr val="8C95A3"/>
                </a:solidFill>
                <a:latin typeface="Meiryo UI" pitchFamily="34" charset="0"/>
                <a:ea typeface="Meiryo UI" pitchFamily="34" charset="-122"/>
                <a:cs typeface="Meiryo UI" pitchFamily="34" charset="-120"/>
              </a:rPr>
              <a:t>カード更新</a:t>
            </a:r>
            <a:endParaRPr lang="en-US" sz="650" dirty="0"/>
          </a:p>
        </p:txBody>
      </p:sp>
      <p:sp>
        <p:nvSpPr>
          <p:cNvPr id="26" name="Text 19"/>
          <p:cNvSpPr txBox="1"/>
          <p:nvPr/>
        </p:nvSpPr>
        <p:spPr>
          <a:xfrm>
            <a:off x="685800" y="3200400"/>
            <a:ext cx="5166360" cy="3081528"/>
          </a:xfrm>
          <a:prstGeom prst="rect">
            <a:avLst/>
          </a:prstGeom>
          <a:noFill/>
          <a:ln/>
        </p:spPr>
        <p:txBody>
          <a:bodyPr wrap="square" lIns="254" tIns="254" rIns="254" bIns="254" rtlCol="0" anchor="t"/>
          <a:lstStyle/>
          <a:p>
            <a:pPr indent="0" marL="0">
              <a:buNone/>
            </a:pPr>
            <a:r>
              <a:rPr lang="en-US" sz="1100" b="1" dirty="0">
                <a:solidFill>
                  <a:srgbClr val="0E9F9A"/>
                </a:solidFill>
                <a:latin typeface="Meiryo UI" pitchFamily="34" charset="0"/>
                <a:ea typeface="Meiryo UI" pitchFamily="34" charset="-122"/>
                <a:cs typeface="Meiryo UI" pitchFamily="34" charset="-120"/>
              </a:rPr>
              <a:t>流れ</a:t>
            </a:r>
            <a:endParaRPr lang="en-US" sz="1100" dirty="0"/>
          </a:p>
          <a:p>
            <a:pPr indent="0" marL="0">
              <a:spcAft>
                <a:spcPts val="700"/>
              </a:spcAft>
              <a:buNone/>
            </a:pPr>
            <a:r>
              <a:rPr lang="en-US" sz="1100" dirty="0">
                <a:solidFill>
                  <a:srgbClr val="2B2B2B"/>
                </a:solidFill>
                <a:latin typeface="Meiryo UI" pitchFamily="34" charset="0"/>
                <a:ea typeface="Meiryo UI" pitchFamily="34" charset="-122"/>
                <a:cs typeface="Meiryo UI" pitchFamily="34" charset="-120"/>
              </a:rPr>
              <a:t>code appで配信カードを開く → エージェントの推奨を確認 → ドラッグで入れ替え、チャットで修正 → 確定時にAirtableのREST APIで書き込む</a:t>
            </a:r>
            <a:endParaRPr lang="en-US" sz="1100" dirty="0"/>
          </a:p>
          <a:p>
            <a:pPr indent="0" marL="0">
              <a:buNone/>
            </a:pPr>
            <a:r>
              <a:rPr lang="en-US" sz="1100" b="1" dirty="0">
                <a:solidFill>
                  <a:srgbClr val="0E9F9A"/>
                </a:solidFill>
                <a:latin typeface="Meiryo UI" pitchFamily="34" charset="0"/>
                <a:ea typeface="Meiryo UI" pitchFamily="34" charset="-122"/>
                <a:cs typeface="Meiryo UI" pitchFamily="34" charset="-120"/>
              </a:rPr>
              <a:t>必要なもの</a:t>
            </a:r>
            <a:endParaRPr lang="en-US" sz="1100" dirty="0"/>
          </a:p>
          <a:p>
            <a:pPr indent="0" marL="0">
              <a:spcAft>
                <a:spcPts val="700"/>
              </a:spcAft>
              <a:buNone/>
            </a:pPr>
            <a:r>
              <a:rPr lang="en-US" sz="1100" dirty="0">
                <a:solidFill>
                  <a:srgbClr val="2B2B2B"/>
                </a:solidFill>
                <a:latin typeface="Meiryo UI" pitchFamily="34" charset="0"/>
                <a:ea typeface="Meiryo UI" pitchFamily="34" charset="-122"/>
                <a:cs typeface="Meiryo UI" pitchFamily="34" charset="-120"/>
              </a:rPr>
              <a:t>Power Apps code apps（利用者全員にPower Apps Premium）、Copilot Studio、Airtable用のカスタムコネクタ</a:t>
            </a:r>
            <a:endParaRPr lang="en-US" sz="1100" dirty="0"/>
          </a:p>
          <a:p>
            <a:pPr indent="0" marL="0">
              <a:buNone/>
            </a:pPr>
            <a:r>
              <a:rPr lang="en-US" sz="1100" b="1" dirty="0">
                <a:solidFill>
                  <a:srgbClr val="0E9F9A"/>
                </a:solidFill>
                <a:latin typeface="Meiryo UI" pitchFamily="34" charset="0"/>
                <a:ea typeface="Meiryo UI" pitchFamily="34" charset="-122"/>
                <a:cs typeface="Meiryo UI" pitchFamily="34" charset="-120"/>
              </a:rPr>
              <a:t>長所</a:t>
            </a:r>
            <a:endParaRPr lang="en-US" sz="1100" dirty="0"/>
          </a:p>
          <a:p>
            <a:pPr indent="0" marL="0">
              <a:spcAft>
                <a:spcPts val="700"/>
              </a:spcAft>
              <a:buNone/>
            </a:pPr>
            <a:r>
              <a:rPr lang="en-US" sz="1100" dirty="0">
                <a:solidFill>
                  <a:srgbClr val="2B2B2B"/>
                </a:solidFill>
                <a:latin typeface="Meiryo UI" pitchFamily="34" charset="0"/>
                <a:ea typeface="Meiryo UI" pitchFamily="34" charset="-122"/>
                <a:cs typeface="Meiryo UI" pitchFamily="34" charset="-120"/>
              </a:rPr>
              <a:t>候補の入れ替え・プレビュー・チャットなど、柔軟な操作ができる</a:t>
            </a:r>
            <a:endParaRPr lang="en-US" sz="1100" dirty="0"/>
          </a:p>
          <a:p>
            <a:pPr indent="0" marL="0">
              <a:buNone/>
            </a:pPr>
            <a:r>
              <a:rPr lang="en-US" sz="1100" b="1" dirty="0">
                <a:solidFill>
                  <a:srgbClr val="0E9F9A"/>
                </a:solidFill>
                <a:latin typeface="Meiryo UI" pitchFamily="34" charset="0"/>
                <a:ea typeface="Meiryo UI" pitchFamily="34" charset="-122"/>
                <a:cs typeface="Meiryo UI" pitchFamily="34" charset="-120"/>
              </a:rPr>
              <a:t>制約・留意点</a:t>
            </a:r>
            <a:endParaRPr lang="en-US" sz="1100" dirty="0"/>
          </a:p>
          <a:p>
            <a:pPr indent="0" marL="0">
              <a:spcAft>
                <a:spcPts val="700"/>
              </a:spcAft>
              <a:buNone/>
            </a:pPr>
            <a:r>
              <a:rPr lang="en-US" sz="1100" dirty="0">
                <a:solidFill>
                  <a:srgbClr val="2B2B2B"/>
                </a:solidFill>
                <a:latin typeface="Meiryo UI" pitchFamily="34" charset="0"/>
                <a:ea typeface="Meiryo UI" pitchFamily="34" charset="-122"/>
                <a:cs typeface="Meiryo UI" pitchFamily="34" charset="-120"/>
              </a:rPr>
              <a:t>開発・保守の負担が最も大きい。Airtableを使い続けたまま画面だけを別に持つ構成になる（データもDataverseに移す案は、別資料「構成の選択肢」のA7を参照）</a:t>
            </a:r>
            <a:endParaRPr lang="en-US" sz="1100" dirty="0"/>
          </a:p>
        </p:txBody>
      </p:sp>
      <p:sp>
        <p:nvSpPr>
          <p:cNvPr id="27" name="Shape 20"/>
          <p:cNvSpPr/>
          <p:nvPr/>
        </p:nvSpPr>
        <p:spPr>
          <a:xfrm>
            <a:off x="6172200" y="1371600"/>
            <a:ext cx="5440680" cy="4983480"/>
          </a:xfrm>
          <a:prstGeom prst="roundRect">
            <a:avLst>
              <a:gd name="adj" fmla="val 917"/>
            </a:avLst>
          </a:prstGeom>
          <a:solidFill>
            <a:srgbClr val="F3F5F8"/>
          </a:solidFill>
          <a:ln/>
        </p:spPr>
      </p:sp>
      <p:sp>
        <p:nvSpPr>
          <p:cNvPr id="28" name="Shape 21"/>
          <p:cNvSpPr/>
          <p:nvPr/>
        </p:nvSpPr>
        <p:spPr>
          <a:xfrm>
            <a:off x="6281928" y="1481328"/>
            <a:ext cx="457200" cy="457200"/>
          </a:xfrm>
          <a:prstGeom prst="ellipse">
            <a:avLst/>
          </a:prstGeom>
          <a:solidFill>
            <a:srgbClr val="0E9F9A"/>
          </a:solidFill>
          <a:ln/>
        </p:spPr>
      </p:sp>
      <p:sp>
        <p:nvSpPr>
          <p:cNvPr id="29" name="Text 22"/>
          <p:cNvSpPr txBox="1"/>
          <p:nvPr/>
        </p:nvSpPr>
        <p:spPr>
          <a:xfrm>
            <a:off x="6281928" y="1481328"/>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P17</a:t>
            </a:r>
            <a:endParaRPr lang="en-US" sz="1100" dirty="0"/>
          </a:p>
        </p:txBody>
      </p:sp>
      <p:sp>
        <p:nvSpPr>
          <p:cNvPr id="30" name="Text 23"/>
          <p:cNvSpPr txBox="1"/>
          <p:nvPr/>
        </p:nvSpPr>
        <p:spPr>
          <a:xfrm>
            <a:off x="6812280" y="1426464"/>
            <a:ext cx="4709160" cy="512064"/>
          </a:xfrm>
          <a:prstGeom prst="rect">
            <a:avLst/>
          </a:prstGeom>
          <a:noFill/>
          <a:ln/>
        </p:spPr>
        <p:txBody>
          <a:bodyPr wrap="square" lIns="0" tIns="0" rIns="0" bIns="0" rtlCol="0" anchor="ctr"/>
          <a:lstStyle/>
          <a:p>
            <a:pPr indent="0" marL="0">
              <a:buNone/>
            </a:pPr>
            <a:r>
              <a:rPr lang="en-US" sz="1200" b="1" dirty="0">
                <a:solidFill>
                  <a:srgbClr val="1B2A49"/>
                </a:solidFill>
                <a:latin typeface="Meiryo UI" pitchFamily="34" charset="0"/>
                <a:ea typeface="Meiryo UI" pitchFamily="34" charset="-122"/>
                <a:cs typeface="Meiryo UI" pitchFamily="34" charset="-120"/>
              </a:rPr>
              <a:t>Airtableの画面内に、拡張機能で修正用のパネルを組み込む</a:t>
            </a:r>
            <a:endParaRPr lang="en-US" sz="1200" dirty="0"/>
          </a:p>
        </p:txBody>
      </p:sp>
      <p:sp>
        <p:nvSpPr>
          <p:cNvPr id="31" name="Text 24"/>
          <p:cNvSpPr txBox="1"/>
          <p:nvPr/>
        </p:nvSpPr>
        <p:spPr>
          <a:xfrm>
            <a:off x="6812280" y="1938528"/>
            <a:ext cx="4709160" cy="219456"/>
          </a:xfrm>
          <a:prstGeom prst="rect">
            <a:avLst/>
          </a:prstGeom>
          <a:noFill/>
          <a:ln/>
        </p:spPr>
        <p:txBody>
          <a:bodyPr wrap="square" lIns="0" tIns="0" rIns="0" bIns="0" rtlCol="0" anchor="ctr"/>
          <a:lstStyle/>
          <a:p>
            <a:pPr indent="0" marL="0">
              <a:buNone/>
            </a:pPr>
            <a:r>
              <a:rPr lang="en-US" sz="850" dirty="0">
                <a:solidFill>
                  <a:srgbClr val="6B7280"/>
                </a:solidFill>
                <a:latin typeface="Meiryo UI" pitchFamily="34" charset="0"/>
                <a:ea typeface="Meiryo UI" pitchFamily="34" charset="-122"/>
                <a:cs typeface="Meiryo UI" pitchFamily="34" charset="-120"/>
              </a:rPr>
              <a:t>レベル5：修正ループ　難易度 </a:t>
            </a:r>
            <a:pPr indent="0" marL="0">
              <a:buNone/>
            </a:pPr>
            <a:r>
              <a:rPr lang="en-US" sz="850" b="1" dirty="0">
                <a:solidFill>
                  <a:srgbClr val="E8912D"/>
                </a:solidFill>
                <a:latin typeface="Meiryo UI" pitchFamily="34" charset="0"/>
                <a:ea typeface="Meiryo UI" pitchFamily="34" charset="-122"/>
                <a:cs typeface="Meiryo UI" pitchFamily="34" charset="-120"/>
              </a:rPr>
              <a:t>★★★★</a:t>
            </a:r>
            <a:endParaRPr lang="en-US" sz="850" dirty="0"/>
          </a:p>
        </p:txBody>
      </p:sp>
      <p:sp>
        <p:nvSpPr>
          <p:cNvPr id="32" name="Shape 25"/>
          <p:cNvSpPr/>
          <p:nvPr/>
        </p:nvSpPr>
        <p:spPr>
          <a:xfrm>
            <a:off x="6281928" y="2231136"/>
            <a:ext cx="5221224" cy="868680"/>
          </a:xfrm>
          <a:prstGeom prst="roundRect">
            <a:avLst>
              <a:gd name="adj" fmla="val 5263"/>
            </a:avLst>
          </a:prstGeom>
          <a:solidFill>
            <a:srgbClr val="FFFFFF"/>
          </a:solidFill>
          <a:ln w="12700">
            <a:solidFill>
              <a:srgbClr val="D5DBE3"/>
            </a:solidFill>
            <a:prstDash val="solid"/>
          </a:ln>
        </p:spPr>
      </p:sp>
      <p:pic>
        <p:nvPicPr>
          <p:cNvPr id="33" name="Image 5" descr="preencoded.png">    </p:cNvPr>
          <p:cNvPicPr>
            <a:picLocks noChangeAspect="1"/>
          </p:cNvPicPr>
          <p:nvPr/>
        </p:nvPicPr>
        <p:blipFill>
          <a:blip r:embed="rId6"/>
          <a:stretch>
            <a:fillRect/>
          </a:stretch>
        </p:blipFill>
        <p:spPr>
          <a:xfrm>
            <a:off x="6670548" y="2304288"/>
            <a:ext cx="310896" cy="310896"/>
          </a:xfrm>
          <a:prstGeom prst="rect">
            <a:avLst/>
          </a:prstGeom>
        </p:spPr>
      </p:pic>
      <p:sp>
        <p:nvSpPr>
          <p:cNvPr id="34" name="Text 26"/>
          <p:cNvSpPr txBox="1"/>
          <p:nvPr/>
        </p:nvSpPr>
        <p:spPr>
          <a:xfrm>
            <a:off x="6336792" y="2642616"/>
            <a:ext cx="978408" cy="402336"/>
          </a:xfrm>
          <a:prstGeom prst="rect">
            <a:avLst/>
          </a:prstGeom>
          <a:noFill/>
          <a:ln/>
        </p:spPr>
        <p:txBody>
          <a:bodyPr wrap="square" lIns="0" tIns="0" rIns="0" bIns="0" rtlCol="0" anchor="t"/>
          <a:lstStyle/>
          <a:p>
            <a:pPr algn="ctr" indent="0" marL="0">
              <a:buNone/>
            </a:pPr>
            <a:r>
              <a:rPr lang="en-US" sz="650" b="1" dirty="0">
                <a:solidFill>
                  <a:srgbClr val="6B7280"/>
                </a:solidFill>
                <a:latin typeface="Meiryo UI" pitchFamily="34" charset="0"/>
                <a:ea typeface="Meiryo UI" pitchFamily="34" charset="-122"/>
                <a:cs typeface="Meiryo UI" pitchFamily="34" charset="-120"/>
              </a:rPr>
              <a:t>Airtable</a:t>
            </a:r>
            <a:endParaRPr lang="en-US" sz="650" dirty="0"/>
          </a:p>
          <a:p>
            <a:pPr algn="ctr" indent="0" marL="0">
              <a:buNone/>
            </a:pPr>
            <a:r>
              <a:rPr lang="en-US" sz="600" dirty="0">
                <a:solidFill>
                  <a:srgbClr val="8C95A3"/>
                </a:solidFill>
                <a:latin typeface="Meiryo UI" pitchFamily="34" charset="0"/>
                <a:ea typeface="Meiryo UI" pitchFamily="34" charset="-122"/>
                <a:cs typeface="Meiryo UI" pitchFamily="34" charset="-120"/>
              </a:rPr>
              <a:t>インターフェース</a:t>
            </a:r>
            <a:endParaRPr lang="en-US" sz="650" dirty="0"/>
          </a:p>
        </p:txBody>
      </p:sp>
      <p:sp>
        <p:nvSpPr>
          <p:cNvPr id="35" name="Shape 27"/>
          <p:cNvSpPr/>
          <p:nvPr/>
        </p:nvSpPr>
        <p:spPr>
          <a:xfrm>
            <a:off x="7054596" y="2459736"/>
            <a:ext cx="576072" cy="0"/>
          </a:xfrm>
          <a:prstGeom prst="line">
            <a:avLst/>
          </a:prstGeom>
          <a:noFill/>
          <a:ln w="15875">
            <a:solidFill>
              <a:srgbClr val="1B2A49"/>
            </a:solidFill>
            <a:prstDash val="solid"/>
            <a:tailEnd type="triangle"/>
          </a:ln>
        </p:spPr>
      </p:sp>
      <p:pic>
        <p:nvPicPr>
          <p:cNvPr id="36" name="Image 6" descr="preencoded.png">    </p:cNvPr>
          <p:cNvPicPr>
            <a:picLocks noChangeAspect="1"/>
          </p:cNvPicPr>
          <p:nvPr/>
        </p:nvPicPr>
        <p:blipFill>
          <a:blip r:embed="rId7"/>
          <a:stretch>
            <a:fillRect/>
          </a:stretch>
        </p:blipFill>
        <p:spPr>
          <a:xfrm>
            <a:off x="7703820" y="2304288"/>
            <a:ext cx="310896" cy="310896"/>
          </a:xfrm>
          <a:prstGeom prst="rect">
            <a:avLst/>
          </a:prstGeom>
        </p:spPr>
      </p:pic>
      <p:sp>
        <p:nvSpPr>
          <p:cNvPr id="37" name="Text 28"/>
          <p:cNvSpPr txBox="1"/>
          <p:nvPr/>
        </p:nvSpPr>
        <p:spPr>
          <a:xfrm>
            <a:off x="7370064" y="2642616"/>
            <a:ext cx="978408" cy="402336"/>
          </a:xfrm>
          <a:prstGeom prst="rect">
            <a:avLst/>
          </a:prstGeom>
          <a:noFill/>
          <a:ln/>
        </p:spPr>
        <p:txBody>
          <a:bodyPr wrap="square" lIns="0" tIns="0" rIns="0" bIns="0" rtlCol="0" anchor="t"/>
          <a:lstStyle/>
          <a:p>
            <a:pPr algn="ctr" indent="0" marL="0">
              <a:buNone/>
            </a:pPr>
            <a:r>
              <a:rPr lang="en-US" sz="650" b="1" dirty="0">
                <a:solidFill>
                  <a:srgbClr val="6B7280"/>
                </a:solidFill>
                <a:latin typeface="Meiryo UI" pitchFamily="34" charset="0"/>
                <a:ea typeface="Meiryo UI" pitchFamily="34" charset="-122"/>
                <a:cs typeface="Meiryo UI" pitchFamily="34" charset="-120"/>
              </a:rPr>
              <a:t>拡張機能</a:t>
            </a:r>
            <a:endParaRPr lang="en-US" sz="650" dirty="0"/>
          </a:p>
          <a:p>
            <a:pPr algn="ctr" indent="0" marL="0">
              <a:buNone/>
            </a:pPr>
            <a:r>
              <a:rPr lang="en-US" sz="600" dirty="0">
                <a:solidFill>
                  <a:srgbClr val="8C95A3"/>
                </a:solidFill>
                <a:latin typeface="Meiryo UI" pitchFamily="34" charset="0"/>
                <a:ea typeface="Meiryo UI" pitchFamily="34" charset="-122"/>
                <a:cs typeface="Meiryo UI" pitchFamily="34" charset="-120"/>
              </a:rPr>
              <a:t>修正パネル</a:t>
            </a:r>
            <a:endParaRPr lang="en-US" sz="650" dirty="0"/>
          </a:p>
        </p:txBody>
      </p:sp>
      <p:sp>
        <p:nvSpPr>
          <p:cNvPr id="38" name="Shape 29"/>
          <p:cNvSpPr/>
          <p:nvPr/>
        </p:nvSpPr>
        <p:spPr>
          <a:xfrm>
            <a:off x="8087868" y="2459736"/>
            <a:ext cx="576072" cy="0"/>
          </a:xfrm>
          <a:prstGeom prst="line">
            <a:avLst/>
          </a:prstGeom>
          <a:noFill/>
          <a:ln w="15875">
            <a:solidFill>
              <a:srgbClr val="1B2A49"/>
            </a:solidFill>
            <a:prstDash val="solid"/>
            <a:tailEnd type="triangle"/>
          </a:ln>
        </p:spPr>
      </p:sp>
      <p:pic>
        <p:nvPicPr>
          <p:cNvPr id="39" name="Image 7" descr="preencoded.png">    </p:cNvPr>
          <p:cNvPicPr>
            <a:picLocks noChangeAspect="1"/>
          </p:cNvPicPr>
          <p:nvPr/>
        </p:nvPicPr>
        <p:blipFill>
          <a:blip r:embed="rId8"/>
          <a:stretch>
            <a:fillRect/>
          </a:stretch>
        </p:blipFill>
        <p:spPr>
          <a:xfrm>
            <a:off x="8737092" y="2304288"/>
            <a:ext cx="310896" cy="310896"/>
          </a:xfrm>
          <a:prstGeom prst="rect">
            <a:avLst/>
          </a:prstGeom>
        </p:spPr>
      </p:pic>
      <p:sp>
        <p:nvSpPr>
          <p:cNvPr id="40" name="Text 30"/>
          <p:cNvSpPr txBox="1"/>
          <p:nvPr/>
        </p:nvSpPr>
        <p:spPr>
          <a:xfrm>
            <a:off x="8403336" y="2642616"/>
            <a:ext cx="978408" cy="402336"/>
          </a:xfrm>
          <a:prstGeom prst="rect">
            <a:avLst/>
          </a:prstGeom>
          <a:noFill/>
          <a:ln/>
        </p:spPr>
        <p:txBody>
          <a:bodyPr wrap="square" lIns="0" tIns="0" rIns="0" bIns="0" rtlCol="0" anchor="t"/>
          <a:lstStyle/>
          <a:p>
            <a:pPr algn="ctr" indent="0" marL="0">
              <a:buNone/>
            </a:pPr>
            <a:r>
              <a:rPr lang="en-US" sz="650" b="1" dirty="0">
                <a:solidFill>
                  <a:srgbClr val="6B7280"/>
                </a:solidFill>
                <a:latin typeface="Meiryo UI" pitchFamily="34" charset="0"/>
                <a:ea typeface="Meiryo UI" pitchFamily="34" charset="-122"/>
                <a:cs typeface="Meiryo UI" pitchFamily="34" charset="-120"/>
              </a:rPr>
              <a:t>Power Automate</a:t>
            </a:r>
            <a:endParaRPr lang="en-US" sz="650" dirty="0"/>
          </a:p>
          <a:p>
            <a:pPr algn="ctr" indent="0" marL="0">
              <a:buNone/>
            </a:pPr>
            <a:r>
              <a:rPr lang="en-US" sz="600" dirty="0">
                <a:solidFill>
                  <a:srgbClr val="8C95A3"/>
                </a:solidFill>
                <a:latin typeface="Meiryo UI" pitchFamily="34" charset="0"/>
                <a:ea typeface="Meiryo UI" pitchFamily="34" charset="-122"/>
                <a:cs typeface="Meiryo UI" pitchFamily="34" charset="-120"/>
              </a:rPr>
              <a:t>HTTPトリガー</a:t>
            </a:r>
            <a:endParaRPr lang="en-US" sz="650" dirty="0"/>
          </a:p>
        </p:txBody>
      </p:sp>
      <p:sp>
        <p:nvSpPr>
          <p:cNvPr id="41" name="Shape 31"/>
          <p:cNvSpPr/>
          <p:nvPr/>
        </p:nvSpPr>
        <p:spPr>
          <a:xfrm>
            <a:off x="9121140" y="2459736"/>
            <a:ext cx="576072" cy="0"/>
          </a:xfrm>
          <a:prstGeom prst="line">
            <a:avLst/>
          </a:prstGeom>
          <a:noFill/>
          <a:ln w="15875">
            <a:solidFill>
              <a:srgbClr val="1B2A49"/>
            </a:solidFill>
            <a:prstDash val="solid"/>
            <a:tailEnd type="triangle"/>
          </a:ln>
        </p:spPr>
      </p:sp>
      <p:pic>
        <p:nvPicPr>
          <p:cNvPr id="42" name="Image 8" descr="preencoded.png">    </p:cNvPr>
          <p:cNvPicPr>
            <a:picLocks noChangeAspect="1"/>
          </p:cNvPicPr>
          <p:nvPr/>
        </p:nvPicPr>
        <p:blipFill>
          <a:blip r:embed="rId9"/>
          <a:stretch>
            <a:fillRect/>
          </a:stretch>
        </p:blipFill>
        <p:spPr>
          <a:xfrm>
            <a:off x="9770364" y="2304288"/>
            <a:ext cx="310896" cy="310896"/>
          </a:xfrm>
          <a:prstGeom prst="rect">
            <a:avLst/>
          </a:prstGeom>
        </p:spPr>
      </p:pic>
      <p:sp>
        <p:nvSpPr>
          <p:cNvPr id="43" name="Text 32"/>
          <p:cNvSpPr txBox="1"/>
          <p:nvPr/>
        </p:nvSpPr>
        <p:spPr>
          <a:xfrm>
            <a:off x="9436608" y="2642616"/>
            <a:ext cx="978408" cy="402336"/>
          </a:xfrm>
          <a:prstGeom prst="rect">
            <a:avLst/>
          </a:prstGeom>
          <a:noFill/>
          <a:ln/>
        </p:spPr>
        <p:txBody>
          <a:bodyPr wrap="square" lIns="0" tIns="0" rIns="0" bIns="0" rtlCol="0" anchor="t"/>
          <a:lstStyle/>
          <a:p>
            <a:pPr algn="ctr" indent="0" marL="0">
              <a:buNone/>
            </a:pPr>
            <a:r>
              <a:rPr lang="en-US" sz="650" b="1" dirty="0">
                <a:solidFill>
                  <a:srgbClr val="6B7280"/>
                </a:solidFill>
                <a:latin typeface="Meiryo UI" pitchFamily="34" charset="0"/>
                <a:ea typeface="Meiryo UI" pitchFamily="34" charset="-122"/>
                <a:cs typeface="Meiryo UI" pitchFamily="34" charset="-120"/>
              </a:rPr>
              <a:t>Copilot Studio</a:t>
            </a:r>
            <a:endParaRPr lang="en-US" sz="650" dirty="0"/>
          </a:p>
          <a:p>
            <a:pPr algn="ctr" indent="0" marL="0">
              <a:buNone/>
            </a:pPr>
            <a:r>
              <a:rPr lang="en-US" sz="600" dirty="0">
                <a:solidFill>
                  <a:srgbClr val="8C95A3"/>
                </a:solidFill>
                <a:latin typeface="Meiryo UI" pitchFamily="34" charset="0"/>
                <a:ea typeface="Meiryo UI" pitchFamily="34" charset="-122"/>
                <a:cs typeface="Meiryo UI" pitchFamily="34" charset="-120"/>
              </a:rPr>
              <a:t>再推論</a:t>
            </a:r>
            <a:endParaRPr lang="en-US" sz="650" dirty="0"/>
          </a:p>
        </p:txBody>
      </p:sp>
      <p:sp>
        <p:nvSpPr>
          <p:cNvPr id="44" name="Shape 33"/>
          <p:cNvSpPr/>
          <p:nvPr/>
        </p:nvSpPr>
        <p:spPr>
          <a:xfrm>
            <a:off x="10154412" y="2459736"/>
            <a:ext cx="576072" cy="0"/>
          </a:xfrm>
          <a:prstGeom prst="line">
            <a:avLst/>
          </a:prstGeom>
          <a:noFill/>
          <a:ln w="15875">
            <a:solidFill>
              <a:srgbClr val="1B2A49"/>
            </a:solidFill>
            <a:prstDash val="solid"/>
            <a:tailEnd type="triangle"/>
          </a:ln>
        </p:spPr>
      </p:sp>
      <p:pic>
        <p:nvPicPr>
          <p:cNvPr id="45" name="Image 9" descr="preencoded.png">    </p:cNvPr>
          <p:cNvPicPr>
            <a:picLocks noChangeAspect="1"/>
          </p:cNvPicPr>
          <p:nvPr/>
        </p:nvPicPr>
        <p:blipFill>
          <a:blip r:embed="rId10"/>
          <a:stretch>
            <a:fillRect/>
          </a:stretch>
        </p:blipFill>
        <p:spPr>
          <a:xfrm>
            <a:off x="10803636" y="2304288"/>
            <a:ext cx="310896" cy="310896"/>
          </a:xfrm>
          <a:prstGeom prst="rect">
            <a:avLst/>
          </a:prstGeom>
        </p:spPr>
      </p:pic>
      <p:sp>
        <p:nvSpPr>
          <p:cNvPr id="46" name="Text 34"/>
          <p:cNvSpPr txBox="1"/>
          <p:nvPr/>
        </p:nvSpPr>
        <p:spPr>
          <a:xfrm>
            <a:off x="10469880" y="2642616"/>
            <a:ext cx="978408" cy="402336"/>
          </a:xfrm>
          <a:prstGeom prst="rect">
            <a:avLst/>
          </a:prstGeom>
          <a:noFill/>
          <a:ln/>
        </p:spPr>
        <p:txBody>
          <a:bodyPr wrap="square" lIns="0" tIns="0" rIns="0" bIns="0" rtlCol="0" anchor="t"/>
          <a:lstStyle/>
          <a:p>
            <a:pPr algn="ctr" indent="0" marL="0">
              <a:buNone/>
            </a:pPr>
            <a:r>
              <a:rPr lang="en-US" sz="650" b="1" dirty="0">
                <a:solidFill>
                  <a:srgbClr val="6B7280"/>
                </a:solidFill>
                <a:latin typeface="Meiryo UI" pitchFamily="34" charset="0"/>
                <a:ea typeface="Meiryo UI" pitchFamily="34" charset="-122"/>
                <a:cs typeface="Meiryo UI" pitchFamily="34" charset="-120"/>
              </a:rPr>
              <a:t>Airtable</a:t>
            </a:r>
            <a:endParaRPr lang="en-US" sz="650" dirty="0"/>
          </a:p>
          <a:p>
            <a:pPr algn="ctr" indent="0" marL="0">
              <a:buNone/>
            </a:pPr>
            <a:r>
              <a:rPr lang="en-US" sz="600" dirty="0">
                <a:solidFill>
                  <a:srgbClr val="8C95A3"/>
                </a:solidFill>
                <a:latin typeface="Meiryo UI" pitchFamily="34" charset="0"/>
                <a:ea typeface="Meiryo UI" pitchFamily="34" charset="-122"/>
                <a:cs typeface="Meiryo UI" pitchFamily="34" charset="-120"/>
              </a:rPr>
              <a:t>確定欄に反映</a:t>
            </a:r>
            <a:endParaRPr lang="en-US" sz="650" dirty="0"/>
          </a:p>
        </p:txBody>
      </p:sp>
      <p:sp>
        <p:nvSpPr>
          <p:cNvPr id="47" name="Text 35"/>
          <p:cNvSpPr txBox="1"/>
          <p:nvPr/>
        </p:nvSpPr>
        <p:spPr>
          <a:xfrm>
            <a:off x="6309360" y="3200400"/>
            <a:ext cx="5166360" cy="3081528"/>
          </a:xfrm>
          <a:prstGeom prst="rect">
            <a:avLst/>
          </a:prstGeom>
          <a:noFill/>
          <a:ln/>
        </p:spPr>
        <p:txBody>
          <a:bodyPr wrap="square" lIns="254" tIns="254" rIns="254" bIns="254" rtlCol="0" anchor="t"/>
          <a:lstStyle/>
          <a:p>
            <a:pPr indent="0" marL="0">
              <a:buNone/>
            </a:pPr>
            <a:r>
              <a:rPr lang="en-US" sz="1100" b="1" dirty="0">
                <a:solidFill>
                  <a:srgbClr val="0E9F9A"/>
                </a:solidFill>
                <a:latin typeface="Meiryo UI" pitchFamily="34" charset="0"/>
                <a:ea typeface="Meiryo UI" pitchFamily="34" charset="-122"/>
                <a:cs typeface="Meiryo UI" pitchFamily="34" charset="-120"/>
              </a:rPr>
              <a:t>流れ</a:t>
            </a:r>
            <a:endParaRPr lang="en-US" sz="1100" dirty="0"/>
          </a:p>
          <a:p>
            <a:pPr indent="0" marL="0">
              <a:spcAft>
                <a:spcPts val="700"/>
              </a:spcAft>
              <a:buNone/>
            </a:pPr>
            <a:r>
              <a:rPr lang="en-US" sz="1100" dirty="0">
                <a:solidFill>
                  <a:srgbClr val="2B2B2B"/>
                </a:solidFill>
                <a:latin typeface="Meiryo UI" pitchFamily="34" charset="0"/>
                <a:ea typeface="Meiryo UI" pitchFamily="34" charset="-122"/>
                <a:cs typeface="Meiryo UI" pitchFamily="34" charset="-120"/>
              </a:rPr>
              <a:t>Airtableのインターフェースでカードを開く → 同じ画面内の拡張機能（React）で、修正したい項目を選び、指示を入力 → 拡張機能がPower Automate経由でエージェントを呼ぶ → 返ってきた下書きをパネル上で確認 → 必要に応じて再指示 → 確定ボタンで確定欄に反映</a:t>
            </a:r>
            <a:endParaRPr lang="en-US" sz="1100" dirty="0"/>
          </a:p>
          <a:p>
            <a:pPr indent="0" marL="0">
              <a:buNone/>
            </a:pPr>
            <a:r>
              <a:rPr lang="en-US" sz="1100" b="1" dirty="0">
                <a:solidFill>
                  <a:srgbClr val="0E9F9A"/>
                </a:solidFill>
                <a:latin typeface="Meiryo UI" pitchFamily="34" charset="0"/>
                <a:ea typeface="Meiryo UI" pitchFamily="34" charset="-122"/>
                <a:cs typeface="Meiryo UI" pitchFamily="34" charset="-120"/>
              </a:rPr>
              <a:t>必要なもの</a:t>
            </a:r>
            <a:endParaRPr lang="en-US" sz="1100" dirty="0"/>
          </a:p>
          <a:p>
            <a:pPr indent="0" marL="0">
              <a:spcAft>
                <a:spcPts val="700"/>
              </a:spcAft>
              <a:buNone/>
            </a:pPr>
            <a:r>
              <a:rPr lang="en-US" sz="1100" dirty="0">
                <a:solidFill>
                  <a:srgbClr val="2B2B2B"/>
                </a:solidFill>
                <a:latin typeface="Meiryo UI" pitchFamily="34" charset="0"/>
                <a:ea typeface="Meiryo UI" pitchFamily="34" charset="-122"/>
                <a:cs typeface="Meiryo UI" pitchFamily="34" charset="-120"/>
              </a:rPr>
              <a:t>AirtableのInterface Extensions SDK（2026年9月時点ではオープンベータ）、Power Automate Premium、Copilot Studio</a:t>
            </a:r>
            <a:endParaRPr lang="en-US" sz="1100" dirty="0"/>
          </a:p>
          <a:p>
            <a:pPr indent="0" marL="0">
              <a:buNone/>
            </a:pPr>
            <a:r>
              <a:rPr lang="en-US" sz="1100" b="1" dirty="0">
                <a:solidFill>
                  <a:srgbClr val="0E9F9A"/>
                </a:solidFill>
                <a:latin typeface="Meiryo UI" pitchFamily="34" charset="0"/>
                <a:ea typeface="Meiryo UI" pitchFamily="34" charset="-122"/>
                <a:cs typeface="Meiryo UI" pitchFamily="34" charset="-120"/>
              </a:rPr>
              <a:t>長所</a:t>
            </a:r>
            <a:endParaRPr lang="en-US" sz="1100" dirty="0"/>
          </a:p>
          <a:p>
            <a:pPr indent="0" marL="0">
              <a:spcAft>
                <a:spcPts val="700"/>
              </a:spcAft>
              <a:buNone/>
            </a:pPr>
            <a:r>
              <a:rPr lang="en-US" sz="1100" dirty="0">
                <a:solidFill>
                  <a:srgbClr val="2B2B2B"/>
                </a:solidFill>
                <a:latin typeface="Meiryo UI" pitchFamily="34" charset="0"/>
                <a:ea typeface="Meiryo UI" pitchFamily="34" charset="-122"/>
                <a:cs typeface="Meiryo UI" pitchFamily="34" charset="-120"/>
              </a:rPr>
              <a:t>Airtableの画面から離れずに、対話的に修正できる</a:t>
            </a:r>
            <a:endParaRPr lang="en-US" sz="1100" dirty="0"/>
          </a:p>
          <a:p>
            <a:pPr indent="0" marL="0">
              <a:buNone/>
            </a:pPr>
            <a:r>
              <a:rPr lang="en-US" sz="1100" b="1" dirty="0">
                <a:solidFill>
                  <a:srgbClr val="0E9F9A"/>
                </a:solidFill>
                <a:latin typeface="Meiryo UI" pitchFamily="34" charset="0"/>
                <a:ea typeface="Meiryo UI" pitchFamily="34" charset="-122"/>
                <a:cs typeface="Meiryo UI" pitchFamily="34" charset="-120"/>
              </a:rPr>
              <a:t>制約・留意点</a:t>
            </a:r>
            <a:endParaRPr lang="en-US" sz="1100" dirty="0"/>
          </a:p>
          <a:p>
            <a:pPr indent="0" marL="0">
              <a:spcAft>
                <a:spcPts val="700"/>
              </a:spcAft>
              <a:buNone/>
            </a:pPr>
            <a:r>
              <a:rPr lang="en-US" sz="1100" dirty="0">
                <a:solidFill>
                  <a:srgbClr val="2B2B2B"/>
                </a:solidFill>
                <a:latin typeface="Meiryo UI" pitchFamily="34" charset="0"/>
                <a:ea typeface="Meiryo UI" pitchFamily="34" charset="-122"/>
                <a:cs typeface="Meiryo UI" pitchFamily="34" charset="-120"/>
              </a:rPr>
              <a:t>SDKがベータ版であること。拡張機能から社内のPower Automateを呼ぶため、P9と同じくHTTPトリガーの公開範囲と認証の論点がある。ブラウザから外部を呼ぶ際の制約（CORSなど）の検証が必要</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修正指示のUI（Airtableを作業の起点にする場合）</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Airtableで修正箇所を選ぶ → その画面上か、遷移した画面で指示 → 確認・再指示 → 確定してAirtableに戻る、を実現する方法</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 修正指示のUI</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22</a:t>
            </a:r>
            <a:endParaRPr lang="en-US" sz="9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502920"/>
                <a:gridCol w="3566160"/>
                <a:gridCol w="1463040"/>
                <a:gridCol w="1600200"/>
                <a:gridCol w="640080"/>
                <a:gridCol w="2377440"/>
                <a:gridCol w="914400"/>
              </a:tblGrid>
              <a:tr h="384048">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方法</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画面</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対話のしやすさ</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実装量</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主な制約</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パターン</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r>
              <a:tr h="868680">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U1</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9F9A"/>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Airtableのインターフェースで完結：カード詳細に「修正指示」欄と「再生成」ボタン（ボタンからオートメーションを実行）を置く</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Airtable（同じ画面）</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低い（1往復ずつ。結果は数十秒後に反映）</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小</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チャットのような連続したやり取りには向かない。反映まで待つ必要がある</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P9＋P14</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868680">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U2</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9F9A"/>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Airtableの画面内に拡張機能で修正パネルを組み込む</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Airtable（同じ画面）</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高い</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大</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SDKがベータ版。HTTPトリガーの公開範囲と認証の論点</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P17</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868680">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U3a</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9F9A"/>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Airtableのボタンから、エージェントのチャット画面を別タブで開く → チャットで修正・確認 → 確定の指示でエージェントがフローを呼び、Airtableに書き込む</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エージェントのチャット画面（別タブ）</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中〜高（文字のやり取りのみ）</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中</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カードIDの自動受け渡しは公開先によるため要検証。候補の一覧表示やドラッグでの入れ替えはできない</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P5・P6の応用</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868680">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U3b</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9F9A"/>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Airtableのボタンから、カードIDつきで専用画面（code appsなど）を別タブで開く → チャット・候補の入れ替え・プレビューで修正・確認 → 確定ボタンでAirtableに書き込む</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専用画面（別タブ）</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高い（チャット、候補の入れ替え、プレビューも可能）</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大</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画面が2つになる。専用画面の開発・保守が必要。code appsの場合は利用者全員にPower Apps Premium</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P16</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868680">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U4</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9F9A"/>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Teamsで確認・修正指示</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Teams</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中（簡単な指示向き）</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中</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作業の起点（Airtable）から離れる</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P15</a:t>
                      </a:r>
                      <a:endParaRPr lang="en-US" sz="95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U3の2つの作り方：チャット画面をそのまま使うか、専用画面を作るか</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どちらもAirtableのボタンは外部URLを開くだけ。書き込みはフローやコネクタ経由で行う</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 修正指示のUI</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23</a:t>
            </a:r>
            <a:endParaRPr lang="en-US" sz="900" dirty="0"/>
          </a:p>
        </p:txBody>
      </p:sp>
      <p:sp>
        <p:nvSpPr>
          <p:cNvPr id="6" name="Shape 4"/>
          <p:cNvSpPr/>
          <p:nvPr/>
        </p:nvSpPr>
        <p:spPr>
          <a:xfrm>
            <a:off x="548640" y="1371600"/>
            <a:ext cx="5440680" cy="4983480"/>
          </a:xfrm>
          <a:prstGeom prst="roundRect">
            <a:avLst>
              <a:gd name="adj" fmla="val 1101"/>
            </a:avLst>
          </a:prstGeom>
          <a:solidFill>
            <a:srgbClr val="D9F2F1"/>
          </a:solidFill>
          <a:ln/>
        </p:spPr>
      </p:sp>
      <p:sp>
        <p:nvSpPr>
          <p:cNvPr id="7" name="Shape 5"/>
          <p:cNvSpPr/>
          <p:nvPr/>
        </p:nvSpPr>
        <p:spPr>
          <a:xfrm>
            <a:off x="731520" y="1481328"/>
            <a:ext cx="731520" cy="310896"/>
          </a:xfrm>
          <a:prstGeom prst="roundRect">
            <a:avLst>
              <a:gd name="adj" fmla="val 50000"/>
            </a:avLst>
          </a:prstGeom>
          <a:solidFill>
            <a:srgbClr val="1B2A49"/>
          </a:solidFill>
          <a:ln/>
        </p:spPr>
      </p:sp>
      <p:sp>
        <p:nvSpPr>
          <p:cNvPr id="8" name="Text 6"/>
          <p:cNvSpPr txBox="1"/>
          <p:nvPr/>
        </p:nvSpPr>
        <p:spPr>
          <a:xfrm>
            <a:off x="731520" y="1481328"/>
            <a:ext cx="731520" cy="310896"/>
          </a:xfrm>
          <a:prstGeom prst="rect">
            <a:avLst/>
          </a:prstGeom>
          <a:noFill/>
          <a:ln/>
        </p:spPr>
        <p:txBody>
          <a:bodyPr wrap="square" lIns="762" tIns="762" rIns="762" bIns="762" rtlCol="0" anchor="ctr"/>
          <a:lstStyle/>
          <a:p>
            <a:pPr algn="ctr" indent="0" marL="0">
              <a:buNone/>
            </a:pPr>
            <a:r>
              <a:rPr lang="en-US" sz="1050" b="1" dirty="0">
                <a:solidFill>
                  <a:srgbClr val="FFFFFF"/>
                </a:solidFill>
                <a:latin typeface="Meiryo UI" pitchFamily="34" charset="0"/>
                <a:ea typeface="Meiryo UI" pitchFamily="34" charset="-122"/>
                <a:cs typeface="Meiryo UI" pitchFamily="34" charset="-120"/>
              </a:rPr>
              <a:t>U3a</a:t>
            </a:r>
            <a:endParaRPr lang="en-US" sz="1050" dirty="0"/>
          </a:p>
        </p:txBody>
      </p:sp>
      <p:sp>
        <p:nvSpPr>
          <p:cNvPr id="9" name="Text 7"/>
          <p:cNvSpPr txBox="1"/>
          <p:nvPr/>
        </p:nvSpPr>
        <p:spPr>
          <a:xfrm>
            <a:off x="1572768" y="1463040"/>
            <a:ext cx="4297680" cy="365760"/>
          </a:xfrm>
          <a:prstGeom prst="rect">
            <a:avLst/>
          </a:prstGeom>
          <a:noFill/>
          <a:ln/>
        </p:spPr>
        <p:txBody>
          <a:bodyPr wrap="square" lIns="508" tIns="508" rIns="508" bIns="508" rtlCol="0" anchor="ctr"/>
          <a:lstStyle/>
          <a:p>
            <a:pPr indent="0" marL="0">
              <a:buNone/>
            </a:pPr>
            <a:r>
              <a:rPr lang="en-US" sz="1250" b="1" dirty="0">
                <a:solidFill>
                  <a:srgbClr val="1B2A49"/>
                </a:solidFill>
                <a:latin typeface="Meiryo UI" pitchFamily="34" charset="0"/>
                <a:ea typeface="Meiryo UI" pitchFamily="34" charset="-122"/>
                <a:cs typeface="Meiryo UI" pitchFamily="34" charset="-120"/>
              </a:rPr>
              <a:t>エージェントのチャット画面をそのまま使う</a:t>
            </a:r>
            <a:endParaRPr lang="en-US" sz="1250" dirty="0"/>
          </a:p>
        </p:txBody>
      </p:sp>
      <p:sp>
        <p:nvSpPr>
          <p:cNvPr id="10" name="Shape 8"/>
          <p:cNvSpPr/>
          <p:nvPr/>
        </p:nvSpPr>
        <p:spPr>
          <a:xfrm>
            <a:off x="731520" y="1920240"/>
            <a:ext cx="5074920" cy="347472"/>
          </a:xfrm>
          <a:prstGeom prst="roundRect">
            <a:avLst>
              <a:gd name="adj" fmla="val 13158"/>
            </a:avLst>
          </a:prstGeom>
          <a:solidFill>
            <a:srgbClr val="FFFFFF"/>
          </a:solidFill>
          <a:ln w="12700">
            <a:solidFill>
              <a:srgbClr val="D5DBE3"/>
            </a:solidFill>
            <a:prstDash val="solid"/>
          </a:ln>
        </p:spPr>
      </p:sp>
      <p:pic>
        <p:nvPicPr>
          <p:cNvPr id="11" name="Image 0" descr="preencoded.png">    </p:cNvPr>
          <p:cNvPicPr>
            <a:picLocks noChangeAspect="1"/>
          </p:cNvPicPr>
          <p:nvPr/>
        </p:nvPicPr>
        <p:blipFill>
          <a:blip r:embed="rId1"/>
          <a:stretch>
            <a:fillRect/>
          </a:stretch>
        </p:blipFill>
        <p:spPr>
          <a:xfrm>
            <a:off x="822960" y="1975104"/>
            <a:ext cx="237744" cy="237744"/>
          </a:xfrm>
          <a:prstGeom prst="rect">
            <a:avLst/>
          </a:prstGeom>
        </p:spPr>
      </p:pic>
      <p:sp>
        <p:nvSpPr>
          <p:cNvPr id="12" name="Text 9"/>
          <p:cNvSpPr txBox="1"/>
          <p:nvPr/>
        </p:nvSpPr>
        <p:spPr>
          <a:xfrm>
            <a:off x="1152144" y="1920240"/>
            <a:ext cx="4617720" cy="347472"/>
          </a:xfrm>
          <a:prstGeom prst="rect">
            <a:avLst/>
          </a:prstGeom>
          <a:noFill/>
          <a:ln/>
        </p:spPr>
        <p:txBody>
          <a:bodyPr wrap="square" lIns="0" tIns="0" rIns="0" bIns="0" rtlCol="0" anchor="ctr"/>
          <a:lstStyle/>
          <a:p>
            <a:pPr indent="0" marL="0">
              <a:buNone/>
            </a:pPr>
            <a:r>
              <a:rPr lang="en-US" sz="900" dirty="0">
                <a:solidFill>
                  <a:srgbClr val="2B2B2B"/>
                </a:solidFill>
                <a:latin typeface="Meiryo UI" pitchFamily="34" charset="0"/>
                <a:ea typeface="Meiryo UI" pitchFamily="34" charset="-122"/>
                <a:cs typeface="Meiryo UI" pitchFamily="34" charset="-120"/>
              </a:rPr>
              <a:t>Airtable：カードの「AIで修正」ボタン</a:t>
            </a:r>
            <a:endParaRPr lang="en-US" sz="900" dirty="0"/>
          </a:p>
        </p:txBody>
      </p:sp>
      <p:sp>
        <p:nvSpPr>
          <p:cNvPr id="13" name="Shape 10"/>
          <p:cNvSpPr/>
          <p:nvPr/>
        </p:nvSpPr>
        <p:spPr>
          <a:xfrm>
            <a:off x="941832" y="2267712"/>
            <a:ext cx="0" cy="64008"/>
          </a:xfrm>
          <a:prstGeom prst="line">
            <a:avLst/>
          </a:prstGeom>
          <a:noFill/>
          <a:ln w="12700">
            <a:solidFill>
              <a:srgbClr val="1B2A49"/>
            </a:solidFill>
            <a:prstDash val="solid"/>
            <a:tailEnd type="triangle"/>
          </a:ln>
        </p:spPr>
      </p:sp>
      <p:sp>
        <p:nvSpPr>
          <p:cNvPr id="14" name="Shape 11"/>
          <p:cNvSpPr/>
          <p:nvPr/>
        </p:nvSpPr>
        <p:spPr>
          <a:xfrm>
            <a:off x="731520" y="2331720"/>
            <a:ext cx="5074920" cy="347472"/>
          </a:xfrm>
          <a:prstGeom prst="roundRect">
            <a:avLst>
              <a:gd name="adj" fmla="val 13158"/>
            </a:avLst>
          </a:prstGeom>
          <a:solidFill>
            <a:srgbClr val="FFFFFF"/>
          </a:solidFill>
          <a:ln w="12700">
            <a:solidFill>
              <a:srgbClr val="D5DBE3"/>
            </a:solidFill>
            <a:prstDash val="solid"/>
          </a:ln>
        </p:spPr>
      </p:sp>
      <p:pic>
        <p:nvPicPr>
          <p:cNvPr id="15" name="Image 1" descr="preencoded.png">    </p:cNvPr>
          <p:cNvPicPr>
            <a:picLocks noChangeAspect="1"/>
          </p:cNvPicPr>
          <p:nvPr/>
        </p:nvPicPr>
        <p:blipFill>
          <a:blip r:embed="rId2"/>
          <a:stretch>
            <a:fillRect/>
          </a:stretch>
        </p:blipFill>
        <p:spPr>
          <a:xfrm>
            <a:off x="822960" y="2386584"/>
            <a:ext cx="237744" cy="237744"/>
          </a:xfrm>
          <a:prstGeom prst="rect">
            <a:avLst/>
          </a:prstGeom>
        </p:spPr>
      </p:pic>
      <p:sp>
        <p:nvSpPr>
          <p:cNvPr id="16" name="Text 12"/>
          <p:cNvSpPr txBox="1"/>
          <p:nvPr/>
        </p:nvSpPr>
        <p:spPr>
          <a:xfrm>
            <a:off x="1152144" y="2331720"/>
            <a:ext cx="4617720" cy="347472"/>
          </a:xfrm>
          <a:prstGeom prst="rect">
            <a:avLst/>
          </a:prstGeom>
          <a:noFill/>
          <a:ln/>
        </p:spPr>
        <p:txBody>
          <a:bodyPr wrap="square" lIns="0" tIns="0" rIns="0" bIns="0" rtlCol="0" anchor="ctr"/>
          <a:lstStyle/>
          <a:p>
            <a:pPr indent="0" marL="0">
              <a:buNone/>
            </a:pPr>
            <a:r>
              <a:rPr lang="en-US" sz="900" dirty="0">
                <a:solidFill>
                  <a:srgbClr val="2B2B2B"/>
                </a:solidFill>
                <a:latin typeface="Meiryo UI" pitchFamily="34" charset="0"/>
                <a:ea typeface="Meiryo UI" pitchFamily="34" charset="-122"/>
                <a:cs typeface="Meiryo UI" pitchFamily="34" charset="-120"/>
              </a:rPr>
              <a:t>別タブでエージェントのチャット画面を開く（カードIDを渡す）</a:t>
            </a:r>
            <a:endParaRPr lang="en-US" sz="900" dirty="0"/>
          </a:p>
        </p:txBody>
      </p:sp>
      <p:sp>
        <p:nvSpPr>
          <p:cNvPr id="17" name="Shape 13"/>
          <p:cNvSpPr/>
          <p:nvPr/>
        </p:nvSpPr>
        <p:spPr>
          <a:xfrm>
            <a:off x="941832" y="2679192"/>
            <a:ext cx="0" cy="64008"/>
          </a:xfrm>
          <a:prstGeom prst="line">
            <a:avLst/>
          </a:prstGeom>
          <a:noFill/>
          <a:ln w="12700">
            <a:solidFill>
              <a:srgbClr val="1B2A49"/>
            </a:solidFill>
            <a:prstDash val="solid"/>
            <a:tailEnd type="triangle"/>
          </a:ln>
        </p:spPr>
      </p:sp>
      <p:sp>
        <p:nvSpPr>
          <p:cNvPr id="18" name="Shape 14"/>
          <p:cNvSpPr/>
          <p:nvPr/>
        </p:nvSpPr>
        <p:spPr>
          <a:xfrm>
            <a:off x="731520" y="2743200"/>
            <a:ext cx="5074920" cy="347472"/>
          </a:xfrm>
          <a:prstGeom prst="roundRect">
            <a:avLst>
              <a:gd name="adj" fmla="val 13158"/>
            </a:avLst>
          </a:prstGeom>
          <a:solidFill>
            <a:srgbClr val="FFFFFF"/>
          </a:solidFill>
          <a:ln w="12700">
            <a:solidFill>
              <a:srgbClr val="D5DBE3"/>
            </a:solidFill>
            <a:prstDash val="solid"/>
          </a:ln>
        </p:spPr>
      </p:sp>
      <p:pic>
        <p:nvPicPr>
          <p:cNvPr id="19" name="Image 2" descr="preencoded.png">    </p:cNvPr>
          <p:cNvPicPr>
            <a:picLocks noChangeAspect="1"/>
          </p:cNvPicPr>
          <p:nvPr/>
        </p:nvPicPr>
        <p:blipFill>
          <a:blip r:embed="rId3"/>
          <a:stretch>
            <a:fillRect/>
          </a:stretch>
        </p:blipFill>
        <p:spPr>
          <a:xfrm>
            <a:off x="822960" y="2798064"/>
            <a:ext cx="237744" cy="237744"/>
          </a:xfrm>
          <a:prstGeom prst="rect">
            <a:avLst/>
          </a:prstGeom>
        </p:spPr>
      </p:pic>
      <p:sp>
        <p:nvSpPr>
          <p:cNvPr id="20" name="Text 15"/>
          <p:cNvSpPr txBox="1"/>
          <p:nvPr/>
        </p:nvSpPr>
        <p:spPr>
          <a:xfrm>
            <a:off x="1152144" y="2743200"/>
            <a:ext cx="4617720" cy="347472"/>
          </a:xfrm>
          <a:prstGeom prst="rect">
            <a:avLst/>
          </a:prstGeom>
          <a:noFill/>
          <a:ln/>
        </p:spPr>
        <p:txBody>
          <a:bodyPr wrap="square" lIns="0" tIns="0" rIns="0" bIns="0" rtlCol="0" anchor="ctr"/>
          <a:lstStyle/>
          <a:p>
            <a:pPr indent="0" marL="0">
              <a:buNone/>
            </a:pPr>
            <a:r>
              <a:rPr lang="en-US" sz="900" dirty="0">
                <a:solidFill>
                  <a:srgbClr val="2B2B2B"/>
                </a:solidFill>
                <a:latin typeface="Meiryo UI" pitchFamily="34" charset="0"/>
                <a:ea typeface="Meiryo UI" pitchFamily="34" charset="-122"/>
                <a:cs typeface="Meiryo UI" pitchFamily="34" charset="-120"/>
              </a:rPr>
              <a:t>エージェントがカードと下書きを読み込む（フローまたは公式MCP）</a:t>
            </a:r>
            <a:endParaRPr lang="en-US" sz="900" dirty="0"/>
          </a:p>
        </p:txBody>
      </p:sp>
      <p:sp>
        <p:nvSpPr>
          <p:cNvPr id="21" name="Shape 16"/>
          <p:cNvSpPr/>
          <p:nvPr/>
        </p:nvSpPr>
        <p:spPr>
          <a:xfrm>
            <a:off x="941832" y="3090672"/>
            <a:ext cx="0" cy="64008"/>
          </a:xfrm>
          <a:prstGeom prst="line">
            <a:avLst/>
          </a:prstGeom>
          <a:noFill/>
          <a:ln w="12700">
            <a:solidFill>
              <a:srgbClr val="1B2A49"/>
            </a:solidFill>
            <a:prstDash val="solid"/>
            <a:tailEnd type="triangle"/>
          </a:ln>
        </p:spPr>
      </p:sp>
      <p:sp>
        <p:nvSpPr>
          <p:cNvPr id="22" name="Shape 17"/>
          <p:cNvSpPr/>
          <p:nvPr/>
        </p:nvSpPr>
        <p:spPr>
          <a:xfrm>
            <a:off x="731520" y="3154680"/>
            <a:ext cx="5074920" cy="347472"/>
          </a:xfrm>
          <a:prstGeom prst="roundRect">
            <a:avLst>
              <a:gd name="adj" fmla="val 13158"/>
            </a:avLst>
          </a:prstGeom>
          <a:solidFill>
            <a:srgbClr val="FFFFFF"/>
          </a:solidFill>
          <a:ln w="12700">
            <a:solidFill>
              <a:srgbClr val="D5DBE3"/>
            </a:solidFill>
            <a:prstDash val="solid"/>
          </a:ln>
        </p:spPr>
      </p:sp>
      <p:pic>
        <p:nvPicPr>
          <p:cNvPr id="23" name="Image 3" descr="preencoded.png">    </p:cNvPr>
          <p:cNvPicPr>
            <a:picLocks noChangeAspect="1"/>
          </p:cNvPicPr>
          <p:nvPr/>
        </p:nvPicPr>
        <p:blipFill>
          <a:blip r:embed="rId4"/>
          <a:stretch>
            <a:fillRect/>
          </a:stretch>
        </p:blipFill>
        <p:spPr>
          <a:xfrm>
            <a:off x="822960" y="3209544"/>
            <a:ext cx="237744" cy="237744"/>
          </a:xfrm>
          <a:prstGeom prst="rect">
            <a:avLst/>
          </a:prstGeom>
        </p:spPr>
      </p:pic>
      <p:sp>
        <p:nvSpPr>
          <p:cNvPr id="24" name="Text 18"/>
          <p:cNvSpPr txBox="1"/>
          <p:nvPr/>
        </p:nvSpPr>
        <p:spPr>
          <a:xfrm>
            <a:off x="1152144" y="3154680"/>
            <a:ext cx="4617720" cy="347472"/>
          </a:xfrm>
          <a:prstGeom prst="rect">
            <a:avLst/>
          </a:prstGeom>
          <a:noFill/>
          <a:ln/>
        </p:spPr>
        <p:txBody>
          <a:bodyPr wrap="square" lIns="0" tIns="0" rIns="0" bIns="0" rtlCol="0" anchor="ctr"/>
          <a:lstStyle/>
          <a:p>
            <a:pPr indent="0" marL="0">
              <a:buNone/>
            </a:pPr>
            <a:r>
              <a:rPr lang="en-US" sz="900" dirty="0">
                <a:solidFill>
                  <a:srgbClr val="2B2B2B"/>
                </a:solidFill>
                <a:latin typeface="Meiryo UI" pitchFamily="34" charset="0"/>
                <a:ea typeface="Meiryo UI" pitchFamily="34" charset="-122"/>
                <a:cs typeface="Meiryo UI" pitchFamily="34" charset="-120"/>
              </a:rPr>
              <a:t>チャットで修正指示 → 結果を確認 → 再指示</a:t>
            </a:r>
            <a:endParaRPr lang="en-US" sz="900" dirty="0"/>
          </a:p>
        </p:txBody>
      </p:sp>
      <p:sp>
        <p:nvSpPr>
          <p:cNvPr id="25" name="Shape 19"/>
          <p:cNvSpPr/>
          <p:nvPr/>
        </p:nvSpPr>
        <p:spPr>
          <a:xfrm>
            <a:off x="941832" y="3502152"/>
            <a:ext cx="0" cy="64008"/>
          </a:xfrm>
          <a:prstGeom prst="line">
            <a:avLst/>
          </a:prstGeom>
          <a:noFill/>
          <a:ln w="12700">
            <a:solidFill>
              <a:srgbClr val="1B2A49"/>
            </a:solidFill>
            <a:prstDash val="solid"/>
            <a:tailEnd type="triangle"/>
          </a:ln>
        </p:spPr>
      </p:sp>
      <p:sp>
        <p:nvSpPr>
          <p:cNvPr id="26" name="Shape 20"/>
          <p:cNvSpPr/>
          <p:nvPr/>
        </p:nvSpPr>
        <p:spPr>
          <a:xfrm>
            <a:off x="731520" y="3566160"/>
            <a:ext cx="5074920" cy="347472"/>
          </a:xfrm>
          <a:prstGeom prst="roundRect">
            <a:avLst>
              <a:gd name="adj" fmla="val 13158"/>
            </a:avLst>
          </a:prstGeom>
          <a:solidFill>
            <a:srgbClr val="FFFFFF"/>
          </a:solidFill>
          <a:ln w="12700">
            <a:solidFill>
              <a:srgbClr val="D5DBE3"/>
            </a:solidFill>
            <a:prstDash val="solid"/>
          </a:ln>
        </p:spPr>
      </p:sp>
      <p:pic>
        <p:nvPicPr>
          <p:cNvPr id="27" name="Image 4" descr="preencoded.png">    </p:cNvPr>
          <p:cNvPicPr>
            <a:picLocks noChangeAspect="1"/>
          </p:cNvPicPr>
          <p:nvPr/>
        </p:nvPicPr>
        <p:blipFill>
          <a:blip r:embed="rId5"/>
          <a:stretch>
            <a:fillRect/>
          </a:stretch>
        </p:blipFill>
        <p:spPr>
          <a:xfrm>
            <a:off x="822960" y="3621024"/>
            <a:ext cx="237744" cy="237744"/>
          </a:xfrm>
          <a:prstGeom prst="rect">
            <a:avLst/>
          </a:prstGeom>
        </p:spPr>
      </p:pic>
      <p:sp>
        <p:nvSpPr>
          <p:cNvPr id="28" name="Text 21"/>
          <p:cNvSpPr txBox="1"/>
          <p:nvPr/>
        </p:nvSpPr>
        <p:spPr>
          <a:xfrm>
            <a:off x="1152144" y="3566160"/>
            <a:ext cx="4617720" cy="347472"/>
          </a:xfrm>
          <a:prstGeom prst="rect">
            <a:avLst/>
          </a:prstGeom>
          <a:noFill/>
          <a:ln/>
        </p:spPr>
        <p:txBody>
          <a:bodyPr wrap="square" lIns="0" tIns="0" rIns="0" bIns="0" rtlCol="0" anchor="ctr"/>
          <a:lstStyle/>
          <a:p>
            <a:pPr indent="0" marL="0">
              <a:buNone/>
            </a:pPr>
            <a:r>
              <a:rPr lang="en-US" sz="900" dirty="0">
                <a:solidFill>
                  <a:srgbClr val="2B2B2B"/>
                </a:solidFill>
                <a:latin typeface="Meiryo UI" pitchFamily="34" charset="0"/>
                <a:ea typeface="Meiryo UI" pitchFamily="34" charset="-122"/>
                <a:cs typeface="Meiryo UI" pitchFamily="34" charset="-120"/>
              </a:rPr>
              <a:t>利用者が「確定」と明示 → エージェントが書込用フローを呼ぶ</a:t>
            </a:r>
            <a:endParaRPr lang="en-US" sz="900" dirty="0"/>
          </a:p>
        </p:txBody>
      </p:sp>
      <p:sp>
        <p:nvSpPr>
          <p:cNvPr id="29" name="Shape 22"/>
          <p:cNvSpPr/>
          <p:nvPr/>
        </p:nvSpPr>
        <p:spPr>
          <a:xfrm>
            <a:off x="941832" y="3913632"/>
            <a:ext cx="0" cy="64008"/>
          </a:xfrm>
          <a:prstGeom prst="line">
            <a:avLst/>
          </a:prstGeom>
          <a:noFill/>
          <a:ln w="12700">
            <a:solidFill>
              <a:srgbClr val="1B2A49"/>
            </a:solidFill>
            <a:prstDash val="solid"/>
            <a:tailEnd type="triangle"/>
          </a:ln>
        </p:spPr>
      </p:sp>
      <p:sp>
        <p:nvSpPr>
          <p:cNvPr id="30" name="Shape 23"/>
          <p:cNvSpPr/>
          <p:nvPr/>
        </p:nvSpPr>
        <p:spPr>
          <a:xfrm>
            <a:off x="731520" y="3977640"/>
            <a:ext cx="5074920" cy="347472"/>
          </a:xfrm>
          <a:prstGeom prst="roundRect">
            <a:avLst>
              <a:gd name="adj" fmla="val 13158"/>
            </a:avLst>
          </a:prstGeom>
          <a:solidFill>
            <a:srgbClr val="FFFFFF"/>
          </a:solidFill>
          <a:ln w="12700">
            <a:solidFill>
              <a:srgbClr val="D5DBE3"/>
            </a:solidFill>
            <a:prstDash val="solid"/>
          </a:ln>
        </p:spPr>
      </p:sp>
      <p:pic>
        <p:nvPicPr>
          <p:cNvPr id="31" name="Image 5" descr="preencoded.png">    </p:cNvPr>
          <p:cNvPicPr>
            <a:picLocks noChangeAspect="1"/>
          </p:cNvPicPr>
          <p:nvPr/>
        </p:nvPicPr>
        <p:blipFill>
          <a:blip r:embed="rId6"/>
          <a:stretch>
            <a:fillRect/>
          </a:stretch>
        </p:blipFill>
        <p:spPr>
          <a:xfrm>
            <a:off x="822960" y="4032504"/>
            <a:ext cx="237744" cy="237744"/>
          </a:xfrm>
          <a:prstGeom prst="rect">
            <a:avLst/>
          </a:prstGeom>
        </p:spPr>
      </p:pic>
      <p:sp>
        <p:nvSpPr>
          <p:cNvPr id="32" name="Text 24"/>
          <p:cNvSpPr txBox="1"/>
          <p:nvPr/>
        </p:nvSpPr>
        <p:spPr>
          <a:xfrm>
            <a:off x="1152144" y="3977640"/>
            <a:ext cx="4617720" cy="347472"/>
          </a:xfrm>
          <a:prstGeom prst="rect">
            <a:avLst/>
          </a:prstGeom>
          <a:noFill/>
          <a:ln/>
        </p:spPr>
        <p:txBody>
          <a:bodyPr wrap="square" lIns="0" tIns="0" rIns="0" bIns="0" rtlCol="0" anchor="ctr"/>
          <a:lstStyle/>
          <a:p>
            <a:pPr indent="0" marL="0">
              <a:buNone/>
            </a:pPr>
            <a:r>
              <a:rPr lang="en-US" sz="900" dirty="0">
                <a:solidFill>
                  <a:srgbClr val="2B2B2B"/>
                </a:solidFill>
                <a:latin typeface="Meiryo UI" pitchFamily="34" charset="0"/>
                <a:ea typeface="Meiryo UI" pitchFamily="34" charset="-122"/>
                <a:cs typeface="Meiryo UI" pitchFamily="34" charset="-120"/>
              </a:rPr>
              <a:t>Airtableのタブに戻る（ほぼリアルタイムで更新される）</a:t>
            </a:r>
            <a:endParaRPr lang="en-US" sz="900" dirty="0"/>
          </a:p>
        </p:txBody>
      </p:sp>
      <p:sp>
        <p:nvSpPr>
          <p:cNvPr id="33" name="Text 25"/>
          <p:cNvSpPr txBox="1"/>
          <p:nvPr/>
        </p:nvSpPr>
        <p:spPr>
          <a:xfrm>
            <a:off x="731520" y="4462272"/>
            <a:ext cx="5074920" cy="1847088"/>
          </a:xfrm>
          <a:prstGeom prst="rect">
            <a:avLst/>
          </a:prstGeom>
          <a:noFill/>
          <a:ln/>
        </p:spPr>
        <p:txBody>
          <a:bodyPr wrap="square" lIns="254" tIns="254" rIns="254" bIns="254" rtlCol="0" anchor="t"/>
          <a:lstStyle/>
          <a:p>
            <a:pPr indent="0" marL="0">
              <a:buNone/>
            </a:pPr>
            <a:r>
              <a:rPr lang="en-US" sz="880" b="1" dirty="0">
                <a:solidFill>
                  <a:srgbClr val="0E9F9A"/>
                </a:solidFill>
                <a:latin typeface="Meiryo UI" pitchFamily="34" charset="0"/>
                <a:ea typeface="Meiryo UI" pitchFamily="34" charset="-122"/>
                <a:cs typeface="Meiryo UI" pitchFamily="34" charset="-120"/>
              </a:rPr>
              <a:t>必要なもの</a:t>
            </a:r>
            <a:endParaRPr lang="en-US" sz="880" dirty="0"/>
          </a:p>
          <a:p>
            <a:pPr indent="0" marL="0">
              <a:spcAft>
                <a:spcPts val="400"/>
              </a:spcAft>
              <a:buNone/>
            </a:pPr>
            <a:r>
              <a:rPr lang="en-US" sz="880" dirty="0">
                <a:solidFill>
                  <a:srgbClr val="2B2B2B"/>
                </a:solidFill>
                <a:latin typeface="Meiryo UI" pitchFamily="34" charset="0"/>
                <a:ea typeface="Meiryo UI" pitchFamily="34" charset="-122"/>
                <a:cs typeface="Meiryo UI" pitchFamily="34" charset="-120"/>
              </a:rPr>
              <a:t>Copilot Studioのエージェント、読み込み・書き込み用のフロー（エージェントのツールとして登録）、Airtableのボタン（外部URLを開く）</a:t>
            </a:r>
            <a:endParaRPr lang="en-US" sz="880" dirty="0"/>
          </a:p>
          <a:p>
            <a:pPr indent="0" marL="0">
              <a:buNone/>
            </a:pPr>
            <a:r>
              <a:rPr lang="en-US" sz="880" b="1" dirty="0">
                <a:solidFill>
                  <a:srgbClr val="0E9F9A"/>
                </a:solidFill>
                <a:latin typeface="Meiryo UI" pitchFamily="34" charset="0"/>
                <a:ea typeface="Meiryo UI" pitchFamily="34" charset="-122"/>
                <a:cs typeface="Meiryo UI" pitchFamily="34" charset="-120"/>
              </a:rPr>
              <a:t>長所</a:t>
            </a:r>
            <a:endParaRPr lang="en-US" sz="880" dirty="0"/>
          </a:p>
          <a:p>
            <a:pPr indent="0" marL="0">
              <a:spcAft>
                <a:spcPts val="400"/>
              </a:spcAft>
              <a:buNone/>
            </a:pPr>
            <a:r>
              <a:rPr lang="en-US" sz="880" dirty="0">
                <a:solidFill>
                  <a:srgbClr val="2B2B2B"/>
                </a:solidFill>
                <a:latin typeface="Meiryo UI" pitchFamily="34" charset="0"/>
                <a:ea typeface="Meiryo UI" pitchFamily="34" charset="-122"/>
                <a:cs typeface="Meiryo UI" pitchFamily="34" charset="-120"/>
              </a:rPr>
              <a:t>画面の開発が不要。エージェントとフローだけで組める</a:t>
            </a:r>
            <a:endParaRPr lang="en-US" sz="880" dirty="0"/>
          </a:p>
          <a:p>
            <a:pPr indent="0" marL="0">
              <a:buNone/>
            </a:pPr>
            <a:r>
              <a:rPr lang="en-US" sz="880" b="1" dirty="0">
                <a:solidFill>
                  <a:srgbClr val="0E9F9A"/>
                </a:solidFill>
                <a:latin typeface="Meiryo UI" pitchFamily="34" charset="0"/>
                <a:ea typeface="Meiryo UI" pitchFamily="34" charset="-122"/>
                <a:cs typeface="Meiryo UI" pitchFamily="34" charset="-120"/>
              </a:rPr>
              <a:t>留意点</a:t>
            </a:r>
            <a:endParaRPr lang="en-US" sz="880" dirty="0"/>
          </a:p>
          <a:p>
            <a:pPr indent="0" marL="0">
              <a:spcAft>
                <a:spcPts val="100"/>
              </a:spcAft>
              <a:buNone/>
            </a:pPr>
            <a:r>
              <a:rPr lang="en-US" sz="880" dirty="0">
                <a:solidFill>
                  <a:srgbClr val="2B2B2B"/>
                </a:solidFill>
                <a:latin typeface="Meiryo UI" pitchFamily="34" charset="0"/>
                <a:ea typeface="Meiryo UI" pitchFamily="34" charset="-122"/>
                <a:cs typeface="Meiryo UI" pitchFamily="34" charset="-120"/>
              </a:rPr>
              <a:t>・カードIDの渡し方：チャット画面をURLで開いたときに自動で伝えられるかは公開先（Teams、Webなど）により異なるため要検証</a:t>
            </a:r>
            <a:endParaRPr lang="en-US" sz="880" dirty="0"/>
          </a:p>
          <a:p>
            <a:pPr indent="0" marL="0">
              <a:spcAft>
                <a:spcPts val="100"/>
              </a:spcAft>
              <a:buNone/>
            </a:pPr>
            <a:r>
              <a:rPr lang="en-US" sz="880" dirty="0">
                <a:solidFill>
                  <a:srgbClr val="2B2B2B"/>
                </a:solidFill>
                <a:latin typeface="Meiryo UI" pitchFamily="34" charset="0"/>
                <a:ea typeface="Meiryo UI" pitchFamily="34" charset="-122"/>
                <a:cs typeface="Meiryo UI" pitchFamily="34" charset="-120"/>
              </a:rPr>
              <a:t>・扱えるのは文字のやり取りだけ（一覧表示・入れ替え・プレビューは不可）</a:t>
            </a:r>
            <a:endParaRPr lang="en-US" sz="880" dirty="0"/>
          </a:p>
          <a:p>
            <a:pPr indent="0" marL="0">
              <a:spcAft>
                <a:spcPts val="400"/>
              </a:spcAft>
              <a:buNone/>
            </a:pPr>
            <a:r>
              <a:rPr lang="en-US" sz="880" dirty="0">
                <a:solidFill>
                  <a:srgbClr val="2B2B2B"/>
                </a:solidFill>
                <a:latin typeface="Meiryo UI" pitchFamily="34" charset="0"/>
                <a:ea typeface="Meiryo UI" pitchFamily="34" charset="-122"/>
                <a:cs typeface="Meiryo UI" pitchFamily="34" charset="-120"/>
              </a:rPr>
              <a:t>・「確定を明示したときだけフローを呼ぶ」ことを指示とフローの両方で制御する</a:t>
            </a:r>
            <a:endParaRPr lang="en-US" sz="880" dirty="0"/>
          </a:p>
        </p:txBody>
      </p:sp>
      <p:sp>
        <p:nvSpPr>
          <p:cNvPr id="34" name="Shape 26"/>
          <p:cNvSpPr/>
          <p:nvPr/>
        </p:nvSpPr>
        <p:spPr>
          <a:xfrm>
            <a:off x="6172200" y="1371600"/>
            <a:ext cx="5440680" cy="4983480"/>
          </a:xfrm>
          <a:prstGeom prst="roundRect">
            <a:avLst>
              <a:gd name="adj" fmla="val 1101"/>
            </a:avLst>
          </a:prstGeom>
          <a:solidFill>
            <a:srgbClr val="EEEAF8"/>
          </a:solidFill>
          <a:ln/>
        </p:spPr>
      </p:sp>
      <p:sp>
        <p:nvSpPr>
          <p:cNvPr id="35" name="Shape 27"/>
          <p:cNvSpPr/>
          <p:nvPr/>
        </p:nvSpPr>
        <p:spPr>
          <a:xfrm>
            <a:off x="6355080" y="1481328"/>
            <a:ext cx="731520" cy="310896"/>
          </a:xfrm>
          <a:prstGeom prst="roundRect">
            <a:avLst>
              <a:gd name="adj" fmla="val 50000"/>
            </a:avLst>
          </a:prstGeom>
          <a:solidFill>
            <a:srgbClr val="1B2A49"/>
          </a:solidFill>
          <a:ln/>
        </p:spPr>
      </p:sp>
      <p:sp>
        <p:nvSpPr>
          <p:cNvPr id="36" name="Text 28"/>
          <p:cNvSpPr txBox="1"/>
          <p:nvPr/>
        </p:nvSpPr>
        <p:spPr>
          <a:xfrm>
            <a:off x="6355080" y="1481328"/>
            <a:ext cx="731520" cy="310896"/>
          </a:xfrm>
          <a:prstGeom prst="rect">
            <a:avLst/>
          </a:prstGeom>
          <a:noFill/>
          <a:ln/>
        </p:spPr>
        <p:txBody>
          <a:bodyPr wrap="square" lIns="762" tIns="762" rIns="762" bIns="762" rtlCol="0" anchor="ctr"/>
          <a:lstStyle/>
          <a:p>
            <a:pPr algn="ctr" indent="0" marL="0">
              <a:buNone/>
            </a:pPr>
            <a:r>
              <a:rPr lang="en-US" sz="1050" b="1" dirty="0">
                <a:solidFill>
                  <a:srgbClr val="FFFFFF"/>
                </a:solidFill>
                <a:latin typeface="Meiryo UI" pitchFamily="34" charset="0"/>
                <a:ea typeface="Meiryo UI" pitchFamily="34" charset="-122"/>
                <a:cs typeface="Meiryo UI" pitchFamily="34" charset="-120"/>
              </a:rPr>
              <a:t>U3b</a:t>
            </a:r>
            <a:endParaRPr lang="en-US" sz="1050" dirty="0"/>
          </a:p>
        </p:txBody>
      </p:sp>
      <p:sp>
        <p:nvSpPr>
          <p:cNvPr id="37" name="Text 29"/>
          <p:cNvSpPr txBox="1"/>
          <p:nvPr/>
        </p:nvSpPr>
        <p:spPr>
          <a:xfrm>
            <a:off x="7196328" y="1463040"/>
            <a:ext cx="4297680" cy="365760"/>
          </a:xfrm>
          <a:prstGeom prst="rect">
            <a:avLst/>
          </a:prstGeom>
          <a:noFill/>
          <a:ln/>
        </p:spPr>
        <p:txBody>
          <a:bodyPr wrap="square" lIns="508" tIns="508" rIns="508" bIns="508" rtlCol="0" anchor="ctr"/>
          <a:lstStyle/>
          <a:p>
            <a:pPr indent="0" marL="0">
              <a:buNone/>
            </a:pPr>
            <a:r>
              <a:rPr lang="en-US" sz="1250" b="1" dirty="0">
                <a:solidFill>
                  <a:srgbClr val="1B2A49"/>
                </a:solidFill>
                <a:latin typeface="Meiryo UI" pitchFamily="34" charset="0"/>
                <a:ea typeface="Meiryo UI" pitchFamily="34" charset="-122"/>
                <a:cs typeface="Meiryo UI" pitchFamily="34" charset="-120"/>
              </a:rPr>
              <a:t>専用画面（code appsなど）を作る</a:t>
            </a:r>
            <a:endParaRPr lang="en-US" sz="1250" dirty="0"/>
          </a:p>
        </p:txBody>
      </p:sp>
      <p:sp>
        <p:nvSpPr>
          <p:cNvPr id="38" name="Shape 30"/>
          <p:cNvSpPr/>
          <p:nvPr/>
        </p:nvSpPr>
        <p:spPr>
          <a:xfrm>
            <a:off x="6355080" y="1920240"/>
            <a:ext cx="5074920" cy="347472"/>
          </a:xfrm>
          <a:prstGeom prst="roundRect">
            <a:avLst>
              <a:gd name="adj" fmla="val 13158"/>
            </a:avLst>
          </a:prstGeom>
          <a:solidFill>
            <a:srgbClr val="FFFFFF"/>
          </a:solidFill>
          <a:ln w="12700">
            <a:solidFill>
              <a:srgbClr val="D5DBE3"/>
            </a:solidFill>
            <a:prstDash val="solid"/>
          </a:ln>
        </p:spPr>
      </p:sp>
      <p:pic>
        <p:nvPicPr>
          <p:cNvPr id="39" name="Image 6" descr="preencoded.png">    </p:cNvPr>
          <p:cNvPicPr>
            <a:picLocks noChangeAspect="1"/>
          </p:cNvPicPr>
          <p:nvPr/>
        </p:nvPicPr>
        <p:blipFill>
          <a:blip r:embed="rId7"/>
          <a:stretch>
            <a:fillRect/>
          </a:stretch>
        </p:blipFill>
        <p:spPr>
          <a:xfrm>
            <a:off x="6446520" y="1975104"/>
            <a:ext cx="237744" cy="237744"/>
          </a:xfrm>
          <a:prstGeom prst="rect">
            <a:avLst/>
          </a:prstGeom>
        </p:spPr>
      </p:pic>
      <p:sp>
        <p:nvSpPr>
          <p:cNvPr id="40" name="Text 31"/>
          <p:cNvSpPr txBox="1"/>
          <p:nvPr/>
        </p:nvSpPr>
        <p:spPr>
          <a:xfrm>
            <a:off x="6775704" y="1920240"/>
            <a:ext cx="4617720" cy="347472"/>
          </a:xfrm>
          <a:prstGeom prst="rect">
            <a:avLst/>
          </a:prstGeom>
          <a:noFill/>
          <a:ln/>
        </p:spPr>
        <p:txBody>
          <a:bodyPr wrap="square" lIns="0" tIns="0" rIns="0" bIns="0" rtlCol="0" anchor="ctr"/>
          <a:lstStyle/>
          <a:p>
            <a:pPr indent="0" marL="0">
              <a:buNone/>
            </a:pPr>
            <a:r>
              <a:rPr lang="en-US" sz="900" dirty="0">
                <a:solidFill>
                  <a:srgbClr val="2B2B2B"/>
                </a:solidFill>
                <a:latin typeface="Meiryo UI" pitchFamily="34" charset="0"/>
                <a:ea typeface="Meiryo UI" pitchFamily="34" charset="-122"/>
                <a:cs typeface="Meiryo UI" pitchFamily="34" charset="-120"/>
              </a:rPr>
              <a:t>Airtable：カードの「AIで修正」ボタン</a:t>
            </a:r>
            <a:endParaRPr lang="en-US" sz="900" dirty="0"/>
          </a:p>
        </p:txBody>
      </p:sp>
      <p:sp>
        <p:nvSpPr>
          <p:cNvPr id="41" name="Shape 32"/>
          <p:cNvSpPr/>
          <p:nvPr/>
        </p:nvSpPr>
        <p:spPr>
          <a:xfrm>
            <a:off x="6565392" y="2267712"/>
            <a:ext cx="0" cy="64008"/>
          </a:xfrm>
          <a:prstGeom prst="line">
            <a:avLst/>
          </a:prstGeom>
          <a:noFill/>
          <a:ln w="12700">
            <a:solidFill>
              <a:srgbClr val="1B2A49"/>
            </a:solidFill>
            <a:prstDash val="solid"/>
            <a:tailEnd type="triangle"/>
          </a:ln>
        </p:spPr>
      </p:sp>
      <p:sp>
        <p:nvSpPr>
          <p:cNvPr id="42" name="Shape 33"/>
          <p:cNvSpPr/>
          <p:nvPr/>
        </p:nvSpPr>
        <p:spPr>
          <a:xfrm>
            <a:off x="6355080" y="2331720"/>
            <a:ext cx="5074920" cy="347472"/>
          </a:xfrm>
          <a:prstGeom prst="roundRect">
            <a:avLst>
              <a:gd name="adj" fmla="val 13158"/>
            </a:avLst>
          </a:prstGeom>
          <a:solidFill>
            <a:srgbClr val="FFFFFF"/>
          </a:solidFill>
          <a:ln w="12700">
            <a:solidFill>
              <a:srgbClr val="D5DBE3"/>
            </a:solidFill>
            <a:prstDash val="solid"/>
          </a:ln>
        </p:spPr>
      </p:sp>
      <p:pic>
        <p:nvPicPr>
          <p:cNvPr id="43" name="Image 7" descr="preencoded.png">    </p:cNvPr>
          <p:cNvPicPr>
            <a:picLocks noChangeAspect="1"/>
          </p:cNvPicPr>
          <p:nvPr/>
        </p:nvPicPr>
        <p:blipFill>
          <a:blip r:embed="rId8"/>
          <a:stretch>
            <a:fillRect/>
          </a:stretch>
        </p:blipFill>
        <p:spPr>
          <a:xfrm>
            <a:off x="6446520" y="2386584"/>
            <a:ext cx="237744" cy="237744"/>
          </a:xfrm>
          <a:prstGeom prst="rect">
            <a:avLst/>
          </a:prstGeom>
        </p:spPr>
      </p:pic>
      <p:sp>
        <p:nvSpPr>
          <p:cNvPr id="44" name="Text 34"/>
          <p:cNvSpPr txBox="1"/>
          <p:nvPr/>
        </p:nvSpPr>
        <p:spPr>
          <a:xfrm>
            <a:off x="6775704" y="2331720"/>
            <a:ext cx="4617720" cy="347472"/>
          </a:xfrm>
          <a:prstGeom prst="rect">
            <a:avLst/>
          </a:prstGeom>
          <a:noFill/>
          <a:ln/>
        </p:spPr>
        <p:txBody>
          <a:bodyPr wrap="square" lIns="0" tIns="0" rIns="0" bIns="0" rtlCol="0" anchor="ctr"/>
          <a:lstStyle/>
          <a:p>
            <a:pPr indent="0" marL="0">
              <a:buNone/>
            </a:pPr>
            <a:r>
              <a:rPr lang="en-US" sz="900" dirty="0">
                <a:solidFill>
                  <a:srgbClr val="2B2B2B"/>
                </a:solidFill>
                <a:latin typeface="Meiryo UI" pitchFamily="34" charset="0"/>
                <a:ea typeface="Meiryo UI" pitchFamily="34" charset="-122"/>
                <a:cs typeface="Meiryo UI" pitchFamily="34" charset="-120"/>
              </a:rPr>
              <a:t>別タブで専用画面を開く（URLにカードIDを付ける）</a:t>
            </a:r>
            <a:endParaRPr lang="en-US" sz="900" dirty="0"/>
          </a:p>
        </p:txBody>
      </p:sp>
      <p:sp>
        <p:nvSpPr>
          <p:cNvPr id="45" name="Shape 35"/>
          <p:cNvSpPr/>
          <p:nvPr/>
        </p:nvSpPr>
        <p:spPr>
          <a:xfrm>
            <a:off x="6565392" y="2679192"/>
            <a:ext cx="0" cy="64008"/>
          </a:xfrm>
          <a:prstGeom prst="line">
            <a:avLst/>
          </a:prstGeom>
          <a:noFill/>
          <a:ln w="12700">
            <a:solidFill>
              <a:srgbClr val="1B2A49"/>
            </a:solidFill>
            <a:prstDash val="solid"/>
            <a:tailEnd type="triangle"/>
          </a:ln>
        </p:spPr>
      </p:sp>
      <p:sp>
        <p:nvSpPr>
          <p:cNvPr id="46" name="Shape 36"/>
          <p:cNvSpPr/>
          <p:nvPr/>
        </p:nvSpPr>
        <p:spPr>
          <a:xfrm>
            <a:off x="6355080" y="2743200"/>
            <a:ext cx="5074920" cy="347472"/>
          </a:xfrm>
          <a:prstGeom prst="roundRect">
            <a:avLst>
              <a:gd name="adj" fmla="val 13158"/>
            </a:avLst>
          </a:prstGeom>
          <a:solidFill>
            <a:srgbClr val="FFFFFF"/>
          </a:solidFill>
          <a:ln w="12700">
            <a:solidFill>
              <a:srgbClr val="D5DBE3"/>
            </a:solidFill>
            <a:prstDash val="solid"/>
          </a:ln>
        </p:spPr>
      </p:sp>
      <p:pic>
        <p:nvPicPr>
          <p:cNvPr id="47" name="Image 8" descr="preencoded.png">    </p:cNvPr>
          <p:cNvPicPr>
            <a:picLocks noChangeAspect="1"/>
          </p:cNvPicPr>
          <p:nvPr/>
        </p:nvPicPr>
        <p:blipFill>
          <a:blip r:embed="rId9"/>
          <a:stretch>
            <a:fillRect/>
          </a:stretch>
        </p:blipFill>
        <p:spPr>
          <a:xfrm>
            <a:off x="6446520" y="2798064"/>
            <a:ext cx="237744" cy="237744"/>
          </a:xfrm>
          <a:prstGeom prst="rect">
            <a:avLst/>
          </a:prstGeom>
        </p:spPr>
      </p:pic>
      <p:sp>
        <p:nvSpPr>
          <p:cNvPr id="48" name="Text 37"/>
          <p:cNvSpPr txBox="1"/>
          <p:nvPr/>
        </p:nvSpPr>
        <p:spPr>
          <a:xfrm>
            <a:off x="6775704" y="2743200"/>
            <a:ext cx="4617720" cy="347472"/>
          </a:xfrm>
          <a:prstGeom prst="rect">
            <a:avLst/>
          </a:prstGeom>
          <a:noFill/>
          <a:ln/>
        </p:spPr>
        <p:txBody>
          <a:bodyPr wrap="square" lIns="0" tIns="0" rIns="0" bIns="0" rtlCol="0" anchor="ctr"/>
          <a:lstStyle/>
          <a:p>
            <a:pPr indent="0" marL="0">
              <a:buNone/>
            </a:pPr>
            <a:r>
              <a:rPr lang="en-US" sz="900" dirty="0">
                <a:solidFill>
                  <a:srgbClr val="2B2B2B"/>
                </a:solidFill>
                <a:latin typeface="Meiryo UI" pitchFamily="34" charset="0"/>
                <a:ea typeface="Meiryo UI" pitchFamily="34" charset="-122"/>
                <a:cs typeface="Meiryo UI" pitchFamily="34" charset="-120"/>
              </a:rPr>
              <a:t>画面がカードを読み込み、エージェントに起案・修正を依頼</a:t>
            </a:r>
            <a:endParaRPr lang="en-US" sz="900" dirty="0"/>
          </a:p>
        </p:txBody>
      </p:sp>
      <p:sp>
        <p:nvSpPr>
          <p:cNvPr id="49" name="Shape 38"/>
          <p:cNvSpPr/>
          <p:nvPr/>
        </p:nvSpPr>
        <p:spPr>
          <a:xfrm>
            <a:off x="6565392" y="3090672"/>
            <a:ext cx="0" cy="64008"/>
          </a:xfrm>
          <a:prstGeom prst="line">
            <a:avLst/>
          </a:prstGeom>
          <a:noFill/>
          <a:ln w="12700">
            <a:solidFill>
              <a:srgbClr val="1B2A49"/>
            </a:solidFill>
            <a:prstDash val="solid"/>
            <a:tailEnd type="triangle"/>
          </a:ln>
        </p:spPr>
      </p:sp>
      <p:sp>
        <p:nvSpPr>
          <p:cNvPr id="50" name="Shape 39"/>
          <p:cNvSpPr/>
          <p:nvPr/>
        </p:nvSpPr>
        <p:spPr>
          <a:xfrm>
            <a:off x="6355080" y="3154680"/>
            <a:ext cx="5074920" cy="347472"/>
          </a:xfrm>
          <a:prstGeom prst="roundRect">
            <a:avLst>
              <a:gd name="adj" fmla="val 13158"/>
            </a:avLst>
          </a:prstGeom>
          <a:solidFill>
            <a:srgbClr val="FFFFFF"/>
          </a:solidFill>
          <a:ln w="12700">
            <a:solidFill>
              <a:srgbClr val="D5DBE3"/>
            </a:solidFill>
            <a:prstDash val="solid"/>
          </a:ln>
        </p:spPr>
      </p:sp>
      <p:pic>
        <p:nvPicPr>
          <p:cNvPr id="51" name="Image 9" descr="preencoded.png">    </p:cNvPr>
          <p:cNvPicPr>
            <a:picLocks noChangeAspect="1"/>
          </p:cNvPicPr>
          <p:nvPr/>
        </p:nvPicPr>
        <p:blipFill>
          <a:blip r:embed="rId10"/>
          <a:stretch>
            <a:fillRect/>
          </a:stretch>
        </p:blipFill>
        <p:spPr>
          <a:xfrm>
            <a:off x="6446520" y="3209544"/>
            <a:ext cx="237744" cy="237744"/>
          </a:xfrm>
          <a:prstGeom prst="rect">
            <a:avLst/>
          </a:prstGeom>
        </p:spPr>
      </p:pic>
      <p:sp>
        <p:nvSpPr>
          <p:cNvPr id="52" name="Text 40"/>
          <p:cNvSpPr txBox="1"/>
          <p:nvPr/>
        </p:nvSpPr>
        <p:spPr>
          <a:xfrm>
            <a:off x="6775704" y="3154680"/>
            <a:ext cx="4617720" cy="347472"/>
          </a:xfrm>
          <a:prstGeom prst="rect">
            <a:avLst/>
          </a:prstGeom>
          <a:noFill/>
          <a:ln/>
        </p:spPr>
        <p:txBody>
          <a:bodyPr wrap="square" lIns="0" tIns="0" rIns="0" bIns="0" rtlCol="0" anchor="ctr"/>
          <a:lstStyle/>
          <a:p>
            <a:pPr indent="0" marL="0">
              <a:buNone/>
            </a:pPr>
            <a:r>
              <a:rPr lang="en-US" sz="900" dirty="0">
                <a:solidFill>
                  <a:srgbClr val="2B2B2B"/>
                </a:solidFill>
                <a:latin typeface="Meiryo UI" pitchFamily="34" charset="0"/>
                <a:ea typeface="Meiryo UI" pitchFamily="34" charset="-122"/>
                <a:cs typeface="Meiryo UI" pitchFamily="34" charset="-120"/>
              </a:rPr>
              <a:t>チャット、候補の入れ替え、プレビューで確認 → 「確定」ボタン</a:t>
            </a:r>
            <a:endParaRPr lang="en-US" sz="900" dirty="0"/>
          </a:p>
        </p:txBody>
      </p:sp>
      <p:sp>
        <p:nvSpPr>
          <p:cNvPr id="53" name="Shape 41"/>
          <p:cNvSpPr/>
          <p:nvPr/>
        </p:nvSpPr>
        <p:spPr>
          <a:xfrm>
            <a:off x="6565392" y="3502152"/>
            <a:ext cx="0" cy="64008"/>
          </a:xfrm>
          <a:prstGeom prst="line">
            <a:avLst/>
          </a:prstGeom>
          <a:noFill/>
          <a:ln w="12700">
            <a:solidFill>
              <a:srgbClr val="1B2A49"/>
            </a:solidFill>
            <a:prstDash val="solid"/>
            <a:tailEnd type="triangle"/>
          </a:ln>
        </p:spPr>
      </p:sp>
      <p:sp>
        <p:nvSpPr>
          <p:cNvPr id="54" name="Shape 42"/>
          <p:cNvSpPr/>
          <p:nvPr/>
        </p:nvSpPr>
        <p:spPr>
          <a:xfrm>
            <a:off x="6355080" y="3566160"/>
            <a:ext cx="5074920" cy="347472"/>
          </a:xfrm>
          <a:prstGeom prst="roundRect">
            <a:avLst>
              <a:gd name="adj" fmla="val 13158"/>
            </a:avLst>
          </a:prstGeom>
          <a:solidFill>
            <a:srgbClr val="FFFFFF"/>
          </a:solidFill>
          <a:ln w="12700">
            <a:solidFill>
              <a:srgbClr val="D5DBE3"/>
            </a:solidFill>
            <a:prstDash val="solid"/>
          </a:ln>
        </p:spPr>
      </p:sp>
      <p:pic>
        <p:nvPicPr>
          <p:cNvPr id="55" name="Image 10" descr="preencoded.png">    </p:cNvPr>
          <p:cNvPicPr>
            <a:picLocks noChangeAspect="1"/>
          </p:cNvPicPr>
          <p:nvPr/>
        </p:nvPicPr>
        <p:blipFill>
          <a:blip r:embed="rId11"/>
          <a:stretch>
            <a:fillRect/>
          </a:stretch>
        </p:blipFill>
        <p:spPr>
          <a:xfrm>
            <a:off x="6446520" y="3621024"/>
            <a:ext cx="237744" cy="237744"/>
          </a:xfrm>
          <a:prstGeom prst="rect">
            <a:avLst/>
          </a:prstGeom>
        </p:spPr>
      </p:pic>
      <p:sp>
        <p:nvSpPr>
          <p:cNvPr id="56" name="Text 43"/>
          <p:cNvSpPr txBox="1"/>
          <p:nvPr/>
        </p:nvSpPr>
        <p:spPr>
          <a:xfrm>
            <a:off x="6775704" y="3566160"/>
            <a:ext cx="4617720" cy="347472"/>
          </a:xfrm>
          <a:prstGeom prst="rect">
            <a:avLst/>
          </a:prstGeom>
          <a:noFill/>
          <a:ln/>
        </p:spPr>
        <p:txBody>
          <a:bodyPr wrap="square" lIns="0" tIns="0" rIns="0" bIns="0" rtlCol="0" anchor="ctr"/>
          <a:lstStyle/>
          <a:p>
            <a:pPr indent="0" marL="0">
              <a:buNone/>
            </a:pPr>
            <a:r>
              <a:rPr lang="en-US" sz="900" dirty="0">
                <a:solidFill>
                  <a:srgbClr val="2B2B2B"/>
                </a:solidFill>
                <a:latin typeface="Meiryo UI" pitchFamily="34" charset="0"/>
                <a:ea typeface="Meiryo UI" pitchFamily="34" charset="-122"/>
                <a:cs typeface="Meiryo UI" pitchFamily="34" charset="-120"/>
              </a:rPr>
              <a:t>Airtableに書き込む（フロー経由、またはコネクタから直接）</a:t>
            </a:r>
            <a:endParaRPr lang="en-US" sz="900" dirty="0"/>
          </a:p>
        </p:txBody>
      </p:sp>
      <p:sp>
        <p:nvSpPr>
          <p:cNvPr id="57" name="Shape 44"/>
          <p:cNvSpPr/>
          <p:nvPr/>
        </p:nvSpPr>
        <p:spPr>
          <a:xfrm>
            <a:off x="6565392" y="3913632"/>
            <a:ext cx="0" cy="64008"/>
          </a:xfrm>
          <a:prstGeom prst="line">
            <a:avLst/>
          </a:prstGeom>
          <a:noFill/>
          <a:ln w="12700">
            <a:solidFill>
              <a:srgbClr val="1B2A49"/>
            </a:solidFill>
            <a:prstDash val="solid"/>
            <a:tailEnd type="triangle"/>
          </a:ln>
        </p:spPr>
      </p:sp>
      <p:sp>
        <p:nvSpPr>
          <p:cNvPr id="58" name="Shape 45"/>
          <p:cNvSpPr/>
          <p:nvPr/>
        </p:nvSpPr>
        <p:spPr>
          <a:xfrm>
            <a:off x="6355080" y="3977640"/>
            <a:ext cx="5074920" cy="347472"/>
          </a:xfrm>
          <a:prstGeom prst="roundRect">
            <a:avLst>
              <a:gd name="adj" fmla="val 13158"/>
            </a:avLst>
          </a:prstGeom>
          <a:solidFill>
            <a:srgbClr val="FFFFFF"/>
          </a:solidFill>
          <a:ln w="12700">
            <a:solidFill>
              <a:srgbClr val="D5DBE3"/>
            </a:solidFill>
            <a:prstDash val="solid"/>
          </a:ln>
        </p:spPr>
      </p:sp>
      <p:pic>
        <p:nvPicPr>
          <p:cNvPr id="59" name="Image 11" descr="preencoded.png">    </p:cNvPr>
          <p:cNvPicPr>
            <a:picLocks noChangeAspect="1"/>
          </p:cNvPicPr>
          <p:nvPr/>
        </p:nvPicPr>
        <p:blipFill>
          <a:blip r:embed="rId12"/>
          <a:stretch>
            <a:fillRect/>
          </a:stretch>
        </p:blipFill>
        <p:spPr>
          <a:xfrm>
            <a:off x="6446520" y="4032504"/>
            <a:ext cx="237744" cy="237744"/>
          </a:xfrm>
          <a:prstGeom prst="rect">
            <a:avLst/>
          </a:prstGeom>
        </p:spPr>
      </p:pic>
      <p:sp>
        <p:nvSpPr>
          <p:cNvPr id="60" name="Text 46"/>
          <p:cNvSpPr txBox="1"/>
          <p:nvPr/>
        </p:nvSpPr>
        <p:spPr>
          <a:xfrm>
            <a:off x="6775704" y="3977640"/>
            <a:ext cx="4617720" cy="347472"/>
          </a:xfrm>
          <a:prstGeom prst="rect">
            <a:avLst/>
          </a:prstGeom>
          <a:noFill/>
          <a:ln/>
        </p:spPr>
        <p:txBody>
          <a:bodyPr wrap="square" lIns="0" tIns="0" rIns="0" bIns="0" rtlCol="0" anchor="ctr"/>
          <a:lstStyle/>
          <a:p>
            <a:pPr indent="0" marL="0">
              <a:buNone/>
            </a:pPr>
            <a:r>
              <a:rPr lang="en-US" sz="900" dirty="0">
                <a:solidFill>
                  <a:srgbClr val="2B2B2B"/>
                </a:solidFill>
                <a:latin typeface="Meiryo UI" pitchFamily="34" charset="0"/>
                <a:ea typeface="Meiryo UI" pitchFamily="34" charset="-122"/>
                <a:cs typeface="Meiryo UI" pitchFamily="34" charset="-120"/>
              </a:rPr>
              <a:t>「Airtableに戻る」リンクで元のカードへ</a:t>
            </a:r>
            <a:endParaRPr lang="en-US" sz="900" dirty="0"/>
          </a:p>
        </p:txBody>
      </p:sp>
      <p:sp>
        <p:nvSpPr>
          <p:cNvPr id="61" name="Text 47"/>
          <p:cNvSpPr txBox="1"/>
          <p:nvPr/>
        </p:nvSpPr>
        <p:spPr>
          <a:xfrm>
            <a:off x="6355080" y="4462272"/>
            <a:ext cx="5074920" cy="1847088"/>
          </a:xfrm>
          <a:prstGeom prst="rect">
            <a:avLst/>
          </a:prstGeom>
          <a:noFill/>
          <a:ln/>
        </p:spPr>
        <p:txBody>
          <a:bodyPr wrap="square" lIns="254" tIns="254" rIns="254" bIns="254" rtlCol="0" anchor="t"/>
          <a:lstStyle/>
          <a:p>
            <a:pPr indent="0" marL="0">
              <a:buNone/>
            </a:pPr>
            <a:r>
              <a:rPr lang="en-US" sz="880" b="1" dirty="0">
                <a:solidFill>
                  <a:srgbClr val="0E9F9A"/>
                </a:solidFill>
                <a:latin typeface="Meiryo UI" pitchFamily="34" charset="0"/>
                <a:ea typeface="Meiryo UI" pitchFamily="34" charset="-122"/>
                <a:cs typeface="Meiryo UI" pitchFamily="34" charset="-120"/>
              </a:rPr>
              <a:t>必要なもの</a:t>
            </a:r>
            <a:endParaRPr lang="en-US" sz="880" dirty="0"/>
          </a:p>
          <a:p>
            <a:pPr indent="0" marL="0">
              <a:spcAft>
                <a:spcPts val="400"/>
              </a:spcAft>
              <a:buNone/>
            </a:pPr>
            <a:r>
              <a:rPr lang="en-US" sz="880" dirty="0">
                <a:solidFill>
                  <a:srgbClr val="2B2B2B"/>
                </a:solidFill>
                <a:latin typeface="Meiryo UI" pitchFamily="34" charset="0"/>
                <a:ea typeface="Meiryo UI" pitchFamily="34" charset="-122"/>
                <a:cs typeface="Meiryo UI" pitchFamily="34" charset="-120"/>
              </a:rPr>
              <a:t>専用画面（code appsの場合は利用者全員にPower Apps Premium）、Copilot Studioのエージェント、Airtable用のカスタムコネクタまたは書き込み用のフロー</a:t>
            </a:r>
            <a:endParaRPr lang="en-US" sz="880" dirty="0"/>
          </a:p>
          <a:p>
            <a:pPr indent="0" marL="0">
              <a:buNone/>
            </a:pPr>
            <a:r>
              <a:rPr lang="en-US" sz="880" b="1" dirty="0">
                <a:solidFill>
                  <a:srgbClr val="0E9F9A"/>
                </a:solidFill>
                <a:latin typeface="Meiryo UI" pitchFamily="34" charset="0"/>
                <a:ea typeface="Meiryo UI" pitchFamily="34" charset="-122"/>
                <a:cs typeface="Meiryo UI" pitchFamily="34" charset="-120"/>
              </a:rPr>
              <a:t>長所</a:t>
            </a:r>
            <a:endParaRPr lang="en-US" sz="880" dirty="0"/>
          </a:p>
          <a:p>
            <a:pPr indent="0" marL="0">
              <a:spcAft>
                <a:spcPts val="400"/>
              </a:spcAft>
              <a:buNone/>
            </a:pPr>
            <a:r>
              <a:rPr lang="en-US" sz="880" dirty="0">
                <a:solidFill>
                  <a:srgbClr val="2B2B2B"/>
                </a:solidFill>
                <a:latin typeface="Meiryo UI" pitchFamily="34" charset="0"/>
                <a:ea typeface="Meiryo UI" pitchFamily="34" charset="-122"/>
                <a:cs typeface="Meiryo UI" pitchFamily="34" charset="-120"/>
              </a:rPr>
              <a:t>カードIDを確実に受け渡せる。項目の選択、候補の入れ替え、プレビューなど画面を自由に作れる。確定はボタン操作なので、エージェントが勝手に書き込む余地がない</a:t>
            </a:r>
            <a:endParaRPr lang="en-US" sz="880" dirty="0"/>
          </a:p>
          <a:p>
            <a:pPr indent="0" marL="0">
              <a:buNone/>
            </a:pPr>
            <a:r>
              <a:rPr lang="en-US" sz="880" b="1" dirty="0">
                <a:solidFill>
                  <a:srgbClr val="0E9F9A"/>
                </a:solidFill>
                <a:latin typeface="Meiryo UI" pitchFamily="34" charset="0"/>
                <a:ea typeface="Meiryo UI" pitchFamily="34" charset="-122"/>
                <a:cs typeface="Meiryo UI" pitchFamily="34" charset="-120"/>
              </a:rPr>
              <a:t>留意点</a:t>
            </a:r>
            <a:endParaRPr lang="en-US" sz="880" dirty="0"/>
          </a:p>
          <a:p>
            <a:pPr indent="0" marL="0">
              <a:spcAft>
                <a:spcPts val="400"/>
              </a:spcAft>
              <a:buNone/>
            </a:pPr>
            <a:r>
              <a:rPr lang="en-US" sz="880" dirty="0">
                <a:solidFill>
                  <a:srgbClr val="2B2B2B"/>
                </a:solidFill>
                <a:latin typeface="Meiryo UI" pitchFamily="34" charset="0"/>
                <a:ea typeface="Meiryo UI" pitchFamily="34" charset="-122"/>
                <a:cs typeface="Meiryo UI" pitchFamily="34" charset="-120"/>
              </a:rPr>
              <a:t>画面の開発・保守が必要</a:t>
            </a:r>
            <a:endParaRPr lang="en-US" sz="88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U3の書き込み先の選択肢と、設計で考えておくこと</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Power Automateで書き込むと、PATをフローの接続に一元管理でき、形式チェックや確定者・日時の記録もまとめて行える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 修正指示のUI</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24</a:t>
            </a:r>
            <a:endParaRPr lang="en-US" sz="900" dirty="0"/>
          </a:p>
        </p:txBody>
      </p:sp>
      <p:sp>
        <p:nvSpPr>
          <p:cNvPr id="6" name="Text 4"/>
          <p:cNvSpPr txBox="1"/>
          <p:nvPr/>
        </p:nvSpPr>
        <p:spPr>
          <a:xfrm>
            <a:off x="548640" y="1371600"/>
            <a:ext cx="7315200" cy="320040"/>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書き込み先の選択肢（前提「確定は人が行う」との関係）</a:t>
            </a:r>
            <a:endParaRPr lang="en-US" sz="13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64240" cy="914400"/>
        </p:xfrm>
        <a:graphic>
          <a:graphicData uri="http://schemas.openxmlformats.org/drawingml/2006/table">
            <a:tbl>
              <a:tblPr/>
              <a:tblGrid>
                <a:gridCol w="2377440"/>
                <a:gridCol w="3108960"/>
                <a:gridCol w="2743200"/>
                <a:gridCol w="2834640"/>
              </a:tblGrid>
              <a:tr h="384048">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選択肢</a:t>
                      </a:r>
                      <a:endParaRPr lang="en-US" sz="10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内容</a:t>
                      </a:r>
                      <a:endParaRPr lang="en-US" sz="10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長所</a:t>
                      </a:r>
                      <a:endParaRPr lang="en-US" sz="10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留意点</a:t>
                      </a:r>
                      <a:endParaRPr lang="en-US" sz="10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r>
              <a:tr h="640080">
                <a:tc>
                  <a:txBody>
                    <a:bodyPr/>
                    <a:lstStyle/>
                    <a:p>
                      <a:pPr indent="0" marL="0">
                        <a:buNone/>
                      </a:pPr>
                      <a:r>
                        <a:rPr lang="en-US" sz="1000" b="1" dirty="0">
                          <a:solidFill>
                            <a:srgbClr val="1B2A49"/>
                          </a:solidFill>
                          <a:latin typeface="Meiryo UI" pitchFamily="34" charset="0"/>
                          <a:ea typeface="Meiryo UI" pitchFamily="34" charset="-122"/>
                          <a:cs typeface="Meiryo UI" pitchFamily="34" charset="-120"/>
                        </a:rPr>
                        <a:t>① 確定欄に直接書き込む</a:t>
                      </a:r>
                      <a:endParaRPr lang="en-US" sz="10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1000" dirty="0">
                          <a:solidFill>
                            <a:srgbClr val="2B2B2B"/>
                          </a:solidFill>
                          <a:latin typeface="Meiryo UI" pitchFamily="34" charset="0"/>
                          <a:ea typeface="Meiryo UI" pitchFamily="34" charset="-122"/>
                          <a:cs typeface="Meiryo UI" pitchFamily="34" charset="-120"/>
                        </a:rPr>
                        <a:t>別タブで利用者が「確定」を明示した時点で、確定欄に書き込む</a:t>
                      </a:r>
                      <a:endParaRPr lang="en-US" sz="10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000" dirty="0">
                          <a:solidFill>
                            <a:srgbClr val="2B2B2B"/>
                          </a:solidFill>
                          <a:latin typeface="Meiryo UI" pitchFamily="34" charset="0"/>
                          <a:ea typeface="Meiryo UI" pitchFamily="34" charset="-122"/>
                          <a:cs typeface="Meiryo UI" pitchFamily="34" charset="-120"/>
                        </a:rPr>
                        <a:t>手間が少ない。Airtableに戻った時点で完了している</a:t>
                      </a:r>
                      <a:endParaRPr lang="en-US" sz="10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000" dirty="0">
                          <a:solidFill>
                            <a:srgbClr val="2B2B2B"/>
                          </a:solidFill>
                          <a:latin typeface="Meiryo UI" pitchFamily="34" charset="0"/>
                          <a:ea typeface="Meiryo UI" pitchFamily="34" charset="-122"/>
                          <a:cs typeface="Meiryo UI" pitchFamily="34" charset="-120"/>
                        </a:rPr>
                        <a:t>確定の操作が別タブ側になる。Airtable側では確定の記録（誰が・いつ）を別に残す必要がある</a:t>
                      </a:r>
                      <a:endParaRPr lang="en-US" sz="10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640080">
                <a:tc>
                  <a:txBody>
                    <a:bodyPr/>
                    <a:lstStyle/>
                    <a:p>
                      <a:pPr indent="0" marL="0">
                        <a:buNone/>
                      </a:pPr>
                      <a:r>
                        <a:rPr lang="en-US" sz="1000" b="1" dirty="0">
                          <a:solidFill>
                            <a:srgbClr val="1B2A49"/>
                          </a:solidFill>
                          <a:latin typeface="Meiryo UI" pitchFamily="34" charset="0"/>
                          <a:ea typeface="Meiryo UI" pitchFamily="34" charset="-122"/>
                          <a:cs typeface="Meiryo UI" pitchFamily="34" charset="-120"/>
                        </a:rPr>
                        <a:t>② 下書き欄に書き込み、Airtableで最終確定</a:t>
                      </a:r>
                      <a:endParaRPr lang="en-US" sz="10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1000" dirty="0">
                          <a:solidFill>
                            <a:srgbClr val="2B2B2B"/>
                          </a:solidFill>
                          <a:latin typeface="Meiryo UI" pitchFamily="34" charset="0"/>
                          <a:ea typeface="Meiryo UI" pitchFamily="34" charset="-122"/>
                          <a:cs typeface="Meiryo UI" pitchFamily="34" charset="-120"/>
                        </a:rPr>
                        <a:t>別タブでは下書きを仕上げるまでとし、Airtableに戻ってから確定ボタンを押す</a:t>
                      </a:r>
                      <a:endParaRPr lang="en-US" sz="10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000" dirty="0">
                          <a:solidFill>
                            <a:srgbClr val="2B2B2B"/>
                          </a:solidFill>
                          <a:latin typeface="Meiryo UI" pitchFamily="34" charset="0"/>
                          <a:ea typeface="Meiryo UI" pitchFamily="34" charset="-122"/>
                          <a:cs typeface="Meiryo UI" pitchFamily="34" charset="-120"/>
                        </a:rPr>
                        <a:t>確定の操作がAirtableに一本化される。確定前にAirtable上で最終確認できる</a:t>
                      </a:r>
                      <a:endParaRPr lang="en-US" sz="10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000" dirty="0">
                          <a:solidFill>
                            <a:srgbClr val="2B2B2B"/>
                          </a:solidFill>
                          <a:latin typeface="Meiryo UI" pitchFamily="34" charset="0"/>
                          <a:ea typeface="Meiryo UI" pitchFamily="34" charset="-122"/>
                          <a:cs typeface="Meiryo UI" pitchFamily="34" charset="-120"/>
                        </a:rPr>
                        <a:t>操作が1回増える</a:t>
                      </a:r>
                      <a:endParaRPr lang="en-US" sz="1000" dirty="0">
                        <a:latin typeface="Meiryo UI" charset="0"/>
                        <a:ea typeface="Meiryo UI" charset="0"/>
                        <a:cs typeface="Meiryo UI" charset="0"/>
                      </a:endParaRPr>
                    </a:p>
                  </a:txBody>
                  <a:tcPr marL="45720" marR="4572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
        <p:nvSpPr>
          <p:cNvPr id="8" name="Text 5"/>
          <p:cNvSpPr txBox="1"/>
          <p:nvPr/>
        </p:nvSpPr>
        <p:spPr>
          <a:xfrm>
            <a:off x="548640" y="3456432"/>
            <a:ext cx="7315200" cy="320040"/>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設計で考えておくこと（U1〜U4共通）</a:t>
            </a:r>
            <a:endParaRPr lang="en-US" sz="1300" dirty="0"/>
          </a:p>
        </p:txBody>
      </p:sp>
      <p:sp>
        <p:nvSpPr>
          <p:cNvPr id="9" name="Shape 6"/>
          <p:cNvSpPr/>
          <p:nvPr/>
        </p:nvSpPr>
        <p:spPr>
          <a:xfrm>
            <a:off x="548640" y="3840480"/>
            <a:ext cx="3611880" cy="1170432"/>
          </a:xfrm>
          <a:prstGeom prst="roundRect">
            <a:avLst>
              <a:gd name="adj" fmla="val 3906"/>
            </a:avLst>
          </a:prstGeom>
          <a:solidFill>
            <a:srgbClr val="F3F5F8"/>
          </a:solidFill>
          <a:ln/>
        </p:spPr>
      </p:sp>
      <p:sp>
        <p:nvSpPr>
          <p:cNvPr id="10" name="Shape 7"/>
          <p:cNvSpPr/>
          <p:nvPr/>
        </p:nvSpPr>
        <p:spPr>
          <a:xfrm>
            <a:off x="658368" y="3931920"/>
            <a:ext cx="365760" cy="365760"/>
          </a:xfrm>
          <a:prstGeom prst="ellipse">
            <a:avLst/>
          </a:prstGeom>
          <a:solidFill>
            <a:srgbClr val="FFFFFF"/>
          </a:solidFill>
          <a:ln/>
        </p:spPr>
      </p:sp>
      <p:pic>
        <p:nvPicPr>
          <p:cNvPr id="11" name="Image 0" descr="preencoded.png">    </p:cNvPr>
          <p:cNvPicPr>
            <a:picLocks noChangeAspect="1"/>
          </p:cNvPicPr>
          <p:nvPr/>
        </p:nvPicPr>
        <p:blipFill>
          <a:blip r:embed="rId1"/>
          <a:stretch>
            <a:fillRect/>
          </a:stretch>
        </p:blipFill>
        <p:spPr>
          <a:xfrm>
            <a:off x="731520" y="4005072"/>
            <a:ext cx="219456" cy="219456"/>
          </a:xfrm>
          <a:prstGeom prst="rect">
            <a:avLst/>
          </a:prstGeom>
        </p:spPr>
      </p:pic>
      <p:sp>
        <p:nvSpPr>
          <p:cNvPr id="12" name="Text 8"/>
          <p:cNvSpPr txBox="1"/>
          <p:nvPr/>
        </p:nvSpPr>
        <p:spPr>
          <a:xfrm>
            <a:off x="1097280" y="3931920"/>
            <a:ext cx="2971800" cy="365760"/>
          </a:xfrm>
          <a:prstGeom prst="rect">
            <a:avLst/>
          </a:prstGeom>
          <a:noFill/>
          <a:ln/>
        </p:spPr>
        <p:txBody>
          <a:bodyPr wrap="square" lIns="0" tIns="0" rIns="0" bIns="0" rtlCol="0" anchor="ctr"/>
          <a:lstStyle/>
          <a:p>
            <a:pPr indent="0" marL="0">
              <a:buNone/>
            </a:pPr>
            <a:r>
              <a:rPr lang="en-US" sz="1100" b="1" dirty="0">
                <a:solidFill>
                  <a:srgbClr val="1B2A49"/>
                </a:solidFill>
                <a:latin typeface="Meiryo UI" pitchFamily="34" charset="0"/>
                <a:ea typeface="Meiryo UI" pitchFamily="34" charset="-122"/>
                <a:cs typeface="Meiryo UI" pitchFamily="34" charset="-120"/>
              </a:rPr>
              <a:t>修正対象の単位</a:t>
            </a:r>
            <a:endParaRPr lang="en-US" sz="1100" dirty="0"/>
          </a:p>
        </p:txBody>
      </p:sp>
      <p:sp>
        <p:nvSpPr>
          <p:cNvPr id="13" name="Text 9"/>
          <p:cNvSpPr txBox="1"/>
          <p:nvPr/>
        </p:nvSpPr>
        <p:spPr>
          <a:xfrm>
            <a:off x="685800" y="4343400"/>
            <a:ext cx="3337560" cy="621792"/>
          </a:xfrm>
          <a:prstGeom prst="rect">
            <a:avLst/>
          </a:prstGeom>
          <a:noFill/>
          <a:ln/>
        </p:spPr>
        <p:txBody>
          <a:bodyPr wrap="square" lIns="0" tIns="0" rIns="0" bIns="0" rtlCol="0" anchor="t"/>
          <a:lstStyle/>
          <a:p>
            <a:pPr indent="0" marL="0">
              <a:buNone/>
            </a:pPr>
            <a:r>
              <a:rPr lang="en-US" sz="900" dirty="0">
                <a:solidFill>
                  <a:srgbClr val="2B2B2B"/>
                </a:solidFill>
                <a:latin typeface="Meiryo UI" pitchFamily="34" charset="0"/>
                <a:ea typeface="Meiryo UI" pitchFamily="34" charset="-122"/>
                <a:cs typeface="Meiryo UI" pitchFamily="34" charset="-120"/>
              </a:rPr>
              <a:t>項目を選んで、その項目だけを再生成する。他の項目との整合（商品を変えたらコピーも見直すか）の扱いを決めておく</a:t>
            </a:r>
            <a:endParaRPr lang="en-US" sz="900" dirty="0"/>
          </a:p>
        </p:txBody>
      </p:sp>
      <p:sp>
        <p:nvSpPr>
          <p:cNvPr id="14" name="Shape 10"/>
          <p:cNvSpPr/>
          <p:nvPr/>
        </p:nvSpPr>
        <p:spPr>
          <a:xfrm>
            <a:off x="4270248" y="3840480"/>
            <a:ext cx="3611880" cy="1170432"/>
          </a:xfrm>
          <a:prstGeom prst="roundRect">
            <a:avLst>
              <a:gd name="adj" fmla="val 3906"/>
            </a:avLst>
          </a:prstGeom>
          <a:solidFill>
            <a:srgbClr val="F3F5F8"/>
          </a:solidFill>
          <a:ln/>
        </p:spPr>
      </p:sp>
      <p:sp>
        <p:nvSpPr>
          <p:cNvPr id="15" name="Shape 11"/>
          <p:cNvSpPr/>
          <p:nvPr/>
        </p:nvSpPr>
        <p:spPr>
          <a:xfrm>
            <a:off x="4379976" y="3931920"/>
            <a:ext cx="365760" cy="365760"/>
          </a:xfrm>
          <a:prstGeom prst="ellipse">
            <a:avLst/>
          </a:prstGeom>
          <a:solidFill>
            <a:srgbClr val="FFFFFF"/>
          </a:solidFill>
          <a:ln/>
        </p:spPr>
      </p:sp>
      <p:pic>
        <p:nvPicPr>
          <p:cNvPr id="16" name="Image 1" descr="preencoded.png">    </p:cNvPr>
          <p:cNvPicPr>
            <a:picLocks noChangeAspect="1"/>
          </p:cNvPicPr>
          <p:nvPr/>
        </p:nvPicPr>
        <p:blipFill>
          <a:blip r:embed="rId2"/>
          <a:stretch>
            <a:fillRect/>
          </a:stretch>
        </p:blipFill>
        <p:spPr>
          <a:xfrm>
            <a:off x="4453128" y="4005072"/>
            <a:ext cx="219456" cy="219456"/>
          </a:xfrm>
          <a:prstGeom prst="rect">
            <a:avLst/>
          </a:prstGeom>
        </p:spPr>
      </p:pic>
      <p:sp>
        <p:nvSpPr>
          <p:cNvPr id="17" name="Text 12"/>
          <p:cNvSpPr txBox="1"/>
          <p:nvPr/>
        </p:nvSpPr>
        <p:spPr>
          <a:xfrm>
            <a:off x="4818888" y="3931920"/>
            <a:ext cx="2971800" cy="365760"/>
          </a:xfrm>
          <a:prstGeom prst="rect">
            <a:avLst/>
          </a:prstGeom>
          <a:noFill/>
          <a:ln/>
        </p:spPr>
        <p:txBody>
          <a:bodyPr wrap="square" lIns="0" tIns="0" rIns="0" bIns="0" rtlCol="0" anchor="ctr"/>
          <a:lstStyle/>
          <a:p>
            <a:pPr indent="0" marL="0">
              <a:buNone/>
            </a:pPr>
            <a:r>
              <a:rPr lang="en-US" sz="1100" b="1" dirty="0">
                <a:solidFill>
                  <a:srgbClr val="1B2A49"/>
                </a:solidFill>
                <a:latin typeface="Meiryo UI" pitchFamily="34" charset="0"/>
                <a:ea typeface="Meiryo UI" pitchFamily="34" charset="-122"/>
                <a:cs typeface="Meiryo UI" pitchFamily="34" charset="-120"/>
              </a:rPr>
              <a:t>やり取りの履歴</a:t>
            </a:r>
            <a:endParaRPr lang="en-US" sz="1100" dirty="0"/>
          </a:p>
        </p:txBody>
      </p:sp>
      <p:sp>
        <p:nvSpPr>
          <p:cNvPr id="18" name="Text 13"/>
          <p:cNvSpPr txBox="1"/>
          <p:nvPr/>
        </p:nvSpPr>
        <p:spPr>
          <a:xfrm>
            <a:off x="4407408" y="4343400"/>
            <a:ext cx="3337560" cy="621792"/>
          </a:xfrm>
          <a:prstGeom prst="rect">
            <a:avLst/>
          </a:prstGeom>
          <a:noFill/>
          <a:ln/>
        </p:spPr>
        <p:txBody>
          <a:bodyPr wrap="square" lIns="0" tIns="0" rIns="0" bIns="0" rtlCol="0" anchor="t"/>
          <a:lstStyle/>
          <a:p>
            <a:pPr indent="0" marL="0">
              <a:buNone/>
            </a:pPr>
            <a:r>
              <a:rPr lang="en-US" sz="900" dirty="0">
                <a:solidFill>
                  <a:srgbClr val="2B2B2B"/>
                </a:solidFill>
                <a:latin typeface="Meiryo UI" pitchFamily="34" charset="0"/>
                <a:ea typeface="Meiryo UI" pitchFamily="34" charset="-122"/>
                <a:cs typeface="Meiryo UI" pitchFamily="34" charset="-120"/>
              </a:rPr>
              <a:t>修正の経緯を保存し、再指示のたびに「前回の下書き＋指示＋履歴」をエージェントに渡す</a:t>
            </a:r>
            <a:endParaRPr lang="en-US" sz="900" dirty="0"/>
          </a:p>
        </p:txBody>
      </p:sp>
      <p:sp>
        <p:nvSpPr>
          <p:cNvPr id="19" name="Shape 14"/>
          <p:cNvSpPr/>
          <p:nvPr/>
        </p:nvSpPr>
        <p:spPr>
          <a:xfrm>
            <a:off x="7991856" y="3840480"/>
            <a:ext cx="3611880" cy="1170432"/>
          </a:xfrm>
          <a:prstGeom prst="roundRect">
            <a:avLst>
              <a:gd name="adj" fmla="val 3906"/>
            </a:avLst>
          </a:prstGeom>
          <a:solidFill>
            <a:srgbClr val="F3F5F8"/>
          </a:solidFill>
          <a:ln/>
        </p:spPr>
      </p:sp>
      <p:sp>
        <p:nvSpPr>
          <p:cNvPr id="20" name="Shape 15"/>
          <p:cNvSpPr/>
          <p:nvPr/>
        </p:nvSpPr>
        <p:spPr>
          <a:xfrm>
            <a:off x="8101584" y="3931920"/>
            <a:ext cx="365760" cy="365760"/>
          </a:xfrm>
          <a:prstGeom prst="ellipse">
            <a:avLst/>
          </a:prstGeom>
          <a:solidFill>
            <a:srgbClr val="FFFFFF"/>
          </a:solidFill>
          <a:ln/>
        </p:spPr>
      </p:sp>
      <p:pic>
        <p:nvPicPr>
          <p:cNvPr id="21" name="Image 2" descr="preencoded.png">    </p:cNvPr>
          <p:cNvPicPr>
            <a:picLocks noChangeAspect="1"/>
          </p:cNvPicPr>
          <p:nvPr/>
        </p:nvPicPr>
        <p:blipFill>
          <a:blip r:embed="rId3"/>
          <a:stretch>
            <a:fillRect/>
          </a:stretch>
        </p:blipFill>
        <p:spPr>
          <a:xfrm>
            <a:off x="8174736" y="4005072"/>
            <a:ext cx="219456" cy="219456"/>
          </a:xfrm>
          <a:prstGeom prst="rect">
            <a:avLst/>
          </a:prstGeom>
        </p:spPr>
      </p:pic>
      <p:sp>
        <p:nvSpPr>
          <p:cNvPr id="22" name="Text 16"/>
          <p:cNvSpPr txBox="1"/>
          <p:nvPr/>
        </p:nvSpPr>
        <p:spPr>
          <a:xfrm>
            <a:off x="8540496" y="3931920"/>
            <a:ext cx="2971800" cy="365760"/>
          </a:xfrm>
          <a:prstGeom prst="rect">
            <a:avLst/>
          </a:prstGeom>
          <a:noFill/>
          <a:ln/>
        </p:spPr>
        <p:txBody>
          <a:bodyPr wrap="square" lIns="0" tIns="0" rIns="0" bIns="0" rtlCol="0" anchor="ctr"/>
          <a:lstStyle/>
          <a:p>
            <a:pPr indent="0" marL="0">
              <a:buNone/>
            </a:pPr>
            <a:r>
              <a:rPr lang="en-US" sz="1100" b="1" dirty="0">
                <a:solidFill>
                  <a:srgbClr val="1B2A49"/>
                </a:solidFill>
                <a:latin typeface="Meiryo UI" pitchFamily="34" charset="0"/>
                <a:ea typeface="Meiryo UI" pitchFamily="34" charset="-122"/>
                <a:cs typeface="Meiryo UI" pitchFamily="34" charset="-120"/>
              </a:rPr>
              <a:t>待ち時間の見せ方</a:t>
            </a:r>
            <a:endParaRPr lang="en-US" sz="1100" dirty="0"/>
          </a:p>
        </p:txBody>
      </p:sp>
      <p:sp>
        <p:nvSpPr>
          <p:cNvPr id="23" name="Text 17"/>
          <p:cNvSpPr txBox="1"/>
          <p:nvPr/>
        </p:nvSpPr>
        <p:spPr>
          <a:xfrm>
            <a:off x="8129016" y="4343400"/>
            <a:ext cx="3337560" cy="621792"/>
          </a:xfrm>
          <a:prstGeom prst="rect">
            <a:avLst/>
          </a:prstGeom>
          <a:noFill/>
          <a:ln/>
        </p:spPr>
        <p:txBody>
          <a:bodyPr wrap="square" lIns="0" tIns="0" rIns="0" bIns="0" rtlCol="0" anchor="t"/>
          <a:lstStyle/>
          <a:p>
            <a:pPr indent="0" marL="0">
              <a:buNone/>
            </a:pPr>
            <a:r>
              <a:rPr lang="en-US" sz="900" dirty="0">
                <a:solidFill>
                  <a:srgbClr val="2B2B2B"/>
                </a:solidFill>
                <a:latin typeface="Meiryo UI" pitchFamily="34" charset="0"/>
                <a:ea typeface="Meiryo UI" pitchFamily="34" charset="-122"/>
                <a:cs typeface="Meiryo UI" pitchFamily="34" charset="-120"/>
              </a:rPr>
              <a:t>ステータス（起案中・修正依頼中）を表示し、反映されたことが分かるようにする</a:t>
            </a:r>
            <a:endParaRPr lang="en-US" sz="900" dirty="0"/>
          </a:p>
        </p:txBody>
      </p:sp>
      <p:sp>
        <p:nvSpPr>
          <p:cNvPr id="24" name="Shape 18"/>
          <p:cNvSpPr/>
          <p:nvPr/>
        </p:nvSpPr>
        <p:spPr>
          <a:xfrm>
            <a:off x="548640" y="5102352"/>
            <a:ext cx="3611880" cy="1170432"/>
          </a:xfrm>
          <a:prstGeom prst="roundRect">
            <a:avLst>
              <a:gd name="adj" fmla="val 3906"/>
            </a:avLst>
          </a:prstGeom>
          <a:solidFill>
            <a:srgbClr val="F3F5F8"/>
          </a:solidFill>
          <a:ln/>
        </p:spPr>
      </p:sp>
      <p:sp>
        <p:nvSpPr>
          <p:cNvPr id="25" name="Shape 19"/>
          <p:cNvSpPr/>
          <p:nvPr/>
        </p:nvSpPr>
        <p:spPr>
          <a:xfrm>
            <a:off x="658368" y="5193792"/>
            <a:ext cx="365760" cy="365760"/>
          </a:xfrm>
          <a:prstGeom prst="ellipse">
            <a:avLst/>
          </a:prstGeom>
          <a:solidFill>
            <a:srgbClr val="FFFFFF"/>
          </a:solidFill>
          <a:ln/>
        </p:spPr>
      </p:sp>
      <p:pic>
        <p:nvPicPr>
          <p:cNvPr id="26" name="Image 3" descr="preencoded.png">    </p:cNvPr>
          <p:cNvPicPr>
            <a:picLocks noChangeAspect="1"/>
          </p:cNvPicPr>
          <p:nvPr/>
        </p:nvPicPr>
        <p:blipFill>
          <a:blip r:embed="rId4"/>
          <a:stretch>
            <a:fillRect/>
          </a:stretch>
        </p:blipFill>
        <p:spPr>
          <a:xfrm>
            <a:off x="731520" y="5266944"/>
            <a:ext cx="219456" cy="219456"/>
          </a:xfrm>
          <a:prstGeom prst="rect">
            <a:avLst/>
          </a:prstGeom>
        </p:spPr>
      </p:pic>
      <p:sp>
        <p:nvSpPr>
          <p:cNvPr id="27" name="Text 20"/>
          <p:cNvSpPr txBox="1"/>
          <p:nvPr/>
        </p:nvSpPr>
        <p:spPr>
          <a:xfrm>
            <a:off x="1097280" y="5193792"/>
            <a:ext cx="2971800" cy="365760"/>
          </a:xfrm>
          <a:prstGeom prst="rect">
            <a:avLst/>
          </a:prstGeom>
          <a:noFill/>
          <a:ln/>
        </p:spPr>
        <p:txBody>
          <a:bodyPr wrap="square" lIns="0" tIns="0" rIns="0" bIns="0" rtlCol="0" anchor="ctr"/>
          <a:lstStyle/>
          <a:p>
            <a:pPr indent="0" marL="0">
              <a:buNone/>
            </a:pPr>
            <a:r>
              <a:rPr lang="en-US" sz="1100" b="1" dirty="0">
                <a:solidFill>
                  <a:srgbClr val="1B2A49"/>
                </a:solidFill>
                <a:latin typeface="Meiryo UI" pitchFamily="34" charset="0"/>
                <a:ea typeface="Meiryo UI" pitchFamily="34" charset="-122"/>
                <a:cs typeface="Meiryo UI" pitchFamily="34" charset="-120"/>
              </a:rPr>
              <a:t>確定操作</a:t>
            </a:r>
            <a:endParaRPr lang="en-US" sz="1100" dirty="0"/>
          </a:p>
        </p:txBody>
      </p:sp>
      <p:sp>
        <p:nvSpPr>
          <p:cNvPr id="28" name="Text 21"/>
          <p:cNvSpPr txBox="1"/>
          <p:nvPr/>
        </p:nvSpPr>
        <p:spPr>
          <a:xfrm>
            <a:off x="685800" y="5605272"/>
            <a:ext cx="3337560" cy="621792"/>
          </a:xfrm>
          <a:prstGeom prst="rect">
            <a:avLst/>
          </a:prstGeom>
          <a:noFill/>
          <a:ln/>
        </p:spPr>
        <p:txBody>
          <a:bodyPr wrap="square" lIns="0" tIns="0" rIns="0" bIns="0" rtlCol="0" anchor="t"/>
          <a:lstStyle/>
          <a:p>
            <a:pPr indent="0" marL="0">
              <a:buNone/>
            </a:pPr>
            <a:r>
              <a:rPr lang="en-US" sz="900" dirty="0">
                <a:solidFill>
                  <a:srgbClr val="2B2B2B"/>
                </a:solidFill>
                <a:latin typeface="Meiryo UI" pitchFamily="34" charset="0"/>
                <a:ea typeface="Meiryo UI" pitchFamily="34" charset="-122"/>
                <a:cs typeface="Meiryo UI" pitchFamily="34" charset="-120"/>
              </a:rPr>
              <a:t>確定は人のボタン操作のみで行い、確定した人と日時を記録する</a:t>
            </a:r>
            <a:endParaRPr lang="en-US" sz="900" dirty="0"/>
          </a:p>
        </p:txBody>
      </p:sp>
      <p:sp>
        <p:nvSpPr>
          <p:cNvPr id="29" name="Shape 22"/>
          <p:cNvSpPr/>
          <p:nvPr/>
        </p:nvSpPr>
        <p:spPr>
          <a:xfrm>
            <a:off x="4270248" y="5102352"/>
            <a:ext cx="3611880" cy="1170432"/>
          </a:xfrm>
          <a:prstGeom prst="roundRect">
            <a:avLst>
              <a:gd name="adj" fmla="val 3906"/>
            </a:avLst>
          </a:prstGeom>
          <a:solidFill>
            <a:srgbClr val="F3F5F8"/>
          </a:solidFill>
          <a:ln/>
        </p:spPr>
      </p:sp>
      <p:sp>
        <p:nvSpPr>
          <p:cNvPr id="30" name="Shape 23"/>
          <p:cNvSpPr/>
          <p:nvPr/>
        </p:nvSpPr>
        <p:spPr>
          <a:xfrm>
            <a:off x="4379976" y="5193792"/>
            <a:ext cx="365760" cy="365760"/>
          </a:xfrm>
          <a:prstGeom prst="ellipse">
            <a:avLst/>
          </a:prstGeom>
          <a:solidFill>
            <a:srgbClr val="FFFFFF"/>
          </a:solidFill>
          <a:ln/>
        </p:spPr>
      </p:sp>
      <p:pic>
        <p:nvPicPr>
          <p:cNvPr id="31" name="Image 4" descr="preencoded.png">    </p:cNvPr>
          <p:cNvPicPr>
            <a:picLocks noChangeAspect="1"/>
          </p:cNvPicPr>
          <p:nvPr/>
        </p:nvPicPr>
        <p:blipFill>
          <a:blip r:embed="rId5"/>
          <a:stretch>
            <a:fillRect/>
          </a:stretch>
        </p:blipFill>
        <p:spPr>
          <a:xfrm>
            <a:off x="4453128" y="5266944"/>
            <a:ext cx="219456" cy="219456"/>
          </a:xfrm>
          <a:prstGeom prst="rect">
            <a:avLst/>
          </a:prstGeom>
        </p:spPr>
      </p:pic>
      <p:sp>
        <p:nvSpPr>
          <p:cNvPr id="32" name="Text 24"/>
          <p:cNvSpPr txBox="1"/>
          <p:nvPr/>
        </p:nvSpPr>
        <p:spPr>
          <a:xfrm>
            <a:off x="4818888" y="5193792"/>
            <a:ext cx="2971800" cy="365760"/>
          </a:xfrm>
          <a:prstGeom prst="rect">
            <a:avLst/>
          </a:prstGeom>
          <a:noFill/>
          <a:ln/>
        </p:spPr>
        <p:txBody>
          <a:bodyPr wrap="square" lIns="0" tIns="0" rIns="0" bIns="0" rtlCol="0" anchor="ctr"/>
          <a:lstStyle/>
          <a:p>
            <a:pPr indent="0" marL="0">
              <a:buNone/>
            </a:pPr>
            <a:r>
              <a:rPr lang="en-US" sz="1100" b="1" dirty="0">
                <a:solidFill>
                  <a:srgbClr val="1B2A49"/>
                </a:solidFill>
                <a:latin typeface="Meiryo UI" pitchFamily="34" charset="0"/>
                <a:ea typeface="Meiryo UI" pitchFamily="34" charset="-122"/>
                <a:cs typeface="Meiryo UI" pitchFamily="34" charset="-120"/>
              </a:rPr>
              <a:t>同時編集</a:t>
            </a:r>
            <a:endParaRPr lang="en-US" sz="1100" dirty="0"/>
          </a:p>
        </p:txBody>
      </p:sp>
      <p:sp>
        <p:nvSpPr>
          <p:cNvPr id="33" name="Text 25"/>
          <p:cNvSpPr txBox="1"/>
          <p:nvPr/>
        </p:nvSpPr>
        <p:spPr>
          <a:xfrm>
            <a:off x="4407408" y="5605272"/>
            <a:ext cx="3337560" cy="621792"/>
          </a:xfrm>
          <a:prstGeom prst="rect">
            <a:avLst/>
          </a:prstGeom>
          <a:noFill/>
          <a:ln/>
        </p:spPr>
        <p:txBody>
          <a:bodyPr wrap="square" lIns="0" tIns="0" rIns="0" bIns="0" rtlCol="0" anchor="t"/>
          <a:lstStyle/>
          <a:p>
            <a:pPr indent="0" marL="0">
              <a:buNone/>
            </a:pPr>
            <a:r>
              <a:rPr lang="en-US" sz="900" dirty="0">
                <a:solidFill>
                  <a:srgbClr val="2B2B2B"/>
                </a:solidFill>
                <a:latin typeface="Meiryo UI" pitchFamily="34" charset="0"/>
                <a:ea typeface="Meiryo UI" pitchFamily="34" charset="-122"/>
                <a:cs typeface="Meiryo UI" pitchFamily="34" charset="-120"/>
              </a:rPr>
              <a:t>同じカードを複数人が同時に修正しないようにする（ステータスでのロックなど）</a:t>
            </a:r>
            <a:endParaRPr lang="en-US" sz="900" dirty="0"/>
          </a:p>
        </p:txBody>
      </p:sp>
      <p:sp>
        <p:nvSpPr>
          <p:cNvPr id="34" name="Shape 26"/>
          <p:cNvSpPr/>
          <p:nvPr/>
        </p:nvSpPr>
        <p:spPr>
          <a:xfrm>
            <a:off x="7991856" y="5102352"/>
            <a:ext cx="3611880" cy="1170432"/>
          </a:xfrm>
          <a:prstGeom prst="roundRect">
            <a:avLst>
              <a:gd name="adj" fmla="val 3906"/>
            </a:avLst>
          </a:prstGeom>
          <a:solidFill>
            <a:srgbClr val="F3F5F8"/>
          </a:solidFill>
          <a:ln/>
        </p:spPr>
      </p:sp>
      <p:sp>
        <p:nvSpPr>
          <p:cNvPr id="35" name="Shape 27"/>
          <p:cNvSpPr/>
          <p:nvPr/>
        </p:nvSpPr>
        <p:spPr>
          <a:xfrm>
            <a:off x="8101584" y="5193792"/>
            <a:ext cx="365760" cy="365760"/>
          </a:xfrm>
          <a:prstGeom prst="ellipse">
            <a:avLst/>
          </a:prstGeom>
          <a:solidFill>
            <a:srgbClr val="FFFFFF"/>
          </a:solidFill>
          <a:ln/>
        </p:spPr>
      </p:sp>
      <p:pic>
        <p:nvPicPr>
          <p:cNvPr id="36" name="Image 5" descr="preencoded.png">    </p:cNvPr>
          <p:cNvPicPr>
            <a:picLocks noChangeAspect="1"/>
          </p:cNvPicPr>
          <p:nvPr/>
        </p:nvPicPr>
        <p:blipFill>
          <a:blip r:embed="rId6"/>
          <a:stretch>
            <a:fillRect/>
          </a:stretch>
        </p:blipFill>
        <p:spPr>
          <a:xfrm>
            <a:off x="8174736" y="5266944"/>
            <a:ext cx="219456" cy="219456"/>
          </a:xfrm>
          <a:prstGeom prst="rect">
            <a:avLst/>
          </a:prstGeom>
        </p:spPr>
      </p:pic>
      <p:sp>
        <p:nvSpPr>
          <p:cNvPr id="37" name="Text 28"/>
          <p:cNvSpPr txBox="1"/>
          <p:nvPr/>
        </p:nvSpPr>
        <p:spPr>
          <a:xfrm>
            <a:off x="8540496" y="5193792"/>
            <a:ext cx="2971800" cy="365760"/>
          </a:xfrm>
          <a:prstGeom prst="rect">
            <a:avLst/>
          </a:prstGeom>
          <a:noFill/>
          <a:ln/>
        </p:spPr>
        <p:txBody>
          <a:bodyPr wrap="square" lIns="0" tIns="0" rIns="0" bIns="0" rtlCol="0" anchor="ctr"/>
          <a:lstStyle/>
          <a:p>
            <a:pPr indent="0" marL="0">
              <a:buNone/>
            </a:pPr>
            <a:r>
              <a:rPr lang="en-US" sz="1100" b="1" dirty="0">
                <a:solidFill>
                  <a:srgbClr val="1B2A49"/>
                </a:solidFill>
                <a:latin typeface="Meiryo UI" pitchFamily="34" charset="0"/>
                <a:ea typeface="Meiryo UI" pitchFamily="34" charset="-122"/>
                <a:cs typeface="Meiryo UI" pitchFamily="34" charset="-120"/>
              </a:rPr>
              <a:t>認証の置き場所</a:t>
            </a:r>
            <a:endParaRPr lang="en-US" sz="1100" dirty="0"/>
          </a:p>
        </p:txBody>
      </p:sp>
      <p:sp>
        <p:nvSpPr>
          <p:cNvPr id="38" name="Text 29"/>
          <p:cNvSpPr txBox="1"/>
          <p:nvPr/>
        </p:nvSpPr>
        <p:spPr>
          <a:xfrm>
            <a:off x="8129016" y="5605272"/>
            <a:ext cx="3337560" cy="621792"/>
          </a:xfrm>
          <a:prstGeom prst="rect">
            <a:avLst/>
          </a:prstGeom>
          <a:noFill/>
          <a:ln/>
        </p:spPr>
        <p:txBody>
          <a:bodyPr wrap="square" lIns="0" tIns="0" rIns="0" bIns="0" rtlCol="0" anchor="t"/>
          <a:lstStyle/>
          <a:p>
            <a:pPr indent="0" marL="0">
              <a:buNone/>
            </a:pPr>
            <a:r>
              <a:rPr lang="en-US" sz="900" dirty="0">
                <a:solidFill>
                  <a:srgbClr val="2B2B2B"/>
                </a:solidFill>
                <a:latin typeface="Meiryo UI" pitchFamily="34" charset="0"/>
                <a:ea typeface="Meiryo UI" pitchFamily="34" charset="-122"/>
                <a:cs typeface="Meiryo UI" pitchFamily="34" charset="-120"/>
              </a:rPr>
              <a:t>U1・U2はAirtable側から社内M365を呼ぶため受け口の設定が必要。U3a・U3bは利用者の権限でエージェントを呼び、書き込みはフロー・コネクタ経由のため受け口の公開が不要</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組み合わせ・段階的な進め方の例</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パターンは組み合わせて段階的に進めることもできる（例であり、推奨ではない）</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5. 組み合わせの例</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25</a:t>
            </a:r>
            <a:endParaRPr lang="en-US" sz="900" dirty="0"/>
          </a:p>
        </p:txBody>
      </p:sp>
      <p:sp>
        <p:nvSpPr>
          <p:cNvPr id="6" name="Shape 4"/>
          <p:cNvSpPr/>
          <p:nvPr/>
        </p:nvSpPr>
        <p:spPr>
          <a:xfrm>
            <a:off x="548640" y="1417320"/>
            <a:ext cx="11064240" cy="566928"/>
          </a:xfrm>
          <a:prstGeom prst="roundRect">
            <a:avLst>
              <a:gd name="adj" fmla="val 8065"/>
            </a:avLst>
          </a:prstGeom>
          <a:solidFill>
            <a:srgbClr val="F3F5F8"/>
          </a:solidFill>
          <a:ln/>
        </p:spPr>
      </p:sp>
      <p:sp>
        <p:nvSpPr>
          <p:cNvPr id="7" name="Shape 5"/>
          <p:cNvSpPr/>
          <p:nvPr/>
        </p:nvSpPr>
        <p:spPr>
          <a:xfrm>
            <a:off x="658368" y="1545336"/>
            <a:ext cx="640080" cy="310896"/>
          </a:xfrm>
          <a:prstGeom prst="roundRect">
            <a:avLst>
              <a:gd name="adj" fmla="val 50000"/>
            </a:avLst>
          </a:prstGeom>
          <a:solidFill>
            <a:srgbClr val="1B2A49"/>
          </a:solidFill>
          <a:ln/>
        </p:spPr>
      </p:sp>
      <p:sp>
        <p:nvSpPr>
          <p:cNvPr id="8" name="Text 6"/>
          <p:cNvSpPr txBox="1"/>
          <p:nvPr/>
        </p:nvSpPr>
        <p:spPr>
          <a:xfrm>
            <a:off x="658368" y="1545336"/>
            <a:ext cx="640080" cy="310896"/>
          </a:xfrm>
          <a:prstGeom prst="rect">
            <a:avLst/>
          </a:prstGeom>
          <a:noFill/>
          <a:ln/>
        </p:spPr>
        <p:txBody>
          <a:bodyPr wrap="square" lIns="762" tIns="762" rIns="762" bIns="762"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例1</a:t>
            </a:r>
            <a:endParaRPr lang="en-US" sz="1000" dirty="0"/>
          </a:p>
        </p:txBody>
      </p:sp>
      <p:sp>
        <p:nvSpPr>
          <p:cNvPr id="9" name="Text 7"/>
          <p:cNvSpPr txBox="1"/>
          <p:nvPr/>
        </p:nvSpPr>
        <p:spPr>
          <a:xfrm>
            <a:off x="1371600" y="1417320"/>
            <a:ext cx="2103120" cy="566928"/>
          </a:xfrm>
          <a:prstGeom prst="rect">
            <a:avLst/>
          </a:prstGeom>
          <a:noFill/>
          <a:ln/>
        </p:spPr>
        <p:txBody>
          <a:bodyPr wrap="square" lIns="508" tIns="508" rIns="508" bIns="508" rtlCol="0" anchor="ctr"/>
          <a:lstStyle/>
          <a:p>
            <a:pPr indent="0" marL="0">
              <a:buNone/>
            </a:pPr>
            <a:r>
              <a:rPr lang="en-US" sz="1100" b="1" dirty="0">
                <a:solidFill>
                  <a:srgbClr val="1B2A49"/>
                </a:solidFill>
                <a:latin typeface="Meiryo UI" pitchFamily="34" charset="0"/>
                <a:ea typeface="Meiryo UI" pitchFamily="34" charset="-122"/>
                <a:cs typeface="Meiryo UI" pitchFamily="34" charset="-120"/>
              </a:rPr>
              <a:t>M365起点で進める</a:t>
            </a:r>
            <a:endParaRPr lang="en-US" sz="1100" dirty="0"/>
          </a:p>
        </p:txBody>
      </p:sp>
      <p:sp>
        <p:nvSpPr>
          <p:cNvPr id="10" name="Shape 8"/>
          <p:cNvSpPr/>
          <p:nvPr/>
        </p:nvSpPr>
        <p:spPr>
          <a:xfrm>
            <a:off x="3520440" y="1536192"/>
            <a:ext cx="868680" cy="329184"/>
          </a:xfrm>
          <a:prstGeom prst="roundRect">
            <a:avLst>
              <a:gd name="adj" fmla="val 13889"/>
            </a:avLst>
          </a:prstGeom>
          <a:solidFill>
            <a:srgbClr val="0E9F9A"/>
          </a:solidFill>
          <a:ln/>
        </p:spPr>
      </p:sp>
      <p:sp>
        <p:nvSpPr>
          <p:cNvPr id="11" name="Text 9"/>
          <p:cNvSpPr txBox="1"/>
          <p:nvPr/>
        </p:nvSpPr>
        <p:spPr>
          <a:xfrm>
            <a:off x="3520440" y="1536192"/>
            <a:ext cx="868680" cy="329184"/>
          </a:xfrm>
          <a:prstGeom prst="rect">
            <a:avLst/>
          </a:prstGeom>
          <a:noFill/>
          <a:ln/>
        </p:spPr>
        <p:txBody>
          <a:bodyPr wrap="square" lIns="762" tIns="762" rIns="762" bIns="762" rtlCol="0" anchor="ctr"/>
          <a:lstStyle/>
          <a:p>
            <a:pPr algn="ctr" indent="0" marL="0">
              <a:buNone/>
            </a:pPr>
            <a:r>
              <a:rPr lang="en-US" sz="950" b="1" dirty="0">
                <a:solidFill>
                  <a:srgbClr val="FFFFFF"/>
                </a:solidFill>
                <a:latin typeface="Meiryo UI" pitchFamily="34" charset="0"/>
                <a:ea typeface="Meiryo UI" pitchFamily="34" charset="-122"/>
                <a:cs typeface="Meiryo UI" pitchFamily="34" charset="-120"/>
              </a:rPr>
              <a:t>P1</a:t>
            </a:r>
            <a:endParaRPr lang="en-US" sz="950" dirty="0"/>
          </a:p>
        </p:txBody>
      </p:sp>
      <p:sp>
        <p:nvSpPr>
          <p:cNvPr id="12" name="Shape 10"/>
          <p:cNvSpPr/>
          <p:nvPr/>
        </p:nvSpPr>
        <p:spPr>
          <a:xfrm>
            <a:off x="4416552" y="1700784"/>
            <a:ext cx="201168" cy="0"/>
          </a:xfrm>
          <a:prstGeom prst="line">
            <a:avLst/>
          </a:prstGeom>
          <a:noFill/>
          <a:ln w="15875">
            <a:solidFill>
              <a:srgbClr val="1B2A49"/>
            </a:solidFill>
            <a:prstDash val="solid"/>
            <a:tailEnd type="triangle"/>
          </a:ln>
        </p:spPr>
      </p:sp>
      <p:sp>
        <p:nvSpPr>
          <p:cNvPr id="13" name="Shape 11"/>
          <p:cNvSpPr/>
          <p:nvPr/>
        </p:nvSpPr>
        <p:spPr>
          <a:xfrm>
            <a:off x="4645152" y="1536192"/>
            <a:ext cx="868680" cy="329184"/>
          </a:xfrm>
          <a:prstGeom prst="roundRect">
            <a:avLst>
              <a:gd name="adj" fmla="val 13889"/>
            </a:avLst>
          </a:prstGeom>
          <a:solidFill>
            <a:srgbClr val="0E9F9A"/>
          </a:solidFill>
          <a:ln/>
        </p:spPr>
      </p:sp>
      <p:sp>
        <p:nvSpPr>
          <p:cNvPr id="14" name="Text 12"/>
          <p:cNvSpPr txBox="1"/>
          <p:nvPr/>
        </p:nvSpPr>
        <p:spPr>
          <a:xfrm>
            <a:off x="4645152" y="1536192"/>
            <a:ext cx="868680" cy="329184"/>
          </a:xfrm>
          <a:prstGeom prst="rect">
            <a:avLst/>
          </a:prstGeom>
          <a:noFill/>
          <a:ln/>
        </p:spPr>
        <p:txBody>
          <a:bodyPr wrap="square" lIns="762" tIns="762" rIns="762" bIns="762" rtlCol="0" anchor="ctr"/>
          <a:lstStyle/>
          <a:p>
            <a:pPr algn="ctr" indent="0" marL="0">
              <a:buNone/>
            </a:pPr>
            <a:r>
              <a:rPr lang="en-US" sz="950" b="1" dirty="0">
                <a:solidFill>
                  <a:srgbClr val="FFFFFF"/>
                </a:solidFill>
                <a:latin typeface="Meiryo UI" pitchFamily="34" charset="0"/>
                <a:ea typeface="Meiryo UI" pitchFamily="34" charset="-122"/>
                <a:cs typeface="Meiryo UI" pitchFamily="34" charset="-120"/>
              </a:rPr>
              <a:t>P5／P6</a:t>
            </a:r>
            <a:endParaRPr lang="en-US" sz="950" dirty="0"/>
          </a:p>
        </p:txBody>
      </p:sp>
      <p:sp>
        <p:nvSpPr>
          <p:cNvPr id="15" name="Shape 13"/>
          <p:cNvSpPr/>
          <p:nvPr/>
        </p:nvSpPr>
        <p:spPr>
          <a:xfrm>
            <a:off x="5541264" y="1700784"/>
            <a:ext cx="201168" cy="0"/>
          </a:xfrm>
          <a:prstGeom prst="line">
            <a:avLst/>
          </a:prstGeom>
          <a:noFill/>
          <a:ln w="15875">
            <a:solidFill>
              <a:srgbClr val="1B2A49"/>
            </a:solidFill>
            <a:prstDash val="solid"/>
            <a:tailEnd type="triangle"/>
          </a:ln>
        </p:spPr>
      </p:sp>
      <p:sp>
        <p:nvSpPr>
          <p:cNvPr id="16" name="Shape 14"/>
          <p:cNvSpPr/>
          <p:nvPr/>
        </p:nvSpPr>
        <p:spPr>
          <a:xfrm>
            <a:off x="5769864" y="1536192"/>
            <a:ext cx="868680" cy="329184"/>
          </a:xfrm>
          <a:prstGeom prst="roundRect">
            <a:avLst>
              <a:gd name="adj" fmla="val 13889"/>
            </a:avLst>
          </a:prstGeom>
          <a:solidFill>
            <a:srgbClr val="0E9F9A"/>
          </a:solidFill>
          <a:ln/>
        </p:spPr>
      </p:sp>
      <p:sp>
        <p:nvSpPr>
          <p:cNvPr id="17" name="Text 15"/>
          <p:cNvSpPr txBox="1"/>
          <p:nvPr/>
        </p:nvSpPr>
        <p:spPr>
          <a:xfrm>
            <a:off x="5769864" y="1536192"/>
            <a:ext cx="868680" cy="329184"/>
          </a:xfrm>
          <a:prstGeom prst="rect">
            <a:avLst/>
          </a:prstGeom>
          <a:noFill/>
          <a:ln/>
        </p:spPr>
        <p:txBody>
          <a:bodyPr wrap="square" lIns="762" tIns="762" rIns="762" bIns="762" rtlCol="0" anchor="ctr"/>
          <a:lstStyle/>
          <a:p>
            <a:pPr algn="ctr" indent="0" marL="0">
              <a:buNone/>
            </a:pPr>
            <a:r>
              <a:rPr lang="en-US" sz="950" b="1" dirty="0">
                <a:solidFill>
                  <a:srgbClr val="FFFFFF"/>
                </a:solidFill>
                <a:latin typeface="Meiryo UI" pitchFamily="34" charset="0"/>
                <a:ea typeface="Meiryo UI" pitchFamily="34" charset="-122"/>
                <a:cs typeface="Meiryo UI" pitchFamily="34" charset="-120"/>
              </a:rPr>
              <a:t>P7</a:t>
            </a:r>
            <a:endParaRPr lang="en-US" sz="950" dirty="0"/>
          </a:p>
        </p:txBody>
      </p:sp>
      <p:sp>
        <p:nvSpPr>
          <p:cNvPr id="18" name="Shape 16"/>
          <p:cNvSpPr/>
          <p:nvPr/>
        </p:nvSpPr>
        <p:spPr>
          <a:xfrm>
            <a:off x="6665976" y="1700784"/>
            <a:ext cx="201168" cy="0"/>
          </a:xfrm>
          <a:prstGeom prst="line">
            <a:avLst/>
          </a:prstGeom>
          <a:noFill/>
          <a:ln w="15875">
            <a:solidFill>
              <a:srgbClr val="1B2A49"/>
            </a:solidFill>
            <a:prstDash val="solid"/>
            <a:tailEnd type="triangle"/>
          </a:ln>
        </p:spPr>
      </p:sp>
      <p:sp>
        <p:nvSpPr>
          <p:cNvPr id="19" name="Shape 17"/>
          <p:cNvSpPr/>
          <p:nvPr/>
        </p:nvSpPr>
        <p:spPr>
          <a:xfrm>
            <a:off x="6894576" y="1536192"/>
            <a:ext cx="868680" cy="329184"/>
          </a:xfrm>
          <a:prstGeom prst="roundRect">
            <a:avLst>
              <a:gd name="adj" fmla="val 13889"/>
            </a:avLst>
          </a:prstGeom>
          <a:solidFill>
            <a:srgbClr val="0E9F9A"/>
          </a:solidFill>
          <a:ln/>
        </p:spPr>
      </p:sp>
      <p:sp>
        <p:nvSpPr>
          <p:cNvPr id="20" name="Text 18"/>
          <p:cNvSpPr txBox="1"/>
          <p:nvPr/>
        </p:nvSpPr>
        <p:spPr>
          <a:xfrm>
            <a:off x="6894576" y="1536192"/>
            <a:ext cx="868680" cy="329184"/>
          </a:xfrm>
          <a:prstGeom prst="rect">
            <a:avLst/>
          </a:prstGeom>
          <a:noFill/>
          <a:ln/>
        </p:spPr>
        <p:txBody>
          <a:bodyPr wrap="square" lIns="762" tIns="762" rIns="762" bIns="762" rtlCol="0" anchor="ctr"/>
          <a:lstStyle/>
          <a:p>
            <a:pPr algn="ctr" indent="0" marL="0">
              <a:buNone/>
            </a:pPr>
            <a:r>
              <a:rPr lang="en-US" sz="950" b="1" dirty="0">
                <a:solidFill>
                  <a:srgbClr val="FFFFFF"/>
                </a:solidFill>
                <a:latin typeface="Meiryo UI" pitchFamily="34" charset="0"/>
                <a:ea typeface="Meiryo UI" pitchFamily="34" charset="-122"/>
                <a:cs typeface="Meiryo UI" pitchFamily="34" charset="-120"/>
              </a:rPr>
              <a:t>P14</a:t>
            </a:r>
            <a:endParaRPr lang="en-US" sz="950" dirty="0"/>
          </a:p>
        </p:txBody>
      </p:sp>
      <p:sp>
        <p:nvSpPr>
          <p:cNvPr id="21" name="Text 19"/>
          <p:cNvSpPr txBox="1"/>
          <p:nvPr/>
        </p:nvSpPr>
        <p:spPr>
          <a:xfrm>
            <a:off x="8138160" y="1417320"/>
            <a:ext cx="3383280" cy="566928"/>
          </a:xfrm>
          <a:prstGeom prst="rect">
            <a:avLst/>
          </a:prstGeom>
          <a:noFill/>
          <a:ln/>
        </p:spPr>
        <p:txBody>
          <a:bodyPr wrap="square" lIns="508" tIns="508" rIns="508" bIns="508" rtlCol="0" anchor="ctr"/>
          <a:lstStyle/>
          <a:p>
            <a:pPr indent="0" marL="0">
              <a:buNone/>
            </a:pPr>
            <a:r>
              <a:rPr lang="en-US" sz="950" dirty="0">
                <a:solidFill>
                  <a:srgbClr val="2B2B2B"/>
                </a:solidFill>
                <a:latin typeface="Meiryo UI" pitchFamily="34" charset="0"/>
                <a:ea typeface="Meiryo UI" pitchFamily="34" charset="-122"/>
                <a:cs typeface="Meiryo UI" pitchFamily="34" charset="-120"/>
              </a:rPr>
              <a:t>受け口を公開せずに、手動から自動へ広げる</a:t>
            </a:r>
            <a:endParaRPr lang="en-US" sz="950" dirty="0"/>
          </a:p>
        </p:txBody>
      </p:sp>
      <p:sp>
        <p:nvSpPr>
          <p:cNvPr id="22" name="Shape 20"/>
          <p:cNvSpPr/>
          <p:nvPr/>
        </p:nvSpPr>
        <p:spPr>
          <a:xfrm>
            <a:off x="548640" y="2075688"/>
            <a:ext cx="11064240" cy="566928"/>
          </a:xfrm>
          <a:prstGeom prst="roundRect">
            <a:avLst>
              <a:gd name="adj" fmla="val 8065"/>
            </a:avLst>
          </a:prstGeom>
          <a:solidFill>
            <a:srgbClr val="FFFFFF"/>
          </a:solidFill>
          <a:ln w="12700">
            <a:solidFill>
              <a:srgbClr val="D5DBE3"/>
            </a:solidFill>
            <a:prstDash val="solid"/>
          </a:ln>
        </p:spPr>
      </p:sp>
      <p:sp>
        <p:nvSpPr>
          <p:cNvPr id="23" name="Shape 21"/>
          <p:cNvSpPr/>
          <p:nvPr/>
        </p:nvSpPr>
        <p:spPr>
          <a:xfrm>
            <a:off x="658368" y="2203704"/>
            <a:ext cx="640080" cy="310896"/>
          </a:xfrm>
          <a:prstGeom prst="roundRect">
            <a:avLst>
              <a:gd name="adj" fmla="val 50000"/>
            </a:avLst>
          </a:prstGeom>
          <a:solidFill>
            <a:srgbClr val="1B2A49"/>
          </a:solidFill>
          <a:ln/>
        </p:spPr>
      </p:sp>
      <p:sp>
        <p:nvSpPr>
          <p:cNvPr id="24" name="Text 22"/>
          <p:cNvSpPr txBox="1"/>
          <p:nvPr/>
        </p:nvSpPr>
        <p:spPr>
          <a:xfrm>
            <a:off x="658368" y="2203704"/>
            <a:ext cx="640080" cy="310896"/>
          </a:xfrm>
          <a:prstGeom prst="rect">
            <a:avLst/>
          </a:prstGeom>
          <a:noFill/>
          <a:ln/>
        </p:spPr>
        <p:txBody>
          <a:bodyPr wrap="square" lIns="762" tIns="762" rIns="762" bIns="762"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例2</a:t>
            </a:r>
            <a:endParaRPr lang="en-US" sz="1000" dirty="0"/>
          </a:p>
        </p:txBody>
      </p:sp>
      <p:sp>
        <p:nvSpPr>
          <p:cNvPr id="25" name="Text 23"/>
          <p:cNvSpPr txBox="1"/>
          <p:nvPr/>
        </p:nvSpPr>
        <p:spPr>
          <a:xfrm>
            <a:off x="1371600" y="2075688"/>
            <a:ext cx="2103120" cy="566928"/>
          </a:xfrm>
          <a:prstGeom prst="rect">
            <a:avLst/>
          </a:prstGeom>
          <a:noFill/>
          <a:ln/>
        </p:spPr>
        <p:txBody>
          <a:bodyPr wrap="square" lIns="508" tIns="508" rIns="508" bIns="508" rtlCol="0" anchor="ctr"/>
          <a:lstStyle/>
          <a:p>
            <a:pPr indent="0" marL="0">
              <a:buNone/>
            </a:pPr>
            <a:r>
              <a:rPr lang="en-US" sz="1100" b="1" dirty="0">
                <a:solidFill>
                  <a:srgbClr val="1B2A49"/>
                </a:solidFill>
                <a:latin typeface="Meiryo UI" pitchFamily="34" charset="0"/>
                <a:ea typeface="Meiryo UI" pitchFamily="34" charset="-122"/>
                <a:cs typeface="Meiryo UI" pitchFamily="34" charset="-120"/>
              </a:rPr>
              <a:t>Airtable起点で進める</a:t>
            </a:r>
            <a:endParaRPr lang="en-US" sz="1100" dirty="0"/>
          </a:p>
        </p:txBody>
      </p:sp>
      <p:sp>
        <p:nvSpPr>
          <p:cNvPr id="26" name="Shape 24"/>
          <p:cNvSpPr/>
          <p:nvPr/>
        </p:nvSpPr>
        <p:spPr>
          <a:xfrm>
            <a:off x="3520440" y="2194560"/>
            <a:ext cx="868680" cy="329184"/>
          </a:xfrm>
          <a:prstGeom prst="roundRect">
            <a:avLst>
              <a:gd name="adj" fmla="val 13889"/>
            </a:avLst>
          </a:prstGeom>
          <a:solidFill>
            <a:srgbClr val="0E9F9A"/>
          </a:solidFill>
          <a:ln/>
        </p:spPr>
      </p:sp>
      <p:sp>
        <p:nvSpPr>
          <p:cNvPr id="27" name="Text 25"/>
          <p:cNvSpPr txBox="1"/>
          <p:nvPr/>
        </p:nvSpPr>
        <p:spPr>
          <a:xfrm>
            <a:off x="3520440" y="2194560"/>
            <a:ext cx="868680" cy="329184"/>
          </a:xfrm>
          <a:prstGeom prst="rect">
            <a:avLst/>
          </a:prstGeom>
          <a:noFill/>
          <a:ln/>
        </p:spPr>
        <p:txBody>
          <a:bodyPr wrap="square" lIns="762" tIns="762" rIns="762" bIns="762" rtlCol="0" anchor="ctr"/>
          <a:lstStyle/>
          <a:p>
            <a:pPr algn="ctr" indent="0" marL="0">
              <a:buNone/>
            </a:pPr>
            <a:r>
              <a:rPr lang="en-US" sz="950" b="1" dirty="0">
                <a:solidFill>
                  <a:srgbClr val="FFFFFF"/>
                </a:solidFill>
                <a:latin typeface="Meiryo UI" pitchFamily="34" charset="0"/>
                <a:ea typeface="Meiryo UI" pitchFamily="34" charset="-122"/>
                <a:cs typeface="Meiryo UI" pitchFamily="34" charset="-120"/>
              </a:rPr>
              <a:t>P1</a:t>
            </a:r>
            <a:endParaRPr lang="en-US" sz="950" dirty="0"/>
          </a:p>
        </p:txBody>
      </p:sp>
      <p:sp>
        <p:nvSpPr>
          <p:cNvPr id="28" name="Shape 26"/>
          <p:cNvSpPr/>
          <p:nvPr/>
        </p:nvSpPr>
        <p:spPr>
          <a:xfrm>
            <a:off x="4416552" y="2359152"/>
            <a:ext cx="201168" cy="0"/>
          </a:xfrm>
          <a:prstGeom prst="line">
            <a:avLst/>
          </a:prstGeom>
          <a:noFill/>
          <a:ln w="15875">
            <a:solidFill>
              <a:srgbClr val="1B2A49"/>
            </a:solidFill>
            <a:prstDash val="solid"/>
            <a:tailEnd type="triangle"/>
          </a:ln>
        </p:spPr>
      </p:sp>
      <p:sp>
        <p:nvSpPr>
          <p:cNvPr id="29" name="Shape 27"/>
          <p:cNvSpPr/>
          <p:nvPr/>
        </p:nvSpPr>
        <p:spPr>
          <a:xfrm>
            <a:off x="4645152" y="2194560"/>
            <a:ext cx="868680" cy="329184"/>
          </a:xfrm>
          <a:prstGeom prst="roundRect">
            <a:avLst>
              <a:gd name="adj" fmla="val 13889"/>
            </a:avLst>
          </a:prstGeom>
          <a:solidFill>
            <a:srgbClr val="0E9F9A"/>
          </a:solidFill>
          <a:ln/>
        </p:spPr>
      </p:sp>
      <p:sp>
        <p:nvSpPr>
          <p:cNvPr id="30" name="Text 28"/>
          <p:cNvSpPr txBox="1"/>
          <p:nvPr/>
        </p:nvSpPr>
        <p:spPr>
          <a:xfrm>
            <a:off x="4645152" y="2194560"/>
            <a:ext cx="868680" cy="329184"/>
          </a:xfrm>
          <a:prstGeom prst="rect">
            <a:avLst/>
          </a:prstGeom>
          <a:noFill/>
          <a:ln/>
        </p:spPr>
        <p:txBody>
          <a:bodyPr wrap="square" lIns="762" tIns="762" rIns="762" bIns="762" rtlCol="0" anchor="ctr"/>
          <a:lstStyle/>
          <a:p>
            <a:pPr algn="ctr" indent="0" marL="0">
              <a:buNone/>
            </a:pPr>
            <a:r>
              <a:rPr lang="en-US" sz="950" b="1" dirty="0">
                <a:solidFill>
                  <a:srgbClr val="FFFFFF"/>
                </a:solidFill>
                <a:latin typeface="Meiryo UI" pitchFamily="34" charset="0"/>
                <a:ea typeface="Meiryo UI" pitchFamily="34" charset="-122"/>
                <a:cs typeface="Meiryo UI" pitchFamily="34" charset="-120"/>
              </a:rPr>
              <a:t>P9</a:t>
            </a:r>
            <a:endParaRPr lang="en-US" sz="950" dirty="0"/>
          </a:p>
        </p:txBody>
      </p:sp>
      <p:sp>
        <p:nvSpPr>
          <p:cNvPr id="31" name="Shape 29"/>
          <p:cNvSpPr/>
          <p:nvPr/>
        </p:nvSpPr>
        <p:spPr>
          <a:xfrm>
            <a:off x="5541264" y="2359152"/>
            <a:ext cx="201168" cy="0"/>
          </a:xfrm>
          <a:prstGeom prst="line">
            <a:avLst/>
          </a:prstGeom>
          <a:noFill/>
          <a:ln w="15875">
            <a:solidFill>
              <a:srgbClr val="1B2A49"/>
            </a:solidFill>
            <a:prstDash val="solid"/>
            <a:tailEnd type="triangle"/>
          </a:ln>
        </p:spPr>
      </p:sp>
      <p:sp>
        <p:nvSpPr>
          <p:cNvPr id="32" name="Shape 30"/>
          <p:cNvSpPr/>
          <p:nvPr/>
        </p:nvSpPr>
        <p:spPr>
          <a:xfrm>
            <a:off x="5769864" y="2194560"/>
            <a:ext cx="868680" cy="329184"/>
          </a:xfrm>
          <a:prstGeom prst="roundRect">
            <a:avLst>
              <a:gd name="adj" fmla="val 13889"/>
            </a:avLst>
          </a:prstGeom>
          <a:solidFill>
            <a:srgbClr val="0E9F9A"/>
          </a:solidFill>
          <a:ln/>
        </p:spPr>
      </p:sp>
      <p:sp>
        <p:nvSpPr>
          <p:cNvPr id="33" name="Text 31"/>
          <p:cNvSpPr txBox="1"/>
          <p:nvPr/>
        </p:nvSpPr>
        <p:spPr>
          <a:xfrm>
            <a:off x="5769864" y="2194560"/>
            <a:ext cx="868680" cy="329184"/>
          </a:xfrm>
          <a:prstGeom prst="rect">
            <a:avLst/>
          </a:prstGeom>
          <a:noFill/>
          <a:ln/>
        </p:spPr>
        <p:txBody>
          <a:bodyPr wrap="square" lIns="762" tIns="762" rIns="762" bIns="762" rtlCol="0" anchor="ctr"/>
          <a:lstStyle/>
          <a:p>
            <a:pPr algn="ctr" indent="0" marL="0">
              <a:buNone/>
            </a:pPr>
            <a:r>
              <a:rPr lang="en-US" sz="950" b="1" dirty="0">
                <a:solidFill>
                  <a:srgbClr val="FFFFFF"/>
                </a:solidFill>
                <a:latin typeface="Meiryo UI" pitchFamily="34" charset="0"/>
                <a:ea typeface="Meiryo UI" pitchFamily="34" charset="-122"/>
                <a:cs typeface="Meiryo UI" pitchFamily="34" charset="-120"/>
              </a:rPr>
              <a:t>P14</a:t>
            </a:r>
            <a:endParaRPr lang="en-US" sz="950" dirty="0"/>
          </a:p>
        </p:txBody>
      </p:sp>
      <p:sp>
        <p:nvSpPr>
          <p:cNvPr id="34" name="Text 32"/>
          <p:cNvSpPr txBox="1"/>
          <p:nvPr/>
        </p:nvSpPr>
        <p:spPr>
          <a:xfrm>
            <a:off x="8138160" y="2075688"/>
            <a:ext cx="3383280" cy="566928"/>
          </a:xfrm>
          <a:prstGeom prst="rect">
            <a:avLst/>
          </a:prstGeom>
          <a:noFill/>
          <a:ln/>
        </p:spPr>
        <p:txBody>
          <a:bodyPr wrap="square" lIns="508" tIns="508" rIns="508" bIns="508" rtlCol="0" anchor="ctr"/>
          <a:lstStyle/>
          <a:p>
            <a:pPr indent="0" marL="0">
              <a:buNone/>
            </a:pPr>
            <a:r>
              <a:rPr lang="en-US" sz="950" dirty="0">
                <a:solidFill>
                  <a:srgbClr val="2B2B2B"/>
                </a:solidFill>
                <a:latin typeface="Meiryo UI" pitchFamily="34" charset="0"/>
                <a:ea typeface="Meiryo UI" pitchFamily="34" charset="-122"/>
                <a:cs typeface="Meiryo UI" pitchFamily="34" charset="-120"/>
              </a:rPr>
              <a:t>Airtableの操作を起点に、即時性を重視する</a:t>
            </a:r>
            <a:endParaRPr lang="en-US" sz="950" dirty="0"/>
          </a:p>
        </p:txBody>
      </p:sp>
      <p:sp>
        <p:nvSpPr>
          <p:cNvPr id="35" name="Shape 33"/>
          <p:cNvSpPr/>
          <p:nvPr/>
        </p:nvSpPr>
        <p:spPr>
          <a:xfrm>
            <a:off x="548640" y="2734056"/>
            <a:ext cx="11064240" cy="566928"/>
          </a:xfrm>
          <a:prstGeom prst="roundRect">
            <a:avLst>
              <a:gd name="adj" fmla="val 8065"/>
            </a:avLst>
          </a:prstGeom>
          <a:solidFill>
            <a:srgbClr val="F3F5F8"/>
          </a:solidFill>
          <a:ln/>
        </p:spPr>
      </p:sp>
      <p:sp>
        <p:nvSpPr>
          <p:cNvPr id="36" name="Shape 34"/>
          <p:cNvSpPr/>
          <p:nvPr/>
        </p:nvSpPr>
        <p:spPr>
          <a:xfrm>
            <a:off x="658368" y="2862072"/>
            <a:ext cx="640080" cy="310896"/>
          </a:xfrm>
          <a:prstGeom prst="roundRect">
            <a:avLst>
              <a:gd name="adj" fmla="val 50000"/>
            </a:avLst>
          </a:prstGeom>
          <a:solidFill>
            <a:srgbClr val="1B2A49"/>
          </a:solidFill>
          <a:ln/>
        </p:spPr>
      </p:sp>
      <p:sp>
        <p:nvSpPr>
          <p:cNvPr id="37" name="Text 35"/>
          <p:cNvSpPr txBox="1"/>
          <p:nvPr/>
        </p:nvSpPr>
        <p:spPr>
          <a:xfrm>
            <a:off x="658368" y="2862072"/>
            <a:ext cx="640080" cy="310896"/>
          </a:xfrm>
          <a:prstGeom prst="rect">
            <a:avLst/>
          </a:prstGeom>
          <a:noFill/>
          <a:ln/>
        </p:spPr>
        <p:txBody>
          <a:bodyPr wrap="square" lIns="762" tIns="762" rIns="762" bIns="762"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例3</a:t>
            </a:r>
            <a:endParaRPr lang="en-US" sz="1000" dirty="0"/>
          </a:p>
        </p:txBody>
      </p:sp>
      <p:sp>
        <p:nvSpPr>
          <p:cNvPr id="38" name="Text 36"/>
          <p:cNvSpPr txBox="1"/>
          <p:nvPr/>
        </p:nvSpPr>
        <p:spPr>
          <a:xfrm>
            <a:off x="1371600" y="2734056"/>
            <a:ext cx="2103120" cy="566928"/>
          </a:xfrm>
          <a:prstGeom prst="rect">
            <a:avLst/>
          </a:prstGeom>
          <a:noFill/>
          <a:ln/>
        </p:spPr>
        <p:txBody>
          <a:bodyPr wrap="square" lIns="508" tIns="508" rIns="508" bIns="508" rtlCol="0" anchor="ctr"/>
          <a:lstStyle/>
          <a:p>
            <a:pPr indent="0" marL="0">
              <a:buNone/>
            </a:pPr>
            <a:r>
              <a:rPr lang="en-US" sz="1100" b="1" dirty="0">
                <a:solidFill>
                  <a:srgbClr val="1B2A49"/>
                </a:solidFill>
                <a:latin typeface="Meiryo UI" pitchFamily="34" charset="0"/>
                <a:ea typeface="Meiryo UI" pitchFamily="34" charset="-122"/>
                <a:cs typeface="Meiryo UI" pitchFamily="34" charset="-120"/>
              </a:rPr>
              <a:t>確認を重視する</a:t>
            </a:r>
            <a:endParaRPr lang="en-US" sz="1100" dirty="0"/>
          </a:p>
        </p:txBody>
      </p:sp>
      <p:sp>
        <p:nvSpPr>
          <p:cNvPr id="39" name="Shape 37"/>
          <p:cNvSpPr/>
          <p:nvPr/>
        </p:nvSpPr>
        <p:spPr>
          <a:xfrm>
            <a:off x="3520440" y="2852928"/>
            <a:ext cx="868680" cy="329184"/>
          </a:xfrm>
          <a:prstGeom prst="roundRect">
            <a:avLst>
              <a:gd name="adj" fmla="val 13889"/>
            </a:avLst>
          </a:prstGeom>
          <a:solidFill>
            <a:srgbClr val="0E9F9A"/>
          </a:solidFill>
          <a:ln/>
        </p:spPr>
      </p:sp>
      <p:sp>
        <p:nvSpPr>
          <p:cNvPr id="40" name="Text 38"/>
          <p:cNvSpPr txBox="1"/>
          <p:nvPr/>
        </p:nvSpPr>
        <p:spPr>
          <a:xfrm>
            <a:off x="3520440" y="2852928"/>
            <a:ext cx="868680" cy="329184"/>
          </a:xfrm>
          <a:prstGeom prst="rect">
            <a:avLst/>
          </a:prstGeom>
          <a:noFill/>
          <a:ln/>
        </p:spPr>
        <p:txBody>
          <a:bodyPr wrap="square" lIns="762" tIns="762" rIns="762" bIns="762" rtlCol="0" anchor="ctr"/>
          <a:lstStyle/>
          <a:p>
            <a:pPr algn="ctr" indent="0" marL="0">
              <a:buNone/>
            </a:pPr>
            <a:r>
              <a:rPr lang="en-US" sz="950" b="1" dirty="0">
                <a:solidFill>
                  <a:srgbClr val="FFFFFF"/>
                </a:solidFill>
                <a:latin typeface="Meiryo UI" pitchFamily="34" charset="0"/>
                <a:ea typeface="Meiryo UI" pitchFamily="34" charset="-122"/>
                <a:cs typeface="Meiryo UI" pitchFamily="34" charset="-120"/>
              </a:rPr>
              <a:t>P1</a:t>
            </a:r>
            <a:endParaRPr lang="en-US" sz="950" dirty="0"/>
          </a:p>
        </p:txBody>
      </p:sp>
      <p:sp>
        <p:nvSpPr>
          <p:cNvPr id="41" name="Shape 39"/>
          <p:cNvSpPr/>
          <p:nvPr/>
        </p:nvSpPr>
        <p:spPr>
          <a:xfrm>
            <a:off x="4416552" y="3017520"/>
            <a:ext cx="201168" cy="0"/>
          </a:xfrm>
          <a:prstGeom prst="line">
            <a:avLst/>
          </a:prstGeom>
          <a:noFill/>
          <a:ln w="15875">
            <a:solidFill>
              <a:srgbClr val="1B2A49"/>
            </a:solidFill>
            <a:prstDash val="solid"/>
            <a:tailEnd type="triangle"/>
          </a:ln>
        </p:spPr>
      </p:sp>
      <p:sp>
        <p:nvSpPr>
          <p:cNvPr id="42" name="Shape 40"/>
          <p:cNvSpPr/>
          <p:nvPr/>
        </p:nvSpPr>
        <p:spPr>
          <a:xfrm>
            <a:off x="4645152" y="2852928"/>
            <a:ext cx="868680" cy="329184"/>
          </a:xfrm>
          <a:prstGeom prst="roundRect">
            <a:avLst>
              <a:gd name="adj" fmla="val 13889"/>
            </a:avLst>
          </a:prstGeom>
          <a:solidFill>
            <a:srgbClr val="0E9F9A"/>
          </a:solidFill>
          <a:ln/>
        </p:spPr>
      </p:sp>
      <p:sp>
        <p:nvSpPr>
          <p:cNvPr id="43" name="Text 41"/>
          <p:cNvSpPr txBox="1"/>
          <p:nvPr/>
        </p:nvSpPr>
        <p:spPr>
          <a:xfrm>
            <a:off x="4645152" y="2852928"/>
            <a:ext cx="868680" cy="329184"/>
          </a:xfrm>
          <a:prstGeom prst="rect">
            <a:avLst/>
          </a:prstGeom>
          <a:noFill/>
          <a:ln/>
        </p:spPr>
        <p:txBody>
          <a:bodyPr wrap="square" lIns="762" tIns="762" rIns="762" bIns="762" rtlCol="0" anchor="ctr"/>
          <a:lstStyle/>
          <a:p>
            <a:pPr algn="ctr" indent="0" marL="0">
              <a:buNone/>
            </a:pPr>
            <a:r>
              <a:rPr lang="en-US" sz="950" b="1" dirty="0">
                <a:solidFill>
                  <a:srgbClr val="FFFFFF"/>
                </a:solidFill>
                <a:latin typeface="Meiryo UI" pitchFamily="34" charset="0"/>
                <a:ea typeface="Meiryo UI" pitchFamily="34" charset="-122"/>
                <a:cs typeface="Meiryo UI" pitchFamily="34" charset="-120"/>
              </a:rPr>
              <a:t>P7</a:t>
            </a:r>
            <a:endParaRPr lang="en-US" sz="950" dirty="0"/>
          </a:p>
        </p:txBody>
      </p:sp>
      <p:sp>
        <p:nvSpPr>
          <p:cNvPr id="44" name="Shape 42"/>
          <p:cNvSpPr/>
          <p:nvPr/>
        </p:nvSpPr>
        <p:spPr>
          <a:xfrm>
            <a:off x="5541264" y="3017520"/>
            <a:ext cx="201168" cy="0"/>
          </a:xfrm>
          <a:prstGeom prst="line">
            <a:avLst/>
          </a:prstGeom>
          <a:noFill/>
          <a:ln w="15875">
            <a:solidFill>
              <a:srgbClr val="1B2A49"/>
            </a:solidFill>
            <a:prstDash val="solid"/>
            <a:tailEnd type="triangle"/>
          </a:ln>
        </p:spPr>
      </p:sp>
      <p:sp>
        <p:nvSpPr>
          <p:cNvPr id="45" name="Shape 43"/>
          <p:cNvSpPr/>
          <p:nvPr/>
        </p:nvSpPr>
        <p:spPr>
          <a:xfrm>
            <a:off x="5769864" y="2852928"/>
            <a:ext cx="868680" cy="329184"/>
          </a:xfrm>
          <a:prstGeom prst="roundRect">
            <a:avLst>
              <a:gd name="adj" fmla="val 13889"/>
            </a:avLst>
          </a:prstGeom>
          <a:solidFill>
            <a:srgbClr val="0E9F9A"/>
          </a:solidFill>
          <a:ln/>
        </p:spPr>
      </p:sp>
      <p:sp>
        <p:nvSpPr>
          <p:cNvPr id="46" name="Text 44"/>
          <p:cNvSpPr txBox="1"/>
          <p:nvPr/>
        </p:nvSpPr>
        <p:spPr>
          <a:xfrm>
            <a:off x="5769864" y="2852928"/>
            <a:ext cx="868680" cy="329184"/>
          </a:xfrm>
          <a:prstGeom prst="rect">
            <a:avLst/>
          </a:prstGeom>
          <a:noFill/>
          <a:ln/>
        </p:spPr>
        <p:txBody>
          <a:bodyPr wrap="square" lIns="762" tIns="762" rIns="762" bIns="762" rtlCol="0" anchor="ctr"/>
          <a:lstStyle/>
          <a:p>
            <a:pPr algn="ctr" indent="0" marL="0">
              <a:buNone/>
            </a:pPr>
            <a:r>
              <a:rPr lang="en-US" sz="950" b="1" dirty="0">
                <a:solidFill>
                  <a:srgbClr val="FFFFFF"/>
                </a:solidFill>
                <a:latin typeface="Meiryo UI" pitchFamily="34" charset="0"/>
                <a:ea typeface="Meiryo UI" pitchFamily="34" charset="-122"/>
                <a:cs typeface="Meiryo UI" pitchFamily="34" charset="-120"/>
              </a:rPr>
              <a:t>P8</a:t>
            </a:r>
            <a:endParaRPr lang="en-US" sz="950" dirty="0"/>
          </a:p>
        </p:txBody>
      </p:sp>
      <p:sp>
        <p:nvSpPr>
          <p:cNvPr id="47" name="Shape 45"/>
          <p:cNvSpPr/>
          <p:nvPr/>
        </p:nvSpPr>
        <p:spPr>
          <a:xfrm>
            <a:off x="6665976" y="3017520"/>
            <a:ext cx="201168" cy="0"/>
          </a:xfrm>
          <a:prstGeom prst="line">
            <a:avLst/>
          </a:prstGeom>
          <a:noFill/>
          <a:ln w="15875">
            <a:solidFill>
              <a:srgbClr val="1B2A49"/>
            </a:solidFill>
            <a:prstDash val="solid"/>
            <a:tailEnd type="triangle"/>
          </a:ln>
        </p:spPr>
      </p:sp>
      <p:sp>
        <p:nvSpPr>
          <p:cNvPr id="48" name="Shape 46"/>
          <p:cNvSpPr/>
          <p:nvPr/>
        </p:nvSpPr>
        <p:spPr>
          <a:xfrm>
            <a:off x="6894576" y="2852928"/>
            <a:ext cx="868680" cy="329184"/>
          </a:xfrm>
          <a:prstGeom prst="roundRect">
            <a:avLst>
              <a:gd name="adj" fmla="val 13889"/>
            </a:avLst>
          </a:prstGeom>
          <a:solidFill>
            <a:srgbClr val="0E9F9A"/>
          </a:solidFill>
          <a:ln/>
        </p:spPr>
      </p:sp>
      <p:sp>
        <p:nvSpPr>
          <p:cNvPr id="49" name="Text 47"/>
          <p:cNvSpPr txBox="1"/>
          <p:nvPr/>
        </p:nvSpPr>
        <p:spPr>
          <a:xfrm>
            <a:off x="6894576" y="2852928"/>
            <a:ext cx="868680" cy="329184"/>
          </a:xfrm>
          <a:prstGeom prst="rect">
            <a:avLst/>
          </a:prstGeom>
          <a:noFill/>
          <a:ln/>
        </p:spPr>
        <p:txBody>
          <a:bodyPr wrap="square" lIns="762" tIns="762" rIns="762" bIns="762" rtlCol="0" anchor="ctr"/>
          <a:lstStyle/>
          <a:p>
            <a:pPr algn="ctr" indent="0" marL="0">
              <a:buNone/>
            </a:pPr>
            <a:r>
              <a:rPr lang="en-US" sz="950" b="1" dirty="0">
                <a:solidFill>
                  <a:srgbClr val="FFFFFF"/>
                </a:solidFill>
                <a:latin typeface="Meiryo UI" pitchFamily="34" charset="0"/>
                <a:ea typeface="Meiryo UI" pitchFamily="34" charset="-122"/>
                <a:cs typeface="Meiryo UI" pitchFamily="34" charset="-120"/>
              </a:rPr>
              <a:t>P15</a:t>
            </a:r>
            <a:endParaRPr lang="en-US" sz="950" dirty="0"/>
          </a:p>
        </p:txBody>
      </p:sp>
      <p:sp>
        <p:nvSpPr>
          <p:cNvPr id="50" name="Text 48"/>
          <p:cNvSpPr txBox="1"/>
          <p:nvPr/>
        </p:nvSpPr>
        <p:spPr>
          <a:xfrm>
            <a:off x="8138160" y="2734056"/>
            <a:ext cx="3383280" cy="566928"/>
          </a:xfrm>
          <a:prstGeom prst="rect">
            <a:avLst/>
          </a:prstGeom>
          <a:noFill/>
          <a:ln/>
        </p:spPr>
        <p:txBody>
          <a:bodyPr wrap="square" lIns="508" tIns="508" rIns="508" bIns="508" rtlCol="0" anchor="ctr"/>
          <a:lstStyle/>
          <a:p>
            <a:pPr indent="0" marL="0">
              <a:buNone/>
            </a:pPr>
            <a:r>
              <a:rPr lang="en-US" sz="950" dirty="0">
                <a:solidFill>
                  <a:srgbClr val="2B2B2B"/>
                </a:solidFill>
                <a:latin typeface="Meiryo UI" pitchFamily="34" charset="0"/>
                <a:ea typeface="Meiryo UI" pitchFamily="34" charset="-122"/>
                <a:cs typeface="Meiryo UI" pitchFamily="34" charset="-120"/>
              </a:rPr>
              <a:t>人の確認・承認を必ず挟み、Teamsで完結させる</a:t>
            </a:r>
            <a:endParaRPr lang="en-US" sz="950" dirty="0"/>
          </a:p>
        </p:txBody>
      </p:sp>
      <p:sp>
        <p:nvSpPr>
          <p:cNvPr id="51" name="Shape 49"/>
          <p:cNvSpPr/>
          <p:nvPr/>
        </p:nvSpPr>
        <p:spPr>
          <a:xfrm>
            <a:off x="548640" y="3392424"/>
            <a:ext cx="11064240" cy="566928"/>
          </a:xfrm>
          <a:prstGeom prst="roundRect">
            <a:avLst>
              <a:gd name="adj" fmla="val 8065"/>
            </a:avLst>
          </a:prstGeom>
          <a:solidFill>
            <a:srgbClr val="FFFFFF"/>
          </a:solidFill>
          <a:ln w="12700">
            <a:solidFill>
              <a:srgbClr val="D5DBE3"/>
            </a:solidFill>
            <a:prstDash val="solid"/>
          </a:ln>
        </p:spPr>
      </p:sp>
      <p:sp>
        <p:nvSpPr>
          <p:cNvPr id="52" name="Shape 50"/>
          <p:cNvSpPr/>
          <p:nvPr/>
        </p:nvSpPr>
        <p:spPr>
          <a:xfrm>
            <a:off x="658368" y="3520440"/>
            <a:ext cx="640080" cy="310896"/>
          </a:xfrm>
          <a:prstGeom prst="roundRect">
            <a:avLst>
              <a:gd name="adj" fmla="val 50000"/>
            </a:avLst>
          </a:prstGeom>
          <a:solidFill>
            <a:srgbClr val="1B2A49"/>
          </a:solidFill>
          <a:ln/>
        </p:spPr>
      </p:sp>
      <p:sp>
        <p:nvSpPr>
          <p:cNvPr id="53" name="Text 51"/>
          <p:cNvSpPr txBox="1"/>
          <p:nvPr/>
        </p:nvSpPr>
        <p:spPr>
          <a:xfrm>
            <a:off x="658368" y="3520440"/>
            <a:ext cx="640080" cy="310896"/>
          </a:xfrm>
          <a:prstGeom prst="rect">
            <a:avLst/>
          </a:prstGeom>
          <a:noFill/>
          <a:ln/>
        </p:spPr>
        <p:txBody>
          <a:bodyPr wrap="square" lIns="762" tIns="762" rIns="762" bIns="762"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例4</a:t>
            </a:r>
            <a:endParaRPr lang="en-US" sz="1000" dirty="0"/>
          </a:p>
        </p:txBody>
      </p:sp>
      <p:sp>
        <p:nvSpPr>
          <p:cNvPr id="54" name="Text 52"/>
          <p:cNvSpPr txBox="1"/>
          <p:nvPr/>
        </p:nvSpPr>
        <p:spPr>
          <a:xfrm>
            <a:off x="1371600" y="3392424"/>
            <a:ext cx="2103120" cy="566928"/>
          </a:xfrm>
          <a:prstGeom prst="rect">
            <a:avLst/>
          </a:prstGeom>
          <a:noFill/>
          <a:ln/>
        </p:spPr>
        <p:txBody>
          <a:bodyPr wrap="square" lIns="508" tIns="508" rIns="508" bIns="508" rtlCol="0" anchor="ctr"/>
          <a:lstStyle/>
          <a:p>
            <a:pPr indent="0" marL="0">
              <a:buNone/>
            </a:pPr>
            <a:r>
              <a:rPr lang="en-US" sz="1100" b="1" dirty="0">
                <a:solidFill>
                  <a:srgbClr val="1B2A49"/>
                </a:solidFill>
                <a:latin typeface="Meiryo UI" pitchFamily="34" charset="0"/>
                <a:ea typeface="Meiryo UI" pitchFamily="34" charset="-122"/>
                <a:cs typeface="Meiryo UI" pitchFamily="34" charset="-120"/>
              </a:rPr>
              <a:t>画面を作り込む</a:t>
            </a:r>
            <a:endParaRPr lang="en-US" sz="1100" dirty="0"/>
          </a:p>
        </p:txBody>
      </p:sp>
      <p:sp>
        <p:nvSpPr>
          <p:cNvPr id="55" name="Shape 53"/>
          <p:cNvSpPr/>
          <p:nvPr/>
        </p:nvSpPr>
        <p:spPr>
          <a:xfrm>
            <a:off x="3520440" y="3511296"/>
            <a:ext cx="868680" cy="329184"/>
          </a:xfrm>
          <a:prstGeom prst="roundRect">
            <a:avLst>
              <a:gd name="adj" fmla="val 13889"/>
            </a:avLst>
          </a:prstGeom>
          <a:solidFill>
            <a:srgbClr val="0E9F9A"/>
          </a:solidFill>
          <a:ln/>
        </p:spPr>
      </p:sp>
      <p:sp>
        <p:nvSpPr>
          <p:cNvPr id="56" name="Text 54"/>
          <p:cNvSpPr txBox="1"/>
          <p:nvPr/>
        </p:nvSpPr>
        <p:spPr>
          <a:xfrm>
            <a:off x="3520440" y="3511296"/>
            <a:ext cx="868680" cy="329184"/>
          </a:xfrm>
          <a:prstGeom prst="rect">
            <a:avLst/>
          </a:prstGeom>
          <a:noFill/>
          <a:ln/>
        </p:spPr>
        <p:txBody>
          <a:bodyPr wrap="square" lIns="762" tIns="762" rIns="762" bIns="762" rtlCol="0" anchor="ctr"/>
          <a:lstStyle/>
          <a:p>
            <a:pPr algn="ctr" indent="0" marL="0">
              <a:buNone/>
            </a:pPr>
            <a:r>
              <a:rPr lang="en-US" sz="950" b="1" dirty="0">
                <a:solidFill>
                  <a:srgbClr val="FFFFFF"/>
                </a:solidFill>
                <a:latin typeface="Meiryo UI" pitchFamily="34" charset="0"/>
                <a:ea typeface="Meiryo UI" pitchFamily="34" charset="-122"/>
                <a:cs typeface="Meiryo UI" pitchFamily="34" charset="-120"/>
              </a:rPr>
              <a:t>P1</a:t>
            </a:r>
            <a:endParaRPr lang="en-US" sz="950" dirty="0"/>
          </a:p>
        </p:txBody>
      </p:sp>
      <p:sp>
        <p:nvSpPr>
          <p:cNvPr id="57" name="Shape 55"/>
          <p:cNvSpPr/>
          <p:nvPr/>
        </p:nvSpPr>
        <p:spPr>
          <a:xfrm>
            <a:off x="4416552" y="3675888"/>
            <a:ext cx="201168" cy="0"/>
          </a:xfrm>
          <a:prstGeom prst="line">
            <a:avLst/>
          </a:prstGeom>
          <a:noFill/>
          <a:ln w="15875">
            <a:solidFill>
              <a:srgbClr val="1B2A49"/>
            </a:solidFill>
            <a:prstDash val="solid"/>
            <a:tailEnd type="triangle"/>
          </a:ln>
        </p:spPr>
      </p:sp>
      <p:sp>
        <p:nvSpPr>
          <p:cNvPr id="58" name="Shape 56"/>
          <p:cNvSpPr/>
          <p:nvPr/>
        </p:nvSpPr>
        <p:spPr>
          <a:xfrm>
            <a:off x="4645152" y="3511296"/>
            <a:ext cx="868680" cy="329184"/>
          </a:xfrm>
          <a:prstGeom prst="roundRect">
            <a:avLst>
              <a:gd name="adj" fmla="val 13889"/>
            </a:avLst>
          </a:prstGeom>
          <a:solidFill>
            <a:srgbClr val="0E9F9A"/>
          </a:solidFill>
          <a:ln/>
        </p:spPr>
      </p:sp>
      <p:sp>
        <p:nvSpPr>
          <p:cNvPr id="59" name="Text 57"/>
          <p:cNvSpPr txBox="1"/>
          <p:nvPr/>
        </p:nvSpPr>
        <p:spPr>
          <a:xfrm>
            <a:off x="4645152" y="3511296"/>
            <a:ext cx="868680" cy="329184"/>
          </a:xfrm>
          <a:prstGeom prst="rect">
            <a:avLst/>
          </a:prstGeom>
          <a:noFill/>
          <a:ln/>
        </p:spPr>
        <p:txBody>
          <a:bodyPr wrap="square" lIns="762" tIns="762" rIns="762" bIns="762" rtlCol="0" anchor="ctr"/>
          <a:lstStyle/>
          <a:p>
            <a:pPr algn="ctr" indent="0" marL="0">
              <a:buNone/>
            </a:pPr>
            <a:r>
              <a:rPr lang="en-US" sz="950" b="1" dirty="0">
                <a:solidFill>
                  <a:srgbClr val="FFFFFF"/>
                </a:solidFill>
                <a:latin typeface="Meiryo UI" pitchFamily="34" charset="0"/>
                <a:ea typeface="Meiryo UI" pitchFamily="34" charset="-122"/>
                <a:cs typeface="Meiryo UI" pitchFamily="34" charset="-120"/>
              </a:rPr>
              <a:t>P5</a:t>
            </a:r>
            <a:endParaRPr lang="en-US" sz="950" dirty="0"/>
          </a:p>
        </p:txBody>
      </p:sp>
      <p:sp>
        <p:nvSpPr>
          <p:cNvPr id="60" name="Shape 58"/>
          <p:cNvSpPr/>
          <p:nvPr/>
        </p:nvSpPr>
        <p:spPr>
          <a:xfrm>
            <a:off x="5541264" y="3675888"/>
            <a:ext cx="201168" cy="0"/>
          </a:xfrm>
          <a:prstGeom prst="line">
            <a:avLst/>
          </a:prstGeom>
          <a:noFill/>
          <a:ln w="15875">
            <a:solidFill>
              <a:srgbClr val="1B2A49"/>
            </a:solidFill>
            <a:prstDash val="solid"/>
            <a:tailEnd type="triangle"/>
          </a:ln>
        </p:spPr>
      </p:sp>
      <p:sp>
        <p:nvSpPr>
          <p:cNvPr id="61" name="Shape 59"/>
          <p:cNvSpPr/>
          <p:nvPr/>
        </p:nvSpPr>
        <p:spPr>
          <a:xfrm>
            <a:off x="5769864" y="3511296"/>
            <a:ext cx="868680" cy="329184"/>
          </a:xfrm>
          <a:prstGeom prst="roundRect">
            <a:avLst>
              <a:gd name="adj" fmla="val 13889"/>
            </a:avLst>
          </a:prstGeom>
          <a:solidFill>
            <a:srgbClr val="0E9F9A"/>
          </a:solidFill>
          <a:ln/>
        </p:spPr>
      </p:sp>
      <p:sp>
        <p:nvSpPr>
          <p:cNvPr id="62" name="Text 60"/>
          <p:cNvSpPr txBox="1"/>
          <p:nvPr/>
        </p:nvSpPr>
        <p:spPr>
          <a:xfrm>
            <a:off x="5769864" y="3511296"/>
            <a:ext cx="868680" cy="329184"/>
          </a:xfrm>
          <a:prstGeom prst="rect">
            <a:avLst/>
          </a:prstGeom>
          <a:noFill/>
          <a:ln/>
        </p:spPr>
        <p:txBody>
          <a:bodyPr wrap="square" lIns="762" tIns="762" rIns="762" bIns="762" rtlCol="0" anchor="ctr"/>
          <a:lstStyle/>
          <a:p>
            <a:pPr algn="ctr" indent="0" marL="0">
              <a:buNone/>
            </a:pPr>
            <a:r>
              <a:rPr lang="en-US" sz="950" b="1" dirty="0">
                <a:solidFill>
                  <a:srgbClr val="FFFFFF"/>
                </a:solidFill>
                <a:latin typeface="Meiryo UI" pitchFamily="34" charset="0"/>
                <a:ea typeface="Meiryo UI" pitchFamily="34" charset="-122"/>
                <a:cs typeface="Meiryo UI" pitchFamily="34" charset="-120"/>
              </a:rPr>
              <a:t>P16</a:t>
            </a:r>
            <a:endParaRPr lang="en-US" sz="950" dirty="0"/>
          </a:p>
        </p:txBody>
      </p:sp>
      <p:sp>
        <p:nvSpPr>
          <p:cNvPr id="63" name="Text 61"/>
          <p:cNvSpPr txBox="1"/>
          <p:nvPr/>
        </p:nvSpPr>
        <p:spPr>
          <a:xfrm>
            <a:off x="8138160" y="3392424"/>
            <a:ext cx="3383280" cy="566928"/>
          </a:xfrm>
          <a:prstGeom prst="rect">
            <a:avLst/>
          </a:prstGeom>
          <a:noFill/>
          <a:ln/>
        </p:spPr>
        <p:txBody>
          <a:bodyPr wrap="square" lIns="508" tIns="508" rIns="508" bIns="508" rtlCol="0" anchor="ctr"/>
          <a:lstStyle/>
          <a:p>
            <a:pPr indent="0" marL="0">
              <a:buNone/>
            </a:pPr>
            <a:r>
              <a:rPr lang="en-US" sz="950" dirty="0">
                <a:solidFill>
                  <a:srgbClr val="2B2B2B"/>
                </a:solidFill>
                <a:latin typeface="Meiryo UI" pitchFamily="34" charset="0"/>
                <a:ea typeface="Meiryo UI" pitchFamily="34" charset="-122"/>
                <a:cs typeface="Meiryo UI" pitchFamily="34" charset="-120"/>
              </a:rPr>
              <a:t>修正のやり取りを専用画面で行う</a:t>
            </a:r>
            <a:endParaRPr lang="en-US" sz="950" dirty="0"/>
          </a:p>
        </p:txBody>
      </p:sp>
      <p:sp>
        <p:nvSpPr>
          <p:cNvPr id="64" name="Shape 62"/>
          <p:cNvSpPr/>
          <p:nvPr/>
        </p:nvSpPr>
        <p:spPr>
          <a:xfrm>
            <a:off x="548640" y="4050792"/>
            <a:ext cx="11064240" cy="566928"/>
          </a:xfrm>
          <a:prstGeom prst="roundRect">
            <a:avLst>
              <a:gd name="adj" fmla="val 8065"/>
            </a:avLst>
          </a:prstGeom>
          <a:solidFill>
            <a:srgbClr val="F3F5F8"/>
          </a:solidFill>
          <a:ln/>
        </p:spPr>
      </p:sp>
      <p:sp>
        <p:nvSpPr>
          <p:cNvPr id="65" name="Shape 63"/>
          <p:cNvSpPr/>
          <p:nvPr/>
        </p:nvSpPr>
        <p:spPr>
          <a:xfrm>
            <a:off x="658368" y="4178808"/>
            <a:ext cx="640080" cy="310896"/>
          </a:xfrm>
          <a:prstGeom prst="roundRect">
            <a:avLst>
              <a:gd name="adj" fmla="val 50000"/>
            </a:avLst>
          </a:prstGeom>
          <a:solidFill>
            <a:srgbClr val="1B2A49"/>
          </a:solidFill>
          <a:ln/>
        </p:spPr>
      </p:sp>
      <p:sp>
        <p:nvSpPr>
          <p:cNvPr id="66" name="Text 64"/>
          <p:cNvSpPr txBox="1"/>
          <p:nvPr/>
        </p:nvSpPr>
        <p:spPr>
          <a:xfrm>
            <a:off x="658368" y="4178808"/>
            <a:ext cx="640080" cy="310896"/>
          </a:xfrm>
          <a:prstGeom prst="rect">
            <a:avLst/>
          </a:prstGeom>
          <a:noFill/>
          <a:ln/>
        </p:spPr>
        <p:txBody>
          <a:bodyPr wrap="square" lIns="762" tIns="762" rIns="762" bIns="762"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例5</a:t>
            </a:r>
            <a:endParaRPr lang="en-US" sz="1000" dirty="0"/>
          </a:p>
        </p:txBody>
      </p:sp>
      <p:sp>
        <p:nvSpPr>
          <p:cNvPr id="67" name="Text 65"/>
          <p:cNvSpPr txBox="1"/>
          <p:nvPr/>
        </p:nvSpPr>
        <p:spPr>
          <a:xfrm>
            <a:off x="1371600" y="4050792"/>
            <a:ext cx="2103120" cy="566928"/>
          </a:xfrm>
          <a:prstGeom prst="rect">
            <a:avLst/>
          </a:prstGeom>
          <a:noFill/>
          <a:ln/>
        </p:spPr>
        <p:txBody>
          <a:bodyPr wrap="square" lIns="508" tIns="508" rIns="508" bIns="508" rtlCol="0" anchor="ctr"/>
          <a:lstStyle/>
          <a:p>
            <a:pPr indent="0" marL="0">
              <a:buNone/>
            </a:pPr>
            <a:r>
              <a:rPr lang="en-US" sz="1100" b="1" dirty="0">
                <a:solidFill>
                  <a:srgbClr val="1B2A49"/>
                </a:solidFill>
                <a:latin typeface="Meiryo UI" pitchFamily="34" charset="0"/>
                <a:ea typeface="Meiryo UI" pitchFamily="34" charset="-122"/>
                <a:cs typeface="Meiryo UI" pitchFamily="34" charset="-120"/>
              </a:rPr>
              <a:t>Airtable起点で別タブに移る</a:t>
            </a:r>
            <a:endParaRPr lang="en-US" sz="1100" dirty="0"/>
          </a:p>
        </p:txBody>
      </p:sp>
      <p:sp>
        <p:nvSpPr>
          <p:cNvPr id="68" name="Shape 66"/>
          <p:cNvSpPr/>
          <p:nvPr/>
        </p:nvSpPr>
        <p:spPr>
          <a:xfrm>
            <a:off x="3520440" y="4169664"/>
            <a:ext cx="1417320" cy="329184"/>
          </a:xfrm>
          <a:prstGeom prst="roundRect">
            <a:avLst>
              <a:gd name="adj" fmla="val 13889"/>
            </a:avLst>
          </a:prstGeom>
          <a:solidFill>
            <a:srgbClr val="0E9F9A"/>
          </a:solidFill>
          <a:ln/>
        </p:spPr>
      </p:sp>
      <p:sp>
        <p:nvSpPr>
          <p:cNvPr id="69" name="Text 67"/>
          <p:cNvSpPr txBox="1"/>
          <p:nvPr/>
        </p:nvSpPr>
        <p:spPr>
          <a:xfrm>
            <a:off x="3520440" y="4169664"/>
            <a:ext cx="1417320" cy="329184"/>
          </a:xfrm>
          <a:prstGeom prst="rect">
            <a:avLst/>
          </a:prstGeom>
          <a:noFill/>
          <a:ln/>
        </p:spPr>
        <p:txBody>
          <a:bodyPr wrap="square" lIns="762" tIns="762" rIns="762" bIns="762" rtlCol="0" anchor="ctr"/>
          <a:lstStyle/>
          <a:p>
            <a:pPr algn="ctr" indent="0" marL="0">
              <a:buNone/>
            </a:pPr>
            <a:r>
              <a:rPr lang="en-US" sz="950" b="1" dirty="0">
                <a:solidFill>
                  <a:srgbClr val="FFFFFF"/>
                </a:solidFill>
                <a:latin typeface="Meiryo UI" pitchFamily="34" charset="0"/>
                <a:ea typeface="Meiryo UI" pitchFamily="34" charset="-122"/>
                <a:cs typeface="Meiryo UI" pitchFamily="34" charset="-120"/>
              </a:rPr>
              <a:t>P7／P9</a:t>
            </a:r>
            <a:endParaRPr lang="en-US" sz="950" dirty="0"/>
          </a:p>
        </p:txBody>
      </p:sp>
      <p:sp>
        <p:nvSpPr>
          <p:cNvPr id="70" name="Shape 68"/>
          <p:cNvSpPr/>
          <p:nvPr/>
        </p:nvSpPr>
        <p:spPr>
          <a:xfrm>
            <a:off x="4965192" y="4334256"/>
            <a:ext cx="201168" cy="0"/>
          </a:xfrm>
          <a:prstGeom prst="line">
            <a:avLst/>
          </a:prstGeom>
          <a:noFill/>
          <a:ln w="15875">
            <a:solidFill>
              <a:srgbClr val="1B2A49"/>
            </a:solidFill>
            <a:prstDash val="solid"/>
            <a:tailEnd type="triangle"/>
          </a:ln>
        </p:spPr>
      </p:sp>
      <p:sp>
        <p:nvSpPr>
          <p:cNvPr id="71" name="Shape 69"/>
          <p:cNvSpPr/>
          <p:nvPr/>
        </p:nvSpPr>
        <p:spPr>
          <a:xfrm>
            <a:off x="5193792" y="4169664"/>
            <a:ext cx="1417320" cy="329184"/>
          </a:xfrm>
          <a:prstGeom prst="roundRect">
            <a:avLst>
              <a:gd name="adj" fmla="val 13889"/>
            </a:avLst>
          </a:prstGeom>
          <a:solidFill>
            <a:srgbClr val="0E9F9A"/>
          </a:solidFill>
          <a:ln/>
        </p:spPr>
      </p:sp>
      <p:sp>
        <p:nvSpPr>
          <p:cNvPr id="72" name="Text 70"/>
          <p:cNvSpPr txBox="1"/>
          <p:nvPr/>
        </p:nvSpPr>
        <p:spPr>
          <a:xfrm>
            <a:off x="5193792" y="4169664"/>
            <a:ext cx="1417320" cy="329184"/>
          </a:xfrm>
          <a:prstGeom prst="rect">
            <a:avLst/>
          </a:prstGeom>
          <a:noFill/>
          <a:ln/>
        </p:spPr>
        <p:txBody>
          <a:bodyPr wrap="square" lIns="762" tIns="762" rIns="762" bIns="762" rtlCol="0" anchor="ctr"/>
          <a:lstStyle/>
          <a:p>
            <a:pPr algn="ctr" indent="0" marL="0">
              <a:buNone/>
            </a:pPr>
            <a:r>
              <a:rPr lang="en-US" sz="950" b="1" dirty="0">
                <a:solidFill>
                  <a:srgbClr val="FFFFFF"/>
                </a:solidFill>
                <a:latin typeface="Meiryo UI" pitchFamily="34" charset="0"/>
                <a:ea typeface="Meiryo UI" pitchFamily="34" charset="-122"/>
                <a:cs typeface="Meiryo UI" pitchFamily="34" charset="-120"/>
              </a:rPr>
              <a:t>U1＋U3a／U3b</a:t>
            </a:r>
            <a:endParaRPr lang="en-US" sz="950" dirty="0"/>
          </a:p>
        </p:txBody>
      </p:sp>
      <p:sp>
        <p:nvSpPr>
          <p:cNvPr id="73" name="Text 71"/>
          <p:cNvSpPr txBox="1"/>
          <p:nvPr/>
        </p:nvSpPr>
        <p:spPr>
          <a:xfrm>
            <a:off x="8138160" y="4050792"/>
            <a:ext cx="3383280" cy="566928"/>
          </a:xfrm>
          <a:prstGeom prst="rect">
            <a:avLst/>
          </a:prstGeom>
          <a:noFill/>
          <a:ln/>
        </p:spPr>
        <p:txBody>
          <a:bodyPr wrap="square" lIns="508" tIns="508" rIns="508" bIns="508" rtlCol="0" anchor="ctr"/>
          <a:lstStyle/>
          <a:p>
            <a:pPr indent="0" marL="0">
              <a:buNone/>
            </a:pPr>
            <a:r>
              <a:rPr lang="en-US" sz="950" dirty="0">
                <a:solidFill>
                  <a:srgbClr val="2B2B2B"/>
                </a:solidFill>
                <a:latin typeface="Meiryo UI" pitchFamily="34" charset="0"/>
                <a:ea typeface="Meiryo UI" pitchFamily="34" charset="-122"/>
                <a:cs typeface="Meiryo UI" pitchFamily="34" charset="-120"/>
              </a:rPr>
              <a:t>自動起案の後、軽い修正はU1、込み入った修正はU3a／U3bと使い分け、作業の起点と確定の場所をAirtableにそろえる</a:t>
            </a:r>
            <a:endParaRPr lang="en-US" sz="950" dirty="0"/>
          </a:p>
        </p:txBody>
      </p:sp>
      <p:sp>
        <p:nvSpPr>
          <p:cNvPr id="74" name="Shape 72"/>
          <p:cNvSpPr/>
          <p:nvPr/>
        </p:nvSpPr>
        <p:spPr>
          <a:xfrm>
            <a:off x="548640" y="4800600"/>
            <a:ext cx="11064240" cy="1508760"/>
          </a:xfrm>
          <a:prstGeom prst="roundRect">
            <a:avLst>
              <a:gd name="adj" fmla="val 3636"/>
            </a:avLst>
          </a:prstGeom>
          <a:solidFill>
            <a:srgbClr val="D9F2F1"/>
          </a:solidFill>
          <a:ln/>
        </p:spPr>
      </p:sp>
      <p:sp>
        <p:nvSpPr>
          <p:cNvPr id="75" name="Shape 73"/>
          <p:cNvSpPr/>
          <p:nvPr/>
        </p:nvSpPr>
        <p:spPr>
          <a:xfrm>
            <a:off x="731520" y="4937760"/>
            <a:ext cx="420624" cy="420624"/>
          </a:xfrm>
          <a:prstGeom prst="ellipse">
            <a:avLst/>
          </a:prstGeom>
          <a:solidFill>
            <a:srgbClr val="FFFFFF"/>
          </a:solidFill>
          <a:ln/>
        </p:spPr>
      </p:sp>
      <p:pic>
        <p:nvPicPr>
          <p:cNvPr id="76" name="Image 0" descr="preencoded.png">    </p:cNvPr>
          <p:cNvPicPr>
            <a:picLocks noChangeAspect="1"/>
          </p:cNvPicPr>
          <p:nvPr/>
        </p:nvPicPr>
        <p:blipFill>
          <a:blip r:embed="rId1"/>
          <a:stretch>
            <a:fillRect/>
          </a:stretch>
        </p:blipFill>
        <p:spPr>
          <a:xfrm>
            <a:off x="815645" y="5021885"/>
            <a:ext cx="252374" cy="252374"/>
          </a:xfrm>
          <a:prstGeom prst="rect">
            <a:avLst/>
          </a:prstGeom>
        </p:spPr>
      </p:pic>
      <p:sp>
        <p:nvSpPr>
          <p:cNvPr id="77" name="Text 74"/>
          <p:cNvSpPr txBox="1"/>
          <p:nvPr/>
        </p:nvSpPr>
        <p:spPr>
          <a:xfrm>
            <a:off x="1261872" y="4937760"/>
            <a:ext cx="5486400" cy="420624"/>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共通して用意しておくとよいもの</a:t>
            </a:r>
            <a:endParaRPr lang="en-US" sz="1300" dirty="0"/>
          </a:p>
        </p:txBody>
      </p:sp>
      <p:pic>
        <p:nvPicPr>
          <p:cNvPr id="78" name="Image 1" descr="preencoded.png">    </p:cNvPr>
          <p:cNvPicPr>
            <a:picLocks noChangeAspect="1"/>
          </p:cNvPicPr>
          <p:nvPr/>
        </p:nvPicPr>
        <p:blipFill>
          <a:blip r:embed="rId2"/>
          <a:stretch>
            <a:fillRect/>
          </a:stretch>
        </p:blipFill>
        <p:spPr>
          <a:xfrm>
            <a:off x="731520" y="5504688"/>
            <a:ext cx="292608" cy="292608"/>
          </a:xfrm>
          <a:prstGeom prst="rect">
            <a:avLst/>
          </a:prstGeom>
        </p:spPr>
      </p:pic>
      <p:sp>
        <p:nvSpPr>
          <p:cNvPr id="79" name="Text 75"/>
          <p:cNvSpPr txBox="1"/>
          <p:nvPr/>
        </p:nvSpPr>
        <p:spPr>
          <a:xfrm>
            <a:off x="1115568" y="5440680"/>
            <a:ext cx="3154680" cy="777240"/>
          </a:xfrm>
          <a:prstGeom prst="rect">
            <a:avLst/>
          </a:prstGeom>
          <a:noFill/>
          <a:ln/>
        </p:spPr>
        <p:txBody>
          <a:bodyPr wrap="square" lIns="0" tIns="0" rIns="0" bIns="0" rtlCol="0" anchor="t"/>
          <a:lstStyle/>
          <a:p>
            <a:pPr indent="0" marL="0">
              <a:buNone/>
            </a:pPr>
            <a:r>
              <a:rPr lang="en-US" sz="1000" dirty="0">
                <a:solidFill>
                  <a:srgbClr val="2B2B2B"/>
                </a:solidFill>
                <a:latin typeface="Meiryo UI" pitchFamily="34" charset="0"/>
                <a:ea typeface="Meiryo UI" pitchFamily="34" charset="-122"/>
                <a:cs typeface="Meiryo UI" pitchFamily="34" charset="-120"/>
              </a:rPr>
              <a:t>Airtable側のステータス欄（起案待ち → 起案中 → 下書きあり → 確定）と、下書き用の欄（確定欄とは分ける）</a:t>
            </a:r>
            <a:endParaRPr lang="en-US" sz="1000" dirty="0"/>
          </a:p>
        </p:txBody>
      </p:sp>
      <p:pic>
        <p:nvPicPr>
          <p:cNvPr id="80" name="Image 2" descr="preencoded.png">    </p:cNvPr>
          <p:cNvPicPr>
            <a:picLocks noChangeAspect="1"/>
          </p:cNvPicPr>
          <p:nvPr/>
        </p:nvPicPr>
        <p:blipFill>
          <a:blip r:embed="rId3"/>
          <a:stretch>
            <a:fillRect/>
          </a:stretch>
        </p:blipFill>
        <p:spPr>
          <a:xfrm>
            <a:off x="4389120" y="5504688"/>
            <a:ext cx="292608" cy="292608"/>
          </a:xfrm>
          <a:prstGeom prst="rect">
            <a:avLst/>
          </a:prstGeom>
        </p:spPr>
      </p:pic>
      <p:sp>
        <p:nvSpPr>
          <p:cNvPr id="81" name="Text 76"/>
          <p:cNvSpPr txBox="1"/>
          <p:nvPr/>
        </p:nvSpPr>
        <p:spPr>
          <a:xfrm>
            <a:off x="4773168" y="5440680"/>
            <a:ext cx="3154680" cy="777240"/>
          </a:xfrm>
          <a:prstGeom prst="rect">
            <a:avLst/>
          </a:prstGeom>
          <a:noFill/>
          <a:ln/>
        </p:spPr>
        <p:txBody>
          <a:bodyPr wrap="square" lIns="0" tIns="0" rIns="0" bIns="0" rtlCol="0" anchor="t"/>
          <a:lstStyle/>
          <a:p>
            <a:pPr indent="0" marL="0">
              <a:buNone/>
            </a:pPr>
            <a:r>
              <a:rPr lang="en-US" sz="1000" dirty="0">
                <a:solidFill>
                  <a:srgbClr val="2B2B2B"/>
                </a:solidFill>
                <a:latin typeface="Meiryo UI" pitchFamily="34" charset="0"/>
                <a:ea typeface="Meiryo UI" pitchFamily="34" charset="-122"/>
                <a:cs typeface="Meiryo UI" pitchFamily="34" charset="-120"/>
              </a:rPr>
              <a:t>エージェントの出力形式の固定（JSONなど）と、書き込み前の形式チェック</a:t>
            </a:r>
            <a:endParaRPr lang="en-US" sz="1000" dirty="0"/>
          </a:p>
        </p:txBody>
      </p:sp>
      <p:pic>
        <p:nvPicPr>
          <p:cNvPr id="82" name="Image 3" descr="preencoded.png">    </p:cNvPr>
          <p:cNvPicPr>
            <a:picLocks noChangeAspect="1"/>
          </p:cNvPicPr>
          <p:nvPr/>
        </p:nvPicPr>
        <p:blipFill>
          <a:blip r:embed="rId4"/>
          <a:stretch>
            <a:fillRect/>
          </a:stretch>
        </p:blipFill>
        <p:spPr>
          <a:xfrm>
            <a:off x="8046720" y="5504688"/>
            <a:ext cx="292608" cy="292608"/>
          </a:xfrm>
          <a:prstGeom prst="rect">
            <a:avLst/>
          </a:prstGeom>
        </p:spPr>
      </p:pic>
      <p:sp>
        <p:nvSpPr>
          <p:cNvPr id="83" name="Text 77"/>
          <p:cNvSpPr txBox="1"/>
          <p:nvPr/>
        </p:nvSpPr>
        <p:spPr>
          <a:xfrm>
            <a:off x="8430768" y="5440680"/>
            <a:ext cx="3154680" cy="777240"/>
          </a:xfrm>
          <a:prstGeom prst="rect">
            <a:avLst/>
          </a:prstGeom>
          <a:noFill/>
          <a:ln/>
        </p:spPr>
        <p:txBody>
          <a:bodyPr wrap="square" lIns="0" tIns="0" rIns="0" bIns="0" rtlCol="0" anchor="t"/>
          <a:lstStyle/>
          <a:p>
            <a:pPr indent="0" marL="0">
              <a:buNone/>
            </a:pPr>
            <a:r>
              <a:rPr lang="en-US" sz="1000" dirty="0">
                <a:solidFill>
                  <a:srgbClr val="2B2B2B"/>
                </a:solidFill>
                <a:latin typeface="Meiryo UI" pitchFamily="34" charset="0"/>
                <a:ea typeface="Meiryo UI" pitchFamily="34" charset="-122"/>
                <a:cs typeface="Meiryo UI" pitchFamily="34" charset="-120"/>
              </a:rPr>
              <a:t>失敗時の通知と再実行の手順</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確認が必要な事項</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情シス・Airtable管理者・業務側のそれぞれに確認する。対象のパターンを括弧内に示す</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6. 確認事項・参考</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26</a:t>
            </a:r>
            <a:endParaRPr lang="en-US" sz="900" dirty="0"/>
          </a:p>
        </p:txBody>
      </p:sp>
      <p:sp>
        <p:nvSpPr>
          <p:cNvPr id="6" name="Shape 4"/>
          <p:cNvSpPr/>
          <p:nvPr/>
        </p:nvSpPr>
        <p:spPr>
          <a:xfrm>
            <a:off x="548640" y="1417320"/>
            <a:ext cx="3611880" cy="4892040"/>
          </a:xfrm>
          <a:prstGeom prst="roundRect">
            <a:avLst>
              <a:gd name="adj" fmla="val 1519"/>
            </a:avLst>
          </a:prstGeom>
          <a:solidFill>
            <a:srgbClr val="E5F0FA"/>
          </a:solidFill>
          <a:ln/>
        </p:spPr>
      </p:sp>
      <p:sp>
        <p:nvSpPr>
          <p:cNvPr id="7" name="Shape 5"/>
          <p:cNvSpPr/>
          <p:nvPr/>
        </p:nvSpPr>
        <p:spPr>
          <a:xfrm>
            <a:off x="685800" y="1554480"/>
            <a:ext cx="457200" cy="457200"/>
          </a:xfrm>
          <a:prstGeom prst="ellipse">
            <a:avLst/>
          </a:prstGeom>
          <a:solidFill>
            <a:srgbClr val="FFFFFF"/>
          </a:solidFill>
          <a:ln/>
        </p:spPr>
      </p:sp>
      <p:pic>
        <p:nvPicPr>
          <p:cNvPr id="8" name="Image 0" descr="preencoded.png">    </p:cNvPr>
          <p:cNvPicPr>
            <a:picLocks noChangeAspect="1"/>
          </p:cNvPicPr>
          <p:nvPr/>
        </p:nvPicPr>
        <p:blipFill>
          <a:blip r:embed="rId1"/>
          <a:stretch>
            <a:fillRect/>
          </a:stretch>
        </p:blipFill>
        <p:spPr>
          <a:xfrm>
            <a:off x="777240" y="1645920"/>
            <a:ext cx="274320" cy="274320"/>
          </a:xfrm>
          <a:prstGeom prst="rect">
            <a:avLst/>
          </a:prstGeom>
        </p:spPr>
      </p:pic>
      <p:sp>
        <p:nvSpPr>
          <p:cNvPr id="9" name="Text 6"/>
          <p:cNvSpPr txBox="1"/>
          <p:nvPr/>
        </p:nvSpPr>
        <p:spPr>
          <a:xfrm>
            <a:off x="1234440" y="1554480"/>
            <a:ext cx="2834640" cy="457200"/>
          </a:xfrm>
          <a:prstGeom prst="rect">
            <a:avLst/>
          </a:prstGeom>
          <a:noFill/>
          <a:ln/>
        </p:spPr>
        <p:txBody>
          <a:bodyPr wrap="square" lIns="508" tIns="508" rIns="508" bIns="508" rtlCol="0" anchor="ctr"/>
          <a:lstStyle/>
          <a:p>
            <a:pPr indent="0" marL="0">
              <a:buNone/>
            </a:pPr>
            <a:r>
              <a:rPr lang="en-US" sz="1250" b="1" dirty="0">
                <a:solidFill>
                  <a:srgbClr val="1B2A49"/>
                </a:solidFill>
                <a:latin typeface="Meiryo UI" pitchFamily="34" charset="0"/>
                <a:ea typeface="Meiryo UI" pitchFamily="34" charset="-122"/>
                <a:cs typeface="Meiryo UI" pitchFamily="34" charset="-120"/>
              </a:rPr>
              <a:t>情シス（M365・Power Platform）</a:t>
            </a:r>
            <a:endParaRPr lang="en-US" sz="1250" dirty="0"/>
          </a:p>
        </p:txBody>
      </p:sp>
      <p:sp>
        <p:nvSpPr>
          <p:cNvPr id="10" name="Shape 7"/>
          <p:cNvSpPr/>
          <p:nvPr/>
        </p:nvSpPr>
        <p:spPr>
          <a:xfrm>
            <a:off x="685800" y="2194560"/>
            <a:ext cx="3337560" cy="517289"/>
          </a:xfrm>
          <a:prstGeom prst="roundRect">
            <a:avLst>
              <a:gd name="adj" fmla="val 8838"/>
            </a:avLst>
          </a:prstGeom>
          <a:solidFill>
            <a:srgbClr val="FFFFFF"/>
          </a:solidFill>
          <a:ln/>
        </p:spPr>
      </p:sp>
      <p:sp>
        <p:nvSpPr>
          <p:cNvPr id="11" name="Text 8"/>
          <p:cNvSpPr txBox="1"/>
          <p:nvPr/>
        </p:nvSpPr>
        <p:spPr>
          <a:xfrm>
            <a:off x="749808" y="2194560"/>
            <a:ext cx="320040" cy="517289"/>
          </a:xfrm>
          <a:prstGeom prst="rect">
            <a:avLst/>
          </a:prstGeom>
          <a:noFill/>
          <a:ln/>
        </p:spPr>
        <p:txBody>
          <a:bodyPr wrap="square" lIns="0" tIns="0" rIns="0" bIns="0" rtlCol="0" anchor="ctr"/>
          <a:lstStyle/>
          <a:p>
            <a:pPr indent="0" marL="0">
              <a:buNone/>
            </a:pPr>
            <a:r>
              <a:rPr lang="en-US" sz="1400" dirty="0">
                <a:solidFill>
                  <a:srgbClr val="1B2A49"/>
                </a:solidFill>
                <a:latin typeface="Meiryo UI" pitchFamily="34" charset="0"/>
                <a:ea typeface="Meiryo UI" pitchFamily="34" charset="-122"/>
                <a:cs typeface="Meiryo UI" pitchFamily="34" charset="-120"/>
              </a:rPr>
              <a:t>☐</a:t>
            </a:r>
            <a:endParaRPr lang="en-US" sz="1400" dirty="0"/>
          </a:p>
        </p:txBody>
      </p:sp>
      <p:sp>
        <p:nvSpPr>
          <p:cNvPr id="12" name="Text 9"/>
          <p:cNvSpPr txBox="1"/>
          <p:nvPr/>
        </p:nvSpPr>
        <p:spPr>
          <a:xfrm>
            <a:off x="1078992" y="2194560"/>
            <a:ext cx="2880360" cy="517289"/>
          </a:xfrm>
          <a:prstGeom prst="rect">
            <a:avLst/>
          </a:prstGeom>
          <a:noFill/>
          <a:ln/>
        </p:spPr>
        <p:txBody>
          <a:bodyPr wrap="square" lIns="0" tIns="0" rIns="0" bIns="0" rtlCol="0" anchor="ctr"/>
          <a:lstStyle/>
          <a:p>
            <a:pPr indent="0" marL="0">
              <a:buNone/>
            </a:pPr>
            <a:r>
              <a:rPr lang="en-US" sz="900" dirty="0">
                <a:solidFill>
                  <a:srgbClr val="2B2B2B"/>
                </a:solidFill>
                <a:latin typeface="Meiryo UI" pitchFamily="34" charset="0"/>
                <a:ea typeface="Meiryo UI" pitchFamily="34" charset="-122"/>
                <a:cs typeface="Meiryo UI" pitchFamily="34" charset="-120"/>
              </a:rPr>
              <a:t>Power AutomateのHTTPトリガーの「Anyone」設定を使えるか（P9・P10）</a:t>
            </a:r>
            <a:endParaRPr lang="en-US" sz="900" dirty="0"/>
          </a:p>
        </p:txBody>
      </p:sp>
      <p:sp>
        <p:nvSpPr>
          <p:cNvPr id="13" name="Shape 10"/>
          <p:cNvSpPr/>
          <p:nvPr/>
        </p:nvSpPr>
        <p:spPr>
          <a:xfrm>
            <a:off x="685800" y="2775857"/>
            <a:ext cx="3337560" cy="517289"/>
          </a:xfrm>
          <a:prstGeom prst="roundRect">
            <a:avLst>
              <a:gd name="adj" fmla="val 8838"/>
            </a:avLst>
          </a:prstGeom>
          <a:solidFill>
            <a:srgbClr val="FFFFFF"/>
          </a:solidFill>
          <a:ln/>
        </p:spPr>
      </p:sp>
      <p:sp>
        <p:nvSpPr>
          <p:cNvPr id="14" name="Text 11"/>
          <p:cNvSpPr txBox="1"/>
          <p:nvPr/>
        </p:nvSpPr>
        <p:spPr>
          <a:xfrm>
            <a:off x="749808" y="2775857"/>
            <a:ext cx="320040" cy="517289"/>
          </a:xfrm>
          <a:prstGeom prst="rect">
            <a:avLst/>
          </a:prstGeom>
          <a:noFill/>
          <a:ln/>
        </p:spPr>
        <p:txBody>
          <a:bodyPr wrap="square" lIns="0" tIns="0" rIns="0" bIns="0" rtlCol="0" anchor="ctr"/>
          <a:lstStyle/>
          <a:p>
            <a:pPr indent="0" marL="0">
              <a:buNone/>
            </a:pPr>
            <a:r>
              <a:rPr lang="en-US" sz="1400" dirty="0">
                <a:solidFill>
                  <a:srgbClr val="1B2A49"/>
                </a:solidFill>
                <a:latin typeface="Meiryo UI" pitchFamily="34" charset="0"/>
                <a:ea typeface="Meiryo UI" pitchFamily="34" charset="-122"/>
                <a:cs typeface="Meiryo UI" pitchFamily="34" charset="-120"/>
              </a:rPr>
              <a:t>☐</a:t>
            </a:r>
            <a:endParaRPr lang="en-US" sz="1400" dirty="0"/>
          </a:p>
        </p:txBody>
      </p:sp>
      <p:sp>
        <p:nvSpPr>
          <p:cNvPr id="15" name="Text 12"/>
          <p:cNvSpPr txBox="1"/>
          <p:nvPr/>
        </p:nvSpPr>
        <p:spPr>
          <a:xfrm>
            <a:off x="1078992" y="2775857"/>
            <a:ext cx="2880360" cy="517289"/>
          </a:xfrm>
          <a:prstGeom prst="rect">
            <a:avLst/>
          </a:prstGeom>
          <a:noFill/>
          <a:ln/>
        </p:spPr>
        <p:txBody>
          <a:bodyPr wrap="square" lIns="0" tIns="0" rIns="0" bIns="0" rtlCol="0" anchor="ctr"/>
          <a:lstStyle/>
          <a:p>
            <a:pPr indent="0" marL="0">
              <a:buNone/>
            </a:pPr>
            <a:r>
              <a:rPr lang="en-US" sz="900" dirty="0">
                <a:solidFill>
                  <a:srgbClr val="2B2B2B"/>
                </a:solidFill>
                <a:latin typeface="Meiryo UI" pitchFamily="34" charset="0"/>
                <a:ea typeface="Meiryo UI" pitchFamily="34" charset="-122"/>
                <a:cs typeface="Meiryo UI" pitchFamily="34" charset="-120"/>
              </a:rPr>
              <a:t>DLPポリシーで、HTTPトリガー・HTTPアクション・カスタムコネクタが許可されているか</a:t>
            </a:r>
            <a:endParaRPr lang="en-US" sz="900" dirty="0"/>
          </a:p>
        </p:txBody>
      </p:sp>
      <p:sp>
        <p:nvSpPr>
          <p:cNvPr id="16" name="Shape 13"/>
          <p:cNvSpPr/>
          <p:nvPr/>
        </p:nvSpPr>
        <p:spPr>
          <a:xfrm>
            <a:off x="685800" y="3357154"/>
            <a:ext cx="3337560" cy="517289"/>
          </a:xfrm>
          <a:prstGeom prst="roundRect">
            <a:avLst>
              <a:gd name="adj" fmla="val 8838"/>
            </a:avLst>
          </a:prstGeom>
          <a:solidFill>
            <a:srgbClr val="FFFFFF"/>
          </a:solidFill>
          <a:ln/>
        </p:spPr>
      </p:sp>
      <p:sp>
        <p:nvSpPr>
          <p:cNvPr id="17" name="Text 14"/>
          <p:cNvSpPr txBox="1"/>
          <p:nvPr/>
        </p:nvSpPr>
        <p:spPr>
          <a:xfrm>
            <a:off x="749808" y="3357154"/>
            <a:ext cx="320040" cy="517289"/>
          </a:xfrm>
          <a:prstGeom prst="rect">
            <a:avLst/>
          </a:prstGeom>
          <a:noFill/>
          <a:ln/>
        </p:spPr>
        <p:txBody>
          <a:bodyPr wrap="square" lIns="0" tIns="0" rIns="0" bIns="0" rtlCol="0" anchor="ctr"/>
          <a:lstStyle/>
          <a:p>
            <a:pPr indent="0" marL="0">
              <a:buNone/>
            </a:pPr>
            <a:r>
              <a:rPr lang="en-US" sz="1400" dirty="0">
                <a:solidFill>
                  <a:srgbClr val="1B2A49"/>
                </a:solidFill>
                <a:latin typeface="Meiryo UI" pitchFamily="34" charset="0"/>
                <a:ea typeface="Meiryo UI" pitchFamily="34" charset="-122"/>
                <a:cs typeface="Meiryo UI" pitchFamily="34" charset="-120"/>
              </a:rPr>
              <a:t>☐</a:t>
            </a:r>
            <a:endParaRPr lang="en-US" sz="1400" dirty="0"/>
          </a:p>
        </p:txBody>
      </p:sp>
      <p:sp>
        <p:nvSpPr>
          <p:cNvPr id="18" name="Text 15"/>
          <p:cNvSpPr txBox="1"/>
          <p:nvPr/>
        </p:nvSpPr>
        <p:spPr>
          <a:xfrm>
            <a:off x="1078992" y="3357154"/>
            <a:ext cx="2880360" cy="517289"/>
          </a:xfrm>
          <a:prstGeom prst="rect">
            <a:avLst/>
          </a:prstGeom>
          <a:noFill/>
          <a:ln/>
        </p:spPr>
        <p:txBody>
          <a:bodyPr wrap="square" lIns="0" tIns="0" rIns="0" bIns="0" rtlCol="0" anchor="ctr"/>
          <a:lstStyle/>
          <a:p>
            <a:pPr indent="0" marL="0">
              <a:buNone/>
            </a:pPr>
            <a:r>
              <a:rPr lang="en-US" sz="900" dirty="0">
                <a:solidFill>
                  <a:srgbClr val="2B2B2B"/>
                </a:solidFill>
                <a:latin typeface="Meiryo UI" pitchFamily="34" charset="0"/>
                <a:ea typeface="Meiryo UI" pitchFamily="34" charset="-122"/>
                <a:cs typeface="Meiryo UI" pitchFamily="34" charset="-120"/>
              </a:rPr>
              <a:t>Copilot Studioの利用（ライセンス・容量）と、MCPサーバーへの接続が許可されるか（P6）</a:t>
            </a:r>
            <a:endParaRPr lang="en-US" sz="900" dirty="0"/>
          </a:p>
        </p:txBody>
      </p:sp>
      <p:sp>
        <p:nvSpPr>
          <p:cNvPr id="19" name="Shape 16"/>
          <p:cNvSpPr/>
          <p:nvPr/>
        </p:nvSpPr>
        <p:spPr>
          <a:xfrm>
            <a:off x="685800" y="3938451"/>
            <a:ext cx="3337560" cy="517289"/>
          </a:xfrm>
          <a:prstGeom prst="roundRect">
            <a:avLst>
              <a:gd name="adj" fmla="val 8838"/>
            </a:avLst>
          </a:prstGeom>
          <a:solidFill>
            <a:srgbClr val="FFFFFF"/>
          </a:solidFill>
          <a:ln/>
        </p:spPr>
      </p:sp>
      <p:sp>
        <p:nvSpPr>
          <p:cNvPr id="20" name="Text 17"/>
          <p:cNvSpPr txBox="1"/>
          <p:nvPr/>
        </p:nvSpPr>
        <p:spPr>
          <a:xfrm>
            <a:off x="749808" y="3938451"/>
            <a:ext cx="320040" cy="517289"/>
          </a:xfrm>
          <a:prstGeom prst="rect">
            <a:avLst/>
          </a:prstGeom>
          <a:noFill/>
          <a:ln/>
        </p:spPr>
        <p:txBody>
          <a:bodyPr wrap="square" lIns="0" tIns="0" rIns="0" bIns="0" rtlCol="0" anchor="ctr"/>
          <a:lstStyle/>
          <a:p>
            <a:pPr indent="0" marL="0">
              <a:buNone/>
            </a:pPr>
            <a:r>
              <a:rPr lang="en-US" sz="1400" dirty="0">
                <a:solidFill>
                  <a:srgbClr val="1B2A49"/>
                </a:solidFill>
                <a:latin typeface="Meiryo UI" pitchFamily="34" charset="0"/>
                <a:ea typeface="Meiryo UI" pitchFamily="34" charset="-122"/>
                <a:cs typeface="Meiryo UI" pitchFamily="34" charset="-120"/>
              </a:rPr>
              <a:t>☐</a:t>
            </a:r>
            <a:endParaRPr lang="en-US" sz="1400" dirty="0"/>
          </a:p>
        </p:txBody>
      </p:sp>
      <p:sp>
        <p:nvSpPr>
          <p:cNvPr id="21" name="Text 18"/>
          <p:cNvSpPr txBox="1"/>
          <p:nvPr/>
        </p:nvSpPr>
        <p:spPr>
          <a:xfrm>
            <a:off x="1078992" y="3938451"/>
            <a:ext cx="2880360" cy="517289"/>
          </a:xfrm>
          <a:prstGeom prst="rect">
            <a:avLst/>
          </a:prstGeom>
          <a:noFill/>
          <a:ln/>
        </p:spPr>
        <p:txBody>
          <a:bodyPr wrap="square" lIns="0" tIns="0" rIns="0" bIns="0" rtlCol="0" anchor="ctr"/>
          <a:lstStyle/>
          <a:p>
            <a:pPr indent="0" marL="0">
              <a:buNone/>
            </a:pPr>
            <a:r>
              <a:rPr lang="en-US" sz="900" dirty="0">
                <a:solidFill>
                  <a:srgbClr val="2B2B2B"/>
                </a:solidFill>
                <a:latin typeface="Meiryo UI" pitchFamily="34" charset="0"/>
                <a:ea typeface="Meiryo UI" pitchFamily="34" charset="-122"/>
                <a:cs typeface="Meiryo UI" pitchFamily="34" charset="-120"/>
              </a:rPr>
              <a:t>自律エージェント（イベントトリガー）の利用が許可されるか（P10）</a:t>
            </a:r>
            <a:endParaRPr lang="en-US" sz="900" dirty="0"/>
          </a:p>
        </p:txBody>
      </p:sp>
      <p:sp>
        <p:nvSpPr>
          <p:cNvPr id="22" name="Shape 19"/>
          <p:cNvSpPr/>
          <p:nvPr/>
        </p:nvSpPr>
        <p:spPr>
          <a:xfrm>
            <a:off x="685800" y="4519749"/>
            <a:ext cx="3337560" cy="517289"/>
          </a:xfrm>
          <a:prstGeom prst="roundRect">
            <a:avLst>
              <a:gd name="adj" fmla="val 8838"/>
            </a:avLst>
          </a:prstGeom>
          <a:solidFill>
            <a:srgbClr val="FFFFFF"/>
          </a:solidFill>
          <a:ln/>
        </p:spPr>
      </p:sp>
      <p:sp>
        <p:nvSpPr>
          <p:cNvPr id="23" name="Text 20"/>
          <p:cNvSpPr txBox="1"/>
          <p:nvPr/>
        </p:nvSpPr>
        <p:spPr>
          <a:xfrm>
            <a:off x="749808" y="4519749"/>
            <a:ext cx="320040" cy="517289"/>
          </a:xfrm>
          <a:prstGeom prst="rect">
            <a:avLst/>
          </a:prstGeom>
          <a:noFill/>
          <a:ln/>
        </p:spPr>
        <p:txBody>
          <a:bodyPr wrap="square" lIns="0" tIns="0" rIns="0" bIns="0" rtlCol="0" anchor="ctr"/>
          <a:lstStyle/>
          <a:p>
            <a:pPr indent="0" marL="0">
              <a:buNone/>
            </a:pPr>
            <a:r>
              <a:rPr lang="en-US" sz="1400" dirty="0">
                <a:solidFill>
                  <a:srgbClr val="1B2A49"/>
                </a:solidFill>
                <a:latin typeface="Meiryo UI" pitchFamily="34" charset="0"/>
                <a:ea typeface="Meiryo UI" pitchFamily="34" charset="-122"/>
                <a:cs typeface="Meiryo UI" pitchFamily="34" charset="-120"/>
              </a:rPr>
              <a:t>☐</a:t>
            </a:r>
            <a:endParaRPr lang="en-US" sz="1400" dirty="0"/>
          </a:p>
        </p:txBody>
      </p:sp>
      <p:sp>
        <p:nvSpPr>
          <p:cNvPr id="24" name="Text 21"/>
          <p:cNvSpPr txBox="1"/>
          <p:nvPr/>
        </p:nvSpPr>
        <p:spPr>
          <a:xfrm>
            <a:off x="1078992" y="4519749"/>
            <a:ext cx="2880360" cy="517289"/>
          </a:xfrm>
          <a:prstGeom prst="rect">
            <a:avLst/>
          </a:prstGeom>
          <a:noFill/>
          <a:ln/>
        </p:spPr>
        <p:txBody>
          <a:bodyPr wrap="square" lIns="0" tIns="0" rIns="0" bIns="0" rtlCol="0" anchor="ctr"/>
          <a:lstStyle/>
          <a:p>
            <a:pPr indent="0" marL="0">
              <a:buNone/>
            </a:pPr>
            <a:r>
              <a:rPr lang="en-US" sz="900" dirty="0">
                <a:solidFill>
                  <a:srgbClr val="2B2B2B"/>
                </a:solidFill>
                <a:latin typeface="Meiryo UI" pitchFamily="34" charset="0"/>
                <a:ea typeface="Meiryo UI" pitchFamily="34" charset="-122"/>
                <a:cs typeface="Meiryo UI" pitchFamily="34" charset="-120"/>
              </a:rPr>
              <a:t>iPaaSなど外部SaaSの利用が許可されるか（P13）</a:t>
            </a:r>
            <a:endParaRPr lang="en-US" sz="900" dirty="0"/>
          </a:p>
        </p:txBody>
      </p:sp>
      <p:sp>
        <p:nvSpPr>
          <p:cNvPr id="25" name="Shape 22"/>
          <p:cNvSpPr/>
          <p:nvPr/>
        </p:nvSpPr>
        <p:spPr>
          <a:xfrm>
            <a:off x="685800" y="5101046"/>
            <a:ext cx="3337560" cy="517289"/>
          </a:xfrm>
          <a:prstGeom prst="roundRect">
            <a:avLst>
              <a:gd name="adj" fmla="val 8838"/>
            </a:avLst>
          </a:prstGeom>
          <a:solidFill>
            <a:srgbClr val="FFFFFF"/>
          </a:solidFill>
          <a:ln/>
        </p:spPr>
      </p:sp>
      <p:sp>
        <p:nvSpPr>
          <p:cNvPr id="26" name="Text 23"/>
          <p:cNvSpPr txBox="1"/>
          <p:nvPr/>
        </p:nvSpPr>
        <p:spPr>
          <a:xfrm>
            <a:off x="749808" y="5101046"/>
            <a:ext cx="320040" cy="517289"/>
          </a:xfrm>
          <a:prstGeom prst="rect">
            <a:avLst/>
          </a:prstGeom>
          <a:noFill/>
          <a:ln/>
        </p:spPr>
        <p:txBody>
          <a:bodyPr wrap="square" lIns="0" tIns="0" rIns="0" bIns="0" rtlCol="0" anchor="ctr"/>
          <a:lstStyle/>
          <a:p>
            <a:pPr indent="0" marL="0">
              <a:buNone/>
            </a:pPr>
            <a:r>
              <a:rPr lang="en-US" sz="1400" dirty="0">
                <a:solidFill>
                  <a:srgbClr val="1B2A49"/>
                </a:solidFill>
                <a:latin typeface="Meiryo UI" pitchFamily="34" charset="0"/>
                <a:ea typeface="Meiryo UI" pitchFamily="34" charset="-122"/>
                <a:cs typeface="Meiryo UI" pitchFamily="34" charset="-120"/>
              </a:rPr>
              <a:t>☐</a:t>
            </a:r>
            <a:endParaRPr lang="en-US" sz="1400" dirty="0"/>
          </a:p>
        </p:txBody>
      </p:sp>
      <p:sp>
        <p:nvSpPr>
          <p:cNvPr id="27" name="Text 24"/>
          <p:cNvSpPr txBox="1"/>
          <p:nvPr/>
        </p:nvSpPr>
        <p:spPr>
          <a:xfrm>
            <a:off x="1078992" y="5101046"/>
            <a:ext cx="2880360" cy="517289"/>
          </a:xfrm>
          <a:prstGeom prst="rect">
            <a:avLst/>
          </a:prstGeom>
          <a:noFill/>
          <a:ln/>
        </p:spPr>
        <p:txBody>
          <a:bodyPr wrap="square" lIns="0" tIns="0" rIns="0" bIns="0" rtlCol="0" anchor="ctr"/>
          <a:lstStyle/>
          <a:p>
            <a:pPr indent="0" marL="0">
              <a:buNone/>
            </a:pPr>
            <a:r>
              <a:rPr lang="en-US" sz="900" dirty="0">
                <a:solidFill>
                  <a:srgbClr val="2B2B2B"/>
                </a:solidFill>
                <a:latin typeface="Meiryo UI" pitchFamily="34" charset="0"/>
                <a:ea typeface="Meiryo UI" pitchFamily="34" charset="-122"/>
                <a:cs typeface="Meiryo UI" pitchFamily="34" charset="-120"/>
              </a:rPr>
              <a:t>Copilotクレジットの契約量と、エージェントごとの月の上限（契約量の125%でエージェントが停止）</a:t>
            </a:r>
            <a:endParaRPr lang="en-US" sz="900" dirty="0"/>
          </a:p>
        </p:txBody>
      </p:sp>
      <p:sp>
        <p:nvSpPr>
          <p:cNvPr id="28" name="Shape 25"/>
          <p:cNvSpPr/>
          <p:nvPr/>
        </p:nvSpPr>
        <p:spPr>
          <a:xfrm>
            <a:off x="685800" y="5682343"/>
            <a:ext cx="3337560" cy="517289"/>
          </a:xfrm>
          <a:prstGeom prst="roundRect">
            <a:avLst>
              <a:gd name="adj" fmla="val 8838"/>
            </a:avLst>
          </a:prstGeom>
          <a:solidFill>
            <a:srgbClr val="FFFFFF"/>
          </a:solidFill>
          <a:ln/>
        </p:spPr>
      </p:sp>
      <p:sp>
        <p:nvSpPr>
          <p:cNvPr id="29" name="Text 26"/>
          <p:cNvSpPr txBox="1"/>
          <p:nvPr/>
        </p:nvSpPr>
        <p:spPr>
          <a:xfrm>
            <a:off x="749808" y="5682343"/>
            <a:ext cx="320040" cy="517289"/>
          </a:xfrm>
          <a:prstGeom prst="rect">
            <a:avLst/>
          </a:prstGeom>
          <a:noFill/>
          <a:ln/>
        </p:spPr>
        <p:txBody>
          <a:bodyPr wrap="square" lIns="0" tIns="0" rIns="0" bIns="0" rtlCol="0" anchor="ctr"/>
          <a:lstStyle/>
          <a:p>
            <a:pPr indent="0" marL="0">
              <a:buNone/>
            </a:pPr>
            <a:r>
              <a:rPr lang="en-US" sz="1400" dirty="0">
                <a:solidFill>
                  <a:srgbClr val="1B2A49"/>
                </a:solidFill>
                <a:latin typeface="Meiryo UI" pitchFamily="34" charset="0"/>
                <a:ea typeface="Meiryo UI" pitchFamily="34" charset="-122"/>
                <a:cs typeface="Meiryo UI" pitchFamily="34" charset="-120"/>
              </a:rPr>
              <a:t>☐</a:t>
            </a:r>
            <a:endParaRPr lang="en-US" sz="1400" dirty="0"/>
          </a:p>
        </p:txBody>
      </p:sp>
      <p:sp>
        <p:nvSpPr>
          <p:cNvPr id="30" name="Text 27"/>
          <p:cNvSpPr txBox="1"/>
          <p:nvPr/>
        </p:nvSpPr>
        <p:spPr>
          <a:xfrm>
            <a:off x="1078992" y="5682343"/>
            <a:ext cx="2880360" cy="517289"/>
          </a:xfrm>
          <a:prstGeom prst="rect">
            <a:avLst/>
          </a:prstGeom>
          <a:noFill/>
          <a:ln/>
        </p:spPr>
        <p:txBody>
          <a:bodyPr wrap="square" lIns="0" tIns="0" rIns="0" bIns="0" rtlCol="0" anchor="ctr"/>
          <a:lstStyle/>
          <a:p>
            <a:pPr indent="0" marL="0">
              <a:buNone/>
            </a:pPr>
            <a:r>
              <a:rPr lang="en-US" sz="900" dirty="0">
                <a:solidFill>
                  <a:srgbClr val="2B2B2B"/>
                </a:solidFill>
                <a:latin typeface="Meiryo UI" pitchFamily="34" charset="0"/>
                <a:ea typeface="Meiryo UI" pitchFamily="34" charset="-122"/>
                <a:cs typeface="Meiryo UI" pitchFamily="34" charset="-120"/>
              </a:rPr>
              <a:t>Execute Agentで呼んだ場合、接続した人のM365 Copilotライセンスで課金なしになるか（Microsoft・販売店に確認）</a:t>
            </a:r>
            <a:endParaRPr lang="en-US" sz="900" dirty="0"/>
          </a:p>
        </p:txBody>
      </p:sp>
      <p:sp>
        <p:nvSpPr>
          <p:cNvPr id="31" name="Shape 28"/>
          <p:cNvSpPr/>
          <p:nvPr/>
        </p:nvSpPr>
        <p:spPr>
          <a:xfrm>
            <a:off x="4270248" y="1417320"/>
            <a:ext cx="3611880" cy="4892040"/>
          </a:xfrm>
          <a:prstGeom prst="roundRect">
            <a:avLst>
              <a:gd name="adj" fmla="val 1519"/>
            </a:avLst>
          </a:prstGeom>
          <a:solidFill>
            <a:srgbClr val="FFF4E0"/>
          </a:solidFill>
          <a:ln/>
        </p:spPr>
      </p:sp>
      <p:sp>
        <p:nvSpPr>
          <p:cNvPr id="32" name="Shape 29"/>
          <p:cNvSpPr/>
          <p:nvPr/>
        </p:nvSpPr>
        <p:spPr>
          <a:xfrm>
            <a:off x="4407408" y="1554480"/>
            <a:ext cx="457200" cy="457200"/>
          </a:xfrm>
          <a:prstGeom prst="ellipse">
            <a:avLst/>
          </a:prstGeom>
          <a:solidFill>
            <a:srgbClr val="FFFFFF"/>
          </a:solidFill>
          <a:ln/>
        </p:spPr>
      </p:sp>
      <p:pic>
        <p:nvPicPr>
          <p:cNvPr id="33" name="Image 1" descr="preencoded.png">    </p:cNvPr>
          <p:cNvPicPr>
            <a:picLocks noChangeAspect="1"/>
          </p:cNvPicPr>
          <p:nvPr/>
        </p:nvPicPr>
        <p:blipFill>
          <a:blip r:embed="rId2"/>
          <a:stretch>
            <a:fillRect/>
          </a:stretch>
        </p:blipFill>
        <p:spPr>
          <a:xfrm>
            <a:off x="4498848" y="1645920"/>
            <a:ext cx="274320" cy="274320"/>
          </a:xfrm>
          <a:prstGeom prst="rect">
            <a:avLst/>
          </a:prstGeom>
        </p:spPr>
      </p:pic>
      <p:sp>
        <p:nvSpPr>
          <p:cNvPr id="34" name="Text 30"/>
          <p:cNvSpPr txBox="1"/>
          <p:nvPr/>
        </p:nvSpPr>
        <p:spPr>
          <a:xfrm>
            <a:off x="4956048" y="1554480"/>
            <a:ext cx="2834640" cy="457200"/>
          </a:xfrm>
          <a:prstGeom prst="rect">
            <a:avLst/>
          </a:prstGeom>
          <a:noFill/>
          <a:ln/>
        </p:spPr>
        <p:txBody>
          <a:bodyPr wrap="square" lIns="508" tIns="508" rIns="508" bIns="508" rtlCol="0" anchor="ctr"/>
          <a:lstStyle/>
          <a:p>
            <a:pPr indent="0" marL="0">
              <a:buNone/>
            </a:pPr>
            <a:r>
              <a:rPr lang="en-US" sz="1250" b="1" dirty="0">
                <a:solidFill>
                  <a:srgbClr val="1B2A49"/>
                </a:solidFill>
                <a:latin typeface="Meiryo UI" pitchFamily="34" charset="0"/>
                <a:ea typeface="Meiryo UI" pitchFamily="34" charset="-122"/>
                <a:cs typeface="Meiryo UI" pitchFamily="34" charset="-120"/>
              </a:rPr>
              <a:t>Airtable管理者</a:t>
            </a:r>
            <a:endParaRPr lang="en-US" sz="1250" dirty="0"/>
          </a:p>
        </p:txBody>
      </p:sp>
      <p:sp>
        <p:nvSpPr>
          <p:cNvPr id="35" name="Shape 31"/>
          <p:cNvSpPr/>
          <p:nvPr/>
        </p:nvSpPr>
        <p:spPr>
          <a:xfrm>
            <a:off x="4407408" y="2194560"/>
            <a:ext cx="3337560" cy="740664"/>
          </a:xfrm>
          <a:prstGeom prst="roundRect">
            <a:avLst>
              <a:gd name="adj" fmla="val 6173"/>
            </a:avLst>
          </a:prstGeom>
          <a:solidFill>
            <a:srgbClr val="FFFFFF"/>
          </a:solidFill>
          <a:ln/>
        </p:spPr>
      </p:sp>
      <p:sp>
        <p:nvSpPr>
          <p:cNvPr id="36" name="Text 32"/>
          <p:cNvSpPr txBox="1"/>
          <p:nvPr/>
        </p:nvSpPr>
        <p:spPr>
          <a:xfrm>
            <a:off x="4471416" y="2194560"/>
            <a:ext cx="320040" cy="740664"/>
          </a:xfrm>
          <a:prstGeom prst="rect">
            <a:avLst/>
          </a:prstGeom>
          <a:noFill/>
          <a:ln/>
        </p:spPr>
        <p:txBody>
          <a:bodyPr wrap="square" lIns="0" tIns="0" rIns="0" bIns="0" rtlCol="0" anchor="ctr"/>
          <a:lstStyle/>
          <a:p>
            <a:pPr indent="0" marL="0">
              <a:buNone/>
            </a:pPr>
            <a:r>
              <a:rPr lang="en-US" sz="1400" dirty="0">
                <a:solidFill>
                  <a:srgbClr val="1B2A49"/>
                </a:solidFill>
                <a:latin typeface="Meiryo UI" pitchFamily="34" charset="0"/>
                <a:ea typeface="Meiryo UI" pitchFamily="34" charset="-122"/>
                <a:cs typeface="Meiryo UI" pitchFamily="34" charset="-120"/>
              </a:rPr>
              <a:t>☐</a:t>
            </a:r>
            <a:endParaRPr lang="en-US" sz="1400" dirty="0"/>
          </a:p>
        </p:txBody>
      </p:sp>
      <p:sp>
        <p:nvSpPr>
          <p:cNvPr id="37" name="Text 33"/>
          <p:cNvSpPr txBox="1"/>
          <p:nvPr/>
        </p:nvSpPr>
        <p:spPr>
          <a:xfrm>
            <a:off x="4800600" y="2194560"/>
            <a:ext cx="2880360" cy="740664"/>
          </a:xfrm>
          <a:prstGeom prst="rect">
            <a:avLst/>
          </a:prstGeom>
          <a:noFill/>
          <a:ln/>
        </p:spPr>
        <p:txBody>
          <a:bodyPr wrap="square" lIns="0" tIns="0" rIns="0" bIns="0" rtlCol="0" anchor="ctr"/>
          <a:lstStyle/>
          <a:p>
            <a:pPr indent="0" marL="0">
              <a:buNone/>
            </a:pPr>
            <a:r>
              <a:rPr lang="en-US" sz="950" dirty="0">
                <a:solidFill>
                  <a:srgbClr val="2B2B2B"/>
                </a:solidFill>
                <a:latin typeface="Meiryo UI" pitchFamily="34" charset="0"/>
                <a:ea typeface="Meiryo UI" pitchFamily="34" charset="-122"/>
                <a:cs typeface="Meiryo UI" pitchFamily="34" charset="-120"/>
              </a:rPr>
              <a:t>契約プラン（Sync APIはBusiness／Enterprise Scaleのみ。オートメーションの実行回数の上限）</a:t>
            </a:r>
            <a:endParaRPr lang="en-US" sz="950" dirty="0"/>
          </a:p>
        </p:txBody>
      </p:sp>
      <p:sp>
        <p:nvSpPr>
          <p:cNvPr id="38" name="Shape 34"/>
          <p:cNvSpPr/>
          <p:nvPr/>
        </p:nvSpPr>
        <p:spPr>
          <a:xfrm>
            <a:off x="4407408" y="2999232"/>
            <a:ext cx="3337560" cy="740664"/>
          </a:xfrm>
          <a:prstGeom prst="roundRect">
            <a:avLst>
              <a:gd name="adj" fmla="val 6173"/>
            </a:avLst>
          </a:prstGeom>
          <a:solidFill>
            <a:srgbClr val="FFFFFF"/>
          </a:solidFill>
          <a:ln/>
        </p:spPr>
      </p:sp>
      <p:sp>
        <p:nvSpPr>
          <p:cNvPr id="39" name="Text 35"/>
          <p:cNvSpPr txBox="1"/>
          <p:nvPr/>
        </p:nvSpPr>
        <p:spPr>
          <a:xfrm>
            <a:off x="4471416" y="2999232"/>
            <a:ext cx="320040" cy="740664"/>
          </a:xfrm>
          <a:prstGeom prst="rect">
            <a:avLst/>
          </a:prstGeom>
          <a:noFill/>
          <a:ln/>
        </p:spPr>
        <p:txBody>
          <a:bodyPr wrap="square" lIns="0" tIns="0" rIns="0" bIns="0" rtlCol="0" anchor="ctr"/>
          <a:lstStyle/>
          <a:p>
            <a:pPr indent="0" marL="0">
              <a:buNone/>
            </a:pPr>
            <a:r>
              <a:rPr lang="en-US" sz="1400" dirty="0">
                <a:solidFill>
                  <a:srgbClr val="1B2A49"/>
                </a:solidFill>
                <a:latin typeface="Meiryo UI" pitchFamily="34" charset="0"/>
                <a:ea typeface="Meiryo UI" pitchFamily="34" charset="-122"/>
                <a:cs typeface="Meiryo UI" pitchFamily="34" charset="-120"/>
              </a:rPr>
              <a:t>☐</a:t>
            </a:r>
            <a:endParaRPr lang="en-US" sz="1400" dirty="0"/>
          </a:p>
        </p:txBody>
      </p:sp>
      <p:sp>
        <p:nvSpPr>
          <p:cNvPr id="40" name="Text 36"/>
          <p:cNvSpPr txBox="1"/>
          <p:nvPr/>
        </p:nvSpPr>
        <p:spPr>
          <a:xfrm>
            <a:off x="4800600" y="2999232"/>
            <a:ext cx="2880360" cy="740664"/>
          </a:xfrm>
          <a:prstGeom prst="rect">
            <a:avLst/>
          </a:prstGeom>
          <a:noFill/>
          <a:ln/>
        </p:spPr>
        <p:txBody>
          <a:bodyPr wrap="square" lIns="0" tIns="0" rIns="0" bIns="0" rtlCol="0" anchor="ctr"/>
          <a:lstStyle/>
          <a:p>
            <a:pPr indent="0" marL="0">
              <a:buNone/>
            </a:pPr>
            <a:r>
              <a:rPr lang="en-US" sz="950" dirty="0">
                <a:solidFill>
                  <a:srgbClr val="2B2B2B"/>
                </a:solidFill>
                <a:latin typeface="Meiryo UI" pitchFamily="34" charset="0"/>
                <a:ea typeface="Meiryo UI" pitchFamily="34" charset="-122"/>
                <a:cs typeface="Meiryo UI" pitchFamily="34" charset="-120"/>
              </a:rPr>
              <a:t>PATの発行と管理方法（対象ベース・権限を絞れるか）</a:t>
            </a:r>
            <a:endParaRPr lang="en-US" sz="950" dirty="0"/>
          </a:p>
        </p:txBody>
      </p:sp>
      <p:sp>
        <p:nvSpPr>
          <p:cNvPr id="41" name="Shape 37"/>
          <p:cNvSpPr/>
          <p:nvPr/>
        </p:nvSpPr>
        <p:spPr>
          <a:xfrm>
            <a:off x="4407408" y="3803904"/>
            <a:ext cx="3337560" cy="740664"/>
          </a:xfrm>
          <a:prstGeom prst="roundRect">
            <a:avLst>
              <a:gd name="adj" fmla="val 6173"/>
            </a:avLst>
          </a:prstGeom>
          <a:solidFill>
            <a:srgbClr val="FFFFFF"/>
          </a:solidFill>
          <a:ln/>
        </p:spPr>
      </p:sp>
      <p:sp>
        <p:nvSpPr>
          <p:cNvPr id="42" name="Text 38"/>
          <p:cNvSpPr txBox="1"/>
          <p:nvPr/>
        </p:nvSpPr>
        <p:spPr>
          <a:xfrm>
            <a:off x="4471416" y="3803904"/>
            <a:ext cx="320040" cy="740664"/>
          </a:xfrm>
          <a:prstGeom prst="rect">
            <a:avLst/>
          </a:prstGeom>
          <a:noFill/>
          <a:ln/>
        </p:spPr>
        <p:txBody>
          <a:bodyPr wrap="square" lIns="0" tIns="0" rIns="0" bIns="0" rtlCol="0" anchor="ctr"/>
          <a:lstStyle/>
          <a:p>
            <a:pPr indent="0" marL="0">
              <a:buNone/>
            </a:pPr>
            <a:r>
              <a:rPr lang="en-US" sz="1400" dirty="0">
                <a:solidFill>
                  <a:srgbClr val="1B2A49"/>
                </a:solidFill>
                <a:latin typeface="Meiryo UI" pitchFamily="34" charset="0"/>
                <a:ea typeface="Meiryo UI" pitchFamily="34" charset="-122"/>
                <a:cs typeface="Meiryo UI" pitchFamily="34" charset="-120"/>
              </a:rPr>
              <a:t>☐</a:t>
            </a:r>
            <a:endParaRPr lang="en-US" sz="1400" dirty="0"/>
          </a:p>
        </p:txBody>
      </p:sp>
      <p:sp>
        <p:nvSpPr>
          <p:cNvPr id="43" name="Text 39"/>
          <p:cNvSpPr txBox="1"/>
          <p:nvPr/>
        </p:nvSpPr>
        <p:spPr>
          <a:xfrm>
            <a:off x="4800600" y="3803904"/>
            <a:ext cx="2880360" cy="740664"/>
          </a:xfrm>
          <a:prstGeom prst="rect">
            <a:avLst/>
          </a:prstGeom>
          <a:noFill/>
          <a:ln/>
        </p:spPr>
        <p:txBody>
          <a:bodyPr wrap="square" lIns="0" tIns="0" rIns="0" bIns="0" rtlCol="0" anchor="ctr"/>
          <a:lstStyle/>
          <a:p>
            <a:pPr indent="0" marL="0">
              <a:buNone/>
            </a:pPr>
            <a:r>
              <a:rPr lang="en-US" sz="950" dirty="0">
                <a:solidFill>
                  <a:srgbClr val="2B2B2B"/>
                </a:solidFill>
                <a:latin typeface="Meiryo UI" pitchFamily="34" charset="0"/>
                <a:ea typeface="Meiryo UI" pitchFamily="34" charset="-122"/>
                <a:cs typeface="Meiryo UI" pitchFamily="34" charset="-120"/>
              </a:rPr>
              <a:t>公式MCPサーバーなど、外部連携の許可リストの設定（P6）</a:t>
            </a:r>
            <a:endParaRPr lang="en-US" sz="950" dirty="0"/>
          </a:p>
        </p:txBody>
      </p:sp>
      <p:sp>
        <p:nvSpPr>
          <p:cNvPr id="44" name="Shape 40"/>
          <p:cNvSpPr/>
          <p:nvPr/>
        </p:nvSpPr>
        <p:spPr>
          <a:xfrm>
            <a:off x="4407408" y="4608576"/>
            <a:ext cx="3337560" cy="740664"/>
          </a:xfrm>
          <a:prstGeom prst="roundRect">
            <a:avLst>
              <a:gd name="adj" fmla="val 6173"/>
            </a:avLst>
          </a:prstGeom>
          <a:solidFill>
            <a:srgbClr val="FFFFFF"/>
          </a:solidFill>
          <a:ln/>
        </p:spPr>
      </p:sp>
      <p:sp>
        <p:nvSpPr>
          <p:cNvPr id="45" name="Text 41"/>
          <p:cNvSpPr txBox="1"/>
          <p:nvPr/>
        </p:nvSpPr>
        <p:spPr>
          <a:xfrm>
            <a:off x="4471416" y="4608576"/>
            <a:ext cx="320040" cy="740664"/>
          </a:xfrm>
          <a:prstGeom prst="rect">
            <a:avLst/>
          </a:prstGeom>
          <a:noFill/>
          <a:ln/>
        </p:spPr>
        <p:txBody>
          <a:bodyPr wrap="square" lIns="0" tIns="0" rIns="0" bIns="0" rtlCol="0" anchor="ctr"/>
          <a:lstStyle/>
          <a:p>
            <a:pPr indent="0" marL="0">
              <a:buNone/>
            </a:pPr>
            <a:r>
              <a:rPr lang="en-US" sz="1400" dirty="0">
                <a:solidFill>
                  <a:srgbClr val="1B2A49"/>
                </a:solidFill>
                <a:latin typeface="Meiryo UI" pitchFamily="34" charset="0"/>
                <a:ea typeface="Meiryo UI" pitchFamily="34" charset="-122"/>
                <a:cs typeface="Meiryo UI" pitchFamily="34" charset="-120"/>
              </a:rPr>
              <a:t>☐</a:t>
            </a:r>
            <a:endParaRPr lang="en-US" sz="1400" dirty="0"/>
          </a:p>
        </p:txBody>
      </p:sp>
      <p:sp>
        <p:nvSpPr>
          <p:cNvPr id="46" name="Text 42"/>
          <p:cNvSpPr txBox="1"/>
          <p:nvPr/>
        </p:nvSpPr>
        <p:spPr>
          <a:xfrm>
            <a:off x="4800600" y="4608576"/>
            <a:ext cx="2880360" cy="740664"/>
          </a:xfrm>
          <a:prstGeom prst="rect">
            <a:avLst/>
          </a:prstGeom>
          <a:noFill/>
          <a:ln/>
        </p:spPr>
        <p:txBody>
          <a:bodyPr wrap="square" lIns="0" tIns="0" rIns="0" bIns="0" rtlCol="0" anchor="ctr"/>
          <a:lstStyle/>
          <a:p>
            <a:pPr indent="0" marL="0">
              <a:buNone/>
            </a:pPr>
            <a:r>
              <a:rPr lang="en-US" sz="950" dirty="0">
                <a:solidFill>
                  <a:srgbClr val="2B2B2B"/>
                </a:solidFill>
                <a:latin typeface="Meiryo UI" pitchFamily="34" charset="0"/>
                <a:ea typeface="Meiryo UI" pitchFamily="34" charset="-122"/>
                <a:cs typeface="Meiryo UI" pitchFamily="34" charset="-120"/>
              </a:rPr>
              <a:t>Enterprise IDの有無（R2のM365 Copilot connectorを使う場合）</a:t>
            </a:r>
            <a:endParaRPr lang="en-US" sz="950" dirty="0"/>
          </a:p>
        </p:txBody>
      </p:sp>
      <p:sp>
        <p:nvSpPr>
          <p:cNvPr id="47" name="Shape 43"/>
          <p:cNvSpPr/>
          <p:nvPr/>
        </p:nvSpPr>
        <p:spPr>
          <a:xfrm>
            <a:off x="7991856" y="1417320"/>
            <a:ext cx="3611880" cy="4892040"/>
          </a:xfrm>
          <a:prstGeom prst="roundRect">
            <a:avLst>
              <a:gd name="adj" fmla="val 1519"/>
            </a:avLst>
          </a:prstGeom>
          <a:solidFill>
            <a:srgbClr val="FDEBD3"/>
          </a:solidFill>
          <a:ln/>
        </p:spPr>
      </p:sp>
      <p:sp>
        <p:nvSpPr>
          <p:cNvPr id="48" name="Shape 44"/>
          <p:cNvSpPr/>
          <p:nvPr/>
        </p:nvSpPr>
        <p:spPr>
          <a:xfrm>
            <a:off x="8129016" y="1554480"/>
            <a:ext cx="457200" cy="457200"/>
          </a:xfrm>
          <a:prstGeom prst="ellipse">
            <a:avLst/>
          </a:prstGeom>
          <a:solidFill>
            <a:srgbClr val="FFFFFF"/>
          </a:solidFill>
          <a:ln/>
        </p:spPr>
      </p:sp>
      <p:pic>
        <p:nvPicPr>
          <p:cNvPr id="49" name="Image 2" descr="preencoded.png">    </p:cNvPr>
          <p:cNvPicPr>
            <a:picLocks noChangeAspect="1"/>
          </p:cNvPicPr>
          <p:nvPr/>
        </p:nvPicPr>
        <p:blipFill>
          <a:blip r:embed="rId3"/>
          <a:stretch>
            <a:fillRect/>
          </a:stretch>
        </p:blipFill>
        <p:spPr>
          <a:xfrm>
            <a:off x="8220456" y="1645920"/>
            <a:ext cx="274320" cy="274320"/>
          </a:xfrm>
          <a:prstGeom prst="rect">
            <a:avLst/>
          </a:prstGeom>
        </p:spPr>
      </p:pic>
      <p:sp>
        <p:nvSpPr>
          <p:cNvPr id="50" name="Text 45"/>
          <p:cNvSpPr txBox="1"/>
          <p:nvPr/>
        </p:nvSpPr>
        <p:spPr>
          <a:xfrm>
            <a:off x="8677656" y="1554480"/>
            <a:ext cx="2834640" cy="457200"/>
          </a:xfrm>
          <a:prstGeom prst="rect">
            <a:avLst/>
          </a:prstGeom>
          <a:noFill/>
          <a:ln/>
        </p:spPr>
        <p:txBody>
          <a:bodyPr wrap="square" lIns="508" tIns="508" rIns="508" bIns="508" rtlCol="0" anchor="ctr"/>
          <a:lstStyle/>
          <a:p>
            <a:pPr indent="0" marL="0">
              <a:buNone/>
            </a:pPr>
            <a:r>
              <a:rPr lang="en-US" sz="1250" b="1" dirty="0">
                <a:solidFill>
                  <a:srgbClr val="1B2A49"/>
                </a:solidFill>
                <a:latin typeface="Meiryo UI" pitchFamily="34" charset="0"/>
                <a:ea typeface="Meiryo UI" pitchFamily="34" charset="-122"/>
                <a:cs typeface="Meiryo UI" pitchFamily="34" charset="-120"/>
              </a:rPr>
              <a:t>業務側</a:t>
            </a:r>
            <a:endParaRPr lang="en-US" sz="1250" dirty="0"/>
          </a:p>
        </p:txBody>
      </p:sp>
      <p:sp>
        <p:nvSpPr>
          <p:cNvPr id="51" name="Shape 46"/>
          <p:cNvSpPr/>
          <p:nvPr/>
        </p:nvSpPr>
        <p:spPr>
          <a:xfrm>
            <a:off x="8129016" y="2194560"/>
            <a:ext cx="3337560" cy="740664"/>
          </a:xfrm>
          <a:prstGeom prst="roundRect">
            <a:avLst>
              <a:gd name="adj" fmla="val 6173"/>
            </a:avLst>
          </a:prstGeom>
          <a:solidFill>
            <a:srgbClr val="FFFFFF"/>
          </a:solidFill>
          <a:ln/>
        </p:spPr>
      </p:sp>
      <p:sp>
        <p:nvSpPr>
          <p:cNvPr id="52" name="Text 47"/>
          <p:cNvSpPr txBox="1"/>
          <p:nvPr/>
        </p:nvSpPr>
        <p:spPr>
          <a:xfrm>
            <a:off x="8193024" y="2194560"/>
            <a:ext cx="320040" cy="740664"/>
          </a:xfrm>
          <a:prstGeom prst="rect">
            <a:avLst/>
          </a:prstGeom>
          <a:noFill/>
          <a:ln/>
        </p:spPr>
        <p:txBody>
          <a:bodyPr wrap="square" lIns="0" tIns="0" rIns="0" bIns="0" rtlCol="0" anchor="ctr"/>
          <a:lstStyle/>
          <a:p>
            <a:pPr indent="0" marL="0">
              <a:buNone/>
            </a:pPr>
            <a:r>
              <a:rPr lang="en-US" sz="1400" dirty="0">
                <a:solidFill>
                  <a:srgbClr val="1B2A49"/>
                </a:solidFill>
                <a:latin typeface="Meiryo UI" pitchFamily="34" charset="0"/>
                <a:ea typeface="Meiryo UI" pitchFamily="34" charset="-122"/>
                <a:cs typeface="Meiryo UI" pitchFamily="34" charset="-120"/>
              </a:rPr>
              <a:t>☐</a:t>
            </a:r>
            <a:endParaRPr lang="en-US" sz="1400" dirty="0"/>
          </a:p>
        </p:txBody>
      </p:sp>
      <p:sp>
        <p:nvSpPr>
          <p:cNvPr id="53" name="Text 48"/>
          <p:cNvSpPr txBox="1"/>
          <p:nvPr/>
        </p:nvSpPr>
        <p:spPr>
          <a:xfrm>
            <a:off x="8522208" y="2194560"/>
            <a:ext cx="2880360" cy="740664"/>
          </a:xfrm>
          <a:prstGeom prst="rect">
            <a:avLst/>
          </a:prstGeom>
          <a:noFill/>
          <a:ln/>
        </p:spPr>
        <p:txBody>
          <a:bodyPr wrap="square" lIns="0" tIns="0" rIns="0" bIns="0" rtlCol="0" anchor="ctr"/>
          <a:lstStyle/>
          <a:p>
            <a:pPr indent="0" marL="0">
              <a:buNone/>
            </a:pPr>
            <a:r>
              <a:rPr lang="en-US" sz="950" dirty="0">
                <a:solidFill>
                  <a:srgbClr val="2B2B2B"/>
                </a:solidFill>
                <a:latin typeface="Meiryo UI" pitchFamily="34" charset="0"/>
                <a:ea typeface="Meiryo UI" pitchFamily="34" charset="-122"/>
                <a:cs typeface="Meiryo UI" pitchFamily="34" charset="-120"/>
              </a:rPr>
              <a:t>即時性の要件（数分の遅れで困るか）</a:t>
            </a:r>
            <a:endParaRPr lang="en-US" sz="950" dirty="0"/>
          </a:p>
        </p:txBody>
      </p:sp>
      <p:sp>
        <p:nvSpPr>
          <p:cNvPr id="54" name="Shape 49"/>
          <p:cNvSpPr/>
          <p:nvPr/>
        </p:nvSpPr>
        <p:spPr>
          <a:xfrm>
            <a:off x="8129016" y="2999232"/>
            <a:ext cx="3337560" cy="740664"/>
          </a:xfrm>
          <a:prstGeom prst="roundRect">
            <a:avLst>
              <a:gd name="adj" fmla="val 6173"/>
            </a:avLst>
          </a:prstGeom>
          <a:solidFill>
            <a:srgbClr val="FFFFFF"/>
          </a:solidFill>
          <a:ln/>
        </p:spPr>
      </p:sp>
      <p:sp>
        <p:nvSpPr>
          <p:cNvPr id="55" name="Text 50"/>
          <p:cNvSpPr txBox="1"/>
          <p:nvPr/>
        </p:nvSpPr>
        <p:spPr>
          <a:xfrm>
            <a:off x="8193024" y="2999232"/>
            <a:ext cx="320040" cy="740664"/>
          </a:xfrm>
          <a:prstGeom prst="rect">
            <a:avLst/>
          </a:prstGeom>
          <a:noFill/>
          <a:ln/>
        </p:spPr>
        <p:txBody>
          <a:bodyPr wrap="square" lIns="0" tIns="0" rIns="0" bIns="0" rtlCol="0" anchor="ctr"/>
          <a:lstStyle/>
          <a:p>
            <a:pPr indent="0" marL="0">
              <a:buNone/>
            </a:pPr>
            <a:r>
              <a:rPr lang="en-US" sz="1400" dirty="0">
                <a:solidFill>
                  <a:srgbClr val="0E9F9A"/>
                </a:solidFill>
                <a:latin typeface="Meiryo UI" pitchFamily="34" charset="0"/>
                <a:ea typeface="Meiryo UI" pitchFamily="34" charset="-122"/>
                <a:cs typeface="Meiryo UI" pitchFamily="34" charset="-120"/>
              </a:rPr>
              <a:t>☑</a:t>
            </a:r>
            <a:endParaRPr lang="en-US" sz="1400" dirty="0"/>
          </a:p>
        </p:txBody>
      </p:sp>
      <p:sp>
        <p:nvSpPr>
          <p:cNvPr id="56" name="Text 51"/>
          <p:cNvSpPr txBox="1"/>
          <p:nvPr/>
        </p:nvSpPr>
        <p:spPr>
          <a:xfrm>
            <a:off x="8522208" y="2999232"/>
            <a:ext cx="2880360" cy="740664"/>
          </a:xfrm>
          <a:prstGeom prst="rect">
            <a:avLst/>
          </a:prstGeom>
          <a:noFill/>
          <a:ln/>
        </p:spPr>
        <p:txBody>
          <a:bodyPr wrap="square" lIns="0" tIns="0" rIns="0" bIns="0" rtlCol="0" anchor="ctr"/>
          <a:lstStyle/>
          <a:p>
            <a:pPr indent="0" marL="0">
              <a:buNone/>
            </a:pPr>
            <a:r>
              <a:rPr lang="en-US" sz="950" dirty="0">
                <a:solidFill>
                  <a:srgbClr val="6B7280"/>
                </a:solidFill>
                <a:latin typeface="Meiryo UI" pitchFamily="34" charset="0"/>
                <a:ea typeface="Meiryo UI" pitchFamily="34" charset="-122"/>
                <a:cs typeface="Meiryo UI" pitchFamily="34" charset="-120"/>
              </a:rPr>
              <a:t>AIの回答の扱い → 下書きとして扱い、書き込みは可、確定は人が行う（前提）</a:t>
            </a:r>
            <a:endParaRPr lang="en-US" sz="950" dirty="0"/>
          </a:p>
        </p:txBody>
      </p:sp>
      <p:sp>
        <p:nvSpPr>
          <p:cNvPr id="57" name="Shape 52"/>
          <p:cNvSpPr/>
          <p:nvPr/>
        </p:nvSpPr>
        <p:spPr>
          <a:xfrm>
            <a:off x="8129016" y="3803904"/>
            <a:ext cx="3337560" cy="740664"/>
          </a:xfrm>
          <a:prstGeom prst="roundRect">
            <a:avLst>
              <a:gd name="adj" fmla="val 6173"/>
            </a:avLst>
          </a:prstGeom>
          <a:solidFill>
            <a:srgbClr val="FFFFFF"/>
          </a:solidFill>
          <a:ln/>
        </p:spPr>
      </p:sp>
      <p:sp>
        <p:nvSpPr>
          <p:cNvPr id="58" name="Text 53"/>
          <p:cNvSpPr txBox="1"/>
          <p:nvPr/>
        </p:nvSpPr>
        <p:spPr>
          <a:xfrm>
            <a:off x="8193024" y="3803904"/>
            <a:ext cx="320040" cy="740664"/>
          </a:xfrm>
          <a:prstGeom prst="rect">
            <a:avLst/>
          </a:prstGeom>
          <a:noFill/>
          <a:ln/>
        </p:spPr>
        <p:txBody>
          <a:bodyPr wrap="square" lIns="0" tIns="0" rIns="0" bIns="0" rtlCol="0" anchor="ctr"/>
          <a:lstStyle/>
          <a:p>
            <a:pPr indent="0" marL="0">
              <a:buNone/>
            </a:pPr>
            <a:r>
              <a:rPr lang="en-US" sz="1400" dirty="0">
                <a:solidFill>
                  <a:srgbClr val="1B2A49"/>
                </a:solidFill>
                <a:latin typeface="Meiryo UI" pitchFamily="34" charset="0"/>
                <a:ea typeface="Meiryo UI" pitchFamily="34" charset="-122"/>
                <a:cs typeface="Meiryo UI" pitchFamily="34" charset="-120"/>
              </a:rPr>
              <a:t>☐</a:t>
            </a:r>
            <a:endParaRPr lang="en-US" sz="1400" dirty="0"/>
          </a:p>
        </p:txBody>
      </p:sp>
      <p:sp>
        <p:nvSpPr>
          <p:cNvPr id="59" name="Text 54"/>
          <p:cNvSpPr txBox="1"/>
          <p:nvPr/>
        </p:nvSpPr>
        <p:spPr>
          <a:xfrm>
            <a:off x="8522208" y="3803904"/>
            <a:ext cx="2880360" cy="740664"/>
          </a:xfrm>
          <a:prstGeom prst="rect">
            <a:avLst/>
          </a:prstGeom>
          <a:noFill/>
          <a:ln/>
        </p:spPr>
        <p:txBody>
          <a:bodyPr wrap="square" lIns="0" tIns="0" rIns="0" bIns="0" rtlCol="0" anchor="ctr"/>
          <a:lstStyle/>
          <a:p>
            <a:pPr indent="0" marL="0">
              <a:buNone/>
            </a:pPr>
            <a:r>
              <a:rPr lang="en-US" sz="950" dirty="0">
                <a:solidFill>
                  <a:srgbClr val="2B2B2B"/>
                </a:solidFill>
                <a:latin typeface="Meiryo UI" pitchFamily="34" charset="0"/>
                <a:ea typeface="Meiryo UI" pitchFamily="34" charset="-122"/>
                <a:cs typeface="Meiryo UI" pitchFamily="34" charset="-120"/>
              </a:rPr>
              <a:t>修正指示をどこで出したいか → Airtableを作業の起点にする方向で検討中（U1〜U3b）</a:t>
            </a:r>
            <a:endParaRPr lang="en-US" sz="950" dirty="0"/>
          </a:p>
        </p:txBody>
      </p:sp>
      <p:sp>
        <p:nvSpPr>
          <p:cNvPr id="60" name="Shape 55"/>
          <p:cNvSpPr/>
          <p:nvPr/>
        </p:nvSpPr>
        <p:spPr>
          <a:xfrm>
            <a:off x="8129016" y="4608576"/>
            <a:ext cx="3337560" cy="740664"/>
          </a:xfrm>
          <a:prstGeom prst="roundRect">
            <a:avLst>
              <a:gd name="adj" fmla="val 6173"/>
            </a:avLst>
          </a:prstGeom>
          <a:solidFill>
            <a:srgbClr val="FFFFFF"/>
          </a:solidFill>
          <a:ln/>
        </p:spPr>
      </p:sp>
      <p:sp>
        <p:nvSpPr>
          <p:cNvPr id="61" name="Text 56"/>
          <p:cNvSpPr txBox="1"/>
          <p:nvPr/>
        </p:nvSpPr>
        <p:spPr>
          <a:xfrm>
            <a:off x="8193024" y="4608576"/>
            <a:ext cx="320040" cy="740664"/>
          </a:xfrm>
          <a:prstGeom prst="rect">
            <a:avLst/>
          </a:prstGeom>
          <a:noFill/>
          <a:ln/>
        </p:spPr>
        <p:txBody>
          <a:bodyPr wrap="square" lIns="0" tIns="0" rIns="0" bIns="0" rtlCol="0" anchor="ctr"/>
          <a:lstStyle/>
          <a:p>
            <a:pPr indent="0" marL="0">
              <a:buNone/>
            </a:pPr>
            <a:r>
              <a:rPr lang="en-US" sz="1400" dirty="0">
                <a:solidFill>
                  <a:srgbClr val="1B2A49"/>
                </a:solidFill>
                <a:latin typeface="Meiryo UI" pitchFamily="34" charset="0"/>
                <a:ea typeface="Meiryo UI" pitchFamily="34" charset="-122"/>
                <a:cs typeface="Meiryo UI" pitchFamily="34" charset="-120"/>
              </a:rPr>
              <a:t>☐</a:t>
            </a:r>
            <a:endParaRPr lang="en-US" sz="1400" dirty="0"/>
          </a:p>
        </p:txBody>
      </p:sp>
      <p:sp>
        <p:nvSpPr>
          <p:cNvPr id="62" name="Text 57"/>
          <p:cNvSpPr txBox="1"/>
          <p:nvPr/>
        </p:nvSpPr>
        <p:spPr>
          <a:xfrm>
            <a:off x="8522208" y="4608576"/>
            <a:ext cx="2880360" cy="740664"/>
          </a:xfrm>
          <a:prstGeom prst="rect">
            <a:avLst/>
          </a:prstGeom>
          <a:noFill/>
          <a:ln/>
        </p:spPr>
        <p:txBody>
          <a:bodyPr wrap="square" lIns="0" tIns="0" rIns="0" bIns="0" rtlCol="0" anchor="ctr"/>
          <a:lstStyle/>
          <a:p>
            <a:pPr indent="0" marL="0">
              <a:buNone/>
            </a:pPr>
            <a:r>
              <a:rPr lang="en-US" sz="950" dirty="0">
                <a:solidFill>
                  <a:srgbClr val="2B2B2B"/>
                </a:solidFill>
                <a:latin typeface="Meiryo UI" pitchFamily="34" charset="0"/>
                <a:ea typeface="Meiryo UI" pitchFamily="34" charset="-122"/>
                <a:cs typeface="Meiryo UI" pitchFamily="34" charset="-120"/>
              </a:rPr>
              <a:t>U3の場合、書き込み先をどちらにするか（① 確定欄に直接／② 下書き欄に書き込み、Airtableで最終確定）</a:t>
            </a:r>
            <a:endParaRPr lang="en-US" sz="950" dirty="0"/>
          </a:p>
        </p:txBody>
      </p:sp>
      <p:sp>
        <p:nvSpPr>
          <p:cNvPr id="63" name="Shape 58"/>
          <p:cNvSpPr/>
          <p:nvPr/>
        </p:nvSpPr>
        <p:spPr>
          <a:xfrm>
            <a:off x="8129016" y="5413248"/>
            <a:ext cx="3337560" cy="740664"/>
          </a:xfrm>
          <a:prstGeom prst="roundRect">
            <a:avLst>
              <a:gd name="adj" fmla="val 6173"/>
            </a:avLst>
          </a:prstGeom>
          <a:solidFill>
            <a:srgbClr val="FFFFFF"/>
          </a:solidFill>
          <a:ln/>
        </p:spPr>
      </p:sp>
      <p:sp>
        <p:nvSpPr>
          <p:cNvPr id="64" name="Text 59"/>
          <p:cNvSpPr txBox="1"/>
          <p:nvPr/>
        </p:nvSpPr>
        <p:spPr>
          <a:xfrm>
            <a:off x="8193024" y="5413248"/>
            <a:ext cx="320040" cy="740664"/>
          </a:xfrm>
          <a:prstGeom prst="rect">
            <a:avLst/>
          </a:prstGeom>
          <a:noFill/>
          <a:ln/>
        </p:spPr>
        <p:txBody>
          <a:bodyPr wrap="square" lIns="0" tIns="0" rIns="0" bIns="0" rtlCol="0" anchor="ctr"/>
          <a:lstStyle/>
          <a:p>
            <a:pPr indent="0" marL="0">
              <a:buNone/>
            </a:pPr>
            <a:r>
              <a:rPr lang="en-US" sz="1400" dirty="0">
                <a:solidFill>
                  <a:srgbClr val="1B2A49"/>
                </a:solidFill>
                <a:latin typeface="Meiryo UI" pitchFamily="34" charset="0"/>
                <a:ea typeface="Meiryo UI" pitchFamily="34" charset="-122"/>
                <a:cs typeface="Meiryo UI" pitchFamily="34" charset="-120"/>
              </a:rPr>
              <a:t>☐</a:t>
            </a:r>
            <a:endParaRPr lang="en-US" sz="1400" dirty="0"/>
          </a:p>
        </p:txBody>
      </p:sp>
      <p:sp>
        <p:nvSpPr>
          <p:cNvPr id="65" name="Text 60"/>
          <p:cNvSpPr txBox="1"/>
          <p:nvPr/>
        </p:nvSpPr>
        <p:spPr>
          <a:xfrm>
            <a:off x="8522208" y="5413248"/>
            <a:ext cx="2880360" cy="740664"/>
          </a:xfrm>
          <a:prstGeom prst="rect">
            <a:avLst/>
          </a:prstGeom>
          <a:noFill/>
          <a:ln/>
        </p:spPr>
        <p:txBody>
          <a:bodyPr wrap="square" lIns="0" tIns="0" rIns="0" bIns="0" rtlCol="0" anchor="ctr"/>
          <a:lstStyle/>
          <a:p>
            <a:pPr indent="0" marL="0">
              <a:buNone/>
            </a:pPr>
            <a:r>
              <a:rPr lang="en-US" sz="950" dirty="0">
                <a:solidFill>
                  <a:srgbClr val="2B2B2B"/>
                </a:solidFill>
                <a:latin typeface="Meiryo UI" pitchFamily="34" charset="0"/>
                <a:ea typeface="Meiryo UI" pitchFamily="34" charset="-122"/>
                <a:cs typeface="Meiryo UI" pitchFamily="34" charset="-120"/>
              </a:rPr>
              <a:t>Airtableのプランと、Interface Extensions（ベータ版）を業務で使ってよいか（U2の場合）</a:t>
            </a:r>
            <a:endParaRPr lang="en-US" sz="950" dirty="0"/>
          </a:p>
        </p:txBody>
      </p:sp>
      <p:sp>
        <p:nvSpPr>
          <p:cNvPr id="66" name="Text 61"/>
          <p:cNvSpPr txBox="1"/>
          <p:nvPr/>
        </p:nvSpPr>
        <p:spPr>
          <a:xfrm>
            <a:off x="548640" y="6355080"/>
            <a:ext cx="3657600" cy="256032"/>
          </a:xfrm>
          <a:prstGeom prst="rect">
            <a:avLst/>
          </a:prstGeom>
          <a:noFill/>
          <a:ln/>
        </p:spPr>
        <p:txBody>
          <a:bodyPr wrap="square" lIns="0" tIns="0" rIns="0" bIns="0" rtlCol="0" anchor="t"/>
          <a:lstStyle/>
          <a:p>
            <a:pPr indent="0" marL="0">
              <a:buNone/>
            </a:pPr>
            <a:r>
              <a:rPr lang="en-US" sz="950" dirty="0">
                <a:solidFill>
                  <a:srgbClr val="6B7280"/>
                </a:solidFill>
                <a:latin typeface="Meiryo UI" pitchFamily="34" charset="0"/>
                <a:ea typeface="Meiryo UI" pitchFamily="34" charset="-122"/>
                <a:cs typeface="Meiryo UI" pitchFamily="34" charset="-120"/>
              </a:rPr>
              <a:t>☑は確認済み</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参考</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本資料で参照した公開情報（2026年9月時点）</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6. 確認事項・参考</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27</a:t>
            </a:r>
            <a:endParaRPr lang="en-US" sz="900" dirty="0"/>
          </a:p>
        </p:txBody>
      </p:sp>
      <p:sp>
        <p:nvSpPr>
          <p:cNvPr id="6" name="Shape 4"/>
          <p:cNvSpPr/>
          <p:nvPr/>
        </p:nvSpPr>
        <p:spPr>
          <a:xfrm>
            <a:off x="548640" y="1417320"/>
            <a:ext cx="5440680" cy="4892040"/>
          </a:xfrm>
          <a:prstGeom prst="roundRect">
            <a:avLst>
              <a:gd name="adj" fmla="val 1121"/>
            </a:avLst>
          </a:prstGeom>
          <a:solidFill>
            <a:srgbClr val="F3F5F8"/>
          </a:solidFill>
          <a:ln/>
        </p:spPr>
      </p:sp>
      <p:sp>
        <p:nvSpPr>
          <p:cNvPr id="7" name="Shape 5"/>
          <p:cNvSpPr/>
          <p:nvPr/>
        </p:nvSpPr>
        <p:spPr>
          <a:xfrm>
            <a:off x="685800" y="1536192"/>
            <a:ext cx="402336" cy="402336"/>
          </a:xfrm>
          <a:prstGeom prst="ellipse">
            <a:avLst/>
          </a:prstGeom>
          <a:solidFill>
            <a:srgbClr val="FFFFFF"/>
          </a:solidFill>
          <a:ln/>
        </p:spPr>
      </p:sp>
      <p:pic>
        <p:nvPicPr>
          <p:cNvPr id="8" name="Image 0" descr="preencoded.png">    </p:cNvPr>
          <p:cNvPicPr>
            <a:picLocks noChangeAspect="1"/>
          </p:cNvPicPr>
          <p:nvPr/>
        </p:nvPicPr>
        <p:blipFill>
          <a:blip r:embed="rId1"/>
          <a:stretch>
            <a:fillRect/>
          </a:stretch>
        </p:blipFill>
        <p:spPr>
          <a:xfrm>
            <a:off x="766267" y="1616659"/>
            <a:ext cx="241402" cy="241402"/>
          </a:xfrm>
          <a:prstGeom prst="rect">
            <a:avLst/>
          </a:prstGeom>
        </p:spPr>
      </p:pic>
      <p:sp>
        <p:nvSpPr>
          <p:cNvPr id="9" name="Text 6"/>
          <p:cNvSpPr txBox="1"/>
          <p:nvPr/>
        </p:nvSpPr>
        <p:spPr>
          <a:xfrm>
            <a:off x="1188720" y="1536192"/>
            <a:ext cx="3657600" cy="402336"/>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Microsoft</a:t>
            </a:r>
            <a:endParaRPr lang="en-US" sz="1300" dirty="0"/>
          </a:p>
        </p:txBody>
      </p:sp>
      <p:sp>
        <p:nvSpPr>
          <p:cNvPr id="10" name="Text 7"/>
          <p:cNvSpPr txBox="1"/>
          <p:nvPr/>
        </p:nvSpPr>
        <p:spPr>
          <a:xfrm>
            <a:off x="731520" y="2103120"/>
            <a:ext cx="5120640" cy="4114800"/>
          </a:xfrm>
          <a:prstGeom prst="rect">
            <a:avLst/>
          </a:prstGeom>
          <a:noFill/>
          <a:ln/>
        </p:spPr>
        <p:txBody>
          <a:bodyPr wrap="square" lIns="254" tIns="254" rIns="254" bIns="254" rtlCol="0" anchor="t"/>
          <a:lstStyle/>
          <a:p>
            <a:pPr marL="152400" indent="-152400">
              <a:spcAft>
                <a:spcPts val="400"/>
              </a:spcAft>
              <a:buSzPct val="100000"/>
              <a:buChar char="•"/>
            </a:pPr>
            <a:r>
              <a:rPr lang="en-US" sz="950" u="sng" dirty="0">
                <a:solidFill>
                  <a:srgbClr val="0F6CBD"/>
                </a:solidFill>
                <a:latin typeface="Meiryo UI" pitchFamily="34" charset="0"/>
                <a:ea typeface="Meiryo UI" pitchFamily="34" charset="-122"/>
                <a:cs typeface="Meiryo UI" pitchFamily="34" charset="-120"/>
                <a:hlinkClick r:id="rId2" invalidUrl="" action="" tgtFrame="" tooltip="" history="1" highlightClick="0" endSnd="0">
                  <a:extLst>
                    <a:ext uri="{A12FA001-AC4F-418D-AE19-62706E023703}">
                      <ahyp:hlinkClr xmlns:ahyp="http://schemas.microsoft.com/office/drawing/2018/hyperlinkcolor" val="tx"/>
                    </a:ext>
                  </a:extLst>
                </a:hlinkClick>
              </a:rPr>
              <a:t>Call Microsoft Copilot Studio agents from Power Automate</a:t>
            </a:r>
            <a:endParaRPr lang="en-US" sz="950" dirty="0"/>
          </a:p>
          <a:p>
            <a:pPr marL="152400" indent="-152400">
              <a:spcAft>
                <a:spcPts val="400"/>
              </a:spcAft>
              <a:buSzPct val="100000"/>
              <a:buChar char="•"/>
            </a:pPr>
            <a:r>
              <a:rPr lang="en-US" sz="950" u="sng" dirty="0">
                <a:solidFill>
                  <a:srgbClr val="0F6CBD"/>
                </a:solidFill>
                <a:latin typeface="Meiryo UI" pitchFamily="34" charset="0"/>
                <a:ea typeface="Meiryo UI" pitchFamily="34" charset="-122"/>
                <a:cs typeface="Meiryo UI" pitchFamily="34" charset="-120"/>
                <a:hlinkClick r:id="rId3" invalidUrl="" action="" tgtFrame="" tooltip="" history="1" highlightClick="0" endSnd="0">
                  <a:extLst>
                    <a:ext uri="{A12FA001-AC4F-418D-AE19-62706E023703}">
                      <ahyp:hlinkClr xmlns:ahyp="http://schemas.microsoft.com/office/drawing/2018/hyperlinkcolor" val="tx"/>
                    </a:ext>
                  </a:extLst>
                </a:hlinkClick>
              </a:rPr>
              <a:t>Event triggers overview - Copilot Studio</a:t>
            </a:r>
            <a:endParaRPr lang="en-US" sz="950" dirty="0"/>
          </a:p>
          <a:p>
            <a:pPr marL="152400" indent="-152400">
              <a:spcAft>
                <a:spcPts val="400"/>
              </a:spcAft>
              <a:buSzPct val="100000"/>
              <a:buChar char="•"/>
            </a:pPr>
            <a:r>
              <a:rPr lang="en-US" sz="950" u="sng" dirty="0">
                <a:solidFill>
                  <a:srgbClr val="0F6CBD"/>
                </a:solidFill>
                <a:latin typeface="Meiryo UI" pitchFamily="34" charset="0"/>
                <a:ea typeface="Meiryo UI" pitchFamily="34" charset="-122"/>
                <a:cs typeface="Meiryo UI" pitchFamily="34" charset="-120"/>
                <a:hlinkClick r:id="rId4" invalidUrl="" action="" tgtFrame="" tooltip="" history="1" highlightClick="0" endSnd="0">
                  <a:extLst>
                    <a:ext uri="{A12FA001-AC4F-418D-AE19-62706E023703}">
                      <ahyp:hlinkClr xmlns:ahyp="http://schemas.microsoft.com/office/drawing/2018/hyperlinkcolor" val="tx"/>
                    </a:ext>
                  </a:extLst>
                </a:hlinkClick>
              </a:rPr>
              <a:t>Connect your agent to an existing MCP server - Copilot Studio</a:t>
            </a:r>
            <a:endParaRPr lang="en-US" sz="950" dirty="0"/>
          </a:p>
          <a:p>
            <a:pPr marL="152400" indent="-152400">
              <a:spcAft>
                <a:spcPts val="400"/>
              </a:spcAft>
              <a:buSzPct val="100000"/>
              <a:buChar char="•"/>
            </a:pPr>
            <a:r>
              <a:rPr lang="en-US" sz="950" u="sng" dirty="0">
                <a:solidFill>
                  <a:srgbClr val="0F6CBD"/>
                </a:solidFill>
                <a:latin typeface="Meiryo UI" pitchFamily="34" charset="0"/>
                <a:ea typeface="Meiryo UI" pitchFamily="34" charset="-122"/>
                <a:cs typeface="Meiryo UI" pitchFamily="34" charset="-120"/>
                <a:hlinkClick r:id="rId5" invalidUrl="" action="" tgtFrame="" tooltip="" history="1" highlightClick="0" endSnd="0">
                  <a:extLst>
                    <a:ext uri="{A12FA001-AC4F-418D-AE19-62706E023703}">
                      <ahyp:hlinkClr xmlns:ahyp="http://schemas.microsoft.com/office/drawing/2018/hyperlinkcolor" val="tx"/>
                    </a:ext>
                  </a:extLst>
                </a:hlinkClick>
              </a:rPr>
              <a:t>MCP is now generally available in Microsoft Copilot Studio</a:t>
            </a:r>
            <a:endParaRPr lang="en-US" sz="950" dirty="0"/>
          </a:p>
          <a:p>
            <a:pPr marL="152400" indent="-152400">
              <a:spcAft>
                <a:spcPts val="400"/>
              </a:spcAft>
              <a:buSzPct val="100000"/>
              <a:buChar char="•"/>
            </a:pPr>
            <a:r>
              <a:rPr lang="en-US" sz="950" u="sng" dirty="0">
                <a:solidFill>
                  <a:srgbClr val="0F6CBD"/>
                </a:solidFill>
                <a:latin typeface="Meiryo UI" pitchFamily="34" charset="0"/>
                <a:ea typeface="Meiryo UI" pitchFamily="34" charset="-122"/>
                <a:cs typeface="Meiryo UI" pitchFamily="34" charset="-120"/>
                <a:hlinkClick r:id="rId6" invalidUrl="" action="" tgtFrame="" tooltip="" history="1" highlightClick="0" endSnd="0">
                  <a:extLst>
                    <a:ext uri="{A12FA001-AC4F-418D-AE19-62706E023703}">
                      <ahyp:hlinkClr xmlns:ahyp="http://schemas.microsoft.com/office/drawing/2018/hyperlinkcolor" val="tx"/>
                    </a:ext>
                  </a:extLst>
                </a:hlinkClick>
              </a:rPr>
              <a:t>Agent Builder in Microsoft 365 Copilot</a:t>
            </a:r>
            <a:endParaRPr lang="en-US" sz="950" dirty="0"/>
          </a:p>
          <a:p>
            <a:pPr marL="152400" indent="-152400">
              <a:spcAft>
                <a:spcPts val="400"/>
              </a:spcAft>
              <a:buSzPct val="100000"/>
              <a:buChar char="•"/>
            </a:pPr>
            <a:r>
              <a:rPr lang="en-US" sz="950" u="sng" dirty="0">
                <a:solidFill>
                  <a:srgbClr val="0F6CBD"/>
                </a:solidFill>
                <a:latin typeface="Meiryo UI" pitchFamily="34" charset="0"/>
                <a:ea typeface="Meiryo UI" pitchFamily="34" charset="-122"/>
                <a:cs typeface="Meiryo UI" pitchFamily="34" charset="-120"/>
                <a:hlinkClick r:id="rId7" invalidUrl="" action="" tgtFrame="" tooltip="" history="1" highlightClick="0" endSnd="0">
                  <a:extLst>
                    <a:ext uri="{A12FA001-AC4F-418D-AE19-62706E023703}">
                      <ahyp:hlinkClr xmlns:ahyp="http://schemas.microsoft.com/office/drawing/2018/hyperlinkcolor" val="tx"/>
                    </a:ext>
                  </a:extLst>
                </a:hlinkClick>
              </a:rPr>
              <a:t>Airtable (Independent Publisher) [DEPRECATED] - Connectors</a:t>
            </a:r>
            <a:endParaRPr lang="en-US" sz="950" dirty="0"/>
          </a:p>
          <a:p>
            <a:pPr marL="152400" indent="-152400">
              <a:spcAft>
                <a:spcPts val="400"/>
              </a:spcAft>
              <a:buSzPct val="100000"/>
              <a:buChar char="•"/>
            </a:pPr>
            <a:r>
              <a:rPr lang="en-US" sz="950" u="sng" dirty="0">
                <a:solidFill>
                  <a:srgbClr val="0F6CBD"/>
                </a:solidFill>
                <a:latin typeface="Meiryo UI" pitchFamily="34" charset="0"/>
                <a:ea typeface="Meiryo UI" pitchFamily="34" charset="-122"/>
                <a:cs typeface="Meiryo UI" pitchFamily="34" charset="-120"/>
                <a:hlinkClick r:id="rId8" invalidUrl="" action="" tgtFrame="" tooltip="" history="1" highlightClick="0" endSnd="0">
                  <a:extLst>
                    <a:ext uri="{A12FA001-AC4F-418D-AE19-62706E023703}">
                      <ahyp:hlinkClr xmlns:ahyp="http://schemas.microsoft.com/office/drawing/2018/hyperlinkcolor" val="tx"/>
                    </a:ext>
                  </a:extLst>
                </a:hlinkClick>
              </a:rPr>
              <a:t>OAuth authentication for HTTP request triggers</a:t>
            </a:r>
            <a:endParaRPr lang="en-US" sz="950" dirty="0"/>
          </a:p>
          <a:p>
            <a:pPr marL="152400" indent="-152400">
              <a:spcAft>
                <a:spcPts val="400"/>
              </a:spcAft>
              <a:buSzPct val="100000"/>
              <a:buChar char="•"/>
            </a:pPr>
            <a:r>
              <a:rPr lang="en-US" sz="950" u="sng" dirty="0">
                <a:solidFill>
                  <a:srgbClr val="0F6CBD"/>
                </a:solidFill>
                <a:latin typeface="Meiryo UI" pitchFamily="34" charset="0"/>
                <a:ea typeface="Meiryo UI" pitchFamily="34" charset="-122"/>
                <a:cs typeface="Meiryo UI" pitchFamily="34" charset="-120"/>
                <a:hlinkClick r:id="rId9" invalidUrl="" action="" tgtFrame="" tooltip="" history="1" highlightClick="0" endSnd="0">
                  <a:extLst>
                    <a:ext uri="{A12FA001-AC4F-418D-AE19-62706E023703}">
                      <ahyp:hlinkClr xmlns:ahyp="http://schemas.microsoft.com/office/drawing/2018/hyperlinkcolor" val="tx"/>
                    </a:ext>
                  </a:extLst>
                </a:hlinkClick>
              </a:rPr>
              <a:t>Triggering Copilot Studio Agents with HTTP Calls</a:t>
            </a:r>
            <a:endParaRPr lang="en-US" sz="950" dirty="0"/>
          </a:p>
          <a:p>
            <a:pPr marL="152400" indent="-152400">
              <a:spcAft>
                <a:spcPts val="400"/>
              </a:spcAft>
              <a:buSzPct val="100000"/>
              <a:buChar char="•"/>
            </a:pPr>
            <a:r>
              <a:rPr lang="en-US" sz="950" u="sng" dirty="0">
                <a:solidFill>
                  <a:srgbClr val="0F6CBD"/>
                </a:solidFill>
                <a:latin typeface="Meiryo UI" pitchFamily="34" charset="0"/>
                <a:ea typeface="Meiryo UI" pitchFamily="34" charset="-122"/>
                <a:cs typeface="Meiryo U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Microsoft Copilot Studio connector reference</a:t>
            </a:r>
            <a:endParaRPr lang="en-US" sz="950" dirty="0"/>
          </a:p>
          <a:p>
            <a:pPr marL="152400" indent="-152400">
              <a:spcAft>
                <a:spcPts val="400"/>
              </a:spcAft>
              <a:buSzPct val="100000"/>
              <a:buChar char="•"/>
            </a:pPr>
            <a:r>
              <a:rPr lang="en-US" sz="950" u="sng" dirty="0">
                <a:solidFill>
                  <a:srgbClr val="0F6CBD"/>
                </a:solidFill>
                <a:latin typeface="Meiryo UI" pitchFamily="34" charset="0"/>
                <a:ea typeface="Meiryo UI" pitchFamily="34" charset="-122"/>
                <a:cs typeface="Meiryo U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Limits of automated, scheduled, and instant flows</a:t>
            </a:r>
            <a:endParaRPr lang="en-US" sz="950" dirty="0"/>
          </a:p>
          <a:p>
            <a:pPr marL="152400" indent="-152400">
              <a:spcAft>
                <a:spcPts val="400"/>
              </a:spcAft>
              <a:buSzPct val="100000"/>
              <a:buChar char="•"/>
            </a:pPr>
            <a:r>
              <a:rPr lang="en-US" sz="950" u="sng" dirty="0">
                <a:solidFill>
                  <a:srgbClr val="0F6CBD"/>
                </a:solidFill>
                <a:latin typeface="Meiryo UI" pitchFamily="34" charset="0"/>
                <a:ea typeface="Meiryo UI" pitchFamily="34" charset="-122"/>
                <a:cs typeface="Meiryo U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Configure web and Direct Line channel security</a:t>
            </a:r>
            <a:endParaRPr lang="en-US" sz="950" dirty="0"/>
          </a:p>
          <a:p>
            <a:pPr marL="152400" indent="-152400">
              <a:spcAft>
                <a:spcPts val="400"/>
              </a:spcAft>
              <a:buSzPct val="100000"/>
              <a:buChar char="•"/>
            </a:pPr>
            <a:r>
              <a:rPr lang="en-US" sz="950" u="sng" dirty="0">
                <a:solidFill>
                  <a:srgbClr val="0F6CBD"/>
                </a:solidFill>
                <a:latin typeface="Meiryo UI" pitchFamily="34" charset="0"/>
                <a:ea typeface="Meiryo UI" pitchFamily="34" charset="-122"/>
                <a:cs typeface="Meiryo UI" pitchFamily="34" charset="-120"/>
                <a:hlinkClick r:id="rId13" invalidUrl="" action="" tgtFrame="" tooltip="" history="1" highlightClick="0" endSnd="0">
                  <a:extLst>
                    <a:ext uri="{A12FA001-AC4F-418D-AE19-62706E023703}">
                      <ahyp:hlinkClr xmlns:ahyp="http://schemas.microsoft.com/office/drawing/2018/hyperlinkcolor" val="tx"/>
                    </a:ext>
                  </a:extLst>
                </a:hlinkClick>
              </a:rPr>
              <a:t>Add SharePoint as a knowledge source</a:t>
            </a:r>
            <a:endParaRPr lang="en-US" sz="950" dirty="0"/>
          </a:p>
          <a:p>
            <a:pPr marL="152400" indent="-152400">
              <a:spcAft>
                <a:spcPts val="400"/>
              </a:spcAft>
              <a:buSzPct val="100000"/>
              <a:buChar char="•"/>
            </a:pPr>
            <a:r>
              <a:rPr lang="en-US" sz="950" u="sng" dirty="0">
                <a:solidFill>
                  <a:srgbClr val="0F6CBD"/>
                </a:solidFill>
                <a:latin typeface="Meiryo UI" pitchFamily="34" charset="0"/>
                <a:ea typeface="Meiryo UI" pitchFamily="34" charset="-122"/>
                <a:cs typeface="Meiryo UI" pitchFamily="34" charset="-120"/>
                <a:hlinkClick r:id="rId14" invalidUrl="" action="" tgtFrame="" tooltip="" history="1" highlightClick="0" endSnd="0">
                  <a:extLst>
                    <a:ext uri="{A12FA001-AC4F-418D-AE19-62706E023703}">
                      <ahyp:hlinkClr xmlns:ahyp="http://schemas.microsoft.com/office/drawing/2018/hyperlinkcolor" val="tx"/>
                    </a:ext>
                  </a:extLst>
                </a:hlinkClick>
              </a:rPr>
              <a:t>Billing rates and management (Copilot Credits)</a:t>
            </a:r>
            <a:endParaRPr lang="en-US" sz="950" dirty="0"/>
          </a:p>
          <a:p>
            <a:pPr marL="152400" indent="-152400">
              <a:spcAft>
                <a:spcPts val="400"/>
              </a:spcAft>
              <a:buSzPct val="100000"/>
              <a:buChar char="•"/>
            </a:pPr>
            <a:r>
              <a:rPr lang="en-US" sz="950" u="sng" dirty="0">
                <a:solidFill>
                  <a:srgbClr val="0F6CBD"/>
                </a:solidFill>
                <a:latin typeface="Meiryo UI" pitchFamily="34" charset="0"/>
                <a:ea typeface="Meiryo UI" pitchFamily="34" charset="-122"/>
                <a:cs typeface="Meiryo UI" pitchFamily="34" charset="-120"/>
                <a:hlinkClick r:id="rId15" invalidUrl="" action="" tgtFrame="" tooltip="" history="1" highlightClick="0" endSnd="0">
                  <a:extLst>
                    <a:ext uri="{A12FA001-AC4F-418D-AE19-62706E023703}">
                      <ahyp:hlinkClr xmlns:ahyp="http://schemas.microsoft.com/office/drawing/2018/hyperlinkcolor" val="tx"/>
                    </a:ext>
                  </a:extLst>
                </a:hlinkClick>
              </a:rPr>
              <a:t>Airtable connector overview (preview) - M365 Copilot connectors</a:t>
            </a:r>
            <a:endParaRPr lang="en-US" sz="950" dirty="0"/>
          </a:p>
        </p:txBody>
      </p:sp>
      <p:sp>
        <p:nvSpPr>
          <p:cNvPr id="11" name="Shape 8"/>
          <p:cNvSpPr/>
          <p:nvPr/>
        </p:nvSpPr>
        <p:spPr>
          <a:xfrm>
            <a:off x="6172200" y="1417320"/>
            <a:ext cx="5440680" cy="4892040"/>
          </a:xfrm>
          <a:prstGeom prst="roundRect">
            <a:avLst>
              <a:gd name="adj" fmla="val 1121"/>
            </a:avLst>
          </a:prstGeom>
          <a:solidFill>
            <a:srgbClr val="F3F5F8"/>
          </a:solidFill>
          <a:ln/>
        </p:spPr>
      </p:sp>
      <p:sp>
        <p:nvSpPr>
          <p:cNvPr id="12" name="Shape 9"/>
          <p:cNvSpPr/>
          <p:nvPr/>
        </p:nvSpPr>
        <p:spPr>
          <a:xfrm>
            <a:off x="6309360" y="1536192"/>
            <a:ext cx="402336" cy="402336"/>
          </a:xfrm>
          <a:prstGeom prst="ellipse">
            <a:avLst/>
          </a:prstGeom>
          <a:solidFill>
            <a:srgbClr val="FFFFFF"/>
          </a:solidFill>
          <a:ln/>
        </p:spPr>
      </p:sp>
      <p:pic>
        <p:nvPicPr>
          <p:cNvPr id="13" name="Image 1" descr="preencoded.png">    </p:cNvPr>
          <p:cNvPicPr>
            <a:picLocks noChangeAspect="1"/>
          </p:cNvPicPr>
          <p:nvPr/>
        </p:nvPicPr>
        <p:blipFill>
          <a:blip r:embed="rId16"/>
          <a:stretch>
            <a:fillRect/>
          </a:stretch>
        </p:blipFill>
        <p:spPr>
          <a:xfrm>
            <a:off x="6389827" y="1616659"/>
            <a:ext cx="241402" cy="241402"/>
          </a:xfrm>
          <a:prstGeom prst="rect">
            <a:avLst/>
          </a:prstGeom>
        </p:spPr>
      </p:pic>
      <p:sp>
        <p:nvSpPr>
          <p:cNvPr id="14" name="Text 10"/>
          <p:cNvSpPr txBox="1"/>
          <p:nvPr/>
        </p:nvSpPr>
        <p:spPr>
          <a:xfrm>
            <a:off x="6812280" y="1536192"/>
            <a:ext cx="3657600" cy="402336"/>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Airtable ほか</a:t>
            </a:r>
            <a:endParaRPr lang="en-US" sz="1300" dirty="0"/>
          </a:p>
        </p:txBody>
      </p:sp>
      <p:sp>
        <p:nvSpPr>
          <p:cNvPr id="15" name="Text 11"/>
          <p:cNvSpPr txBox="1"/>
          <p:nvPr/>
        </p:nvSpPr>
        <p:spPr>
          <a:xfrm>
            <a:off x="6355080" y="2103120"/>
            <a:ext cx="5120640" cy="4114800"/>
          </a:xfrm>
          <a:prstGeom prst="rect">
            <a:avLst/>
          </a:prstGeom>
          <a:noFill/>
          <a:ln/>
        </p:spPr>
        <p:txBody>
          <a:bodyPr wrap="square" lIns="254" tIns="254" rIns="254" bIns="254" rtlCol="0" anchor="t"/>
          <a:lstStyle/>
          <a:p>
            <a:pPr marL="152400" indent="-152400">
              <a:spcAft>
                <a:spcPts val="400"/>
              </a:spcAft>
              <a:buSzPct val="100000"/>
              <a:buChar char="•"/>
            </a:pPr>
            <a:r>
              <a:rPr lang="en-US" sz="950" u="sng" dirty="0">
                <a:solidFill>
                  <a:srgbClr val="0F6CBD"/>
                </a:solidFill>
                <a:latin typeface="Meiryo UI" pitchFamily="34" charset="0"/>
                <a:ea typeface="Meiryo UI" pitchFamily="34" charset="-122"/>
                <a:cs typeface="Meiryo UI" pitchFamily="34" charset="-120"/>
                <a:hlinkClick r:id="rId17" invalidUrl="" action="" tgtFrame="" tooltip="" history="1" highlightClick="0" endSnd="0">
                  <a:extLst>
                    <a:ext uri="{A12FA001-AC4F-418D-AE19-62706E023703}">
                      <ahyp:hlinkClr xmlns:ahyp="http://schemas.microsoft.com/office/drawing/2018/hyperlinkcolor" val="tx"/>
                    </a:ext>
                  </a:extLst>
                </a:hlinkClick>
              </a:rPr>
              <a:t>Using the Airtable MCP server</a:t>
            </a:r>
            <a:endParaRPr lang="en-US" sz="950" dirty="0"/>
          </a:p>
          <a:p>
            <a:pPr marL="152400" indent="-152400">
              <a:spcAft>
                <a:spcPts val="400"/>
              </a:spcAft>
              <a:buSzPct val="100000"/>
              <a:buChar char="•"/>
            </a:pPr>
            <a:r>
              <a:rPr lang="en-US" sz="950" u="sng" dirty="0">
                <a:solidFill>
                  <a:srgbClr val="0F6CBD"/>
                </a:solidFill>
                <a:latin typeface="Meiryo UI" pitchFamily="34" charset="0"/>
                <a:ea typeface="Meiryo UI" pitchFamily="34" charset="-122"/>
                <a:cs typeface="Meiryo UI" pitchFamily="34" charset="-120"/>
                <a:hlinkClick r:id="rId18" invalidUrl="" action="" tgtFrame="" tooltip="" history="1" highlightClick="0" endSnd="0">
                  <a:extLst>
                    <a:ext uri="{A12FA001-AC4F-418D-AE19-62706E023703}">
                      <ahyp:hlinkClr xmlns:ahyp="http://schemas.microsoft.com/office/drawing/2018/hyperlinkcolor" val="tx"/>
                    </a:ext>
                  </a:extLst>
                </a:hlinkClick>
              </a:rPr>
              <a:t>Airtable Sync integration: Sync API</a:t>
            </a:r>
            <a:endParaRPr lang="en-US" sz="950" dirty="0"/>
          </a:p>
          <a:p>
            <a:pPr marL="152400" indent="-152400">
              <a:spcAft>
                <a:spcPts val="400"/>
              </a:spcAft>
              <a:buSzPct val="100000"/>
              <a:buChar char="•"/>
            </a:pPr>
            <a:r>
              <a:rPr lang="en-US" sz="950" u="sng" dirty="0">
                <a:solidFill>
                  <a:srgbClr val="0F6CBD"/>
                </a:solidFill>
                <a:latin typeface="Meiryo UI" pitchFamily="34" charset="0"/>
                <a:ea typeface="Meiryo UI" pitchFamily="34" charset="-122"/>
                <a:cs typeface="Meiryo UI" pitchFamily="34" charset="-120"/>
                <a:hlinkClick r:id="rId19" invalidUrl="" action="" tgtFrame="" tooltip="" history="1" highlightClick="0" endSnd="0">
                  <a:extLst>
                    <a:ext uri="{A12FA001-AC4F-418D-AE19-62706E023703}">
                      <ahyp:hlinkClr xmlns:ahyp="http://schemas.microsoft.com/office/drawing/2018/hyperlinkcolor" val="tx"/>
                    </a:ext>
                  </a:extLst>
                </a:hlinkClick>
              </a:rPr>
              <a:t>CSV import extension</a:t>
            </a:r>
            <a:endParaRPr lang="en-US" sz="950" dirty="0"/>
          </a:p>
          <a:p>
            <a:pPr marL="152400" indent="-152400">
              <a:spcAft>
                <a:spcPts val="400"/>
              </a:spcAft>
              <a:buSzPct val="100000"/>
              <a:buChar char="•"/>
            </a:pPr>
            <a:r>
              <a:rPr lang="en-US" sz="950" u="sng" dirty="0">
                <a:solidFill>
                  <a:srgbClr val="0F6CBD"/>
                </a:solidFill>
                <a:latin typeface="Meiryo UI" pitchFamily="34" charset="0"/>
                <a:ea typeface="Meiryo UI" pitchFamily="34" charset="-122"/>
                <a:cs typeface="Meiryo UI" pitchFamily="34" charset="-120"/>
                <a:hlinkClick r:id="rId20" invalidUrl="" action="" tgtFrame="" tooltip="" history="1" highlightClick="0" endSnd="0">
                  <a:extLst>
                    <a:ext uri="{A12FA001-AC4F-418D-AE19-62706E023703}">
                      <ahyp:hlinkClr xmlns:ahyp="http://schemas.microsoft.com/office/drawing/2018/hyperlinkcolor" val="tx"/>
                    </a:ext>
                  </a:extLst>
                </a:hlinkClick>
              </a:rPr>
              <a:t>Airtable automation action: Run a script</a:t>
            </a:r>
            <a:endParaRPr lang="en-US" sz="950" dirty="0"/>
          </a:p>
          <a:p>
            <a:pPr marL="152400" indent="-152400">
              <a:spcAft>
                <a:spcPts val="400"/>
              </a:spcAft>
              <a:buSzPct val="100000"/>
              <a:buChar char="•"/>
            </a:pPr>
            <a:r>
              <a:rPr lang="en-US" sz="950" u="sng" dirty="0">
                <a:solidFill>
                  <a:srgbClr val="0F6CBD"/>
                </a:solidFill>
                <a:latin typeface="Meiryo UI" pitchFamily="34" charset="0"/>
                <a:ea typeface="Meiryo UI" pitchFamily="34" charset="-122"/>
                <a:cs typeface="Meiryo UI" pitchFamily="34" charset="-120"/>
                <a:hlinkClick r:id="rId21" invalidUrl="" action="" tgtFrame="" tooltip="" history="1" highlightClick="0" endSnd="0">
                  <a:extLst>
                    <a:ext uri="{A12FA001-AC4F-418D-AE19-62706E023703}">
                      <ahyp:hlinkClr xmlns:ahyp="http://schemas.microsoft.com/office/drawing/2018/hyperlinkcolor" val="tx"/>
                    </a:ext>
                  </a:extLst>
                </a:hlinkClick>
              </a:rPr>
              <a:t>Guide to Airtable Webhooks (Hookdeck)</a:t>
            </a:r>
            <a:endParaRPr lang="en-US" sz="950" dirty="0"/>
          </a:p>
          <a:p>
            <a:pPr marL="152400" indent="-152400">
              <a:spcAft>
                <a:spcPts val="400"/>
              </a:spcAft>
              <a:buSzPct val="100000"/>
              <a:buChar char="•"/>
            </a:pPr>
            <a:r>
              <a:rPr lang="en-US" sz="950" u="sng" dirty="0">
                <a:solidFill>
                  <a:srgbClr val="0F6CBD"/>
                </a:solidFill>
                <a:latin typeface="Meiryo UI" pitchFamily="34" charset="0"/>
                <a:ea typeface="Meiryo UI" pitchFamily="34" charset="-122"/>
                <a:cs typeface="Meiryo UI" pitchFamily="34" charset="-120"/>
                <a:hlinkClick r:id="rId22" invalidUrl="" action="" tgtFrame="" tooltip="" history="1" highlightClick="0" endSnd="0">
                  <a:extLst>
                    <a:ext uri="{A12FA001-AC4F-418D-AE19-62706E023703}">
                      <ahyp:hlinkClr xmlns:ahyp="http://schemas.microsoft.com/office/drawing/2018/hyperlinkcolor" val="tx"/>
                    </a:ext>
                  </a:extLst>
                </a:hlinkClick>
              </a:rPr>
              <a:t>Using Airtable AI in fields</a:t>
            </a:r>
            <a:endParaRPr lang="en-US" sz="950" dirty="0"/>
          </a:p>
          <a:p>
            <a:pPr marL="152400" indent="-152400">
              <a:spcAft>
                <a:spcPts val="400"/>
              </a:spcAft>
              <a:buSzPct val="100000"/>
              <a:buChar char="•"/>
            </a:pPr>
            <a:r>
              <a:rPr lang="en-US" sz="950" u="sng" dirty="0">
                <a:solidFill>
                  <a:srgbClr val="0F6CBD"/>
                </a:solidFill>
                <a:latin typeface="Meiryo UI" pitchFamily="34" charset="0"/>
                <a:ea typeface="Meiryo UI" pitchFamily="34" charset="-122"/>
                <a:cs typeface="Meiryo UI" pitchFamily="34" charset="-120"/>
                <a:hlinkClick r:id="rId23" invalidUrl="" action="" tgtFrame="" tooltip="" history="1" highlightClick="0" endSnd="0">
                  <a:extLst>
                    <a:ext uri="{A12FA001-AC4F-418D-AE19-62706E023703}">
                      <ahyp:hlinkClr xmlns:ahyp="http://schemas.microsoft.com/office/drawing/2018/hyperlinkcolor" val="tx"/>
                    </a:ext>
                  </a:extLst>
                </a:hlinkClick>
              </a:rPr>
              <a:t>Using buttons in interfaces</a:t>
            </a:r>
            <a:endParaRPr lang="en-US" sz="950" dirty="0"/>
          </a:p>
          <a:p>
            <a:pPr marL="152400" indent="-152400">
              <a:spcAft>
                <a:spcPts val="400"/>
              </a:spcAft>
              <a:buSzPct val="100000"/>
              <a:buChar char="•"/>
            </a:pPr>
            <a:r>
              <a:rPr lang="en-US" sz="950" u="sng" dirty="0">
                <a:solidFill>
                  <a:srgbClr val="0F6CBD"/>
                </a:solidFill>
                <a:latin typeface="Meiryo UI" pitchFamily="34" charset="0"/>
                <a:ea typeface="Meiryo UI" pitchFamily="34" charset="-122"/>
                <a:cs typeface="Meiryo UI" pitchFamily="34" charset="-120"/>
                <a:hlinkClick r:id="rId24" invalidUrl="" action="" tgtFrame="" tooltip="" history="1" highlightClick="0" endSnd="0">
                  <a:extLst>
                    <a:ext uri="{A12FA001-AC4F-418D-AE19-62706E023703}">
                      <ahyp:hlinkClr xmlns:ahyp="http://schemas.microsoft.com/office/drawing/2018/hyperlinkcolor" val="tx"/>
                    </a:ext>
                  </a:extLst>
                </a:hlinkClick>
              </a:rPr>
              <a:t>Automation trigger: When a button is clicked</a:t>
            </a:r>
            <a:endParaRPr lang="en-US" sz="950" dirty="0"/>
          </a:p>
          <a:p>
            <a:pPr marL="152400" indent="-152400">
              <a:spcAft>
                <a:spcPts val="400"/>
              </a:spcAft>
              <a:buSzPct val="100000"/>
              <a:buChar char="•"/>
            </a:pPr>
            <a:r>
              <a:rPr lang="en-US" sz="950" u="sng" dirty="0">
                <a:solidFill>
                  <a:srgbClr val="0F6CBD"/>
                </a:solidFill>
                <a:latin typeface="Meiryo UI" pitchFamily="34" charset="0"/>
                <a:ea typeface="Meiryo UI" pitchFamily="34" charset="-122"/>
                <a:cs typeface="Meiryo UI" pitchFamily="34" charset="-120"/>
                <a:hlinkClick r:id="rId25" invalidUrl="" action="" tgtFrame="" tooltip="" history="1" highlightClick="0" endSnd="0">
                  <a:extLst>
                    <a:ext uri="{A12FA001-AC4F-418D-AE19-62706E023703}">
                      <ahyp:hlinkClr xmlns:ahyp="http://schemas.microsoft.com/office/drawing/2018/hyperlinkcolor" val="tx"/>
                    </a:ext>
                  </a:extLst>
                </a:hlinkClick>
              </a:rPr>
              <a:t>Interface extensions SDK releasing to open beta</a:t>
            </a:r>
            <a:endParaRPr lang="en-US" sz="950" dirty="0"/>
          </a:p>
          <a:p>
            <a:pPr marL="152400" indent="-152400">
              <a:spcAft>
                <a:spcPts val="400"/>
              </a:spcAft>
              <a:buSzPct val="100000"/>
              <a:buChar char="•"/>
            </a:pPr>
            <a:r>
              <a:rPr lang="en-US" sz="950" u="sng" dirty="0">
                <a:solidFill>
                  <a:srgbClr val="0F6CBD"/>
                </a:solidFill>
                <a:latin typeface="Meiryo UI" pitchFamily="34" charset="0"/>
                <a:ea typeface="Meiryo UI" pitchFamily="34" charset="-122"/>
                <a:cs typeface="Meiryo UI" pitchFamily="34" charset="-120"/>
                <a:hlinkClick r:id="rId26" invalidUrl="" action="" tgtFrame="" tooltip="" history="1" highlightClick="0" endSnd="0">
                  <a:extLst>
                    <a:ext uri="{A12FA001-AC4F-418D-AE19-62706E023703}">
                      <ahyp:hlinkClr xmlns:ahyp="http://schemas.microsoft.com/office/drawing/2018/hyperlinkcolor" val="tx"/>
                    </a:ext>
                  </a:extLst>
                </a:hlinkClick>
              </a:rPr>
              <a:t>Airtable Extensions - Overview</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Airtable×Copilotエージェント連携方式の調査</dc:title>
  <dc:subject>PptxGenJS Presentation</dc:subject>
  <dc:creator>PptxGenJS</dc:creator>
  <cp:lastModifiedBy>PptxGenJS</cp:lastModifiedBy>
  <cp:revision>1</cp:revision>
  <dcterms:created xsi:type="dcterms:W3CDTF">2026-09-29T00:36:15Z</dcterms:created>
  <dcterms:modified xsi:type="dcterms:W3CDTF">2026-09-29T00:36:15Z</dcterms:modified>
</cp:coreProperties>
</file>