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Copilotのエージェントが推論した結果を、Airtableの配信カードの項目（テーマ・掲載商品・コピー・制作指示など）に設定する方法を整理した調査資料です。特定の方式を推奨するものではありません。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起案待ちを取得」とは、Airtableのカードのうち、ステータス欄が「起案待ち」のものだけをAPIで検索して取り出すこと。起案待ちにするのは人（またはカード作成時の初期値）。実行間隔の分だけ待ち時間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-automate/call-copilot-studio-agent" TargetMode="External"/><Relationship Id="rId3" Type="http://schemas.openxmlformats.org/officeDocument/2006/relationships/hyperlink" Target="https://learn.microsoft.com/en-us/microsoft-copilot-studio/authoring-triggers-about" TargetMode="External"/><Relationship Id="rId4" Type="http://schemas.openxmlformats.org/officeDocument/2006/relationships/hyperlink" Target="https://learn.microsoft.com/en-us/microsoft-copilot-studio/mcp-add-existing-server-to-agent" TargetMode="External"/><Relationship Id="rId5" Type="http://schemas.openxmlformats.org/officeDocument/2006/relationships/hyperlink" Target="https://www.microsoft.com/en-us/copilot/blog/copilot-studio/model-context-protocol-mcp-is-now-generally-available-in-microsoft-copilot-studio/" TargetMode="External"/><Relationship Id="rId6" Type="http://schemas.openxmlformats.org/officeDocument/2006/relationships/hyperlink" Target="https://learn.microsoft.com/en-us/microsoft-365/copilot/extensibility/agent-builder" TargetMode="External"/><Relationship Id="rId7" Type="http://schemas.openxmlformats.org/officeDocument/2006/relationships/hyperlink" Target="https://learn.microsoft.com/en-us/connectors/airtable/" TargetMode="External"/><Relationship Id="rId8" Type="http://schemas.openxmlformats.org/officeDocument/2006/relationships/hyperlink" Target="https://learn.microsoft.com/en-us/power-automate/oauth-authentication" TargetMode="External"/><Relationship Id="rId9" Type="http://schemas.openxmlformats.org/officeDocument/2006/relationships/hyperlink" Target="https://microsoft.github.io/mcscatblog/posts/triggering-copilot-studio-http/" TargetMode="External"/><Relationship Id="rId10" Type="http://schemas.openxmlformats.org/officeDocument/2006/relationships/hyperlink" Target="https://learn.microsoft.com/en-us/microsoft-365/copilot/connectors/airtable-overview" TargetMode="External"/><Relationship Id="rId12" Type="http://schemas.openxmlformats.org/officeDocument/2006/relationships/hyperlink" Target="https://support.airtable.com/docs/using-the-airtable-mcp-server" TargetMode="External"/><Relationship Id="rId13" Type="http://schemas.openxmlformats.org/officeDocument/2006/relationships/hyperlink" Target="https://support.airtable.com/docs/airtable-sync-integration-sync-api" TargetMode="External"/><Relationship Id="rId14" Type="http://schemas.openxmlformats.org/officeDocument/2006/relationships/hyperlink" Target="https://support.airtable.com/docs/run-a-script-action" TargetMode="External"/><Relationship Id="rId15" Type="http://schemas.openxmlformats.org/officeDocument/2006/relationships/hyperlink" Target="https://hookdeck.com/webhooks/platforms/guide-to-airtable-webhooks-features-and-best-practices" TargetMode="External"/><Relationship Id="rId16" Type="http://schemas.openxmlformats.org/officeDocument/2006/relationships/hyperlink" Target="https://support.airtable.com/articles/8052242094-using-airtable-ai-in-fields" TargetMode="External"/><Relationship Id="rId17" Type="http://schemas.openxmlformats.org/officeDocument/2006/relationships/hyperlink" Target="https://support.airtable.com/articles/2099494420-using-buttons-in-interfaces" TargetMode="External"/><Relationship Id="rId18" Type="http://schemas.openxmlformats.org/officeDocument/2006/relationships/hyperlink" Target="https://support.airtable.com/articles/4600140573-airtable-automation-trigger-when-a-button-is-clicked" TargetMode="External"/><Relationship Id="rId19" Type="http://schemas.openxmlformats.org/officeDocument/2006/relationships/hyperlink" Target="https://community.airtable.com/announcements-6/new-interface-extensions-sdk-releasing-to-open-beta-46375" TargetMode="External"/><Relationship Id="rId20" Type="http://schemas.openxmlformats.org/officeDocument/2006/relationships/hyperlink" Target="https://support.airtable.com/docs/airtable-extensions-overview" TargetMode="External"/><Relationship Id="rId1" Type="http://schemas.openxmlformats.org/officeDocument/2006/relationships/image" Target="../media/image-23-1.png"/><Relationship Id="rId11" Type="http://schemas.openxmlformats.org/officeDocument/2006/relationships/image" Target="../media/image-23-2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FD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配信カードへのAI活用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 × Copilotエージェント 連携方式の調査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エージェントの推論結果をAirtableの配信カードに設定する方法を、取りうる選択肢としてフラットに整理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4224528"/>
            <a:ext cx="329184" cy="329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536192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4224528"/>
            <a:ext cx="329184" cy="32918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249424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9152" y="4224528"/>
            <a:ext cx="329184" cy="32918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962656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224528"/>
            <a:ext cx="329184" cy="32918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675888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5616" y="4224528"/>
            <a:ext cx="329184" cy="329184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4389120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4224528"/>
            <a:ext cx="329184" cy="329184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5102352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4224528"/>
            <a:ext cx="329184" cy="32918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5815584" y="4114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2" y="4224528"/>
            <a:ext cx="329184" cy="329184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82296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D3C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2026年9月｜調査資料（2026年9月時点の公開情報にもとづく）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本資料について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特定の方式を推奨するものではなく、取りうる選択肢と検討ポイントを並べて整理する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2103120"/>
          </a:xfrm>
          <a:prstGeom prst="roundRect">
            <a:avLst>
              <a:gd name="adj" fmla="val 2609"/>
            </a:avLst>
          </a:prstGeom>
          <a:solidFill>
            <a:srgbClr val="D9F2F1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62763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19072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目的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194560"/>
            <a:ext cx="512064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Copilotのエージェントが推論した結果を、Airtableの配信カードの項目（テーマ・掲載商品・コピー・制作指示など）に設定する方法を、取りうる選択肢としてフラットに洗い出す。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749040"/>
            <a:ext cx="5486400" cy="2560320"/>
          </a:xfrm>
          <a:prstGeom prst="roundRect">
            <a:avLst>
              <a:gd name="adj" fmla="val 2143"/>
            </a:avLst>
          </a:prstGeom>
          <a:solidFill>
            <a:srgbClr val="F3F5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31520" y="3858768"/>
            <a:ext cx="4572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位置付け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4389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48056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2588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調査結果の整理（特定の方式を推奨するものではない）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501091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02352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25880" y="50109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情報は2026年9月時点の公開情報にもとづく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31520" y="563270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72414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25880" y="56327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AIの回答は「下書き」として扱う前提で整理（次章）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目次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400800" y="1920240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64008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949440" y="1920240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前提（下書き扱い、エージェントの種類、使える手段、呼び出し方）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400800" y="2523744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40080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949440" y="2523744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検討の観点（パターンを分ける12の軸）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6400800" y="3127248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640080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6949440" y="3127248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連携パターン一覧（P1〜P17、参考R1・R2）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6400800" y="3730752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640080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6949440" y="3730752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パターン別の詳細（レベル0〜5）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6400800" y="4334256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4008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6949440" y="4334256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修正指示のUI（U1〜U4）</a:t>
            </a:r>
            <a:endParaRPr lang="en-US" sz="1250" dirty="0"/>
          </a:p>
        </p:txBody>
      </p:sp>
      <p:sp>
        <p:nvSpPr>
          <p:cNvPr id="37" name="Shape 3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6400800" y="4937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3"/>
          <p:cNvSpPr txBox="1"/>
          <p:nvPr/>
        </p:nvSpPr>
        <p:spPr>
          <a:xfrm>
            <a:off x="6949440" y="4937760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組み合わせ・段階的な進め方の例</a:t>
            </a:r>
            <a:endParaRPr lang="en-US" sz="1250" dirty="0"/>
          </a:p>
        </p:txBody>
      </p:sp>
      <p:sp>
        <p:nvSpPr>
          <p:cNvPr id="40" name="Shape 34"/>
          <p:cNvSpPr/>
          <p:nvPr/>
        </p:nvSpPr>
        <p:spPr>
          <a:xfrm>
            <a:off x="6400800" y="5541264"/>
            <a:ext cx="384048" cy="384048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6400800" y="5541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6949440" y="5541264"/>
            <a:ext cx="46634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確認が必要な事項・参考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業務側で決めた前提：AIの回答は「下書き」として扱う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Airtableへの書き込み自体は可。ただし書き込み先は下書き用の欄とし、確定は必ず人が行う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 前提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ステータス欄で状態を管理する（例）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249424" cy="457200"/>
          </a:xfrm>
          <a:prstGeom prst="chevron">
            <a:avLst/>
          </a:prstGeom>
          <a:solidFill>
            <a:srgbClr val="9AA5B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82880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起案待ち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52344" y="1828800"/>
            <a:ext cx="2249424" cy="457200"/>
          </a:xfrm>
          <a:prstGeom prst="chevron">
            <a:avLst/>
          </a:prstGeom>
          <a:solidFill>
            <a:srgbClr val="0E9F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89504" y="182880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起案中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956048" y="1828800"/>
            <a:ext cx="2249424" cy="457200"/>
          </a:xfrm>
          <a:prstGeom prst="chevron">
            <a:avLst/>
          </a:prstGeom>
          <a:solidFill>
            <a:srgbClr val="0E9F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93208" y="182880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下書きあり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159752" y="1828800"/>
            <a:ext cx="2249424" cy="457200"/>
          </a:xfrm>
          <a:prstGeom prst="chevron">
            <a:avLst/>
          </a:prstGeom>
          <a:solidFill>
            <a:srgbClr val="0E9F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96912" y="182880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修正依頼中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63456" y="1828800"/>
            <a:ext cx="2249424" cy="457200"/>
          </a:xfrm>
          <a:prstGeom prst="chevron">
            <a:avLst/>
          </a:prstGeom>
          <a:solidFill>
            <a:srgbClr val="E891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500616" y="182880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3317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AIが処理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509760" y="2331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人が操作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6583680" cy="3520440"/>
          </a:xfrm>
          <a:prstGeom prst="roundRect">
            <a:avLst>
              <a:gd name="adj" fmla="val 1558"/>
            </a:avLst>
          </a:prstGeom>
          <a:solidFill>
            <a:srgbClr val="F3F5F8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926080"/>
            <a:ext cx="365760" cy="36576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8872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配信カードの欄の持ち方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77240" y="347472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77240" y="3474720"/>
            <a:ext cx="2651760" cy="384048"/>
          </a:xfrm>
          <a:prstGeom prst="roundRect">
            <a:avLst>
              <a:gd name="adj" fmla="val 14286"/>
            </a:avLst>
          </a:prstGeom>
          <a:solidFill>
            <a:srgbClr val="0E9F9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7240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下書き用の欄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960120" y="3977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・テーマ案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43068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・商品案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46360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・コピー案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960120" y="4965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・制作指示案</a:t>
            </a:r>
            <a:endParaRPr lang="en-US" sz="10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5669280"/>
            <a:ext cx="274320" cy="27432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307592" y="5623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AIが書き込む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3474720" y="4754880"/>
            <a:ext cx="731520" cy="0"/>
          </a:xfrm>
          <a:prstGeom prst="line">
            <a:avLst/>
          </a:prstGeom>
          <a:noFill/>
          <a:ln w="25400">
            <a:solidFill>
              <a:srgbClr val="E8912D"/>
            </a:solidFill>
            <a:prstDash val="solid"/>
            <a:tailEnd type="triangle"/>
          </a:ln>
        </p:spPr>
      </p:sp>
      <p:sp>
        <p:nvSpPr>
          <p:cNvPr id="32" name="Text 28"/>
          <p:cNvSpPr txBox="1"/>
          <p:nvPr/>
        </p:nvSpPr>
        <p:spPr>
          <a:xfrm>
            <a:off x="3108960" y="446227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確定操作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4251960" y="347472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251960" y="3474720"/>
            <a:ext cx="2651760" cy="384048"/>
          </a:xfrm>
          <a:prstGeom prst="roundRect">
            <a:avLst>
              <a:gd name="adj" fmla="val 14286"/>
            </a:avLst>
          </a:prstGeom>
          <a:solidFill>
            <a:srgbClr val="E8912D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4251960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確定用の欄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4434840" y="3977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・テーマ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4434840" y="43068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・掲載商品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4434840" y="46360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・コピー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4434840" y="4965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・制作指示</a:t>
            </a:r>
            <a:endParaRPr lang="en-US" sz="1050" dirty="0"/>
          </a:p>
        </p:txBody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5669280"/>
            <a:ext cx="274320" cy="274320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4782312" y="5623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人の操作でのみ反映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7315200" y="2788920"/>
            <a:ext cx="4297680" cy="3520440"/>
          </a:xfrm>
          <a:prstGeom prst="roundRect">
            <a:avLst>
              <a:gd name="adj" fmla="val 1558"/>
            </a:avLst>
          </a:prstGeom>
          <a:solidFill>
            <a:srgbClr val="FDEBD3"/>
          </a:solidFill>
          <a:ln/>
        </p:spPr>
      </p:sp>
      <p:sp>
        <p:nvSpPr>
          <p:cNvPr id="43" name="Shape 38"/>
          <p:cNvSpPr/>
          <p:nvPr/>
        </p:nvSpPr>
        <p:spPr>
          <a:xfrm>
            <a:off x="7452360" y="29077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9170" y="2984602"/>
            <a:ext cx="230429" cy="230429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7909560" y="290779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以降のすべてのパターンの前提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7498080" y="3392424"/>
            <a:ext cx="3977640" cy="28254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カードに下書き用の欄と確定用の欄を分けて持つ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ステータス欄で状態を管理する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下書きから確定欄への反映（確定操作）は、人の操作でのみ行う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AIの回答は確定情報とはしない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Copilotのエージェントは2種類あり、できることが大きく違う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Airtableへの自動書き込みや自動起動を伴う方式は、Copilot Studioのエージェントが前提になる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 前提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834640" y="1417320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E5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4368" y="1527048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64992" y="1417320"/>
            <a:ext cx="3721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Agent Builder</a:t>
            </a:r>
            <a:endParaRPr lang="en-US" sz="12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M365 Copilotに含まれる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269480" y="1417320"/>
            <a:ext cx="4343400" cy="548640"/>
          </a:xfrm>
          <a:prstGeom prst="roundRect">
            <a:avLst>
              <a:gd name="adj" fmla="val 13333"/>
            </a:avLst>
          </a:prstGeom>
          <a:solidFill>
            <a:srgbClr val="EEEAF8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152704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99832" y="1417320"/>
            <a:ext cx="3767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12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別製品（利用量に応じて課金）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389120"/>
                <a:gridCol w="4389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観点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Agent Builder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 Studio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主な用途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指示とナレッジを固定したQ&amp;A・文章生成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Q&amp;Aに加え、外部システムの操作・ワークフロー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外部システムへの書き込み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64545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できない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できる（コネクタ、カスタムコネクタ、HTTP、MCP）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自動起動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できない（人が話しかけて動く）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できる（イベントトリガー、Power Automateからの呼び出し）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追加費用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なし（M365 Copilotのライセンスに含まれる）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利用量に応じて課金（契約形態により要確認）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D9F2F1"/>
          </a:solidFill>
          <a:ln/>
        </p:spPr>
      </p:sp>
      <p:sp>
        <p:nvSpPr>
          <p:cNvPr id="14" name="Shape 9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50468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63040" y="51663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Agent Builderで使えるのは、人が結果を運ぶ方式（P1・P2など）に限られる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P3・P4はファイルを介して書き込むため、エージェント自体はAgent Builderでもよい。それ以外（P5〜P17）はCopilot Studioのエージェントが前提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Airtable側で使える主な手段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読み書きの基本はREST API。起動のきっかけにはオートメーションやWebhooksが使える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 前提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365760"/>
            <a:ext cx="457200" cy="45720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4389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手段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概要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主な制約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REST API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レコードの読み書き。個人アクセストークン（PAT）またはOAuthで認証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1ベースあたり毎秒5リクエストまで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オートメーション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レコード作成・条件一致・ボタン・定時などをきっかけに処理を実行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スクリプトの外部通信は30秒が上限（暫定的に120秒へ緩和中）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Webhooks API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変更を外部に通知する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通知は「変更があった」ことだけ。7日で失効するため定期的な更新が必要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公式MCPサーバー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MCP対応のAIからレコードの読み書きができる。全プランで利用可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通常のAPIのレート制限が適用される。管理者が連携先を許可リストで制御できる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Sync API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CSVをAPIで送り、同期テーブルに取り込む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Business／Enterprise Scaleのみ。同期テーブルは手で編集できない。一方向のみ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CSVインポート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画面からCSVを取り込む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手作業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PAT（Personal Access Token）：Airtableが発行するAPI用の鍵。対象のベースと権限（読み取り・書き込み）を絞って発行できる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M365側で使える主な手段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AirtableのPower Automateコネクタは非推奨のため、書き込みはHTTPアクション＋PATが基本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 前提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365760"/>
            <a:ext cx="457200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14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手段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概要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主な制約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Power Automate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定期実行、HTTP受信、ファイル作成などをきっかけに処理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HTTP受信トリガー・HTTPアクションはPremium。AirtableのPower Automateコネクタは非推奨（廃止されたAPIキー認証のため）で、書き込みはHTTPアクション＋PATが基本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 Studioコネクタ「Execute Agent and wait」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Power Automateやcode appsからエージェントを呼び、応答を受け取る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呼べるのは公開済みのCopilot Studioエージェントのみ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 StudioのMCP対応（GA）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エージェントにMCPサーバーのツールを持たせる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対応しているのはツールとリソースのみ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 Copilot connector（Airtable、プレビュー）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Airtableのレコードを取り込み、Copilotから検索・参照できるようにする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読み取り専用。AirtableのEnterprise IDが必要</a:t>
                      </a:r>
                      <a:endParaRPr lang="en-US" sz="11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7607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85216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24128" y="576072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3355848" y="57607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85216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831336" y="576072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1050" dirty="0"/>
          </a:p>
        </p:txBody>
      </p:sp>
      <p:sp>
        <p:nvSpPr>
          <p:cNvPr id="14" name="Shape 8"/>
          <p:cNvSpPr/>
          <p:nvPr/>
        </p:nvSpPr>
        <p:spPr>
          <a:xfrm>
            <a:off x="6163056" y="57607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784" y="5852160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638544" y="576072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MCP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8970264" y="57607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9992" y="5852160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445752" y="576072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M365 Copilot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エージェントの呼び出し方：「フローが主役」と「エージェントが主役」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どちらも同じCopilot Studioのエージェントを使うが、処理の主役が違う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0. 前提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4983480"/>
          </a:xfrm>
          <a:prstGeom prst="roundRect">
            <a:avLst>
              <a:gd name="adj" fmla="val 1101"/>
            </a:avLst>
          </a:prstGeom>
          <a:solidFill>
            <a:srgbClr val="D9F2F1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50876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508760"/>
            <a:ext cx="160020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Execute Agent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1481328"/>
            <a:ext cx="3429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フローが主役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507492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40030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103120"/>
            <a:ext cx="941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フロー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カードを取得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313432" y="2532888"/>
            <a:ext cx="155448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2496312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0E9F9A"/>
          </a:solidFill>
          <a:ln/>
        </p:spPr>
      </p:sp>
      <p:sp>
        <p:nvSpPr>
          <p:cNvPr id="16" name="Shape 13"/>
          <p:cNvSpPr/>
          <p:nvPr/>
        </p:nvSpPr>
        <p:spPr>
          <a:xfrm>
            <a:off x="2569464" y="234543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40030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3095244" y="2103120"/>
            <a:ext cx="818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E6F2F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下書きを生成して返す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986784" y="2532888"/>
            <a:ext cx="155448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4169664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24003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645152" y="2103120"/>
            <a:ext cx="941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フロー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Airtableに書き込む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2918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仕組み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Power Automateの「Execute Agent and wait」で、エージェントに依頼して応答を待つ。関数を呼ぶような使い方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エージェントの役割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生成だけ（取得・書き込み・エラー処理はフローが行う）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確実さ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書き込みの手順がフローで決まっているため、制御しやすい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費用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エージェントの呼び出しごとにCopilotクレジット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該当するパターン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P7・P8・P9・P12・P14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4" name="Shape 18"/>
          <p:cNvSpPr/>
          <p:nvPr/>
        </p:nvSpPr>
        <p:spPr>
          <a:xfrm>
            <a:off x="6172200" y="1371600"/>
            <a:ext cx="5440680" cy="4983480"/>
          </a:xfrm>
          <a:prstGeom prst="roundRect">
            <a:avLst>
              <a:gd name="adj" fmla="val 1101"/>
            </a:avLst>
          </a:prstGeom>
          <a:solidFill>
            <a:srgbClr val="EEEAF8"/>
          </a:solidFill>
          <a:ln/>
        </p:spPr>
      </p:sp>
      <p:sp>
        <p:nvSpPr>
          <p:cNvPr id="25" name="Shape 19"/>
          <p:cNvSpPr/>
          <p:nvPr/>
        </p:nvSpPr>
        <p:spPr>
          <a:xfrm>
            <a:off x="6355080" y="150876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355080" y="1508760"/>
            <a:ext cx="160020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自律エージェント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8092440" y="1481328"/>
            <a:ext cx="3429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エージェントが主役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6355080" y="1965960"/>
            <a:ext cx="507492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446520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2400300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922008" y="2103120"/>
            <a:ext cx="941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トリガー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イベントを渡す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7936992" y="2532888"/>
            <a:ext cx="155448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8119872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6B4FBB"/>
          </a:solidFill>
          <a:ln/>
        </p:spPr>
      </p:sp>
      <p:sp>
        <p:nvSpPr>
          <p:cNvPr id="34" name="Shape 27"/>
          <p:cNvSpPr/>
          <p:nvPr/>
        </p:nvSpPr>
        <p:spPr>
          <a:xfrm>
            <a:off x="8193024" y="234543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2400300"/>
            <a:ext cx="274320" cy="27432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718804" y="2103120"/>
            <a:ext cx="818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E6F2F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自分で判断して取得・生成</a:t>
            </a:r>
            <a:endParaRPr lang="en-US" sz="950" dirty="0"/>
          </a:p>
        </p:txBody>
      </p:sp>
      <p:sp>
        <p:nvSpPr>
          <p:cNvPr id="37" name="Shape 29"/>
          <p:cNvSpPr/>
          <p:nvPr/>
        </p:nvSpPr>
        <p:spPr>
          <a:xfrm>
            <a:off x="9610344" y="2532888"/>
            <a:ext cx="155448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0"/>
          <p:cNvSpPr/>
          <p:nvPr/>
        </p:nvSpPr>
        <p:spPr>
          <a:xfrm>
            <a:off x="9793224" y="210312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2952" y="2400300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0268712" y="2103120"/>
            <a:ext cx="941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エージェントのツール</a:t>
            </a:r>
            <a:endParaRPr lang="en-US" sz="9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Airtableに書き込む</a:t>
            </a:r>
            <a:endParaRPr lang="en-US" sz="9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2918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仕組み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 Studioのイベントトリガーで、エージェントが自動で起動する（人が話しかけなくても動く）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エージェントの役割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取得・生成・書き込みまで、手順を自分で判断して実行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確実さ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書き込むかどうかもエージェントの判断に依存するため、制御しにくい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費用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自律実行もCopilotクレジットの消費対象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該当するパターン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P10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検討の観点（パターンを分ける軸）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トリガー（手動／自動）とインターフェース（ファイル／APIなど）に加えて、次の観点で方式の性格が変わる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 検討の観点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011680"/>
                <a:gridCol w="5486400"/>
                <a:gridCol w="31089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#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観点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主な選択肢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何に影響するか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トリガー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手動（人がチャット・ボタン）／自動（レコード作成・条件一致・定時）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自動化の度合い、即時性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インターフェース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人の手／ファイル（CSV・Excel）／REST API／コネクタ／MCP／iPaaS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難易度、保守性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起点（どちらが呼ぶか）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 → M365（押し込む）／M365 → Airtable（取りに行く）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外部からの受け口を公開する必要があるか（セキュリティ）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エージェントの種類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Agent Builder／Copilot 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自動化できる範囲、費用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書き込み先と反映方法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（前提により決定）下書き用の欄に書く。上書きか履歴を残すかは要検討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誤った内容が確定情報に混ざるリスク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人の確認・承認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（前提により決定）書き込み後に人が確認し、人が確定する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品質の担保、運用の手間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修正指示の出し方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Airtableの画面内（指示欄＋再生成ボタン／拡張機能）／Airtableから遷移する専用画面／Teams／Copilotのチャット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使い勝手、実装量、作業の起点との一致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入力データの渡し方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エージェントに探させる／呼び出し側がまとめて渡す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推論の精度・再現性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処理時間の制約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応答を待つ（同期）／待たない（非同期）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Airtableスクリプトの30秒制限に当たるか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認証・ガバナンス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PAT、OAuth、HTTPトリガーの公開範囲、DLP、MCPの許可リスト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情シスの承認が必要か、秘密情報の管理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ライセンス・費用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 Studio、Power Automate Premium、Airtableのプラン、iPaaSの契約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継続費用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エラー通知、再実行、二重実行の防止（ステータス欄）、レート制限、保守の担い手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安定性、属人化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35508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網掛けの観点は、前提（AIの回答は下書き・確定は人）によって決まっている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連携パターン一覧（1/2）：P1〜P9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難易度（★）は、開発量・必要なスキル・関係する部署やシステムの数から見た相対的な目安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2. 連携パターン一覧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474720"/>
                <a:gridCol w="1508760"/>
                <a:gridCol w="1600200"/>
                <a:gridCol w="1188720"/>
                <a:gridCol w="1097280"/>
                <a:gridCol w="1051560"/>
                <a:gridCol w="6400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ID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パターン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トリガー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インターフェース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起点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修正指示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難易度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チャットで生成し、人が転記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人の手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Builder／Studio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P2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エージェントがCSV・Excelを出力し、Airtableに取り込む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ファイル（CSVインポート）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Builder／Studio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P3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ファイルをSharePointに置き、Power AutomateがAirtableに書き込む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半自動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ファイル＋API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Builder／Studio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P4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ファイルをAirtableのSync APIで同期テーブルに取り込む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半自動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ファイル＋Sync API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Builder／Studio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エージェントに対話で依頼し、エージェント自身がAirtableに書き込む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API（カスタムコネクタ・HTTP）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P6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P5のツールとしてAirtable公式MCPサーバーを使う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MCP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P7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Power Automateが定期的にAirtableを確認し、未起案のカードを起案して書き戻す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自動（定時）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—（P14などと組み合わせる）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P8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P7に、Teamsでの確認・承認を挟む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自動（定時）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API＋Teams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Teams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P9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Airtableのボタン・オートメーションから、Power Automateを呼んで起案・書き戻し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自動（Airtable起点）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API（HTTPトリガー）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Airtable→M365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—（P14などと組み合わせる）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※前提により、どのパターンも書き込み先は下書き用の欄とし、確定は人が行う。「Builder」はAgent Builder、「Studio」はCopilot Studioのエージェント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連携パターン一覧（2/2）：P10〜P17、参考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P10〜P13は自動起動のバリエーション、P14〜P17は修正指示の受け付け方のバリエーション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2. 連携パターン一覧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474720"/>
                <a:gridCol w="1508760"/>
                <a:gridCol w="1600200"/>
                <a:gridCol w="1188720"/>
                <a:gridCol w="1097280"/>
                <a:gridCol w="105156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ID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パターン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トリガー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インターフェース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起点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修正指示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難易度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P10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Airtableから、Copilot Studioのエージェントを自律的に起動し、エージェントが書き戻す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自動（Airtable起点）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API（イベントトリガー）＋ツール／MCP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Airtable→M365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Airtableのスクリプトから、Direct Lineでエージェントを直接呼ぶ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自動（Airtable起点）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API（Direct Line）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Airtable→M365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AirtableのWebhooks APIで変更を通知し、Power Automateが処理する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自動（Airtable起点）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Webhook＋API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Airtable→M365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iPaaS（Make・Zapierなど）でAirtableの変更を検知して処理する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自動（Airtable起点）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iPaaS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外部サービス経由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Studio（またはLLMのAPI）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Airtable上の「修正指示」欄と再実行ボタンで、再推論して上書きする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自動＋手動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どちらも可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Teamsで下書きを確認し、チャットやカードで修正指示を出す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自動＋手動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API＋Teams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Teams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専用画面（Power Apps code apps）で対話しながら修正し、確定時にAirtableへ書き込む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手動（画面）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M365→Airtable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専用画面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P17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Airtableの画面内に、拡張機能（Interface Extensions）で修正用のパネルを組み込む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手動（Airtable画面）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API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Airtable→M365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Studio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Airtable画面内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91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★★★★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047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参考：Copilotを使わない、または読み取りだけの選択肢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58384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651760"/>
                <a:gridCol w="4572000"/>
                <a:gridCol w="33375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ID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選択肢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概要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位置付け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B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Airtable標準のAI（Field Agents）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Airtable内で、レコードの追加・更新をきっかけに項目を自動生成する（AIクレジット制）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Copilotを使わない代替案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B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M365 Copilot connector（Airtable）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Airtableのレコードを取り込み、Copilotから検索・参照できるようにする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読み取り専用。エージェントがAirtableの内容を参照するための補助手段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レベル0〜1：手作業・ファイル経由（1/2）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エージェントはAgent Builderでもよい。人が結果を運ぶか、ファイルを介して書き込む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チャットで生成し、人が転記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レベル0：手作業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261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依頼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32930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079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4305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Agent Builderなど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15912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4897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37286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確認・転記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298894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4715" y="230428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20268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項目に貼付</a:t>
            </a:r>
            <a:endParaRPr lang="en-US" sz="75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マーケターがCopilot（Agent Builderのエージェントなど）に依頼 → 生成結果を確認 → Airtableの項目にコピー＆ペースト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M365 Copilot（導入済み）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追加の開発・費用がない。すぐに始められる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転記の手間と転記ミス。件数が増えると負担になる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83964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25" name="Shape 19"/>
          <p:cNvSpPr/>
          <p:nvPr/>
        </p:nvSpPr>
        <p:spPr>
          <a:xfrm>
            <a:off x="4393692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393692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P2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924044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エージェントがCSV・Excelを出力し、Airtableに取り込む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924044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レベル1：ファイル経由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4393692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2304288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448556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CSVで出力</a:t>
            </a:r>
            <a:endParaRPr lang="en-US" sz="750" dirty="0"/>
          </a:p>
        </p:txBody>
      </p:sp>
      <p:sp>
        <p:nvSpPr>
          <p:cNvPr id="32" name="Shape 25"/>
          <p:cNvSpPr/>
          <p:nvPr/>
        </p:nvSpPr>
        <p:spPr>
          <a:xfrm>
            <a:off x="5202936" y="2459736"/>
            <a:ext cx="649224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554980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ダウンロード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6309360" y="2459736"/>
            <a:ext cx="649224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31736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661404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CSVインポート</a:t>
            </a:r>
            <a:endParaRPr lang="en-US" sz="750" dirty="0"/>
          </a:p>
        </p:txBody>
      </p:sp>
      <p:sp>
        <p:nvSpPr>
          <p:cNvPr id="38" name="Text 29"/>
          <p:cNvSpPr txBox="1"/>
          <p:nvPr/>
        </p:nvSpPr>
        <p:spPr>
          <a:xfrm>
            <a:off x="4421124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エージェントに「カードの項目をCSVで出力して」と依頼 → ファイルをダウンロード → AirtableのCSVインポートで取り込む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ファイルを出力できるエージェント（コードインタープリターなどの機能の有効化状況による）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複数カードを一括で反映できる。開発はほぼ不要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取り込みは手作業。既存カードの更新（上書き）には、列の対応付けや照合キーの設計が必要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8019288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40" name="Shape 31"/>
          <p:cNvSpPr/>
          <p:nvPr/>
        </p:nvSpPr>
        <p:spPr>
          <a:xfrm>
            <a:off x="8129016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812901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P3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659368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ファイルをSharePointに置き、Power AutomateがAirtableに書き込む</a:t>
            </a:r>
            <a:endParaRPr lang="en-US" sz="1100" dirty="0"/>
          </a:p>
        </p:txBody>
      </p:sp>
      <p:sp>
        <p:nvSpPr>
          <p:cNvPr id="43" name="Text 34"/>
          <p:cNvSpPr txBox="1"/>
          <p:nvPr/>
        </p:nvSpPr>
        <p:spPr>
          <a:xfrm>
            <a:off x="8659368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レベル1：ファイル経由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8129016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5909" y="2304288"/>
            <a:ext cx="310896" cy="310896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18388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ファイル出力</a:t>
            </a:r>
            <a:endParaRPr lang="en-US" sz="750" dirty="0"/>
          </a:p>
        </p:txBody>
      </p:sp>
      <p:sp>
        <p:nvSpPr>
          <p:cNvPr id="47" name="Shape 37"/>
          <p:cNvSpPr/>
          <p:nvPr/>
        </p:nvSpPr>
        <p:spPr>
          <a:xfrm>
            <a:off x="879995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5727" y="2304288"/>
            <a:ext cx="310896" cy="31089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01369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SharePoint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人が保存</a:t>
            </a:r>
            <a:endParaRPr lang="en-US" sz="750" dirty="0"/>
          </a:p>
        </p:txBody>
      </p:sp>
      <p:sp>
        <p:nvSpPr>
          <p:cNvPr id="50" name="Shape 39"/>
          <p:cNvSpPr/>
          <p:nvPr/>
        </p:nvSpPr>
        <p:spPr>
          <a:xfrm>
            <a:off x="962977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5545" y="2304288"/>
            <a:ext cx="310896" cy="31089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984351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検知・API</a:t>
            </a:r>
            <a:endParaRPr lang="en-US" sz="750" dirty="0"/>
          </a:p>
        </p:txBody>
      </p:sp>
      <p:sp>
        <p:nvSpPr>
          <p:cNvPr id="53" name="Shape 41"/>
          <p:cNvSpPr/>
          <p:nvPr/>
        </p:nvSpPr>
        <p:spPr>
          <a:xfrm>
            <a:off x="1045959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05363" y="2304288"/>
            <a:ext cx="310896" cy="310896"/>
          </a:xfrm>
          <a:prstGeom prst="rect">
            <a:avLst/>
          </a:prstGeom>
        </p:spPr>
      </p:pic>
      <p:sp>
        <p:nvSpPr>
          <p:cNvPr id="55" name="Text 42"/>
          <p:cNvSpPr txBox="1"/>
          <p:nvPr/>
        </p:nvSpPr>
        <p:spPr>
          <a:xfrm>
            <a:off x="1067333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カード更新</a:t>
            </a:r>
            <a:endParaRPr lang="en-US" sz="750" dirty="0"/>
          </a:p>
        </p:txBody>
      </p:sp>
      <p:sp>
        <p:nvSpPr>
          <p:cNvPr id="56" name="Text 43"/>
          <p:cNvSpPr txBox="1"/>
          <p:nvPr/>
        </p:nvSpPr>
        <p:spPr>
          <a:xfrm>
            <a:off x="8156448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エージェントの出力ファイル（Excel・CSV・JSON）をSharePointに保存 → Power Automateがファイル作成を検知 → 内容を読み取り、AirtableのREST APIでカードを更新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 Premium（HTTPアクション）、AirtableのPAT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エージェントはAgent Builderでもよい。書き込み処理はPower Automateで一元管理できる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ファイルの形式を固定する必要がある。ファイルを置く作業は人が行う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レベル1〜2：ファイル経由（2/2）・M365側から書き込む（人が起動）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P5・P6はCopilot Studioのエージェントが、対話の中で自らAirtableに書き込む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ファイルをAirtableのSync APIで同期テーブルに取り込む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レベル1：ファイル経由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261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CSVを出力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32930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079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4305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Sync APIへ送信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15912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4897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37286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同期テーブル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298894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4715" y="230428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20268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配信カード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リンクで参照</a:t>
            </a:r>
            <a:endParaRPr lang="en-US" sz="75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エージェントの出力をCSVにする → Power AutomateなどからSync APIへ送る → Airtableの「同期テーブル」に反映 → 配信カードからリンク・ルックアップで参照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AirtableのBusiness／Enterprise Scaleプラン、PAT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Airtableの標準機能で取り込める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同期テーブルは手で編集できない一方向の同期。配信カード本体の項目に直接書き込む方式ではない。送信は1ベースあたり5分に20回まで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83964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25" name="Shape 19"/>
          <p:cNvSpPr/>
          <p:nvPr/>
        </p:nvSpPr>
        <p:spPr>
          <a:xfrm>
            <a:off x="4393692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393692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924044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エージェントに対話で依頼し、エージェント自身がAirtableに書き込む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924044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レベル2：人が起動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4393692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585" y="2304288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44855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チャットで依頼</a:t>
            </a:r>
            <a:endParaRPr lang="en-US" sz="750" dirty="0"/>
          </a:p>
        </p:txBody>
      </p:sp>
      <p:sp>
        <p:nvSpPr>
          <p:cNvPr id="32" name="Shape 25"/>
          <p:cNvSpPr/>
          <p:nvPr/>
        </p:nvSpPr>
        <p:spPr>
          <a:xfrm>
            <a:off x="506463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0403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27837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推論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5894451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221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10819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カスタムコネクタ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またはHTTP</a:t>
            </a:r>
            <a:endParaRPr lang="en-US" sz="750" dirty="0"/>
          </a:p>
        </p:txBody>
      </p:sp>
      <p:sp>
        <p:nvSpPr>
          <p:cNvPr id="38" name="Shape 29"/>
          <p:cNvSpPr/>
          <p:nvPr/>
        </p:nvSpPr>
        <p:spPr>
          <a:xfrm>
            <a:off x="672426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0039" y="2304288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93801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750" dirty="0"/>
          </a:p>
        </p:txBody>
      </p:sp>
      <p:sp>
        <p:nvSpPr>
          <p:cNvPr id="41" name="Text 31"/>
          <p:cNvSpPr txBox="1"/>
          <p:nvPr/>
        </p:nvSpPr>
        <p:spPr>
          <a:xfrm>
            <a:off x="4421124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マーケターがCopilot Studioのエージェントに「10/5のカードを起案して」と依頼 → エージェントが推論 → ツール（カスタムコネクタやHTTP）でAirtableのカードを更新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Studio、Airtable REST API用のカスタムコネクタ（またはPower Automateのフロー）、PAT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対話の中で修正し、納得した時点で書き込める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書き込むタイミングの判断をエージェントに任せる場合、誤った書き込みの防止策（確認の質問を挟む、下書き欄にだけ書くなど）が必要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019288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43" name="Shape 33"/>
          <p:cNvSpPr/>
          <p:nvPr/>
        </p:nvSpPr>
        <p:spPr>
          <a:xfrm>
            <a:off x="8129016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4" name="Text 34"/>
          <p:cNvSpPr txBox="1"/>
          <p:nvPr/>
        </p:nvSpPr>
        <p:spPr>
          <a:xfrm>
            <a:off x="812901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P6</a:t>
            </a:r>
            <a:endParaRPr lang="en-US" sz="1100" dirty="0"/>
          </a:p>
        </p:txBody>
      </p:sp>
      <p:sp>
        <p:nvSpPr>
          <p:cNvPr id="45" name="Text 35"/>
          <p:cNvSpPr txBox="1"/>
          <p:nvPr/>
        </p:nvSpPr>
        <p:spPr>
          <a:xfrm>
            <a:off x="8659368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P5のツールとして、Airtable公式MCPサーバーを使う</a:t>
            </a:r>
            <a:endParaRPr lang="en-US" sz="1100" dirty="0"/>
          </a:p>
        </p:txBody>
      </p:sp>
      <p:sp>
        <p:nvSpPr>
          <p:cNvPr id="46" name="Text 36"/>
          <p:cNvSpPr txBox="1"/>
          <p:nvPr/>
        </p:nvSpPr>
        <p:spPr>
          <a:xfrm>
            <a:off x="8659368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レベル2：人が起動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</a:t>
            </a:r>
            <a:endParaRPr lang="en-US" sz="850" dirty="0"/>
          </a:p>
        </p:txBody>
      </p:sp>
      <p:sp>
        <p:nvSpPr>
          <p:cNvPr id="47" name="Shape 37"/>
          <p:cNvSpPr/>
          <p:nvPr/>
        </p:nvSpPr>
        <p:spPr>
          <a:xfrm>
            <a:off x="8129016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909" y="2304288"/>
            <a:ext cx="310896" cy="31089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818388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チャットで依頼</a:t>
            </a:r>
            <a:endParaRPr lang="en-US" sz="750" dirty="0"/>
          </a:p>
        </p:txBody>
      </p:sp>
      <p:sp>
        <p:nvSpPr>
          <p:cNvPr id="50" name="Shape 39"/>
          <p:cNvSpPr/>
          <p:nvPr/>
        </p:nvSpPr>
        <p:spPr>
          <a:xfrm>
            <a:off x="879995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5727" y="2304288"/>
            <a:ext cx="310896" cy="31089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901369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推論</a:t>
            </a:r>
            <a:endParaRPr lang="en-US" sz="750" dirty="0"/>
          </a:p>
        </p:txBody>
      </p:sp>
      <p:sp>
        <p:nvSpPr>
          <p:cNvPr id="53" name="Shape 41"/>
          <p:cNvSpPr/>
          <p:nvPr/>
        </p:nvSpPr>
        <p:spPr>
          <a:xfrm>
            <a:off x="962977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5545" y="2304288"/>
            <a:ext cx="310896" cy="310896"/>
          </a:xfrm>
          <a:prstGeom prst="rect">
            <a:avLst/>
          </a:prstGeom>
        </p:spPr>
      </p:pic>
      <p:sp>
        <p:nvSpPr>
          <p:cNvPr id="55" name="Text 42"/>
          <p:cNvSpPr txBox="1"/>
          <p:nvPr/>
        </p:nvSpPr>
        <p:spPr>
          <a:xfrm>
            <a:off x="984351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公式MCPサーバー</a:t>
            </a:r>
            <a:endParaRPr lang="en-US" sz="750" dirty="0"/>
          </a:p>
        </p:txBody>
      </p:sp>
      <p:sp>
        <p:nvSpPr>
          <p:cNvPr id="56" name="Shape 43"/>
          <p:cNvSpPr/>
          <p:nvPr/>
        </p:nvSpPr>
        <p:spPr>
          <a:xfrm>
            <a:off x="1045959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5363" y="2304288"/>
            <a:ext cx="310896" cy="310896"/>
          </a:xfrm>
          <a:prstGeom prst="rect">
            <a:avLst/>
          </a:prstGeom>
        </p:spPr>
      </p:pic>
      <p:sp>
        <p:nvSpPr>
          <p:cNvPr id="58" name="Text 44"/>
          <p:cNvSpPr txBox="1"/>
          <p:nvPr/>
        </p:nvSpPr>
        <p:spPr>
          <a:xfrm>
            <a:off x="1067333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750" dirty="0"/>
          </a:p>
        </p:txBody>
      </p:sp>
      <p:sp>
        <p:nvSpPr>
          <p:cNvPr id="59" name="Text 45"/>
          <p:cNvSpPr txBox="1"/>
          <p:nvPr/>
        </p:nvSpPr>
        <p:spPr>
          <a:xfrm>
            <a:off x="8156448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P5と同じ。書き込みにAirtable公式MCPサーバーを使う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Studio（MCP対応はGA）、Airtable公式MCPサーバーへの接続（OAuthまたはPAT）、Airtable管理者による連携の許可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カスタムコネクタを自作せずに、Airtableの読み書きができる。利用者のAirtable権限の範囲で動く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Studioと組み合わせたときの認証方式と動作の検証が必要。APIのレート制限が適用される。MCP経由での操作はエージェントの判断に依存する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レベル3：P7 定期的にAirtableを確認して起案・書き戻し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定期実行するのは人ではなく、Power Automateの「スケジュール済みクラウドフロー」。取得したカードを1件ずつ順番に推論させる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731520"/>
          </a:xfrm>
          <a:prstGeom prst="roundRect">
            <a:avLst>
              <a:gd name="adj" fmla="val 5000"/>
            </a:avLst>
          </a:prstGeom>
          <a:solidFill>
            <a:srgbClr val="FDEBD3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8191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35" y="166237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1417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2221992"/>
            <a:ext cx="11064240" cy="731520"/>
          </a:xfrm>
          <a:prstGeom prst="roundRect">
            <a:avLst>
              <a:gd name="adj" fmla="val 5000"/>
            </a:avLst>
          </a:prstGeom>
          <a:solidFill>
            <a:srgbClr val="E3EAF5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" y="238658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" y="2467051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0" y="222199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548640" y="3026664"/>
            <a:ext cx="11064240" cy="731520"/>
          </a:xfrm>
          <a:prstGeom prst="roundRect">
            <a:avLst>
              <a:gd name="adj" fmla="val 5000"/>
            </a:avLst>
          </a:prstGeom>
          <a:solidFill>
            <a:srgbClr val="D9F2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58368" y="31912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35" y="3271723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97280" y="302666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548640" y="3831336"/>
            <a:ext cx="11064240" cy="731520"/>
          </a:xfrm>
          <a:prstGeom prst="roundRect">
            <a:avLst>
              <a:gd name="adj" fmla="val 5000"/>
            </a:avLst>
          </a:prstGeom>
          <a:solidFill>
            <a:srgbClr val="EEEAF8"/>
          </a:solidFill>
          <a:ln/>
        </p:spPr>
      </p:sp>
      <p:sp>
        <p:nvSpPr>
          <p:cNvPr id="19" name="Shape 14"/>
          <p:cNvSpPr/>
          <p:nvPr/>
        </p:nvSpPr>
        <p:spPr>
          <a:xfrm>
            <a:off x="658368" y="399592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4076395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97280" y="3831336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2011680" y="1472184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2057400" y="1517904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2057400" y="15179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2322576" y="14904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カードを起案待ちに</a:t>
            </a:r>
            <a:endParaRPr lang="en-US" sz="800" dirty="0"/>
          </a:p>
        </p:txBody>
      </p:sp>
      <p:sp>
        <p:nvSpPr>
          <p:cNvPr id="26" name="Text 20"/>
          <p:cNvSpPr txBox="1"/>
          <p:nvPr/>
        </p:nvSpPr>
        <p:spPr>
          <a:xfrm>
            <a:off x="2066544" y="1773936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配信日ごとのカードで、ステータスを「起案待ち」にする</a:t>
            </a:r>
            <a:endParaRPr lang="en-US" sz="650" dirty="0"/>
          </a:p>
        </p:txBody>
      </p:sp>
      <p:sp>
        <p:nvSpPr>
          <p:cNvPr id="27" name="Shape 21"/>
          <p:cNvSpPr/>
          <p:nvPr/>
        </p:nvSpPr>
        <p:spPr>
          <a:xfrm>
            <a:off x="3383280" y="3081528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29000" y="3127248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3429000" y="31272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3694176" y="309981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定期実行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3438144" y="3383280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例：15分ごとにフローが自動で動く（スケジュール）</a:t>
            </a:r>
            <a:endParaRPr lang="en-US" sz="650" dirty="0"/>
          </a:p>
        </p:txBody>
      </p:sp>
      <p:sp>
        <p:nvSpPr>
          <p:cNvPr id="32" name="Shape 26"/>
          <p:cNvSpPr/>
          <p:nvPr/>
        </p:nvSpPr>
        <p:spPr>
          <a:xfrm>
            <a:off x="4754880" y="2276856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4800600" y="2322576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4800600" y="23225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5065776" y="229514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起案待ちを取得</a:t>
            </a:r>
            <a:endParaRPr lang="en-US" sz="800" dirty="0"/>
          </a:p>
        </p:txBody>
      </p:sp>
      <p:sp>
        <p:nvSpPr>
          <p:cNvPr id="36" name="Text 30"/>
          <p:cNvSpPr txBox="1"/>
          <p:nvPr/>
        </p:nvSpPr>
        <p:spPr>
          <a:xfrm>
            <a:off x="4809744" y="2578608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REST APIで「ステータス＝起案待ち」のカードを検索</a:t>
            </a:r>
            <a:endParaRPr lang="en-US" sz="650" dirty="0"/>
          </a:p>
        </p:txBody>
      </p:sp>
      <p:sp>
        <p:nvSpPr>
          <p:cNvPr id="37" name="Shape 31"/>
          <p:cNvSpPr/>
          <p:nvPr/>
        </p:nvSpPr>
        <p:spPr>
          <a:xfrm>
            <a:off x="6126480" y="2276856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6172200" y="2322576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6172200" y="23225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6437376" y="229514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起案中に更新</a:t>
            </a:r>
            <a:endParaRPr lang="en-US" sz="800" dirty="0"/>
          </a:p>
        </p:txBody>
      </p:sp>
      <p:sp>
        <p:nvSpPr>
          <p:cNvPr id="41" name="Text 35"/>
          <p:cNvSpPr txBox="1"/>
          <p:nvPr/>
        </p:nvSpPr>
        <p:spPr>
          <a:xfrm>
            <a:off x="6181344" y="2578608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二重実行を防ぐため、先にステータスを変える</a:t>
            </a:r>
            <a:endParaRPr lang="en-US" sz="650" dirty="0"/>
          </a:p>
        </p:txBody>
      </p:sp>
      <p:sp>
        <p:nvSpPr>
          <p:cNvPr id="42" name="Shape 36"/>
          <p:cNvSpPr/>
          <p:nvPr/>
        </p:nvSpPr>
        <p:spPr>
          <a:xfrm>
            <a:off x="7498080" y="3886200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543800" y="3931920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543800" y="3931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7808976" y="39044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下書きを生成</a:t>
            </a:r>
            <a:endParaRPr lang="en-US" sz="800" dirty="0"/>
          </a:p>
        </p:txBody>
      </p:sp>
      <p:sp>
        <p:nvSpPr>
          <p:cNvPr id="46" name="Text 40"/>
          <p:cNvSpPr txBox="1"/>
          <p:nvPr/>
        </p:nvSpPr>
        <p:spPr>
          <a:xfrm>
            <a:off x="7552944" y="4187952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取得したカードを1件ずつ順番に、Execute Agent and waitで依頼</a:t>
            </a:r>
            <a:endParaRPr lang="en-US" sz="650" dirty="0"/>
          </a:p>
        </p:txBody>
      </p:sp>
      <p:sp>
        <p:nvSpPr>
          <p:cNvPr id="47" name="Shape 41"/>
          <p:cNvSpPr/>
          <p:nvPr/>
        </p:nvSpPr>
        <p:spPr>
          <a:xfrm>
            <a:off x="8869680" y="2276856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8915400" y="2322576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9" name="Text 43"/>
          <p:cNvSpPr txBox="1"/>
          <p:nvPr/>
        </p:nvSpPr>
        <p:spPr>
          <a:xfrm>
            <a:off x="8915400" y="23225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100" dirty="0"/>
          </a:p>
        </p:txBody>
      </p:sp>
      <p:sp>
        <p:nvSpPr>
          <p:cNvPr id="50" name="Text 44"/>
          <p:cNvSpPr txBox="1"/>
          <p:nvPr/>
        </p:nvSpPr>
        <p:spPr>
          <a:xfrm>
            <a:off x="9180576" y="229514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800" dirty="0"/>
          </a:p>
        </p:txBody>
      </p:sp>
      <p:sp>
        <p:nvSpPr>
          <p:cNvPr id="51" name="Text 45"/>
          <p:cNvSpPr txBox="1"/>
          <p:nvPr/>
        </p:nvSpPr>
        <p:spPr>
          <a:xfrm>
            <a:off x="8924544" y="2578608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下書き欄に書き、ステータスを「下書きあり」に</a:t>
            </a:r>
            <a:endParaRPr lang="en-US" sz="650" dirty="0"/>
          </a:p>
        </p:txBody>
      </p:sp>
      <p:sp>
        <p:nvSpPr>
          <p:cNvPr id="52" name="Shape 46"/>
          <p:cNvSpPr/>
          <p:nvPr/>
        </p:nvSpPr>
        <p:spPr>
          <a:xfrm>
            <a:off x="10241280" y="1472184"/>
            <a:ext cx="1261872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10287000" y="1517904"/>
            <a:ext cx="237744" cy="237744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54" name="Text 48"/>
          <p:cNvSpPr txBox="1"/>
          <p:nvPr/>
        </p:nvSpPr>
        <p:spPr>
          <a:xfrm>
            <a:off x="10287000" y="15179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1100" dirty="0"/>
          </a:p>
        </p:txBody>
      </p:sp>
      <p:sp>
        <p:nvSpPr>
          <p:cNvPr id="55" name="Text 49"/>
          <p:cNvSpPr txBox="1"/>
          <p:nvPr/>
        </p:nvSpPr>
        <p:spPr>
          <a:xfrm>
            <a:off x="10552176" y="14904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確認・確定</a:t>
            </a:r>
            <a:endParaRPr lang="en-US" sz="800" dirty="0"/>
          </a:p>
        </p:txBody>
      </p:sp>
      <p:sp>
        <p:nvSpPr>
          <p:cNvPr id="56" name="Text 50"/>
          <p:cNvSpPr txBox="1"/>
          <p:nvPr/>
        </p:nvSpPr>
        <p:spPr>
          <a:xfrm>
            <a:off x="10296144" y="1773936"/>
            <a:ext cx="11704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下書きを確認し、必要なら修正して人が確定</a:t>
            </a:r>
            <a:endParaRPr lang="en-US" sz="650" dirty="0"/>
          </a:p>
        </p:txBody>
      </p:sp>
      <p:sp>
        <p:nvSpPr>
          <p:cNvPr id="57" name="Shape 51"/>
          <p:cNvSpPr/>
          <p:nvPr/>
        </p:nvSpPr>
        <p:spPr>
          <a:xfrm>
            <a:off x="3273552" y="1783080"/>
            <a:ext cx="109728" cy="1609344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2"/>
          <p:cNvSpPr/>
          <p:nvPr/>
        </p:nvSpPr>
        <p:spPr>
          <a:xfrm flipV="1">
            <a:off x="4645152" y="2587752"/>
            <a:ext cx="109728" cy="804672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9" name="Shape 53"/>
          <p:cNvSpPr/>
          <p:nvPr/>
        </p:nvSpPr>
        <p:spPr>
          <a:xfrm>
            <a:off x="6016752" y="2587752"/>
            <a:ext cx="109728" cy="0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4"/>
          <p:cNvSpPr/>
          <p:nvPr/>
        </p:nvSpPr>
        <p:spPr>
          <a:xfrm>
            <a:off x="7388352" y="2587752"/>
            <a:ext cx="109728" cy="1609344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1" name="Shape 55"/>
          <p:cNvSpPr/>
          <p:nvPr/>
        </p:nvSpPr>
        <p:spPr>
          <a:xfrm flipV="1">
            <a:off x="8759952" y="2587752"/>
            <a:ext cx="109728" cy="1609344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2" name="Shape 56"/>
          <p:cNvSpPr/>
          <p:nvPr/>
        </p:nvSpPr>
        <p:spPr>
          <a:xfrm flipV="1">
            <a:off x="10131552" y="1783080"/>
            <a:ext cx="109728" cy="804672"/>
          </a:xfrm>
          <a:prstGeom prst="line">
            <a:avLst/>
          </a:prstGeom>
          <a:noFill/>
          <a:ln w="190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3" name="Text 57"/>
          <p:cNvSpPr txBox="1"/>
          <p:nvPr/>
        </p:nvSpPr>
        <p:spPr>
          <a:xfrm>
            <a:off x="5760720" y="34472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D6454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エラー時はステータスを「エラー」にし、Teamsに通知</a:t>
            </a:r>
            <a:endParaRPr lang="en-US" sz="700" dirty="0"/>
          </a:p>
        </p:txBody>
      </p:sp>
      <p:sp>
        <p:nvSpPr>
          <p:cNvPr id="64" name="Shape 58"/>
          <p:cNvSpPr/>
          <p:nvPr/>
        </p:nvSpPr>
        <p:spPr>
          <a:xfrm>
            <a:off x="548640" y="4754880"/>
            <a:ext cx="3611880" cy="1600200"/>
          </a:xfrm>
          <a:prstGeom prst="roundRect">
            <a:avLst>
              <a:gd name="adj" fmla="val 3429"/>
            </a:avLst>
          </a:prstGeom>
          <a:solidFill>
            <a:srgbClr val="F3F5F8"/>
          </a:solidFill>
          <a:ln/>
        </p:spPr>
      </p:sp>
      <p:sp>
        <p:nvSpPr>
          <p:cNvPr id="65" name="Shape 59"/>
          <p:cNvSpPr/>
          <p:nvPr/>
        </p:nvSpPr>
        <p:spPr>
          <a:xfrm>
            <a:off x="685800" y="487375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10" y="4950562"/>
            <a:ext cx="230429" cy="230429"/>
          </a:xfrm>
          <a:prstGeom prst="rect">
            <a:avLst/>
          </a:prstGeom>
        </p:spPr>
      </p:pic>
      <p:sp>
        <p:nvSpPr>
          <p:cNvPr id="67" name="Text 60"/>
          <p:cNvSpPr txBox="1"/>
          <p:nvPr/>
        </p:nvSpPr>
        <p:spPr>
          <a:xfrm>
            <a:off x="1143000" y="48737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100" dirty="0"/>
          </a:p>
        </p:txBody>
      </p:sp>
      <p:sp>
        <p:nvSpPr>
          <p:cNvPr id="68" name="Text 61"/>
          <p:cNvSpPr txBox="1"/>
          <p:nvPr/>
        </p:nvSpPr>
        <p:spPr>
          <a:xfrm>
            <a:off x="731520" y="5358384"/>
            <a:ext cx="3291840" cy="9052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 Premium（またはフロー単位のProcessライセンス）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Studio、PAT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Airtable側のステータス欄と下書き欄</a:t>
            </a:r>
            <a:endParaRPr lang="en-US" sz="900" dirty="0"/>
          </a:p>
        </p:txBody>
      </p:sp>
      <p:sp>
        <p:nvSpPr>
          <p:cNvPr id="69" name="Shape 62"/>
          <p:cNvSpPr/>
          <p:nvPr/>
        </p:nvSpPr>
        <p:spPr>
          <a:xfrm>
            <a:off x="4279392" y="4754880"/>
            <a:ext cx="3611880" cy="1600200"/>
          </a:xfrm>
          <a:prstGeom prst="roundRect">
            <a:avLst>
              <a:gd name="adj" fmla="val 3429"/>
            </a:avLst>
          </a:prstGeom>
          <a:solidFill>
            <a:srgbClr val="F3F5F8"/>
          </a:solidFill>
          <a:ln/>
        </p:spPr>
      </p:sp>
      <p:sp>
        <p:nvSpPr>
          <p:cNvPr id="70" name="Shape 63"/>
          <p:cNvSpPr/>
          <p:nvPr/>
        </p:nvSpPr>
        <p:spPr>
          <a:xfrm>
            <a:off x="4416552" y="487375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3362" y="4950562"/>
            <a:ext cx="230429" cy="230429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4873752" y="48737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100" dirty="0"/>
          </a:p>
        </p:txBody>
      </p:sp>
      <p:sp>
        <p:nvSpPr>
          <p:cNvPr id="73" name="Text 65"/>
          <p:cNvSpPr txBox="1"/>
          <p:nvPr/>
        </p:nvSpPr>
        <p:spPr>
          <a:xfrm>
            <a:off x="4462272" y="5358384"/>
            <a:ext cx="3291840" cy="9052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外部に受け口を公開しないため、セキュリティ上の論点が少ない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壊れにくい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定期実行はAirtableのオートメーション（定時）、Cloud Scheduler、iPaaSでも仕組み上は可能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8010144" y="4754880"/>
            <a:ext cx="3602736" cy="1600200"/>
          </a:xfrm>
          <a:prstGeom prst="roundRect">
            <a:avLst>
              <a:gd name="adj" fmla="val 3429"/>
            </a:avLst>
          </a:prstGeom>
          <a:solidFill>
            <a:srgbClr val="F3F5F8"/>
          </a:solidFill>
          <a:ln/>
        </p:spPr>
      </p:sp>
      <p:sp>
        <p:nvSpPr>
          <p:cNvPr id="75" name="Shape 67"/>
          <p:cNvSpPr/>
          <p:nvPr/>
        </p:nvSpPr>
        <p:spPr>
          <a:xfrm>
            <a:off x="8147304" y="487375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4114" y="4950562"/>
            <a:ext cx="230429" cy="230429"/>
          </a:xfrm>
          <a:prstGeom prst="rect">
            <a:avLst/>
          </a:prstGeom>
        </p:spPr>
      </p:pic>
      <p:sp>
        <p:nvSpPr>
          <p:cNvPr id="77" name="Text 68"/>
          <p:cNvSpPr txBox="1"/>
          <p:nvPr/>
        </p:nvSpPr>
        <p:spPr>
          <a:xfrm>
            <a:off x="8604504" y="4873752"/>
            <a:ext cx="2916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100" dirty="0"/>
          </a:p>
        </p:txBody>
      </p:sp>
      <p:sp>
        <p:nvSpPr>
          <p:cNvPr id="78" name="Text 69"/>
          <p:cNvSpPr txBox="1"/>
          <p:nvPr/>
        </p:nvSpPr>
        <p:spPr>
          <a:xfrm>
            <a:off x="8193024" y="5358384"/>
            <a:ext cx="3282696" cy="9052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即時性は実行間隔による（数分〜）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二重実行の防止（ステータスの管理）が必要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1回の実行で処理する件数の上限を決めておく（APIは1ベースあたり毎秒5リクエストまで）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レベル3〜4：確認を挟む・Airtable側が起点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P9はP7と同じ「フローが主役」の使い方で、起動のきっかけが定期実行ではなくAirtableの操作である点が違う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P8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P7に、Teamsでの確認・承認を挟む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レベル3：M365起点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261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P7で下書き生成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32930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079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4305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Teams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承認・カード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15912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4897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37286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担当者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承認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298894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4715" y="230428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20268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書込・確定</a:t>
            </a:r>
            <a:endParaRPr lang="en-US" sz="75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P7で生成した下書きを、Teamsの承認機能やアダプティブカードで担当者に送る → 承認されたらAirtableに書き込む（または下書き欄から確定欄へ移す）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P7の一式、Teams承認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人の確認を必ず挟める。確定前の内容がカードに混ざらない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承認待ちの滞留の扱い。承認時の修正をどう受け付けるか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83964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25" name="Shape 19"/>
          <p:cNvSpPr/>
          <p:nvPr/>
        </p:nvSpPr>
        <p:spPr>
          <a:xfrm>
            <a:off x="4393692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393692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P9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924044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Airtableのボタン・オートメーションから、Power Automateを呼ぶ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924044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レベル4：Airtable起点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4393692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585" y="2304288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44855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ボタン・スクリプト</a:t>
            </a:r>
            <a:endParaRPr lang="en-US" sz="750" dirty="0"/>
          </a:p>
        </p:txBody>
      </p:sp>
      <p:sp>
        <p:nvSpPr>
          <p:cNvPr id="32" name="Shape 25"/>
          <p:cNvSpPr/>
          <p:nvPr/>
        </p:nvSpPr>
        <p:spPr>
          <a:xfrm>
            <a:off x="506463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0403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27837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HTTPトリガー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5894451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221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10819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Execute Agent</a:t>
            </a:r>
            <a:endParaRPr lang="en-US" sz="750" dirty="0"/>
          </a:p>
        </p:txBody>
      </p:sp>
      <p:sp>
        <p:nvSpPr>
          <p:cNvPr id="38" name="Shape 29"/>
          <p:cNvSpPr/>
          <p:nvPr/>
        </p:nvSpPr>
        <p:spPr>
          <a:xfrm>
            <a:off x="672426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0039" y="2304288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93801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750" dirty="0"/>
          </a:p>
        </p:txBody>
      </p:sp>
      <p:sp>
        <p:nvSpPr>
          <p:cNvPr id="41" name="Text 31"/>
          <p:cNvSpPr txBox="1"/>
          <p:nvPr/>
        </p:nvSpPr>
        <p:spPr>
          <a:xfrm>
            <a:off x="4421124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Airtableのボタン、またはレコード作成・条件一致をきっかけにオートメーションを実行 → スクリプトでHTTPトリガーにPOST → Power Automateが「Execute Agent and wait」でエージェントを呼ぶ → 結果を下書き欄に書き込む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Airtableのオートメーション（スクリプト）、Power Automate Premium（HTTPトリガー）、Copilot Studio、PAT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Airtableの操作から数十秒〜数分で反映。Airtable側の送信は受付だけで終わるため、30秒制限に当たりにくい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・トリガーの「フローをトリガーできるユーザー」がAnyone（URLの署名だけで呼べる）でないと、Airtableから直接は呼べない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・テナント内に限定する場合は、スクリプト側でEntraのトークンを取得する必要がある（クライアントシークレットをAirtable側に置く）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・DLPポリシーでHTTPトリガーが禁止されていないかの確認が必要</a:t>
            </a:r>
            <a:endParaRPr lang="en-US" sz="950" dirty="0"/>
          </a:p>
        </p:txBody>
      </p:sp>
      <p:sp>
        <p:nvSpPr>
          <p:cNvPr id="42" name="Shape 32"/>
          <p:cNvSpPr/>
          <p:nvPr/>
        </p:nvSpPr>
        <p:spPr>
          <a:xfrm>
            <a:off x="8019288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43" name="Shape 33"/>
          <p:cNvSpPr/>
          <p:nvPr/>
        </p:nvSpPr>
        <p:spPr>
          <a:xfrm>
            <a:off x="8129016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4" name="Text 34"/>
          <p:cNvSpPr txBox="1"/>
          <p:nvPr/>
        </p:nvSpPr>
        <p:spPr>
          <a:xfrm>
            <a:off x="812901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P10</a:t>
            </a:r>
            <a:endParaRPr lang="en-US" sz="1100" dirty="0"/>
          </a:p>
        </p:txBody>
      </p:sp>
      <p:sp>
        <p:nvSpPr>
          <p:cNvPr id="45" name="Text 35"/>
          <p:cNvSpPr txBox="1"/>
          <p:nvPr/>
        </p:nvSpPr>
        <p:spPr>
          <a:xfrm>
            <a:off x="8659368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Airtableから、Copilot Studioのエージェントを自律的に起動する</a:t>
            </a:r>
            <a:endParaRPr lang="en-US" sz="1100" dirty="0"/>
          </a:p>
        </p:txBody>
      </p:sp>
      <p:sp>
        <p:nvSpPr>
          <p:cNvPr id="46" name="Text 36"/>
          <p:cNvSpPr txBox="1"/>
          <p:nvPr/>
        </p:nvSpPr>
        <p:spPr>
          <a:xfrm>
            <a:off x="8659368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レベル4：Airtable起点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</a:t>
            </a:r>
            <a:endParaRPr lang="en-US" sz="850" dirty="0"/>
          </a:p>
        </p:txBody>
      </p:sp>
      <p:sp>
        <p:nvSpPr>
          <p:cNvPr id="47" name="Shape 37"/>
          <p:cNvSpPr/>
          <p:nvPr/>
        </p:nvSpPr>
        <p:spPr>
          <a:xfrm>
            <a:off x="8129016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909" y="2304288"/>
            <a:ext cx="310896" cy="31089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818388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スクリプト</a:t>
            </a:r>
            <a:endParaRPr lang="en-US" sz="750" dirty="0"/>
          </a:p>
        </p:txBody>
      </p:sp>
      <p:sp>
        <p:nvSpPr>
          <p:cNvPr id="50" name="Shape 39"/>
          <p:cNvSpPr/>
          <p:nvPr/>
        </p:nvSpPr>
        <p:spPr>
          <a:xfrm>
            <a:off x="879995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5727" y="2304288"/>
            <a:ext cx="310896" cy="31089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901369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HTTP受信</a:t>
            </a:r>
            <a:endParaRPr lang="en-US" sz="750" dirty="0"/>
          </a:p>
        </p:txBody>
      </p:sp>
      <p:sp>
        <p:nvSpPr>
          <p:cNvPr id="53" name="Shape 41"/>
          <p:cNvSpPr/>
          <p:nvPr/>
        </p:nvSpPr>
        <p:spPr>
          <a:xfrm>
            <a:off x="962977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5545" y="2304288"/>
            <a:ext cx="310896" cy="310896"/>
          </a:xfrm>
          <a:prstGeom prst="rect">
            <a:avLst/>
          </a:prstGeom>
        </p:spPr>
      </p:pic>
      <p:sp>
        <p:nvSpPr>
          <p:cNvPr id="55" name="Text 42"/>
          <p:cNvSpPr txBox="1"/>
          <p:nvPr/>
        </p:nvSpPr>
        <p:spPr>
          <a:xfrm>
            <a:off x="984351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自律エージェント</a:t>
            </a:r>
            <a:endParaRPr lang="en-US" sz="750" dirty="0"/>
          </a:p>
        </p:txBody>
      </p:sp>
      <p:sp>
        <p:nvSpPr>
          <p:cNvPr id="56" name="Shape 43"/>
          <p:cNvSpPr/>
          <p:nvPr/>
        </p:nvSpPr>
        <p:spPr>
          <a:xfrm>
            <a:off x="1045959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5363" y="2304288"/>
            <a:ext cx="310896" cy="310896"/>
          </a:xfrm>
          <a:prstGeom prst="rect">
            <a:avLst/>
          </a:prstGeom>
        </p:spPr>
      </p:pic>
      <p:sp>
        <p:nvSpPr>
          <p:cNvPr id="58" name="Text 44"/>
          <p:cNvSpPr txBox="1"/>
          <p:nvPr/>
        </p:nvSpPr>
        <p:spPr>
          <a:xfrm>
            <a:off x="1067333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ツール・MCP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Airtableに書込</a:t>
            </a:r>
            <a:endParaRPr lang="en-US" sz="750" dirty="0"/>
          </a:p>
        </p:txBody>
      </p:sp>
      <p:sp>
        <p:nvSpPr>
          <p:cNvPr id="59" name="Text 45"/>
          <p:cNvSpPr txBox="1"/>
          <p:nvPr/>
        </p:nvSpPr>
        <p:spPr>
          <a:xfrm>
            <a:off x="8156448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Airtableのスクリプトからトリガー（Power AutomateのHTTP受信）を呼ぶ → Copilot Studioの自律エージェントがイベントトリガーで起動 → エージェントがツール（カスタムコネクタやMCP）でAirtableに書き戻す（「エージェントが主役」の使い方）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Studio（イベントトリガー、自律エージェント）、P9と同様のHTTPトリガーの設定、書き込み用のツール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処理の流れをエージェント側に寄せられる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書き戻しの確実さはエージェントの判断に依存し、フローで書き戻すより制御しにくい。自律実行の費用・監視の設計が必要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レベル4：Airtable側が起点（その他の起動方法）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Direct Line、Webhooks API、iPaaSを使う方法。いずれもP9より手間または前提条件が多い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AirtableのスクリプトからDirect Lineでエージェントを直接呼ぶ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レベル4：Airtable起点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スクリプト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467612" y="2459736"/>
            <a:ext cx="649224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988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819656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Direct Line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574036" y="2459736"/>
            <a:ext cx="649224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412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926080" y="26426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同期で更新</a:t>
            </a:r>
            <a:endParaRPr lang="en-US" sz="75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スクリプトでトークン取得 → 会話開始 → メッセージ送信 → 応答を取得（4段階）→ Airtableを更新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Studio（Direct Lineのシークレット）、Airtableのオートメーション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Automateを介さず、応答をその場で受け取れる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推論が30秒以内に終わらないとスクリプトが失敗する。シークレットの管理と、4段階の呼び出しの実装が必要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283964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22" name="Shape 17"/>
          <p:cNvSpPr/>
          <p:nvPr/>
        </p:nvSpPr>
        <p:spPr>
          <a:xfrm>
            <a:off x="4393692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4393692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P12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924044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AirtableのWebhooks APIで変更を通知する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924044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レベル4：Airtable起点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★★★★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393692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585" y="2304288"/>
            <a:ext cx="310896" cy="31089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44855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Webhook通知</a:t>
            </a:r>
            <a:endParaRPr lang="en-US" sz="750" dirty="0"/>
          </a:p>
        </p:txBody>
      </p:sp>
      <p:sp>
        <p:nvSpPr>
          <p:cNvPr id="29" name="Shape 23"/>
          <p:cNvSpPr/>
          <p:nvPr/>
        </p:nvSpPr>
        <p:spPr>
          <a:xfrm>
            <a:off x="506463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0403" y="2304288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27837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差分を取得</a:t>
            </a:r>
            <a:endParaRPr lang="en-US" sz="750" dirty="0"/>
          </a:p>
        </p:txBody>
      </p:sp>
      <p:sp>
        <p:nvSpPr>
          <p:cNvPr id="32" name="Shape 25"/>
          <p:cNvSpPr/>
          <p:nvPr/>
        </p:nvSpPr>
        <p:spPr>
          <a:xfrm>
            <a:off x="5894451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0221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108192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Execute Agent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6724269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0039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93801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750" dirty="0"/>
          </a:p>
        </p:txBody>
      </p:sp>
      <p:sp>
        <p:nvSpPr>
          <p:cNvPr id="38" name="Text 29"/>
          <p:cNvSpPr txBox="1"/>
          <p:nvPr/>
        </p:nvSpPr>
        <p:spPr>
          <a:xfrm>
            <a:off x="4421124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Airtableの変更 → Webhookの通知 → Power Automateが差分を取得 → エージェントを呼ぶ → 書き戻す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Webhooks APIの設定と定期的な更新、Power Automate Premium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オートメーションを使わずに変更を検知できる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通知には変更の中身がなく、差分の取得が必要。Webhookは7日で失効するため更新の仕組みが必要。P9より手間が多い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8019288" y="1371600"/>
            <a:ext cx="3593592" cy="4983480"/>
          </a:xfrm>
          <a:prstGeom prst="roundRect">
            <a:avLst>
              <a:gd name="adj" fmla="val 1272"/>
            </a:avLst>
          </a:prstGeom>
          <a:solidFill>
            <a:srgbClr val="F3F5F8"/>
          </a:solidFill>
          <a:ln/>
        </p:spPr>
      </p:sp>
      <p:sp>
        <p:nvSpPr>
          <p:cNvPr id="40" name="Shape 31"/>
          <p:cNvSpPr/>
          <p:nvPr/>
        </p:nvSpPr>
        <p:spPr>
          <a:xfrm>
            <a:off x="8129016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812901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P13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659368" y="1426464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iPaaS（Make・Zapierなど）でAirtableの変更を検知する</a:t>
            </a:r>
            <a:endParaRPr lang="en-US" sz="1100" dirty="0"/>
          </a:p>
        </p:txBody>
      </p:sp>
      <p:sp>
        <p:nvSpPr>
          <p:cNvPr id="43" name="Text 34"/>
          <p:cNvSpPr txBox="1"/>
          <p:nvPr/>
        </p:nvSpPr>
        <p:spPr>
          <a:xfrm>
            <a:off x="8659368" y="193852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外部サービス経由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8129016" y="2231136"/>
            <a:ext cx="3374136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5909" y="2304288"/>
            <a:ext cx="310896" cy="310896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183880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作成・更新</a:t>
            </a:r>
            <a:endParaRPr lang="en-US" sz="750" dirty="0"/>
          </a:p>
        </p:txBody>
      </p:sp>
      <p:sp>
        <p:nvSpPr>
          <p:cNvPr id="47" name="Shape 37"/>
          <p:cNvSpPr/>
          <p:nvPr/>
        </p:nvSpPr>
        <p:spPr>
          <a:xfrm>
            <a:off x="8799957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5727" y="2304288"/>
            <a:ext cx="310896" cy="31089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013698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iPaaS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Make・Zapier</a:t>
            </a:r>
            <a:endParaRPr lang="en-US" sz="750" dirty="0"/>
          </a:p>
        </p:txBody>
      </p:sp>
      <p:sp>
        <p:nvSpPr>
          <p:cNvPr id="50" name="Shape 39"/>
          <p:cNvSpPr/>
          <p:nvPr/>
        </p:nvSpPr>
        <p:spPr>
          <a:xfrm>
            <a:off x="9629775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5545" y="2304288"/>
            <a:ext cx="310896" cy="31089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9843516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LLM API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またはPA経由</a:t>
            </a:r>
            <a:endParaRPr lang="en-US" sz="750" dirty="0"/>
          </a:p>
        </p:txBody>
      </p:sp>
      <p:sp>
        <p:nvSpPr>
          <p:cNvPr id="53" name="Shape 41"/>
          <p:cNvSpPr/>
          <p:nvPr/>
        </p:nvSpPr>
        <p:spPr>
          <a:xfrm>
            <a:off x="10459593" y="2459736"/>
            <a:ext cx="37261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05363" y="2304288"/>
            <a:ext cx="310896" cy="310896"/>
          </a:xfrm>
          <a:prstGeom prst="rect">
            <a:avLst/>
          </a:prstGeom>
        </p:spPr>
      </p:pic>
      <p:sp>
        <p:nvSpPr>
          <p:cNvPr id="55" name="Text 42"/>
          <p:cNvSpPr txBox="1"/>
          <p:nvPr/>
        </p:nvSpPr>
        <p:spPr>
          <a:xfrm>
            <a:off x="10673334" y="2642616"/>
            <a:ext cx="774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下書きに書込</a:t>
            </a:r>
            <a:endParaRPr lang="en-US" sz="750" dirty="0"/>
          </a:p>
        </p:txBody>
      </p:sp>
      <p:sp>
        <p:nvSpPr>
          <p:cNvPr id="56" name="Text 43"/>
          <p:cNvSpPr txBox="1"/>
          <p:nvPr/>
        </p:nvSpPr>
        <p:spPr>
          <a:xfrm>
            <a:off x="8156448" y="3200400"/>
            <a:ext cx="3319272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iPaaSがAirtableの作成・更新を標準機能で検知 → LLMのAPI、またはPower Automateを経由してエージェントを呼ぶ → Airtableに書き戻す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iPaaSの契約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Airtableの変更検知と書き戻しが標準機能で組める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新たな外部SaaSの契約・情報セキュリティの審査が必要。Copilot Studioのエージェントを直接呼ぶ標準の手段は限られ、Power Automateを経由するなどの工夫が必要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レベル5：修正ループ付き（1/2）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自動で書き込まれた下書きに対して、修正指示を受け付けて再推論する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4983480"/>
          </a:xfrm>
          <a:prstGeom prst="roundRect">
            <a:avLst>
              <a:gd name="adj" fmla="val 917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Airtable上の「修正指示」欄と再実行ボタンで再推論する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5221224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修正指示を入力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431036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260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46504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再実行ボタン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464308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532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779776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P7／P9を流用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3497580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804" y="230428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813048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再推論</a:t>
            </a:r>
            <a:endParaRPr lang="en-US" sz="750" dirty="0"/>
          </a:p>
        </p:txBody>
      </p:sp>
      <p:sp>
        <p:nvSpPr>
          <p:cNvPr id="23" name="Shape 17"/>
          <p:cNvSpPr/>
          <p:nvPr/>
        </p:nvSpPr>
        <p:spPr>
          <a:xfrm>
            <a:off x="4530852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0076" y="230428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846320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下書きを上書き</a:t>
            </a:r>
            <a:endParaRPr lang="en-US" sz="750" dirty="0"/>
          </a:p>
        </p:txBody>
      </p:sp>
      <p:sp>
        <p:nvSpPr>
          <p:cNvPr id="26" name="Text 19"/>
          <p:cNvSpPr txBox="1"/>
          <p:nvPr/>
        </p:nvSpPr>
        <p:spPr>
          <a:xfrm>
            <a:off x="685800" y="3200400"/>
            <a:ext cx="5166360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自動で書き込まれた下書きを確認 → 修正指示を「修正指示」欄に入力し、再実行ボタンを押す → 前回の下書き＋修正指示をエージェントに送って再推論 → 上書き（P7またはP9の仕組みを流用）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P7またはP9の一式、Airtableの欄（下書き、修正指示、やり取りの履歴）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Airtableの画面だけで、起案 → 修正 → 確定まで完結する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Airtableの画面はチャットには向かないため、複数回のやり取りは扱いにくい。やり取りの履歴を欄に保存して毎回送る設計が必要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172200" y="1371600"/>
            <a:ext cx="5440680" cy="4983480"/>
          </a:xfrm>
          <a:prstGeom prst="roundRect">
            <a:avLst>
              <a:gd name="adj" fmla="val 917"/>
            </a:avLst>
          </a:prstGeom>
          <a:solidFill>
            <a:srgbClr val="F3F5F8"/>
          </a:solidFill>
          <a:ln/>
        </p:spPr>
      </p:sp>
      <p:sp>
        <p:nvSpPr>
          <p:cNvPr id="28" name="Shape 21"/>
          <p:cNvSpPr/>
          <p:nvPr/>
        </p:nvSpPr>
        <p:spPr>
          <a:xfrm>
            <a:off x="628192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28192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P15</a:t>
            </a:r>
            <a:endParaRPr lang="en-US" sz="1100" dirty="0"/>
          </a:p>
        </p:txBody>
      </p:sp>
      <p:sp>
        <p:nvSpPr>
          <p:cNvPr id="30" name="Text 23"/>
          <p:cNvSpPr txBox="1"/>
          <p:nvPr/>
        </p:nvSpPr>
        <p:spPr>
          <a:xfrm>
            <a:off x="6812280" y="142646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Teamsで下書きを確認し、修正指示を出す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6812280" y="193852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★★★★</a:t>
            </a:r>
            <a:endParaRPr lang="en-US" sz="850" dirty="0"/>
          </a:p>
        </p:txBody>
      </p:sp>
      <p:sp>
        <p:nvSpPr>
          <p:cNvPr id="32" name="Shape 25"/>
          <p:cNvSpPr/>
          <p:nvPr/>
        </p:nvSpPr>
        <p:spPr>
          <a:xfrm>
            <a:off x="6281928" y="2231136"/>
            <a:ext cx="5221224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548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336792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Teams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アダプティブカード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7054596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03820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370064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担当者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承認／修正指示</a:t>
            </a:r>
            <a:endParaRPr lang="en-US" sz="750" dirty="0"/>
          </a:p>
        </p:txBody>
      </p:sp>
      <p:sp>
        <p:nvSpPr>
          <p:cNvPr id="38" name="Shape 29"/>
          <p:cNvSpPr/>
          <p:nvPr/>
        </p:nvSpPr>
        <p:spPr>
          <a:xfrm>
            <a:off x="8087868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37092" y="2304288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403336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受付</a:t>
            </a:r>
            <a:endParaRPr lang="en-US" sz="750" dirty="0"/>
          </a:p>
        </p:txBody>
      </p:sp>
      <p:sp>
        <p:nvSpPr>
          <p:cNvPr id="41" name="Shape 31"/>
          <p:cNvSpPr/>
          <p:nvPr/>
        </p:nvSpPr>
        <p:spPr>
          <a:xfrm>
            <a:off x="9121140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70364" y="2304288"/>
            <a:ext cx="310896" cy="31089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436608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再推論</a:t>
            </a:r>
            <a:endParaRPr lang="en-US" sz="750" dirty="0"/>
          </a:p>
        </p:txBody>
      </p:sp>
      <p:sp>
        <p:nvSpPr>
          <p:cNvPr id="44" name="Shape 33"/>
          <p:cNvSpPr/>
          <p:nvPr/>
        </p:nvSpPr>
        <p:spPr>
          <a:xfrm>
            <a:off x="10154412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3636" y="2304288"/>
            <a:ext cx="310896" cy="310896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10469880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承認時に書込</a:t>
            </a:r>
            <a:endParaRPr lang="en-US" sz="750" dirty="0"/>
          </a:p>
        </p:txBody>
      </p:sp>
      <p:sp>
        <p:nvSpPr>
          <p:cNvPr id="47" name="Text 35"/>
          <p:cNvSpPr txBox="1"/>
          <p:nvPr/>
        </p:nvSpPr>
        <p:spPr>
          <a:xfrm>
            <a:off x="6309360" y="3200400"/>
            <a:ext cx="5166360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下書きをTeamsのアダプティブカードで通知 → 「承認」または「修正指示」を入力 → 再推論 → 承認時にAirtableへ書き込む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P8の一式、アダプティブカードの設計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普段使っているTeamsの中で確認・修正ができる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カード上の入力は簡単な指示に向く。商品の入れ替えなど複雑な操作は扱いにくい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レベル5：修正ループ付き（2/2）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修正用の画面を作り込む方法。Airtableの外に専用画面を持つか、Airtableの画面内に組み込むか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パターン別の詳細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4983480"/>
          </a:xfrm>
          <a:prstGeom prst="roundRect">
            <a:avLst>
              <a:gd name="adj" fmla="val 917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42646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専用画面（code apps）で対話しながら修正し、確定時にAirtableへ書き込む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3852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★★★★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231136"/>
            <a:ext cx="5221224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30428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13232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code apps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配信カードを開く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1431036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260" y="2304288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46504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推奨・修正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2464308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532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779776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マーケター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入替・チャット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3497580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804" y="230428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813048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カスタムコネクタ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確定時に書込</a:t>
            </a:r>
            <a:endParaRPr lang="en-US" sz="750" dirty="0"/>
          </a:p>
        </p:txBody>
      </p:sp>
      <p:sp>
        <p:nvSpPr>
          <p:cNvPr id="23" name="Shape 17"/>
          <p:cNvSpPr/>
          <p:nvPr/>
        </p:nvSpPr>
        <p:spPr>
          <a:xfrm>
            <a:off x="4530852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0076" y="230428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846320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カード更新</a:t>
            </a:r>
            <a:endParaRPr lang="en-US" sz="750" dirty="0"/>
          </a:p>
        </p:txBody>
      </p:sp>
      <p:sp>
        <p:nvSpPr>
          <p:cNvPr id="26" name="Text 19"/>
          <p:cNvSpPr txBox="1"/>
          <p:nvPr/>
        </p:nvSpPr>
        <p:spPr>
          <a:xfrm>
            <a:off x="685800" y="3200400"/>
            <a:ext cx="5166360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code appで配信カードを開く → エージェントの推奨を確認 → ドラッグで入れ替え、チャットで修正 → 確定時にAirtableのREST APIで書き込む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Apps code apps（利用者全員にPower Apps Premium）、Copilot Studio、Airtable用のカスタムコネクタ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候補の入れ替え・プレビュー・チャットなど、柔軟な操作ができる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開発・保守の負担が最も大きい。Airtableを使い続けたまま画面だけを別に持つ構成になる（データもDataverseに移す案は、別資料「構成の選択肢」のA7を参照）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172200" y="1371600"/>
            <a:ext cx="5440680" cy="4983480"/>
          </a:xfrm>
          <a:prstGeom prst="roundRect">
            <a:avLst>
              <a:gd name="adj" fmla="val 917"/>
            </a:avLst>
          </a:prstGeom>
          <a:solidFill>
            <a:srgbClr val="F3F5F8"/>
          </a:solidFill>
          <a:ln/>
        </p:spPr>
      </p:sp>
      <p:sp>
        <p:nvSpPr>
          <p:cNvPr id="28" name="Shape 21"/>
          <p:cNvSpPr/>
          <p:nvPr/>
        </p:nvSpPr>
        <p:spPr>
          <a:xfrm>
            <a:off x="6281928" y="1481328"/>
            <a:ext cx="457200" cy="457200"/>
          </a:xfrm>
          <a:prstGeom prst="ellipse">
            <a:avLst/>
          </a:prstGeom>
          <a:solidFill>
            <a:srgbClr val="0E9F9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28192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P17</a:t>
            </a:r>
            <a:endParaRPr lang="en-US" sz="1100" dirty="0"/>
          </a:p>
        </p:txBody>
      </p:sp>
      <p:sp>
        <p:nvSpPr>
          <p:cNvPr id="30" name="Text 23"/>
          <p:cNvSpPr txBox="1"/>
          <p:nvPr/>
        </p:nvSpPr>
        <p:spPr>
          <a:xfrm>
            <a:off x="6812280" y="142646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Airtableの画面内に、拡張機能で修正用のパネルを組み込む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6812280" y="1938528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レベル5：修正ループ　難易度 </a:t>
            </a:r>
            <a:pPr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★★★★</a:t>
            </a:r>
            <a:endParaRPr lang="en-US" sz="850" dirty="0"/>
          </a:p>
        </p:txBody>
      </p:sp>
      <p:sp>
        <p:nvSpPr>
          <p:cNvPr id="32" name="Shape 25"/>
          <p:cNvSpPr/>
          <p:nvPr/>
        </p:nvSpPr>
        <p:spPr>
          <a:xfrm>
            <a:off x="6281928" y="2231136"/>
            <a:ext cx="5221224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548" y="230428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336792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インターフェース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7054596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03820" y="230428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370064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拡張機能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修正パネル</a:t>
            </a:r>
            <a:endParaRPr lang="en-US" sz="750" dirty="0"/>
          </a:p>
        </p:txBody>
      </p:sp>
      <p:sp>
        <p:nvSpPr>
          <p:cNvPr id="38" name="Shape 29"/>
          <p:cNvSpPr/>
          <p:nvPr/>
        </p:nvSpPr>
        <p:spPr>
          <a:xfrm>
            <a:off x="8087868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37092" y="2304288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403336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HTTPトリガー</a:t>
            </a:r>
            <a:endParaRPr lang="en-US" sz="750" dirty="0"/>
          </a:p>
        </p:txBody>
      </p:sp>
      <p:sp>
        <p:nvSpPr>
          <p:cNvPr id="41" name="Shape 31"/>
          <p:cNvSpPr/>
          <p:nvPr/>
        </p:nvSpPr>
        <p:spPr>
          <a:xfrm>
            <a:off x="9121140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70364" y="2304288"/>
            <a:ext cx="310896" cy="31089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436608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再推論</a:t>
            </a:r>
            <a:endParaRPr lang="en-US" sz="750" dirty="0"/>
          </a:p>
        </p:txBody>
      </p:sp>
      <p:sp>
        <p:nvSpPr>
          <p:cNvPr id="44" name="Shape 33"/>
          <p:cNvSpPr/>
          <p:nvPr/>
        </p:nvSpPr>
        <p:spPr>
          <a:xfrm>
            <a:off x="10154412" y="2459736"/>
            <a:ext cx="576072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3636" y="2304288"/>
            <a:ext cx="310896" cy="310896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10469880" y="2642616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確定欄に反映</a:t>
            </a:r>
            <a:endParaRPr lang="en-US" sz="750" dirty="0"/>
          </a:p>
        </p:txBody>
      </p:sp>
      <p:sp>
        <p:nvSpPr>
          <p:cNvPr id="47" name="Text 35"/>
          <p:cNvSpPr txBox="1"/>
          <p:nvPr/>
        </p:nvSpPr>
        <p:spPr>
          <a:xfrm>
            <a:off x="6309360" y="3200400"/>
            <a:ext cx="5166360" cy="3081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流れ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Airtableのインターフェースでカードを開く → 同じ画面内の拡張機能（React）で、修正したい項目を選び、指示を入力 → 拡張機能がPower Automate経由でエージェントを呼ぶ → 返ってきた下書きをパネル上で確認 → 必要に応じて再指示 → 確定ボタンで確定欄に反映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AirtableのInterface Extensions SDK（2026年9月時点ではオープンベータ）、Power Automate Premium、Copilot Studio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Airtableの画面から離れずに、対話的に修正できる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制約・留意点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SDKがベータ版であること。拡張機能から社内のPower Automateを呼ぶため、P9と同じくHTTPトリガーの公開範囲と認証の論点がある。ブラウザから外部を呼ぶ際の制約（CORSなど）の検証が必要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修正指示のUI（Airtableを作業の起点にする場合）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Airtableで修正箇所を選ぶ → その画面上か、遷移した画面で指示 → 確認・再指示 → 確定してAirtableに戻る、を実現する方法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 修正指示のUI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566160"/>
                <a:gridCol w="1463040"/>
                <a:gridCol w="1600200"/>
                <a:gridCol w="640080"/>
                <a:gridCol w="237744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#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方法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画面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対話のしやすさ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実装量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主な制約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パターン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U1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Airtableのインターフェースで完結：カード詳細に「修正指示」欄と「再生成」ボタン（ボタンからオートメーションを実行）を置く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Airtable（同じ画面）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低い（1往復ずつ。結果は数十秒後に反映）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小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チャットのような連続したやり取りには向かない。反映まで待つ必要がある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P9＋P14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U2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Airtableの画面内に拡張機能で修正パネルを組み込む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Airtable（同じ画面）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SDKがベータ版。HTTPトリガーの公開範囲と認証の論点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P17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U3a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Airtableのボタンから、エージェントのチャット画面を別タブで開く → チャットで修正・確認 → 確定の指示でエージェントがフローを呼び、Airtableに書き込む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エージェントのチャット画面（別タブ）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中〜高（文字のやり取りのみ）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カードIDの自動受け渡しは公開先によるため要検証。候補の一覧表示やドラッグでの入れ替えはできない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P5・P6の応用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U3b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Airtableのボタンから、カードIDつきで専用画面（code appsなど）を別タブで開く → チャット・候補の入れ替え・プレビューで修正・確認 → 確定ボタンでAirtableに書き込む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専用画面（別タブ）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高い（チャット、候補の入れ替え、プレビューも可能）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画面が2つになる。専用画面の開発・保守が必要。code appsの場合は利用者全員にPower Apps Premium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P16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U4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F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Teamsで確認・修正指示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Teams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中（簡単な指示向き）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作業の起点（Airtable）から離れる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P15</a:t>
                      </a:r>
                      <a:endParaRPr lang="en-US" sz="9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U3の2つの作り方：チャット画面をそのまま使うか、専用画面を作るか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どちらもAirtableのボタンは外部URLを開くだけ。書き込みはフローやコネクタ経由で行う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 修正指示のUI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4983480"/>
          </a:xfrm>
          <a:prstGeom prst="roundRect">
            <a:avLst>
              <a:gd name="adj" fmla="val 1101"/>
            </a:avLst>
          </a:prstGeom>
          <a:solidFill>
            <a:srgbClr val="D9F2F1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481328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73152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U3a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エージェントのチャット画面をそのまま使う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192024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75104"/>
            <a:ext cx="237744" cy="23774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152144" y="192024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Airtable：カードの「AIで修正」ボタン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941832" y="226771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31520" y="233172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86584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52144" y="233172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別タブでエージェントのチャット画面を開く（カードIDを渡す）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1832" y="267919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731520" y="274320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98064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52144" y="274320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エージェントがカードと下書きを読み込む（フローまたは公式MCP）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941832" y="309067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731520" y="315468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209544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152144" y="315468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チャットで修正指示 → 結果を確認 → 再指示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941832" y="350215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1520" y="356616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621024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152144" y="356616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利用者が「確定」と明示 → エージェントが書込用フローを呼ぶ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941832" y="391363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3"/>
          <p:cNvSpPr/>
          <p:nvPr/>
        </p:nvSpPr>
        <p:spPr>
          <a:xfrm>
            <a:off x="731520" y="397764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032504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152144" y="397764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Airtableのタブに戻る（ほぼリアルタイムで更新される）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731520" y="4462272"/>
            <a:ext cx="5074920" cy="1847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Studioのエージェント、読み込み・書き込み用のフロー（エージェントのツールとして登録）、Airtableのボタン（外部URLを開く）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画面の開発が不要。エージェントとフローだけで組める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留意点</a:t>
            </a:r>
            <a:endParaRPr lang="en-US" sz="88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・カードIDの渡し方：チャット画面をURLで開いたときに自動で伝えられるかは公開先（Teams、Webなど）により異なるため要検証</a:t>
            </a:r>
            <a:endParaRPr lang="en-US" sz="88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・扱えるのは文字のやり取りだけ（一覧表示・入れ替え・プレビューは不可）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・「確定を明示したときだけフローを呼ぶ」ことを指示とフローの両方で制御する</a:t>
            </a:r>
            <a:endParaRPr lang="en-US" sz="880" dirty="0"/>
          </a:p>
        </p:txBody>
      </p:sp>
      <p:sp>
        <p:nvSpPr>
          <p:cNvPr id="34" name="Shape 26"/>
          <p:cNvSpPr/>
          <p:nvPr/>
        </p:nvSpPr>
        <p:spPr>
          <a:xfrm>
            <a:off x="6172200" y="1371600"/>
            <a:ext cx="5440680" cy="4983480"/>
          </a:xfrm>
          <a:prstGeom prst="roundRect">
            <a:avLst>
              <a:gd name="adj" fmla="val 1101"/>
            </a:avLst>
          </a:prstGeom>
          <a:solidFill>
            <a:srgbClr val="EEEAF8"/>
          </a:solidFill>
          <a:ln/>
        </p:spPr>
      </p:sp>
      <p:sp>
        <p:nvSpPr>
          <p:cNvPr id="35" name="Shape 27"/>
          <p:cNvSpPr/>
          <p:nvPr/>
        </p:nvSpPr>
        <p:spPr>
          <a:xfrm>
            <a:off x="6355080" y="1481328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6355080" y="1481328"/>
            <a:ext cx="73152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U3b</a:t>
            </a:r>
            <a:endParaRPr lang="en-US" sz="1050" dirty="0"/>
          </a:p>
        </p:txBody>
      </p:sp>
      <p:sp>
        <p:nvSpPr>
          <p:cNvPr id="37" name="Text 29"/>
          <p:cNvSpPr txBox="1"/>
          <p:nvPr/>
        </p:nvSpPr>
        <p:spPr>
          <a:xfrm>
            <a:off x="7196328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専用画面（code appsなど）を作る</a:t>
            </a:r>
            <a:endParaRPr lang="en-US" sz="1250" dirty="0"/>
          </a:p>
        </p:txBody>
      </p:sp>
      <p:sp>
        <p:nvSpPr>
          <p:cNvPr id="38" name="Shape 30"/>
          <p:cNvSpPr/>
          <p:nvPr/>
        </p:nvSpPr>
        <p:spPr>
          <a:xfrm>
            <a:off x="6355080" y="192024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1975104"/>
            <a:ext cx="237744" cy="237744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6775704" y="192024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Airtable：カードの「AIで修正」ボタン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6565392" y="226771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2" name="Shape 33"/>
          <p:cNvSpPr/>
          <p:nvPr/>
        </p:nvSpPr>
        <p:spPr>
          <a:xfrm>
            <a:off x="6355080" y="233172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2386584"/>
            <a:ext cx="237744" cy="23774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6775704" y="233172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別タブで専用画面を開く（URLにカードIDを付ける）</a:t>
            </a:r>
            <a:endParaRPr lang="en-US" sz="900" dirty="0"/>
          </a:p>
        </p:txBody>
      </p:sp>
      <p:sp>
        <p:nvSpPr>
          <p:cNvPr id="45" name="Shape 35"/>
          <p:cNvSpPr/>
          <p:nvPr/>
        </p:nvSpPr>
        <p:spPr>
          <a:xfrm>
            <a:off x="6565392" y="267919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6355080" y="274320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2798064"/>
            <a:ext cx="237744" cy="237744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6775704" y="274320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画面がカードを読み込み、エージェントに起案・修正を依頼</a:t>
            </a:r>
            <a:endParaRPr lang="en-US" sz="900" dirty="0"/>
          </a:p>
        </p:txBody>
      </p:sp>
      <p:sp>
        <p:nvSpPr>
          <p:cNvPr id="49" name="Shape 38"/>
          <p:cNvSpPr/>
          <p:nvPr/>
        </p:nvSpPr>
        <p:spPr>
          <a:xfrm>
            <a:off x="6565392" y="309067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39"/>
          <p:cNvSpPr/>
          <p:nvPr/>
        </p:nvSpPr>
        <p:spPr>
          <a:xfrm>
            <a:off x="6355080" y="315468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6520" y="3209544"/>
            <a:ext cx="237744" cy="237744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6775704" y="315468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チャット、候補の入れ替え、プレビューで確認 → 「確定」ボタン</a:t>
            </a:r>
            <a:endParaRPr lang="en-US" sz="900" dirty="0"/>
          </a:p>
        </p:txBody>
      </p:sp>
      <p:sp>
        <p:nvSpPr>
          <p:cNvPr id="53" name="Shape 41"/>
          <p:cNvSpPr/>
          <p:nvPr/>
        </p:nvSpPr>
        <p:spPr>
          <a:xfrm>
            <a:off x="6565392" y="350215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4" name="Shape 42"/>
          <p:cNvSpPr/>
          <p:nvPr/>
        </p:nvSpPr>
        <p:spPr>
          <a:xfrm>
            <a:off x="6355080" y="356616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5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6520" y="3621024"/>
            <a:ext cx="237744" cy="237744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6775704" y="356616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Airtableに書き込む（フロー経由、またはコネクタから直接）</a:t>
            </a:r>
            <a:endParaRPr lang="en-US" sz="900" dirty="0"/>
          </a:p>
        </p:txBody>
      </p:sp>
      <p:sp>
        <p:nvSpPr>
          <p:cNvPr id="57" name="Shape 44"/>
          <p:cNvSpPr/>
          <p:nvPr/>
        </p:nvSpPr>
        <p:spPr>
          <a:xfrm>
            <a:off x="6565392" y="3913632"/>
            <a:ext cx="0" cy="64008"/>
          </a:xfrm>
          <a:prstGeom prst="line">
            <a:avLst/>
          </a:prstGeom>
          <a:noFill/>
          <a:ln w="127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45"/>
          <p:cNvSpPr/>
          <p:nvPr/>
        </p:nvSpPr>
        <p:spPr>
          <a:xfrm>
            <a:off x="6355080" y="3977640"/>
            <a:ext cx="50749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pic>
        <p:nvPicPr>
          <p:cNvPr id="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46520" y="4032504"/>
            <a:ext cx="237744" cy="237744"/>
          </a:xfrm>
          <a:prstGeom prst="rect">
            <a:avLst/>
          </a:prstGeom>
        </p:spPr>
      </p:pic>
      <p:sp>
        <p:nvSpPr>
          <p:cNvPr id="60" name="Text 46"/>
          <p:cNvSpPr txBox="1"/>
          <p:nvPr/>
        </p:nvSpPr>
        <p:spPr>
          <a:xfrm>
            <a:off x="6775704" y="3977640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「Airtableに戻る」リンクで元のカードへ</a:t>
            </a:r>
            <a:endParaRPr lang="en-US" sz="900" dirty="0"/>
          </a:p>
        </p:txBody>
      </p:sp>
      <p:sp>
        <p:nvSpPr>
          <p:cNvPr id="61" name="Text 47"/>
          <p:cNvSpPr txBox="1"/>
          <p:nvPr/>
        </p:nvSpPr>
        <p:spPr>
          <a:xfrm>
            <a:off x="6355080" y="4462272"/>
            <a:ext cx="5074920" cy="1847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必要なもの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専用画面（code appsの場合は利用者全員にPower Apps Premium）、Copilot Studioのエージェント、Airtable用のカスタムコネクタまたは書き込み用のフロー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長所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カードIDを確実に受け渡せる。項目の選択、候補の入れ替え、プレビューなど画面を自由に作れる。確定はボタン操作なので、エージェントが勝手に書き込む余地がない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留意点</a:t>
            </a:r>
            <a:endParaRPr lang="en-US" sz="88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画面の開発・保守が必要</a:t>
            </a:r>
            <a:endParaRPr lang="en-US" sz="8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U3の書き込み先の選択肢と、設計で考えておくこと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Automateで書き込むと、PATをフローの接続に一元管理でき、形式チェックや確定者・日時の記録もまとめて行える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 修正指示のUI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書き込み先の選択肢（前提「確定は人が行う」との関係）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選択肢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長所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留意点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確定欄に直接書き込む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別タブで利用者が「確定」を明示した時点で、確定欄に書き込む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手間が少ない。Airtableに戻った時点で完了している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確定の操作が別タブ側になる。Airtable側では確定の記録（誰が・いつ）を別に残す必要がある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下書き欄に書き込み、Airtableで最終確定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別タブでは下書きを仕上げるまでとし、Airtableに戻ってから確定ボタンを押す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確定の操作がAirtableに一本化される。確定前にAirtable上で最終確認できる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操作が1回増える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456432"/>
            <a:ext cx="73152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設計で考えておくこと（U1〜U4共通）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3840480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393192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005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0" y="3931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修正対象の単位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4343400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項目を選んで、その項目だけを再生成する。他の項目との整合（商品を変えたらコピーも見直すか）の扱いを決めておく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0248" y="3840480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15" name="Shape 11"/>
          <p:cNvSpPr/>
          <p:nvPr/>
        </p:nvSpPr>
        <p:spPr>
          <a:xfrm>
            <a:off x="4379976" y="393192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40050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18888" y="3931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やり取りの履歴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407408" y="4343400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修正の経緯を保存し、再指示のたびに「前回の下書き＋指示＋履歴」をエージェントに渡す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7991856" y="3840480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20" name="Shape 15"/>
          <p:cNvSpPr/>
          <p:nvPr/>
        </p:nvSpPr>
        <p:spPr>
          <a:xfrm>
            <a:off x="8101584" y="393192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4005072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540496" y="3931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待ち時間の見せ方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8129016" y="4343400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ステータス（起案中・修正依頼中）を表示し、反映されたことが分かるようにする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548640" y="5102352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25" name="Shape 19"/>
          <p:cNvSpPr/>
          <p:nvPr/>
        </p:nvSpPr>
        <p:spPr>
          <a:xfrm>
            <a:off x="658368" y="5193792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266944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97280" y="51937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確定操作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685800" y="5605272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確定は人のボタン操作のみで行い、確定した人と日時を記録する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4270248" y="5102352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30" name="Shape 23"/>
          <p:cNvSpPr/>
          <p:nvPr/>
        </p:nvSpPr>
        <p:spPr>
          <a:xfrm>
            <a:off x="4379976" y="5193792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5266944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818888" y="51937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同時編集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407408" y="5605272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同じカードを複数人が同時に修正しないようにする（ステータスでのロックなど）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7991856" y="5102352"/>
            <a:ext cx="3611880" cy="1170432"/>
          </a:xfrm>
          <a:prstGeom prst="roundRect">
            <a:avLst>
              <a:gd name="adj" fmla="val 3906"/>
            </a:avLst>
          </a:prstGeom>
          <a:solidFill>
            <a:srgbClr val="F3F5F8"/>
          </a:solidFill>
          <a:ln/>
        </p:spPr>
      </p:sp>
      <p:sp>
        <p:nvSpPr>
          <p:cNvPr id="35" name="Shape 27"/>
          <p:cNvSpPr/>
          <p:nvPr/>
        </p:nvSpPr>
        <p:spPr>
          <a:xfrm>
            <a:off x="8101584" y="5193792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4736" y="5266944"/>
            <a:ext cx="219456" cy="21945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540496" y="51937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認証の置き場所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8129016" y="5605272"/>
            <a:ext cx="3337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U1・U2はAirtable側から社内M365を呼ぶため受け口の設定が必要。U3a・U3bは利用者の権限でエージェントを呼び、書き込みはフロー・コネクタ経由のため受け口の公開が不要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組み合わせ・段階的な進め方の例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パターンは組み合わせて段階的に進めることもできる（例であり、推奨ではない）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5. 組み合わせの例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45336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545336"/>
            <a:ext cx="64008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417320"/>
            <a:ext cx="21031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M365起点で進める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20440" y="1536192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1536192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16552" y="1700784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45152" y="1536192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45152" y="1536192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P5／P6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541264" y="1700784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769864" y="1536192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69864" y="1536192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65976" y="1700784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894576" y="1536192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94576" y="1536192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1417320"/>
            <a:ext cx="33832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受け口を公開せずに、手動から自動へ広げる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2075688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2203704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368" y="2203704"/>
            <a:ext cx="64008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2075688"/>
            <a:ext cx="21031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Airtable起点で進める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20440" y="2194560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20440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16552" y="2359152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645152" y="2194560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45152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P9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541264" y="2359152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769864" y="2194560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769864" y="2194560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P14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8138160" y="2075688"/>
            <a:ext cx="33832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Airtableの操作を起点に、即時性を重視する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2734056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3F5F8"/>
          </a:solidFill>
          <a:ln/>
        </p:spPr>
      </p:sp>
      <p:sp>
        <p:nvSpPr>
          <p:cNvPr id="36" name="Shape 34"/>
          <p:cNvSpPr/>
          <p:nvPr/>
        </p:nvSpPr>
        <p:spPr>
          <a:xfrm>
            <a:off x="658368" y="2862072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58368" y="2862072"/>
            <a:ext cx="64008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例3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371600" y="2734056"/>
            <a:ext cx="21031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確認を重視する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520440" y="2852928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520440" y="2852928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416552" y="3017520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4645152" y="2852928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645152" y="2852928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541264" y="3017520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769864" y="2852928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769864" y="2852928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P8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665976" y="3017520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94576" y="2852928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894576" y="2852928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P15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138160" y="2734056"/>
            <a:ext cx="33832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人の確認・承認を必ず挟み、Teamsで完結させる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3392424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58368" y="352044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8368" y="3520440"/>
            <a:ext cx="64008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例4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1371600" y="3392424"/>
            <a:ext cx="21031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画面を作り込む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520440" y="3511296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520440" y="3511296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416552" y="3675888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645152" y="3511296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645152" y="3511296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P5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541264" y="3675888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5769864" y="3511296"/>
            <a:ext cx="86868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769864" y="3511296"/>
            <a:ext cx="868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P16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8138160" y="3392424"/>
            <a:ext cx="33832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修正のやり取りを専用画面で行う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548640" y="4050792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F3F5F8"/>
          </a:solidFill>
          <a:ln/>
        </p:spPr>
      </p:sp>
      <p:sp>
        <p:nvSpPr>
          <p:cNvPr id="65" name="Shape 63"/>
          <p:cNvSpPr/>
          <p:nvPr/>
        </p:nvSpPr>
        <p:spPr>
          <a:xfrm>
            <a:off x="658368" y="4178808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1B2A49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58368" y="4178808"/>
            <a:ext cx="640080" cy="3108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例5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1371600" y="4050792"/>
            <a:ext cx="21031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Airtable起点で別タブに移る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520440" y="4169664"/>
            <a:ext cx="141732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0440" y="4169664"/>
            <a:ext cx="141732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P7／P9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965192" y="4334256"/>
            <a:ext cx="201168" cy="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193792" y="4169664"/>
            <a:ext cx="1417320" cy="329184"/>
          </a:xfrm>
          <a:prstGeom prst="roundRect">
            <a:avLst>
              <a:gd name="adj" fmla="val 13889"/>
            </a:avLst>
          </a:prstGeom>
          <a:solidFill>
            <a:srgbClr val="0E9F9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193792" y="4169664"/>
            <a:ext cx="141732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U1＋U3a／U3b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8138160" y="4050792"/>
            <a:ext cx="338328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自動起案の後、軽い修正はU1、込み入った修正はU3a／U3bと使い分け、作業の起点と確定の場所をAirtableにそろえる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48640" y="480060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D9F2F1"/>
          </a:solidFill>
          <a:ln/>
        </p:spPr>
      </p:sp>
      <p:sp>
        <p:nvSpPr>
          <p:cNvPr id="75" name="Shape 73"/>
          <p:cNvSpPr/>
          <p:nvPr/>
        </p:nvSpPr>
        <p:spPr>
          <a:xfrm>
            <a:off x="731520" y="493776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645" y="5021885"/>
            <a:ext cx="252374" cy="252374"/>
          </a:xfrm>
          <a:prstGeom prst="rect">
            <a:avLst/>
          </a:prstGeom>
        </p:spPr>
      </p:pic>
      <p:sp>
        <p:nvSpPr>
          <p:cNvPr id="77" name="Text 74"/>
          <p:cNvSpPr txBox="1"/>
          <p:nvPr/>
        </p:nvSpPr>
        <p:spPr>
          <a:xfrm>
            <a:off x="1261872" y="4937760"/>
            <a:ext cx="548640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共通して用意しておくとよいもの</a:t>
            </a:r>
            <a:endParaRPr lang="en-US" sz="1300" dirty="0"/>
          </a:p>
        </p:txBody>
      </p:sp>
      <p:pic>
        <p:nvPicPr>
          <p:cNvPr id="7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504688"/>
            <a:ext cx="292608" cy="292608"/>
          </a:xfrm>
          <a:prstGeom prst="rect">
            <a:avLst/>
          </a:prstGeom>
        </p:spPr>
      </p:pic>
      <p:sp>
        <p:nvSpPr>
          <p:cNvPr id="79" name="Text 75"/>
          <p:cNvSpPr txBox="1"/>
          <p:nvPr/>
        </p:nvSpPr>
        <p:spPr>
          <a:xfrm>
            <a:off x="1115568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Airtable側のステータス欄（起案待ち → 起案中 → 下書きあり → 確定）と、下書き用の欄（確定欄とは分ける）</a:t>
            </a:r>
            <a:endParaRPr lang="en-US" sz="1000" dirty="0"/>
          </a:p>
        </p:txBody>
      </p:sp>
      <p:pic>
        <p:nvPicPr>
          <p:cNvPr id="8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5504688"/>
            <a:ext cx="292608" cy="292608"/>
          </a:xfrm>
          <a:prstGeom prst="rect">
            <a:avLst/>
          </a:prstGeom>
        </p:spPr>
      </p:pic>
      <p:sp>
        <p:nvSpPr>
          <p:cNvPr id="81" name="Text 76"/>
          <p:cNvSpPr txBox="1"/>
          <p:nvPr/>
        </p:nvSpPr>
        <p:spPr>
          <a:xfrm>
            <a:off x="4773168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エージェントの出力形式の固定（JSONなど）と、書き込み前の形式チェック</a:t>
            </a:r>
            <a:endParaRPr lang="en-US" sz="1000" dirty="0"/>
          </a:p>
        </p:txBody>
      </p:sp>
      <p:pic>
        <p:nvPicPr>
          <p:cNvPr id="8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5504688"/>
            <a:ext cx="292608" cy="292608"/>
          </a:xfrm>
          <a:prstGeom prst="rect">
            <a:avLst/>
          </a:prstGeom>
        </p:spPr>
      </p:pic>
      <p:sp>
        <p:nvSpPr>
          <p:cNvPr id="83" name="Text 77"/>
          <p:cNvSpPr txBox="1"/>
          <p:nvPr/>
        </p:nvSpPr>
        <p:spPr>
          <a:xfrm>
            <a:off x="8430768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失敗時の通知と再実行の手順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確認が必要な事項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情シス・Airtable管理者・業務側のそれぞれに確認する。対象のパターンを括弧内に示す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6. 確認事項・参考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611880" cy="4892040"/>
          </a:xfrm>
          <a:prstGeom prst="roundRect">
            <a:avLst>
              <a:gd name="adj" fmla="val 1519"/>
            </a:avLst>
          </a:prstGeom>
          <a:solidFill>
            <a:srgbClr val="E5F0FA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情シス（M365・Power Platform）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194560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49808" y="21945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78992" y="21945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Power AutomateのHTTPトリガーの「Anyone」設定を使えるか（P9・P10）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85800" y="2999232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9808" y="299923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78992" y="29992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DLPポリシーで、HTTPトリガー・HTTPアクション・カスタムコネクタが許可されているか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85800" y="3803904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9808" y="3803904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078992" y="380390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Copilot Studioの利用（ライセンス・容量）と、MCPサーバーへの接続が許可されるか（P6）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85800" y="4608576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9808" y="460857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078992" y="460857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自律エージェント（イベントトリガー）の利用が許可されるか（P10）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85800" y="5413248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49808" y="5413248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78992" y="541324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iPaaSなど外部SaaSの利用が許可されるか（P13）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270248" y="1417320"/>
            <a:ext cx="3611880" cy="4892040"/>
          </a:xfrm>
          <a:prstGeom prst="roundRect">
            <a:avLst>
              <a:gd name="adj" fmla="val 1519"/>
            </a:avLst>
          </a:prstGeom>
          <a:solidFill>
            <a:srgbClr val="FFF4E0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7408" y="15544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645920"/>
            <a:ext cx="274320" cy="27432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4956048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Airtable管理者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4407408" y="2194560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471416" y="21945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4800600" y="21945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契約プラン（Sync APIはBusiness／Enterprise Scaleのみ。オートメーションの実行回数の上限）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4407408" y="2999232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4471416" y="299923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4800600" y="29992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PATの発行と管理方法（対象ベース・権限を絞れるか）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4407408" y="3803904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4471416" y="3803904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4800600" y="380390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公式MCPサーバーなど、外部連携の許可リストの設定（P6）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4407408" y="4608576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4471416" y="460857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800600" y="460857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Enterprise IDの有無（R2のM365 Copilot connectorを使う場合）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7991856" y="1417320"/>
            <a:ext cx="3611880" cy="4892040"/>
          </a:xfrm>
          <a:prstGeom prst="roundRect">
            <a:avLst>
              <a:gd name="adj" fmla="val 1519"/>
            </a:avLst>
          </a:prstGeom>
          <a:solidFill>
            <a:srgbClr val="FDEBD3"/>
          </a:solidFill>
          <a:ln/>
        </p:spPr>
      </p:sp>
      <p:sp>
        <p:nvSpPr>
          <p:cNvPr id="42" name="Shape 38"/>
          <p:cNvSpPr/>
          <p:nvPr/>
        </p:nvSpPr>
        <p:spPr>
          <a:xfrm>
            <a:off x="8129016" y="15544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456" y="1645920"/>
            <a:ext cx="274320" cy="27432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8677656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業務側</a:t>
            </a:r>
            <a:endParaRPr lang="en-US" sz="1250" dirty="0"/>
          </a:p>
        </p:txBody>
      </p:sp>
      <p:sp>
        <p:nvSpPr>
          <p:cNvPr id="45" name="Shape 40"/>
          <p:cNvSpPr/>
          <p:nvPr/>
        </p:nvSpPr>
        <p:spPr>
          <a:xfrm>
            <a:off x="8129016" y="2194560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8193024" y="21945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47" name="Text 42"/>
          <p:cNvSpPr txBox="1"/>
          <p:nvPr/>
        </p:nvSpPr>
        <p:spPr>
          <a:xfrm>
            <a:off x="8522208" y="21945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即時性の要件（数分の遅れで困るか）</a:t>
            </a:r>
            <a:endParaRPr lang="en-US" sz="950" dirty="0"/>
          </a:p>
        </p:txBody>
      </p:sp>
      <p:sp>
        <p:nvSpPr>
          <p:cNvPr id="48" name="Shape 43"/>
          <p:cNvSpPr/>
          <p:nvPr/>
        </p:nvSpPr>
        <p:spPr>
          <a:xfrm>
            <a:off x="8129016" y="2999232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8193024" y="299923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9F9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☑</a:t>
            </a:r>
            <a:endParaRPr lang="en-US" sz="1400" dirty="0"/>
          </a:p>
        </p:txBody>
      </p:sp>
      <p:sp>
        <p:nvSpPr>
          <p:cNvPr id="50" name="Text 45"/>
          <p:cNvSpPr txBox="1"/>
          <p:nvPr/>
        </p:nvSpPr>
        <p:spPr>
          <a:xfrm>
            <a:off x="8522208" y="29992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AIの回答の扱い → 下書きとして扱い、書き込みは可、確定は人が行う（前提）</a:t>
            </a:r>
            <a:endParaRPr lang="en-US" sz="950" dirty="0"/>
          </a:p>
        </p:txBody>
      </p:sp>
      <p:sp>
        <p:nvSpPr>
          <p:cNvPr id="51" name="Shape 46"/>
          <p:cNvSpPr/>
          <p:nvPr/>
        </p:nvSpPr>
        <p:spPr>
          <a:xfrm>
            <a:off x="8129016" y="3803904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8193024" y="3803904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53" name="Text 48"/>
          <p:cNvSpPr txBox="1"/>
          <p:nvPr/>
        </p:nvSpPr>
        <p:spPr>
          <a:xfrm>
            <a:off x="8522208" y="3803904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修正指示をどこで出したいか → Airtableを作業の起点にする方向で検討中（U1〜U3b）</a:t>
            </a:r>
            <a:endParaRPr lang="en-US" sz="950" dirty="0"/>
          </a:p>
        </p:txBody>
      </p:sp>
      <p:sp>
        <p:nvSpPr>
          <p:cNvPr id="54" name="Shape 49"/>
          <p:cNvSpPr/>
          <p:nvPr/>
        </p:nvSpPr>
        <p:spPr>
          <a:xfrm>
            <a:off x="8129016" y="4608576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8193024" y="460857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56" name="Text 51"/>
          <p:cNvSpPr txBox="1"/>
          <p:nvPr/>
        </p:nvSpPr>
        <p:spPr>
          <a:xfrm>
            <a:off x="8522208" y="460857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U3の場合、書き込み先をどちらにするか（① 確定欄に直接／② 下書き欄に書き込み、Airtableで最終確定）</a:t>
            </a:r>
            <a:endParaRPr lang="en-US" sz="950" dirty="0"/>
          </a:p>
        </p:txBody>
      </p:sp>
      <p:sp>
        <p:nvSpPr>
          <p:cNvPr id="57" name="Shape 52"/>
          <p:cNvSpPr/>
          <p:nvPr/>
        </p:nvSpPr>
        <p:spPr>
          <a:xfrm>
            <a:off x="8129016" y="5413248"/>
            <a:ext cx="33375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8193024" y="5413248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☐</a:t>
            </a:r>
            <a:endParaRPr lang="en-US" sz="1400" dirty="0"/>
          </a:p>
        </p:txBody>
      </p:sp>
      <p:sp>
        <p:nvSpPr>
          <p:cNvPr id="59" name="Text 54"/>
          <p:cNvSpPr txBox="1"/>
          <p:nvPr/>
        </p:nvSpPr>
        <p:spPr>
          <a:xfrm>
            <a:off x="8522208" y="541324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Airtableのプランと、Interface Extensions（ベータ版）を業務で使ってよいか（U2の場合）</a:t>
            </a:r>
            <a:endParaRPr lang="en-US" sz="950" dirty="0"/>
          </a:p>
        </p:txBody>
      </p:sp>
      <p:sp>
        <p:nvSpPr>
          <p:cNvPr id="60" name="Text 55"/>
          <p:cNvSpPr txBox="1"/>
          <p:nvPr/>
        </p:nvSpPr>
        <p:spPr>
          <a:xfrm>
            <a:off x="548640" y="6355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☑は確認済み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本資料で参照した公開情報（2026年9月時点）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914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6. 確認事項・参考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40680" cy="4892040"/>
          </a:xfrm>
          <a:prstGeom prst="roundRect">
            <a:avLst>
              <a:gd name="adj" fmla="val 1121"/>
            </a:avLst>
          </a:prstGeom>
          <a:solidFill>
            <a:srgbClr val="F3F5F8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53619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267" y="161665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8720" y="1536192"/>
            <a:ext cx="3657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Microsoft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103120"/>
            <a:ext cx="5120640" cy="4114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Call Microsoft Copilot Studio agents from Power Automate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Event triggers overview - Copilot Studio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Connect your agent to an existing MCP server - Copilot Studio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MCP is now generally available in Microsoft Copilot Studio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 Builder in Microsoft 365 Copilot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Airtable (Independent Publisher) [DEPRECATED] - Connectors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OAuth authentication for HTTP request triggers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Triggering Copilot Studio Agents with HTTP Calls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Airtable connector overview (preview) - M365 Copilot connectors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72200" y="1417320"/>
            <a:ext cx="5440680" cy="4892040"/>
          </a:xfrm>
          <a:prstGeom prst="roundRect">
            <a:avLst>
              <a:gd name="adj" fmla="val 1121"/>
            </a:avLst>
          </a:prstGeom>
          <a:solidFill>
            <a:srgbClr val="F3F5F8"/>
          </a:solidFill>
          <a:ln/>
        </p:spPr>
      </p:sp>
      <p:sp>
        <p:nvSpPr>
          <p:cNvPr id="12" name="Shape 9"/>
          <p:cNvSpPr/>
          <p:nvPr/>
        </p:nvSpPr>
        <p:spPr>
          <a:xfrm>
            <a:off x="6309360" y="153619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9827" y="161665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12280" y="1536192"/>
            <a:ext cx="3657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Airtable ほか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355080" y="2103120"/>
            <a:ext cx="5120640" cy="4114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Using the Airtable MCP server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Airtable Sync integration: Sync API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Airtable automation action: Run a script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Guide to Airtable Webhooks (Hookdeck)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Using Airtable AI in fields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Using buttons in interfaces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Automation trigger: When a button is clicked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Interface extensions SDK releasing to open beta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u="sng" dirty="0">
                <a:solidFill>
                  <a:srgbClr val="0F6CB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Airtable Extensions - Overview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Airtable×Copilotエージェント連携方式の調査</dc:title>
  <dc:subject>PptxGenJS Presentation</dc:subject>
  <dc:creator>PptxGenJS</dc:creator>
  <cp:lastModifiedBy>PptxGenJS</cp:lastModifiedBy>
  <cp:revision>1</cp:revision>
  <dcterms:created xsi:type="dcterms:W3CDTF">2026-09-28T06:51:43Z</dcterms:created>
  <dcterms:modified xsi:type="dcterms:W3CDTF">2026-09-28T06:51:43Z</dcterms:modified>
</cp:coreProperties>
</file>